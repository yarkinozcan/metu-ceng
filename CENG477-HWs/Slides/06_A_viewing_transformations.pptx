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44"/>
  </p:notesMasterIdLst>
  <p:handoutMasterIdLst>
    <p:handoutMasterId r:id="rId45"/>
  </p:handoutMasterIdLst>
  <p:sldIdLst>
    <p:sldId id="256" r:id="rId2"/>
    <p:sldId id="364" r:id="rId3"/>
    <p:sldId id="366" r:id="rId4"/>
    <p:sldId id="365" r:id="rId5"/>
    <p:sldId id="367" r:id="rId6"/>
    <p:sldId id="368" r:id="rId7"/>
    <p:sldId id="369" r:id="rId8"/>
    <p:sldId id="370" r:id="rId9"/>
    <p:sldId id="371" r:id="rId10"/>
    <p:sldId id="372" r:id="rId11"/>
    <p:sldId id="374" r:id="rId12"/>
    <p:sldId id="402" r:id="rId13"/>
    <p:sldId id="375" r:id="rId14"/>
    <p:sldId id="373" r:id="rId15"/>
    <p:sldId id="376" r:id="rId16"/>
    <p:sldId id="377" r:id="rId17"/>
    <p:sldId id="378" r:id="rId18"/>
    <p:sldId id="379" r:id="rId19"/>
    <p:sldId id="397" r:id="rId20"/>
    <p:sldId id="398" r:id="rId21"/>
    <p:sldId id="380" r:id="rId22"/>
    <p:sldId id="381" r:id="rId23"/>
    <p:sldId id="382" r:id="rId24"/>
    <p:sldId id="383" r:id="rId25"/>
    <p:sldId id="384" r:id="rId26"/>
    <p:sldId id="385" r:id="rId27"/>
    <p:sldId id="400" r:id="rId28"/>
    <p:sldId id="386" r:id="rId29"/>
    <p:sldId id="387" r:id="rId30"/>
    <p:sldId id="405" r:id="rId31"/>
    <p:sldId id="406" r:id="rId32"/>
    <p:sldId id="407" r:id="rId33"/>
    <p:sldId id="408" r:id="rId34"/>
    <p:sldId id="389" r:id="rId35"/>
    <p:sldId id="394" r:id="rId36"/>
    <p:sldId id="395" r:id="rId37"/>
    <p:sldId id="404" r:id="rId38"/>
    <p:sldId id="403" r:id="rId39"/>
    <p:sldId id="396" r:id="rId40"/>
    <p:sldId id="388" r:id="rId41"/>
    <p:sldId id="401" r:id="rId42"/>
    <p:sldId id="399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AD9BCD"/>
    <a:srgbClr val="AD9B01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 autoAdjust="0"/>
    <p:restoredTop sz="91563" autoAdjust="0"/>
  </p:normalViewPr>
  <p:slideViewPr>
    <p:cSldViewPr>
      <p:cViewPr varScale="1">
        <p:scale>
          <a:sx n="103" d="100"/>
          <a:sy n="103" d="100"/>
        </p:scale>
        <p:origin x="20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326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AE555-3BD8-44AE-81B8-CEBC11108DAD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0FF40-7AE5-4172-A97C-1AA3AC2F7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48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B2274-0A50-4573-AC5E-2BA910662B6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D9FC4-FF40-4120-8672-25457C595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1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58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D9FC4-FF40-4120-8672-25457C595D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5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6172D9E-D40C-4921-A5D6-20234A38FD0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1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DA0ECC-0B9E-44D9-8B45-8B8EFAF49D6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9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1E4E0F4-2DF6-4691-9C74-0F2D9863AED1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0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FADABD2-FC94-43B4-B5D2-AD8E6A5AC72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1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C38A4BA-4B5A-4157-8538-B6927C280FAE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1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6C5F59-0154-4E3D-8618-2BDD310D5A33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7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41A3D-3BA6-4C14-83AA-4AD2B237B2E3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6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418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CENG 477 – Computer Graphics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18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5F22-8D96-4CC0-8AEC-D5DD4505838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470779"/>
            <a:ext cx="762000" cy="316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6391656"/>
            <a:ext cx="9144000" cy="91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6830568"/>
            <a:ext cx="91440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2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CENG 477</a:t>
            </a:r>
            <a:br>
              <a:rPr lang="en-US" dirty="0"/>
            </a:br>
            <a:r>
              <a:rPr lang="en-US" dirty="0"/>
              <a:t>Introduction to 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Viewing Transformations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Until now, we learned how to position the objects in the 3D world space by </a:t>
            </a:r>
            <a:r>
              <a:rPr lang="en-US" dirty="0">
                <a:solidFill>
                  <a:srgbClr val="C00000"/>
                </a:solidFill>
              </a:rPr>
              <a:t>modeling transformations</a:t>
            </a:r>
          </a:p>
          <a:p>
            <a:r>
              <a:rPr lang="en-US" dirty="0"/>
              <a:t>With </a:t>
            </a:r>
            <a:r>
              <a:rPr lang="en-US" dirty="0">
                <a:solidFill>
                  <a:srgbClr val="C00000"/>
                </a:solidFill>
              </a:rPr>
              <a:t>viewing transformations</a:t>
            </a:r>
            <a:r>
              <a:rPr lang="en-US" dirty="0"/>
              <a:t>, we position the objects on a 2D image as seen by a camera with arbitrary position and orientation</a:t>
            </a:r>
          </a:p>
          <a:p>
            <a:r>
              <a:rPr lang="en-US" dirty="0"/>
              <a:t>Composed of three parts:</a:t>
            </a:r>
          </a:p>
          <a:p>
            <a:pPr lvl="1"/>
            <a:r>
              <a:rPr lang="en-US" dirty="0"/>
              <a:t>Camera (or eye) transformation</a:t>
            </a:r>
          </a:p>
          <a:p>
            <a:pPr lvl="1"/>
            <a:r>
              <a:rPr lang="en-US" dirty="0"/>
              <a:t>Projection transformation</a:t>
            </a:r>
          </a:p>
          <a:p>
            <a:pPr lvl="1"/>
            <a:r>
              <a:rPr lang="en-US" dirty="0"/>
              <a:t>Viewport transformation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4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viewing transformations, we are now transitioning from the </a:t>
            </a:r>
            <a:r>
              <a:rPr lang="en-US" dirty="0">
                <a:solidFill>
                  <a:srgbClr val="C00000"/>
                </a:solidFill>
              </a:rPr>
              <a:t>backward rendering pipeline </a:t>
            </a:r>
            <a:r>
              <a:rPr lang="en-US" dirty="0"/>
              <a:t>(aka. ray tracing) to </a:t>
            </a:r>
            <a:r>
              <a:rPr lang="en-US" dirty="0">
                <a:solidFill>
                  <a:srgbClr val="C00000"/>
                </a:solidFill>
              </a:rPr>
              <a:t>forward rendering pipeline </a:t>
            </a:r>
            <a:r>
              <a:rPr lang="en-US" dirty="0"/>
              <a:t>(aka. object-order, rasterization, z-buffer)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914399" y="3492843"/>
            <a:ext cx="3200401" cy="2220190"/>
            <a:chOff x="914399" y="3492843"/>
            <a:chExt cx="3200401" cy="2220190"/>
          </a:xfrm>
        </p:grpSpPr>
        <p:sp>
          <p:nvSpPr>
            <p:cNvPr id="6" name="Cube 5"/>
            <p:cNvSpPr/>
            <p:nvPr/>
          </p:nvSpPr>
          <p:spPr>
            <a:xfrm>
              <a:off x="2895600" y="3610417"/>
              <a:ext cx="1219200" cy="12192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Data 6"/>
            <p:cNvSpPr/>
            <p:nvPr/>
          </p:nvSpPr>
          <p:spPr>
            <a:xfrm rot="9000000">
              <a:off x="1256933" y="4036633"/>
              <a:ext cx="1143000" cy="1676400"/>
            </a:xfrm>
            <a:prstGeom prst="flowChartInputOutput">
              <a:avLst/>
            </a:prstGeom>
            <a:solidFill>
              <a:srgbClr val="7030A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 flipV="1">
              <a:off x="914399" y="4648200"/>
              <a:ext cx="838201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914399" y="5029200"/>
              <a:ext cx="990601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914399" y="5334000"/>
              <a:ext cx="1143001" cy="152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2069757" y="3492843"/>
              <a:ext cx="838201" cy="83820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2298356" y="4394886"/>
              <a:ext cx="990601" cy="45720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475471" y="5117757"/>
              <a:ext cx="1143001" cy="15240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5303188" y="3622774"/>
            <a:ext cx="3002612" cy="2102616"/>
            <a:chOff x="5150788" y="3622774"/>
            <a:chExt cx="3002612" cy="2102616"/>
          </a:xfrm>
        </p:grpSpPr>
        <p:sp>
          <p:nvSpPr>
            <p:cNvPr id="29" name="Cube 28"/>
            <p:cNvSpPr/>
            <p:nvPr/>
          </p:nvSpPr>
          <p:spPr>
            <a:xfrm>
              <a:off x="6934200" y="3622774"/>
              <a:ext cx="1219200" cy="121920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Data 29"/>
            <p:cNvSpPr/>
            <p:nvPr/>
          </p:nvSpPr>
          <p:spPr>
            <a:xfrm rot="9000000">
              <a:off x="5295533" y="4048990"/>
              <a:ext cx="1143000" cy="1676400"/>
            </a:xfrm>
            <a:prstGeom prst="flowChartInputOutput">
              <a:avLst/>
            </a:prstGeom>
            <a:solidFill>
              <a:srgbClr val="7030A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 flipV="1">
              <a:off x="6205232" y="3911943"/>
              <a:ext cx="728969" cy="5838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6437872" y="4843005"/>
              <a:ext cx="493901" cy="1636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6324290" y="3929449"/>
              <a:ext cx="1497537" cy="8191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5150788" y="4812957"/>
              <a:ext cx="728969" cy="583857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5182008" y="4953000"/>
              <a:ext cx="811329" cy="443814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5216638" y="5105402"/>
              <a:ext cx="879362" cy="291412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" name="TextBox 53"/>
          <p:cNvSpPr txBox="1"/>
          <p:nvPr/>
        </p:nvSpPr>
        <p:spPr>
          <a:xfrm>
            <a:off x="0" y="541020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Camera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997" y="541020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Camera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403" y="6019800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Backward rendering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12090" y="594360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rendering</a:t>
            </a:r>
          </a:p>
        </p:txBody>
      </p:sp>
    </p:spTree>
    <p:extLst>
      <p:ext uri="{BB962C8B-B14F-4D97-AF65-F5344CB8AC3E}">
        <p14:creationId xmlns:p14="http://schemas.microsoft.com/office/powerpoint/2010/main" val="58428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Given an arbitrary camera position </a:t>
            </a:r>
            <a:r>
              <a:rPr lang="en-US" b="1" dirty="0"/>
              <a:t>e</a:t>
            </a:r>
            <a:r>
              <a:rPr lang="en-US" dirty="0"/>
              <a:t> and camera vectors </a:t>
            </a:r>
            <a:r>
              <a:rPr lang="en-US" b="1" dirty="0" err="1"/>
              <a:t>uvw</a:t>
            </a:r>
            <a:r>
              <a:rPr lang="en-US" dirty="0"/>
              <a:t>, determine the camera coordinates of points given by their world coordinates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297268" y="3733800"/>
            <a:ext cx="1131732" cy="1229416"/>
            <a:chOff x="2144868" y="3663991"/>
            <a:chExt cx="1662926" cy="1806460"/>
          </a:xfrm>
        </p:grpSpPr>
        <p:sp>
          <p:nvSpPr>
            <p:cNvPr id="20" name="TextBox 19"/>
            <p:cNvSpPr txBox="1"/>
            <p:nvPr/>
          </p:nvSpPr>
          <p:spPr>
            <a:xfrm rot="18000000">
              <a:off x="3466675" y="367851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rot="18000000">
              <a:off x="2781898" y="4159291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18000000" flipV="1">
              <a:off x="2633602" y="3902434"/>
              <a:ext cx="0" cy="914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18000000" flipH="1">
              <a:off x="2860467" y="4685853"/>
              <a:ext cx="53340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 rot="18000000">
              <a:off x="2179493" y="38211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8000000">
              <a:off x="3244121" y="511009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18000000">
              <a:off x="2974937" y="440949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81000" y="4038600"/>
            <a:ext cx="1942382" cy="1958019"/>
            <a:chOff x="1035586" y="3566087"/>
            <a:chExt cx="1942382" cy="1958019"/>
          </a:xfrm>
        </p:grpSpPr>
        <p:grpSp>
          <p:nvGrpSpPr>
            <p:cNvPr id="15" name="Group 14"/>
            <p:cNvGrpSpPr/>
            <p:nvPr/>
          </p:nvGrpSpPr>
          <p:grpSpPr>
            <a:xfrm>
              <a:off x="1262018" y="3566087"/>
              <a:ext cx="1715950" cy="1958019"/>
              <a:chOff x="1262018" y="3566087"/>
              <a:chExt cx="1715950" cy="1958019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>
                <a:off x="1828800" y="4648200"/>
                <a:ext cx="990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1828800" y="37338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1295400" y="4648200"/>
                <a:ext cx="533400" cy="533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2677886" y="46286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833154" y="3566087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262018" y="5154774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1035586" y="4395230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(0,0,0)</a:t>
              </a:r>
            </a:p>
          </p:txBody>
        </p:sp>
      </p:grpSp>
      <p:sp>
        <p:nvSpPr>
          <p:cNvPr id="25" name="Cube 24"/>
          <p:cNvSpPr/>
          <p:nvPr/>
        </p:nvSpPr>
        <p:spPr>
          <a:xfrm>
            <a:off x="1904557" y="3168342"/>
            <a:ext cx="520514" cy="52616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21185" y="3661481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the coordinates of this</a:t>
            </a:r>
          </a:p>
          <a:p>
            <a:r>
              <a:rPr lang="en-US" dirty="0"/>
              <a:t>cube with respect to the </a:t>
            </a:r>
            <a:r>
              <a:rPr lang="en-US" b="1" dirty="0" err="1"/>
              <a:t>uvw</a:t>
            </a:r>
            <a:r>
              <a:rPr lang="en-US" dirty="0"/>
              <a:t> CS?</a:t>
            </a:r>
          </a:p>
        </p:txBody>
      </p:sp>
    </p:spTree>
    <p:extLst>
      <p:ext uri="{BB962C8B-B14F-4D97-AF65-F5344CB8AC3E}">
        <p14:creationId xmlns:p14="http://schemas.microsoft.com/office/powerpoint/2010/main" val="95386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 everything such that </a:t>
            </a:r>
            <a:r>
              <a:rPr lang="en-US" b="1" dirty="0" err="1"/>
              <a:t>uvw</a:t>
            </a:r>
            <a:r>
              <a:rPr lang="en-US" dirty="0"/>
              <a:t> aligns with </a:t>
            </a:r>
            <a:r>
              <a:rPr lang="en-US" b="1" dirty="0" err="1"/>
              <a:t>xyz</a:t>
            </a:r>
            <a:endParaRPr lang="tr-TR" b="1" dirty="0"/>
          </a:p>
          <a:p>
            <a:r>
              <a:rPr lang="tr-TR" dirty="0" err="1"/>
              <a:t>Then</a:t>
            </a:r>
            <a:r>
              <a:rPr lang="tr-TR" dirty="0"/>
              <a:t> </a:t>
            </a:r>
            <a:r>
              <a:rPr lang="en-US" dirty="0"/>
              <a:t>simply read off the </a:t>
            </a:r>
            <a:r>
              <a:rPr lang="en-US" b="1" dirty="0" err="1"/>
              <a:t>xyz</a:t>
            </a:r>
            <a:r>
              <a:rPr lang="en-US" dirty="0"/>
              <a:t> values</a:t>
            </a:r>
          </a:p>
          <a:p>
            <a:pPr lvl="1"/>
            <a:r>
              <a:rPr lang="en-US" dirty="0"/>
              <a:t>These are your </a:t>
            </a:r>
            <a:r>
              <a:rPr lang="en-US" b="1" dirty="0" err="1"/>
              <a:t>uvw</a:t>
            </a:r>
            <a:r>
              <a:rPr lang="en-US" dirty="0"/>
              <a:t> values!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5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381000" y="4038600"/>
            <a:ext cx="1942382" cy="1958019"/>
            <a:chOff x="1035586" y="3566087"/>
            <a:chExt cx="1942382" cy="1958019"/>
          </a:xfrm>
        </p:grpSpPr>
        <p:grpSp>
          <p:nvGrpSpPr>
            <p:cNvPr id="15" name="Group 14"/>
            <p:cNvGrpSpPr/>
            <p:nvPr/>
          </p:nvGrpSpPr>
          <p:grpSpPr>
            <a:xfrm>
              <a:off x="1262018" y="3566087"/>
              <a:ext cx="1715950" cy="1958019"/>
              <a:chOff x="1262018" y="3566087"/>
              <a:chExt cx="1715950" cy="1958019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>
                <a:off x="1828800" y="4648200"/>
                <a:ext cx="990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1828800" y="37338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1295400" y="4648200"/>
                <a:ext cx="533400" cy="533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2677886" y="46286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833154" y="3566087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262018" y="5154774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1035586" y="4395230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(0,0,0)</a:t>
              </a:r>
            </a:p>
          </p:txBody>
        </p:sp>
      </p:grpSp>
      <p:sp>
        <p:nvSpPr>
          <p:cNvPr id="25" name="Cube 24"/>
          <p:cNvSpPr/>
          <p:nvPr/>
        </p:nvSpPr>
        <p:spPr>
          <a:xfrm>
            <a:off x="1904557" y="3168342"/>
            <a:ext cx="520514" cy="52616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5753818" y="3429000"/>
            <a:ext cx="1942382" cy="1990077"/>
            <a:chOff x="4650406" y="3962400"/>
            <a:chExt cx="1942382" cy="1990077"/>
          </a:xfrm>
        </p:grpSpPr>
        <p:grpSp>
          <p:nvGrpSpPr>
            <p:cNvPr id="6" name="Group 5"/>
            <p:cNvGrpSpPr/>
            <p:nvPr/>
          </p:nvGrpSpPr>
          <p:grpSpPr>
            <a:xfrm rot="3600000">
              <a:off x="4859344" y="4401112"/>
              <a:ext cx="1165928" cy="1266564"/>
              <a:chOff x="6414274" y="3619849"/>
              <a:chExt cx="1662926" cy="1806460"/>
            </a:xfrm>
          </p:grpSpPr>
          <p:sp>
            <p:nvSpPr>
              <p:cNvPr id="31" name="TextBox 30"/>
              <p:cNvSpPr txBox="1"/>
              <p:nvPr/>
            </p:nvSpPr>
            <p:spPr>
              <a:xfrm rot="18000000">
                <a:off x="7736081" y="3634373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</a:t>
                </a:r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 rot="18000000">
                <a:off x="7051304" y="4115149"/>
                <a:ext cx="990600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rot="18000000" flipV="1">
                <a:off x="6903008" y="3858292"/>
                <a:ext cx="0" cy="91440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rot="18000000" flipH="1">
                <a:off x="7129873" y="4641711"/>
                <a:ext cx="533400" cy="53340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 rot="18000000">
                <a:off x="6448899" y="377699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 rot="18000000">
                <a:off x="7513527" y="506595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 rot="18000000">
                <a:off x="7244343" y="436535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650406" y="3994458"/>
              <a:ext cx="1942382" cy="1958019"/>
              <a:chOff x="1035586" y="3566087"/>
              <a:chExt cx="1942382" cy="1958019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1262018" y="3566087"/>
                <a:ext cx="1715950" cy="1958019"/>
                <a:chOff x="1262018" y="3566087"/>
                <a:chExt cx="1715950" cy="1958019"/>
              </a:xfrm>
            </p:grpSpPr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1828800" y="4648200"/>
                  <a:ext cx="9906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/>
                <p:cNvCxnSpPr/>
                <p:nvPr/>
              </p:nvCxnSpPr>
              <p:spPr>
                <a:xfrm flipV="1">
                  <a:off x="1828800" y="3733800"/>
                  <a:ext cx="0" cy="914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 flipH="1">
                  <a:off x="1295400" y="4648200"/>
                  <a:ext cx="533400" cy="533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2677886" y="4628606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1833154" y="3566087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1262018" y="5154774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</a:t>
                  </a:r>
                </a:p>
              </p:txBody>
            </p:sp>
          </p:grpSp>
          <p:sp>
            <p:nvSpPr>
              <p:cNvPr id="41" name="TextBox 40"/>
              <p:cNvSpPr txBox="1"/>
              <p:nvPr/>
            </p:nvSpPr>
            <p:spPr>
              <a:xfrm>
                <a:off x="1035586" y="4395230"/>
                <a:ext cx="851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(0,0,0)</a:t>
                </a:r>
              </a:p>
            </p:txBody>
          </p:sp>
        </p:grpSp>
        <p:sp>
          <p:nvSpPr>
            <p:cNvPr id="48" name="Cube 47"/>
            <p:cNvSpPr/>
            <p:nvPr/>
          </p:nvSpPr>
          <p:spPr>
            <a:xfrm rot="1233493">
              <a:off x="5727886" y="3962400"/>
              <a:ext cx="520514" cy="526168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297268" y="3733800"/>
            <a:ext cx="1131732" cy="1229416"/>
            <a:chOff x="2144868" y="3663991"/>
            <a:chExt cx="1662926" cy="1806460"/>
          </a:xfrm>
        </p:grpSpPr>
        <p:sp>
          <p:nvSpPr>
            <p:cNvPr id="50" name="TextBox 49"/>
            <p:cNvSpPr txBox="1"/>
            <p:nvPr/>
          </p:nvSpPr>
          <p:spPr>
            <a:xfrm rot="18000000">
              <a:off x="3466675" y="367851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rot="18000000">
              <a:off x="2781898" y="4159291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rot="18000000" flipV="1">
              <a:off x="2633602" y="3902434"/>
              <a:ext cx="0" cy="914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rot="18000000" flipH="1">
              <a:off x="2860467" y="4685853"/>
              <a:ext cx="53340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 rot="18000000">
              <a:off x="2179493" y="38211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 rot="18000000">
              <a:off x="3244121" y="511009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 rot="18000000">
              <a:off x="2974937" y="440949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  <p:sp>
        <p:nvSpPr>
          <p:cNvPr id="16" name="Right Arrow 15"/>
          <p:cNvSpPr/>
          <p:nvPr/>
        </p:nvSpPr>
        <p:spPr>
          <a:xfrm>
            <a:off x="4050519" y="4220117"/>
            <a:ext cx="1086910" cy="247944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4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</a:t>
            </a:r>
            <a:r>
              <a:rPr lang="en-US" dirty="0"/>
              <a:t>Translate </a:t>
            </a:r>
            <a:r>
              <a:rPr lang="en-US" b="1" dirty="0"/>
              <a:t>e</a:t>
            </a:r>
            <a:r>
              <a:rPr lang="en-US" dirty="0"/>
              <a:t> to the world origin (0, 0, 0)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0073" y="4635898"/>
                <a:ext cx="3080009" cy="1437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73" y="4635898"/>
                <a:ext cx="3080009" cy="143757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3810000" y="2362200"/>
            <a:ext cx="1715950" cy="1958019"/>
            <a:chOff x="1262018" y="3566087"/>
            <a:chExt cx="1715950" cy="1958019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828800" y="464820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1828800" y="3733800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1295400" y="4648200"/>
              <a:ext cx="533400" cy="533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677886" y="462860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33154" y="356608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2018" y="51547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87994" y="2844209"/>
            <a:ext cx="1131732" cy="1229416"/>
            <a:chOff x="2144868" y="3663991"/>
            <a:chExt cx="1662926" cy="1806460"/>
          </a:xfrm>
        </p:grpSpPr>
        <p:sp>
          <p:nvSpPr>
            <p:cNvPr id="17" name="TextBox 16"/>
            <p:cNvSpPr txBox="1"/>
            <p:nvPr/>
          </p:nvSpPr>
          <p:spPr>
            <a:xfrm rot="18000000">
              <a:off x="3466675" y="367851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rot="18000000">
              <a:off x="2781898" y="4159291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18000000" flipV="1">
              <a:off x="2633602" y="3902434"/>
              <a:ext cx="0" cy="914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18000000" flipH="1">
              <a:off x="2860467" y="4685853"/>
              <a:ext cx="53340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 rot="18000000">
              <a:off x="2179493" y="38211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8000000">
              <a:off x="3244121" y="511009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18000000">
              <a:off x="2974937" y="440949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14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</a:t>
            </a:r>
            <a:r>
              <a:rPr lang="en-US" dirty="0"/>
              <a:t>Rotate </a:t>
            </a:r>
            <a:r>
              <a:rPr lang="en-US" b="1" dirty="0" err="1"/>
              <a:t>uvw</a:t>
            </a:r>
            <a:r>
              <a:rPr lang="en-US" dirty="0"/>
              <a:t> to align it with </a:t>
            </a:r>
            <a:r>
              <a:rPr lang="en-US" b="1" dirty="0"/>
              <a:t>xyz</a:t>
            </a:r>
            <a:r>
              <a:rPr lang="en-US" dirty="0"/>
              <a:t>: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62200" y="2590800"/>
                <a:ext cx="3131818" cy="1490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590800"/>
                <a:ext cx="3131818" cy="1490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3618050" y="4267200"/>
            <a:ext cx="1715950" cy="1958019"/>
            <a:chOff x="1262018" y="3566087"/>
            <a:chExt cx="1715950" cy="1958019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828800" y="464820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1828800" y="3733800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1295400" y="4648200"/>
              <a:ext cx="533400" cy="533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677886" y="462860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833154" y="356608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62018" y="51547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 rot="3600000">
            <a:off x="3617310" y="4696044"/>
            <a:ext cx="1131732" cy="1229416"/>
            <a:chOff x="2144868" y="3663991"/>
            <a:chExt cx="1662926" cy="1806460"/>
          </a:xfrm>
        </p:grpSpPr>
        <p:sp>
          <p:nvSpPr>
            <p:cNvPr id="17" name="TextBox 16"/>
            <p:cNvSpPr txBox="1"/>
            <p:nvPr/>
          </p:nvSpPr>
          <p:spPr>
            <a:xfrm rot="18000000">
              <a:off x="3466675" y="367851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rot="18000000">
              <a:off x="2781898" y="4159291"/>
              <a:ext cx="990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18000000" flipV="1">
              <a:off x="2633602" y="3902434"/>
              <a:ext cx="0" cy="914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18000000" flipH="1">
              <a:off x="2860467" y="4685853"/>
              <a:ext cx="53340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 rot="18000000">
              <a:off x="2179493" y="382113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8000000">
              <a:off x="3244121" y="511009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18000000">
              <a:off x="2974937" y="440949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019800" y="4265293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already learned</a:t>
            </a:r>
          </a:p>
          <a:p>
            <a:r>
              <a:rPr lang="en-US" dirty="0"/>
              <a:t>how to do this in</a:t>
            </a:r>
          </a:p>
          <a:p>
            <a:r>
              <a:rPr lang="en-US" dirty="0"/>
              <a:t>modeling transformations!</a:t>
            </a:r>
          </a:p>
        </p:txBody>
      </p:sp>
    </p:spTree>
    <p:extLst>
      <p:ext uri="{BB962C8B-B14F-4D97-AF65-F5344CB8AC3E}">
        <p14:creationId xmlns:p14="http://schemas.microsoft.com/office/powerpoint/2010/main" val="215914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composite camera transformation is: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76400" y="2319848"/>
                <a:ext cx="5936305" cy="1490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𝑐𝑎𝑚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319848"/>
                <a:ext cx="5936305" cy="1490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4224848"/>
                <a:ext cx="6669646" cy="15412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𝑐𝑎𝑚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224848"/>
                <a:ext cx="6669646" cy="15412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94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When points are multiplied with this matrix, their resulting coordinates will be with respect to the </a:t>
            </a:r>
            <a:r>
              <a:rPr lang="en-US" b="1" dirty="0" err="1"/>
              <a:t>uvw</a:t>
            </a:r>
            <a:r>
              <a:rPr lang="en-US" dirty="0"/>
              <a:t>-</a:t>
            </a:r>
            <a:r>
              <a:rPr lang="en-US" b="1" dirty="0"/>
              <a:t>e </a:t>
            </a:r>
            <a:r>
              <a:rPr lang="en-US" dirty="0"/>
              <a:t>coordinate system (i.e. the camera coordinate system)</a:t>
            </a:r>
          </a:p>
          <a:p>
            <a:r>
              <a:rPr lang="en-US" dirty="0"/>
              <a:t>Next, we need to apply a </a:t>
            </a:r>
            <a:r>
              <a:rPr lang="en-US" dirty="0">
                <a:solidFill>
                  <a:schemeClr val="accent1"/>
                </a:solidFill>
              </a:rPr>
              <a:t>projection</a:t>
            </a:r>
            <a:r>
              <a:rPr lang="en-US" dirty="0"/>
              <a:t> transformation</a:t>
            </a:r>
          </a:p>
          <a:p>
            <a:r>
              <a:rPr lang="en-US" dirty="0"/>
              <a:t>This is the part that replaces tracing rays from the camera:</a:t>
            </a:r>
          </a:p>
          <a:p>
            <a:pPr lvl="1"/>
            <a:r>
              <a:rPr lang="en-US" dirty="0"/>
              <a:t>We are now projecting the objects on the image plane</a:t>
            </a:r>
          </a:p>
          <a:p>
            <a:pPr lvl="1"/>
            <a:r>
              <a:rPr lang="en-US" dirty="0"/>
              <a:t>Tracing rays from the camera into the scene: </a:t>
            </a:r>
            <a:r>
              <a:rPr lang="en-US" b="1" dirty="0"/>
              <a:t>backward rendering</a:t>
            </a:r>
          </a:p>
          <a:p>
            <a:pPr lvl="2"/>
            <a:r>
              <a:rPr lang="en-US" dirty="0"/>
              <a:t>Also known as </a:t>
            </a:r>
            <a:r>
              <a:rPr lang="en-US" dirty="0">
                <a:solidFill>
                  <a:srgbClr val="C00000"/>
                </a:solidFill>
              </a:rPr>
              <a:t>pixel-order</a:t>
            </a:r>
            <a:r>
              <a:rPr lang="en-US" dirty="0"/>
              <a:t> rendering</a:t>
            </a:r>
          </a:p>
          <a:p>
            <a:pPr lvl="1"/>
            <a:r>
              <a:rPr lang="en-US" dirty="0"/>
              <a:t>Projecting the scene on the image plane: </a:t>
            </a:r>
            <a:r>
              <a:rPr lang="en-US" b="1" dirty="0"/>
              <a:t>forward rendering </a:t>
            </a:r>
          </a:p>
          <a:p>
            <a:pPr lvl="2"/>
            <a:r>
              <a:rPr lang="en-US" dirty="0"/>
              <a:t>Also known as </a:t>
            </a:r>
            <a:r>
              <a:rPr lang="en-US" dirty="0">
                <a:solidFill>
                  <a:srgbClr val="C00000"/>
                </a:solidFill>
              </a:rPr>
              <a:t>object-order</a:t>
            </a:r>
            <a:r>
              <a:rPr lang="en-US" dirty="0"/>
              <a:t> rendering</a:t>
            </a:r>
          </a:p>
          <a:p>
            <a:r>
              <a:rPr lang="en-US" dirty="0"/>
              <a:t>Forward rendering is much faster as we generally have fewer objects than pixels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67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Projection transformations depend on the shape of the viewing volume</a:t>
            </a:r>
          </a:p>
          <a:p>
            <a:r>
              <a:rPr lang="en-US" dirty="0"/>
              <a:t>Two most commonly used transformations are:</a:t>
            </a:r>
          </a:p>
          <a:p>
            <a:pPr lvl="1"/>
            <a:r>
              <a:rPr lang="en-US" dirty="0"/>
              <a:t>Orthographic (parallel) projection</a:t>
            </a:r>
          </a:p>
          <a:p>
            <a:pPr lvl="1"/>
            <a:r>
              <a:rPr lang="en-US" dirty="0"/>
              <a:t>Perspective projection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10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1135331" y="3684488"/>
            <a:ext cx="2911681" cy="2059169"/>
            <a:chOff x="2811719" y="3618720"/>
            <a:chExt cx="2911681" cy="2059169"/>
          </a:xfrm>
        </p:grpSpPr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4843560" y="3618720"/>
              <a:ext cx="403200" cy="652320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V="1">
              <a:off x="3452520" y="3906720"/>
              <a:ext cx="871200" cy="491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4038600" y="3657600"/>
              <a:ext cx="825120" cy="977760"/>
            </a:xfrm>
            <a:custGeom>
              <a:avLst/>
              <a:gdLst>
                <a:gd name="T0" fmla="*/ 0 w 2525"/>
                <a:gd name="T1" fmla="*/ 0 h 2994"/>
                <a:gd name="T2" fmla="*/ 2524 w 2525"/>
                <a:gd name="T3" fmla="*/ 704 h 2994"/>
                <a:gd name="T4" fmla="*/ 2524 w 2525"/>
                <a:gd name="T5" fmla="*/ 2993 h 2994"/>
                <a:gd name="T6" fmla="*/ 0 w 2525"/>
                <a:gd name="T7" fmla="*/ 2377 h 2994"/>
                <a:gd name="T8" fmla="*/ 0 w 2525"/>
                <a:gd name="T9" fmla="*/ 0 h 2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5"/>
                <a:gd name="T16" fmla="*/ 0 h 2994"/>
                <a:gd name="T17" fmla="*/ 2525 w 2525"/>
                <a:gd name="T18" fmla="*/ 2994 h 2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5" h="2994">
                  <a:moveTo>
                    <a:pt x="0" y="0"/>
                  </a:moveTo>
                  <a:lnTo>
                    <a:pt x="2524" y="704"/>
                  </a:lnTo>
                  <a:lnTo>
                    <a:pt x="2524" y="2993"/>
                  </a:lnTo>
                  <a:lnTo>
                    <a:pt x="0" y="2377"/>
                  </a:lnTo>
                  <a:lnTo>
                    <a:pt x="0" y="0"/>
                  </a:lnTo>
                </a:path>
              </a:pathLst>
            </a:custGeom>
            <a:solidFill>
              <a:srgbClr val="99CCFF">
                <a:alpha val="20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3825480" y="4574880"/>
              <a:ext cx="872640" cy="511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4315080" y="3906720"/>
              <a:ext cx="383040" cy="689760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811719" y="5050079"/>
              <a:ext cx="1353600" cy="398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en-US" sz="1270">
                  <a:solidFill>
                    <a:srgbClr val="000000"/>
                  </a:solidFill>
                  <a:latin typeface="Nimbus Roman No9 L" pitchFamily="16" charset="0"/>
                </a:rPr>
                <a:t>Center of projection</a:t>
              </a: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4631880" y="4682880"/>
              <a:ext cx="1091520" cy="181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en-US" sz="1270">
                  <a:solidFill>
                    <a:srgbClr val="000000"/>
                  </a:solidFill>
                </a:rPr>
                <a:t>Projection plane</a:t>
              </a: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 flipH="1">
              <a:off x="3144360" y="4577759"/>
              <a:ext cx="807840" cy="43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 flipH="1">
              <a:off x="4695240" y="4258079"/>
              <a:ext cx="567360" cy="31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 flipH="1">
              <a:off x="4310760" y="3625920"/>
              <a:ext cx="534240" cy="282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26" name="Text Box 33"/>
            <p:cNvSpPr txBox="1">
              <a:spLocks noChangeArrowheads="1"/>
            </p:cNvSpPr>
            <p:nvPr/>
          </p:nvSpPr>
          <p:spPr bwMode="auto">
            <a:xfrm>
              <a:off x="3377227" y="5421600"/>
              <a:ext cx="1551708" cy="256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en-US" sz="1633" b="1">
                  <a:solidFill>
                    <a:srgbClr val="000000"/>
                  </a:solidFill>
                  <a:latin typeface="Verdana" panose="020B0604030504040204" pitchFamily="34" charset="0"/>
                </a:rPr>
                <a:t>Orthographic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258118" y="3645089"/>
            <a:ext cx="2648160" cy="2111010"/>
            <a:chOff x="306120" y="3589919"/>
            <a:chExt cx="2648160" cy="2111010"/>
          </a:xfrm>
        </p:grpSpPr>
        <p:sp>
          <p:nvSpPr>
            <p:cNvPr id="6" name="Line 3"/>
            <p:cNvSpPr>
              <a:spLocks noChangeShapeType="1"/>
            </p:cNvSpPr>
            <p:nvPr/>
          </p:nvSpPr>
          <p:spPr bwMode="auto">
            <a:xfrm>
              <a:off x="2041320" y="3601440"/>
              <a:ext cx="401760" cy="652320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7" name="Line 4"/>
            <p:cNvSpPr>
              <a:spLocks noChangeShapeType="1"/>
            </p:cNvSpPr>
            <p:nvPr/>
          </p:nvSpPr>
          <p:spPr bwMode="auto">
            <a:xfrm flipV="1">
              <a:off x="805800" y="4007520"/>
              <a:ext cx="707040" cy="5918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H="1">
              <a:off x="794280" y="4416480"/>
              <a:ext cx="944640" cy="191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9" name="Freeform 6"/>
            <p:cNvSpPr>
              <a:spLocks noChangeArrowheads="1"/>
            </p:cNvSpPr>
            <p:nvPr/>
          </p:nvSpPr>
          <p:spPr bwMode="auto">
            <a:xfrm>
              <a:off x="1236360" y="3640320"/>
              <a:ext cx="825120" cy="977760"/>
            </a:xfrm>
            <a:custGeom>
              <a:avLst/>
              <a:gdLst>
                <a:gd name="T0" fmla="*/ 0 w 2525"/>
                <a:gd name="T1" fmla="*/ 0 h 2994"/>
                <a:gd name="T2" fmla="*/ 2524 w 2525"/>
                <a:gd name="T3" fmla="*/ 704 h 2994"/>
                <a:gd name="T4" fmla="*/ 2524 w 2525"/>
                <a:gd name="T5" fmla="*/ 2993 h 2994"/>
                <a:gd name="T6" fmla="*/ 0 w 2525"/>
                <a:gd name="T7" fmla="*/ 2377 h 2994"/>
                <a:gd name="T8" fmla="*/ 0 w 2525"/>
                <a:gd name="T9" fmla="*/ 0 h 29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5"/>
                <a:gd name="T16" fmla="*/ 0 h 2994"/>
                <a:gd name="T17" fmla="*/ 2525 w 2525"/>
                <a:gd name="T18" fmla="*/ 2994 h 29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5" h="2994">
                  <a:moveTo>
                    <a:pt x="0" y="0"/>
                  </a:moveTo>
                  <a:lnTo>
                    <a:pt x="2524" y="704"/>
                  </a:lnTo>
                  <a:lnTo>
                    <a:pt x="2524" y="2993"/>
                  </a:lnTo>
                  <a:lnTo>
                    <a:pt x="0" y="2377"/>
                  </a:lnTo>
                  <a:lnTo>
                    <a:pt x="0" y="0"/>
                  </a:lnTo>
                </a:path>
              </a:pathLst>
            </a:custGeom>
            <a:solidFill>
              <a:srgbClr val="99CCFF">
                <a:alpha val="20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1514280" y="4023360"/>
              <a:ext cx="220320" cy="393120"/>
            </a:xfrm>
            <a:prstGeom prst="line">
              <a:avLst/>
            </a:prstGeom>
            <a:noFill/>
            <a:ln w="3672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766920" y="4579200"/>
              <a:ext cx="76320" cy="7632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2177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06120" y="4665600"/>
              <a:ext cx="1484640" cy="199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en-US" sz="1270">
                  <a:solidFill>
                    <a:srgbClr val="000000"/>
                  </a:solidFill>
                  <a:latin typeface="Nimbus Roman No9 L" pitchFamily="16" charset="0"/>
                </a:rPr>
                <a:t>Center of projection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773480" y="4579200"/>
              <a:ext cx="1180800" cy="181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>
                <a:lnSpc>
                  <a:spcPct val="93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en-US" sz="1270">
                  <a:solidFill>
                    <a:srgbClr val="000000"/>
                  </a:solidFill>
                </a:rPr>
                <a:t>Projection plane</a:t>
              </a:r>
            </a:p>
          </p:txBody>
        </p:sp>
        <p:sp>
          <p:nvSpPr>
            <p:cNvPr id="22" name="Line 29"/>
            <p:cNvSpPr>
              <a:spLocks noChangeShapeType="1"/>
            </p:cNvSpPr>
            <p:nvPr/>
          </p:nvSpPr>
          <p:spPr bwMode="auto">
            <a:xfrm flipV="1">
              <a:off x="1511400" y="3589919"/>
              <a:ext cx="541440" cy="43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 flipH="1">
              <a:off x="1724520" y="4258080"/>
              <a:ext cx="725760" cy="158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33"/>
            </a:p>
          </p:txBody>
        </p:sp>
        <p:sp>
          <p:nvSpPr>
            <p:cNvPr id="27" name="Text Box 34"/>
            <p:cNvSpPr txBox="1">
              <a:spLocks noChangeArrowheads="1"/>
            </p:cNvSpPr>
            <p:nvPr/>
          </p:nvSpPr>
          <p:spPr bwMode="auto">
            <a:xfrm>
              <a:off x="642272" y="5444640"/>
              <a:ext cx="1375377" cy="256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>
                <a:lnSpc>
                  <a:spcPct val="102000"/>
                </a:lnSpc>
                <a:buClr>
                  <a:srgbClr val="000000"/>
                </a:buClr>
                <a:buSzPct val="45000"/>
                <a:buFont typeface="StarSymbol" charset="0"/>
                <a:buNone/>
              </a:pPr>
              <a:r>
                <a:rPr lang="en-GB" altLang="en-US" sz="1633" b="1">
                  <a:solidFill>
                    <a:srgbClr val="000000"/>
                  </a:solidFill>
                  <a:latin typeface="Verdana" panose="020B0604030504040204" pitchFamily="34" charset="0"/>
                </a:rPr>
                <a:t>Perspective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127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Orthographic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 by a </a:t>
            </a:r>
            <a:r>
              <a:rPr lang="en-US" dirty="0">
                <a:solidFill>
                  <a:schemeClr val="accent1"/>
                </a:solidFill>
              </a:rPr>
              <a:t>rectangular</a:t>
            </a:r>
            <a:r>
              <a:rPr lang="en-US" dirty="0"/>
              <a:t> viewing volume</a:t>
            </a:r>
          </a:p>
          <a:p>
            <a:r>
              <a:rPr lang="en-US" dirty="0"/>
              <a:t>Objects inside this volume will be visible (unless they are occluded by other objects)</a:t>
            </a:r>
          </a:p>
          <a:p>
            <a:r>
              <a:rPr lang="en-US" dirty="0"/>
              <a:t>The near plane of this volume represents our image plane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11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760698" y="5249964"/>
            <a:ext cx="212953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607474" y="4929598"/>
            <a:ext cx="6686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276084" y="4307288"/>
            <a:ext cx="0" cy="6223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2913070" y="4929598"/>
            <a:ext cx="363014" cy="3630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79048" y="4193148"/>
            <a:ext cx="204226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6853" y="4561373"/>
            <a:ext cx="239136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7816" y="4933527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(0, 0, 0)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2302674" y="4915294"/>
            <a:ext cx="960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3262771" y="4000894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2729371" y="4915294"/>
            <a:ext cx="533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45977" y="45641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67125" y="38331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5989" y="5421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91" name="Straight Connector 90"/>
          <p:cNvCxnSpPr/>
          <p:nvPr/>
        </p:nvCxnSpPr>
        <p:spPr>
          <a:xfrm flipH="1">
            <a:off x="4722666" y="5068258"/>
            <a:ext cx="169480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be 30"/>
          <p:cNvSpPr/>
          <p:nvPr/>
        </p:nvSpPr>
        <p:spPr>
          <a:xfrm>
            <a:off x="4436274" y="4240691"/>
            <a:ext cx="1981200" cy="1143000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4718313" y="495884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(l, b, -n)</a:t>
            </a:r>
          </a:p>
        </p:txBody>
      </p:sp>
      <p:sp>
        <p:nvSpPr>
          <p:cNvPr id="54" name="Oval 53"/>
          <p:cNvSpPr/>
          <p:nvPr/>
        </p:nvSpPr>
        <p:spPr>
          <a:xfrm>
            <a:off x="4661327" y="4991108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049268" y="4447626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841196" y="4564195"/>
            <a:ext cx="86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(r, t, -f)</a:t>
            </a:r>
          </a:p>
        </p:txBody>
      </p:sp>
      <p:cxnSp>
        <p:nvCxnSpPr>
          <p:cNvPr id="92" name="Straight Connector 91"/>
          <p:cNvCxnSpPr/>
          <p:nvPr/>
        </p:nvCxnSpPr>
        <p:spPr>
          <a:xfrm>
            <a:off x="4722666" y="4254489"/>
            <a:ext cx="0" cy="8137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4436273" y="5056225"/>
            <a:ext cx="286392" cy="3274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8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Orthographic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orthographic (and perspective) projection, our first goal is to transform a given viewing volume to the </a:t>
            </a:r>
            <a:r>
              <a:rPr lang="en-US" dirty="0">
                <a:solidFill>
                  <a:srgbClr val="C00000"/>
                </a:solidFill>
              </a:rPr>
              <a:t>canonical viewing volume 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CVV</a:t>
            </a:r>
            <a:r>
              <a:rPr lang="en-US" dirty="0"/>
              <a:t>):</a:t>
            </a:r>
          </a:p>
          <a:p>
            <a:r>
              <a:rPr lang="en-US" dirty="0"/>
              <a:t>CVV is also known as the normalized device coordinates (NDC)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12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10424" y="4655131"/>
            <a:ext cx="212953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457200" y="4334765"/>
            <a:ext cx="6686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125810" y="3712455"/>
            <a:ext cx="0" cy="6223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762796" y="4334765"/>
            <a:ext cx="363014" cy="3630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8774" y="3598315"/>
            <a:ext cx="204226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579" y="3966540"/>
            <a:ext cx="239136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542" y="433869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(0, 0, 0)</a:t>
            </a:r>
          </a:p>
        </p:txBody>
      </p:sp>
      <p:cxnSp>
        <p:nvCxnSpPr>
          <p:cNvPr id="43" name="Straight Connector 42"/>
          <p:cNvCxnSpPr>
            <a:endCxn id="31" idx="2"/>
          </p:cNvCxnSpPr>
          <p:nvPr/>
        </p:nvCxnSpPr>
        <p:spPr>
          <a:xfrm>
            <a:off x="1125810" y="4334765"/>
            <a:ext cx="1149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152400" y="4320461"/>
            <a:ext cx="960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1112497" y="340606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9097" y="4320461"/>
            <a:ext cx="533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-4297" y="39693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6851" y="32383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715" y="4827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4792364" y="3959316"/>
            <a:ext cx="623574" cy="236282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/>
          <p:cNvGrpSpPr/>
          <p:nvPr/>
        </p:nvGrpSpPr>
        <p:grpSpPr>
          <a:xfrm>
            <a:off x="5558458" y="3290324"/>
            <a:ext cx="2851248" cy="1751613"/>
            <a:chOff x="4919825" y="3149666"/>
            <a:chExt cx="2851248" cy="1751613"/>
          </a:xfrm>
        </p:grpSpPr>
        <p:cxnSp>
          <p:nvCxnSpPr>
            <p:cNvPr id="76" name="Straight Connector 75"/>
            <p:cNvCxnSpPr/>
            <p:nvPr/>
          </p:nvCxnSpPr>
          <p:spPr>
            <a:xfrm flipH="1">
              <a:off x="5878033" y="4419600"/>
              <a:ext cx="152205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5878033" y="3217717"/>
              <a:ext cx="0" cy="120188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 80"/>
            <p:cNvGrpSpPr/>
            <p:nvPr/>
          </p:nvGrpSpPr>
          <p:grpSpPr>
            <a:xfrm>
              <a:off x="5755357" y="3149666"/>
              <a:ext cx="1458427" cy="1751613"/>
              <a:chOff x="5780573" y="3185087"/>
              <a:chExt cx="1458427" cy="1751613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5835507" y="456736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cxnSp>
            <p:nvCxnSpPr>
              <p:cNvPr id="65" name="Straight Arrow Connector 64"/>
              <p:cNvCxnSpPr/>
              <p:nvPr/>
            </p:nvCxnSpPr>
            <p:spPr>
              <a:xfrm flipV="1">
                <a:off x="6313973" y="3352800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 flipH="1">
                <a:off x="5780573" y="4267200"/>
                <a:ext cx="533400" cy="533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>
                <a:off x="6313974" y="4267200"/>
                <a:ext cx="9250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/>
              <p:cNvSpPr txBox="1"/>
              <p:nvPr/>
            </p:nvSpPr>
            <p:spPr>
              <a:xfrm>
                <a:off x="6938918" y="389786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318327" y="3185087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</p:grpSp>
        <p:sp>
          <p:nvSpPr>
            <p:cNvPr id="72" name="Cube 71"/>
            <p:cNvSpPr/>
            <p:nvPr/>
          </p:nvSpPr>
          <p:spPr>
            <a:xfrm>
              <a:off x="5471140" y="3217717"/>
              <a:ext cx="1928947" cy="161551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6896825" y="3559213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970854" y="3414447"/>
              <a:ext cx="800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(1, 1, 1)</a:t>
              </a:r>
            </a:p>
          </p:txBody>
        </p:sp>
        <p:cxnSp>
          <p:nvCxnSpPr>
            <p:cNvPr id="83" name="Straight Connector 82"/>
            <p:cNvCxnSpPr/>
            <p:nvPr/>
          </p:nvCxnSpPr>
          <p:spPr>
            <a:xfrm flipV="1">
              <a:off x="5471140" y="4419600"/>
              <a:ext cx="406893" cy="41363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4919825" y="4146925"/>
              <a:ext cx="9781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(-1, -1, -1)</a:t>
              </a:r>
            </a:p>
          </p:txBody>
        </p:sp>
        <p:sp>
          <p:nvSpPr>
            <p:cNvPr id="85" name="Oval 84"/>
            <p:cNvSpPr/>
            <p:nvPr/>
          </p:nvSpPr>
          <p:spPr>
            <a:xfrm>
              <a:off x="5801833" y="4332767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6592912" y="4140135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(0, 0, 0)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54842" y="6107668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 of it as compressing a box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2285999" y="3645858"/>
            <a:ext cx="2334979" cy="1143000"/>
            <a:chOff x="2285999" y="3505200"/>
            <a:chExt cx="2334979" cy="1143000"/>
          </a:xfrm>
        </p:grpSpPr>
        <p:cxnSp>
          <p:nvCxnSpPr>
            <p:cNvPr id="91" name="Straight Connector 90"/>
            <p:cNvCxnSpPr/>
            <p:nvPr/>
          </p:nvCxnSpPr>
          <p:spPr>
            <a:xfrm flipH="1">
              <a:off x="2572392" y="4332767"/>
              <a:ext cx="169480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be 30"/>
            <p:cNvSpPr/>
            <p:nvPr/>
          </p:nvSpPr>
          <p:spPr>
            <a:xfrm>
              <a:off x="2286000" y="3505200"/>
              <a:ext cx="1981200" cy="114300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4108243" y="4191000"/>
              <a:ext cx="5127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568039" y="4223351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(l, b, -n)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2511053" y="4255617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3898994" y="3712135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690922" y="3828704"/>
              <a:ext cx="864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(r, t, -f)</a:t>
              </a:r>
            </a:p>
          </p:txBody>
        </p:sp>
        <p:cxnSp>
          <p:nvCxnSpPr>
            <p:cNvPr id="92" name="Straight Connector 91"/>
            <p:cNvCxnSpPr/>
            <p:nvPr/>
          </p:nvCxnSpPr>
          <p:spPr>
            <a:xfrm>
              <a:off x="2572392" y="3518998"/>
              <a:ext cx="0" cy="81376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V="1">
              <a:off x="2285999" y="4320734"/>
              <a:ext cx="286392" cy="32746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977542" y="5093658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n and f are typically given as </a:t>
            </a:r>
            <a:r>
              <a:rPr lang="en-US" i="1" dirty="0"/>
              <a:t>distances</a:t>
            </a:r>
            <a:r>
              <a:rPr lang="en-US" dirty="0"/>
              <a:t> which are</a:t>
            </a:r>
          </a:p>
          <a:p>
            <a:r>
              <a:rPr lang="en-US" dirty="0"/>
              <a:t>always positive and because we are looking towards the –z direction, </a:t>
            </a:r>
          </a:p>
          <a:p>
            <a:r>
              <a:rPr lang="en-US" dirty="0"/>
              <a:t>the actual coordinates become –n and -f</a:t>
            </a:r>
          </a:p>
        </p:txBody>
      </p:sp>
    </p:spTree>
    <p:extLst>
      <p:ext uri="{BB962C8B-B14F-4D97-AF65-F5344CB8AC3E}">
        <p14:creationId xmlns:p14="http://schemas.microsoft.com/office/powerpoint/2010/main" val="408059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9" grpId="0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Orthographic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orthographic (and perspective) projection, our first goal is to transform a given viewing volume to the </a:t>
            </a:r>
            <a:r>
              <a:rPr lang="en-US" dirty="0">
                <a:solidFill>
                  <a:srgbClr val="C00000"/>
                </a:solidFill>
              </a:rPr>
              <a:t>canonical viewing volume </a:t>
            </a: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CVV</a:t>
            </a:r>
            <a:r>
              <a:rPr lang="en-US" dirty="0"/>
              <a:t>):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13</a:t>
            </a:fld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10424" y="4514473"/>
            <a:ext cx="212953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457200" y="4194107"/>
            <a:ext cx="6686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125810" y="3571797"/>
            <a:ext cx="0" cy="6223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762796" y="4194107"/>
            <a:ext cx="363014" cy="3630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8774" y="3457657"/>
            <a:ext cx="204226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579" y="3825882"/>
            <a:ext cx="239136" cy="251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542" y="419803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(0, 0, 0)</a:t>
            </a:r>
          </a:p>
        </p:txBody>
      </p:sp>
      <p:cxnSp>
        <p:nvCxnSpPr>
          <p:cNvPr id="43" name="Straight Connector 42"/>
          <p:cNvCxnSpPr>
            <a:endCxn id="31" idx="2"/>
          </p:cNvCxnSpPr>
          <p:nvPr/>
        </p:nvCxnSpPr>
        <p:spPr>
          <a:xfrm>
            <a:off x="1125810" y="4194107"/>
            <a:ext cx="1149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152400" y="4179803"/>
            <a:ext cx="960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1112497" y="3265403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9097" y="4179803"/>
            <a:ext cx="533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-4297" y="38287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6851" y="30976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715" y="46863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7" name="Right Arrow 86"/>
          <p:cNvSpPr/>
          <p:nvPr/>
        </p:nvSpPr>
        <p:spPr>
          <a:xfrm>
            <a:off x="4792364" y="3818658"/>
            <a:ext cx="623574" cy="236282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/>
          <p:cNvGrpSpPr/>
          <p:nvPr/>
        </p:nvGrpSpPr>
        <p:grpSpPr>
          <a:xfrm>
            <a:off x="5558458" y="3149666"/>
            <a:ext cx="2851248" cy="1751613"/>
            <a:chOff x="5558458" y="3149666"/>
            <a:chExt cx="2851248" cy="1751613"/>
          </a:xfrm>
        </p:grpSpPr>
        <p:grpSp>
          <p:nvGrpSpPr>
            <p:cNvPr id="86" name="Group 85"/>
            <p:cNvGrpSpPr/>
            <p:nvPr/>
          </p:nvGrpSpPr>
          <p:grpSpPr>
            <a:xfrm>
              <a:off x="5558458" y="3149666"/>
              <a:ext cx="2851248" cy="1751613"/>
              <a:chOff x="4919825" y="3149666"/>
              <a:chExt cx="2851248" cy="1751613"/>
            </a:xfrm>
          </p:grpSpPr>
          <p:cxnSp>
            <p:nvCxnSpPr>
              <p:cNvPr id="76" name="Straight Connector 75"/>
              <p:cNvCxnSpPr/>
              <p:nvPr/>
            </p:nvCxnSpPr>
            <p:spPr>
              <a:xfrm flipH="1">
                <a:off x="5878033" y="4419600"/>
                <a:ext cx="1522055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5878033" y="3217717"/>
                <a:ext cx="0" cy="1201883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/>
              <p:cNvGrpSpPr/>
              <p:nvPr/>
            </p:nvGrpSpPr>
            <p:grpSpPr>
              <a:xfrm>
                <a:off x="5755357" y="3149666"/>
                <a:ext cx="1458427" cy="1751613"/>
                <a:chOff x="5780573" y="3185087"/>
                <a:chExt cx="1458427" cy="1751613"/>
              </a:xfrm>
            </p:grpSpPr>
            <p:sp>
              <p:nvSpPr>
                <p:cNvPr id="69" name="TextBox 68"/>
                <p:cNvSpPr txBox="1"/>
                <p:nvPr/>
              </p:nvSpPr>
              <p:spPr>
                <a:xfrm>
                  <a:off x="5835507" y="456736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cxnSp>
              <p:nvCxnSpPr>
                <p:cNvPr id="65" name="Straight Arrow Connector 64"/>
                <p:cNvCxnSpPr/>
                <p:nvPr/>
              </p:nvCxnSpPr>
              <p:spPr>
                <a:xfrm flipV="1">
                  <a:off x="6313973" y="3352800"/>
                  <a:ext cx="0" cy="914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/>
                <p:nvPr/>
              </p:nvCxnSpPr>
              <p:spPr>
                <a:xfrm flipH="1">
                  <a:off x="5780573" y="4267200"/>
                  <a:ext cx="533400" cy="533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/>
                <p:cNvCxnSpPr/>
                <p:nvPr/>
              </p:nvCxnSpPr>
              <p:spPr>
                <a:xfrm>
                  <a:off x="6313974" y="4267200"/>
                  <a:ext cx="92502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TextBox 66"/>
                <p:cNvSpPr txBox="1"/>
                <p:nvPr/>
              </p:nvSpPr>
              <p:spPr>
                <a:xfrm>
                  <a:off x="6938918" y="389786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6318327" y="3185087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</p:grpSp>
          <p:sp>
            <p:nvSpPr>
              <p:cNvPr id="72" name="Cube 71"/>
              <p:cNvSpPr/>
              <p:nvPr/>
            </p:nvSpPr>
            <p:spPr>
              <a:xfrm>
                <a:off x="5471140" y="3217717"/>
                <a:ext cx="1928947" cy="1615513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6896825" y="3559213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6970854" y="3414447"/>
                <a:ext cx="800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(1, 1, 1)</a:t>
                </a:r>
              </a:p>
            </p:txBody>
          </p:sp>
          <p:cxnSp>
            <p:nvCxnSpPr>
              <p:cNvPr id="83" name="Straight Connector 82"/>
              <p:cNvCxnSpPr/>
              <p:nvPr/>
            </p:nvCxnSpPr>
            <p:spPr>
              <a:xfrm flipV="1">
                <a:off x="5471140" y="4419600"/>
                <a:ext cx="406893" cy="41363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/>
              <p:cNvSpPr txBox="1"/>
              <p:nvPr/>
            </p:nvSpPr>
            <p:spPr>
              <a:xfrm>
                <a:off x="4919825" y="4146925"/>
                <a:ext cx="978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(-1, -1, -1)</a:t>
                </a:r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5801833" y="4332767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6592912" y="3999477"/>
              <a:ext cx="800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(0, 0, 0)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1630566" y="5265793"/>
            <a:ext cx="57322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Also note the change in the z-direction. This makes objects </a:t>
            </a:r>
          </a:p>
          <a:p>
            <a:r>
              <a:rPr lang="en-US" dirty="0"/>
              <a:t>further away from the camera to have larger z-values. In</a:t>
            </a:r>
          </a:p>
          <a:p>
            <a:r>
              <a:rPr lang="en-US" dirty="0"/>
              <a:t>other words, CVV is a </a:t>
            </a:r>
            <a:r>
              <a:rPr lang="en-US" dirty="0">
                <a:solidFill>
                  <a:srgbClr val="C00000"/>
                </a:solidFill>
              </a:rPr>
              <a:t>left-handed</a:t>
            </a:r>
            <a:r>
              <a:rPr lang="en-US" dirty="0"/>
              <a:t> coordinate system.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2285999" y="3505200"/>
            <a:ext cx="2334979" cy="1143000"/>
            <a:chOff x="2285999" y="3505200"/>
            <a:chExt cx="2334979" cy="1143000"/>
          </a:xfrm>
        </p:grpSpPr>
        <p:cxnSp>
          <p:nvCxnSpPr>
            <p:cNvPr id="53" name="Straight Connector 52"/>
            <p:cNvCxnSpPr/>
            <p:nvPr/>
          </p:nvCxnSpPr>
          <p:spPr>
            <a:xfrm flipH="1">
              <a:off x="2572392" y="4332767"/>
              <a:ext cx="169480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ube 56"/>
            <p:cNvSpPr/>
            <p:nvPr/>
          </p:nvSpPr>
          <p:spPr>
            <a:xfrm>
              <a:off x="2286000" y="3505200"/>
              <a:ext cx="1981200" cy="114300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/>
            <p:cNvCxnSpPr/>
            <p:nvPr/>
          </p:nvCxnSpPr>
          <p:spPr>
            <a:xfrm>
              <a:off x="4108243" y="4191000"/>
              <a:ext cx="5127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2568039" y="4223351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(l, b, -n)</a:t>
              </a:r>
            </a:p>
          </p:txBody>
        </p:sp>
        <p:sp>
          <p:nvSpPr>
            <p:cNvPr id="60" name="Oval 59"/>
            <p:cNvSpPr/>
            <p:nvPr/>
          </p:nvSpPr>
          <p:spPr>
            <a:xfrm>
              <a:off x="2511053" y="4255617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3898994" y="3712135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690922" y="3828704"/>
              <a:ext cx="864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(r, t, -f)</a:t>
              </a:r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2572392" y="3518998"/>
              <a:ext cx="0" cy="81376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2285999" y="4320734"/>
              <a:ext cx="286392" cy="32746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04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Orthographic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map the box with corners at (l, b, -n) and    (r, t, -f) to the (-1, -1, -1) and (1, 1, 1) of the CVV</a:t>
            </a:r>
          </a:p>
          <a:p>
            <a:r>
              <a:rPr lang="en-US" dirty="0"/>
              <a:t>This is accomplished by the following matrix: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94614" y="3124200"/>
                <a:ext cx="5954771" cy="2583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𝑜𝑟𝑡h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614" y="3124200"/>
                <a:ext cx="5954771" cy="2583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438400" y="5948863"/>
            <a:ext cx="4839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sure you understand how to derive this!</a:t>
            </a:r>
          </a:p>
        </p:txBody>
      </p:sp>
    </p:spTree>
    <p:extLst>
      <p:ext uri="{BB962C8B-B14F-4D97-AF65-F5344CB8AC3E}">
        <p14:creationId xmlns:p14="http://schemas.microsoft.com/office/powerpoint/2010/main" val="97769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Perspective projection models how we see the real world</a:t>
            </a:r>
          </a:p>
          <a:p>
            <a:pPr lvl="1"/>
            <a:r>
              <a:rPr lang="en-US" dirty="0"/>
              <a:t>Objects appear smaller with distance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 rot="5400000">
            <a:off x="7670187" y="4381081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script-tutorials.com</a:t>
            </a:r>
          </a:p>
        </p:txBody>
      </p:sp>
      <p:pic>
        <p:nvPicPr>
          <p:cNvPr id="61446" name="Picture 6" descr="Image result for perspective vs orthographic proje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73693"/>
            <a:ext cx="7162800" cy="345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54157" y="3200400"/>
            <a:ext cx="1168841" cy="870668"/>
            <a:chOff x="954157" y="3200400"/>
            <a:chExt cx="1168841" cy="870668"/>
          </a:xfrm>
        </p:grpSpPr>
        <p:sp>
          <p:nvSpPr>
            <p:cNvPr id="8" name="Freeform 7"/>
            <p:cNvSpPr/>
            <p:nvPr/>
          </p:nvSpPr>
          <p:spPr>
            <a:xfrm>
              <a:off x="954157" y="3768918"/>
              <a:ext cx="2067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371599" y="3200400"/>
              <a:ext cx="3591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524000" y="3352800"/>
              <a:ext cx="2067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523999" y="3352800"/>
              <a:ext cx="3591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1828800" y="3212327"/>
              <a:ext cx="294198" cy="278296"/>
            </a:xfrm>
            <a:custGeom>
              <a:avLst/>
              <a:gdLst>
                <a:gd name="connsiteX0" fmla="*/ 286247 w 294198"/>
                <a:gd name="connsiteY0" fmla="*/ 0 h 278296"/>
                <a:gd name="connsiteX1" fmla="*/ 294198 w 294198"/>
                <a:gd name="connsiteY1" fmla="*/ 151075 h 278296"/>
                <a:gd name="connsiteX2" fmla="*/ 0 w 294198"/>
                <a:gd name="connsiteY2" fmla="*/ 278296 h 278296"/>
                <a:gd name="connsiteX3" fmla="*/ 7951 w 294198"/>
                <a:gd name="connsiteY3" fmla="*/ 87464 h 278296"/>
                <a:gd name="connsiteX4" fmla="*/ 286247 w 294198"/>
                <a:gd name="connsiteY4" fmla="*/ 0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98" h="278296">
                  <a:moveTo>
                    <a:pt x="286247" y="0"/>
                  </a:moveTo>
                  <a:lnTo>
                    <a:pt x="294198" y="151075"/>
                  </a:lnTo>
                  <a:lnTo>
                    <a:pt x="0" y="278296"/>
                  </a:lnTo>
                  <a:lnTo>
                    <a:pt x="7951" y="87464"/>
                  </a:lnTo>
                  <a:lnTo>
                    <a:pt x="28624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391478" y="3776870"/>
              <a:ext cx="413468" cy="294198"/>
            </a:xfrm>
            <a:custGeom>
              <a:avLst/>
              <a:gdLst>
                <a:gd name="connsiteX0" fmla="*/ 15903 w 413468"/>
                <a:gd name="connsiteY0" fmla="*/ 294198 h 294198"/>
                <a:gd name="connsiteX1" fmla="*/ 413468 w 413468"/>
                <a:gd name="connsiteY1" fmla="*/ 39756 h 294198"/>
                <a:gd name="connsiteX2" fmla="*/ 326004 w 413468"/>
                <a:gd name="connsiteY2" fmla="*/ 0 h 294198"/>
                <a:gd name="connsiteX3" fmla="*/ 0 w 413468"/>
                <a:gd name="connsiteY3" fmla="*/ 190831 h 294198"/>
                <a:gd name="connsiteX4" fmla="*/ 15903 w 413468"/>
                <a:gd name="connsiteY4" fmla="*/ 294198 h 29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468" h="294198">
                  <a:moveTo>
                    <a:pt x="15903" y="294198"/>
                  </a:moveTo>
                  <a:lnTo>
                    <a:pt x="413468" y="39756"/>
                  </a:lnTo>
                  <a:lnTo>
                    <a:pt x="326004" y="0"/>
                  </a:lnTo>
                  <a:lnTo>
                    <a:pt x="0" y="190831"/>
                  </a:lnTo>
                  <a:lnTo>
                    <a:pt x="15903" y="294198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657725" y="3181350"/>
            <a:ext cx="1168841" cy="870668"/>
            <a:chOff x="954157" y="3200400"/>
            <a:chExt cx="1168841" cy="870668"/>
          </a:xfrm>
        </p:grpSpPr>
        <p:sp>
          <p:nvSpPr>
            <p:cNvPr id="20" name="Freeform 19"/>
            <p:cNvSpPr/>
            <p:nvPr/>
          </p:nvSpPr>
          <p:spPr>
            <a:xfrm>
              <a:off x="954157" y="3768918"/>
              <a:ext cx="2067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371599" y="3200400"/>
              <a:ext cx="3591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524000" y="3352800"/>
              <a:ext cx="2067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523999" y="3352800"/>
              <a:ext cx="359133" cy="238539"/>
            </a:xfrm>
            <a:custGeom>
              <a:avLst/>
              <a:gdLst>
                <a:gd name="connsiteX0" fmla="*/ 0 w 206733"/>
                <a:gd name="connsiteY0" fmla="*/ 95416 h 238539"/>
                <a:gd name="connsiteX1" fmla="*/ 0 w 206733"/>
                <a:gd name="connsiteY1" fmla="*/ 238539 h 238539"/>
                <a:gd name="connsiteX2" fmla="*/ 206733 w 206733"/>
                <a:gd name="connsiteY2" fmla="*/ 103367 h 238539"/>
                <a:gd name="connsiteX3" fmla="*/ 135172 w 206733"/>
                <a:gd name="connsiteY3" fmla="*/ 0 h 238539"/>
                <a:gd name="connsiteX4" fmla="*/ 0 w 206733"/>
                <a:gd name="connsiteY4" fmla="*/ 95416 h 23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733" h="238539">
                  <a:moveTo>
                    <a:pt x="0" y="95416"/>
                  </a:moveTo>
                  <a:lnTo>
                    <a:pt x="0" y="238539"/>
                  </a:lnTo>
                  <a:lnTo>
                    <a:pt x="206733" y="103367"/>
                  </a:lnTo>
                  <a:lnTo>
                    <a:pt x="135172" y="0"/>
                  </a:lnTo>
                  <a:lnTo>
                    <a:pt x="0" y="95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828800" y="3212327"/>
              <a:ext cx="294198" cy="278296"/>
            </a:xfrm>
            <a:custGeom>
              <a:avLst/>
              <a:gdLst>
                <a:gd name="connsiteX0" fmla="*/ 286247 w 294198"/>
                <a:gd name="connsiteY0" fmla="*/ 0 h 278296"/>
                <a:gd name="connsiteX1" fmla="*/ 294198 w 294198"/>
                <a:gd name="connsiteY1" fmla="*/ 151075 h 278296"/>
                <a:gd name="connsiteX2" fmla="*/ 0 w 294198"/>
                <a:gd name="connsiteY2" fmla="*/ 278296 h 278296"/>
                <a:gd name="connsiteX3" fmla="*/ 7951 w 294198"/>
                <a:gd name="connsiteY3" fmla="*/ 87464 h 278296"/>
                <a:gd name="connsiteX4" fmla="*/ 286247 w 294198"/>
                <a:gd name="connsiteY4" fmla="*/ 0 h 27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98" h="278296">
                  <a:moveTo>
                    <a:pt x="286247" y="0"/>
                  </a:moveTo>
                  <a:lnTo>
                    <a:pt x="294198" y="151075"/>
                  </a:lnTo>
                  <a:lnTo>
                    <a:pt x="0" y="278296"/>
                  </a:lnTo>
                  <a:lnTo>
                    <a:pt x="7951" y="87464"/>
                  </a:lnTo>
                  <a:lnTo>
                    <a:pt x="28624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391478" y="3776870"/>
              <a:ext cx="413468" cy="294198"/>
            </a:xfrm>
            <a:custGeom>
              <a:avLst/>
              <a:gdLst>
                <a:gd name="connsiteX0" fmla="*/ 15903 w 413468"/>
                <a:gd name="connsiteY0" fmla="*/ 294198 h 294198"/>
                <a:gd name="connsiteX1" fmla="*/ 413468 w 413468"/>
                <a:gd name="connsiteY1" fmla="*/ 39756 h 294198"/>
                <a:gd name="connsiteX2" fmla="*/ 326004 w 413468"/>
                <a:gd name="connsiteY2" fmla="*/ 0 h 294198"/>
                <a:gd name="connsiteX3" fmla="*/ 0 w 413468"/>
                <a:gd name="connsiteY3" fmla="*/ 190831 h 294198"/>
                <a:gd name="connsiteX4" fmla="*/ 15903 w 413468"/>
                <a:gd name="connsiteY4" fmla="*/ 294198 h 29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468" h="294198">
                  <a:moveTo>
                    <a:pt x="15903" y="294198"/>
                  </a:moveTo>
                  <a:lnTo>
                    <a:pt x="413468" y="39756"/>
                  </a:lnTo>
                  <a:lnTo>
                    <a:pt x="326004" y="0"/>
                  </a:lnTo>
                  <a:lnTo>
                    <a:pt x="0" y="190831"/>
                  </a:lnTo>
                  <a:lnTo>
                    <a:pt x="15903" y="294198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7778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still have the same 6 parameters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16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216859" y="2145412"/>
            <a:ext cx="6479341" cy="3657600"/>
            <a:chOff x="2207459" y="2520778"/>
            <a:chExt cx="6479341" cy="3657600"/>
          </a:xfrm>
        </p:grpSpPr>
        <p:sp>
          <p:nvSpPr>
            <p:cNvPr id="7" name="Freeform 6"/>
            <p:cNvSpPr/>
            <p:nvPr/>
          </p:nvSpPr>
          <p:spPr>
            <a:xfrm>
              <a:off x="4572000" y="4038599"/>
              <a:ext cx="990600" cy="1659109"/>
            </a:xfrm>
            <a:custGeom>
              <a:avLst/>
              <a:gdLst>
                <a:gd name="connsiteX0" fmla="*/ 0 w 902043"/>
                <a:gd name="connsiteY0" fmla="*/ 0 h 1828800"/>
                <a:gd name="connsiteX1" fmla="*/ 902043 w 902043"/>
                <a:gd name="connsiteY1" fmla="*/ 902043 h 1828800"/>
                <a:gd name="connsiteX2" fmla="*/ 902043 w 902043"/>
                <a:gd name="connsiteY2" fmla="*/ 1828800 h 1828800"/>
                <a:gd name="connsiteX3" fmla="*/ 0 w 902043"/>
                <a:gd name="connsiteY3" fmla="*/ 926757 h 1828800"/>
                <a:gd name="connsiteX4" fmla="*/ 0 w 902043"/>
                <a:gd name="connsiteY4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043" h="1828800">
                  <a:moveTo>
                    <a:pt x="0" y="0"/>
                  </a:moveTo>
                  <a:lnTo>
                    <a:pt x="902043" y="902043"/>
                  </a:lnTo>
                  <a:lnTo>
                    <a:pt x="902043" y="1828800"/>
                  </a:lnTo>
                  <a:lnTo>
                    <a:pt x="0" y="926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0101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58000" y="2520778"/>
              <a:ext cx="1828800" cy="3657600"/>
            </a:xfrm>
            <a:custGeom>
              <a:avLst/>
              <a:gdLst>
                <a:gd name="connsiteX0" fmla="*/ 0 w 1828800"/>
                <a:gd name="connsiteY0" fmla="*/ 0 h 3657600"/>
                <a:gd name="connsiteX1" fmla="*/ 1828800 w 1828800"/>
                <a:gd name="connsiteY1" fmla="*/ 1828800 h 3657600"/>
                <a:gd name="connsiteX2" fmla="*/ 1828800 w 1828800"/>
                <a:gd name="connsiteY2" fmla="*/ 3657600 h 3657600"/>
                <a:gd name="connsiteX3" fmla="*/ 12357 w 1828800"/>
                <a:gd name="connsiteY3" fmla="*/ 1841157 h 3657600"/>
                <a:gd name="connsiteX4" fmla="*/ 0 w 1828800"/>
                <a:gd name="connsiteY4" fmla="*/ 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3657600">
                  <a:moveTo>
                    <a:pt x="0" y="0"/>
                  </a:moveTo>
                  <a:lnTo>
                    <a:pt x="1828800" y="1828800"/>
                  </a:lnTo>
                  <a:lnTo>
                    <a:pt x="1828800" y="3657600"/>
                  </a:lnTo>
                  <a:lnTo>
                    <a:pt x="12357" y="1841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0101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endCxn id="10" idx="0"/>
            </p:cNvCxnSpPr>
            <p:nvPr/>
          </p:nvCxnSpPr>
          <p:spPr>
            <a:xfrm flipV="1">
              <a:off x="2743200" y="2520778"/>
              <a:ext cx="4114800" cy="27406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endCxn id="10" idx="1"/>
            </p:cNvCxnSpPr>
            <p:nvPr/>
          </p:nvCxnSpPr>
          <p:spPr>
            <a:xfrm flipV="1">
              <a:off x="2730843" y="4349578"/>
              <a:ext cx="5955957" cy="932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endCxn id="10" idx="2"/>
            </p:cNvCxnSpPr>
            <p:nvPr/>
          </p:nvCxnSpPr>
          <p:spPr>
            <a:xfrm>
              <a:off x="2752383" y="5288122"/>
              <a:ext cx="5934417" cy="8902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10" idx="3"/>
            </p:cNvCxnSpPr>
            <p:nvPr/>
          </p:nvCxnSpPr>
          <p:spPr>
            <a:xfrm flipV="1">
              <a:off x="2743200" y="4361935"/>
              <a:ext cx="4127157" cy="9389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333875" y="4343400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62600" y="5124992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41557" y="419100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91618" y="51742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2688312" y="5167524"/>
              <a:ext cx="184666" cy="1846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207459" y="4785036"/>
              <a:ext cx="8210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Camera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1788337" y="3835604"/>
            <a:ext cx="4845802" cy="2412796"/>
            <a:chOff x="2240799" y="3747592"/>
            <a:chExt cx="4845802" cy="2412796"/>
          </a:xfrm>
        </p:grpSpPr>
        <p:sp>
          <p:nvSpPr>
            <p:cNvPr id="54" name="TextBox 53"/>
            <p:cNvSpPr txBox="1"/>
            <p:nvPr/>
          </p:nvSpPr>
          <p:spPr>
            <a:xfrm>
              <a:off x="2996298" y="5247056"/>
              <a:ext cx="11192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Near</a:t>
              </a:r>
            </a:p>
            <a:p>
              <a:r>
                <a:rPr lang="en-US" sz="1400" dirty="0"/>
                <a:t>distance (n)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293836" y="5539728"/>
              <a:ext cx="10695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Far</a:t>
              </a:r>
            </a:p>
            <a:p>
              <a:r>
                <a:rPr lang="en-US" sz="1400" dirty="0"/>
                <a:t>distance (f)</a:t>
              </a:r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4529162" y="4413581"/>
              <a:ext cx="0" cy="11261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7086600" y="3747592"/>
              <a:ext cx="1" cy="21499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2256376" y="4785226"/>
              <a:ext cx="0" cy="7234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ight Brace 64"/>
            <p:cNvSpPr/>
            <p:nvPr/>
          </p:nvSpPr>
          <p:spPr>
            <a:xfrm rot="5400000">
              <a:off x="3300402" y="4645081"/>
              <a:ext cx="212764" cy="227502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ight Brace 67"/>
            <p:cNvSpPr/>
            <p:nvPr/>
          </p:nvSpPr>
          <p:spPr>
            <a:xfrm rot="5400000">
              <a:off x="4505858" y="3579648"/>
              <a:ext cx="315681" cy="484579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920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map to the canonical viewing volume (CVV), we take a two step approach:</a:t>
            </a:r>
          </a:p>
          <a:p>
            <a:pPr lvl="1"/>
            <a:r>
              <a:rPr lang="en-US" b="1" dirty="0"/>
              <a:t>Step 1:</a:t>
            </a:r>
            <a:r>
              <a:rPr lang="en-US" dirty="0"/>
              <a:t> Map perspective to orthographic viewing volume</a:t>
            </a:r>
          </a:p>
          <a:p>
            <a:pPr lvl="1"/>
            <a:r>
              <a:rPr lang="en-US" b="1" dirty="0"/>
              <a:t>Step 2:</a:t>
            </a:r>
            <a:r>
              <a:rPr lang="en-US" dirty="0"/>
              <a:t> Map orthographic to CVV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17</a:t>
            </a:fld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2819400" y="4267200"/>
            <a:ext cx="623574" cy="236282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657600" y="3884443"/>
            <a:ext cx="2553599" cy="1143000"/>
            <a:chOff x="5651365" y="3884443"/>
            <a:chExt cx="2553599" cy="1143000"/>
          </a:xfrm>
        </p:grpSpPr>
        <p:cxnSp>
          <p:nvCxnSpPr>
            <p:cNvPr id="26" name="Straight Connector 25"/>
            <p:cNvCxnSpPr/>
            <p:nvPr/>
          </p:nvCxnSpPr>
          <p:spPr>
            <a:xfrm flipH="1">
              <a:off x="5937758" y="4712010"/>
              <a:ext cx="169480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be 26"/>
            <p:cNvSpPr/>
            <p:nvPr/>
          </p:nvSpPr>
          <p:spPr>
            <a:xfrm>
              <a:off x="5651366" y="3884443"/>
              <a:ext cx="1981200" cy="114300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93923" y="4386363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(l, b, -n)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876419" y="4634860"/>
              <a:ext cx="152400" cy="1524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7264360" y="4091378"/>
              <a:ext cx="152400" cy="15240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40560" y="3982912"/>
              <a:ext cx="864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(r, t, -f)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5937758" y="3898241"/>
              <a:ext cx="0" cy="81376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651365" y="4699977"/>
              <a:ext cx="286392" cy="32746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64563" y="3625602"/>
            <a:ext cx="2251013" cy="1936998"/>
            <a:chOff x="1330387" y="3625602"/>
            <a:chExt cx="2251013" cy="1936998"/>
          </a:xfrm>
        </p:grpSpPr>
        <p:sp>
          <p:nvSpPr>
            <p:cNvPr id="36" name="TextBox 35"/>
            <p:cNvSpPr txBox="1"/>
            <p:nvPr/>
          </p:nvSpPr>
          <p:spPr>
            <a:xfrm>
              <a:off x="1459846" y="4521967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(l, b, -n)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402277" y="3625602"/>
              <a:ext cx="2179123" cy="1936998"/>
              <a:chOff x="2469077" y="3866014"/>
              <a:chExt cx="2179123" cy="1936998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2469077" y="4669824"/>
                <a:ext cx="524604" cy="878634"/>
              </a:xfrm>
              <a:custGeom>
                <a:avLst/>
                <a:gdLst>
                  <a:gd name="connsiteX0" fmla="*/ 0 w 902043"/>
                  <a:gd name="connsiteY0" fmla="*/ 0 h 1828800"/>
                  <a:gd name="connsiteX1" fmla="*/ 902043 w 902043"/>
                  <a:gd name="connsiteY1" fmla="*/ 902043 h 1828800"/>
                  <a:gd name="connsiteX2" fmla="*/ 902043 w 902043"/>
                  <a:gd name="connsiteY2" fmla="*/ 1828800 h 1828800"/>
                  <a:gd name="connsiteX3" fmla="*/ 0 w 902043"/>
                  <a:gd name="connsiteY3" fmla="*/ 926757 h 1828800"/>
                  <a:gd name="connsiteX4" fmla="*/ 0 w 902043"/>
                  <a:gd name="connsiteY4" fmla="*/ 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043" h="1828800">
                    <a:moveTo>
                      <a:pt x="0" y="0"/>
                    </a:moveTo>
                    <a:lnTo>
                      <a:pt x="902043" y="902043"/>
                    </a:lnTo>
                    <a:lnTo>
                      <a:pt x="902043" y="1828800"/>
                    </a:lnTo>
                    <a:lnTo>
                      <a:pt x="0" y="9267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0101">
                  <a:alpha val="2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3679701" y="3866014"/>
                <a:ext cx="968499" cy="1936998"/>
              </a:xfrm>
              <a:custGeom>
                <a:avLst/>
                <a:gdLst>
                  <a:gd name="connsiteX0" fmla="*/ 0 w 1828800"/>
                  <a:gd name="connsiteY0" fmla="*/ 0 h 3657600"/>
                  <a:gd name="connsiteX1" fmla="*/ 1828800 w 1828800"/>
                  <a:gd name="connsiteY1" fmla="*/ 1828800 h 3657600"/>
                  <a:gd name="connsiteX2" fmla="*/ 1828800 w 1828800"/>
                  <a:gd name="connsiteY2" fmla="*/ 3657600 h 3657600"/>
                  <a:gd name="connsiteX3" fmla="*/ 12357 w 1828800"/>
                  <a:gd name="connsiteY3" fmla="*/ 1841157 h 3657600"/>
                  <a:gd name="connsiteX4" fmla="*/ 0 w 1828800"/>
                  <a:gd name="connsiteY4" fmla="*/ 0 h 365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0" h="3657600">
                    <a:moveTo>
                      <a:pt x="0" y="0"/>
                    </a:moveTo>
                    <a:lnTo>
                      <a:pt x="1828800" y="1828800"/>
                    </a:lnTo>
                    <a:lnTo>
                      <a:pt x="1828800" y="3657600"/>
                    </a:lnTo>
                    <a:lnTo>
                      <a:pt x="12357" y="1841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0101">
                  <a:alpha val="2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Connector 8"/>
              <p:cNvCxnSpPr>
                <a:stCxn id="7" idx="0"/>
                <a:endCxn id="8" idx="0"/>
              </p:cNvCxnSpPr>
              <p:nvPr/>
            </p:nvCxnSpPr>
            <p:spPr>
              <a:xfrm flipV="1">
                <a:off x="2469077" y="3866014"/>
                <a:ext cx="1210624" cy="8038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stCxn id="7" idx="1"/>
                <a:endCxn id="8" idx="1"/>
              </p:cNvCxnSpPr>
              <p:nvPr/>
            </p:nvCxnSpPr>
            <p:spPr>
              <a:xfrm flipV="1">
                <a:off x="2993681" y="4834513"/>
                <a:ext cx="1654519" cy="2686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>
                <a:stCxn id="7" idx="2"/>
                <a:endCxn id="8" idx="2"/>
              </p:cNvCxnSpPr>
              <p:nvPr/>
            </p:nvCxnSpPr>
            <p:spPr>
              <a:xfrm>
                <a:off x="2993681" y="5548458"/>
                <a:ext cx="1654519" cy="2545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>
                <a:stCxn id="7" idx="3"/>
                <a:endCxn id="8" idx="3"/>
              </p:cNvCxnSpPr>
              <p:nvPr/>
            </p:nvCxnSpPr>
            <p:spPr>
              <a:xfrm flipV="1">
                <a:off x="2469077" y="4841057"/>
                <a:ext cx="1217168" cy="27402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Oval 34"/>
            <p:cNvSpPr/>
            <p:nvPr/>
          </p:nvSpPr>
          <p:spPr>
            <a:xfrm>
              <a:off x="1330387" y="4808859"/>
              <a:ext cx="152400" cy="1524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1853307" y="4798967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904688" y="4813233"/>
              <a:ext cx="928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(r, t, -n)</a:t>
              </a:r>
            </a:p>
          </p:txBody>
        </p:sp>
      </p:grpSp>
      <p:sp>
        <p:nvSpPr>
          <p:cNvPr id="41" name="Right Arrow 40"/>
          <p:cNvSpPr/>
          <p:nvPr/>
        </p:nvSpPr>
        <p:spPr>
          <a:xfrm>
            <a:off x="5943600" y="4267200"/>
            <a:ext cx="623574" cy="236282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6248400" y="3505200"/>
            <a:ext cx="2851248" cy="1751613"/>
            <a:chOff x="5558458" y="3149666"/>
            <a:chExt cx="2851248" cy="1751613"/>
          </a:xfrm>
        </p:grpSpPr>
        <p:grpSp>
          <p:nvGrpSpPr>
            <p:cNvPr id="43" name="Group 42"/>
            <p:cNvGrpSpPr/>
            <p:nvPr/>
          </p:nvGrpSpPr>
          <p:grpSpPr>
            <a:xfrm>
              <a:off x="5558458" y="3149666"/>
              <a:ext cx="2851248" cy="1751613"/>
              <a:chOff x="4919825" y="3149666"/>
              <a:chExt cx="2851248" cy="1751613"/>
            </a:xfrm>
          </p:grpSpPr>
          <p:cxnSp>
            <p:nvCxnSpPr>
              <p:cNvPr id="45" name="Straight Connector 44"/>
              <p:cNvCxnSpPr/>
              <p:nvPr/>
            </p:nvCxnSpPr>
            <p:spPr>
              <a:xfrm flipH="1">
                <a:off x="5878033" y="4419600"/>
                <a:ext cx="1522055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5878033" y="3217717"/>
                <a:ext cx="0" cy="1201883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>
              <a:xfrm>
                <a:off x="5755357" y="3149666"/>
                <a:ext cx="1458427" cy="1751613"/>
                <a:chOff x="5780573" y="3185087"/>
                <a:chExt cx="1458427" cy="1751613"/>
              </a:xfrm>
            </p:grpSpPr>
            <p:sp>
              <p:nvSpPr>
                <p:cNvPr id="54" name="TextBox 53"/>
                <p:cNvSpPr txBox="1"/>
                <p:nvPr/>
              </p:nvSpPr>
              <p:spPr>
                <a:xfrm>
                  <a:off x="5835507" y="456736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cxnSp>
              <p:nvCxnSpPr>
                <p:cNvPr id="55" name="Straight Arrow Connector 54"/>
                <p:cNvCxnSpPr/>
                <p:nvPr/>
              </p:nvCxnSpPr>
              <p:spPr>
                <a:xfrm flipV="1">
                  <a:off x="6313973" y="3352800"/>
                  <a:ext cx="0" cy="914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H="1">
                  <a:off x="5780573" y="4267200"/>
                  <a:ext cx="533400" cy="533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/>
                <p:nvPr/>
              </p:nvCxnSpPr>
              <p:spPr>
                <a:xfrm>
                  <a:off x="6313974" y="4267200"/>
                  <a:ext cx="92502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/>
                <p:cNvSpPr txBox="1"/>
                <p:nvPr/>
              </p:nvSpPr>
              <p:spPr>
                <a:xfrm>
                  <a:off x="6938918" y="389786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6318327" y="3185087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</p:grpSp>
          <p:sp>
            <p:nvSpPr>
              <p:cNvPr id="48" name="Cube 47"/>
              <p:cNvSpPr/>
              <p:nvPr/>
            </p:nvSpPr>
            <p:spPr>
              <a:xfrm>
                <a:off x="5471140" y="3217717"/>
                <a:ext cx="1928947" cy="1615513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6896825" y="3559213"/>
                <a:ext cx="152400" cy="15240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970854" y="3414447"/>
                <a:ext cx="800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(1, 1, 1)</a:t>
                </a:r>
              </a:p>
            </p:txBody>
          </p:sp>
          <p:cxnSp>
            <p:nvCxnSpPr>
              <p:cNvPr id="51" name="Straight Connector 50"/>
              <p:cNvCxnSpPr/>
              <p:nvPr/>
            </p:nvCxnSpPr>
            <p:spPr>
              <a:xfrm flipV="1">
                <a:off x="5471140" y="4419600"/>
                <a:ext cx="406893" cy="41363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4919825" y="4146925"/>
                <a:ext cx="978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(-1, -1, -1)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801833" y="4332767"/>
                <a:ext cx="152400" cy="152400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6592912" y="3999477"/>
              <a:ext cx="800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(0, 0, 0)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5924926" y="5490045"/>
            <a:ext cx="2758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already know how to </a:t>
            </a:r>
          </a:p>
          <a:p>
            <a:r>
              <a:rPr lang="en-US" dirty="0"/>
              <a:t>perform the second step!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271" y="5602794"/>
            <a:ext cx="535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Think of this as compressing a box where</a:t>
            </a:r>
          </a:p>
          <a:p>
            <a:r>
              <a:rPr lang="en-US" dirty="0"/>
              <a:t>you have to apply more pressure towards the back</a:t>
            </a:r>
          </a:p>
        </p:txBody>
      </p:sp>
      <p:sp>
        <p:nvSpPr>
          <p:cNvPr id="62" name="Oval 61"/>
          <p:cNvSpPr/>
          <p:nvPr/>
        </p:nvSpPr>
        <p:spPr>
          <a:xfrm>
            <a:off x="2426354" y="4524445"/>
            <a:ext cx="152400" cy="1524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581356" y="4114800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6724100" y="3896194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5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1" grpId="0" animBg="1"/>
      <p:bldP spid="60" grpId="0"/>
      <p:bldP spid="61" grpId="0"/>
      <p:bldP spid="62" grpId="0" animBg="1"/>
      <p:bldP spid="63" grpId="0" animBg="1"/>
      <p:bldP spid="6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 observation is that more distant objects should shrink proportional to their distance to the camera</a:t>
            </a:r>
          </a:p>
          <a:p>
            <a:r>
              <a:rPr lang="en-US" dirty="0"/>
              <a:t>Here is a side view (therefore x is constant):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18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28600" y="4876800"/>
            <a:ext cx="4267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752600" y="4343400"/>
            <a:ext cx="0" cy="53340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09600" y="48006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0" idx="7"/>
          </p:cNvCxnSpPr>
          <p:nvPr/>
        </p:nvCxnSpPr>
        <p:spPr>
          <a:xfrm flipV="1">
            <a:off x="739682" y="3498112"/>
            <a:ext cx="2843490" cy="13248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0606" y="502920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 0,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5143" y="4996285"/>
            <a:ext cx="849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 0, -n)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10" y="403132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 t, -n)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743200" y="4185208"/>
            <a:ext cx="0" cy="69159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7"/>
          </p:cNvCxnSpPr>
          <p:nvPr/>
        </p:nvCxnSpPr>
        <p:spPr>
          <a:xfrm flipV="1">
            <a:off x="739682" y="3905750"/>
            <a:ext cx="2831445" cy="91716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3581400" y="3498112"/>
            <a:ext cx="0" cy="137438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76642" y="492638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 0, -f)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765313" y="4497572"/>
            <a:ext cx="0" cy="38277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82279" y="4056557"/>
            <a:ext cx="758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 y, z)</a:t>
            </a:r>
          </a:p>
        </p:txBody>
      </p:sp>
      <p:sp>
        <p:nvSpPr>
          <p:cNvPr id="42" name="Oval 41"/>
          <p:cNvSpPr/>
          <p:nvPr/>
        </p:nvSpPr>
        <p:spPr>
          <a:xfrm>
            <a:off x="1728438" y="4451499"/>
            <a:ext cx="79096" cy="79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746688" y="4402637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 y’, -n)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7494" y="5596955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y’?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70910" y="3043365"/>
                <a:ext cx="885627" cy="583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910" y="3043365"/>
                <a:ext cx="885627" cy="5837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866882" y="3043365"/>
                <a:ext cx="1057918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882" y="3043365"/>
                <a:ext cx="1057918" cy="472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ight Arrow 46"/>
          <p:cNvSpPr/>
          <p:nvPr/>
        </p:nvSpPr>
        <p:spPr>
          <a:xfrm>
            <a:off x="6234426" y="3200400"/>
            <a:ext cx="471174" cy="178535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29200" y="4645171"/>
                <a:ext cx="880562" cy="536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645171"/>
                <a:ext cx="880562" cy="5364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825172" y="4645171"/>
                <a:ext cx="1057918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172" y="4645171"/>
                <a:ext cx="1057918" cy="472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Arrow 49"/>
          <p:cNvSpPr/>
          <p:nvPr/>
        </p:nvSpPr>
        <p:spPr>
          <a:xfrm>
            <a:off x="6192716" y="4802206"/>
            <a:ext cx="471174" cy="178535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4915060" y="3878680"/>
            <a:ext cx="3377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same geometrical </a:t>
            </a:r>
            <a:r>
              <a:rPr lang="en-US" dirty="0" err="1"/>
              <a:t>config</a:t>
            </a:r>
            <a:r>
              <a:rPr lang="en-US" dirty="0"/>
              <a:t>.</a:t>
            </a:r>
          </a:p>
          <a:p>
            <a:r>
              <a:rPr lang="en-US" dirty="0"/>
              <a:t>applies to the x dimension as well: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28696" y="5562600"/>
            <a:ext cx="3053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ignore the z dimension</a:t>
            </a:r>
          </a:p>
          <a:p>
            <a:r>
              <a:rPr lang="en-US" dirty="0"/>
              <a:t>for the moment</a:t>
            </a:r>
          </a:p>
        </p:txBody>
      </p:sp>
      <p:sp>
        <p:nvSpPr>
          <p:cNvPr id="31" name="Oval 30"/>
          <p:cNvSpPr/>
          <p:nvPr/>
        </p:nvSpPr>
        <p:spPr>
          <a:xfrm>
            <a:off x="2703445" y="4135757"/>
            <a:ext cx="79096" cy="79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44CF0C-4900-4043-A49B-E7BA0D38F52D}"/>
              </a:ext>
            </a:extLst>
          </p:cNvPr>
          <p:cNvGrpSpPr/>
          <p:nvPr/>
        </p:nvGrpSpPr>
        <p:grpSpPr>
          <a:xfrm>
            <a:off x="238542" y="2828493"/>
            <a:ext cx="903301" cy="1100270"/>
            <a:chOff x="199054" y="2862388"/>
            <a:chExt cx="903301" cy="110027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E5B9A4-BEEB-4EB7-9F8C-78D779282FBB}"/>
                </a:ext>
              </a:extLst>
            </p:cNvPr>
            <p:cNvGrpSpPr/>
            <p:nvPr/>
          </p:nvGrpSpPr>
          <p:grpSpPr>
            <a:xfrm>
              <a:off x="398952" y="3044950"/>
              <a:ext cx="452185" cy="681883"/>
              <a:chOff x="152400" y="3265403"/>
              <a:chExt cx="960097" cy="1447800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C54DB3B-BECB-47D3-BEEB-3583B1F3CC8B}"/>
                  </a:ext>
                </a:extLst>
              </p:cNvPr>
              <p:cNvCxnSpPr/>
              <p:nvPr/>
            </p:nvCxnSpPr>
            <p:spPr>
              <a:xfrm flipH="1">
                <a:off x="152400" y="4179803"/>
                <a:ext cx="96009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8B9F058-107D-4AED-B623-062B64CDFA89}"/>
                  </a:ext>
                </a:extLst>
              </p:cNvPr>
              <p:cNvCxnSpPr/>
              <p:nvPr/>
            </p:nvCxnSpPr>
            <p:spPr>
              <a:xfrm flipV="1">
                <a:off x="1112497" y="3265403"/>
                <a:ext cx="0" cy="914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161F3FDA-CF3A-4592-96E4-C9D5A4C1AF07}"/>
                  </a:ext>
                </a:extLst>
              </p:cNvPr>
              <p:cNvCxnSpPr/>
              <p:nvPr/>
            </p:nvCxnSpPr>
            <p:spPr>
              <a:xfrm flipH="1">
                <a:off x="579097" y="4179803"/>
                <a:ext cx="533400" cy="533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F3B890-A63F-4E51-BD9B-CE0780616784}"/>
                </a:ext>
              </a:extLst>
            </p:cNvPr>
            <p:cNvSpPr txBox="1"/>
            <p:nvPr/>
          </p:nvSpPr>
          <p:spPr>
            <a:xfrm>
              <a:off x="391886" y="3654881"/>
              <a:ext cx="2512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x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4176502-1E82-4AFB-BAAA-383D83BE1621}"/>
                </a:ext>
              </a:extLst>
            </p:cNvPr>
            <p:cNvSpPr txBox="1"/>
            <p:nvPr/>
          </p:nvSpPr>
          <p:spPr>
            <a:xfrm>
              <a:off x="851137" y="2862388"/>
              <a:ext cx="2512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8FBC0A6-D9AF-4EF5-99DF-36931AB10DBD}"/>
                </a:ext>
              </a:extLst>
            </p:cNvPr>
            <p:cNvSpPr txBox="1"/>
            <p:nvPr/>
          </p:nvSpPr>
          <p:spPr>
            <a:xfrm>
              <a:off x="199054" y="3303428"/>
              <a:ext cx="2512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z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862EA6-EC25-40A1-98C5-72DC7C3108F5}"/>
              </a:ext>
            </a:extLst>
          </p:cNvPr>
          <p:cNvGrpSpPr/>
          <p:nvPr/>
        </p:nvGrpSpPr>
        <p:grpSpPr>
          <a:xfrm>
            <a:off x="234220" y="3905564"/>
            <a:ext cx="384035" cy="291529"/>
            <a:chOff x="261046" y="3907194"/>
            <a:chExt cx="384035" cy="29152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E96D981-4152-4FBC-BD99-C2FBE9B52A90}"/>
                </a:ext>
              </a:extLst>
            </p:cNvPr>
            <p:cNvGrpSpPr/>
            <p:nvPr/>
          </p:nvGrpSpPr>
          <p:grpSpPr>
            <a:xfrm rot="17905633">
              <a:off x="311025" y="3864667"/>
              <a:ext cx="284077" cy="384035"/>
              <a:chOff x="453834" y="3855978"/>
              <a:chExt cx="284077" cy="384035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BCCC68CE-E84B-42F1-9BEC-084B3149091A}"/>
                  </a:ext>
                </a:extLst>
              </p:cNvPr>
              <p:cNvSpPr/>
              <p:nvPr/>
            </p:nvSpPr>
            <p:spPr>
              <a:xfrm>
                <a:off x="457200" y="4056557"/>
                <a:ext cx="280711" cy="183456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FBC5419D-67DE-4C5F-9674-E4E03D37F10D}"/>
                  </a:ext>
                </a:extLst>
              </p:cNvPr>
              <p:cNvSpPr/>
              <p:nvPr/>
            </p:nvSpPr>
            <p:spPr>
              <a:xfrm flipV="1">
                <a:off x="453834" y="3855978"/>
                <a:ext cx="280711" cy="202291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3982AD1-8A6B-4AA7-9B0C-7AC321F575B8}"/>
                </a:ext>
              </a:extLst>
            </p:cNvPr>
            <p:cNvSpPr/>
            <p:nvPr/>
          </p:nvSpPr>
          <p:spPr>
            <a:xfrm flipH="1" flipV="1">
              <a:off x="501781" y="3907194"/>
              <a:ext cx="45720" cy="457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25AF49D-0E30-4D4E-8932-148E511CF53E}"/>
              </a:ext>
            </a:extLst>
          </p:cNvPr>
          <p:cNvSpPr/>
          <p:nvPr/>
        </p:nvSpPr>
        <p:spPr>
          <a:xfrm>
            <a:off x="507340" y="3119081"/>
            <a:ext cx="777724" cy="323850"/>
          </a:xfrm>
          <a:prstGeom prst="rect">
            <a:avLst/>
          </a:prstGeom>
          <a:solidFill>
            <a:srgbClr val="AD9BC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3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45" grpId="0"/>
      <p:bldP spid="46" grpId="0"/>
      <p:bldP spid="47" grpId="0" animBg="1"/>
      <p:bldP spid="48" grpId="0"/>
      <p:bldP spid="49" grpId="0"/>
      <p:bldP spid="50" grpId="0" animBg="1"/>
      <p:bldP spid="51" grpId="0"/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How to represent this as a matrix multiplication?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problem is our matrix now contains the coordinates of the transformed points</a:t>
            </a:r>
          </a:p>
          <a:p>
            <a:r>
              <a:rPr lang="en-US" dirty="0"/>
              <a:t>This requires a different matrix for each point being transformed</a:t>
            </a:r>
          </a:p>
          <a:p>
            <a:pPr lvl="1"/>
            <a:r>
              <a:rPr lang="en-US" dirty="0"/>
              <a:t>Very inefficient and requires too much bookkeeping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4600" y="2513901"/>
                <a:ext cx="4123821" cy="1372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/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513901"/>
                <a:ext cx="4123821" cy="13722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0795E748-F656-45A7-BA81-2FC34FA41E5D}"/>
              </a:ext>
            </a:extLst>
          </p:cNvPr>
          <p:cNvSpPr/>
          <p:nvPr/>
        </p:nvSpPr>
        <p:spPr>
          <a:xfrm>
            <a:off x="5135880" y="2893261"/>
            <a:ext cx="322029" cy="3220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45DF03-DA14-4F66-A987-9A74FDA66F4B}"/>
              </a:ext>
            </a:extLst>
          </p:cNvPr>
          <p:cNvSpPr/>
          <p:nvPr/>
        </p:nvSpPr>
        <p:spPr>
          <a:xfrm>
            <a:off x="4137660" y="2519881"/>
            <a:ext cx="322029" cy="3220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7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Homogeneous coordinates (HC) comes to the rescue here</a:t>
            </a:r>
          </a:p>
          <a:p>
            <a:r>
              <a:rPr lang="en-US" dirty="0"/>
              <a:t>Remember that in HC: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if the transformation manages to put </a:t>
            </a:r>
            <a:r>
              <a:rPr lang="mr-IN" dirty="0"/>
              <a:t>–</a:t>
            </a:r>
            <a:r>
              <a:rPr lang="en-US" dirty="0"/>
              <a:t>z into the last component, we can achieve the desired result (of course after doing the homogeneous divide, also known </a:t>
            </a:r>
            <a:r>
              <a:rPr lang="en-US"/>
              <a:t>as perspective divide)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95998" y="2865728"/>
                <a:ext cx="113300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998" y="2865728"/>
                <a:ext cx="1133002" cy="10204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1600" y="2880809"/>
                <a:ext cx="1701427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𝑛𝑥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𝑛𝑦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880809"/>
                <a:ext cx="1701427" cy="10204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4024626" y="3192718"/>
            <a:ext cx="623574" cy="236282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0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can also be represented as a matrix multiplication thanks to homogeneous coordinates: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does this work?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4600" y="2895600"/>
                <a:ext cx="3352456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895600"/>
                <a:ext cx="3352456" cy="136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07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multiply a point [x, y, z, 1]</a:t>
            </a:r>
            <a:r>
              <a:rPr lang="en-US" baseline="30000" dirty="0"/>
              <a:t>T </a:t>
            </a:r>
            <a:r>
              <a:rPr lang="en-US" dirty="0"/>
              <a:t>with this matrix:</a:t>
            </a:r>
            <a:endParaRPr lang="en-US" baseline="30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400" y="2438400"/>
                <a:ext cx="3794052" cy="1390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438400"/>
                <a:ext cx="3794052" cy="13907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622852" y="2438400"/>
                <a:ext cx="2336858" cy="1390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852" y="2438400"/>
                <a:ext cx="2336858" cy="13907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4739565" y="2955247"/>
            <a:ext cx="471174" cy="178535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66800" y="4038600"/>
            <a:ext cx="7507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 that in homogenous coordinates, scaling all components by </a:t>
            </a:r>
          </a:p>
          <a:p>
            <a:r>
              <a:rPr lang="en-US" dirty="0"/>
              <a:t>the same factor does not change the point. So divide by the last comp.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43200" y="4800600"/>
                <a:ext cx="4305602" cy="1418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800600"/>
                <a:ext cx="4305602" cy="1418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7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z-axis, we have the following constrains:</a:t>
            </a:r>
          </a:p>
          <a:p>
            <a:pPr lvl="1"/>
            <a:r>
              <a:rPr lang="en-US" dirty="0"/>
              <a:t>(–n) maps to (–n)</a:t>
            </a:r>
          </a:p>
          <a:p>
            <a:pPr lvl="1"/>
            <a:r>
              <a:rPr lang="en-US" dirty="0"/>
              <a:t>(–f) maps to (–f)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 can solve for A and B using these constrains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23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374237" y="3306841"/>
            <a:ext cx="2553599" cy="1143000"/>
            <a:chOff x="5651365" y="3884443"/>
            <a:chExt cx="2553599" cy="1143000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5937758" y="4712010"/>
              <a:ext cx="169480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ube 7"/>
            <p:cNvSpPr/>
            <p:nvPr/>
          </p:nvSpPr>
          <p:spPr>
            <a:xfrm>
              <a:off x="5651366" y="3884443"/>
              <a:ext cx="1981200" cy="114300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93923" y="4386363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(l, b, -n)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876419" y="4634860"/>
              <a:ext cx="152400" cy="1524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264360" y="4091378"/>
              <a:ext cx="152400" cy="15240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340560" y="3982912"/>
              <a:ext cx="864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(r, t, -f)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5937758" y="3898241"/>
              <a:ext cx="0" cy="81376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651365" y="4699977"/>
              <a:ext cx="286392" cy="32746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1981200" y="3048000"/>
            <a:ext cx="2336074" cy="1936998"/>
            <a:chOff x="1330387" y="3625602"/>
            <a:chExt cx="2336074" cy="1936998"/>
          </a:xfrm>
        </p:grpSpPr>
        <p:sp>
          <p:nvSpPr>
            <p:cNvPr id="16" name="TextBox 15"/>
            <p:cNvSpPr txBox="1"/>
            <p:nvPr/>
          </p:nvSpPr>
          <p:spPr>
            <a:xfrm>
              <a:off x="1459846" y="4521967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(l, b, -n)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402277" y="3625602"/>
              <a:ext cx="2179123" cy="1936998"/>
              <a:chOff x="2469077" y="3866014"/>
              <a:chExt cx="2179123" cy="1936998"/>
            </a:xfrm>
          </p:grpSpPr>
          <p:sp>
            <p:nvSpPr>
              <p:cNvPr id="21" name="Freeform 20"/>
              <p:cNvSpPr/>
              <p:nvPr/>
            </p:nvSpPr>
            <p:spPr>
              <a:xfrm>
                <a:off x="2469077" y="4669824"/>
                <a:ext cx="524604" cy="878634"/>
              </a:xfrm>
              <a:custGeom>
                <a:avLst/>
                <a:gdLst>
                  <a:gd name="connsiteX0" fmla="*/ 0 w 902043"/>
                  <a:gd name="connsiteY0" fmla="*/ 0 h 1828800"/>
                  <a:gd name="connsiteX1" fmla="*/ 902043 w 902043"/>
                  <a:gd name="connsiteY1" fmla="*/ 902043 h 1828800"/>
                  <a:gd name="connsiteX2" fmla="*/ 902043 w 902043"/>
                  <a:gd name="connsiteY2" fmla="*/ 1828800 h 1828800"/>
                  <a:gd name="connsiteX3" fmla="*/ 0 w 902043"/>
                  <a:gd name="connsiteY3" fmla="*/ 926757 h 1828800"/>
                  <a:gd name="connsiteX4" fmla="*/ 0 w 902043"/>
                  <a:gd name="connsiteY4" fmla="*/ 0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043" h="1828800">
                    <a:moveTo>
                      <a:pt x="0" y="0"/>
                    </a:moveTo>
                    <a:lnTo>
                      <a:pt x="902043" y="902043"/>
                    </a:lnTo>
                    <a:lnTo>
                      <a:pt x="902043" y="1828800"/>
                    </a:lnTo>
                    <a:lnTo>
                      <a:pt x="0" y="9267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0101">
                  <a:alpha val="2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3679701" y="3866014"/>
                <a:ext cx="968499" cy="1936998"/>
              </a:xfrm>
              <a:custGeom>
                <a:avLst/>
                <a:gdLst>
                  <a:gd name="connsiteX0" fmla="*/ 0 w 1828800"/>
                  <a:gd name="connsiteY0" fmla="*/ 0 h 3657600"/>
                  <a:gd name="connsiteX1" fmla="*/ 1828800 w 1828800"/>
                  <a:gd name="connsiteY1" fmla="*/ 1828800 h 3657600"/>
                  <a:gd name="connsiteX2" fmla="*/ 1828800 w 1828800"/>
                  <a:gd name="connsiteY2" fmla="*/ 3657600 h 3657600"/>
                  <a:gd name="connsiteX3" fmla="*/ 12357 w 1828800"/>
                  <a:gd name="connsiteY3" fmla="*/ 1841157 h 3657600"/>
                  <a:gd name="connsiteX4" fmla="*/ 0 w 1828800"/>
                  <a:gd name="connsiteY4" fmla="*/ 0 h 365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0" h="3657600">
                    <a:moveTo>
                      <a:pt x="0" y="0"/>
                    </a:moveTo>
                    <a:lnTo>
                      <a:pt x="1828800" y="1828800"/>
                    </a:lnTo>
                    <a:lnTo>
                      <a:pt x="1828800" y="3657600"/>
                    </a:lnTo>
                    <a:lnTo>
                      <a:pt x="12357" y="1841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0101">
                  <a:alpha val="2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Connector 22"/>
              <p:cNvCxnSpPr>
                <a:stCxn id="21" idx="0"/>
                <a:endCxn id="22" idx="0"/>
              </p:cNvCxnSpPr>
              <p:nvPr/>
            </p:nvCxnSpPr>
            <p:spPr>
              <a:xfrm flipV="1">
                <a:off x="2469077" y="3866014"/>
                <a:ext cx="1210624" cy="8038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21" idx="1"/>
                <a:endCxn id="22" idx="1"/>
              </p:cNvCxnSpPr>
              <p:nvPr/>
            </p:nvCxnSpPr>
            <p:spPr>
              <a:xfrm flipV="1">
                <a:off x="2993681" y="4834513"/>
                <a:ext cx="1654519" cy="2686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21" idx="2"/>
                <a:endCxn id="22" idx="2"/>
              </p:cNvCxnSpPr>
              <p:nvPr/>
            </p:nvCxnSpPr>
            <p:spPr>
              <a:xfrm>
                <a:off x="2993681" y="5548458"/>
                <a:ext cx="1654519" cy="2545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21" idx="3"/>
                <a:endCxn id="22" idx="3"/>
              </p:cNvCxnSpPr>
              <p:nvPr/>
            </p:nvCxnSpPr>
            <p:spPr>
              <a:xfrm flipV="1">
                <a:off x="2469077" y="4841057"/>
                <a:ext cx="1217168" cy="27402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/>
            <p:cNvSpPr/>
            <p:nvPr/>
          </p:nvSpPr>
          <p:spPr>
            <a:xfrm>
              <a:off x="1330387" y="4808859"/>
              <a:ext cx="152400" cy="1524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514061" y="4529469"/>
              <a:ext cx="152400" cy="15240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26880" y="4799188"/>
              <a:ext cx="928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(r, t, -n)</a:t>
              </a:r>
            </a:p>
          </p:txBody>
        </p:sp>
      </p:grpSp>
      <p:sp>
        <p:nvSpPr>
          <p:cNvPr id="27" name="Oval 26"/>
          <p:cNvSpPr/>
          <p:nvPr/>
        </p:nvSpPr>
        <p:spPr>
          <a:xfrm>
            <a:off x="2504708" y="4214927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292939" y="3517434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we had: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plug (-n) and (-f) and solve for the unknowns: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46366" y="2362200"/>
                <a:ext cx="20512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366" y="2362200"/>
                <a:ext cx="2051267" cy="369332"/>
              </a:xfrm>
              <a:prstGeom prst="rect">
                <a:avLst/>
              </a:prstGeom>
              <a:blipFill>
                <a:blip r:embed="rId2"/>
                <a:stretch>
                  <a:fillRect l="-1190" r="-893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43000" y="3745468"/>
                <a:ext cx="22323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745468"/>
                <a:ext cx="2232341" cy="369332"/>
              </a:xfrm>
              <a:prstGeom prst="rect">
                <a:avLst/>
              </a:prstGeom>
              <a:blipFill>
                <a:blip r:embed="rId3"/>
                <a:stretch>
                  <a:fillRect r="-1093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46225" y="4507468"/>
                <a:ext cx="22270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225" y="4507468"/>
                <a:ext cx="2227085" cy="369332"/>
              </a:xfrm>
              <a:prstGeom prst="rect">
                <a:avLst/>
              </a:prstGeom>
              <a:blipFill>
                <a:blip r:embed="rId4"/>
                <a:stretch>
                  <a:fillRect r="-3836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/>
          <p:cNvSpPr/>
          <p:nvPr/>
        </p:nvSpPr>
        <p:spPr>
          <a:xfrm>
            <a:off x="3373310" y="3745468"/>
            <a:ext cx="360490" cy="11313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86200" y="3745468"/>
                <a:ext cx="14041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745468"/>
                <a:ext cx="1404102" cy="369332"/>
              </a:xfrm>
              <a:prstGeom prst="rect">
                <a:avLst/>
              </a:prstGeom>
              <a:blipFill>
                <a:blip r:embed="rId5"/>
                <a:stretch>
                  <a:fillRect l="-4348" r="-1739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75567" y="4437199"/>
                <a:ext cx="10468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567" y="4437199"/>
                <a:ext cx="1046890" cy="369332"/>
              </a:xfrm>
              <a:prstGeom prst="rect">
                <a:avLst/>
              </a:prstGeom>
              <a:blipFill>
                <a:blip r:embed="rId6"/>
                <a:stretch>
                  <a:fillRect l="-5848" r="-2339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3B3CC96-186C-429A-AD3F-E7485F0A5BC6}"/>
              </a:ext>
            </a:extLst>
          </p:cNvPr>
          <p:cNvSpPr txBox="1"/>
          <p:nvPr/>
        </p:nvSpPr>
        <p:spPr>
          <a:xfrm>
            <a:off x="450761" y="5189259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 that there is a catch here: </a:t>
            </a:r>
            <a:r>
              <a:rPr lang="en-US" dirty="0"/>
              <a:t>A and B are computed such that </a:t>
            </a:r>
            <a:r>
              <a:rPr lang="en-US" i="1" dirty="0"/>
              <a:t>after </a:t>
            </a:r>
            <a:r>
              <a:rPr lang="en-US" dirty="0"/>
              <a:t>dividing by z (perspective divide), the z range remains in [-n, -f]. So before the divide the range goes to [-n</a:t>
            </a:r>
            <a:r>
              <a:rPr lang="en-US" baseline="30000" dirty="0"/>
              <a:t>2</a:t>
            </a:r>
            <a:r>
              <a:rPr lang="en-US" dirty="0"/>
              <a:t>, -f</a:t>
            </a:r>
            <a:r>
              <a:rPr lang="en-US" baseline="30000" dirty="0"/>
              <a:t>2</a:t>
            </a:r>
            <a:r>
              <a:rPr lang="en-US" dirty="0"/>
              <a:t>]. Application of the orthographic matrix brings the range to [-n, f]. Finally the perspective divide brings the range to [-1, 1].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8DFE61-1996-4154-B601-61128C3E4C1D}"/>
              </a:ext>
            </a:extLst>
          </p:cNvPr>
          <p:cNvCxnSpPr>
            <a:cxnSpLocks/>
          </p:cNvCxnSpPr>
          <p:nvPr/>
        </p:nvCxnSpPr>
        <p:spPr>
          <a:xfrm flipH="1" flipV="1">
            <a:off x="5597634" y="2731533"/>
            <a:ext cx="2479566" cy="2457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02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final perspective to orthographic matrix becomes: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this was Step 1</a:t>
            </a:r>
          </a:p>
          <a:p>
            <a:r>
              <a:rPr lang="en-US" dirty="0"/>
              <a:t>In Step 2, we multiply this matrix with the orthographic to canonical viewing volume transformation matrix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38400" y="2743200"/>
                <a:ext cx="3841436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743200"/>
                <a:ext cx="3841436" cy="136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38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final perspective transformation matrix 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48000" y="2573934"/>
                <a:ext cx="2546979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𝑜𝑟𝑡h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73934"/>
                <a:ext cx="2546979" cy="397866"/>
              </a:xfrm>
              <a:prstGeom prst="rect">
                <a:avLst/>
              </a:prstGeom>
              <a:blipFill>
                <a:blip r:embed="rId2"/>
                <a:stretch>
                  <a:fillRect l="-1914" r="-957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44223" y="3436400"/>
                <a:ext cx="5847177" cy="2583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𝑓𝑛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223" y="3436400"/>
                <a:ext cx="5847177" cy="258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0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 Divide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that after the perspective projection, </a:t>
            </a:r>
            <a:r>
              <a:rPr lang="en-US" i="1" dirty="0"/>
              <a:t>w</a:t>
            </a:r>
            <a:r>
              <a:rPr lang="en-US" dirty="0"/>
              <a:t> coordinates of transformed points may not be </a:t>
            </a:r>
            <a:r>
              <a:rPr lang="en-US" i="1" dirty="0"/>
              <a:t>1 </a:t>
            </a:r>
            <a:r>
              <a:rPr lang="en-US" dirty="0"/>
              <a:t>(typically –z)</a:t>
            </a:r>
          </a:p>
          <a:p>
            <a:r>
              <a:rPr lang="en-US" dirty="0"/>
              <a:t>For the perspective projection to take effect, each point is divided by its </a:t>
            </a:r>
            <a:r>
              <a:rPr lang="en-US" i="1" dirty="0"/>
              <a:t>w</a:t>
            </a:r>
            <a:r>
              <a:rPr lang="en-US" dirty="0"/>
              <a:t> coordinate before the next stage</a:t>
            </a:r>
          </a:p>
          <a:p>
            <a:r>
              <a:rPr lang="en-US" dirty="0"/>
              <a:t>This is called the </a:t>
            </a:r>
            <a:r>
              <a:rPr lang="en-US" dirty="0">
                <a:solidFill>
                  <a:schemeClr val="accent1"/>
                </a:solidFill>
              </a:rPr>
              <a:t>perspective divide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In the forward pipeline, this step is done after </a:t>
            </a:r>
            <a:r>
              <a:rPr lang="en-US" b="1" dirty="0"/>
              <a:t>clipping</a:t>
            </a:r>
          </a:p>
          <a:p>
            <a:pPr lvl="1"/>
            <a:r>
              <a:rPr lang="en-US" dirty="0"/>
              <a:t>We can ignore this </a:t>
            </a:r>
            <a:r>
              <a:rPr lang="en-US" dirty="0">
                <a:solidFill>
                  <a:srgbClr val="AD0101"/>
                </a:solidFill>
              </a:rPr>
              <a:t>for now </a:t>
            </a:r>
            <a:r>
              <a:rPr lang="en-US" dirty="0"/>
              <a:t>and assume that perspective divide immediately follows the matrix multiplication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51950" y="3856411"/>
                <a:ext cx="422873" cy="95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950" y="3856411"/>
                <a:ext cx="422873" cy="957250"/>
              </a:xfrm>
              <a:prstGeom prst="rect">
                <a:avLst/>
              </a:prstGeom>
              <a:blipFill>
                <a:blip r:embed="rId2"/>
                <a:stretch>
                  <a:fillRect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464577" y="3874699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Perspective divide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91893" y="4244031"/>
            <a:ext cx="1713161" cy="235493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19468" y="3810000"/>
                <a:ext cx="676532" cy="1034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𝑤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8" y="3810000"/>
                <a:ext cx="676532" cy="10348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256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perspective transformation (and perspective divide), all objects inside the viewing volume are transformed into CVV</a:t>
            </a:r>
          </a:p>
          <a:p>
            <a:r>
              <a:rPr lang="en-US" dirty="0">
                <a:solidFill>
                  <a:srgbClr val="C00000"/>
                </a:solidFill>
              </a:rPr>
              <a:t>Viewport transformation</a:t>
            </a:r>
            <a:r>
              <a:rPr lang="en-US" dirty="0"/>
              <a:t> maps them to the screen (window) coordinates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28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838200" y="3847232"/>
            <a:ext cx="2851248" cy="1751613"/>
            <a:chOff x="5558458" y="3149666"/>
            <a:chExt cx="2851248" cy="1751613"/>
          </a:xfrm>
        </p:grpSpPr>
        <p:grpSp>
          <p:nvGrpSpPr>
            <p:cNvPr id="7" name="Group 6"/>
            <p:cNvGrpSpPr/>
            <p:nvPr/>
          </p:nvGrpSpPr>
          <p:grpSpPr>
            <a:xfrm>
              <a:off x="5558458" y="3149666"/>
              <a:ext cx="2851248" cy="1751613"/>
              <a:chOff x="4919825" y="3149666"/>
              <a:chExt cx="2851248" cy="1751613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H="1">
                <a:off x="5878033" y="4419600"/>
                <a:ext cx="1522055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5878033" y="3217717"/>
                <a:ext cx="0" cy="1201883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/>
              <p:cNvGrpSpPr/>
              <p:nvPr/>
            </p:nvGrpSpPr>
            <p:grpSpPr>
              <a:xfrm>
                <a:off x="5755357" y="3149666"/>
                <a:ext cx="1458427" cy="1751613"/>
                <a:chOff x="5780573" y="3185087"/>
                <a:chExt cx="1458427" cy="1751613"/>
              </a:xfrm>
            </p:grpSpPr>
            <p:sp>
              <p:nvSpPr>
                <p:cNvPr id="18" name="TextBox 17"/>
                <p:cNvSpPr txBox="1"/>
                <p:nvPr/>
              </p:nvSpPr>
              <p:spPr>
                <a:xfrm>
                  <a:off x="5835507" y="456736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cxnSp>
              <p:nvCxnSpPr>
                <p:cNvPr id="19" name="Straight Arrow Connector 18"/>
                <p:cNvCxnSpPr/>
                <p:nvPr/>
              </p:nvCxnSpPr>
              <p:spPr>
                <a:xfrm flipV="1">
                  <a:off x="6313973" y="3352800"/>
                  <a:ext cx="0" cy="914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 flipH="1">
                  <a:off x="5780573" y="4267200"/>
                  <a:ext cx="533400" cy="5334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/>
                <p:nvPr/>
              </p:nvCxnSpPr>
              <p:spPr>
                <a:xfrm>
                  <a:off x="6313974" y="4267200"/>
                  <a:ext cx="92502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6938918" y="389786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z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6318327" y="3185087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</p:grpSp>
          <p:sp>
            <p:nvSpPr>
              <p:cNvPr id="12" name="Cube 11"/>
              <p:cNvSpPr/>
              <p:nvPr/>
            </p:nvSpPr>
            <p:spPr>
              <a:xfrm>
                <a:off x="5471140" y="3217717"/>
                <a:ext cx="1928947" cy="1615513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896825" y="3559213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970854" y="3414447"/>
                <a:ext cx="800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(1, 1, 1)</a:t>
                </a: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V="1">
                <a:off x="5471140" y="4419600"/>
                <a:ext cx="406893" cy="41363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4919825" y="4146925"/>
                <a:ext cx="978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(-1, -1, -1)</a:t>
                </a: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801833" y="4332767"/>
                <a:ext cx="152400" cy="152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6592912" y="3999477"/>
              <a:ext cx="800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(0, 0, 0)</a:t>
              </a:r>
            </a:p>
          </p:txBody>
        </p:sp>
      </p:grpSp>
      <p:sp>
        <p:nvSpPr>
          <p:cNvPr id="24" name="Right Arrow 23"/>
          <p:cNvSpPr/>
          <p:nvPr/>
        </p:nvSpPr>
        <p:spPr>
          <a:xfrm>
            <a:off x="4253226" y="4608209"/>
            <a:ext cx="623574" cy="236282"/>
          </a:xfrm>
          <a:prstGeom prst="rightArrow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5410200" y="4014945"/>
            <a:ext cx="2743200" cy="1583900"/>
            <a:chOff x="5410200" y="4014945"/>
            <a:chExt cx="2743200" cy="1583900"/>
          </a:xfrm>
        </p:grpSpPr>
        <p:sp>
          <p:nvSpPr>
            <p:cNvPr id="25" name="Rectangle 24"/>
            <p:cNvSpPr/>
            <p:nvPr/>
          </p:nvSpPr>
          <p:spPr>
            <a:xfrm>
              <a:off x="5410200" y="4014945"/>
              <a:ext cx="2743200" cy="15839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7150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60198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3246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66294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342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2390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5438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7848600" y="4014945"/>
              <a:ext cx="0" cy="1583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410200" y="4332979"/>
              <a:ext cx="2743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410200" y="4648200"/>
              <a:ext cx="2743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410200" y="4942579"/>
              <a:ext cx="2743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410200" y="5257800"/>
              <a:ext cx="2743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Brace 40"/>
          <p:cNvSpPr/>
          <p:nvPr/>
        </p:nvSpPr>
        <p:spPr>
          <a:xfrm rot="5400000">
            <a:off x="6640031" y="4453268"/>
            <a:ext cx="312738" cy="27352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629400" y="5939393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x</a:t>
            </a:r>
            <a:endParaRPr lang="en-US" baseline="-25000" dirty="0"/>
          </a:p>
        </p:txBody>
      </p:sp>
      <p:sp>
        <p:nvSpPr>
          <p:cNvPr id="44" name="Right Brace 43"/>
          <p:cNvSpPr/>
          <p:nvPr/>
        </p:nvSpPr>
        <p:spPr>
          <a:xfrm>
            <a:off x="8229600" y="3993679"/>
            <a:ext cx="228600" cy="15839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8419208" y="4572953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</a:t>
            </a:r>
            <a:r>
              <a:rPr lang="en-US" baseline="-25000" dirty="0" err="1"/>
              <a:t>y</a:t>
            </a:r>
            <a:endParaRPr lang="en-US" baseline="-25000" dirty="0"/>
          </a:p>
        </p:txBody>
      </p:sp>
      <p:sp>
        <p:nvSpPr>
          <p:cNvPr id="46" name="TextBox 45"/>
          <p:cNvSpPr txBox="1"/>
          <p:nvPr/>
        </p:nvSpPr>
        <p:spPr>
          <a:xfrm>
            <a:off x="6285235" y="3586037"/>
            <a:ext cx="1078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0756" y="57266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(0, 0)</a:t>
            </a:r>
          </a:p>
        </p:txBody>
      </p:sp>
      <p:cxnSp>
        <p:nvCxnSpPr>
          <p:cNvPr id="49" name="Straight Arrow Connector 48"/>
          <p:cNvCxnSpPr>
            <a:endCxn id="47" idx="3"/>
          </p:cNvCxnSpPr>
          <p:nvPr/>
        </p:nvCxnSpPr>
        <p:spPr>
          <a:xfrm flipH="1">
            <a:off x="5134031" y="5476095"/>
            <a:ext cx="428569" cy="435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775442" y="341348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</a:t>
            </a:r>
            <a:r>
              <a:rPr lang="en-US" baseline="-25000" dirty="0"/>
              <a:t>x</a:t>
            </a:r>
            <a:r>
              <a:rPr lang="en-US" dirty="0"/>
              <a:t>-1, n</a:t>
            </a:r>
            <a:r>
              <a:rPr lang="en-US" baseline="-25000" dirty="0"/>
              <a:t>y</a:t>
            </a:r>
            <a:r>
              <a:rPr lang="en-US" dirty="0"/>
              <a:t>-1)</a:t>
            </a:r>
          </a:p>
        </p:txBody>
      </p:sp>
      <p:cxnSp>
        <p:nvCxnSpPr>
          <p:cNvPr id="52" name="Straight Arrow Connector 51"/>
          <p:cNvCxnSpPr>
            <a:endCxn id="50" idx="2"/>
          </p:cNvCxnSpPr>
          <p:nvPr/>
        </p:nvCxnSpPr>
        <p:spPr>
          <a:xfrm flipV="1">
            <a:off x="8001000" y="3782814"/>
            <a:ext cx="418208" cy="430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791730" y="5115697"/>
            <a:ext cx="3583459" cy="647773"/>
          </a:xfrm>
          <a:custGeom>
            <a:avLst/>
            <a:gdLst>
              <a:gd name="connsiteX0" fmla="*/ 0 w 3583459"/>
              <a:gd name="connsiteY0" fmla="*/ 0 h 647773"/>
              <a:gd name="connsiteX1" fmla="*/ 2051221 w 3583459"/>
              <a:gd name="connsiteY1" fmla="*/ 617838 h 647773"/>
              <a:gd name="connsiteX2" fmla="*/ 3583459 w 3583459"/>
              <a:gd name="connsiteY2" fmla="*/ 494271 h 64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3459" h="647773">
                <a:moveTo>
                  <a:pt x="0" y="0"/>
                </a:moveTo>
                <a:cubicBezTo>
                  <a:pt x="726989" y="267730"/>
                  <a:pt x="1453978" y="535460"/>
                  <a:pt x="2051221" y="617838"/>
                </a:cubicBezTo>
                <a:cubicBezTo>
                  <a:pt x="2648464" y="700216"/>
                  <a:pt x="3115961" y="597243"/>
                  <a:pt x="3583459" y="494271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/>
          <p:cNvSpPr/>
          <p:nvPr/>
        </p:nvSpPr>
        <p:spPr>
          <a:xfrm>
            <a:off x="1383957" y="3683920"/>
            <a:ext cx="6746789" cy="628588"/>
          </a:xfrm>
          <a:custGeom>
            <a:avLst/>
            <a:gdLst>
              <a:gd name="connsiteX0" fmla="*/ 0 w 6746789"/>
              <a:gd name="connsiteY0" fmla="*/ 628588 h 628588"/>
              <a:gd name="connsiteX1" fmla="*/ 3855308 w 6746789"/>
              <a:gd name="connsiteY1" fmla="*/ 10750 h 628588"/>
              <a:gd name="connsiteX2" fmla="*/ 6746789 w 6746789"/>
              <a:gd name="connsiteY2" fmla="*/ 294956 h 62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46789" h="628588">
                <a:moveTo>
                  <a:pt x="0" y="628588"/>
                </a:moveTo>
                <a:cubicBezTo>
                  <a:pt x="1365421" y="347471"/>
                  <a:pt x="2730843" y="66355"/>
                  <a:pt x="3855308" y="10750"/>
                </a:cubicBezTo>
                <a:cubicBezTo>
                  <a:pt x="4979773" y="-44855"/>
                  <a:pt x="5863281" y="125050"/>
                  <a:pt x="6746789" y="294956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2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48" grpId="0" animBg="1"/>
      <p:bldP spid="5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values in range [-1,1] are transformed to [-0.5, n</a:t>
            </a:r>
            <a:r>
              <a:rPr lang="en-US" baseline="-25000" dirty="0"/>
              <a:t>x</a:t>
            </a:r>
            <a:r>
              <a:rPr lang="en-US" dirty="0"/>
              <a:t>-0.5]</a:t>
            </a:r>
          </a:p>
          <a:p>
            <a:r>
              <a:rPr lang="en-US" dirty="0"/>
              <a:t>y values in range [-1,1] are transformed to [-0.5, n</a:t>
            </a:r>
            <a:r>
              <a:rPr lang="en-US" baseline="-25000" dirty="0"/>
              <a:t>y</a:t>
            </a:r>
            <a:r>
              <a:rPr lang="en-US" dirty="0"/>
              <a:t>-0.5]</a:t>
            </a:r>
          </a:p>
          <a:p>
            <a:r>
              <a:rPr lang="en-US" dirty="0"/>
              <a:t>z values in range [-1,1] are transformed to [0,1] for later use in depth testing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3597" y="3429000"/>
                <a:ext cx="3926203" cy="2190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597" y="3429000"/>
                <a:ext cx="3926203" cy="21905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447800" y="5884300"/>
            <a:ext cx="662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we don’t need to preserve the w component anymore</a:t>
            </a:r>
          </a:p>
        </p:txBody>
      </p:sp>
    </p:spTree>
    <p:extLst>
      <p:ext uri="{BB962C8B-B14F-4D97-AF65-F5344CB8AC3E}">
        <p14:creationId xmlns:p14="http://schemas.microsoft.com/office/powerpoint/2010/main" val="364968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90F4-052F-1842-BD1F-E4066DDF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Transformation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937B7-F1A7-6446-9D45-CF60259FA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The viewport can be positioned relative the origin of the window (or the entire screen) on which are we rendering: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9C384-DD04-494A-A247-2DBC05D5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C9F5F-3E45-DE4D-A29D-AF2FA2D6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43662-5C42-0449-B0FE-F7CF8F2C83FF}"/>
              </a:ext>
            </a:extLst>
          </p:cNvPr>
          <p:cNvSpPr/>
          <p:nvPr/>
        </p:nvSpPr>
        <p:spPr>
          <a:xfrm>
            <a:off x="2152650" y="2667000"/>
            <a:ext cx="4838700" cy="304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F9A21-F810-D84B-9BCC-B0CBF8035069}"/>
              </a:ext>
            </a:extLst>
          </p:cNvPr>
          <p:cNvSpPr txBox="1"/>
          <p:nvPr/>
        </p:nvSpPr>
        <p:spPr>
          <a:xfrm>
            <a:off x="4085777" y="5777746"/>
            <a:ext cx="97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Window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9EB27-7915-CE4B-A4AE-37625FCD1F61}"/>
              </a:ext>
            </a:extLst>
          </p:cNvPr>
          <p:cNvSpPr/>
          <p:nvPr/>
        </p:nvSpPr>
        <p:spPr>
          <a:xfrm>
            <a:off x="3469171" y="3374805"/>
            <a:ext cx="2895600" cy="1676400"/>
          </a:xfrm>
          <a:prstGeom prst="rect">
            <a:avLst/>
          </a:prstGeom>
          <a:solidFill>
            <a:srgbClr val="AD9B01">
              <a:alpha val="3647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F2491-8592-844B-B295-E7BC16F64C6B}"/>
              </a:ext>
            </a:extLst>
          </p:cNvPr>
          <p:cNvSpPr txBox="1"/>
          <p:nvPr/>
        </p:nvSpPr>
        <p:spPr>
          <a:xfrm>
            <a:off x="4392404" y="4028339"/>
            <a:ext cx="104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Viewport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B3C5EA-8D8E-3C48-B0E2-096EB8AE4DEE}"/>
                  </a:ext>
                </a:extLst>
              </p:cNvPr>
              <p:cNvSpPr txBox="1"/>
              <p:nvPr/>
            </p:nvSpPr>
            <p:spPr>
              <a:xfrm>
                <a:off x="2895600" y="4967604"/>
                <a:ext cx="1251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B3C5EA-8D8E-3C48-B0E2-096EB8AE4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4967604"/>
                <a:ext cx="1251561" cy="276999"/>
              </a:xfrm>
              <a:prstGeom prst="rect">
                <a:avLst/>
              </a:prstGeom>
              <a:blipFill>
                <a:blip r:embed="rId2"/>
                <a:stretch>
                  <a:fillRect l="-7071" t="-4545" r="-6061" b="-3636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8E9E615E-ACFD-0B45-87A6-2DD3E7F268C0}"/>
              </a:ext>
            </a:extLst>
          </p:cNvPr>
          <p:cNvSpPr/>
          <p:nvPr/>
        </p:nvSpPr>
        <p:spPr>
          <a:xfrm rot="5400000">
            <a:off x="2734772" y="5163166"/>
            <a:ext cx="152276" cy="13165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B2CA0CE-607C-4948-81C5-DD4D992350BA}"/>
                  </a:ext>
                </a:extLst>
              </p:cNvPr>
              <p:cNvSpPr/>
              <p:nvPr/>
            </p:nvSpPr>
            <p:spPr>
              <a:xfrm>
                <a:off x="2546126" y="5815664"/>
                <a:ext cx="6966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B2CA0CE-607C-4948-81C5-DD4D99235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126" y="5815664"/>
                <a:ext cx="6966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F71BE100-C11E-9C40-A00C-1ACF028E9989}"/>
              </a:ext>
            </a:extLst>
          </p:cNvPr>
          <p:cNvSpPr/>
          <p:nvPr/>
        </p:nvSpPr>
        <p:spPr>
          <a:xfrm>
            <a:off x="1915044" y="5022506"/>
            <a:ext cx="152400" cy="66379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40C27E-612B-2248-8811-06F630176D22}"/>
                  </a:ext>
                </a:extLst>
              </p:cNvPr>
              <p:cNvSpPr/>
              <p:nvPr/>
            </p:nvSpPr>
            <p:spPr>
              <a:xfrm>
                <a:off x="1295400" y="5124295"/>
                <a:ext cx="6982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40C27E-612B-2248-8811-06F630176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5124295"/>
                <a:ext cx="69826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062822-FC68-5B47-913C-B4E376B833EF}"/>
              </a:ext>
            </a:extLst>
          </p:cNvPr>
          <p:cNvCxnSpPr/>
          <p:nvPr/>
        </p:nvCxnSpPr>
        <p:spPr>
          <a:xfrm flipV="1">
            <a:off x="3469170" y="5119300"/>
            <a:ext cx="0" cy="5670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F681CCB-8F1B-0A45-9585-821B3685A3DC}"/>
              </a:ext>
            </a:extLst>
          </p:cNvPr>
          <p:cNvCxnSpPr/>
          <p:nvPr/>
        </p:nvCxnSpPr>
        <p:spPr>
          <a:xfrm>
            <a:off x="2209800" y="5022506"/>
            <a:ext cx="120708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9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90F4-052F-1842-BD1F-E4066DDF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Transformation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937B7-F1A7-6446-9D45-CF60259FA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This makes it possible to render different 3D elements on different parts of the window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9C384-DD04-494A-A247-2DBC05D5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C9F5F-3E45-DE4D-A29D-AF2FA2D6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43662-5C42-0449-B0FE-F7CF8F2C83FF}"/>
              </a:ext>
            </a:extLst>
          </p:cNvPr>
          <p:cNvSpPr/>
          <p:nvPr/>
        </p:nvSpPr>
        <p:spPr>
          <a:xfrm>
            <a:off x="2152650" y="2667000"/>
            <a:ext cx="4838700" cy="304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F9A21-F810-D84B-9BCC-B0CBF8035069}"/>
              </a:ext>
            </a:extLst>
          </p:cNvPr>
          <p:cNvSpPr txBox="1"/>
          <p:nvPr/>
        </p:nvSpPr>
        <p:spPr>
          <a:xfrm>
            <a:off x="4085777" y="5777746"/>
            <a:ext cx="97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Window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9EB27-7915-CE4B-A4AE-37625FCD1F61}"/>
              </a:ext>
            </a:extLst>
          </p:cNvPr>
          <p:cNvSpPr/>
          <p:nvPr/>
        </p:nvSpPr>
        <p:spPr>
          <a:xfrm>
            <a:off x="2152650" y="4953000"/>
            <a:ext cx="4838700" cy="761999"/>
          </a:xfrm>
          <a:prstGeom prst="rect">
            <a:avLst/>
          </a:prstGeom>
          <a:solidFill>
            <a:srgbClr val="AD9B01">
              <a:alpha val="3647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F2491-8592-844B-B295-E7BC16F64C6B}"/>
              </a:ext>
            </a:extLst>
          </p:cNvPr>
          <p:cNvSpPr txBox="1"/>
          <p:nvPr/>
        </p:nvSpPr>
        <p:spPr>
          <a:xfrm>
            <a:off x="3733800" y="5161002"/>
            <a:ext cx="193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Viewport for a GUI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694DE-BA9B-4B41-ADDE-EE89FB04D4AB}"/>
              </a:ext>
            </a:extLst>
          </p:cNvPr>
          <p:cNvSpPr/>
          <p:nvPr/>
        </p:nvSpPr>
        <p:spPr>
          <a:xfrm>
            <a:off x="2152650" y="2667001"/>
            <a:ext cx="4838700" cy="2285998"/>
          </a:xfrm>
          <a:prstGeom prst="rect">
            <a:avLst/>
          </a:prstGeom>
          <a:solidFill>
            <a:srgbClr val="AD9BCD">
              <a:alpha val="3647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AD781E-ABBB-D54D-8894-04270D723296}"/>
              </a:ext>
            </a:extLst>
          </p:cNvPr>
          <p:cNvSpPr txBox="1"/>
          <p:nvPr/>
        </p:nvSpPr>
        <p:spPr>
          <a:xfrm>
            <a:off x="3453545" y="3625334"/>
            <a:ext cx="2642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Viewport for the 3D scene</a:t>
            </a:r>
          </a:p>
        </p:txBody>
      </p:sp>
    </p:spTree>
    <p:extLst>
      <p:ext uri="{BB962C8B-B14F-4D97-AF65-F5344CB8AC3E}">
        <p14:creationId xmlns:p14="http://schemas.microsoft.com/office/powerpoint/2010/main" val="1739165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Thus, the final viewport transform can be </a:t>
            </a:r>
            <a:r>
              <a:rPr lang="en-US"/>
              <a:t>defined as: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3597" y="3048000"/>
                <a:ext cx="4878708" cy="2190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597" y="3048000"/>
                <a:ext cx="4878708" cy="2190536"/>
              </a:xfrm>
              <a:prstGeom prst="rect">
                <a:avLst/>
              </a:prstGeom>
              <a:blipFill>
                <a:blip r:embed="rId2"/>
                <a:stretch>
                  <a:fillRect l="-1036" t="-578" b="-4046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8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3113-5D03-4592-B784-CD82290A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Demystifying the Z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5E797-4F83-4111-B0B6-97DF93B8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clarify what happens to z at each step along the way: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72EF6-8BFF-4A3A-A53B-60611C54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98B9D-DDAD-478C-8976-EB0212B8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71CAE-D12A-48A8-AEDB-B253D1D22A86}"/>
              </a:ext>
            </a:extLst>
          </p:cNvPr>
          <p:cNvSpPr txBox="1"/>
          <p:nvPr/>
        </p:nvSpPr>
        <p:spPr>
          <a:xfrm>
            <a:off x="2895600" y="2133600"/>
            <a:ext cx="3064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z value in range [-n, -f]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0102BC-F24E-43B1-AFF2-EE866594F2FF}"/>
              </a:ext>
            </a:extLst>
          </p:cNvPr>
          <p:cNvCxnSpPr/>
          <p:nvPr/>
        </p:nvCxnSpPr>
        <p:spPr>
          <a:xfrm>
            <a:off x="4419600" y="25146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8F1487-455B-414E-890E-70E89FD63E5D}"/>
                  </a:ext>
                </a:extLst>
              </p:cNvPr>
              <p:cNvSpPr/>
              <p:nvPr/>
            </p:nvSpPr>
            <p:spPr>
              <a:xfrm>
                <a:off x="4059283" y="2798908"/>
                <a:ext cx="737446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8F1487-455B-414E-890E-70E89FD63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283" y="2798908"/>
                <a:ext cx="737446" cy="390748"/>
              </a:xfrm>
              <a:prstGeom prst="rect">
                <a:avLst/>
              </a:prstGeom>
              <a:blipFill>
                <a:blip r:embed="rId2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3BE294-57E3-4908-BAE9-7A51DCA78298}"/>
              </a:ext>
            </a:extLst>
          </p:cNvPr>
          <p:cNvSpPr txBox="1"/>
          <p:nvPr/>
        </p:nvSpPr>
        <p:spPr>
          <a:xfrm>
            <a:off x="3352800" y="3505335"/>
            <a:ext cx="2226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[-n</a:t>
            </a:r>
            <a:r>
              <a:rPr lang="en-US" baseline="30000" dirty="0"/>
              <a:t>2</a:t>
            </a:r>
            <a:r>
              <a:rPr lang="en-US" dirty="0"/>
              <a:t>, -f</a:t>
            </a:r>
            <a:r>
              <a:rPr lang="en-US" baseline="30000" dirty="0"/>
              <a:t>2</a:t>
            </a:r>
            <a:r>
              <a:rPr lang="en-US" dirty="0"/>
              <a:t>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721395-0E2C-41C5-A546-EBDDC758DF28}"/>
              </a:ext>
            </a:extLst>
          </p:cNvPr>
          <p:cNvCxnSpPr/>
          <p:nvPr/>
        </p:nvCxnSpPr>
        <p:spPr>
          <a:xfrm>
            <a:off x="4419600" y="318965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A75B94E-7B69-4066-9363-03A8DF319C1E}"/>
                  </a:ext>
                </a:extLst>
              </p:cNvPr>
              <p:cNvSpPr/>
              <p:nvPr/>
            </p:nvSpPr>
            <p:spPr>
              <a:xfrm>
                <a:off x="4026934" y="4127527"/>
                <a:ext cx="8021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𝑜𝑟𝑡h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A75B94E-7B69-4066-9363-03A8DF319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934" y="4127527"/>
                <a:ext cx="8021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93F22F-4812-47F8-824B-451693C0551B}"/>
              </a:ext>
            </a:extLst>
          </p:cNvPr>
          <p:cNvCxnSpPr/>
          <p:nvPr/>
        </p:nvCxnSpPr>
        <p:spPr>
          <a:xfrm>
            <a:off x="4415127" y="3863181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56B5A5-07B3-4B2A-B3CE-88D40F92AEAC}"/>
              </a:ext>
            </a:extLst>
          </p:cNvPr>
          <p:cNvSpPr txBox="1"/>
          <p:nvPr/>
        </p:nvSpPr>
        <p:spPr>
          <a:xfrm>
            <a:off x="3454287" y="4808261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[-n, f]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7723A3-4D4F-45AD-9FD8-02350A241FD8}"/>
              </a:ext>
            </a:extLst>
          </p:cNvPr>
          <p:cNvCxnSpPr/>
          <p:nvPr/>
        </p:nvCxnSpPr>
        <p:spPr>
          <a:xfrm>
            <a:off x="4419600" y="4496859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90C958-5739-4D64-82B9-42777F612E69}"/>
              </a:ext>
            </a:extLst>
          </p:cNvPr>
          <p:cNvSpPr txBox="1"/>
          <p:nvPr/>
        </p:nvSpPr>
        <p:spPr>
          <a:xfrm>
            <a:off x="3523808" y="5467212"/>
            <a:ext cx="188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Perspective divide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7F1AA8-108E-4B9F-B6AC-345B3C5C88AC}"/>
              </a:ext>
            </a:extLst>
          </p:cNvPr>
          <p:cNvCxnSpPr/>
          <p:nvPr/>
        </p:nvCxnSpPr>
        <p:spPr>
          <a:xfrm>
            <a:off x="4415127" y="517759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3AB958-38F9-445D-B757-19E0FC25917B}"/>
              </a:ext>
            </a:extLst>
          </p:cNvPr>
          <p:cNvSpPr txBox="1"/>
          <p:nvPr/>
        </p:nvSpPr>
        <p:spPr>
          <a:xfrm>
            <a:off x="3505085" y="5995956"/>
            <a:ext cx="196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[-1, 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322291-7DAF-4A99-8043-FE5208AFCC52}"/>
              </a:ext>
            </a:extLst>
          </p:cNvPr>
          <p:cNvCxnSpPr/>
          <p:nvPr/>
        </p:nvCxnSpPr>
        <p:spPr>
          <a:xfrm>
            <a:off x="4428005" y="576385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CDBB52-EA20-4415-9FA1-9A3EAD009D4C}"/>
              </a:ext>
            </a:extLst>
          </p:cNvPr>
          <p:cNvCxnSpPr>
            <a:stCxn id="20" idx="3"/>
          </p:cNvCxnSpPr>
          <p:nvPr/>
        </p:nvCxnSpPr>
        <p:spPr>
          <a:xfrm>
            <a:off x="5468443" y="6180622"/>
            <a:ext cx="322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A2ACA5-E36E-4155-B41C-C46D5B5C097F}"/>
              </a:ext>
            </a:extLst>
          </p:cNvPr>
          <p:cNvSpPr txBox="1"/>
          <p:nvPr/>
        </p:nvSpPr>
        <p:spPr>
          <a:xfrm>
            <a:off x="5791200" y="6003392"/>
            <a:ext cx="202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Viewport transform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D90047-BEDE-49CB-B4E4-C362CC3D3F7B}"/>
              </a:ext>
            </a:extLst>
          </p:cNvPr>
          <p:cNvCxnSpPr/>
          <p:nvPr/>
        </p:nvCxnSpPr>
        <p:spPr>
          <a:xfrm flipV="1">
            <a:off x="6804426" y="5668011"/>
            <a:ext cx="0" cy="337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40FC75-F142-424F-A8F7-A355AD221B6C}"/>
              </a:ext>
            </a:extLst>
          </p:cNvPr>
          <p:cNvSpPr txBox="1"/>
          <p:nvPr/>
        </p:nvSpPr>
        <p:spPr>
          <a:xfrm>
            <a:off x="5854294" y="5281704"/>
            <a:ext cx="196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mapped to [0, 1]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975DE8-0C7C-4613-9F68-243173DB3474}"/>
              </a:ext>
            </a:extLst>
          </p:cNvPr>
          <p:cNvGrpSpPr/>
          <p:nvPr/>
        </p:nvGrpSpPr>
        <p:grpSpPr>
          <a:xfrm>
            <a:off x="2537077" y="2971800"/>
            <a:ext cx="723018" cy="2205793"/>
            <a:chOff x="2537077" y="2971800"/>
            <a:chExt cx="723018" cy="22057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3305AB7-3E44-446A-B0E9-329A96B50D0E}"/>
                    </a:ext>
                  </a:extLst>
                </p:cNvPr>
                <p:cNvSpPr/>
                <p:nvPr/>
              </p:nvSpPr>
              <p:spPr>
                <a:xfrm>
                  <a:off x="2537077" y="3800729"/>
                  <a:ext cx="723018" cy="3907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𝑝𝑒𝑟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3305AB7-3E44-446A-B0E9-329A96B50D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7077" y="3800729"/>
                  <a:ext cx="723018" cy="390748"/>
                </a:xfrm>
                <a:prstGeom prst="rect">
                  <a:avLst/>
                </a:prstGeom>
                <a:blipFill>
                  <a:blip r:embed="rId4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B108DC90-AFA1-41FE-8F54-7AE966FD48B5}"/>
                </a:ext>
              </a:extLst>
            </p:cNvPr>
            <p:cNvSpPr/>
            <p:nvPr/>
          </p:nvSpPr>
          <p:spPr>
            <a:xfrm>
              <a:off x="3205486" y="2971800"/>
              <a:ext cx="45719" cy="220579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614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0" grpId="0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the z-values get compressed to [0, 1] range from the [-n:-f] range</a:t>
            </a:r>
          </a:p>
          <a:p>
            <a:r>
              <a:rPr lang="en-US" dirty="0"/>
              <a:t>Observe how it looks for n = 10 and f = 50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898276"/>
            <a:ext cx="5181600" cy="34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94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the z-values get compressed to [0, 1] range from the [-n:-f] range</a:t>
            </a:r>
          </a:p>
          <a:p>
            <a:r>
              <a:rPr lang="en-US" dirty="0"/>
              <a:t>Observe the same for n = 10 and f = 200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2" y="2898276"/>
            <a:ext cx="5181596" cy="3454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FABAC-AA08-4973-9AFF-EE30BFF14290}"/>
              </a:ext>
            </a:extLst>
          </p:cNvPr>
          <p:cNvSpPr txBox="1"/>
          <p:nvPr/>
        </p:nvSpPr>
        <p:spPr>
          <a:xfrm>
            <a:off x="0" y="3865327"/>
            <a:ext cx="205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Problematic especially if</a:t>
            </a:r>
          </a:p>
          <a:p>
            <a:r>
              <a:rPr lang="en-US" dirty="0"/>
              <a:t>the output z values are quantized</a:t>
            </a:r>
          </a:p>
          <a:p>
            <a:r>
              <a:rPr lang="en-US" dirty="0"/>
              <a:t>(i.e. fixed point values in [0, 1] range)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D40AC5-3408-44C6-BCD2-899323A681D0}"/>
              </a:ext>
            </a:extLst>
          </p:cNvPr>
          <p:cNvGrpSpPr/>
          <p:nvPr/>
        </p:nvGrpSpPr>
        <p:grpSpPr>
          <a:xfrm>
            <a:off x="2370840" y="3099873"/>
            <a:ext cx="46263" cy="2684797"/>
            <a:chOff x="2370840" y="3099873"/>
            <a:chExt cx="46263" cy="2684797"/>
          </a:xfrm>
        </p:grpSpPr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8008E070-6926-4D55-ADB1-AF638A5DAE65}"/>
                </a:ext>
              </a:extLst>
            </p:cNvPr>
            <p:cNvSpPr/>
            <p:nvPr/>
          </p:nvSpPr>
          <p:spPr>
            <a:xfrm>
              <a:off x="2370841" y="3099873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8E0914A7-2385-476C-AF2D-04990251D661}"/>
                </a:ext>
              </a:extLst>
            </p:cNvPr>
            <p:cNvSpPr/>
            <p:nvPr/>
          </p:nvSpPr>
          <p:spPr>
            <a:xfrm>
              <a:off x="2370840" y="3268483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32B9FB2C-ADA0-46A8-9DF6-E66A4C5FBA91}"/>
                </a:ext>
              </a:extLst>
            </p:cNvPr>
            <p:cNvSpPr/>
            <p:nvPr/>
          </p:nvSpPr>
          <p:spPr>
            <a:xfrm>
              <a:off x="2371384" y="3434835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9B36B1BD-6F0C-4561-82E3-38E4BB2E9F6C}"/>
                </a:ext>
              </a:extLst>
            </p:cNvPr>
            <p:cNvSpPr/>
            <p:nvPr/>
          </p:nvSpPr>
          <p:spPr>
            <a:xfrm>
              <a:off x="2371383" y="3603445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779A9214-838C-4732-98A6-FDCCA3FFB103}"/>
                </a:ext>
              </a:extLst>
            </p:cNvPr>
            <p:cNvSpPr/>
            <p:nvPr/>
          </p:nvSpPr>
          <p:spPr>
            <a:xfrm>
              <a:off x="2370841" y="3776148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CFC11129-F048-4017-8C2D-40A27890116B}"/>
                </a:ext>
              </a:extLst>
            </p:cNvPr>
            <p:cNvSpPr/>
            <p:nvPr/>
          </p:nvSpPr>
          <p:spPr>
            <a:xfrm>
              <a:off x="2370840" y="3944758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B9837F40-C1D2-4AFA-9B82-612B981227AD}"/>
                </a:ext>
              </a:extLst>
            </p:cNvPr>
            <p:cNvSpPr/>
            <p:nvPr/>
          </p:nvSpPr>
          <p:spPr>
            <a:xfrm>
              <a:off x="2371384" y="4111110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AF107FB-E4BD-47FE-9715-48A9D9EDFA0F}"/>
                </a:ext>
              </a:extLst>
            </p:cNvPr>
            <p:cNvSpPr/>
            <p:nvPr/>
          </p:nvSpPr>
          <p:spPr>
            <a:xfrm>
              <a:off x="2371383" y="4279720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87D1BCCA-99FD-40F1-87C4-1943761E7E4F}"/>
                </a:ext>
              </a:extLst>
            </p:cNvPr>
            <p:cNvSpPr/>
            <p:nvPr/>
          </p:nvSpPr>
          <p:spPr>
            <a:xfrm>
              <a:off x="2370841" y="4452423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C3C354EE-A16D-43EB-8DB6-C1DEFF452C51}"/>
                </a:ext>
              </a:extLst>
            </p:cNvPr>
            <p:cNvSpPr/>
            <p:nvPr/>
          </p:nvSpPr>
          <p:spPr>
            <a:xfrm>
              <a:off x="2370840" y="4621033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E470593A-DD49-4AE7-8DF9-D0721E12995D}"/>
                </a:ext>
              </a:extLst>
            </p:cNvPr>
            <p:cNvSpPr/>
            <p:nvPr/>
          </p:nvSpPr>
          <p:spPr>
            <a:xfrm>
              <a:off x="2371384" y="4787385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6F0A58BA-DBE4-4990-B563-85CDF9EAAD7C}"/>
                </a:ext>
              </a:extLst>
            </p:cNvPr>
            <p:cNvSpPr/>
            <p:nvPr/>
          </p:nvSpPr>
          <p:spPr>
            <a:xfrm>
              <a:off x="2371383" y="4955995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F01EF554-E539-4B12-B127-5C8885906B26}"/>
                </a:ext>
              </a:extLst>
            </p:cNvPr>
            <p:cNvSpPr/>
            <p:nvPr/>
          </p:nvSpPr>
          <p:spPr>
            <a:xfrm>
              <a:off x="2370841" y="5128698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E80B3B02-7253-490A-817B-30CE77158DBD}"/>
                </a:ext>
              </a:extLst>
            </p:cNvPr>
            <p:cNvSpPr/>
            <p:nvPr/>
          </p:nvSpPr>
          <p:spPr>
            <a:xfrm>
              <a:off x="2370840" y="5297308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Left Brace 25">
              <a:extLst>
                <a:ext uri="{FF2B5EF4-FFF2-40B4-BE49-F238E27FC236}">
                  <a16:creationId xmlns:a16="http://schemas.microsoft.com/office/drawing/2014/main" id="{59E9BD68-60A5-445D-A3A0-EF340445F241}"/>
                </a:ext>
              </a:extLst>
            </p:cNvPr>
            <p:cNvSpPr/>
            <p:nvPr/>
          </p:nvSpPr>
          <p:spPr>
            <a:xfrm>
              <a:off x="2371384" y="5463660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Left Brace 26">
              <a:extLst>
                <a:ext uri="{FF2B5EF4-FFF2-40B4-BE49-F238E27FC236}">
                  <a16:creationId xmlns:a16="http://schemas.microsoft.com/office/drawing/2014/main" id="{3D66C150-465F-462E-A45C-26C21BC3A400}"/>
                </a:ext>
              </a:extLst>
            </p:cNvPr>
            <p:cNvSpPr/>
            <p:nvPr/>
          </p:nvSpPr>
          <p:spPr>
            <a:xfrm>
              <a:off x="2371383" y="5632270"/>
              <a:ext cx="45719" cy="1524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194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compression is more severe for with larger depth range</a:t>
            </a:r>
          </a:p>
          <a:p>
            <a:r>
              <a:rPr lang="en-US" dirty="0"/>
              <a:t>This may cause a problem known as </a:t>
            </a:r>
            <a:r>
              <a:rPr lang="en-US" dirty="0">
                <a:solidFill>
                  <a:srgbClr val="AD0101"/>
                </a:solidFill>
              </a:rPr>
              <a:t>z-fighting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Objects with originally different z-values get mapped to the same final z-value (due to limited precision) making it impossible to distinguish which one is in front and which one is behind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36</a:t>
            </a:fld>
            <a:endParaRPr lang="en-US"/>
          </a:p>
        </p:txBody>
      </p:sp>
      <p:pic>
        <p:nvPicPr>
          <p:cNvPr id="8" name="Picture 2" descr="Image result for z-figh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34081"/>
            <a:ext cx="4343400" cy="220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2894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compression is more severe for with larger depth range</a:t>
            </a:r>
          </a:p>
          <a:p>
            <a:r>
              <a:rPr lang="en-US" dirty="0"/>
              <a:t>This may cause a problem known as </a:t>
            </a:r>
            <a:r>
              <a:rPr lang="en-US" dirty="0">
                <a:solidFill>
                  <a:srgbClr val="AD0101"/>
                </a:solidFill>
              </a:rPr>
              <a:t>z-fighting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problem is even worse if the input z-values are very close to begin with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37</a:t>
            </a:fld>
            <a:endParaRPr lang="en-US"/>
          </a:p>
        </p:txBody>
      </p:sp>
      <p:pic>
        <p:nvPicPr>
          <p:cNvPr id="8" name="Picture 2" descr="Image result for z-figh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34081"/>
            <a:ext cx="4343400" cy="220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67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BA4A50-3C9F-A243-BAC2-6B4A13803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2057400"/>
            <a:ext cx="6477000" cy="36428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60D9A5-8A0A-784B-9DC2-1A86772DC024}"/>
              </a:ext>
            </a:extLst>
          </p:cNvPr>
          <p:cNvSpPr/>
          <p:nvPr/>
        </p:nvSpPr>
        <p:spPr>
          <a:xfrm>
            <a:off x="3322448" y="5723294"/>
            <a:ext cx="270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TR" dirty="0"/>
              <a:t>http://wiki.reflexfiles.com/</a:t>
            </a:r>
          </a:p>
        </p:txBody>
      </p:sp>
    </p:spTree>
    <p:extLst>
      <p:ext uri="{BB962C8B-B14F-4D97-AF65-F5344CB8AC3E}">
        <p14:creationId xmlns:p14="http://schemas.microsoft.com/office/powerpoint/2010/main" val="1869024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Z-Fighting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39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33400" y="2590800"/>
            <a:ext cx="8077200" cy="228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To avoid z-fighting, the depth range should be kept as small as possible for keeping the compression less severe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Also use floating point depth buffer if possible</a:t>
            </a:r>
          </a:p>
        </p:txBody>
      </p:sp>
    </p:spTree>
    <p:extLst>
      <p:ext uri="{BB962C8B-B14F-4D97-AF65-F5344CB8AC3E}">
        <p14:creationId xmlns:p14="http://schemas.microsoft.com/office/powerpoint/2010/main" val="3952719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 [</a:t>
            </a:r>
            <a:r>
              <a:rPr lang="en-US" dirty="0" err="1"/>
              <a:t>x</a:t>
            </a:r>
            <a:r>
              <a:rPr lang="en-US" baseline="-25000" dirty="0" err="1"/>
              <a:t>w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w</a:t>
            </a:r>
            <a:r>
              <a:rPr lang="en-US" dirty="0"/>
              <a:t>, </a:t>
            </a:r>
            <a:r>
              <a:rPr lang="en-US" dirty="0" err="1"/>
              <a:t>z</a:t>
            </a:r>
            <a:r>
              <a:rPr lang="en-US" baseline="-25000" dirty="0" err="1"/>
              <a:t>w</a:t>
            </a:r>
            <a:r>
              <a:rPr lang="en-US" dirty="0"/>
              <a:t>]</a:t>
            </a:r>
            <a:r>
              <a:rPr lang="en-US" baseline="30000" dirty="0"/>
              <a:t>T </a:t>
            </a:r>
            <a:r>
              <a:rPr lang="en-US" dirty="0"/>
              <a:t>in the world coordinate system can be transformed to its viewport coordinates by:</a:t>
            </a:r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  <a:p>
            <a:endParaRPr lang="en-US" baseline="30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67000" y="3048000"/>
                <a:ext cx="3882730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𝑐𝑎𝑚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048000"/>
                <a:ext cx="3882730" cy="136062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672852" y="4303314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perspective divide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372765" y="3644437"/>
            <a:ext cx="0" cy="694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456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point is defined in its local coordinate system and we are given modeling transformations we use: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14627" y="3054692"/>
                <a:ext cx="4695773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𝑐𝑎𝑚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627" y="3054692"/>
                <a:ext cx="4695773" cy="136062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332262" y="4355068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perspective divide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032175" y="3696191"/>
            <a:ext cx="0" cy="694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330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Remember that we transform only the vertices</a:t>
            </a:r>
          </a:p>
          <a:p>
            <a:r>
              <a:rPr lang="en-US" dirty="0"/>
              <a:t>We must reconstruct the triangles (or other primitives) from their projected coordinates</a:t>
            </a:r>
          </a:p>
          <a:p>
            <a:r>
              <a:rPr lang="en-US" dirty="0"/>
              <a:t>We must decide:</a:t>
            </a:r>
          </a:p>
          <a:p>
            <a:pPr lvl="1"/>
            <a:r>
              <a:rPr lang="en-US" dirty="0"/>
              <a:t>If a primitive is fully or partially outside the viewing volume (</a:t>
            </a:r>
            <a:r>
              <a:rPr lang="en-US" b="1" dirty="0"/>
              <a:t>culling</a:t>
            </a:r>
            <a:r>
              <a:rPr lang="en-US" dirty="0"/>
              <a:t> and </a:t>
            </a:r>
            <a:r>
              <a:rPr lang="en-US" b="1" dirty="0"/>
              <a:t>clipping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Which pixels belong to a primitive (</a:t>
            </a:r>
            <a:r>
              <a:rPr lang="en-US" b="1" dirty="0"/>
              <a:t>rasterization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Which fragment of which primitive is closest to the viewer (</a:t>
            </a:r>
            <a:r>
              <a:rPr lang="en-US" b="1" dirty="0"/>
              <a:t>depth testing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How to compute the color for each pixel, etc. (</a:t>
            </a:r>
            <a:r>
              <a:rPr lang="en-US" b="1" dirty="0"/>
              <a:t>fragment shading</a:t>
            </a:r>
            <a:r>
              <a:rPr lang="en-US" dirty="0"/>
              <a:t>)</a:t>
            </a:r>
          </a:p>
          <a:p>
            <a:r>
              <a:rPr lang="en-US" dirty="0"/>
              <a:t>Questions of this type are what we will focus on in the following weeks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CENG 477 – Computer Graphics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85F22-8D96-4CC0-8AEC-D5DD4505838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07422"/>
      </p:ext>
    </p:extLst>
  </p:cSld>
  <p:clrMapOvr>
    <a:masterClrMapping/>
  </p:clrMapOvr>
</p:sld>
</file>

<file path=ppt/theme/theme1.xml><?xml version="1.0" encoding="utf-8"?>
<a:theme xmlns:a="http://schemas.openxmlformats.org/drawingml/2006/main" name="1_metu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Benton">
      <a:majorFont>
        <a:latin typeface="BentonSansTRUMed"/>
        <a:ea typeface=""/>
        <a:cs typeface=""/>
      </a:majorFont>
      <a:minorFont>
        <a:latin typeface="BentonSansTRURe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2502</Words>
  <Application>Microsoft Office PowerPoint</Application>
  <PresentationFormat>On-screen Show (4:3)</PresentationFormat>
  <Paragraphs>482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BentonSansTRUMed</vt:lpstr>
      <vt:lpstr>BentonSansTRUReg</vt:lpstr>
      <vt:lpstr>Calibri</vt:lpstr>
      <vt:lpstr>Cambria Math</vt:lpstr>
      <vt:lpstr>Nimbus Roman No9 L</vt:lpstr>
      <vt:lpstr>StarSymbol</vt:lpstr>
      <vt:lpstr>Times New Roman</vt:lpstr>
      <vt:lpstr>Verdana</vt:lpstr>
      <vt:lpstr>1_metu</vt:lpstr>
      <vt:lpstr>CENG 477 Introduction to Computer Graphics</vt:lpstr>
      <vt:lpstr>Introduction</vt:lpstr>
      <vt:lpstr>Introduction</vt:lpstr>
      <vt:lpstr>Camera Transformation</vt:lpstr>
      <vt:lpstr>Camera Transformation</vt:lpstr>
      <vt:lpstr>Camera Transformation</vt:lpstr>
      <vt:lpstr>Camera Transformation</vt:lpstr>
      <vt:lpstr>Camera Transformation</vt:lpstr>
      <vt:lpstr>Camera Transformation</vt:lpstr>
      <vt:lpstr>Projection Transformation</vt:lpstr>
      <vt:lpstr>Orthographic Projection</vt:lpstr>
      <vt:lpstr>Orthographic Projection</vt:lpstr>
      <vt:lpstr>Orthographic Projection</vt:lpstr>
      <vt:lpstr>Orthographic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Projection</vt:lpstr>
      <vt:lpstr>Perspective Divide</vt:lpstr>
      <vt:lpstr>Viewport Transformation</vt:lpstr>
      <vt:lpstr>Viewport Transformation</vt:lpstr>
      <vt:lpstr>Viewport Transformation</vt:lpstr>
      <vt:lpstr>Viewport Transformation</vt:lpstr>
      <vt:lpstr>Viewport Transformation</vt:lpstr>
      <vt:lpstr>Demystifying the Z Transform</vt:lpstr>
      <vt:lpstr>Z-Fighting</vt:lpstr>
      <vt:lpstr>Z-Fighting</vt:lpstr>
      <vt:lpstr>Z-Fighting</vt:lpstr>
      <vt:lpstr>Z-Fighting</vt:lpstr>
      <vt:lpstr>Z-Fighting</vt:lpstr>
      <vt:lpstr>Z-Fighting</vt:lpstr>
      <vt:lpstr>Summary</vt:lpstr>
      <vt:lpstr>Summary</vt:lpstr>
      <vt:lpstr>Summary</vt:lpstr>
    </vt:vector>
  </TitlesOfParts>
  <Company>AMD,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oguz</dc:creator>
  <cp:lastModifiedBy>Oguz Akyuz</cp:lastModifiedBy>
  <cp:revision>584</cp:revision>
  <dcterms:created xsi:type="dcterms:W3CDTF">2011-10-08T08:51:54Z</dcterms:created>
  <dcterms:modified xsi:type="dcterms:W3CDTF">2025-11-17T15:25:04Z</dcterms:modified>
</cp:coreProperties>
</file>