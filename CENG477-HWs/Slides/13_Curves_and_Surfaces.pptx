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72"/>
  </p:notesMasterIdLst>
  <p:sldIdLst>
    <p:sldId id="256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96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91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366" r:id="rId43"/>
    <p:sldId id="368" r:id="rId44"/>
    <p:sldId id="367" r:id="rId45"/>
    <p:sldId id="369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  <p:sldId id="379" r:id="rId56"/>
    <p:sldId id="380" r:id="rId57"/>
    <p:sldId id="381" r:id="rId58"/>
    <p:sldId id="383" r:id="rId59"/>
    <p:sldId id="382" r:id="rId60"/>
    <p:sldId id="384" r:id="rId61"/>
    <p:sldId id="385" r:id="rId62"/>
    <p:sldId id="386" r:id="rId63"/>
    <p:sldId id="387" r:id="rId64"/>
    <p:sldId id="388" r:id="rId65"/>
    <p:sldId id="389" r:id="rId66"/>
    <p:sldId id="392" r:id="rId67"/>
    <p:sldId id="390" r:id="rId68"/>
    <p:sldId id="393" r:id="rId69"/>
    <p:sldId id="394" r:id="rId70"/>
    <p:sldId id="395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2014"/>
    <a:srgbClr val="E7E7E7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2" autoAdjust="0"/>
    <p:restoredTop sz="95269" autoAdjust="0"/>
  </p:normalViewPr>
  <p:slideViewPr>
    <p:cSldViewPr>
      <p:cViewPr>
        <p:scale>
          <a:sx n="180" d="100"/>
          <a:sy n="180" d="100"/>
        </p:scale>
        <p:origin x="704" y="-141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2274-0A50-4573-AC5E-2BA910662B63}" type="datetimeFigureOut">
              <a:rPr lang="en-US" smtClean="0"/>
              <a:pPr/>
              <a:t>1/12/21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9FC4-FF40-4120-8672-25457C595D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3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CD35459-4FD2-4E57-B5A8-86559E948802}" type="datetime1">
              <a:rPr lang="en-US" smtClean="0"/>
              <a:t>1/12/21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5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608962-6EBE-4BB2-AA78-5EA45938244B}" type="datetime1">
              <a:rPr lang="en-US" smtClean="0"/>
              <a:t>1/12/21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3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3C8A98A-640F-44FC-9A40-09B0EAD5D0C8}" type="datetime1">
              <a:rPr lang="en-US" smtClean="0"/>
              <a:t>1/12/21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1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454D349-6344-4C62-9547-351FAB47CBB3}" type="datetime1">
              <a:rPr lang="en-US" smtClean="0"/>
              <a:t>1/12/21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4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91764C-6DAB-47ED-A7CA-3CB4C2956845}" type="datetime1">
              <a:rPr lang="en-US" smtClean="0"/>
              <a:t>1/12/21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5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7D3D65-E2E6-41D1-ADFF-D26EDEA5D25D}" type="datetime1">
              <a:rPr lang="en-US" smtClean="0"/>
              <a:t>1/12/21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3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AFC70D7-2558-4E20-8128-AB102227DAE0}" type="datetime1">
              <a:rPr lang="en-US" smtClean="0"/>
              <a:t>1/12/21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0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93A960A-065A-4F38-A86D-CE6E7A4FCBAE}" type="datetime1">
              <a:rPr lang="en-US" smtClean="0"/>
              <a:t>1/12/21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66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13389C-EC1D-4A33-AC4D-9685C99DD36F}" type="datetime1">
              <a:rPr lang="en-US" smtClean="0"/>
              <a:t>1/12/21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6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C5A8171-A16C-4CE6-A585-1A684EF4A41A}" type="datetime1">
              <a:rPr lang="en-US" smtClean="0"/>
              <a:t>1/12/21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9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6B16B68-2F22-4221-9B5E-DDD8093D3016}" type="datetime1">
              <a:rPr lang="en-US" smtClean="0"/>
              <a:t>1/12/21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4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image" Target="../media/image102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9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image" Target="../media/image102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8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56.png"/><Relationship Id="rId7" Type="http://schemas.openxmlformats.org/officeDocument/2006/relationships/image" Target="../media/image17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4.png"/><Relationship Id="rId4" Type="http://schemas.openxmlformats.org/officeDocument/2006/relationships/image" Target="../media/image16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10" Type="http://schemas.openxmlformats.org/officeDocument/2006/relationships/image" Target="../media/image18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gi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CENG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Representing Curves and Surfaces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no perfectly straight lines or flat faces in nature!</a:t>
            </a:r>
          </a:p>
          <a:p>
            <a:r>
              <a:rPr lang="en-US" dirty="0"/>
              <a:t>Therefore, representing and generating smooth shapes is a requirement in many CG applications</a:t>
            </a:r>
          </a:p>
          <a:p>
            <a:r>
              <a:rPr lang="en-US" dirty="0"/>
              <a:t>Rendering will still use lines and triangles but their vertices will be sampled from a curve or surface 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600200" y="4038600"/>
            <a:ext cx="5448300" cy="1701800"/>
          </a:xfrm>
          <a:custGeom>
            <a:avLst/>
            <a:gdLst>
              <a:gd name="connsiteX0" fmla="*/ 0 w 5448300"/>
              <a:gd name="connsiteY0" fmla="*/ 640027 h 1109927"/>
              <a:gd name="connsiteX1" fmla="*/ 876300 w 5448300"/>
              <a:gd name="connsiteY1" fmla="*/ 5027 h 1109927"/>
              <a:gd name="connsiteX2" fmla="*/ 2514600 w 5448300"/>
              <a:gd name="connsiteY2" fmla="*/ 944827 h 1109927"/>
              <a:gd name="connsiteX3" fmla="*/ 4216400 w 5448300"/>
              <a:gd name="connsiteY3" fmla="*/ 347927 h 1109927"/>
              <a:gd name="connsiteX4" fmla="*/ 5448300 w 5448300"/>
              <a:gd name="connsiteY4" fmla="*/ 1109927 h 110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300" h="1109927">
                <a:moveTo>
                  <a:pt x="0" y="640027"/>
                </a:moveTo>
                <a:cubicBezTo>
                  <a:pt x="228600" y="297127"/>
                  <a:pt x="457200" y="-45773"/>
                  <a:pt x="876300" y="5027"/>
                </a:cubicBezTo>
                <a:cubicBezTo>
                  <a:pt x="1295400" y="55827"/>
                  <a:pt x="1957917" y="887677"/>
                  <a:pt x="2514600" y="944827"/>
                </a:cubicBezTo>
                <a:cubicBezTo>
                  <a:pt x="3071283" y="1001977"/>
                  <a:pt x="3727450" y="320410"/>
                  <a:pt x="4216400" y="347927"/>
                </a:cubicBezTo>
                <a:cubicBezTo>
                  <a:pt x="4705350" y="375444"/>
                  <a:pt x="5448300" y="1109927"/>
                  <a:pt x="5448300" y="110992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00200" y="4090286"/>
            <a:ext cx="5433237" cy="1648046"/>
          </a:xfrm>
          <a:custGeom>
            <a:avLst/>
            <a:gdLst>
              <a:gd name="connsiteX0" fmla="*/ 0 w 5433237"/>
              <a:gd name="connsiteY0" fmla="*/ 925032 h 1648046"/>
              <a:gd name="connsiteX1" fmla="*/ 595424 w 5433237"/>
              <a:gd name="connsiteY1" fmla="*/ 0 h 1648046"/>
              <a:gd name="connsiteX2" fmla="*/ 999461 w 5433237"/>
              <a:gd name="connsiteY2" fmla="*/ 0 h 1648046"/>
              <a:gd name="connsiteX3" fmla="*/ 1807535 w 5433237"/>
              <a:gd name="connsiteY3" fmla="*/ 861237 h 1648046"/>
              <a:gd name="connsiteX4" fmla="*/ 2445489 w 5433237"/>
              <a:gd name="connsiteY4" fmla="*/ 1392865 h 1648046"/>
              <a:gd name="connsiteX5" fmla="*/ 2998382 w 5433237"/>
              <a:gd name="connsiteY5" fmla="*/ 1254642 h 1648046"/>
              <a:gd name="connsiteX6" fmla="*/ 4136065 w 5433237"/>
              <a:gd name="connsiteY6" fmla="*/ 478465 h 1648046"/>
              <a:gd name="connsiteX7" fmla="*/ 4667693 w 5433237"/>
              <a:gd name="connsiteY7" fmla="*/ 733646 h 1648046"/>
              <a:gd name="connsiteX8" fmla="*/ 5433237 w 5433237"/>
              <a:gd name="connsiteY8" fmla="*/ 1648046 h 164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33237" h="1648046">
                <a:moveTo>
                  <a:pt x="0" y="925032"/>
                </a:moveTo>
                <a:lnTo>
                  <a:pt x="595424" y="0"/>
                </a:lnTo>
                <a:lnTo>
                  <a:pt x="999461" y="0"/>
                </a:lnTo>
                <a:lnTo>
                  <a:pt x="1807535" y="861237"/>
                </a:lnTo>
                <a:lnTo>
                  <a:pt x="2445489" y="1392865"/>
                </a:lnTo>
                <a:lnTo>
                  <a:pt x="2998382" y="1254642"/>
                </a:lnTo>
                <a:lnTo>
                  <a:pt x="4136065" y="478465"/>
                </a:lnTo>
                <a:lnTo>
                  <a:pt x="4667693" y="733646"/>
                </a:lnTo>
                <a:lnTo>
                  <a:pt x="5433237" y="1648046"/>
                </a:ln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1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ways to represent curves:</a:t>
            </a:r>
          </a:p>
          <a:p>
            <a:pPr lvl="1"/>
            <a:r>
              <a:rPr lang="en-US" dirty="0"/>
              <a:t>must be practical (easy to manage and render)</a:t>
            </a:r>
          </a:p>
          <a:p>
            <a:pPr lvl="1"/>
            <a:r>
              <a:rPr lang="en-US" dirty="0"/>
              <a:t>must be flexible (general enough to be used in various modeling tasks)</a:t>
            </a:r>
          </a:p>
          <a:p>
            <a:r>
              <a:rPr lang="en-US" dirty="0"/>
              <a:t>A good compromise is </a:t>
            </a:r>
            <a:r>
              <a:rPr lang="en-US" dirty="0">
                <a:solidFill>
                  <a:schemeClr val="accent1"/>
                </a:solidFill>
              </a:rPr>
              <a:t>cubic polynomials</a:t>
            </a:r>
          </a:p>
          <a:p>
            <a:r>
              <a:rPr lang="en-US" dirty="0"/>
              <a:t>Each x, y, z coordinate is expressed as a cubic polynomial with potentially different coefficients (t is the parameter)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76430" y="4343400"/>
                <a:ext cx="299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4343400"/>
                <a:ext cx="2991140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041" t="-146667" r="-408" b="-18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76430" y="4776360"/>
                <a:ext cx="3002169" cy="304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4776360"/>
                <a:ext cx="3002169" cy="304442"/>
              </a:xfrm>
              <a:prstGeom prst="rect">
                <a:avLst/>
              </a:prstGeom>
              <a:blipFill rotWithShape="0">
                <a:blip r:embed="rId3"/>
                <a:stretch>
                  <a:fillRect l="-2846" t="-132653" r="-1829" b="-16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76430" y="5236763"/>
                <a:ext cx="29353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5236763"/>
                <a:ext cx="2935355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079" t="-144444" r="-416" b="-18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29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given </a:t>
                </a:r>
                <a:r>
                  <a:rPr lang="en-US" i="1" dirty="0"/>
                  <a:t>t</a:t>
                </a:r>
                <a:r>
                  <a:rPr lang="en-US" dirty="0"/>
                  <a:t> value,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=[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r>
                      <a:rPr lang="en-US" b="0" i="1" smtClean="0">
                        <a:latin typeface="Cambria Math" charset="0"/>
                      </a:rPr>
                      <m:t>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]</m:t>
                    </m:r>
                  </m:oMath>
                </a14:m>
                <a:r>
                  <a:rPr lang="en-US" dirty="0"/>
                  <a:t>represents the 3D position along the curve</a:t>
                </a:r>
              </a:p>
              <a:p>
                <a:r>
                  <a:rPr lang="en-US" dirty="0"/>
                  <a:t>Similar to rays in ray tracing except that it may follow a curvy path instead of a straight one!</a:t>
                </a:r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parameter is taken to be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[0, 1]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120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</a:t>
            </a:fld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317898" y="4026835"/>
            <a:ext cx="4800600" cy="1391826"/>
          </a:xfrm>
          <a:custGeom>
            <a:avLst/>
            <a:gdLst>
              <a:gd name="connsiteX0" fmla="*/ 0 w 4800600"/>
              <a:gd name="connsiteY0" fmla="*/ 1201326 h 1391826"/>
              <a:gd name="connsiteX1" fmla="*/ 1905000 w 4800600"/>
              <a:gd name="connsiteY1" fmla="*/ 1176 h 1391826"/>
              <a:gd name="connsiteX2" fmla="*/ 4800600 w 4800600"/>
              <a:gd name="connsiteY2" fmla="*/ 1391826 h 139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0" h="1391826">
                <a:moveTo>
                  <a:pt x="0" y="1201326"/>
                </a:moveTo>
                <a:cubicBezTo>
                  <a:pt x="552450" y="585376"/>
                  <a:pt x="1104900" y="-30574"/>
                  <a:pt x="1905000" y="1176"/>
                </a:cubicBezTo>
                <a:cubicBezTo>
                  <a:pt x="2705100" y="32926"/>
                  <a:pt x="4800600" y="1391826"/>
                  <a:pt x="4800600" y="1391826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286000" y="5160956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96632" y="5215891"/>
                <a:ext cx="5103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𝑞</m:t>
                      </m:r>
                      <m:r>
                        <a:rPr lang="en-US" b="0" i="1" smtClean="0">
                          <a:latin typeface="Cambria Math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632" y="5215891"/>
                <a:ext cx="510333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0843" t="-2222" r="-1686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966098" y="5438001"/>
                <a:ext cx="5103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𝑞</m:t>
                      </m:r>
                      <m:r>
                        <a:rPr lang="en-US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098" y="5438001"/>
                <a:ext cx="510333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0843" r="-1686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82633" y="3772873"/>
                <a:ext cx="6866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𝑞</m:t>
                      </m:r>
                      <m:r>
                        <a:rPr lang="en-US" b="0" i="1" smtClean="0">
                          <a:latin typeface="Cambria Math" charset="0"/>
                        </a:rPr>
                        <m:t>(0.5)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633" y="3772873"/>
                <a:ext cx="686663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8036" r="-12500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4451498" y="4017955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029894" y="5345254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3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Cubic Polynomials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cubic polynomials have 4 unknowns (per component), we need 4 constraints to find them</a:t>
            </a:r>
          </a:p>
          <a:p>
            <a:r>
              <a:rPr lang="en-US" dirty="0"/>
              <a:t>Different curves are distinguished by different constraints</a:t>
            </a:r>
          </a:p>
          <a:p>
            <a:pPr lvl="1"/>
            <a:r>
              <a:rPr lang="en-US" b="1" dirty="0" err="1"/>
              <a:t>Hermite</a:t>
            </a:r>
            <a:r>
              <a:rPr lang="en-US" b="1" dirty="0"/>
              <a:t> curves: </a:t>
            </a:r>
            <a:r>
              <a:rPr lang="en-US" dirty="0"/>
              <a:t>2 end points + 2 tangent vectors</a:t>
            </a:r>
          </a:p>
          <a:p>
            <a:pPr lvl="1"/>
            <a:r>
              <a:rPr lang="en-US" b="1" dirty="0"/>
              <a:t>Bezier curves: </a:t>
            </a:r>
            <a:r>
              <a:rPr lang="en-US" dirty="0"/>
              <a:t>2 end points + 2 control points</a:t>
            </a:r>
          </a:p>
          <a:p>
            <a:pPr lvl="1"/>
            <a:r>
              <a:rPr lang="en-US" b="1" dirty="0"/>
              <a:t>Splines: </a:t>
            </a:r>
            <a:r>
              <a:rPr lang="en-US" dirty="0"/>
              <a:t>4 control points (for each piece of the curve)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Cubic polynomials are conveniently expressed in matrix form: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76430" y="2258638"/>
                <a:ext cx="299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2258638"/>
                <a:ext cx="2991140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041" t="-146667" r="-408" b="-18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76430" y="2691598"/>
                <a:ext cx="3002169" cy="304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2691598"/>
                <a:ext cx="3002169" cy="304442"/>
              </a:xfrm>
              <a:prstGeom prst="rect">
                <a:avLst/>
              </a:prstGeom>
              <a:blipFill rotWithShape="0">
                <a:blip r:embed="rId3"/>
                <a:stretch>
                  <a:fillRect l="-2846" t="-132653" r="-1829" b="-16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76430" y="3152001"/>
                <a:ext cx="29353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3152001"/>
                <a:ext cx="2935355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079" t="-141304" r="-416" b="-1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10305" y="3774240"/>
                <a:ext cx="5123390" cy="1140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=[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 1]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305" y="3774240"/>
                <a:ext cx="5123390" cy="114076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24125" y="5578934"/>
                <a:ext cx="1095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125" y="5578934"/>
                <a:ext cx="1095749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6111" r="-444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4876800" y="4572000"/>
            <a:ext cx="76200" cy="100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119874" y="4915002"/>
            <a:ext cx="1128526" cy="68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54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also need the </a:t>
            </a:r>
            <a:r>
              <a:rPr lang="en-US" dirty="0">
                <a:solidFill>
                  <a:schemeClr val="accent1"/>
                </a:solidFill>
              </a:rPr>
              <a:t>derivative</a:t>
            </a:r>
            <a:r>
              <a:rPr lang="en-US" dirty="0"/>
              <a:t> of this curve to specify tangent vectors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08476" y="2743200"/>
                <a:ext cx="3812903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𝐶</m:t>
                      </m:r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charset="0"/>
                            </a:rPr>
                            <m:t> 2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 1 0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476" y="2743200"/>
                <a:ext cx="3812903" cy="5375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88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that we want to specify certain </a:t>
            </a:r>
            <a:r>
              <a:rPr lang="en-US" dirty="0">
                <a:solidFill>
                  <a:srgbClr val="C00000"/>
                </a:solidFill>
              </a:rPr>
              <a:t>geometrical constraints</a:t>
            </a:r>
            <a:r>
              <a:rPr lang="en-US" dirty="0"/>
              <a:t> such as:</a:t>
            </a:r>
          </a:p>
          <a:p>
            <a:pPr lvl="1"/>
            <a:r>
              <a:rPr lang="en-US" dirty="0"/>
              <a:t>Start point</a:t>
            </a:r>
          </a:p>
          <a:p>
            <a:pPr lvl="1"/>
            <a:r>
              <a:rPr lang="en-US" dirty="0"/>
              <a:t>End point</a:t>
            </a:r>
          </a:p>
          <a:p>
            <a:pPr lvl="1"/>
            <a:r>
              <a:rPr lang="en-US" dirty="0"/>
              <a:t>Start direction (i.e. tangent vector at start point)</a:t>
            </a:r>
          </a:p>
          <a:p>
            <a:pPr lvl="1"/>
            <a:r>
              <a:rPr lang="en-US" dirty="0"/>
              <a:t>End direction (i.e. tangent vector at end point)</a:t>
            </a:r>
          </a:p>
          <a:p>
            <a:r>
              <a:rPr lang="en-US" dirty="0"/>
              <a:t>We need to split the matrix C into two to allow embedding of these constraints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0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𝐶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𝑀𝐺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𝐺</m:t>
                    </m:r>
                  </m:oMath>
                </a14:m>
                <a:r>
                  <a:rPr lang="en-US" dirty="0"/>
                  <a:t> represents the geometry constraints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chemeClr val="accent1"/>
                    </a:solidFill>
                  </a:rPr>
                  <a:t>basis</a:t>
                </a:r>
                <a:r>
                  <a:rPr lang="en-US" dirty="0"/>
                  <a:t> matrix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𝐺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chemeClr val="accent1"/>
                    </a:solidFill>
                  </a:rPr>
                  <a:t>geometry</a:t>
                </a:r>
                <a:r>
                  <a:rPr lang="en-US" dirty="0"/>
                  <a:t> or the </a:t>
                </a:r>
                <a:r>
                  <a:rPr lang="en-US" dirty="0">
                    <a:solidFill>
                      <a:schemeClr val="accent1"/>
                    </a:solidFill>
                  </a:rPr>
                  <a:t>constraints</a:t>
                </a:r>
                <a:r>
                  <a:rPr lang="en-US" dirty="0"/>
                  <a:t> matrix</a:t>
                </a:r>
              </a:p>
              <a:p>
                <a:r>
                  <a:rPr lang="en-US" dirty="0"/>
                  <a:t>Different types of curves differ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𝐺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681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66800" y="2668745"/>
                <a:ext cx="6415282" cy="12147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uk-U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668745"/>
                <a:ext cx="6415282" cy="1214756"/>
              </a:xfrm>
              <a:prstGeom prst="rect">
                <a:avLst/>
              </a:prstGeom>
              <a:blipFill rotWithShape="0">
                <a:blip r:embed="rId3"/>
                <a:stretch>
                  <a:fillRect l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5400000">
            <a:off x="4210050" y="2846630"/>
            <a:ext cx="419100" cy="228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 rot="5400000">
            <a:off x="6347271" y="3231250"/>
            <a:ext cx="419100" cy="15167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11480" y="4237860"/>
                <a:ext cx="260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480" y="4237860"/>
                <a:ext cx="26052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8605" r="-1627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441440" y="4211320"/>
                <a:ext cx="213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440" y="4211320"/>
                <a:ext cx="213712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5714" r="-200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87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𝑇𝑀𝐺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instance: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66800" y="3200400"/>
                <a:ext cx="7054111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=[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 1]</m:t>
                      </m:r>
                      <m:d>
                        <m:d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200400"/>
                <a:ext cx="7054111" cy="10346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64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1642"/>
          </a:xfrm>
        </p:spPr>
        <p:txBody>
          <a:bodyPr>
            <a:normAutofit/>
          </a:bodyPr>
          <a:lstStyle/>
          <a:p>
            <a:r>
              <a:rPr lang="en-US" dirty="0"/>
              <a:t>Rewriting this gives 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That is, the curve is a </a:t>
            </a:r>
            <a:r>
              <a:rPr lang="en-US" dirty="0">
                <a:solidFill>
                  <a:schemeClr val="accent1"/>
                </a:solidFill>
              </a:rPr>
              <a:t>weighted sum </a:t>
            </a:r>
            <a:r>
              <a:rPr lang="en-US" dirty="0"/>
              <a:t>of the elements of the geometry matrix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2823" y="2288989"/>
                <a:ext cx="7054111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=[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 1]</m:t>
                      </m:r>
                      <m:d>
                        <m:d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23" y="2288989"/>
                <a:ext cx="7054111" cy="10346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09800" y="4226004"/>
                <a:ext cx="456015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41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226004"/>
                <a:ext cx="4560159" cy="1107996"/>
              </a:xfrm>
              <a:prstGeom prst="rect">
                <a:avLst/>
              </a:prstGeom>
              <a:blipFill rotWithShape="0">
                <a:blip r:embed="rId3"/>
                <a:stretch>
                  <a:fillRect t="-549" b="-6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4724400" y="3513582"/>
            <a:ext cx="228600" cy="554918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4164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weights are each cubic polynomials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These polynomials are called blending functions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41642"/>
              </a:xfrm>
              <a:blipFill rotWithShape="0">
                <a:blip r:embed="rId2"/>
                <a:stretch>
                  <a:fillRect l="-963" t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09800" y="2778204"/>
                <a:ext cx="456015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31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41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+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778204"/>
                <a:ext cx="4560159" cy="1107996"/>
              </a:xfrm>
              <a:prstGeom prst="rect">
                <a:avLst/>
              </a:prstGeom>
              <a:blipFill rotWithShape="0">
                <a:blip r:embed="rId3"/>
                <a:stretch>
                  <a:fillRect t="-549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4375579" y="4093282"/>
            <a:ext cx="228600" cy="554918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62684" y="4763911"/>
                <a:ext cx="245439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sz="26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r>
                        <a:rPr lang="en-US" sz="26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charset="0"/>
                            </a:rPr>
                            <m:t>𝑇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sz="26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sz="26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684" y="4763911"/>
                <a:ext cx="2454390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590800" y="5741355"/>
            <a:ext cx="190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Vector of </a:t>
            </a:r>
          </a:p>
          <a:p>
            <a:pPr algn="ctr"/>
            <a:r>
              <a:rPr lang="en-US" dirty="0"/>
              <a:t>blending functions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429000" y="5279732"/>
            <a:ext cx="228600" cy="46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123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AAF8-33B1-624E-8061-5773315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Two Important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501C-A52D-8F40-ACF5-085C70870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Now we will see how this background can be used to define two types of curves:</a:t>
            </a:r>
          </a:p>
          <a:p>
            <a:pPr lvl="1"/>
            <a:r>
              <a:rPr lang="en-TR"/>
              <a:t>Hermite </a:t>
            </a:r>
            <a:r>
              <a:rPr lang="en-TR" dirty="0"/>
              <a:t>curves</a:t>
            </a:r>
          </a:p>
          <a:p>
            <a:pPr lvl="1"/>
            <a:r>
              <a:rPr lang="en-TR" dirty="0"/>
              <a:t>Bezier curves</a:t>
            </a:r>
          </a:p>
          <a:p>
            <a:r>
              <a:rPr lang="en-TR" dirty="0"/>
              <a:t>Both curves can draw the same curves (they are equally powerful) but they have different geometry constraints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E5AA3-2D1F-D94A-A4E0-49597EAC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65E54-ED7C-4145-A13C-8A1A879D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10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constraints of </a:t>
                </a:r>
                <a:r>
                  <a:rPr lang="en-US" dirty="0" err="1"/>
                  <a:t>Hermite</a:t>
                </a:r>
                <a:r>
                  <a:rPr lang="en-US" dirty="0"/>
                  <a:t> curves are:</a:t>
                </a:r>
              </a:p>
              <a:p>
                <a:pPr lvl="1"/>
                <a:r>
                  <a:rPr lang="en-US" b="1" dirty="0"/>
                  <a:t>Two end points: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Two tangent vectors: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2543175" y="3741638"/>
            <a:ext cx="3500438" cy="1230412"/>
          </a:xfrm>
          <a:custGeom>
            <a:avLst/>
            <a:gdLst>
              <a:gd name="connsiteX0" fmla="*/ 0 w 3500438"/>
              <a:gd name="connsiteY0" fmla="*/ 1230412 h 1230412"/>
              <a:gd name="connsiteX1" fmla="*/ 800100 w 3500438"/>
              <a:gd name="connsiteY1" fmla="*/ 1687 h 1230412"/>
              <a:gd name="connsiteX2" fmla="*/ 2628900 w 3500438"/>
              <a:gd name="connsiteY2" fmla="*/ 944662 h 1230412"/>
              <a:gd name="connsiteX3" fmla="*/ 3500438 w 3500438"/>
              <a:gd name="connsiteY3" fmla="*/ 87412 h 123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438" h="1230412">
                <a:moveTo>
                  <a:pt x="0" y="1230412"/>
                </a:moveTo>
                <a:cubicBezTo>
                  <a:pt x="180975" y="639862"/>
                  <a:pt x="361950" y="49312"/>
                  <a:pt x="800100" y="1687"/>
                </a:cubicBezTo>
                <a:cubicBezTo>
                  <a:pt x="1238250" y="-45938"/>
                  <a:pt x="2178844" y="930374"/>
                  <a:pt x="2628900" y="944662"/>
                </a:cubicBezTo>
                <a:cubicBezTo>
                  <a:pt x="3078956" y="958949"/>
                  <a:pt x="3500438" y="87412"/>
                  <a:pt x="3500438" y="8741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09506" y="4871706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957554" y="3810000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19376" y="4972050"/>
                <a:ext cx="2775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6" y="4972050"/>
                <a:ext cx="27757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7778" r="-8889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614680" y="3603138"/>
                <a:ext cx="273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680" y="3603138"/>
                <a:ext cx="273023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7778" r="-8889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7" idx="0"/>
          </p:cNvCxnSpPr>
          <p:nvPr/>
        </p:nvCxnSpPr>
        <p:spPr>
          <a:xfrm flipV="1">
            <a:off x="2564441" y="4243388"/>
            <a:ext cx="135897" cy="628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541824" y="3962400"/>
                <a:ext cx="3032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824" y="3962400"/>
                <a:ext cx="303225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6000" r="-400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98927" y="3204778"/>
                <a:ext cx="3085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927" y="3204778"/>
                <a:ext cx="308546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6000" r="-600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6000749" y="3343278"/>
            <a:ext cx="314325" cy="5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94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geometry matrix then becomes: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dirty="0"/>
                  <a:t> remember that the curve in matrix form we have: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And for derivative: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38022" y="2514600"/>
                <a:ext cx="2981778" cy="11829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𝐺</m:t>
                      </m:r>
                      <m:r>
                        <a:rPr lang="en-US" b="0" i="1" smtClean="0">
                          <a:latin typeface="Cambria Math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022" y="2514600"/>
                <a:ext cx="2981778" cy="11829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657600" y="4765357"/>
                <a:ext cx="206094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600" i="1">
                          <a:latin typeface="Cambria Math" charset="0"/>
                        </a:rPr>
                        <m:t>=</m:t>
                      </m:r>
                      <m:r>
                        <a:rPr lang="en-US" sz="2600" i="1">
                          <a:latin typeface="Cambria Math" charset="0"/>
                        </a:rPr>
                        <m:t>𝑇𝑀𝐺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765357"/>
                <a:ext cx="2060949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352800" y="5527357"/>
                <a:ext cx="222432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charset="0"/>
                        </a:rPr>
                        <m:t>𝑄</m:t>
                      </m:r>
                      <m:r>
                        <a:rPr lang="en-US" sz="2600" b="0" i="1" smtClean="0">
                          <a:latin typeface="Cambria Math" charset="0"/>
                        </a:rPr>
                        <m:t>′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600" i="1">
                          <a:latin typeface="Cambria Math" charset="0"/>
                        </a:rPr>
                        <m:t>=</m:t>
                      </m:r>
                      <m:r>
                        <a:rPr lang="en-US" sz="2600" i="1">
                          <a:latin typeface="Cambria Math" charset="0"/>
                        </a:rPr>
                        <m:t>𝑇</m:t>
                      </m:r>
                      <m:r>
                        <a:rPr lang="en-US" sz="2600" b="0" i="1" smtClean="0">
                          <a:latin typeface="Cambria Math" charset="0"/>
                        </a:rPr>
                        <m:t>′</m:t>
                      </m:r>
                      <m:r>
                        <a:rPr lang="en-US" sz="2600" i="1">
                          <a:latin typeface="Cambria Math" charset="0"/>
                        </a:rPr>
                        <m:t>𝑀𝐺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527357"/>
                <a:ext cx="2224327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207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now plug in values for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parameter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 </m:t>
                    </m:r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 </m:t>
                    </m:r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′(1)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This is the same as: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52609" y="2602468"/>
                <a:ext cx="22574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[0 0  0 1]</m:t>
                      </m:r>
                      <m:r>
                        <a:rPr lang="en-US" i="1">
                          <a:latin typeface="Cambria Math" charset="0"/>
                        </a:rPr>
                        <m:t>𝑀𝐺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609" y="2602468"/>
                <a:ext cx="2257413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52609" y="2958068"/>
                <a:ext cx="22574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[1 1  1 1]</m:t>
                      </m:r>
                      <m:r>
                        <a:rPr lang="en-US" i="1">
                          <a:latin typeface="Cambria Math" charset="0"/>
                        </a:rPr>
                        <m:t>𝑀𝐺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609" y="2958068"/>
                <a:ext cx="2257413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93443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252609" y="3313668"/>
                <a:ext cx="23099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[0 0  1 0]</m:t>
                      </m:r>
                      <m:r>
                        <a:rPr lang="en-US" i="1">
                          <a:latin typeface="Cambria Math" charset="0"/>
                        </a:rPr>
                        <m:t>𝑀𝐺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609" y="3313668"/>
                <a:ext cx="2309991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96667" b="-1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52609" y="3669268"/>
                <a:ext cx="23099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[3 2  1 0]</m:t>
                      </m:r>
                      <m:r>
                        <a:rPr lang="en-US" i="1">
                          <a:latin typeface="Cambria Math" charset="0"/>
                        </a:rPr>
                        <m:t>𝑀𝐺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609" y="3669268"/>
                <a:ext cx="2309991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24200" y="4876800"/>
                <a:ext cx="2847703" cy="1137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′(0)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′(1)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𝑀𝐺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876800"/>
                <a:ext cx="2847703" cy="113768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607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Remember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𝐺</m:t>
                    </m:r>
                  </m:oMath>
                </a14:m>
                <a:r>
                  <a:rPr lang="en-US" dirty="0"/>
                  <a:t> was equal 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we have: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05200" y="2283134"/>
                <a:ext cx="2194767" cy="12220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𝐺</m:t>
                      </m:r>
                      <m:r>
                        <a:rPr lang="en-US" i="1" smtClean="0">
                          <a:latin typeface="Cambria Math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′(0)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′(1)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283134"/>
                <a:ext cx="2194767" cy="12220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24200" y="4577316"/>
                <a:ext cx="3432799" cy="1137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′(0)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′(1)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(1)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′(0)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𝑄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′(1)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577316"/>
                <a:ext cx="3432799" cy="11376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40668" y="605925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Same</a:t>
            </a:r>
          </a:p>
        </p:txBody>
      </p:sp>
      <p:cxnSp>
        <p:nvCxnSpPr>
          <p:cNvPr id="10" name="Straight Arrow Connector 9"/>
          <p:cNvCxnSpPr>
            <a:endCxn id="3" idx="2"/>
          </p:cNvCxnSpPr>
          <p:nvPr/>
        </p:nvCxnSpPr>
        <p:spPr>
          <a:xfrm>
            <a:off x="3543300" y="5815013"/>
            <a:ext cx="1028700" cy="311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105400" y="5756831"/>
            <a:ext cx="914400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858000" y="4715470"/>
                <a:ext cx="18622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Only possible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dirty="0"/>
                  <a:t> is the inverse</a:t>
                </a:r>
              </a:p>
              <a:p>
                <a:r>
                  <a:rPr lang="en-US" dirty="0"/>
                  <a:t>of the matrix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4715470"/>
                <a:ext cx="1862241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2623" t="-3974" r="-2623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4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Therefore, </a:t>
            </a:r>
            <a:r>
              <a:rPr lang="en-US" dirty="0" err="1"/>
              <a:t>Hermite</a:t>
            </a:r>
            <a:r>
              <a:rPr lang="en-US" dirty="0"/>
              <a:t> curves have the following basis matrix: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yields the following blending functions: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38400" y="2430610"/>
                <a:ext cx="4636205" cy="1074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𝑀</m:t>
                      </m:r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430610"/>
                <a:ext cx="4636205" cy="107459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29000" y="4696413"/>
                <a:ext cx="2241703" cy="1094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𝐵</m:t>
                      </m:r>
                      <m:r>
                        <a:rPr lang="en-US" b="0" i="1" smtClean="0">
                          <a:latin typeface="Cambria Math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−2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+3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−2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696413"/>
                <a:ext cx="2241703" cy="10947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005512" y="4643641"/>
            <a:ext cx="25186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plot these</a:t>
            </a:r>
          </a:p>
          <a:p>
            <a:r>
              <a:rPr lang="en-US" dirty="0"/>
              <a:t>with </a:t>
            </a:r>
            <a:r>
              <a:rPr lang="en-US" dirty="0" err="1"/>
              <a:t>gnuplot</a:t>
            </a:r>
            <a:r>
              <a:rPr lang="en-US" dirty="0"/>
              <a:t> and</a:t>
            </a:r>
          </a:p>
          <a:p>
            <a:r>
              <a:rPr lang="en-US" dirty="0"/>
              <a:t>do some experimentation</a:t>
            </a:r>
          </a:p>
          <a:p>
            <a:r>
              <a:rPr lang="en-US" dirty="0"/>
              <a:t>with </a:t>
            </a:r>
            <a:r>
              <a:rPr lang="en-US" dirty="0" err="1"/>
              <a:t>Matlab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2606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Blending Functions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18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Bezier curves can draw the same curves as </a:t>
            </a:r>
            <a:r>
              <a:rPr lang="en-US" dirty="0" err="1"/>
              <a:t>Hermite</a:t>
            </a:r>
            <a:r>
              <a:rPr lang="en-US" dirty="0"/>
              <a:t> curves</a:t>
            </a:r>
          </a:p>
          <a:p>
            <a:r>
              <a:rPr lang="en-US" dirty="0"/>
              <a:t>They are defined using </a:t>
            </a:r>
            <a:r>
              <a:rPr lang="en-US" dirty="0">
                <a:solidFill>
                  <a:schemeClr val="accent1"/>
                </a:solidFill>
              </a:rPr>
              <a:t>control points </a:t>
            </a:r>
            <a:r>
              <a:rPr lang="en-US" dirty="0"/>
              <a:t>instead of derivatives</a:t>
            </a:r>
          </a:p>
          <a:p>
            <a:r>
              <a:rPr lang="en-US" dirty="0"/>
              <a:t>Two control points are </a:t>
            </a:r>
            <a:r>
              <a:rPr lang="en-US" dirty="0">
                <a:solidFill>
                  <a:schemeClr val="accent1"/>
                </a:solidFill>
              </a:rPr>
              <a:t>interpolated</a:t>
            </a:r>
            <a:r>
              <a:rPr lang="en-US" dirty="0"/>
              <a:t> and two control points are </a:t>
            </a:r>
            <a:r>
              <a:rPr lang="en-US" dirty="0">
                <a:solidFill>
                  <a:schemeClr val="accent1"/>
                </a:solidFill>
              </a:rPr>
              <a:t>approximated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55168" y="4495800"/>
            <a:ext cx="3274219" cy="858582"/>
          </a:xfrm>
          <a:custGeom>
            <a:avLst/>
            <a:gdLst>
              <a:gd name="connsiteX0" fmla="*/ 0 w 4414837"/>
              <a:gd name="connsiteY0" fmla="*/ 1373261 h 1620582"/>
              <a:gd name="connsiteX1" fmla="*/ 1300162 w 4414837"/>
              <a:gd name="connsiteY1" fmla="*/ 1661 h 1620582"/>
              <a:gd name="connsiteX2" fmla="*/ 3128962 w 4414837"/>
              <a:gd name="connsiteY2" fmla="*/ 1616149 h 1620582"/>
              <a:gd name="connsiteX3" fmla="*/ 4414837 w 4414837"/>
              <a:gd name="connsiteY3" fmla="*/ 516011 h 162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4837" h="1620582">
                <a:moveTo>
                  <a:pt x="0" y="1373261"/>
                </a:moveTo>
                <a:cubicBezTo>
                  <a:pt x="389334" y="667220"/>
                  <a:pt x="778668" y="-38820"/>
                  <a:pt x="1300162" y="1661"/>
                </a:cubicBezTo>
                <a:cubicBezTo>
                  <a:pt x="1821656" y="42142"/>
                  <a:pt x="2609850" y="1530424"/>
                  <a:pt x="3128962" y="1616149"/>
                </a:cubicBezTo>
                <a:cubicBezTo>
                  <a:pt x="3648074" y="1701874"/>
                  <a:pt x="4414837" y="516011"/>
                  <a:pt x="4414837" y="51601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255168" y="3581400"/>
            <a:ext cx="1316832" cy="16117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23266" y="5152103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515464" y="3524864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endCxn id="6" idx="3"/>
          </p:cNvCxnSpPr>
          <p:nvPr/>
        </p:nvCxnSpPr>
        <p:spPr>
          <a:xfrm flipV="1">
            <a:off x="5220929" y="4769182"/>
            <a:ext cx="1308458" cy="12973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57762" y="6019800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72826" y="4727602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73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curve lies entirely within the </a:t>
            </a:r>
            <a:r>
              <a:rPr lang="en-US" dirty="0">
                <a:solidFill>
                  <a:schemeClr val="accent1"/>
                </a:solidFill>
              </a:rPr>
              <a:t>convex-hull</a:t>
            </a:r>
            <a:r>
              <a:rPr lang="en-US" dirty="0"/>
              <a:t> of these four points</a:t>
            </a:r>
          </a:p>
          <a:p>
            <a:r>
              <a:rPr lang="en-US" dirty="0"/>
              <a:t>This is useful for clipping, culling, and intersection tests as the convex-hull can be tested first instead of each line segment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21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55168" y="4495800"/>
            <a:ext cx="3274219" cy="858582"/>
          </a:xfrm>
          <a:custGeom>
            <a:avLst/>
            <a:gdLst>
              <a:gd name="connsiteX0" fmla="*/ 0 w 4414837"/>
              <a:gd name="connsiteY0" fmla="*/ 1373261 h 1620582"/>
              <a:gd name="connsiteX1" fmla="*/ 1300162 w 4414837"/>
              <a:gd name="connsiteY1" fmla="*/ 1661 h 1620582"/>
              <a:gd name="connsiteX2" fmla="*/ 3128962 w 4414837"/>
              <a:gd name="connsiteY2" fmla="*/ 1616149 h 1620582"/>
              <a:gd name="connsiteX3" fmla="*/ 4414837 w 4414837"/>
              <a:gd name="connsiteY3" fmla="*/ 516011 h 162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4837" h="1620582">
                <a:moveTo>
                  <a:pt x="0" y="1373261"/>
                </a:moveTo>
                <a:cubicBezTo>
                  <a:pt x="389334" y="667220"/>
                  <a:pt x="778668" y="-38820"/>
                  <a:pt x="1300162" y="1661"/>
                </a:cubicBezTo>
                <a:cubicBezTo>
                  <a:pt x="1821656" y="42142"/>
                  <a:pt x="2609850" y="1530424"/>
                  <a:pt x="3128962" y="1616149"/>
                </a:cubicBezTo>
                <a:cubicBezTo>
                  <a:pt x="3648074" y="1701874"/>
                  <a:pt x="4414837" y="516011"/>
                  <a:pt x="4414837" y="51601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255168" y="3581400"/>
            <a:ext cx="1316832" cy="16117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23266" y="5152103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515464" y="3524864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endCxn id="6" idx="3"/>
          </p:cNvCxnSpPr>
          <p:nvPr/>
        </p:nvCxnSpPr>
        <p:spPr>
          <a:xfrm flipV="1">
            <a:off x="5220929" y="4769182"/>
            <a:ext cx="1308458" cy="12973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57762" y="6019800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72826" y="4727602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stCxn id="10" idx="5"/>
            <a:endCxn id="15" idx="2"/>
          </p:cNvCxnSpPr>
          <p:nvPr/>
        </p:nvCxnSpPr>
        <p:spPr>
          <a:xfrm>
            <a:off x="3317046" y="5245883"/>
            <a:ext cx="1840716" cy="8288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1"/>
            <a:endCxn id="16" idx="1"/>
          </p:cNvCxnSpPr>
          <p:nvPr/>
        </p:nvCxnSpPr>
        <p:spPr>
          <a:xfrm>
            <a:off x="4531554" y="3540954"/>
            <a:ext cx="1957362" cy="12027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439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Bezier curves are related to the </a:t>
                </a:r>
                <a:r>
                  <a:rPr lang="en-US" dirty="0" err="1"/>
                  <a:t>Hermite</a:t>
                </a:r>
                <a:r>
                  <a:rPr lang="en-US" dirty="0"/>
                  <a:t> curves as: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factor 3 ensures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the highest weight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=1/3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has the highest weight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=2/3</m:t>
                    </m:r>
                  </m:oMath>
                </a14:m>
                <a:r>
                  <a:rPr lang="en-US" dirty="0"/>
                  <a:t>, logically dividing the curve into 3 pieces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1400" y="2667000"/>
                <a:ext cx="1645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=3(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667000"/>
                <a:ext cx="1645963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593" t="-2222" r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81400" y="3152001"/>
                <a:ext cx="16467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=3(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152001"/>
                <a:ext cx="1646733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593" r="-444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454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matrix form, this relationship can be express as: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62200" y="2711006"/>
                <a:ext cx="3909404" cy="1152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𝐻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711006"/>
                <a:ext cx="3909404" cy="11521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695096" y="4973987"/>
                <a:ext cx="3247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096" y="4973987"/>
                <a:ext cx="32470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4815" r="-5556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endCxn id="7" idx="0"/>
          </p:cNvCxnSpPr>
          <p:nvPr/>
        </p:nvCxnSpPr>
        <p:spPr>
          <a:xfrm flipH="1">
            <a:off x="5857448" y="3863181"/>
            <a:ext cx="9952" cy="1110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84303" y="5419260"/>
                <a:ext cx="377539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This matrix translates Bezier geometry</a:t>
                </a:r>
              </a:p>
              <a:p>
                <a:r>
                  <a:rPr lang="en-US" dirty="0"/>
                  <a:t>matrix to the </a:t>
                </a:r>
                <a:r>
                  <a:rPr lang="en-US" dirty="0" err="1"/>
                  <a:t>Hermite</a:t>
                </a:r>
                <a:r>
                  <a:rPr lang="en-US" dirty="0"/>
                  <a:t> geometry matrix</a:t>
                </a:r>
              </a:p>
              <a:p>
                <a:r>
                  <a:rPr lang="en-US" dirty="0"/>
                  <a:t>(let’s call this matrix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𝐵𝐻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03" y="5419260"/>
                <a:ext cx="3775393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1290" t="-3974" r="-806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endCxn id="12" idx="0"/>
          </p:cNvCxnSpPr>
          <p:nvPr/>
        </p:nvCxnSpPr>
        <p:spPr>
          <a:xfrm flipH="1">
            <a:off x="4572000" y="3977604"/>
            <a:ext cx="152400" cy="144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08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Bezier curves can be defined as: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971800" y="2514600"/>
                <a:ext cx="32598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𝐻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𝐵𝐻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2514600"/>
                <a:ext cx="3259867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743741" y="3094280"/>
                <a:ext cx="17159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741" y="3094280"/>
                <a:ext cx="1715983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05779" y="3724681"/>
                <a:ext cx="14330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𝐵𝐻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779" y="3724681"/>
                <a:ext cx="143302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979" r="-85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456856" y="367851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05598" y="4502758"/>
                <a:ext cx="4728602" cy="1059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mr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mr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598" y="4502758"/>
                <a:ext cx="4728602" cy="105984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01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This is equivalent 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These are called </a:t>
                </a:r>
                <a:r>
                  <a:rPr lang="en-US" dirty="0">
                    <a:solidFill>
                      <a:schemeClr val="accent1"/>
                    </a:solidFill>
                  </a:rPr>
                  <a:t>Bernstein polynomials</a:t>
                </a:r>
              </a:p>
              <a:p>
                <a:pPr lvl="1"/>
                <a:r>
                  <a:rPr lang="en-US" dirty="0"/>
                  <a:t>Their sum is always 1</a:t>
                </a:r>
              </a:p>
              <a:p>
                <a:pPr lvl="1"/>
                <a:r>
                  <a:rPr lang="en-US" dirty="0"/>
                  <a:t>They are always non-negative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∈[0,1]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That’s why the resulting curve is in the convex-hull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Bernstein polynomial of 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d>
                      <m:dPr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mr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48026" y="2305340"/>
                <a:ext cx="34024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 </m:t>
                      </m:r>
                      <m:d>
                        <m:d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charset="0"/>
                            </a:rPr>
                            <m:t>+3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charset="0"/>
                            </a:rPr>
                            <m:t>−3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26" y="2305340"/>
                <a:ext cx="340240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792" t="-141304" r="-1075" b="-1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86226" y="2714141"/>
                <a:ext cx="21553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charset="0"/>
                            </a:rPr>
                            <m:t>−6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charset="0"/>
                            </a:rPr>
                            <m:t>+3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226" y="2714141"/>
                <a:ext cx="2155398" cy="276999"/>
              </a:xfrm>
              <a:prstGeom prst="rect">
                <a:avLst/>
              </a:prstGeom>
              <a:blipFill rotWithShape="0">
                <a:blip r:embed="rId4"/>
                <a:stretch>
                  <a:fillRect t="-2174" r="-17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86226" y="3095141"/>
                <a:ext cx="1827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charset="0"/>
                            </a:rPr>
                            <m:t>+3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226" y="3095141"/>
                <a:ext cx="1827552" cy="276999"/>
              </a:xfrm>
              <a:prstGeom prst="rect">
                <a:avLst/>
              </a:prstGeom>
              <a:blipFill rotWithShape="0">
                <a:blip r:embed="rId5"/>
                <a:stretch>
                  <a:fillRect t="-2222" r="-234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86226" y="3476141"/>
                <a:ext cx="676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226" y="3476141"/>
                <a:ext cx="676275" cy="276999"/>
              </a:xfrm>
              <a:prstGeom prst="rect">
                <a:avLst/>
              </a:prstGeom>
              <a:blipFill rotWithShape="0">
                <a:blip r:embed="rId6"/>
                <a:stretch>
                  <a:fillRect t="-2174" r="-270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5156778" y="2286000"/>
            <a:ext cx="2310822" cy="1390940"/>
            <a:chOff x="5156778" y="2895600"/>
            <a:chExt cx="2310822" cy="1390940"/>
          </a:xfrm>
        </p:grpSpPr>
        <p:sp>
          <p:nvSpPr>
            <p:cNvPr id="10" name="TextBox 9"/>
            <p:cNvSpPr txBox="1"/>
            <p:nvPr/>
          </p:nvSpPr>
          <p:spPr>
            <a:xfrm>
              <a:off x="5156778" y="3191939"/>
              <a:ext cx="50366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912762" y="2895600"/>
                  <a:ext cx="13026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762" y="2895600"/>
                  <a:ext cx="1302664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607" t="-2222" r="-2804" b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927050" y="3271084"/>
                  <a:ext cx="153324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7050" y="3271084"/>
                  <a:ext cx="1533240" cy="27699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3175" t="-2222" r="-2381" b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927050" y="3655805"/>
                  <a:ext cx="15405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7050" y="3655805"/>
                  <a:ext cx="1540550" cy="27699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2767" t="-2222" r="-2767" b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963047" y="4009541"/>
                  <a:ext cx="7189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047" y="4009541"/>
                  <a:ext cx="718979" cy="27699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5085" t="-2222" r="-593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1854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Bezier curve is the sum of Bernstein polynomials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704164" y="2667000"/>
                <a:ext cx="5735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(1−</m:t>
                          </m:r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3</m:t>
                          </m:r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charset="0"/>
                            </a:rPr>
                            <m:t>(1−</m:t>
                          </m:r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+3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(1−</m:t>
                      </m:r>
                      <m:r>
                        <a:rPr lang="en-US" i="1">
                          <a:latin typeface="Cambria Math" charset="0"/>
                        </a:rPr>
                        <m:t>𝑡</m:t>
                      </m:r>
                      <m:r>
                        <a:rPr lang="en-US" i="1">
                          <a:latin typeface="Cambria Math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64" y="2667000"/>
                <a:ext cx="5735671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704164" y="3352800"/>
                <a:ext cx="5735671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64" y="3352800"/>
                <a:ext cx="5735671" cy="8487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208085" y="4655644"/>
                <a:ext cx="2829300" cy="5082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,</m:t>
                          </m:r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 </m:t>
                      </m:r>
                      <m:d>
                        <m:d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charset="0"/>
                            </a:rPr>
                            <m:t>−</m:t>
                          </m:r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085" y="4655644"/>
                <a:ext cx="2829300" cy="508216"/>
              </a:xfrm>
              <a:prstGeom prst="rect">
                <a:avLst/>
              </a:prstGeom>
              <a:blipFill rotWithShape="0">
                <a:blip r:embed="rId4"/>
                <a:stretch>
                  <a:fillRect t="-56627" b="-75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78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Bernstein Polynomials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2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Until now, we learned to draw a single curve segment</a:t>
            </a:r>
          </a:p>
          <a:p>
            <a:r>
              <a:rPr lang="en-US" dirty="0"/>
              <a:t>If we want to combine multiple curve segments, we must ensure maintaining continuity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2557462" y="3651899"/>
            <a:ext cx="2014538" cy="1431062"/>
          </a:xfrm>
          <a:custGeom>
            <a:avLst/>
            <a:gdLst>
              <a:gd name="connsiteX0" fmla="*/ 0 w 2014538"/>
              <a:gd name="connsiteY0" fmla="*/ 1033518 h 1431062"/>
              <a:gd name="connsiteX1" fmla="*/ 614363 w 2014538"/>
              <a:gd name="connsiteY1" fmla="*/ 4818 h 1431062"/>
              <a:gd name="connsiteX2" fmla="*/ 1357313 w 2014538"/>
              <a:gd name="connsiteY2" fmla="*/ 1404993 h 1431062"/>
              <a:gd name="connsiteX3" fmla="*/ 2014538 w 2014538"/>
              <a:gd name="connsiteY3" fmla="*/ 833493 h 1431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4538" h="1431062">
                <a:moveTo>
                  <a:pt x="0" y="1033518"/>
                </a:moveTo>
                <a:cubicBezTo>
                  <a:pt x="194072" y="488211"/>
                  <a:pt x="388144" y="-57095"/>
                  <a:pt x="614363" y="4818"/>
                </a:cubicBezTo>
                <a:cubicBezTo>
                  <a:pt x="840582" y="66730"/>
                  <a:pt x="1123951" y="1266881"/>
                  <a:pt x="1357313" y="1404993"/>
                </a:cubicBezTo>
                <a:cubicBezTo>
                  <a:pt x="1590676" y="1543106"/>
                  <a:pt x="1919288" y="1100193"/>
                  <a:pt x="2014538" y="8334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151334" y="5282047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Curve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2264" y="530958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Curve 2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F8556E5-97A9-8045-B85A-74A0AA61AB5B}"/>
              </a:ext>
            </a:extLst>
          </p:cNvPr>
          <p:cNvSpPr/>
          <p:nvPr/>
        </p:nvSpPr>
        <p:spPr>
          <a:xfrm>
            <a:off x="4562143" y="3372293"/>
            <a:ext cx="2414587" cy="2154218"/>
          </a:xfrm>
          <a:custGeom>
            <a:avLst/>
            <a:gdLst>
              <a:gd name="connsiteX0" fmla="*/ 0 w 2414587"/>
              <a:gd name="connsiteY0" fmla="*/ 1127831 h 2154218"/>
              <a:gd name="connsiteX1" fmla="*/ 871537 w 2414587"/>
              <a:gd name="connsiteY1" fmla="*/ 27693 h 2154218"/>
              <a:gd name="connsiteX2" fmla="*/ 1614487 w 2414587"/>
              <a:gd name="connsiteY2" fmla="*/ 2142243 h 2154218"/>
              <a:gd name="connsiteX3" fmla="*/ 2414587 w 2414587"/>
              <a:gd name="connsiteY3" fmla="*/ 942093 h 215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4587" h="2154218">
                <a:moveTo>
                  <a:pt x="0" y="1127831"/>
                </a:moveTo>
                <a:cubicBezTo>
                  <a:pt x="301228" y="493227"/>
                  <a:pt x="602456" y="-141376"/>
                  <a:pt x="871537" y="27693"/>
                </a:cubicBezTo>
                <a:cubicBezTo>
                  <a:pt x="1140618" y="196762"/>
                  <a:pt x="1357312" y="1989843"/>
                  <a:pt x="1614487" y="2142243"/>
                </a:cubicBezTo>
                <a:cubicBezTo>
                  <a:pt x="1871662" y="2294643"/>
                  <a:pt x="2414587" y="942093"/>
                  <a:pt x="2414587" y="9420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8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 continuity:</a:t>
            </a:r>
          </a:p>
          <a:p>
            <a:pPr lvl="1"/>
            <a:r>
              <a:rPr lang="en-US" dirty="0"/>
              <a:t>The curves do not meet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C0 continuity:</a:t>
            </a:r>
          </a:p>
          <a:p>
            <a:pPr lvl="1"/>
            <a:r>
              <a:rPr lang="en-US" dirty="0"/>
              <a:t>The end points meet, also know as positional continuity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29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2362200" y="2820099"/>
            <a:ext cx="2014538" cy="685101"/>
          </a:xfrm>
          <a:custGeom>
            <a:avLst/>
            <a:gdLst>
              <a:gd name="connsiteX0" fmla="*/ 0 w 2014538"/>
              <a:gd name="connsiteY0" fmla="*/ 1033518 h 1431062"/>
              <a:gd name="connsiteX1" fmla="*/ 614363 w 2014538"/>
              <a:gd name="connsiteY1" fmla="*/ 4818 h 1431062"/>
              <a:gd name="connsiteX2" fmla="*/ 1357313 w 2014538"/>
              <a:gd name="connsiteY2" fmla="*/ 1404993 h 1431062"/>
              <a:gd name="connsiteX3" fmla="*/ 2014538 w 2014538"/>
              <a:gd name="connsiteY3" fmla="*/ 833493 h 1431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4538" h="1431062">
                <a:moveTo>
                  <a:pt x="0" y="1033518"/>
                </a:moveTo>
                <a:cubicBezTo>
                  <a:pt x="194072" y="488211"/>
                  <a:pt x="388144" y="-57095"/>
                  <a:pt x="614363" y="4818"/>
                </a:cubicBezTo>
                <a:cubicBezTo>
                  <a:pt x="840582" y="66730"/>
                  <a:pt x="1123951" y="1266881"/>
                  <a:pt x="1357313" y="1404993"/>
                </a:cubicBezTo>
                <a:cubicBezTo>
                  <a:pt x="1590676" y="1543106"/>
                  <a:pt x="1919288" y="1100193"/>
                  <a:pt x="2014538" y="8334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4343400" y="2494681"/>
            <a:ext cx="2414587" cy="1010519"/>
          </a:xfrm>
          <a:custGeom>
            <a:avLst/>
            <a:gdLst>
              <a:gd name="connsiteX0" fmla="*/ 0 w 2414587"/>
              <a:gd name="connsiteY0" fmla="*/ 1127831 h 2154218"/>
              <a:gd name="connsiteX1" fmla="*/ 871537 w 2414587"/>
              <a:gd name="connsiteY1" fmla="*/ 27693 h 2154218"/>
              <a:gd name="connsiteX2" fmla="*/ 1614487 w 2414587"/>
              <a:gd name="connsiteY2" fmla="*/ 2142243 h 2154218"/>
              <a:gd name="connsiteX3" fmla="*/ 2414587 w 2414587"/>
              <a:gd name="connsiteY3" fmla="*/ 942093 h 2154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4587" h="2154218">
                <a:moveTo>
                  <a:pt x="0" y="1127831"/>
                </a:moveTo>
                <a:cubicBezTo>
                  <a:pt x="301228" y="493227"/>
                  <a:pt x="602456" y="-141376"/>
                  <a:pt x="871537" y="27693"/>
                </a:cubicBezTo>
                <a:cubicBezTo>
                  <a:pt x="1140618" y="196762"/>
                  <a:pt x="1357312" y="1989843"/>
                  <a:pt x="1614487" y="2142243"/>
                </a:cubicBezTo>
                <a:cubicBezTo>
                  <a:pt x="1871662" y="2294643"/>
                  <a:pt x="2414587" y="942093"/>
                  <a:pt x="2414587" y="9420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686049" y="5256351"/>
            <a:ext cx="2014538" cy="685101"/>
          </a:xfrm>
          <a:custGeom>
            <a:avLst/>
            <a:gdLst>
              <a:gd name="connsiteX0" fmla="*/ 0 w 2014538"/>
              <a:gd name="connsiteY0" fmla="*/ 1033518 h 1431062"/>
              <a:gd name="connsiteX1" fmla="*/ 614363 w 2014538"/>
              <a:gd name="connsiteY1" fmla="*/ 4818 h 1431062"/>
              <a:gd name="connsiteX2" fmla="*/ 1357313 w 2014538"/>
              <a:gd name="connsiteY2" fmla="*/ 1404993 h 1431062"/>
              <a:gd name="connsiteX3" fmla="*/ 2014538 w 2014538"/>
              <a:gd name="connsiteY3" fmla="*/ 833493 h 1431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4538" h="1431062">
                <a:moveTo>
                  <a:pt x="0" y="1033518"/>
                </a:moveTo>
                <a:cubicBezTo>
                  <a:pt x="194072" y="488211"/>
                  <a:pt x="388144" y="-57095"/>
                  <a:pt x="614363" y="4818"/>
                </a:cubicBezTo>
                <a:cubicBezTo>
                  <a:pt x="840582" y="66730"/>
                  <a:pt x="1123951" y="1266881"/>
                  <a:pt x="1357313" y="1404993"/>
                </a:cubicBezTo>
                <a:cubicBezTo>
                  <a:pt x="1590676" y="1543106"/>
                  <a:pt x="1919288" y="1100193"/>
                  <a:pt x="2014538" y="8334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4017886" y="4914445"/>
            <a:ext cx="1620914" cy="743405"/>
          </a:xfrm>
          <a:custGeom>
            <a:avLst/>
            <a:gdLst>
              <a:gd name="connsiteX0" fmla="*/ 677939 w 1620914"/>
              <a:gd name="connsiteY0" fmla="*/ 743405 h 743405"/>
              <a:gd name="connsiteX1" fmla="*/ 35001 w 1620914"/>
              <a:gd name="connsiteY1" fmla="*/ 414792 h 743405"/>
              <a:gd name="connsiteX2" fmla="*/ 1620914 w 1620914"/>
              <a:gd name="connsiteY2" fmla="*/ 14742 h 74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0914" h="743405">
                <a:moveTo>
                  <a:pt x="677939" y="743405"/>
                </a:moveTo>
                <a:cubicBezTo>
                  <a:pt x="277889" y="639820"/>
                  <a:pt x="-122161" y="536236"/>
                  <a:pt x="35001" y="414792"/>
                </a:cubicBezTo>
                <a:cubicBezTo>
                  <a:pt x="192163" y="293348"/>
                  <a:pt x="1228008" y="-78127"/>
                  <a:pt x="1620914" y="147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605337" y="5619418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36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C1 continuity:</a:t>
            </a:r>
          </a:p>
          <a:p>
            <a:pPr lvl="1"/>
            <a:r>
              <a:rPr lang="en-US" dirty="0"/>
              <a:t>The curves meet and have identical tangent vectors at the connection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C2 continuity:</a:t>
            </a:r>
          </a:p>
          <a:p>
            <a:pPr lvl="1"/>
            <a:r>
              <a:rPr lang="en-US" dirty="0"/>
              <a:t>The curves meet and have identical </a:t>
            </a:r>
            <a:r>
              <a:rPr lang="en-US" dirty="0">
                <a:solidFill>
                  <a:schemeClr val="accent1"/>
                </a:solidFill>
              </a:rPr>
              <a:t>curvature</a:t>
            </a:r>
            <a:r>
              <a:rPr lang="en-US" dirty="0"/>
              <a:t> at the connection</a:t>
            </a:r>
          </a:p>
          <a:p>
            <a:pPr lvl="1"/>
            <a:r>
              <a:rPr lang="en-US" dirty="0"/>
              <a:t>The curvature is defined as the rate of change of tangents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30</a:t>
            </a:fld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743200" y="2667000"/>
            <a:ext cx="3676650" cy="1238955"/>
          </a:xfrm>
          <a:custGeom>
            <a:avLst/>
            <a:gdLst>
              <a:gd name="connsiteX0" fmla="*/ 0 w 3600450"/>
              <a:gd name="connsiteY0" fmla="*/ 733016 h 1238955"/>
              <a:gd name="connsiteX1" fmla="*/ 728663 w 3600450"/>
              <a:gd name="connsiteY1" fmla="*/ 4353 h 1238955"/>
              <a:gd name="connsiteX2" fmla="*/ 1643063 w 3600450"/>
              <a:gd name="connsiteY2" fmla="*/ 1033053 h 1238955"/>
              <a:gd name="connsiteX3" fmla="*/ 2228850 w 3600450"/>
              <a:gd name="connsiteY3" fmla="*/ 475841 h 1238955"/>
              <a:gd name="connsiteX4" fmla="*/ 3028950 w 3600450"/>
              <a:gd name="connsiteY4" fmla="*/ 1233078 h 1238955"/>
              <a:gd name="connsiteX5" fmla="*/ 3600450 w 3600450"/>
              <a:gd name="connsiteY5" fmla="*/ 847316 h 1238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0450" h="1238955">
                <a:moveTo>
                  <a:pt x="0" y="733016"/>
                </a:moveTo>
                <a:cubicBezTo>
                  <a:pt x="227409" y="343681"/>
                  <a:pt x="454819" y="-45653"/>
                  <a:pt x="728663" y="4353"/>
                </a:cubicBezTo>
                <a:cubicBezTo>
                  <a:pt x="1002507" y="54359"/>
                  <a:pt x="1393032" y="954472"/>
                  <a:pt x="1643063" y="1033053"/>
                </a:cubicBezTo>
                <a:cubicBezTo>
                  <a:pt x="1893094" y="1111634"/>
                  <a:pt x="1997869" y="442503"/>
                  <a:pt x="2228850" y="475841"/>
                </a:cubicBezTo>
                <a:cubicBezTo>
                  <a:pt x="2459831" y="509178"/>
                  <a:pt x="2800350" y="1171165"/>
                  <a:pt x="3028950" y="1233078"/>
                </a:cubicBezTo>
                <a:cubicBezTo>
                  <a:pt x="3257550" y="1294991"/>
                  <a:pt x="3600450" y="847316"/>
                  <a:pt x="3600450" y="84731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752976" y="3248024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752600" y="5256924"/>
            <a:ext cx="6400800" cy="915276"/>
          </a:xfrm>
          <a:custGeom>
            <a:avLst/>
            <a:gdLst>
              <a:gd name="connsiteX0" fmla="*/ 0 w 6400800"/>
              <a:gd name="connsiteY0" fmla="*/ 729538 h 915276"/>
              <a:gd name="connsiteX1" fmla="*/ 1357312 w 6400800"/>
              <a:gd name="connsiteY1" fmla="*/ 876 h 915276"/>
              <a:gd name="connsiteX2" fmla="*/ 2828925 w 6400800"/>
              <a:gd name="connsiteY2" fmla="*/ 858126 h 915276"/>
              <a:gd name="connsiteX3" fmla="*/ 4343400 w 6400800"/>
              <a:gd name="connsiteY3" fmla="*/ 172326 h 915276"/>
              <a:gd name="connsiteX4" fmla="*/ 6400800 w 6400800"/>
              <a:gd name="connsiteY4" fmla="*/ 915276 h 915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915276">
                <a:moveTo>
                  <a:pt x="0" y="729538"/>
                </a:moveTo>
                <a:cubicBezTo>
                  <a:pt x="442912" y="354491"/>
                  <a:pt x="885825" y="-20555"/>
                  <a:pt x="1357312" y="876"/>
                </a:cubicBezTo>
                <a:cubicBezTo>
                  <a:pt x="1828799" y="22307"/>
                  <a:pt x="2331244" y="829551"/>
                  <a:pt x="2828925" y="858126"/>
                </a:cubicBezTo>
                <a:cubicBezTo>
                  <a:pt x="3326606" y="886701"/>
                  <a:pt x="3748088" y="162801"/>
                  <a:pt x="4343400" y="172326"/>
                </a:cubicBezTo>
                <a:cubicBezTo>
                  <a:pt x="4938712" y="181851"/>
                  <a:pt x="6400800" y="915276"/>
                  <a:pt x="6400800" y="91527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224130" y="5743242"/>
            <a:ext cx="109870" cy="1098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64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/>
              <a:t>Imagine a camera moving along a curve with multiple segments</a:t>
            </a:r>
          </a:p>
          <a:p>
            <a:pPr lvl="1"/>
            <a:r>
              <a:rPr lang="en-US" b="1" dirty="0"/>
              <a:t>No continuity: </a:t>
            </a:r>
            <a:r>
              <a:rPr lang="en-US" dirty="0"/>
              <a:t>camera will make </a:t>
            </a:r>
            <a:r>
              <a:rPr lang="en-US" dirty="0">
                <a:solidFill>
                  <a:schemeClr val="accent1"/>
                </a:solidFill>
              </a:rPr>
              <a:t>jumps</a:t>
            </a:r>
            <a:r>
              <a:rPr lang="en-US" dirty="0"/>
              <a:t> between segments</a:t>
            </a:r>
            <a:endParaRPr lang="en-US" b="1" dirty="0"/>
          </a:p>
          <a:p>
            <a:pPr lvl="1"/>
            <a:r>
              <a:rPr lang="en-US" b="1" dirty="0"/>
              <a:t>C0 continuity: </a:t>
            </a:r>
            <a:r>
              <a:rPr lang="en-US" dirty="0"/>
              <a:t>camera </a:t>
            </a:r>
            <a:r>
              <a:rPr lang="en-US" dirty="0">
                <a:solidFill>
                  <a:schemeClr val="accent1"/>
                </a:solidFill>
              </a:rPr>
              <a:t>velocity</a:t>
            </a:r>
            <a:r>
              <a:rPr lang="en-US" dirty="0"/>
              <a:t> may suddenly change</a:t>
            </a:r>
          </a:p>
          <a:p>
            <a:pPr lvl="1"/>
            <a:r>
              <a:rPr lang="en-US" b="1" dirty="0"/>
              <a:t>C1 continuity: </a:t>
            </a:r>
            <a:r>
              <a:rPr lang="en-US" dirty="0"/>
              <a:t>camera </a:t>
            </a:r>
            <a:r>
              <a:rPr lang="en-US" dirty="0">
                <a:solidFill>
                  <a:schemeClr val="accent1"/>
                </a:solidFill>
              </a:rPr>
              <a:t>acceleration</a:t>
            </a:r>
            <a:r>
              <a:rPr lang="en-US" dirty="0"/>
              <a:t> may suddenly change</a:t>
            </a:r>
          </a:p>
          <a:p>
            <a:pPr lvl="1"/>
            <a:r>
              <a:rPr lang="en-US" b="1" dirty="0"/>
              <a:t>C2 continuity:</a:t>
            </a:r>
            <a:r>
              <a:rPr lang="en-US" dirty="0"/>
              <a:t> camera motion will appear smooth</a:t>
            </a:r>
          </a:p>
          <a:p>
            <a:r>
              <a:rPr lang="en-US" dirty="0"/>
              <a:t>In general, maintaining C2 continuity is desired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37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Continuity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Imagine having two </a:t>
                </a:r>
                <a:r>
                  <a:rPr lang="en-US" dirty="0" err="1"/>
                  <a:t>Hermite</a:t>
                </a:r>
                <a:r>
                  <a:rPr lang="en-US" dirty="0"/>
                  <a:t> curves: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C1 continuity can be maintained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69168" y="2667000"/>
                <a:ext cx="1018227" cy="10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168" y="2667000"/>
                <a:ext cx="1018227" cy="10584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97481" y="2671762"/>
                <a:ext cx="1046119" cy="1062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481" y="2671762"/>
                <a:ext cx="1046119" cy="10621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770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Continuity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 for two Bezier curves: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C1 is ensured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69168" y="2667000"/>
                <a:ext cx="1018227" cy="10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168" y="2667000"/>
                <a:ext cx="1018227" cy="10584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97481" y="2671762"/>
                <a:ext cx="1046119" cy="1062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481" y="2671762"/>
                <a:ext cx="1046119" cy="10621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599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want to maintain C2 continuity?</a:t>
            </a:r>
          </a:p>
          <a:p>
            <a:r>
              <a:rPr lang="en-US" dirty="0"/>
              <a:t>Unfortunately, neither </a:t>
            </a:r>
            <a:r>
              <a:rPr lang="en-US" dirty="0" err="1"/>
              <a:t>Hermite</a:t>
            </a:r>
            <a:r>
              <a:rPr lang="en-US" dirty="0"/>
              <a:t> nor Bezier curves can guarantee C2 continuity</a:t>
            </a:r>
          </a:p>
          <a:p>
            <a:r>
              <a:rPr lang="en-US" dirty="0"/>
              <a:t>For this we have a new type of curve called splines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73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dirty="0">
                <a:solidFill>
                  <a:schemeClr val="accent1"/>
                </a:solidFill>
              </a:rPr>
              <a:t>spline</a:t>
            </a:r>
            <a:r>
              <a:rPr lang="en-US" dirty="0"/>
              <a:t> was used to refer to flexible metal strips used by draftspersons to design the surfaces of airplanes, cars, and ships, etc.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971800"/>
            <a:ext cx="4114800" cy="309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6002852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core77.com</a:t>
            </a:r>
          </a:p>
        </p:txBody>
      </p:sp>
    </p:spTree>
    <p:extLst>
      <p:ext uri="{BB962C8B-B14F-4D97-AF65-F5344CB8AC3E}">
        <p14:creationId xmlns:p14="http://schemas.microsoft.com/office/powerpoint/2010/main" val="1322287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1642"/>
          </a:xfrm>
        </p:spPr>
        <p:txBody>
          <a:bodyPr>
            <a:normAutofit/>
          </a:bodyPr>
          <a:lstStyle/>
          <a:p>
            <a:r>
              <a:rPr lang="en-US" dirty="0"/>
              <a:t>The splines, due to physical properties of the metal strips, had second order (C2) continuity</a:t>
            </a:r>
          </a:p>
          <a:p>
            <a:r>
              <a:rPr lang="en-US" dirty="0"/>
              <a:t>Its mathematical equivalent is </a:t>
            </a:r>
            <a:r>
              <a:rPr lang="en-US" dirty="0">
                <a:solidFill>
                  <a:schemeClr val="accent1"/>
                </a:solidFill>
              </a:rPr>
              <a:t>natural cubic splines</a:t>
            </a:r>
          </a:p>
          <a:p>
            <a:r>
              <a:rPr lang="en-US" dirty="0"/>
              <a:t>Splines have one more degree of continuity than that is afforded by </a:t>
            </a:r>
            <a:r>
              <a:rPr lang="en-US" dirty="0" err="1"/>
              <a:t>Hermite</a:t>
            </a:r>
            <a:r>
              <a:rPr lang="en-US" dirty="0"/>
              <a:t> and Bezier curves</a:t>
            </a:r>
          </a:p>
          <a:p>
            <a:r>
              <a:rPr lang="en-US" dirty="0"/>
              <a:t>There are other types of splines:</a:t>
            </a:r>
          </a:p>
          <a:p>
            <a:pPr lvl="1"/>
            <a:r>
              <a:rPr lang="en-US" dirty="0"/>
              <a:t>B-Splines</a:t>
            </a:r>
          </a:p>
          <a:p>
            <a:pPr lvl="1"/>
            <a:r>
              <a:rPr lang="en-US" dirty="0"/>
              <a:t>Uniform </a:t>
            </a:r>
            <a:r>
              <a:rPr lang="en-US" dirty="0" err="1"/>
              <a:t>Nonrational</a:t>
            </a:r>
            <a:r>
              <a:rPr lang="en-US" dirty="0"/>
              <a:t> B-Splines</a:t>
            </a:r>
          </a:p>
          <a:p>
            <a:pPr lvl="1"/>
            <a:r>
              <a:rPr lang="en-US" dirty="0" err="1"/>
              <a:t>Nonuniform</a:t>
            </a:r>
            <a:r>
              <a:rPr lang="en-US" dirty="0"/>
              <a:t> </a:t>
            </a:r>
            <a:r>
              <a:rPr lang="en-US" dirty="0" err="1"/>
              <a:t>Nonrational</a:t>
            </a:r>
            <a:r>
              <a:rPr lang="en-US" dirty="0"/>
              <a:t> B-Splines</a:t>
            </a:r>
          </a:p>
          <a:p>
            <a:pPr lvl="1"/>
            <a:r>
              <a:rPr lang="en-US" dirty="0" err="1"/>
              <a:t>Nonuniform</a:t>
            </a:r>
            <a:r>
              <a:rPr lang="en-US" dirty="0"/>
              <a:t> Rational B-Splines</a:t>
            </a:r>
          </a:p>
          <a:p>
            <a:pPr lvl="1"/>
            <a:r>
              <a:rPr lang="en-US" dirty="0"/>
              <a:t>Beta-Splines</a:t>
            </a:r>
          </a:p>
          <a:p>
            <a:pPr lvl="1"/>
            <a:r>
              <a:rPr lang="en-US" dirty="0"/>
              <a:t>V-Splines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2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Cubic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 by </a:t>
            </a:r>
            <a:r>
              <a:rPr lang="en-US" i="1" dirty="0"/>
              <a:t>n+1</a:t>
            </a:r>
            <a:r>
              <a:rPr lang="en-US" dirty="0"/>
              <a:t> control points</a:t>
            </a:r>
          </a:p>
          <a:p>
            <a:r>
              <a:rPr lang="en-US" dirty="0"/>
              <a:t>The spline, consisting of </a:t>
            </a:r>
            <a:r>
              <a:rPr lang="en-US" i="1" dirty="0"/>
              <a:t>n</a:t>
            </a:r>
            <a:r>
              <a:rPr lang="en-US" dirty="0"/>
              <a:t> curves, interpolates all of these points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37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971550" y="3613721"/>
            <a:ext cx="4186238" cy="1410285"/>
          </a:xfrm>
          <a:custGeom>
            <a:avLst/>
            <a:gdLst>
              <a:gd name="connsiteX0" fmla="*/ 0 w 4186238"/>
              <a:gd name="connsiteY0" fmla="*/ 986854 h 1410285"/>
              <a:gd name="connsiteX1" fmla="*/ 514350 w 4186238"/>
              <a:gd name="connsiteY1" fmla="*/ 101029 h 1410285"/>
              <a:gd name="connsiteX2" fmla="*/ 1243013 w 4186238"/>
              <a:gd name="connsiteY2" fmla="*/ 1158304 h 1410285"/>
              <a:gd name="connsiteX3" fmla="*/ 2343150 w 4186238"/>
              <a:gd name="connsiteY3" fmla="*/ 1017 h 1410285"/>
              <a:gd name="connsiteX4" fmla="*/ 3286125 w 4186238"/>
              <a:gd name="connsiteY4" fmla="*/ 1401192 h 1410285"/>
              <a:gd name="connsiteX5" fmla="*/ 4186238 w 4186238"/>
              <a:gd name="connsiteY5" fmla="*/ 601092 h 1410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86238" h="1410285">
                <a:moveTo>
                  <a:pt x="0" y="986854"/>
                </a:moveTo>
                <a:cubicBezTo>
                  <a:pt x="153590" y="529654"/>
                  <a:pt x="307181" y="72454"/>
                  <a:pt x="514350" y="101029"/>
                </a:cubicBezTo>
                <a:cubicBezTo>
                  <a:pt x="721519" y="129604"/>
                  <a:pt x="938213" y="1174973"/>
                  <a:pt x="1243013" y="1158304"/>
                </a:cubicBezTo>
                <a:cubicBezTo>
                  <a:pt x="1547813" y="1141635"/>
                  <a:pt x="2002631" y="-39464"/>
                  <a:pt x="2343150" y="1017"/>
                </a:cubicBezTo>
                <a:cubicBezTo>
                  <a:pt x="2683669" y="41498"/>
                  <a:pt x="2978944" y="1301180"/>
                  <a:pt x="3286125" y="1401192"/>
                </a:cubicBezTo>
                <a:cubicBezTo>
                  <a:pt x="3593306" y="1501204"/>
                  <a:pt x="4024313" y="746348"/>
                  <a:pt x="4186238" y="60109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410200" y="4267200"/>
            <a:ext cx="152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7286625" y="3614513"/>
            <a:ext cx="842963" cy="1829025"/>
          </a:xfrm>
          <a:custGeom>
            <a:avLst/>
            <a:gdLst>
              <a:gd name="connsiteX0" fmla="*/ 0 w 842963"/>
              <a:gd name="connsiteY0" fmla="*/ 728887 h 1829025"/>
              <a:gd name="connsiteX1" fmla="*/ 371475 w 842963"/>
              <a:gd name="connsiteY1" fmla="*/ 43087 h 1829025"/>
              <a:gd name="connsiteX2" fmla="*/ 842963 w 842963"/>
              <a:gd name="connsiteY2" fmla="*/ 1829025 h 1829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2963" h="1829025">
                <a:moveTo>
                  <a:pt x="0" y="728887"/>
                </a:moveTo>
                <a:cubicBezTo>
                  <a:pt x="115490" y="294309"/>
                  <a:pt x="230981" y="-140269"/>
                  <a:pt x="371475" y="43087"/>
                </a:cubicBezTo>
                <a:cubicBezTo>
                  <a:pt x="511969" y="226443"/>
                  <a:pt x="842963" y="1829025"/>
                  <a:pt x="842963" y="18290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95352" y="4491039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76400" y="4038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667000" y="4114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657600" y="4114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043488" y="4176712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191376" y="4267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029576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5814" y="4747007"/>
                <a:ext cx="282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14" y="4747007"/>
                <a:ext cx="282898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7391" r="-8696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813087" y="3750677"/>
                <a:ext cx="282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087" y="3750677"/>
                <a:ext cx="282898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7021" r="-638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88902" y="4295001"/>
                <a:ext cx="282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902" y="4295001"/>
                <a:ext cx="28289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7021" r="-851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914001"/>
                <a:ext cx="282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914001"/>
                <a:ext cx="282898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7391" r="-8696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051102" y="3810000"/>
                <a:ext cx="282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102" y="3810000"/>
                <a:ext cx="28289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5217" r="-65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032302" y="4523601"/>
                <a:ext cx="516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302" y="4523601"/>
                <a:ext cx="516616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9524" r="-476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017784" y="5590401"/>
                <a:ext cx="2767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84" y="5590401"/>
                <a:ext cx="276742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7391" r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64693" y="3494610"/>
                <a:ext cx="5661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93" y="3494610"/>
                <a:ext cx="566117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8602" r="-1397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24683" y="4800600"/>
                <a:ext cx="5661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683" y="4800600"/>
                <a:ext cx="566117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8602" t="-2222" r="-13978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91483" y="3200400"/>
                <a:ext cx="5661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483" y="3200400"/>
                <a:ext cx="566117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8602" r="-139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038600" y="5133201"/>
                <a:ext cx="5661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133201"/>
                <a:ext cx="566117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9783" r="-1413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968283" y="4191000"/>
                <a:ext cx="799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283" y="4191000"/>
                <a:ext cx="799834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6107" t="-2222" r="-992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6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Cubic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spline is defined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curve is a cubic polynomial: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95600" y="2362200"/>
                <a:ext cx="3322320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362200"/>
                <a:ext cx="3322320" cy="12485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10643" y="4591455"/>
                <a:ext cx="31227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643" y="4591455"/>
                <a:ext cx="3122713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367" t="-2174" r="-195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91000" y="5020211"/>
                <a:ext cx="1298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020211"/>
                <a:ext cx="12984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095" r="-3809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11108" y="5448967"/>
                <a:ext cx="42913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08" y="5448967"/>
                <a:ext cx="4291303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853" t="-2222" r="-14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934200" y="4729954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a total</a:t>
            </a:r>
          </a:p>
          <a:p>
            <a:r>
              <a:rPr lang="en-US" dirty="0"/>
              <a:t>of </a:t>
            </a:r>
            <a:r>
              <a:rPr lang="en-US" i="1" dirty="0"/>
              <a:t>4n</a:t>
            </a:r>
            <a:r>
              <a:rPr lang="en-US" dirty="0"/>
              <a:t> unknowns!</a:t>
            </a:r>
          </a:p>
        </p:txBody>
      </p:sp>
    </p:spTree>
    <p:extLst>
      <p:ext uri="{BB962C8B-B14F-4D97-AF65-F5344CB8AC3E}">
        <p14:creationId xmlns:p14="http://schemas.microsoft.com/office/powerpoint/2010/main" val="125738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Cubic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end points of the curves must meet (C0 cont.) and their first two derivatives must be equal (C1 and C2):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gives us </a:t>
            </a:r>
            <a:r>
              <a:rPr lang="en-US" i="1" dirty="0"/>
              <a:t>3n – 3 </a:t>
            </a:r>
            <a:r>
              <a:rPr lang="en-US" dirty="0"/>
              <a:t>equations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94127" y="2756713"/>
                <a:ext cx="17216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127" y="2756713"/>
                <a:ext cx="1721690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07" r="-247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92542" y="3109912"/>
                <a:ext cx="1737847" cy="277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542" y="3109912"/>
                <a:ext cx="1737847" cy="277255"/>
              </a:xfrm>
              <a:prstGeom prst="rect">
                <a:avLst/>
              </a:prstGeom>
              <a:blipFill rotWithShape="0">
                <a:blip r:embed="rId3"/>
                <a:stretch>
                  <a:fillRect l="-702" r="-280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78254" y="3518713"/>
                <a:ext cx="1735988" cy="277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charset="0"/>
                            </a:rPr>
                            <m:t>′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54" y="3518713"/>
                <a:ext cx="1735988" cy="277255"/>
              </a:xfrm>
              <a:prstGeom prst="rect">
                <a:avLst/>
              </a:prstGeom>
              <a:blipFill rotWithShape="0">
                <a:blip r:embed="rId4"/>
                <a:stretch>
                  <a:fillRect l="-2807" r="-4561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>
            <a:off x="5539098" y="2821190"/>
            <a:ext cx="252102" cy="983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19993" y="3174375"/>
                <a:ext cx="13658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993" y="3174375"/>
                <a:ext cx="1365823" cy="276999"/>
              </a:xfrm>
              <a:prstGeom prst="rect">
                <a:avLst/>
              </a:prstGeom>
              <a:blipFill>
                <a:blip r:embed="rId5"/>
                <a:stretch>
                  <a:fillRect l="-3571" r="-3571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17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Cubic 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also know the values of the spline at the control points: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gives us another </a:t>
                </a:r>
                <a:r>
                  <a:rPr lang="en-US" i="1" dirty="0"/>
                  <a:t>n+1</a:t>
                </a:r>
                <a:r>
                  <a:rPr lang="en-US" dirty="0"/>
                  <a:t> equations</a:t>
                </a:r>
              </a:p>
              <a:p>
                <a:r>
                  <a:rPr lang="en-US" dirty="0"/>
                  <a:t>We still need two more …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gives us </a:t>
                </a:r>
                <a:r>
                  <a:rPr lang="en-US" dirty="0">
                    <a:solidFill>
                      <a:schemeClr val="accent1"/>
                    </a:solidFill>
                  </a:rPr>
                  <a:t>natural cubic splines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27107" y="2438400"/>
                <a:ext cx="11378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107" y="2438400"/>
                <a:ext cx="113787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4301" t="-144444" b="-18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62600" y="2438400"/>
                <a:ext cx="9554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438400"/>
                <a:ext cx="955453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5128" r="-256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586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call the second derivatives at control points as: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natural cubic spline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[0 0 0]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look like?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18140" y="2438400"/>
                <a:ext cx="1180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140" y="2438400"/>
                <a:ext cx="1180003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608" r="-6701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eform 28"/>
          <p:cNvSpPr/>
          <p:nvPr/>
        </p:nvSpPr>
        <p:spPr>
          <a:xfrm>
            <a:off x="457200" y="4461351"/>
            <a:ext cx="2560320" cy="1215101"/>
          </a:xfrm>
          <a:custGeom>
            <a:avLst/>
            <a:gdLst>
              <a:gd name="connsiteX0" fmla="*/ 0 w 2560320"/>
              <a:gd name="connsiteY0" fmla="*/ 968956 h 1215101"/>
              <a:gd name="connsiteX1" fmla="*/ 687977 w 2560320"/>
              <a:gd name="connsiteY1" fmla="*/ 2304 h 1215101"/>
              <a:gd name="connsiteX2" fmla="*/ 1785257 w 2560320"/>
              <a:gd name="connsiteY2" fmla="*/ 1212796 h 1215101"/>
              <a:gd name="connsiteX3" fmla="*/ 2560320 w 2560320"/>
              <a:gd name="connsiteY3" fmla="*/ 307104 h 1215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20" h="1215101">
                <a:moveTo>
                  <a:pt x="0" y="968956"/>
                </a:moveTo>
                <a:cubicBezTo>
                  <a:pt x="195217" y="465310"/>
                  <a:pt x="390434" y="-38336"/>
                  <a:pt x="687977" y="2304"/>
                </a:cubicBezTo>
                <a:cubicBezTo>
                  <a:pt x="985520" y="42944"/>
                  <a:pt x="1473200" y="1161996"/>
                  <a:pt x="1785257" y="1212796"/>
                </a:cubicBezTo>
                <a:cubicBezTo>
                  <a:pt x="2097314" y="1263596"/>
                  <a:pt x="2467429" y="459504"/>
                  <a:pt x="2560320" y="30710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3870960" y="4479281"/>
            <a:ext cx="2124891" cy="1384684"/>
          </a:xfrm>
          <a:custGeom>
            <a:avLst/>
            <a:gdLst>
              <a:gd name="connsiteX0" fmla="*/ 0 w 2124891"/>
              <a:gd name="connsiteY0" fmla="*/ 0 h 1384684"/>
              <a:gd name="connsiteX1" fmla="*/ 1071154 w 2124891"/>
              <a:gd name="connsiteY1" fmla="*/ 1384663 h 1384684"/>
              <a:gd name="connsiteX2" fmla="*/ 2124891 w 2124891"/>
              <a:gd name="connsiteY2" fmla="*/ 34834 h 138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4891" h="1384684">
                <a:moveTo>
                  <a:pt x="0" y="0"/>
                </a:moveTo>
                <a:cubicBezTo>
                  <a:pt x="358503" y="689428"/>
                  <a:pt x="717006" y="1378857"/>
                  <a:pt x="1071154" y="1384663"/>
                </a:cubicBezTo>
                <a:cubicBezTo>
                  <a:pt x="1425302" y="1390469"/>
                  <a:pt x="1963782" y="245291"/>
                  <a:pt x="2124891" y="3483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6897189" y="4450080"/>
            <a:ext cx="1375954" cy="1375954"/>
          </a:xfrm>
          <a:custGeom>
            <a:avLst/>
            <a:gdLst>
              <a:gd name="connsiteX0" fmla="*/ 0 w 1375954"/>
              <a:gd name="connsiteY0" fmla="*/ 1375954 h 1375954"/>
              <a:gd name="connsiteX1" fmla="*/ 1375954 w 1375954"/>
              <a:gd name="connsiteY1" fmla="*/ 0 h 1375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75954" h="1375954">
                <a:moveTo>
                  <a:pt x="0" y="1375954"/>
                </a:moveTo>
                <a:lnTo>
                  <a:pt x="1375954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634704" y="5914671"/>
                <a:ext cx="7192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704" y="5914671"/>
                <a:ext cx="719299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7418074" y="5957047"/>
                <a:ext cx="7786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074" y="5957047"/>
                <a:ext cx="778611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180011" y="5863965"/>
                <a:ext cx="6644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011" y="5863965"/>
                <a:ext cx="66447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2" grpId="0" animBg="1"/>
      <p:bldP spid="33" grpId="0"/>
      <p:bldP spid="34" grpId="0"/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/>
          <p:cNvCxnSpPr/>
          <p:nvPr/>
        </p:nvCxnSpPr>
        <p:spPr>
          <a:xfrm>
            <a:off x="2608764" y="4364860"/>
            <a:ext cx="0" cy="116508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be piecewise-linear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42</a:t>
            </a:fld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1045029" y="3100251"/>
            <a:ext cx="2856411" cy="1245326"/>
          </a:xfrm>
          <a:custGeom>
            <a:avLst/>
            <a:gdLst>
              <a:gd name="connsiteX0" fmla="*/ 0 w 2856411"/>
              <a:gd name="connsiteY0" fmla="*/ 827315 h 1245326"/>
              <a:gd name="connsiteX1" fmla="*/ 653142 w 2856411"/>
              <a:gd name="connsiteY1" fmla="*/ 95795 h 1245326"/>
              <a:gd name="connsiteX2" fmla="*/ 1567542 w 2856411"/>
              <a:gd name="connsiteY2" fmla="*/ 1245326 h 1245326"/>
              <a:gd name="connsiteX3" fmla="*/ 2377440 w 2856411"/>
              <a:gd name="connsiteY3" fmla="*/ 0 h 1245326"/>
              <a:gd name="connsiteX4" fmla="*/ 2856411 w 2856411"/>
              <a:gd name="connsiteY4" fmla="*/ 653143 h 124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6411" h="1245326">
                <a:moveTo>
                  <a:pt x="0" y="827315"/>
                </a:moveTo>
                <a:lnTo>
                  <a:pt x="653142" y="95795"/>
                </a:lnTo>
                <a:lnTo>
                  <a:pt x="1567542" y="1245326"/>
                </a:lnTo>
                <a:lnTo>
                  <a:pt x="2377440" y="0"/>
                </a:lnTo>
                <a:lnTo>
                  <a:pt x="2856411" y="65314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6324600" y="3863370"/>
            <a:ext cx="1123405" cy="194824"/>
          </a:xfrm>
          <a:custGeom>
            <a:avLst/>
            <a:gdLst>
              <a:gd name="connsiteX0" fmla="*/ 0 w 1123405"/>
              <a:gd name="connsiteY0" fmla="*/ 670560 h 670560"/>
              <a:gd name="connsiteX1" fmla="*/ 1123405 w 1123405"/>
              <a:gd name="connsiteY1" fmla="*/ 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3405" h="670560">
                <a:moveTo>
                  <a:pt x="0" y="670560"/>
                </a:moveTo>
                <a:lnTo>
                  <a:pt x="112340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4251963" y="4058194"/>
            <a:ext cx="152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93129" y="3586182"/>
                <a:ext cx="8526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𝟎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29" y="3586182"/>
                <a:ext cx="85260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5714" t="-2174" r="-214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497248" y="4442329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248" y="4442329"/>
                <a:ext cx="29456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6667" r="-833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77211" y="2708270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211" y="2708270"/>
                <a:ext cx="294568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6667" r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998931" y="3525224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931" y="3525224"/>
                <a:ext cx="29456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6667" r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129334" y="4128822"/>
                <a:ext cx="528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334" y="4128822"/>
                <a:ext cx="528285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9195" r="-459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57914" y="3515582"/>
                <a:ext cx="866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charset="0"/>
                            </a:rPr>
                            <m:t>𝟎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914" y="3515582"/>
                <a:ext cx="866712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5594" t="-2222" r="-139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1076054" y="5562600"/>
            <a:ext cx="645087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09297" y="5588066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97" y="5588066"/>
                <a:ext cx="259430" cy="276999"/>
              </a:xfrm>
              <a:prstGeom prst="rect">
                <a:avLst/>
              </a:prstGeom>
              <a:blipFill>
                <a:blip r:embed="rId9"/>
                <a:stretch>
                  <a:fillRect l="-16279" r="-465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532564" y="5570900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64" y="5570900"/>
                <a:ext cx="259430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6279" r="-465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365145" y="5581941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145" y="5581941"/>
                <a:ext cx="259430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6279" r="-465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869216" y="5570900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16" y="5570900"/>
                <a:ext cx="25943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16667" r="-476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282517" y="5584804"/>
                <a:ext cx="493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517" y="5584804"/>
                <a:ext cx="493148" cy="276999"/>
              </a:xfrm>
              <a:prstGeom prst="rect">
                <a:avLst/>
              </a:prstGeom>
              <a:blipFill>
                <a:blip r:embed="rId13"/>
                <a:stretch>
                  <a:fillRect l="-8750" r="-37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392829" y="5583712"/>
                <a:ext cx="273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29" y="5583712"/>
                <a:ext cx="273536" cy="276999"/>
              </a:xfrm>
              <a:prstGeom prst="rect">
                <a:avLst/>
              </a:prstGeom>
              <a:blipFill>
                <a:blip r:embed="rId14"/>
                <a:stretch>
                  <a:fillRect l="-1777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1076054" y="3994652"/>
            <a:ext cx="0" cy="150916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418660" y="3092022"/>
            <a:ext cx="0" cy="241179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897632" y="3802223"/>
            <a:ext cx="0" cy="172772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336032" y="4072775"/>
            <a:ext cx="0" cy="145717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6" idx="4"/>
          </p:cNvCxnSpPr>
          <p:nvPr/>
        </p:nvCxnSpPr>
        <p:spPr>
          <a:xfrm flipH="1">
            <a:off x="7448005" y="3944982"/>
            <a:ext cx="2724" cy="161761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99854" y="3846605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532564" y="4273324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342460" y="3010582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821432" y="3663724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259832" y="3977234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374529" y="3792582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356083" y="2590800"/>
                <a:ext cx="3492686" cy="547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083" y="2590800"/>
                <a:ext cx="3492686" cy="547201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/>
          <p:cNvSpPr/>
          <p:nvPr/>
        </p:nvSpPr>
        <p:spPr>
          <a:xfrm>
            <a:off x="1610833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524000" y="2819400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819400"/>
                <a:ext cx="294568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6667" r="-625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600200" y="5590401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590401"/>
                <a:ext cx="259430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4286" r="-476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/>
          <p:cNvCxnSpPr/>
          <p:nvPr/>
        </p:nvCxnSpPr>
        <p:spPr>
          <a:xfrm flipH="1">
            <a:off x="1671284" y="3244422"/>
            <a:ext cx="5116" cy="22927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5402" y="6059269"/>
            <a:ext cx="8317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derivation is largely inspired from Arne Morten </a:t>
            </a:r>
            <a:r>
              <a:rPr lang="en-US" dirty="0" err="1"/>
              <a:t>Kvarving’s</a:t>
            </a:r>
            <a:r>
              <a:rPr lang="en-US" dirty="0"/>
              <a:t> slides on cubic splines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17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/>
          <p:cNvCxnSpPr/>
          <p:nvPr/>
        </p:nvCxnSpPr>
        <p:spPr>
          <a:xfrm>
            <a:off x="2608764" y="4364860"/>
            <a:ext cx="0" cy="116508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be piecewise-linear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43</a:t>
            </a:fld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1045029" y="3100251"/>
            <a:ext cx="2856411" cy="1245326"/>
          </a:xfrm>
          <a:custGeom>
            <a:avLst/>
            <a:gdLst>
              <a:gd name="connsiteX0" fmla="*/ 0 w 2856411"/>
              <a:gd name="connsiteY0" fmla="*/ 827315 h 1245326"/>
              <a:gd name="connsiteX1" fmla="*/ 653142 w 2856411"/>
              <a:gd name="connsiteY1" fmla="*/ 95795 h 1245326"/>
              <a:gd name="connsiteX2" fmla="*/ 1567542 w 2856411"/>
              <a:gd name="connsiteY2" fmla="*/ 1245326 h 1245326"/>
              <a:gd name="connsiteX3" fmla="*/ 2377440 w 2856411"/>
              <a:gd name="connsiteY3" fmla="*/ 0 h 1245326"/>
              <a:gd name="connsiteX4" fmla="*/ 2856411 w 2856411"/>
              <a:gd name="connsiteY4" fmla="*/ 653143 h 124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6411" h="1245326">
                <a:moveTo>
                  <a:pt x="0" y="827315"/>
                </a:moveTo>
                <a:lnTo>
                  <a:pt x="653142" y="95795"/>
                </a:lnTo>
                <a:lnTo>
                  <a:pt x="1567542" y="1245326"/>
                </a:lnTo>
                <a:lnTo>
                  <a:pt x="2377440" y="0"/>
                </a:lnTo>
                <a:lnTo>
                  <a:pt x="2856411" y="65314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6324600" y="3863370"/>
            <a:ext cx="1123405" cy="194824"/>
          </a:xfrm>
          <a:custGeom>
            <a:avLst/>
            <a:gdLst>
              <a:gd name="connsiteX0" fmla="*/ 0 w 1123405"/>
              <a:gd name="connsiteY0" fmla="*/ 670560 h 670560"/>
              <a:gd name="connsiteX1" fmla="*/ 1123405 w 1123405"/>
              <a:gd name="connsiteY1" fmla="*/ 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3405" h="670560">
                <a:moveTo>
                  <a:pt x="0" y="670560"/>
                </a:moveTo>
                <a:lnTo>
                  <a:pt x="112340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4251963" y="4058194"/>
            <a:ext cx="152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93129" y="3586182"/>
                <a:ext cx="8526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𝟎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29" y="3586182"/>
                <a:ext cx="85260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5714" t="-2174" r="-214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497248" y="4442329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248" y="4442329"/>
                <a:ext cx="29456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6667" r="-833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77211" y="2708270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211" y="2708270"/>
                <a:ext cx="294568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6667" r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998931" y="3525224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931" y="3525224"/>
                <a:ext cx="29456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6667" r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129334" y="4128822"/>
                <a:ext cx="528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334" y="4128822"/>
                <a:ext cx="528285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9195" r="-459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57914" y="3515582"/>
                <a:ext cx="866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charset="0"/>
                            </a:rPr>
                            <m:t>𝟎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914" y="3515582"/>
                <a:ext cx="866712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5594" t="-2222" r="-139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1076054" y="5562600"/>
            <a:ext cx="645087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09297" y="5588066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97" y="5588066"/>
                <a:ext cx="259430" cy="276999"/>
              </a:xfrm>
              <a:prstGeom prst="rect">
                <a:avLst/>
              </a:prstGeom>
              <a:blipFill>
                <a:blip r:embed="rId9"/>
                <a:stretch>
                  <a:fillRect l="-16279" r="-465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532564" y="5570900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64" y="5570900"/>
                <a:ext cx="259430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6279" r="-465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365145" y="5581941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145" y="5581941"/>
                <a:ext cx="259430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6279" r="-465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869216" y="5570900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16" y="5570900"/>
                <a:ext cx="25943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16667" r="-476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282517" y="5584804"/>
                <a:ext cx="493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517" y="5584804"/>
                <a:ext cx="493148" cy="276999"/>
              </a:xfrm>
              <a:prstGeom prst="rect">
                <a:avLst/>
              </a:prstGeom>
              <a:blipFill>
                <a:blip r:embed="rId13"/>
                <a:stretch>
                  <a:fillRect l="-8750" r="-37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392829" y="5583712"/>
                <a:ext cx="273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29" y="5583712"/>
                <a:ext cx="273536" cy="276999"/>
              </a:xfrm>
              <a:prstGeom prst="rect">
                <a:avLst/>
              </a:prstGeom>
              <a:blipFill>
                <a:blip r:embed="rId14"/>
                <a:stretch>
                  <a:fillRect l="-1777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1076054" y="3994652"/>
            <a:ext cx="0" cy="150916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418660" y="3092022"/>
            <a:ext cx="0" cy="241179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897632" y="3802223"/>
            <a:ext cx="0" cy="172772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336032" y="4072775"/>
            <a:ext cx="0" cy="145717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6" idx="4"/>
          </p:cNvCxnSpPr>
          <p:nvPr/>
        </p:nvCxnSpPr>
        <p:spPr>
          <a:xfrm flipH="1">
            <a:off x="7448005" y="3944982"/>
            <a:ext cx="2724" cy="161761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99854" y="3846605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532564" y="4273324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342460" y="3010582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821432" y="3663724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259832" y="3977234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374529" y="3792582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356083" y="2590800"/>
                <a:ext cx="3180358" cy="547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083" y="2590800"/>
                <a:ext cx="3180358" cy="547201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/>
          <p:cNvSpPr/>
          <p:nvPr/>
        </p:nvSpPr>
        <p:spPr>
          <a:xfrm>
            <a:off x="1610833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524000" y="2819400"/>
                <a:ext cx="294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819400"/>
                <a:ext cx="294568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6667" r="-625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600200" y="5590401"/>
                <a:ext cx="2594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590401"/>
                <a:ext cx="259430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4286" r="-476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/>
          <p:cNvCxnSpPr/>
          <p:nvPr/>
        </p:nvCxnSpPr>
        <p:spPr>
          <a:xfrm flipH="1">
            <a:off x="1671284" y="3244422"/>
            <a:ext cx="5116" cy="229271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95800" y="3212068"/>
                <a:ext cx="2189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b="0" i="0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212068"/>
                <a:ext cx="2189125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250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618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 this point, we need to integrate twice to obtain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43200" y="2514600"/>
                <a:ext cx="3180358" cy="547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514600"/>
                <a:ext cx="3180358" cy="54720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70271" y="3270406"/>
                <a:ext cx="4195123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−2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271" y="3270406"/>
                <a:ext cx="4195123" cy="602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38400" y="4121735"/>
                <a:ext cx="4773102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121735"/>
                <a:ext cx="4773102" cy="602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00200" y="4959935"/>
                <a:ext cx="6471002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959935"/>
                <a:ext cx="6471002" cy="602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23120" y="5722199"/>
                <a:ext cx="4206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120" y="5722199"/>
                <a:ext cx="420628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158" t="-96667" b="-1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6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 this point, the only unknowns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Plug-in the values at the control points: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From here, we can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77598" y="2286000"/>
                <a:ext cx="6471002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598" y="2286000"/>
                <a:ext cx="6471002" cy="602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973" y="3886200"/>
                <a:ext cx="2666627" cy="580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973" y="3886200"/>
                <a:ext cx="2666627" cy="5806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71800" y="4600992"/>
                <a:ext cx="3325462" cy="580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600992"/>
                <a:ext cx="3325462" cy="58060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18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gives us: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Finally, we need to compute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terms</a:t>
                </a:r>
              </a:p>
              <a:p>
                <a:r>
                  <a:rPr lang="en-US" dirty="0"/>
                  <a:t>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[0 0 0]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0600" y="2286000"/>
                <a:ext cx="6564489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)+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286000"/>
                <a:ext cx="6564489" cy="602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998181" y="3071227"/>
                <a:ext cx="2393219" cy="665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r>
                        <a:rPr lang="en-US" i="1">
                          <a:latin typeface="Cambria Math" charset="0"/>
                        </a:rPr>
                        <m:t>𝑡</m:t>
                      </m:r>
                      <m:r>
                        <a:rPr lang="en-US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81" y="3071227"/>
                <a:ext cx="2393219" cy="6651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89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did not use the constraint that the first derivatives at the control points are equal; so take the derivative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0600" y="2819400"/>
                <a:ext cx="7023974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</m:sub>
                        <m:sup>
                          <m:r>
                            <a:rPr lang="en-US" b="1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819400"/>
                <a:ext cx="7023974" cy="602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5400000">
            <a:off x="5476992" y="2828809"/>
            <a:ext cx="247417" cy="1447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364128" y="3709075"/>
                <a:ext cx="4811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128" y="3709075"/>
                <a:ext cx="481157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09800" y="4260969"/>
                <a:ext cx="377090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</m:sub>
                        <m:sup>
                          <m:r>
                            <a:rPr lang="en-US" b="1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260969"/>
                <a:ext cx="3770904" cy="5259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0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this for the previous (or the next) segment: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0600" y="2819400"/>
                <a:ext cx="7724486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819400"/>
                <a:ext cx="7724486" cy="602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5400000">
            <a:off x="5857991" y="2828809"/>
            <a:ext cx="247417" cy="1447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745127" y="3709075"/>
                <a:ext cx="7039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127" y="3709075"/>
                <a:ext cx="70397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09800" y="4260969"/>
                <a:ext cx="4866652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260969"/>
                <a:ext cx="4866652" cy="5259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6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equate the segments at the control points: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95400" y="3276600"/>
                <a:ext cx="692022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276600"/>
                <a:ext cx="6920228" cy="5259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429000" y="2667000"/>
                <a:ext cx="18932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</m:t>
                          </m:r>
                        </m:sub>
                        <m:sup>
                          <m:r>
                            <a:rPr lang="en-US" b="1" i="1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>
                              <a:latin typeface="Cambria Math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667000"/>
                <a:ext cx="189327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57946" y="4267200"/>
                <a:ext cx="7202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6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𝑩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46" y="4267200"/>
                <a:ext cx="7202356" cy="276999"/>
              </a:xfrm>
              <a:prstGeom prst="rect">
                <a:avLst/>
              </a:prstGeom>
              <a:blipFill rotWithShape="0">
                <a:blip r:embed="rId4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978950" y="4965849"/>
                <a:ext cx="52438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6</m:t>
                        </m:r>
                        <m:r>
                          <a:rPr lang="en-US" b="1" i="1" smtClean="0">
                            <a:latin typeface="Cambria Math" charset="0"/>
                          </a:rPr>
                          <m:t>(</m:t>
                        </m:r>
                        <m:r>
                          <a:rPr lang="en-US" b="1" i="1"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1" i="1" smtClean="0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)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950" y="4965849"/>
                <a:ext cx="5243808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96667" b="-1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26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set up </a:t>
                </a:r>
                <a:r>
                  <a:rPr lang="en-US" i="1" dirty="0"/>
                  <a:t>n-1</a:t>
                </a:r>
                <a:r>
                  <a:rPr lang="en-US" dirty="0"/>
                  <a:t> equations in this form and we also have </a:t>
                </a:r>
                <a:r>
                  <a:rPr lang="en-US" i="1" dirty="0"/>
                  <a:t>n-1</a:t>
                </a:r>
                <a:r>
                  <a:rPr lang="en-US" dirty="0"/>
                  <a:t> unknowns (from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the above equation, plug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𝑖</m:t>
                    </m:r>
                    <m:r>
                      <a:rPr lang="en-US" b="0" i="1" smtClean="0">
                        <a:latin typeface="Cambria Math" charset="0"/>
                      </a:rPr>
                      <m:t>=1…</m:t>
                    </m:r>
                    <m:r>
                      <a:rPr lang="en-US" b="0" i="1" smtClean="0"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latin typeface="Cambria Math" charset="0"/>
                      </a:rPr>
                      <m:t>−1</m:t>
                    </m:r>
                  </m:oMath>
                </a14:m>
                <a:r>
                  <a:rPr lang="en-US"/>
                  <a:t>, and solve the resulting system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50096" y="2819400"/>
                <a:ext cx="52438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6</m:t>
                        </m:r>
                        <m:r>
                          <a:rPr lang="en-US" b="1" i="1" smtClean="0">
                            <a:latin typeface="Cambria Math" charset="0"/>
                          </a:rPr>
                          <m:t>(</m:t>
                        </m:r>
                        <m:r>
                          <a:rPr lang="en-US" b="1" i="1"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1" i="1" smtClean="0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)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096" y="2819400"/>
                <a:ext cx="5243808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6667" b="-1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23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Setup the system such that we have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𝐴𝑥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𝑏</m:t>
                    </m:r>
                  </m:oMath>
                </a14:m>
                <a:r>
                  <a:rPr lang="en-US" dirty="0"/>
                  <a:t> form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9367" y="2225834"/>
                <a:ext cx="4945265" cy="1736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mr-IN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2,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3,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−1,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7" y="2225834"/>
                <a:ext cx="4945265" cy="17365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6377" y="4793129"/>
                <a:ext cx="17781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2</m:t>
                      </m:r>
                      <m:r>
                        <a:rPr lang="en-US" b="1" i="1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−1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77" y="4793129"/>
                <a:ext cx="1778179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370" r="-4452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16376" y="5319058"/>
                <a:ext cx="207922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charset="0"/>
                            </a:rPr>
                            <m:t>6(</m:t>
                          </m:r>
                          <m:r>
                            <a:rPr lang="en-US" b="0" i="1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>
                              <a:latin typeface="Cambria Math" charset="0"/>
                            </a:rPr>
                            <m:t>−1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76" y="5319058"/>
                <a:ext cx="2079224" cy="289182"/>
              </a:xfrm>
              <a:prstGeom prst="rect">
                <a:avLst/>
              </a:prstGeom>
              <a:blipFill rotWithShape="0">
                <a:blip r:embed="rId5"/>
                <a:stretch>
                  <a:fillRect l="-2346" t="-2128" r="-3812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66979" y="4419600"/>
            <a:ext cx="4819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Note that we are solving for the x-components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We need to solve for y- and z-components if our curve is 3 dimensional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6376" y="4267200"/>
                <a:ext cx="13824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76" y="4267200"/>
                <a:ext cx="1382493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3524" r="-441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68712" y="5649121"/>
                <a:ext cx="2574551" cy="659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>
                                  <a:latin typeface="Cambria Math" charset="0"/>
                                </a:rPr>
                                <m:t>+1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12" y="5649121"/>
                <a:ext cx="2574551" cy="65960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63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83" y="1295400"/>
            <a:ext cx="6034617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0" y="5754469"/>
            <a:ext cx="4964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= {(1, 1), (2, 3), (3, 2), (4, 5), (5, 1), (6, 3), (7, 2)}</a:t>
            </a:r>
          </a:p>
          <a:p>
            <a:r>
              <a:rPr lang="en-US" dirty="0"/>
              <a:t>T = {0, 1, 2, 3, 4, 5, 6}</a:t>
            </a:r>
          </a:p>
        </p:txBody>
      </p:sp>
    </p:spTree>
    <p:extLst>
      <p:ext uri="{BB962C8B-B14F-4D97-AF65-F5344CB8AC3E}">
        <p14:creationId xmlns:p14="http://schemas.microsoft.com/office/powerpoint/2010/main" val="13461858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</a:t>
            </a:r>
            <a:r>
              <a:rPr lang="en-US" dirty="0" err="1"/>
              <a:t>Bicubic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Generalization of parametric cubic curves</a:t>
                </a:r>
              </a:p>
              <a:p>
                <a:r>
                  <a:rPr lang="en-US" dirty="0"/>
                  <a:t>Recall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𝑇𝑀𝐺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First replace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𝑆</m:t>
                    </m:r>
                    <m:r>
                      <a:rPr lang="en-US" i="1">
                        <a:latin typeface="Cambria Math" charset="0"/>
                      </a:rPr>
                      <m:t>𝑀𝐺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 allow the 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𝐺</m:t>
                    </m:r>
                  </m:oMath>
                </a14:m>
                <a:r>
                  <a:rPr lang="en-US" dirty="0"/>
                  <a:t> to vary along a curve </a:t>
                </a:r>
                <a:r>
                  <a:rPr lang="en-US" dirty="0" err="1"/>
                  <a:t>parametrized</a:t>
                </a:r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13414" y="4114800"/>
                <a:ext cx="17729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𝑆𝑀𝐺</m:t>
                      </m:r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414" y="4114800"/>
                <a:ext cx="1772986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780" r="-4124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81400" y="4909816"/>
                <a:ext cx="2096791" cy="1109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909816"/>
                <a:ext cx="2096791" cy="11099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80383" y="4676001"/>
                <a:ext cx="24302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)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)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i="1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383" y="4676001"/>
                <a:ext cx="2430217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754" t="-8696" r="-2757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3"/>
          <p:cNvSpPr/>
          <p:nvPr/>
        </p:nvSpPr>
        <p:spPr>
          <a:xfrm>
            <a:off x="5172075" y="4181264"/>
            <a:ext cx="2143125" cy="747924"/>
          </a:xfrm>
          <a:custGeom>
            <a:avLst/>
            <a:gdLst>
              <a:gd name="connsiteX0" fmla="*/ 0 w 2143125"/>
              <a:gd name="connsiteY0" fmla="*/ 747924 h 747924"/>
              <a:gd name="connsiteX1" fmla="*/ 1528763 w 2143125"/>
              <a:gd name="connsiteY1" fmla="*/ 4974 h 747924"/>
              <a:gd name="connsiteX2" fmla="*/ 2143125 w 2143125"/>
              <a:gd name="connsiteY2" fmla="*/ 419311 h 747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125" h="747924">
                <a:moveTo>
                  <a:pt x="0" y="747924"/>
                </a:moveTo>
                <a:cubicBezTo>
                  <a:pt x="585788" y="403833"/>
                  <a:pt x="1171576" y="59743"/>
                  <a:pt x="1528763" y="4974"/>
                </a:cubicBezTo>
                <a:cubicBezTo>
                  <a:pt x="1885951" y="-49795"/>
                  <a:pt x="2057400" y="364542"/>
                  <a:pt x="2143125" y="419311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</a:t>
            </a:r>
            <a:r>
              <a:rPr lang="en-US" dirty="0" err="1"/>
              <a:t>Bicubic</a:t>
            </a:r>
            <a:r>
              <a:rPr lang="en-US" dirty="0"/>
              <a:t>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setup separate equations for 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and </a:t>
            </a:r>
            <a:r>
              <a:rPr lang="en-US" i="1" dirty="0"/>
              <a:t>z</a:t>
            </a:r>
            <a:r>
              <a:rPr lang="en-US" dirty="0"/>
              <a:t>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200" y="2971800"/>
                <a:ext cx="2300053" cy="1109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71800"/>
                <a:ext cx="2300053" cy="110998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00400" y="2967037"/>
                <a:ext cx="2287678" cy="12243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967037"/>
                <a:ext cx="2287678" cy="12243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31225" y="2914605"/>
                <a:ext cx="2284600" cy="1109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225" y="2914605"/>
                <a:ext cx="2284600" cy="11099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735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</a:t>
            </a:r>
            <a:r>
              <a:rPr lang="en-US" dirty="0" err="1"/>
              <a:t>Bicubic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 for a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𝑠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is a curve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𝐺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is constant</a:t>
                </a:r>
              </a:p>
              <a:p>
                <a:r>
                  <a:rPr lang="en-US" dirty="0"/>
                  <a:t>Allowing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dirty="0"/>
                  <a:t> to take on a different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very small,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𝑄</m:t>
                    </m:r>
                    <m:r>
                      <a:rPr lang="en-US" i="1">
                        <a:latin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</a:rPr>
                      <m:t>𝑠</m:t>
                    </m:r>
                    <m:r>
                      <a:rPr lang="en-US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is a slightly different curve</a:t>
                </a:r>
              </a:p>
              <a:p>
                <a:r>
                  <a:rPr lang="en-US" dirty="0"/>
                  <a:t>Repeating this arbitrarily many times gives you a large set of curves, which is our surface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55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843337" y="4827756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809999" y="4675356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3790950" y="4522956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743324" y="4370556"/>
            <a:ext cx="2133601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3767137" y="5513556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 rot="5400000">
            <a:off x="4780571" y="5137757"/>
            <a:ext cx="432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14" name="Freeform 13"/>
          <p:cNvSpPr/>
          <p:nvPr/>
        </p:nvSpPr>
        <p:spPr>
          <a:xfrm>
            <a:off x="3743324" y="4791072"/>
            <a:ext cx="85725" cy="117157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5876930" y="4924425"/>
            <a:ext cx="85725" cy="117157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4029075" y="4505322"/>
            <a:ext cx="85725" cy="117157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4343400" y="4395786"/>
            <a:ext cx="45719" cy="115252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553200" y="4563070"/>
                <a:ext cx="19812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Called </a:t>
                </a:r>
                <a:r>
                  <a:rPr lang="en-US" dirty="0" err="1"/>
                  <a:t>bicubic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are themselves cubic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563070"/>
                <a:ext cx="1981200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2462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72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themselves are defined by: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0" y="2438400"/>
                <a:ext cx="14062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438400"/>
                <a:ext cx="140628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030" r="-86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33800" y="3109491"/>
                <a:ext cx="1731308" cy="1064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3109491"/>
                <a:ext cx="1731308" cy="10645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19800" y="3058879"/>
                <a:ext cx="1716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058879"/>
                <a:ext cx="1716752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491" t="-222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5151293" y="2743200"/>
            <a:ext cx="1554307" cy="344320"/>
          </a:xfrm>
          <a:custGeom>
            <a:avLst/>
            <a:gdLst>
              <a:gd name="connsiteX0" fmla="*/ 0 w 2143125"/>
              <a:gd name="connsiteY0" fmla="*/ 747924 h 747924"/>
              <a:gd name="connsiteX1" fmla="*/ 1528763 w 2143125"/>
              <a:gd name="connsiteY1" fmla="*/ 4974 h 747924"/>
              <a:gd name="connsiteX2" fmla="*/ 2143125 w 2143125"/>
              <a:gd name="connsiteY2" fmla="*/ 419311 h 747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125" h="747924">
                <a:moveTo>
                  <a:pt x="0" y="747924"/>
                </a:moveTo>
                <a:cubicBezTo>
                  <a:pt x="585788" y="403833"/>
                  <a:pt x="1171576" y="59743"/>
                  <a:pt x="1528763" y="4974"/>
                </a:cubicBezTo>
                <a:cubicBezTo>
                  <a:pt x="1885951" y="-49795"/>
                  <a:pt x="2057400" y="364542"/>
                  <a:pt x="2143125" y="419311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1055" y="4876800"/>
                <a:ext cx="1984581" cy="1064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55" y="4876800"/>
                <a:ext cx="1984581" cy="106439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61651" y="4879270"/>
                <a:ext cx="1966884" cy="1188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𝑖𝑦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651" y="4879270"/>
                <a:ext cx="1966884" cy="11882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57251" y="4879270"/>
                <a:ext cx="1963806" cy="10613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𝑖𝑧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251" y="4879270"/>
                <a:ext cx="1963806" cy="106138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58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Remember that we have: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To combine them into a single equation, take the transpose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𝑖𝑥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which is equal to itself due to its being a scalar: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2362200"/>
                <a:ext cx="2300053" cy="1109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362200"/>
                <a:ext cx="2300053" cy="11099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1600" y="2407790"/>
                <a:ext cx="1984581" cy="1064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407790"/>
                <a:ext cx="1984581" cy="10643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66243" y="4800600"/>
                <a:ext cx="52240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243" y="4800600"/>
                <a:ext cx="5224058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46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62200" y="5229999"/>
                <a:ext cx="52240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229999"/>
                <a:ext cx="522405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935" t="-2222" r="-234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62200" y="5601880"/>
                <a:ext cx="52240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601880"/>
                <a:ext cx="5224058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935" t="-2222" r="-234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62200" y="6004417"/>
                <a:ext cx="52240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6004417"/>
                <a:ext cx="5224058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818" t="-2222" r="-11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04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Remember that we have: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To combine them into a single equation, take the transpose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𝑖𝑥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which is equal to itself due to its being a scalar: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0" y="2362200"/>
                <a:ext cx="2300053" cy="1109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362200"/>
                <a:ext cx="2300053" cy="11099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1600" y="2407790"/>
                <a:ext cx="1984581" cy="1064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407790"/>
                <a:ext cx="1984581" cy="10643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80533" y="4958205"/>
                <a:ext cx="4429867" cy="1140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533" y="4958205"/>
                <a:ext cx="4429867" cy="114024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4367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gives 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Similarly for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/>
              <a:t>z</a:t>
            </a:r>
            <a:r>
              <a:rPr lang="en-US" dirty="0"/>
              <a:t>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0600" y="2362200"/>
                <a:ext cx="7064883" cy="1064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24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34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14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24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34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41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43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44</m:t>
                                          </m:r>
                                          <m:r>
                                            <a:rPr lang="en-US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362200"/>
                <a:ext cx="7064883" cy="1064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0" y="1600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52800" y="3761601"/>
                <a:ext cx="260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3761601"/>
                <a:ext cx="260520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8605" r="-1627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889540" y="3761600"/>
                <a:ext cx="303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540" y="3761600"/>
                <a:ext cx="30348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6000" r="-40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/>
          <p:cNvSpPr/>
          <p:nvPr/>
        </p:nvSpPr>
        <p:spPr>
          <a:xfrm rot="5400000">
            <a:off x="3303539" y="2397551"/>
            <a:ext cx="333208" cy="23561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 rot="5400000">
            <a:off x="5874676" y="2415077"/>
            <a:ext cx="333208" cy="23561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288536" y="5029200"/>
                <a:ext cx="2469009" cy="3969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charset="0"/>
                            </a:rPr>
                            <m:t>, </m:t>
                          </m:r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536" y="5029200"/>
                <a:ext cx="2469009" cy="396904"/>
              </a:xfrm>
              <a:prstGeom prst="rect">
                <a:avLst/>
              </a:prstGeom>
              <a:blipFill rotWithShape="0"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288536" y="5531738"/>
                <a:ext cx="24329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charset="0"/>
                            </a:rPr>
                            <m:t>, </m:t>
                          </m:r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𝑆𝑀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𝑧</m:t>
                          </m:r>
                        </m:sub>
                      </m:sSub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𝑀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536" y="5531738"/>
                <a:ext cx="2432974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80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</a:t>
                </a:r>
                <a:r>
                  <a:rPr lang="en-US" dirty="0" err="1"/>
                  <a:t>Hermite</a:t>
                </a:r>
                <a:r>
                  <a:rPr lang="en-US" dirty="0"/>
                  <a:t> surfaces,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 err="1"/>
                  <a:t>Hermite</a:t>
                </a:r>
                <a:r>
                  <a:rPr lang="en-US" dirty="0"/>
                  <a:t> basis matrix</a:t>
                </a:r>
              </a:p>
              <a:p>
                <a:r>
                  <a:rPr lang="en-US" dirty="0"/>
                  <a:t>The elements of the geometry matrix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/>
                  <a:t>) store how each component changes with respect to </a:t>
                </a:r>
                <a:r>
                  <a:rPr lang="en-US" i="1" dirty="0"/>
                  <a:t>t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60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671882" y="4344040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638544" y="4191640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3619495" y="4039240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571869" y="3886840"/>
            <a:ext cx="2133601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3595682" y="5029840"/>
            <a:ext cx="2100263" cy="558630"/>
          </a:xfrm>
          <a:custGeom>
            <a:avLst/>
            <a:gdLst>
              <a:gd name="connsiteX0" fmla="*/ 0 w 2100263"/>
              <a:gd name="connsiteY0" fmla="*/ 430043 h 558630"/>
              <a:gd name="connsiteX1" fmla="*/ 700088 w 2100263"/>
              <a:gd name="connsiteY1" fmla="*/ 1418 h 558630"/>
              <a:gd name="connsiteX2" fmla="*/ 2100263 w 2100263"/>
              <a:gd name="connsiteY2" fmla="*/ 558630 h 55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3" h="558630">
                <a:moveTo>
                  <a:pt x="0" y="430043"/>
                </a:moveTo>
                <a:cubicBezTo>
                  <a:pt x="175022" y="205015"/>
                  <a:pt x="350044" y="-20013"/>
                  <a:pt x="700088" y="1418"/>
                </a:cubicBezTo>
                <a:cubicBezTo>
                  <a:pt x="1050132" y="22849"/>
                  <a:pt x="2100263" y="558630"/>
                  <a:pt x="2100263" y="558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 rot="5400000">
            <a:off x="4609116" y="4654041"/>
            <a:ext cx="432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>
          <a:xfrm>
            <a:off x="3571869" y="4307356"/>
            <a:ext cx="85725" cy="117157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5705475" y="4440709"/>
            <a:ext cx="85725" cy="117157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3857620" y="4021606"/>
            <a:ext cx="85725" cy="117157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4171945" y="3912070"/>
            <a:ext cx="45719" cy="1152525"/>
          </a:xfrm>
          <a:custGeom>
            <a:avLst/>
            <a:gdLst>
              <a:gd name="connsiteX0" fmla="*/ 0 w 85725"/>
              <a:gd name="connsiteY0" fmla="*/ 0 h 1171575"/>
              <a:gd name="connsiteX1" fmla="*/ 85725 w 85725"/>
              <a:gd name="connsiteY1" fmla="*/ 514350 h 1171575"/>
              <a:gd name="connsiteX2" fmla="*/ 0 w 857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1171575">
                <a:moveTo>
                  <a:pt x="0" y="0"/>
                </a:moveTo>
                <a:cubicBezTo>
                  <a:pt x="42862" y="159544"/>
                  <a:pt x="85725" y="319088"/>
                  <a:pt x="85725" y="514350"/>
                </a:cubicBezTo>
                <a:cubicBezTo>
                  <a:pt x="85725" y="709612"/>
                  <a:pt x="0" y="1171575"/>
                  <a:pt x="0" y="1171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133600" y="4137657"/>
                <a:ext cx="13743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(0, 0)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137657"/>
                <a:ext cx="1374351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111" r="-57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33600" y="5259085"/>
                <a:ext cx="13743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14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(0, 1)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259085"/>
                <a:ext cx="137435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111" t="-2222" r="-57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V="1">
            <a:off x="3555577" y="3647433"/>
            <a:ext cx="491763" cy="649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71800" y="3304401"/>
                <a:ext cx="1892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𝑑𝑄</m:t>
                      </m:r>
                      <m:r>
                        <a:rPr lang="en-US" b="0" i="1" smtClean="0">
                          <a:latin typeface="Cambria Math" charset="0"/>
                        </a:rPr>
                        <m:t>(0, 0)/</m:t>
                      </m:r>
                      <m:r>
                        <a:rPr lang="en-US" b="0" i="1" smtClean="0">
                          <a:latin typeface="Cambria Math" charset="0"/>
                        </a:rPr>
                        <m:t>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304401"/>
                <a:ext cx="1892056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258" r="-225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581400" y="5526487"/>
                <a:ext cx="1892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14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𝑑𝑄</m:t>
                      </m:r>
                      <m:r>
                        <a:rPr lang="en-US" b="0" i="1" smtClean="0">
                          <a:latin typeface="Cambria Math" charset="0"/>
                        </a:rPr>
                        <m:t>(0, 1)/</m:t>
                      </m:r>
                      <m:r>
                        <a:rPr lang="en-US" b="0" i="1" smtClean="0">
                          <a:latin typeface="Cambria Math" charset="0"/>
                        </a:rPr>
                        <m:t>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5526487"/>
                <a:ext cx="1892056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258" t="-2222" r="-225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3578447" y="4824480"/>
            <a:ext cx="471880" cy="625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32473" y="4095754"/>
                <a:ext cx="13697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(1, 0)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73" y="4095754"/>
                <a:ext cx="1369799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111" r="-533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791200" y="5309155"/>
                <a:ext cx="13697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44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𝑄</m:t>
                      </m:r>
                      <m:r>
                        <a:rPr lang="en-US" b="0" i="1" smtClean="0">
                          <a:latin typeface="Cambria Math" charset="0"/>
                        </a:rPr>
                        <m:t>(1, 1)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5309155"/>
                <a:ext cx="1369799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3111" r="-533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5603703" y="4372753"/>
            <a:ext cx="661570" cy="375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274803" y="4628653"/>
                <a:ext cx="1897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𝑑𝑄</m:t>
                      </m:r>
                      <m:r>
                        <a:rPr lang="en-US" b="0" i="1" smtClean="0">
                          <a:latin typeface="Cambria Math" charset="0"/>
                        </a:rPr>
                        <m:t>(1, 0)/</m:t>
                      </m:r>
                      <m:r>
                        <a:rPr lang="en-US" b="0" i="1" smtClean="0">
                          <a:latin typeface="Cambria Math" charset="0"/>
                        </a:rPr>
                        <m:t>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803" y="4628653"/>
                <a:ext cx="1897379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2244" r="-224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5603703" y="5540343"/>
            <a:ext cx="661570" cy="375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299067" y="5846763"/>
                <a:ext cx="1897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44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𝑑𝑄</m:t>
                      </m:r>
                      <m:r>
                        <a:rPr lang="en-US" b="0" i="1" smtClean="0">
                          <a:latin typeface="Cambria Math" charset="0"/>
                        </a:rPr>
                        <m:t>(1, 1)/</m:t>
                      </m:r>
                      <m:r>
                        <a:rPr lang="en-US" b="0" i="1" smtClean="0">
                          <a:latin typeface="Cambria Math" charset="0"/>
                        </a:rPr>
                        <m:t>𝑑𝑠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067" y="5846763"/>
                <a:ext cx="1897379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2244" r="-224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808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the starting point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changes with respect to </a:t>
                </a:r>
                <a:r>
                  <a:rPr lang="en-US" i="1" dirty="0"/>
                  <a:t>t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05000" y="2895600"/>
                <a:ext cx="4927696" cy="1183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0, 0)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0, 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mr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0, 0)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95600"/>
                <a:ext cx="4927696" cy="118333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8781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the end point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) changes with respect to </a:t>
                </a:r>
                <a:r>
                  <a:rPr lang="en-US" i="1" dirty="0"/>
                  <a:t>t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05000" y="2895600"/>
                <a:ext cx="4960653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(1, 0)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charset="0"/>
                                  </a:rPr>
                                  <m:t>(1, 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95600"/>
                <a:ext cx="4960653" cy="10204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3100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the starting tangent vector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defined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/>
                  <a:t>, changes with respect to </a:t>
                </a:r>
                <a:r>
                  <a:rPr lang="en-US" i="1" dirty="0"/>
                  <a:t>t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05000" y="2895600"/>
                <a:ext cx="5456045" cy="1040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95600"/>
                <a:ext cx="5456045" cy="104067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2649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the ending tangent vector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), defined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𝑠</m:t>
                    </m:r>
                  </m:oMath>
                </a14:m>
                <a:r>
                  <a:rPr lang="en-US" dirty="0"/>
                  <a:t>, changes with respect to </a:t>
                </a:r>
                <a:r>
                  <a:rPr lang="en-US" i="1" dirty="0"/>
                  <a:t>t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05000" y="2819400"/>
                <a:ext cx="5423088" cy="1196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1)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1)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19400"/>
                <a:ext cx="5423088" cy="11969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4222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the entire geometry matrix looks like: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92113" y="2590800"/>
                <a:ext cx="5423087" cy="2286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0, 0)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0, 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charset="0"/>
                                  </a:rPr>
                                  <m:t>(1, 0)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charset="0"/>
                                  </a:rPr>
                                  <m:t>(1, 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)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, 1)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0, 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1, 0)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m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mr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1, </m:t>
                                    </m:r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𝑑𝑠𝑑𝑡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113" y="2590800"/>
                <a:ext cx="5423087" cy="2286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8968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Hermite</a:t>
            </a:r>
            <a:r>
              <a:rPr lang="en-US" dirty="0"/>
              <a:t> Surfaces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83" y="1600200"/>
            <a:ext cx="6034617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66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114800" y="296828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8786" y="2103728"/>
                <a:ext cx="2004844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6" y="2103728"/>
                <a:ext cx="2004844" cy="10204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1156" y="3399128"/>
                <a:ext cx="2012474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6" y="3399128"/>
                <a:ext cx="2012474" cy="10204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9174" y="4694528"/>
                <a:ext cx="1994456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74" y="4694528"/>
                <a:ext cx="1994456" cy="102047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8483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Bezier curves was defined using Bernstein polynomials: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Their extension to surfaces is straightforward: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7929" y="2626280"/>
                <a:ext cx="5735671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29" y="2626280"/>
                <a:ext cx="5735671" cy="84875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790700" y="2796551"/>
                <a:ext cx="2829300" cy="5082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,</m:t>
                          </m:r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 </m:t>
                      </m:r>
                      <m:d>
                        <m:d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charset="0"/>
                            </a:rPr>
                            <m:t>−</m:t>
                          </m:r>
                          <m:r>
                            <a:rPr lang="en-US" i="1">
                              <a:latin typeface="Cambria Math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700" y="2796551"/>
                <a:ext cx="2829300" cy="508216"/>
              </a:xfrm>
              <a:prstGeom prst="rect">
                <a:avLst/>
              </a:prstGeom>
              <a:blipFill rotWithShape="0">
                <a:blip r:embed="rId3"/>
                <a:stretch>
                  <a:fillRect t="-56627" b="-75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427129" y="4696605"/>
                <a:ext cx="5735671" cy="8798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129" y="4696605"/>
                <a:ext cx="5735671" cy="8798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647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Surfaces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005" y="2500081"/>
            <a:ext cx="3839395" cy="377645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68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Similar to a Bezier curve, a Bezier surface </a:t>
            </a:r>
            <a:r>
              <a:rPr lang="en-US" dirty="0">
                <a:solidFill>
                  <a:schemeClr val="accent1"/>
                </a:solidFill>
              </a:rPr>
              <a:t>interpolates</a:t>
            </a:r>
            <a:r>
              <a:rPr lang="en-US" dirty="0"/>
              <a:t> the end points and </a:t>
            </a:r>
            <a:r>
              <a:rPr lang="en-US" dirty="0">
                <a:solidFill>
                  <a:schemeClr val="accent1"/>
                </a:solidFill>
              </a:rPr>
              <a:t>approximates</a:t>
            </a:r>
            <a:r>
              <a:rPr lang="en-US" dirty="0"/>
              <a:t> the interior control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19800" y="5181600"/>
            <a:ext cx="8382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78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models can be created using Bezier surfaces</a:t>
            </a:r>
          </a:p>
          <a:p>
            <a:r>
              <a:rPr lang="en-US" dirty="0"/>
              <a:t>In such models, the entire surface is composed of multiple Bezier surfaces, known as patches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012910"/>
            <a:ext cx="3171825" cy="3006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62400" y="6019800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Gumbo Model</a:t>
            </a:r>
          </a:p>
        </p:txBody>
      </p:sp>
    </p:spTree>
    <p:extLst>
      <p:ext uri="{BB962C8B-B14F-4D97-AF65-F5344CB8AC3E}">
        <p14:creationId xmlns:p14="http://schemas.microsoft.com/office/powerpoint/2010/main" val="19049400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Bezier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Such patches allows </a:t>
            </a:r>
            <a:r>
              <a:rPr lang="en-US" dirty="0">
                <a:solidFill>
                  <a:schemeClr val="accent1"/>
                </a:solidFill>
              </a:rPr>
              <a:t>tessellating</a:t>
            </a:r>
            <a:r>
              <a:rPr lang="en-US" dirty="0"/>
              <a:t> a surface at the desired level of detail depending on viewing distance or other parameters</a:t>
            </a:r>
          </a:p>
          <a:p>
            <a:r>
              <a:rPr lang="en-US" dirty="0"/>
              <a:t>OpenGL tessellation </a:t>
            </a:r>
            <a:r>
              <a:rPr lang="en-US" dirty="0" err="1"/>
              <a:t>shaders</a:t>
            </a:r>
            <a:r>
              <a:rPr lang="en-US" dirty="0"/>
              <a:t> provide hardware support for this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3276600"/>
            <a:ext cx="6045200" cy="298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45558"/>
      </p:ext>
    </p:extLst>
  </p:cSld>
  <p:clrMapOvr>
    <a:masterClrMapping/>
  </p:clrMapOvr>
</p:sld>
</file>

<file path=ppt/theme/theme1.xml><?xml version="1.0" encoding="utf-8"?>
<a:theme xmlns:a="http://schemas.openxmlformats.org/drawingml/2006/main" name="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15028</TotalTime>
  <Words>3520</Words>
  <Application>Microsoft Macintosh PowerPoint</Application>
  <PresentationFormat>On-screen Show (4:3)</PresentationFormat>
  <Paragraphs>709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BentonSansTRUMed</vt:lpstr>
      <vt:lpstr>BentonSansTRUReg</vt:lpstr>
      <vt:lpstr>Calibri</vt:lpstr>
      <vt:lpstr>Cambria Math</vt:lpstr>
      <vt:lpstr>metu</vt:lpstr>
      <vt:lpstr>CENG 477 Introduction to Computer Graphics</vt:lpstr>
      <vt:lpstr>Introduction</vt:lpstr>
      <vt:lpstr>Curves</vt:lpstr>
      <vt:lpstr>Curves</vt:lpstr>
      <vt:lpstr>Cubic Polynomials</vt:lpstr>
      <vt:lpstr>Matrix Form</vt:lpstr>
      <vt:lpstr>Matrix Form</vt:lpstr>
      <vt:lpstr>Constraints</vt:lpstr>
      <vt:lpstr>Constraints</vt:lpstr>
      <vt:lpstr>Constraints</vt:lpstr>
      <vt:lpstr>Blending Functions</vt:lpstr>
      <vt:lpstr>Blending Functions</vt:lpstr>
      <vt:lpstr>Two Important Curves</vt:lpstr>
      <vt:lpstr>Hermite Curves</vt:lpstr>
      <vt:lpstr>Hermite Curves</vt:lpstr>
      <vt:lpstr>Hermite Curves</vt:lpstr>
      <vt:lpstr>Hermite Curves</vt:lpstr>
      <vt:lpstr>Hermite Curves</vt:lpstr>
      <vt:lpstr>Hermite Blending Functions</vt:lpstr>
      <vt:lpstr>Bezier Curves</vt:lpstr>
      <vt:lpstr>Bezier Curves</vt:lpstr>
      <vt:lpstr>Bezier Curves</vt:lpstr>
      <vt:lpstr>Bezier Curves</vt:lpstr>
      <vt:lpstr>Bezier Curves</vt:lpstr>
      <vt:lpstr>Bezier Curves</vt:lpstr>
      <vt:lpstr>Bezier Curves</vt:lpstr>
      <vt:lpstr>Bernstein Polynomials</vt:lpstr>
      <vt:lpstr>Continuity</vt:lpstr>
      <vt:lpstr>Types of Continuity</vt:lpstr>
      <vt:lpstr>Types of Continuity</vt:lpstr>
      <vt:lpstr>Types of Continuity</vt:lpstr>
      <vt:lpstr>Maintaining Continuity</vt:lpstr>
      <vt:lpstr>Maintaining Continuity</vt:lpstr>
      <vt:lpstr>Maintaining Continuity</vt:lpstr>
      <vt:lpstr>Splines</vt:lpstr>
      <vt:lpstr>Splines</vt:lpstr>
      <vt:lpstr>Natural Cubic Splines</vt:lpstr>
      <vt:lpstr>Natural Cubic Splines</vt:lpstr>
      <vt:lpstr>Natural Cubic Splines</vt:lpstr>
      <vt:lpstr>Natural Cubic Splines</vt:lpstr>
      <vt:lpstr>Computing Polynomials</vt:lpstr>
      <vt:lpstr>Computing Polynomials</vt:lpstr>
      <vt:lpstr>Computing Polynomials</vt:lpstr>
      <vt:lpstr>Computing Polynomials</vt:lpstr>
      <vt:lpstr>Computing Polynomials</vt:lpstr>
      <vt:lpstr>Computing Polynomials</vt:lpstr>
      <vt:lpstr>Computing Polynomials</vt:lpstr>
      <vt:lpstr>Computing Polynomials</vt:lpstr>
      <vt:lpstr>Computing Polynomials</vt:lpstr>
      <vt:lpstr>Computing Polynomials</vt:lpstr>
      <vt:lpstr>Computing Polynomials</vt:lpstr>
      <vt:lpstr>Sample Output</vt:lpstr>
      <vt:lpstr>Parametric Bicubic Surfaces</vt:lpstr>
      <vt:lpstr>Parametric Bicubic Surfaces</vt:lpstr>
      <vt:lpstr>Parametric Bicubic Surfaces</vt:lpstr>
      <vt:lpstr>Derivation</vt:lpstr>
      <vt:lpstr>Derivation</vt:lpstr>
      <vt:lpstr>Derivation</vt:lpstr>
      <vt:lpstr>Derivation</vt:lpstr>
      <vt:lpstr>Hermite Surfaces</vt:lpstr>
      <vt:lpstr>Hermite Surfaces</vt:lpstr>
      <vt:lpstr>Hermite Surfaces</vt:lpstr>
      <vt:lpstr>Hermite Surfaces</vt:lpstr>
      <vt:lpstr>Hermite Surfaces</vt:lpstr>
      <vt:lpstr>Hermite Surfaces</vt:lpstr>
      <vt:lpstr>Hermite Surfaces</vt:lpstr>
      <vt:lpstr>Bezier Surfaces</vt:lpstr>
      <vt:lpstr>Bezier Surfaces</vt:lpstr>
      <vt:lpstr>Bezier Surfaces</vt:lpstr>
      <vt:lpstr>Bezier Surfaces</vt:lpstr>
    </vt:vector>
  </TitlesOfParts>
  <Company>AMD,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oguz</dc:creator>
  <cp:lastModifiedBy>Microsoft Office User</cp:lastModifiedBy>
  <cp:revision>650</cp:revision>
  <dcterms:created xsi:type="dcterms:W3CDTF">2011-10-08T08:51:54Z</dcterms:created>
  <dcterms:modified xsi:type="dcterms:W3CDTF">2021-01-12T06:14:53Z</dcterms:modified>
</cp:coreProperties>
</file>