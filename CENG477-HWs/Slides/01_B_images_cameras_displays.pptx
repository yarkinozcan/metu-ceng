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6"/>
  </p:notesMasterIdLst>
  <p:sldIdLst>
    <p:sldId id="256" r:id="rId2"/>
    <p:sldId id="257" r:id="rId3"/>
    <p:sldId id="352" r:id="rId4"/>
    <p:sldId id="353" r:id="rId5"/>
    <p:sldId id="354" r:id="rId6"/>
    <p:sldId id="355" r:id="rId7"/>
    <p:sldId id="332" r:id="rId8"/>
    <p:sldId id="356" r:id="rId9"/>
    <p:sldId id="357" r:id="rId10"/>
    <p:sldId id="358" r:id="rId11"/>
    <p:sldId id="359" r:id="rId12"/>
    <p:sldId id="381" r:id="rId13"/>
    <p:sldId id="360" r:id="rId14"/>
    <p:sldId id="361" r:id="rId15"/>
    <p:sldId id="362" r:id="rId16"/>
    <p:sldId id="363" r:id="rId17"/>
    <p:sldId id="364" r:id="rId18"/>
    <p:sldId id="365" r:id="rId19"/>
    <p:sldId id="366" r:id="rId20"/>
    <p:sldId id="367" r:id="rId21"/>
    <p:sldId id="368" r:id="rId22"/>
    <p:sldId id="333" r:id="rId23"/>
    <p:sldId id="403" r:id="rId24"/>
    <p:sldId id="369" r:id="rId25"/>
    <p:sldId id="370" r:id="rId26"/>
    <p:sldId id="371" r:id="rId27"/>
    <p:sldId id="372" r:id="rId28"/>
    <p:sldId id="373" r:id="rId29"/>
    <p:sldId id="374" r:id="rId30"/>
    <p:sldId id="377" r:id="rId31"/>
    <p:sldId id="378" r:id="rId32"/>
    <p:sldId id="379" r:id="rId33"/>
    <p:sldId id="380" r:id="rId34"/>
    <p:sldId id="401" r:id="rId35"/>
    <p:sldId id="376" r:id="rId36"/>
    <p:sldId id="351" r:id="rId37"/>
    <p:sldId id="382" r:id="rId38"/>
    <p:sldId id="383" r:id="rId39"/>
    <p:sldId id="384" r:id="rId40"/>
    <p:sldId id="400" r:id="rId41"/>
    <p:sldId id="385" r:id="rId42"/>
    <p:sldId id="386" r:id="rId43"/>
    <p:sldId id="387" r:id="rId44"/>
    <p:sldId id="402"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46464"/>
    <a:srgbClr val="323232"/>
    <a:srgbClr val="0000FF"/>
    <a:srgbClr val="00FF00"/>
    <a:srgbClr val="404040"/>
    <a:srgbClr val="8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303"/>
    <p:restoredTop sz="84967" autoAdjust="0"/>
  </p:normalViewPr>
  <p:slideViewPr>
    <p:cSldViewPr>
      <p:cViewPr>
        <p:scale>
          <a:sx n="95" d="100"/>
          <a:sy n="95" d="100"/>
        </p:scale>
        <p:origin x="1912" y="-12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705BBA5-28D6-4FEC-BDCF-A471F1B098DC}" type="datetimeFigureOut">
              <a:rPr lang="en-US" smtClean="0"/>
              <a:t>10/7/25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859093-AD9B-4038-95B1-74A0CCD24294}" type="slidenum">
              <a:rPr lang="en-US" smtClean="0"/>
              <a:t>‹#›</a:t>
            </a:fld>
            <a:endParaRPr lang="en-US"/>
          </a:p>
        </p:txBody>
      </p:sp>
    </p:spTree>
    <p:extLst>
      <p:ext uri="{BB962C8B-B14F-4D97-AF65-F5344CB8AC3E}">
        <p14:creationId xmlns:p14="http://schemas.microsoft.com/office/powerpoint/2010/main" val="32498567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TR" dirty="0"/>
              <a:t>Each pixel can only be black and white.</a:t>
            </a:r>
          </a:p>
        </p:txBody>
      </p:sp>
      <p:sp>
        <p:nvSpPr>
          <p:cNvPr id="4" name="Slide Number Placeholder 3"/>
          <p:cNvSpPr>
            <a:spLocks noGrp="1"/>
          </p:cNvSpPr>
          <p:nvPr>
            <p:ph type="sldNum" sz="quarter" idx="5"/>
          </p:nvPr>
        </p:nvSpPr>
        <p:spPr/>
        <p:txBody>
          <a:bodyPr/>
          <a:lstStyle/>
          <a:p>
            <a:fld id="{A7859093-AD9B-4038-95B1-74A0CCD24294}" type="slidenum">
              <a:rPr lang="en-US" smtClean="0"/>
              <a:t>8</a:t>
            </a:fld>
            <a:endParaRPr lang="en-US"/>
          </a:p>
        </p:txBody>
      </p:sp>
    </p:spTree>
    <p:extLst>
      <p:ext uri="{BB962C8B-B14F-4D97-AF65-F5344CB8AC3E}">
        <p14:creationId xmlns:p14="http://schemas.microsoft.com/office/powerpoint/2010/main" val="28669803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TR" dirty="0"/>
              <a:t>Each pixel has a pixel value between 0 and 255 0 being dark 255 being white</a:t>
            </a:r>
          </a:p>
        </p:txBody>
      </p:sp>
      <p:sp>
        <p:nvSpPr>
          <p:cNvPr id="4" name="Slide Number Placeholder 3"/>
          <p:cNvSpPr>
            <a:spLocks noGrp="1"/>
          </p:cNvSpPr>
          <p:nvPr>
            <p:ph type="sldNum" sz="quarter" idx="5"/>
          </p:nvPr>
        </p:nvSpPr>
        <p:spPr/>
        <p:txBody>
          <a:bodyPr/>
          <a:lstStyle/>
          <a:p>
            <a:fld id="{A7859093-AD9B-4038-95B1-74A0CCD24294}" type="slidenum">
              <a:rPr lang="en-US" smtClean="0"/>
              <a:t>9</a:t>
            </a:fld>
            <a:endParaRPr lang="en-US"/>
          </a:p>
        </p:txBody>
      </p:sp>
    </p:spTree>
    <p:extLst>
      <p:ext uri="{BB962C8B-B14F-4D97-AF65-F5344CB8AC3E}">
        <p14:creationId xmlns:p14="http://schemas.microsoft.com/office/powerpoint/2010/main" val="2372680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TR" dirty="0"/>
              <a:t>Each pixel has a RGB value (100,155,255)</a:t>
            </a:r>
          </a:p>
        </p:txBody>
      </p:sp>
      <p:sp>
        <p:nvSpPr>
          <p:cNvPr id="4" name="Slide Number Placeholder 3"/>
          <p:cNvSpPr>
            <a:spLocks noGrp="1"/>
          </p:cNvSpPr>
          <p:nvPr>
            <p:ph type="sldNum" sz="quarter" idx="5"/>
          </p:nvPr>
        </p:nvSpPr>
        <p:spPr/>
        <p:txBody>
          <a:bodyPr/>
          <a:lstStyle/>
          <a:p>
            <a:fld id="{A7859093-AD9B-4038-95B1-74A0CCD24294}" type="slidenum">
              <a:rPr lang="en-US" smtClean="0"/>
              <a:t>10</a:t>
            </a:fld>
            <a:endParaRPr lang="en-US"/>
          </a:p>
        </p:txBody>
      </p:sp>
    </p:spTree>
    <p:extLst>
      <p:ext uri="{BB962C8B-B14F-4D97-AF65-F5344CB8AC3E}">
        <p14:creationId xmlns:p14="http://schemas.microsoft.com/office/powerpoint/2010/main" val="29908892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TR" dirty="0"/>
          </a:p>
        </p:txBody>
      </p:sp>
      <p:sp>
        <p:nvSpPr>
          <p:cNvPr id="4" name="Slide Number Placeholder 3"/>
          <p:cNvSpPr>
            <a:spLocks noGrp="1"/>
          </p:cNvSpPr>
          <p:nvPr>
            <p:ph type="sldNum" sz="quarter" idx="5"/>
          </p:nvPr>
        </p:nvSpPr>
        <p:spPr/>
        <p:txBody>
          <a:bodyPr/>
          <a:lstStyle/>
          <a:p>
            <a:fld id="{A7859093-AD9B-4038-95B1-74A0CCD24294}" type="slidenum">
              <a:rPr lang="en-US" smtClean="0"/>
              <a:t>11</a:t>
            </a:fld>
            <a:endParaRPr lang="en-US"/>
          </a:p>
        </p:txBody>
      </p:sp>
    </p:spTree>
    <p:extLst>
      <p:ext uri="{BB962C8B-B14F-4D97-AF65-F5344CB8AC3E}">
        <p14:creationId xmlns:p14="http://schemas.microsoft.com/office/powerpoint/2010/main" val="13178293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TR" dirty="0"/>
              <a:t>In this format, the part until 255 (included) is called the header section. </a:t>
            </a:r>
          </a:p>
          <a:p>
            <a:r>
              <a:rPr lang="en-TR" dirty="0"/>
              <a:t>4 and 4 part means the width and height (16 pixels in total). </a:t>
            </a:r>
          </a:p>
          <a:p>
            <a:r>
              <a:rPr lang="en-TR" dirty="0"/>
              <a:t>255 is the max value a pixel can have.</a:t>
            </a:r>
          </a:p>
          <a:p>
            <a:r>
              <a:rPr lang="en-TR" dirty="0"/>
              <a:t>And the test is the RGB values for each pixel</a:t>
            </a:r>
          </a:p>
        </p:txBody>
      </p:sp>
      <p:sp>
        <p:nvSpPr>
          <p:cNvPr id="4" name="Slide Number Placeholder 3"/>
          <p:cNvSpPr>
            <a:spLocks noGrp="1"/>
          </p:cNvSpPr>
          <p:nvPr>
            <p:ph type="sldNum" sz="quarter" idx="5"/>
          </p:nvPr>
        </p:nvSpPr>
        <p:spPr/>
        <p:txBody>
          <a:bodyPr/>
          <a:lstStyle/>
          <a:p>
            <a:fld id="{A7859093-AD9B-4038-95B1-74A0CCD24294}" type="slidenum">
              <a:rPr lang="en-US" smtClean="0"/>
              <a:t>15</a:t>
            </a:fld>
            <a:endParaRPr lang="en-US"/>
          </a:p>
        </p:txBody>
      </p:sp>
    </p:spTree>
    <p:extLst>
      <p:ext uri="{BB962C8B-B14F-4D97-AF65-F5344CB8AC3E}">
        <p14:creationId xmlns:p14="http://schemas.microsoft.com/office/powerpoint/2010/main" val="32887514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Assuming each pixel</a:t>
            </a:r>
            <a:r>
              <a:rPr lang="en-US" baseline="0" dirty="0"/>
              <a:t> value is equally likely and each pixel is followed by a single character of white space (blank, tab, or newline):</a:t>
            </a:r>
          </a:p>
          <a:p>
            <a:endParaRPr lang="en-US" baseline="0" dirty="0"/>
          </a:p>
          <a:p>
            <a:r>
              <a:rPr lang="en-US" baseline="0" dirty="0"/>
              <a:t>1 (for white space) + (10 * 1 + 90 * 2 + 156 * 3) / 256 = 3.57 -&gt; This value is the average bytes a pixel would occupy. So we multiply this with 3 (since there are 3 colors) and 18 megapixel and then divide it with 1024*1024 since we want the result in megabyte.</a:t>
            </a:r>
            <a:endParaRPr lang="en-US" dirty="0"/>
          </a:p>
        </p:txBody>
      </p:sp>
      <p:sp>
        <p:nvSpPr>
          <p:cNvPr id="4" name="Slide Number Placeholder 3"/>
          <p:cNvSpPr>
            <a:spLocks noGrp="1"/>
          </p:cNvSpPr>
          <p:nvPr>
            <p:ph type="sldNum" sz="quarter" idx="10"/>
          </p:nvPr>
        </p:nvSpPr>
        <p:spPr/>
        <p:txBody>
          <a:bodyPr/>
          <a:lstStyle/>
          <a:p>
            <a:fld id="{A7859093-AD9B-4038-95B1-74A0CCD24294}" type="slidenum">
              <a:rPr lang="en-US" smtClean="0"/>
              <a:t>16</a:t>
            </a:fld>
            <a:endParaRPr lang="en-US"/>
          </a:p>
        </p:txBody>
      </p:sp>
    </p:spTree>
    <p:extLst>
      <p:ext uri="{BB962C8B-B14F-4D97-AF65-F5344CB8AC3E}">
        <p14:creationId xmlns:p14="http://schemas.microsoft.com/office/powerpoint/2010/main" val="26143138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TR" dirty="0"/>
              <a:t>Spacial similarity -&gt; pixel groups is similar. </a:t>
            </a:r>
            <a:r>
              <a:rPr lang="en-US" b="1" dirty="0"/>
              <a:t>Spatial similarity</a:t>
            </a:r>
            <a:r>
              <a:rPr lang="en-US" dirty="0"/>
              <a:t> in computer graphics, vision, and data analysis refers to the principle that nearby points or objects in a defined space (2D image space or 3D world space) are likely to share similar properties or relationships.(1 frame)</a:t>
            </a:r>
            <a:endParaRPr lang="en-TR" dirty="0"/>
          </a:p>
          <a:p>
            <a:r>
              <a:rPr lang="en-TR" dirty="0"/>
              <a:t>Temporal similarity -&gt; </a:t>
            </a:r>
            <a:r>
              <a:rPr lang="en-US" b="1" dirty="0"/>
              <a:t>Temporal Coherence (Temporal Similarity)</a:t>
            </a:r>
            <a:r>
              <a:rPr lang="en-US" dirty="0"/>
              <a:t> is the observation that in a sequence of rendered frames (an animation or video), there is very little change between one frame and the next, especially when the frame rate is high.(Multiple frames)</a:t>
            </a:r>
            <a:endParaRPr lang="en-TR" dirty="0"/>
          </a:p>
        </p:txBody>
      </p:sp>
      <p:sp>
        <p:nvSpPr>
          <p:cNvPr id="4" name="Slide Number Placeholder 3"/>
          <p:cNvSpPr>
            <a:spLocks noGrp="1"/>
          </p:cNvSpPr>
          <p:nvPr>
            <p:ph type="sldNum" sz="quarter" idx="5"/>
          </p:nvPr>
        </p:nvSpPr>
        <p:spPr/>
        <p:txBody>
          <a:bodyPr/>
          <a:lstStyle/>
          <a:p>
            <a:fld id="{A7859093-AD9B-4038-95B1-74A0CCD24294}" type="slidenum">
              <a:rPr lang="en-US" smtClean="0"/>
              <a:t>23</a:t>
            </a:fld>
            <a:endParaRPr lang="en-US"/>
          </a:p>
        </p:txBody>
      </p:sp>
    </p:spTree>
    <p:extLst>
      <p:ext uri="{BB962C8B-B14F-4D97-AF65-F5344CB8AC3E}">
        <p14:creationId xmlns:p14="http://schemas.microsoft.com/office/powerpoint/2010/main" val="41066965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TR" dirty="0"/>
          </a:p>
        </p:txBody>
      </p:sp>
      <p:sp>
        <p:nvSpPr>
          <p:cNvPr id="4" name="Slide Number Placeholder 3"/>
          <p:cNvSpPr>
            <a:spLocks noGrp="1"/>
          </p:cNvSpPr>
          <p:nvPr>
            <p:ph type="sldNum" sz="quarter" idx="5"/>
          </p:nvPr>
        </p:nvSpPr>
        <p:spPr/>
        <p:txBody>
          <a:bodyPr/>
          <a:lstStyle/>
          <a:p>
            <a:fld id="{A7859093-AD9B-4038-95B1-74A0CCD24294}" type="slidenum">
              <a:rPr lang="en-US" smtClean="0"/>
              <a:t>24</a:t>
            </a:fld>
            <a:endParaRPr lang="en-US"/>
          </a:p>
        </p:txBody>
      </p:sp>
    </p:spTree>
    <p:extLst>
      <p:ext uri="{BB962C8B-B14F-4D97-AF65-F5344CB8AC3E}">
        <p14:creationId xmlns:p14="http://schemas.microsoft.com/office/powerpoint/2010/main" val="42143023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effectLst/>
              </a:rPr>
              <a:t>A </a:t>
            </a:r>
            <a:r>
              <a:rPr lang="en-US" b="1" dirty="0">
                <a:effectLst/>
              </a:rPr>
              <a:t>low exposure image</a:t>
            </a:r>
            <a:r>
              <a:rPr lang="en-US" dirty="0">
                <a:effectLst/>
              </a:rPr>
              <a:t> is a photograph that has received </a:t>
            </a:r>
            <a:r>
              <a:rPr lang="en-US" b="1" dirty="0">
                <a:effectLst/>
              </a:rPr>
              <a:t>less light</a:t>
            </a:r>
            <a:r>
              <a:rPr lang="en-US" dirty="0">
                <a:effectLst/>
              </a:rPr>
              <a:t> than what a light meter considers to be a neutral or "correct" exposure, while a </a:t>
            </a:r>
            <a:r>
              <a:rPr lang="en-US" b="1" dirty="0">
                <a:effectLst/>
              </a:rPr>
              <a:t>high exposure image</a:t>
            </a:r>
            <a:r>
              <a:rPr lang="en-US" dirty="0">
                <a:effectLst/>
              </a:rPr>
              <a:t> is one that has received </a:t>
            </a:r>
            <a:r>
              <a:rPr lang="en-US" b="1" dirty="0">
                <a:effectLst/>
              </a:rPr>
              <a:t>significantly more light</a:t>
            </a:r>
            <a:r>
              <a:rPr lang="en-US" dirty="0">
                <a:effectLst/>
              </a:rPr>
              <a:t>.</a:t>
            </a:r>
          </a:p>
          <a:p>
            <a:endParaRPr lang="en-TR" dirty="0"/>
          </a:p>
        </p:txBody>
      </p:sp>
      <p:sp>
        <p:nvSpPr>
          <p:cNvPr id="4" name="Slide Number Placeholder 3"/>
          <p:cNvSpPr>
            <a:spLocks noGrp="1"/>
          </p:cNvSpPr>
          <p:nvPr>
            <p:ph type="sldNum" sz="quarter" idx="5"/>
          </p:nvPr>
        </p:nvSpPr>
        <p:spPr/>
        <p:txBody>
          <a:bodyPr/>
          <a:lstStyle/>
          <a:p>
            <a:fld id="{A7859093-AD9B-4038-95B1-74A0CCD24294}" type="slidenum">
              <a:rPr lang="en-US" smtClean="0"/>
              <a:t>25</a:t>
            </a:fld>
            <a:endParaRPr lang="en-US"/>
          </a:p>
        </p:txBody>
      </p:sp>
    </p:spTree>
    <p:extLst>
      <p:ext uri="{BB962C8B-B14F-4D97-AF65-F5344CB8AC3E}">
        <p14:creationId xmlns:p14="http://schemas.microsoft.com/office/powerpoint/2010/main" val="3207868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difference between a </a:t>
            </a:r>
            <a:r>
              <a:rPr lang="en-US" b="1" dirty="0"/>
              <a:t>pixel value</a:t>
            </a:r>
            <a:r>
              <a:rPr lang="en-US" dirty="0"/>
              <a:t> and </a:t>
            </a:r>
            <a:r>
              <a:rPr lang="en-US" b="1" dirty="0"/>
              <a:t>luminance</a:t>
            </a:r>
            <a:r>
              <a:rPr lang="en-US" dirty="0"/>
              <a:t> is that a pixel value is a </a:t>
            </a:r>
            <a:r>
              <a:rPr lang="en-US" b="1" dirty="0"/>
              <a:t>digital representation</a:t>
            </a:r>
            <a:r>
              <a:rPr lang="en-US" dirty="0"/>
              <a:t> of data stored in a file, while luminance is a </a:t>
            </a:r>
            <a:r>
              <a:rPr lang="en-US" b="1" dirty="0"/>
              <a:t>physical measurement</a:t>
            </a:r>
            <a:r>
              <a:rPr lang="en-US" dirty="0"/>
              <a:t> of light in the real world or emitted by a display. So what high exposure does is it gives a bright image for low luminance input.</a:t>
            </a:r>
          </a:p>
          <a:p>
            <a:endParaRPr lang="en-TR" dirty="0"/>
          </a:p>
        </p:txBody>
      </p:sp>
      <p:sp>
        <p:nvSpPr>
          <p:cNvPr id="4" name="Slide Number Placeholder 3"/>
          <p:cNvSpPr>
            <a:spLocks noGrp="1"/>
          </p:cNvSpPr>
          <p:nvPr>
            <p:ph type="sldNum" sz="quarter" idx="5"/>
          </p:nvPr>
        </p:nvSpPr>
        <p:spPr/>
        <p:txBody>
          <a:bodyPr/>
          <a:lstStyle/>
          <a:p>
            <a:fld id="{A7859093-AD9B-4038-95B1-74A0CCD24294}" type="slidenum">
              <a:rPr lang="en-US" smtClean="0"/>
              <a:t>28</a:t>
            </a:fld>
            <a:endParaRPr lang="en-US"/>
          </a:p>
        </p:txBody>
      </p:sp>
    </p:spTree>
    <p:extLst>
      <p:ext uri="{BB962C8B-B14F-4D97-AF65-F5344CB8AC3E}">
        <p14:creationId xmlns:p14="http://schemas.microsoft.com/office/powerpoint/2010/main" val="7502857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TR" dirty="0"/>
              <a:t>In reality most cameras use this (not </a:t>
            </a:r>
            <a:r>
              <a:rPr lang="en-US" dirty="0" err="1"/>
              <a:t>th</a:t>
            </a:r>
            <a:r>
              <a:rPr lang="en-TR" dirty="0"/>
              <a:t>e previous one).</a:t>
            </a:r>
          </a:p>
        </p:txBody>
      </p:sp>
      <p:sp>
        <p:nvSpPr>
          <p:cNvPr id="4" name="Slide Number Placeholder 3"/>
          <p:cNvSpPr>
            <a:spLocks noGrp="1"/>
          </p:cNvSpPr>
          <p:nvPr>
            <p:ph type="sldNum" sz="quarter" idx="5"/>
          </p:nvPr>
        </p:nvSpPr>
        <p:spPr/>
        <p:txBody>
          <a:bodyPr/>
          <a:lstStyle/>
          <a:p>
            <a:fld id="{A7859093-AD9B-4038-95B1-74A0CCD24294}" type="slidenum">
              <a:rPr lang="en-US" smtClean="0"/>
              <a:t>29</a:t>
            </a:fld>
            <a:endParaRPr lang="en-US"/>
          </a:p>
        </p:txBody>
      </p:sp>
    </p:spTree>
    <p:extLst>
      <p:ext uri="{BB962C8B-B14F-4D97-AF65-F5344CB8AC3E}">
        <p14:creationId xmlns:p14="http://schemas.microsoft.com/office/powerpoint/2010/main" val="23137831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TR" dirty="0"/>
              <a:t>Single capture is not enough to take all of the data, so we take multiple images and then combine them into a HDR image.</a:t>
            </a:r>
          </a:p>
          <a:p>
            <a:r>
              <a:rPr lang="en-TR" dirty="0"/>
              <a:t>HDR image -&gt; </a:t>
            </a:r>
            <a:r>
              <a:rPr lang="en-US" dirty="0"/>
              <a:t>An </a:t>
            </a:r>
            <a:r>
              <a:rPr lang="en-US" b="1" dirty="0"/>
              <a:t>High Dynamic Range (HDR)</a:t>
            </a:r>
            <a:r>
              <a:rPr lang="en-US" dirty="0"/>
              <a:t> image is a digital image that contains a significantly </a:t>
            </a:r>
            <a:r>
              <a:rPr lang="en-US" b="1" dirty="0"/>
              <a:t>greater range of luminosity</a:t>
            </a:r>
            <a:r>
              <a:rPr lang="en-US" dirty="0"/>
              <a:t> (brightness and contrast) and color information than a standard image.</a:t>
            </a:r>
          </a:p>
          <a:p>
            <a:r>
              <a:rPr lang="en-US" dirty="0"/>
              <a:t>The purpose of HDR is to represent a visual scene in a way that is closer to what the </a:t>
            </a:r>
            <a:r>
              <a:rPr lang="en-US" b="1" dirty="0"/>
              <a:t>human eye</a:t>
            </a:r>
            <a:r>
              <a:rPr lang="en-US" dirty="0"/>
              <a:t> perceives, where details are visible simultaneously in both very bright areas (highlights) and very dark areas (shadows). This is done with taking multiple images with high exposure and low exposure and combining them.</a:t>
            </a:r>
          </a:p>
          <a:p>
            <a:endParaRPr lang="en-TR" dirty="0"/>
          </a:p>
        </p:txBody>
      </p:sp>
      <p:sp>
        <p:nvSpPr>
          <p:cNvPr id="4" name="Slide Number Placeholder 3"/>
          <p:cNvSpPr>
            <a:spLocks noGrp="1"/>
          </p:cNvSpPr>
          <p:nvPr>
            <p:ph type="sldNum" sz="quarter" idx="5"/>
          </p:nvPr>
        </p:nvSpPr>
        <p:spPr/>
        <p:txBody>
          <a:bodyPr/>
          <a:lstStyle/>
          <a:p>
            <a:fld id="{A7859093-AD9B-4038-95B1-74A0CCD24294}" type="slidenum">
              <a:rPr lang="en-US" smtClean="0"/>
              <a:t>30</a:t>
            </a:fld>
            <a:endParaRPr lang="en-US"/>
          </a:p>
        </p:txBody>
      </p:sp>
    </p:spTree>
    <p:extLst>
      <p:ext uri="{BB962C8B-B14F-4D97-AF65-F5344CB8AC3E}">
        <p14:creationId xmlns:p14="http://schemas.microsoft.com/office/powerpoint/2010/main" val="18451613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Generally speaking, images with </a:t>
            </a:r>
            <a:r>
              <a:rPr lang="en-US" b="1" dirty="0"/>
              <a:t>higher exposure values</a:t>
            </a:r>
            <a:r>
              <a:rPr lang="en-US" dirty="0"/>
              <a:t> take </a:t>
            </a:r>
            <a:r>
              <a:rPr lang="en-US" b="1" dirty="0"/>
              <a:t>longer to capture</a:t>
            </a:r>
            <a:r>
              <a:rPr lang="en-US" dirty="0"/>
              <a:t> than images with lower exposure values, because the primary way to increase total exposure is to increase the </a:t>
            </a:r>
            <a:r>
              <a:rPr lang="en-US" b="1" dirty="0"/>
              <a:t>shutter speed (exposure time)</a:t>
            </a:r>
            <a:r>
              <a:rPr lang="en-US" dirty="0"/>
              <a:t>.</a:t>
            </a:r>
            <a:endParaRPr lang="en-TR" dirty="0"/>
          </a:p>
        </p:txBody>
      </p:sp>
      <p:sp>
        <p:nvSpPr>
          <p:cNvPr id="4" name="Slide Number Placeholder 3"/>
          <p:cNvSpPr>
            <a:spLocks noGrp="1"/>
          </p:cNvSpPr>
          <p:nvPr>
            <p:ph type="sldNum" sz="quarter" idx="5"/>
          </p:nvPr>
        </p:nvSpPr>
        <p:spPr/>
        <p:txBody>
          <a:bodyPr/>
          <a:lstStyle/>
          <a:p>
            <a:fld id="{A7859093-AD9B-4038-95B1-74A0CCD24294}" type="slidenum">
              <a:rPr lang="en-US" smtClean="0"/>
              <a:t>31</a:t>
            </a:fld>
            <a:endParaRPr lang="en-US"/>
          </a:p>
        </p:txBody>
      </p:sp>
    </p:spTree>
    <p:extLst>
      <p:ext uri="{BB962C8B-B14F-4D97-AF65-F5344CB8AC3E}">
        <p14:creationId xmlns:p14="http://schemas.microsoft.com/office/powerpoint/2010/main" val="23709674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HDR images cannot be displayed directly on a Standard Dynamic Range (SDR) monitor because the image data contains a </a:t>
            </a:r>
            <a:r>
              <a:rPr lang="en-US" b="1" dirty="0"/>
              <a:t>wider range of brightness and color values</a:t>
            </a:r>
            <a:r>
              <a:rPr lang="en-US" dirty="0"/>
              <a:t> than the display hardware is physically capable of showing.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Tone mapping</a:t>
            </a:r>
            <a:r>
              <a:rPr lang="en-US" dirty="0"/>
              <a:t> is a critical image processing technique used to </a:t>
            </a:r>
            <a:r>
              <a:rPr lang="en-US" b="1" dirty="0"/>
              <a:t>compress the extended brightness (dynamic range)</a:t>
            </a:r>
            <a:r>
              <a:rPr lang="en-US" dirty="0"/>
              <a:t> of an HDR image into the smaller range that an SDR display or print medium can successfully show, while striving to </a:t>
            </a:r>
            <a:r>
              <a:rPr lang="en-US" b="1" dirty="0"/>
              <a:t>preserve the visual details</a:t>
            </a:r>
            <a:r>
              <a:rPr lang="en-US" dirty="0"/>
              <a:t> and perceived contrast of the original scene.</a:t>
            </a:r>
          </a:p>
          <a:p>
            <a:endParaRPr lang="en-US" dirty="0"/>
          </a:p>
          <a:p>
            <a:endParaRPr lang="en-TR" dirty="0"/>
          </a:p>
        </p:txBody>
      </p:sp>
      <p:sp>
        <p:nvSpPr>
          <p:cNvPr id="4" name="Slide Number Placeholder 3"/>
          <p:cNvSpPr>
            <a:spLocks noGrp="1"/>
          </p:cNvSpPr>
          <p:nvPr>
            <p:ph type="sldNum" sz="quarter" idx="5"/>
          </p:nvPr>
        </p:nvSpPr>
        <p:spPr/>
        <p:txBody>
          <a:bodyPr/>
          <a:lstStyle/>
          <a:p>
            <a:fld id="{A7859093-AD9B-4038-95B1-74A0CCD24294}" type="slidenum">
              <a:rPr lang="en-US" smtClean="0"/>
              <a:t>32</a:t>
            </a:fld>
            <a:endParaRPr lang="en-US"/>
          </a:p>
        </p:txBody>
      </p:sp>
    </p:spTree>
    <p:extLst>
      <p:ext uri="{BB962C8B-B14F-4D97-AF65-F5344CB8AC3E}">
        <p14:creationId xmlns:p14="http://schemas.microsoft.com/office/powerpoint/2010/main" val="6064993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TR" dirty="0"/>
              <a:t>Here is the flow;</a:t>
            </a:r>
          </a:p>
          <a:p>
            <a:r>
              <a:rPr lang="en-TR" dirty="0"/>
              <a:t>	Digital signal representing the RGB value of a pixel (8 bits per color) -&gt; Analog Voltages in the display device -&gt; Luminance coming out of display device based on the incoming voltage value (not linear)</a:t>
            </a:r>
          </a:p>
        </p:txBody>
      </p:sp>
      <p:sp>
        <p:nvSpPr>
          <p:cNvPr id="4" name="Slide Number Placeholder 3"/>
          <p:cNvSpPr>
            <a:spLocks noGrp="1"/>
          </p:cNvSpPr>
          <p:nvPr>
            <p:ph type="sldNum" sz="quarter" idx="5"/>
          </p:nvPr>
        </p:nvSpPr>
        <p:spPr/>
        <p:txBody>
          <a:bodyPr/>
          <a:lstStyle/>
          <a:p>
            <a:fld id="{A7859093-AD9B-4038-95B1-74A0CCD24294}" type="slidenum">
              <a:rPr lang="en-US" smtClean="0"/>
              <a:t>38</a:t>
            </a:fld>
            <a:endParaRPr lang="en-US"/>
          </a:p>
        </p:txBody>
      </p:sp>
    </p:spTree>
    <p:extLst>
      <p:ext uri="{BB962C8B-B14F-4D97-AF65-F5344CB8AC3E}">
        <p14:creationId xmlns:p14="http://schemas.microsoft.com/office/powerpoint/2010/main" val="4353161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 1 and b = 0 in simplest format. So that we get </a:t>
            </a:r>
            <a:r>
              <a:rPr lang="en-US" dirty="0" err="1"/>
              <a:t>L_out</a:t>
            </a:r>
            <a:r>
              <a:rPr lang="en-US" dirty="0"/>
              <a:t> = V^(gamma)</a:t>
            </a:r>
            <a:endParaRPr lang="en-TR" dirty="0"/>
          </a:p>
        </p:txBody>
      </p:sp>
      <p:sp>
        <p:nvSpPr>
          <p:cNvPr id="4" name="Slide Number Placeholder 3"/>
          <p:cNvSpPr>
            <a:spLocks noGrp="1"/>
          </p:cNvSpPr>
          <p:nvPr>
            <p:ph type="sldNum" sz="quarter" idx="5"/>
          </p:nvPr>
        </p:nvSpPr>
        <p:spPr/>
        <p:txBody>
          <a:bodyPr/>
          <a:lstStyle/>
          <a:p>
            <a:fld id="{A7859093-AD9B-4038-95B1-74A0CCD24294}" type="slidenum">
              <a:rPr lang="en-US" smtClean="0"/>
              <a:t>39</a:t>
            </a:fld>
            <a:endParaRPr lang="en-US"/>
          </a:p>
        </p:txBody>
      </p:sp>
    </p:spTree>
    <p:extLst>
      <p:ext uri="{BB962C8B-B14F-4D97-AF65-F5344CB8AC3E}">
        <p14:creationId xmlns:p14="http://schemas.microsoft.com/office/powerpoint/2010/main" val="41062873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TR" dirty="0"/>
              <a:t>This means that before saving the image, we must apply the gamma correction to the image so that we do not see unnaturally dark images.</a:t>
            </a:r>
          </a:p>
        </p:txBody>
      </p:sp>
      <p:sp>
        <p:nvSpPr>
          <p:cNvPr id="4" name="Slide Number Placeholder 3"/>
          <p:cNvSpPr>
            <a:spLocks noGrp="1"/>
          </p:cNvSpPr>
          <p:nvPr>
            <p:ph type="sldNum" sz="quarter" idx="5"/>
          </p:nvPr>
        </p:nvSpPr>
        <p:spPr/>
        <p:txBody>
          <a:bodyPr/>
          <a:lstStyle/>
          <a:p>
            <a:fld id="{A7859093-AD9B-4038-95B1-74A0CCD24294}" type="slidenum">
              <a:rPr lang="en-US" smtClean="0"/>
              <a:t>43</a:t>
            </a:fld>
            <a:endParaRPr lang="en-US"/>
          </a:p>
        </p:txBody>
      </p:sp>
    </p:spTree>
    <p:extLst>
      <p:ext uri="{BB962C8B-B14F-4D97-AF65-F5344CB8AC3E}">
        <p14:creationId xmlns:p14="http://schemas.microsoft.com/office/powerpoint/2010/main" val="8651138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normAutofit/>
          </a:bodyPr>
          <a:lstStyle>
            <a:lvl1pPr>
              <a:defRPr sz="4400"/>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12E92994-2AF3-4088-B521-311C9BDDABFF}" type="datetime1">
              <a:rPr lang="en-US" smtClean="0"/>
              <a:t>10/7/25</a:t>
            </a:fld>
            <a:endParaRPr lang="en-US"/>
          </a:p>
        </p:txBody>
      </p:sp>
      <p:sp>
        <p:nvSpPr>
          <p:cNvPr id="5" name="Footer Placeholder 4"/>
          <p:cNvSpPr>
            <a:spLocks noGrp="1"/>
          </p:cNvSpPr>
          <p:nvPr>
            <p:ph type="ftr" sz="quarter" idx="11"/>
          </p:nvPr>
        </p:nvSpPr>
        <p:spPr/>
        <p:txBody>
          <a:bodyPr/>
          <a:lstStyle>
            <a:lvl1pPr>
              <a:defRPr/>
            </a:lvl1pPr>
          </a:lstStyle>
          <a:p>
            <a:r>
              <a:rPr lang="en-US"/>
              <a:t>CENG 477 – Computer Graphics</a:t>
            </a:r>
            <a:endParaRPr lang="en-US" dirty="0"/>
          </a:p>
        </p:txBody>
      </p:sp>
      <p:sp>
        <p:nvSpPr>
          <p:cNvPr id="6" name="Slide Number Placeholder 5"/>
          <p:cNvSpPr>
            <a:spLocks noGrp="1"/>
          </p:cNvSpPr>
          <p:nvPr>
            <p:ph type="sldNum" sz="quarter" idx="12"/>
          </p:nvPr>
        </p:nvSpPr>
        <p:spPr/>
        <p:txBody>
          <a:bodyPr/>
          <a:lstStyle/>
          <a:p>
            <a:fld id="{30D85F22-8D96-4CC0-8AEC-D5DD45058382}" type="slidenum">
              <a:rPr lang="en-US" smtClean="0"/>
              <a:t>‹#›</a:t>
            </a:fld>
            <a:endParaRPr lang="en-US"/>
          </a:p>
        </p:txBody>
      </p:sp>
    </p:spTree>
    <p:extLst>
      <p:ext uri="{BB962C8B-B14F-4D97-AF65-F5344CB8AC3E}">
        <p14:creationId xmlns:p14="http://schemas.microsoft.com/office/powerpoint/2010/main" val="28505994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chemeClr val="tx1"/>
              </a:buClr>
              <a:defRPr sz="2400"/>
            </a:lvl1pPr>
            <a:lvl2pPr>
              <a:buClr>
                <a:schemeClr val="tx1"/>
              </a:buClr>
              <a:defRPr sz="2000"/>
            </a:lvl2pPr>
            <a:lvl3pPr>
              <a:defRPr sz="1600"/>
            </a:lvl3pPr>
            <a:lvl4pPr>
              <a:defRPr sz="14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53BBBF56-47A6-44FB-B912-DC09FDF047B7}" type="datetime1">
              <a:rPr lang="en-US" smtClean="0"/>
              <a:t>10/7/25</a:t>
            </a:fld>
            <a:endParaRPr lang="en-US"/>
          </a:p>
        </p:txBody>
      </p:sp>
      <p:sp>
        <p:nvSpPr>
          <p:cNvPr id="5" name="Footer Placeholder 4"/>
          <p:cNvSpPr>
            <a:spLocks noGrp="1"/>
          </p:cNvSpPr>
          <p:nvPr>
            <p:ph type="ftr" sz="quarter" idx="11"/>
          </p:nvPr>
        </p:nvSpPr>
        <p:spPr/>
        <p:txBody>
          <a:bodyPr/>
          <a:lstStyle/>
          <a:p>
            <a:r>
              <a:rPr lang="en-US"/>
              <a:t>CENG 477 – Computer Graphics</a:t>
            </a:r>
          </a:p>
        </p:txBody>
      </p:sp>
      <p:sp>
        <p:nvSpPr>
          <p:cNvPr id="6" name="Slide Number Placeholder 5"/>
          <p:cNvSpPr>
            <a:spLocks noGrp="1"/>
          </p:cNvSpPr>
          <p:nvPr>
            <p:ph type="sldNum" sz="quarter" idx="12"/>
          </p:nvPr>
        </p:nvSpPr>
        <p:spPr/>
        <p:txBody>
          <a:bodyPr/>
          <a:lstStyle/>
          <a:p>
            <a:fld id="{30D85F22-8D96-4CC0-8AEC-D5DD45058382}" type="slidenum">
              <a:rPr lang="en-US" smtClean="0"/>
              <a:t>‹#›</a:t>
            </a:fld>
            <a:endParaRPr lang="en-US"/>
          </a:p>
        </p:txBody>
      </p:sp>
    </p:spTree>
    <p:extLst>
      <p:ext uri="{BB962C8B-B14F-4D97-AF65-F5344CB8AC3E}">
        <p14:creationId xmlns:p14="http://schemas.microsoft.com/office/powerpoint/2010/main" val="373610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41288B32-27F6-4060-9A60-3C148ABA1F52}" type="datetime1">
              <a:rPr lang="en-US" smtClean="0"/>
              <a:t>10/7/25</a:t>
            </a:fld>
            <a:endParaRPr lang="en-US"/>
          </a:p>
        </p:txBody>
      </p:sp>
      <p:sp>
        <p:nvSpPr>
          <p:cNvPr id="5" name="Footer Placeholder 4"/>
          <p:cNvSpPr>
            <a:spLocks noGrp="1"/>
          </p:cNvSpPr>
          <p:nvPr>
            <p:ph type="ftr" sz="quarter" idx="11"/>
          </p:nvPr>
        </p:nvSpPr>
        <p:spPr/>
        <p:txBody>
          <a:bodyPr/>
          <a:lstStyle/>
          <a:p>
            <a:r>
              <a:rPr lang="en-US"/>
              <a:t>CENG 477 – Computer Graphics</a:t>
            </a:r>
          </a:p>
        </p:txBody>
      </p:sp>
      <p:sp>
        <p:nvSpPr>
          <p:cNvPr id="6" name="Slide Number Placeholder 5"/>
          <p:cNvSpPr>
            <a:spLocks noGrp="1"/>
          </p:cNvSpPr>
          <p:nvPr>
            <p:ph type="sldNum" sz="quarter" idx="12"/>
          </p:nvPr>
        </p:nvSpPr>
        <p:spPr/>
        <p:txBody>
          <a:bodyPr/>
          <a:lstStyle/>
          <a:p>
            <a:fld id="{30D85F22-8D96-4CC0-8AEC-D5DD45058382}" type="slidenum">
              <a:rPr lang="en-US" smtClean="0"/>
              <a:t>‹#›</a:t>
            </a:fld>
            <a:endParaRPr lang="en-US"/>
          </a:p>
        </p:txBody>
      </p:sp>
    </p:spTree>
    <p:extLst>
      <p:ext uri="{BB962C8B-B14F-4D97-AF65-F5344CB8AC3E}">
        <p14:creationId xmlns:p14="http://schemas.microsoft.com/office/powerpoint/2010/main" val="3057110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9B9BBF7B-EF96-4F8B-8335-ED3396C69F36}" type="datetime1">
              <a:rPr lang="en-US" smtClean="0"/>
              <a:t>10/7/25</a:t>
            </a:fld>
            <a:endParaRPr lang="en-US"/>
          </a:p>
        </p:txBody>
      </p:sp>
      <p:sp>
        <p:nvSpPr>
          <p:cNvPr id="6" name="Footer Placeholder 5"/>
          <p:cNvSpPr>
            <a:spLocks noGrp="1"/>
          </p:cNvSpPr>
          <p:nvPr>
            <p:ph type="ftr" sz="quarter" idx="11"/>
          </p:nvPr>
        </p:nvSpPr>
        <p:spPr/>
        <p:txBody>
          <a:bodyPr/>
          <a:lstStyle/>
          <a:p>
            <a:r>
              <a:rPr lang="en-US"/>
              <a:t>CENG 477 – Computer Graphics</a:t>
            </a:r>
          </a:p>
        </p:txBody>
      </p:sp>
      <p:sp>
        <p:nvSpPr>
          <p:cNvPr id="7" name="Slide Number Placeholder 6"/>
          <p:cNvSpPr>
            <a:spLocks noGrp="1"/>
          </p:cNvSpPr>
          <p:nvPr>
            <p:ph type="sldNum" sz="quarter" idx="12"/>
          </p:nvPr>
        </p:nvSpPr>
        <p:spPr/>
        <p:txBody>
          <a:bodyPr/>
          <a:lstStyle/>
          <a:p>
            <a:fld id="{30D85F22-8D96-4CC0-8AEC-D5DD45058382}" type="slidenum">
              <a:rPr lang="en-US" smtClean="0"/>
              <a:t>‹#›</a:t>
            </a:fld>
            <a:endParaRPr lang="en-US"/>
          </a:p>
        </p:txBody>
      </p:sp>
    </p:spTree>
    <p:extLst>
      <p:ext uri="{BB962C8B-B14F-4D97-AF65-F5344CB8AC3E}">
        <p14:creationId xmlns:p14="http://schemas.microsoft.com/office/powerpoint/2010/main" val="29938946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97065D1C-BC86-4003-A488-15648C32DFB2}" type="datetime1">
              <a:rPr lang="en-US" smtClean="0"/>
              <a:t>10/7/25</a:t>
            </a:fld>
            <a:endParaRPr lang="en-US"/>
          </a:p>
        </p:txBody>
      </p:sp>
      <p:sp>
        <p:nvSpPr>
          <p:cNvPr id="8" name="Footer Placeholder 7"/>
          <p:cNvSpPr>
            <a:spLocks noGrp="1"/>
          </p:cNvSpPr>
          <p:nvPr>
            <p:ph type="ftr" sz="quarter" idx="11"/>
          </p:nvPr>
        </p:nvSpPr>
        <p:spPr/>
        <p:txBody>
          <a:bodyPr/>
          <a:lstStyle/>
          <a:p>
            <a:r>
              <a:rPr lang="en-US"/>
              <a:t>CENG 477 – Computer Graphics</a:t>
            </a:r>
          </a:p>
        </p:txBody>
      </p:sp>
      <p:sp>
        <p:nvSpPr>
          <p:cNvPr id="9" name="Slide Number Placeholder 8"/>
          <p:cNvSpPr>
            <a:spLocks noGrp="1"/>
          </p:cNvSpPr>
          <p:nvPr>
            <p:ph type="sldNum" sz="quarter" idx="12"/>
          </p:nvPr>
        </p:nvSpPr>
        <p:spPr/>
        <p:txBody>
          <a:bodyPr/>
          <a:lstStyle/>
          <a:p>
            <a:fld id="{30D85F22-8D96-4CC0-8AEC-D5DD45058382}" type="slidenum">
              <a:rPr lang="en-US" smtClean="0"/>
              <a:t>‹#›</a:t>
            </a:fld>
            <a:endParaRPr lang="en-US"/>
          </a:p>
        </p:txBody>
      </p:sp>
    </p:spTree>
    <p:extLst>
      <p:ext uri="{BB962C8B-B14F-4D97-AF65-F5344CB8AC3E}">
        <p14:creationId xmlns:p14="http://schemas.microsoft.com/office/powerpoint/2010/main" val="24898324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49E2A35D-74C8-47B6-9BF3-E5D5CB29D2DB}" type="datetime1">
              <a:rPr lang="en-US" smtClean="0"/>
              <a:t>10/7/25</a:t>
            </a:fld>
            <a:endParaRPr lang="en-US"/>
          </a:p>
        </p:txBody>
      </p:sp>
      <p:sp>
        <p:nvSpPr>
          <p:cNvPr id="4" name="Footer Placeholder 3"/>
          <p:cNvSpPr>
            <a:spLocks noGrp="1"/>
          </p:cNvSpPr>
          <p:nvPr>
            <p:ph type="ftr" sz="quarter" idx="11"/>
          </p:nvPr>
        </p:nvSpPr>
        <p:spPr/>
        <p:txBody>
          <a:bodyPr/>
          <a:lstStyle/>
          <a:p>
            <a:r>
              <a:rPr lang="en-US"/>
              <a:t>CENG 477 – Computer Graphics</a:t>
            </a:r>
          </a:p>
        </p:txBody>
      </p:sp>
      <p:sp>
        <p:nvSpPr>
          <p:cNvPr id="5" name="Slide Number Placeholder 4"/>
          <p:cNvSpPr>
            <a:spLocks noGrp="1"/>
          </p:cNvSpPr>
          <p:nvPr>
            <p:ph type="sldNum" sz="quarter" idx="12"/>
          </p:nvPr>
        </p:nvSpPr>
        <p:spPr/>
        <p:txBody>
          <a:bodyPr/>
          <a:lstStyle/>
          <a:p>
            <a:fld id="{30D85F22-8D96-4CC0-8AEC-D5DD45058382}" type="slidenum">
              <a:rPr lang="en-US" smtClean="0"/>
              <a:t>‹#›</a:t>
            </a:fld>
            <a:endParaRPr lang="en-US"/>
          </a:p>
        </p:txBody>
      </p:sp>
    </p:spTree>
    <p:extLst>
      <p:ext uri="{BB962C8B-B14F-4D97-AF65-F5344CB8AC3E}">
        <p14:creationId xmlns:p14="http://schemas.microsoft.com/office/powerpoint/2010/main" val="1322197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17F66C4A-C091-4C30-B5F6-53EF5C02859A}" type="datetime1">
              <a:rPr lang="en-US" smtClean="0"/>
              <a:t>10/7/25</a:t>
            </a:fld>
            <a:endParaRPr lang="en-US"/>
          </a:p>
        </p:txBody>
      </p:sp>
      <p:sp>
        <p:nvSpPr>
          <p:cNvPr id="3" name="Footer Placeholder 2"/>
          <p:cNvSpPr>
            <a:spLocks noGrp="1"/>
          </p:cNvSpPr>
          <p:nvPr>
            <p:ph type="ftr" sz="quarter" idx="11"/>
          </p:nvPr>
        </p:nvSpPr>
        <p:spPr/>
        <p:txBody>
          <a:bodyPr/>
          <a:lstStyle/>
          <a:p>
            <a:r>
              <a:rPr lang="en-US"/>
              <a:t>CENG 477 – Computer Graphics</a:t>
            </a:r>
          </a:p>
        </p:txBody>
      </p:sp>
      <p:sp>
        <p:nvSpPr>
          <p:cNvPr id="4" name="Slide Number Placeholder 3"/>
          <p:cNvSpPr>
            <a:spLocks noGrp="1"/>
          </p:cNvSpPr>
          <p:nvPr>
            <p:ph type="sldNum" sz="quarter" idx="12"/>
          </p:nvPr>
        </p:nvSpPr>
        <p:spPr/>
        <p:txBody>
          <a:bodyPr/>
          <a:lstStyle/>
          <a:p>
            <a:fld id="{30D85F22-8D96-4CC0-8AEC-D5DD45058382}" type="slidenum">
              <a:rPr lang="en-US" smtClean="0"/>
              <a:t>‹#›</a:t>
            </a:fld>
            <a:endParaRPr lang="en-US"/>
          </a:p>
        </p:txBody>
      </p:sp>
    </p:spTree>
    <p:extLst>
      <p:ext uri="{BB962C8B-B14F-4D97-AF65-F5344CB8AC3E}">
        <p14:creationId xmlns:p14="http://schemas.microsoft.com/office/powerpoint/2010/main" val="23027495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4B9F0C88-F4E5-4C9C-9697-20E587423745}" type="datetime1">
              <a:rPr lang="en-US" smtClean="0"/>
              <a:t>10/7/25</a:t>
            </a:fld>
            <a:endParaRPr lang="en-US"/>
          </a:p>
        </p:txBody>
      </p:sp>
      <p:sp>
        <p:nvSpPr>
          <p:cNvPr id="6" name="Footer Placeholder 5"/>
          <p:cNvSpPr>
            <a:spLocks noGrp="1"/>
          </p:cNvSpPr>
          <p:nvPr>
            <p:ph type="ftr" sz="quarter" idx="11"/>
          </p:nvPr>
        </p:nvSpPr>
        <p:spPr/>
        <p:txBody>
          <a:bodyPr/>
          <a:lstStyle/>
          <a:p>
            <a:r>
              <a:rPr lang="en-US"/>
              <a:t>CENG 477 – Computer Graphics</a:t>
            </a:r>
          </a:p>
        </p:txBody>
      </p:sp>
      <p:sp>
        <p:nvSpPr>
          <p:cNvPr id="7" name="Slide Number Placeholder 6"/>
          <p:cNvSpPr>
            <a:spLocks noGrp="1"/>
          </p:cNvSpPr>
          <p:nvPr>
            <p:ph type="sldNum" sz="quarter" idx="12"/>
          </p:nvPr>
        </p:nvSpPr>
        <p:spPr/>
        <p:txBody>
          <a:bodyPr/>
          <a:lstStyle/>
          <a:p>
            <a:fld id="{30D85F22-8D96-4CC0-8AEC-D5DD45058382}" type="slidenum">
              <a:rPr lang="en-US" smtClean="0"/>
              <a:t>‹#›</a:t>
            </a:fld>
            <a:endParaRPr lang="en-US"/>
          </a:p>
        </p:txBody>
      </p:sp>
    </p:spTree>
    <p:extLst>
      <p:ext uri="{BB962C8B-B14F-4D97-AF65-F5344CB8AC3E}">
        <p14:creationId xmlns:p14="http://schemas.microsoft.com/office/powerpoint/2010/main" val="40370497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3DF92661-D1B7-4F90-8444-69C876A91503}" type="datetime1">
              <a:rPr lang="en-US" smtClean="0"/>
              <a:t>10/7/25</a:t>
            </a:fld>
            <a:endParaRPr lang="en-US"/>
          </a:p>
        </p:txBody>
      </p:sp>
      <p:sp>
        <p:nvSpPr>
          <p:cNvPr id="6" name="Footer Placeholder 5"/>
          <p:cNvSpPr>
            <a:spLocks noGrp="1"/>
          </p:cNvSpPr>
          <p:nvPr>
            <p:ph type="ftr" sz="quarter" idx="11"/>
          </p:nvPr>
        </p:nvSpPr>
        <p:spPr/>
        <p:txBody>
          <a:bodyPr/>
          <a:lstStyle/>
          <a:p>
            <a:r>
              <a:rPr lang="en-US"/>
              <a:t>CENG 477 – Computer Graphics</a:t>
            </a:r>
          </a:p>
        </p:txBody>
      </p:sp>
      <p:sp>
        <p:nvSpPr>
          <p:cNvPr id="7" name="Slide Number Placeholder 6"/>
          <p:cNvSpPr>
            <a:spLocks noGrp="1"/>
          </p:cNvSpPr>
          <p:nvPr>
            <p:ph type="sldNum" sz="quarter" idx="12"/>
          </p:nvPr>
        </p:nvSpPr>
        <p:spPr/>
        <p:txBody>
          <a:bodyPr/>
          <a:lstStyle/>
          <a:p>
            <a:fld id="{30D85F22-8D96-4CC0-8AEC-D5DD45058382}" type="slidenum">
              <a:rPr lang="en-US" smtClean="0"/>
              <a:t>‹#›</a:t>
            </a:fld>
            <a:endParaRPr lang="en-US"/>
          </a:p>
        </p:txBody>
      </p:sp>
    </p:spTree>
    <p:extLst>
      <p:ext uri="{BB962C8B-B14F-4D97-AF65-F5344CB8AC3E}">
        <p14:creationId xmlns:p14="http://schemas.microsoft.com/office/powerpoint/2010/main" val="4597055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D0D9B84A-DE6C-4EBF-97DE-47904CB71658}" type="datetime1">
              <a:rPr lang="en-US" smtClean="0"/>
              <a:t>10/7/25</a:t>
            </a:fld>
            <a:endParaRPr lang="en-US"/>
          </a:p>
        </p:txBody>
      </p:sp>
      <p:sp>
        <p:nvSpPr>
          <p:cNvPr id="5" name="Footer Placeholder 4"/>
          <p:cNvSpPr>
            <a:spLocks noGrp="1"/>
          </p:cNvSpPr>
          <p:nvPr>
            <p:ph type="ftr" sz="quarter" idx="11"/>
          </p:nvPr>
        </p:nvSpPr>
        <p:spPr/>
        <p:txBody>
          <a:bodyPr/>
          <a:lstStyle/>
          <a:p>
            <a:r>
              <a:rPr lang="en-US"/>
              <a:t>CENG 477 – Computer Graphics</a:t>
            </a:r>
          </a:p>
        </p:txBody>
      </p:sp>
      <p:sp>
        <p:nvSpPr>
          <p:cNvPr id="6" name="Slide Number Placeholder 5"/>
          <p:cNvSpPr>
            <a:spLocks noGrp="1"/>
          </p:cNvSpPr>
          <p:nvPr>
            <p:ph type="sldNum" sz="quarter" idx="12"/>
          </p:nvPr>
        </p:nvSpPr>
        <p:spPr/>
        <p:txBody>
          <a:bodyPr/>
          <a:lstStyle/>
          <a:p>
            <a:fld id="{30D85F22-8D96-4CC0-8AEC-D5DD45058382}" type="slidenum">
              <a:rPr lang="en-US" smtClean="0"/>
              <a:t>‹#›</a:t>
            </a:fld>
            <a:endParaRPr lang="en-US"/>
          </a:p>
        </p:txBody>
      </p:sp>
    </p:spTree>
    <p:extLst>
      <p:ext uri="{BB962C8B-B14F-4D97-AF65-F5344CB8AC3E}">
        <p14:creationId xmlns:p14="http://schemas.microsoft.com/office/powerpoint/2010/main" val="34160719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D6823F72-96AE-4011-96E8-0E3AAFAAEE10}" type="datetime1">
              <a:rPr lang="en-US" smtClean="0"/>
              <a:t>10/7/25</a:t>
            </a:fld>
            <a:endParaRPr lang="en-US"/>
          </a:p>
        </p:txBody>
      </p:sp>
      <p:sp>
        <p:nvSpPr>
          <p:cNvPr id="5" name="Footer Placeholder 4"/>
          <p:cNvSpPr>
            <a:spLocks noGrp="1"/>
          </p:cNvSpPr>
          <p:nvPr>
            <p:ph type="ftr" sz="quarter" idx="11"/>
          </p:nvPr>
        </p:nvSpPr>
        <p:spPr/>
        <p:txBody>
          <a:bodyPr/>
          <a:lstStyle/>
          <a:p>
            <a:r>
              <a:rPr lang="en-US"/>
              <a:t>CENG 477 – Computer Graphics</a:t>
            </a:r>
          </a:p>
        </p:txBody>
      </p:sp>
      <p:sp>
        <p:nvSpPr>
          <p:cNvPr id="6" name="Slide Number Placeholder 5"/>
          <p:cNvSpPr>
            <a:spLocks noGrp="1"/>
          </p:cNvSpPr>
          <p:nvPr>
            <p:ph type="sldNum" sz="quarter" idx="12"/>
          </p:nvPr>
        </p:nvSpPr>
        <p:spPr/>
        <p:txBody>
          <a:bodyPr/>
          <a:lstStyle/>
          <a:p>
            <a:fld id="{30D85F22-8D96-4CC0-8AEC-D5DD45058382}" type="slidenum">
              <a:rPr lang="en-US" smtClean="0"/>
              <a:t>‹#›</a:t>
            </a:fld>
            <a:endParaRPr lang="en-US"/>
          </a:p>
        </p:txBody>
      </p:sp>
    </p:spTree>
    <p:extLst>
      <p:ext uri="{BB962C8B-B14F-4D97-AF65-F5344CB8AC3E}">
        <p14:creationId xmlns:p14="http://schemas.microsoft.com/office/powerpoint/2010/main" val="405959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3124200" y="644184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CENG 477 – Computer Graphics</a:t>
            </a:r>
            <a:endParaRPr lang="en-US" dirty="0"/>
          </a:p>
        </p:txBody>
      </p:sp>
      <p:sp>
        <p:nvSpPr>
          <p:cNvPr id="6" name="Slide Number Placeholder 5"/>
          <p:cNvSpPr>
            <a:spLocks noGrp="1"/>
          </p:cNvSpPr>
          <p:nvPr>
            <p:ph type="sldNum" sz="quarter" idx="4"/>
          </p:nvPr>
        </p:nvSpPr>
        <p:spPr>
          <a:xfrm>
            <a:off x="6553200" y="6441842"/>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D85F22-8D96-4CC0-8AEC-D5DD45058382}" type="slidenum">
              <a:rPr lang="en-US" smtClean="0"/>
              <a:t>‹#›</a:t>
            </a:fld>
            <a:endParaRPr lang="en-US" dirty="0"/>
          </a:p>
        </p:txBody>
      </p:sp>
      <p:pic>
        <p:nvPicPr>
          <p:cNvPr id="1026" name="Picture 2"/>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228600" y="6470779"/>
            <a:ext cx="762000" cy="316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ectangle 9"/>
          <p:cNvSpPr/>
          <p:nvPr/>
        </p:nvSpPr>
        <p:spPr>
          <a:xfrm>
            <a:off x="0" y="6391656"/>
            <a:ext cx="9144000" cy="914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0" y="6830568"/>
            <a:ext cx="9144000" cy="274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885409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3.jpeg"/><Relationship Id="rId1" Type="http://schemas.openxmlformats.org/officeDocument/2006/relationships/slideLayout" Target="../slideLayouts/slideLayout2.xml"/><Relationship Id="rId4" Type="http://schemas.openxmlformats.org/officeDocument/2006/relationships/hyperlink" Target="http://hdr.sim2.it/" TargetMode="External"/></Relationships>
</file>

<file path=ppt/slides/_rels/slide35.xml.rels><?xml version="1.0" encoding="UTF-8" standalone="yes"?>
<Relationships xmlns="http://schemas.openxmlformats.org/package/2006/relationships"><Relationship Id="rId2" Type="http://schemas.openxmlformats.org/officeDocument/2006/relationships/hyperlink" Target="https://szimek.github.io/webgl-hdr/"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developer.nvidia.com/gpugems/GPUGems3/gpugems3_ch24.html" TargetMode="External"/><Relationship Id="rId2" Type="http://schemas.openxmlformats.org/officeDocument/2006/relationships/image" Target="../media/image3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CENG 477</a:t>
            </a:r>
            <a:br>
              <a:rPr lang="en-US" dirty="0"/>
            </a:br>
            <a:r>
              <a:rPr lang="en-US" dirty="0"/>
              <a:t>Introduction to Computer Graphics</a:t>
            </a:r>
          </a:p>
        </p:txBody>
      </p:sp>
      <p:sp>
        <p:nvSpPr>
          <p:cNvPr id="3" name="Subtitle 2"/>
          <p:cNvSpPr>
            <a:spLocks noGrp="1"/>
          </p:cNvSpPr>
          <p:nvPr>
            <p:ph type="subTitle" idx="1"/>
          </p:nvPr>
        </p:nvSpPr>
        <p:spPr/>
        <p:txBody>
          <a:bodyPr/>
          <a:lstStyle/>
          <a:p>
            <a:r>
              <a:rPr lang="en-US" dirty="0"/>
              <a:t>Images, Cameras, Displays</a:t>
            </a:r>
          </a:p>
        </p:txBody>
      </p:sp>
    </p:spTree>
    <p:extLst>
      <p:ext uri="{BB962C8B-B14F-4D97-AF65-F5344CB8AC3E}">
        <p14:creationId xmlns:p14="http://schemas.microsoft.com/office/powerpoint/2010/main" val="40831385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Images and Displays</a:t>
            </a:r>
          </a:p>
        </p:txBody>
      </p:sp>
      <p:sp>
        <p:nvSpPr>
          <p:cNvPr id="3" name="Content Placeholder 2"/>
          <p:cNvSpPr>
            <a:spLocks noGrp="1"/>
          </p:cNvSpPr>
          <p:nvPr>
            <p:ph idx="1"/>
          </p:nvPr>
        </p:nvSpPr>
        <p:spPr/>
        <p:txBody>
          <a:bodyPr/>
          <a:lstStyle/>
          <a:p>
            <a:pPr>
              <a:buClrTx/>
            </a:pPr>
            <a:r>
              <a:rPr lang="en-US" dirty="0">
                <a:solidFill>
                  <a:schemeClr val="tx2">
                    <a:lumMod val="25000"/>
                    <a:lumOff val="75000"/>
                  </a:schemeClr>
                </a:solidFill>
              </a:rPr>
              <a:t>Computer graphics is all about creating and displaying images</a:t>
            </a:r>
          </a:p>
          <a:p>
            <a:pPr>
              <a:buClrTx/>
            </a:pPr>
            <a:r>
              <a:rPr lang="en-US" dirty="0">
                <a:solidFill>
                  <a:schemeClr val="tx2">
                    <a:lumMod val="25000"/>
                    <a:lumOff val="75000"/>
                  </a:schemeClr>
                </a:solidFill>
              </a:rPr>
              <a:t>A video is nothing but an image sequence</a:t>
            </a:r>
          </a:p>
          <a:p>
            <a:pPr>
              <a:buClrTx/>
            </a:pPr>
            <a:r>
              <a:rPr lang="en-US" dirty="0">
                <a:solidFill>
                  <a:schemeClr val="tx2">
                    <a:lumMod val="25000"/>
                    <a:lumOff val="75000"/>
                  </a:schemeClr>
                </a:solidFill>
              </a:rPr>
              <a:t>A computer game is nothing but many images rendered at rapid succession</a:t>
            </a:r>
          </a:p>
          <a:p>
            <a:pPr>
              <a:buClrTx/>
            </a:pPr>
            <a:r>
              <a:rPr lang="en-US" dirty="0">
                <a:solidFill>
                  <a:schemeClr val="tx2">
                    <a:lumMod val="25000"/>
                    <a:lumOff val="75000"/>
                  </a:schemeClr>
                </a:solidFill>
              </a:rPr>
              <a:t>As such, we should first understand what an image is and how it is displayed</a:t>
            </a:r>
          </a:p>
          <a:p>
            <a:endParaRPr lang="en-US" dirty="0"/>
          </a:p>
        </p:txBody>
      </p:sp>
      <p:sp>
        <p:nvSpPr>
          <p:cNvPr id="4" name="Footer Placeholder 3"/>
          <p:cNvSpPr>
            <a:spLocks noGrp="1"/>
          </p:cNvSpPr>
          <p:nvPr>
            <p:ph type="ftr" sz="quarter" idx="11"/>
          </p:nvPr>
        </p:nvSpPr>
        <p:spPr/>
        <p:txBody>
          <a:bodyPr/>
          <a:lstStyle/>
          <a:p>
            <a:r>
              <a:rPr lang="en-US"/>
              <a:t>CENG 477 – Computer Graphics</a:t>
            </a:r>
          </a:p>
        </p:txBody>
      </p:sp>
      <p:sp>
        <p:nvSpPr>
          <p:cNvPr id="5" name="Slide Number Placeholder 4"/>
          <p:cNvSpPr>
            <a:spLocks noGrp="1"/>
          </p:cNvSpPr>
          <p:nvPr>
            <p:ph type="sldNum" sz="quarter" idx="12"/>
          </p:nvPr>
        </p:nvSpPr>
        <p:spPr/>
        <p:txBody>
          <a:bodyPr/>
          <a:lstStyle/>
          <a:p>
            <a:fld id="{30D85F22-8D96-4CC0-8AEC-D5DD45058382}" type="slidenum">
              <a:rPr lang="en-US" smtClean="0"/>
              <a:t>2</a:t>
            </a:fld>
            <a:endParaRPr lang="en-US"/>
          </a:p>
        </p:txBody>
      </p:sp>
    </p:spTree>
    <p:extLst>
      <p:ext uri="{BB962C8B-B14F-4D97-AF65-F5344CB8AC3E}">
        <p14:creationId xmlns:p14="http://schemas.microsoft.com/office/powerpoint/2010/main" val="1386045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2" fill="hold" nodeType="withEffect">
                                  <p:stCondLst>
                                    <p:cond delay="0"/>
                                  </p:stCondLst>
                                  <p:childTnLst>
                                    <p:animClr clrSpc="rgb" dir="cw">
                                      <p:cBhvr override="childStyle">
                                        <p:cTn id="6" dur="100" fill="hold"/>
                                        <p:tgtEl>
                                          <p:spTgt spid="3">
                                            <p:txEl>
                                              <p:pRg st="0" end="0"/>
                                            </p:txEl>
                                          </p:spTgt>
                                        </p:tgtEl>
                                        <p:attrNameLst>
                                          <p:attrName>style.color</p:attrName>
                                        </p:attrNameLst>
                                      </p:cBhvr>
                                      <p:to>
                                        <a:schemeClr val="tx1"/>
                                      </p:to>
                                    </p:animClr>
                                  </p:childTnLst>
                                </p:cTn>
                              </p:par>
                            </p:childTnLst>
                          </p:cTn>
                        </p:par>
                      </p:childTnLst>
                    </p:cTn>
                  </p:par>
                  <p:par>
                    <p:cTn id="7" fill="hold">
                      <p:stCondLst>
                        <p:cond delay="indefinite"/>
                      </p:stCondLst>
                      <p:childTnLst>
                        <p:par>
                          <p:cTn id="8" fill="hold">
                            <p:stCondLst>
                              <p:cond delay="0"/>
                            </p:stCondLst>
                            <p:childTnLst>
                              <p:par>
                                <p:cTn id="9" presetID="3" presetClass="emph" presetSubtype="2" fill="hold" nodeType="clickEffect">
                                  <p:stCondLst>
                                    <p:cond delay="0"/>
                                  </p:stCondLst>
                                  <p:childTnLst>
                                    <p:animClr clrSpc="rgb" dir="cw">
                                      <p:cBhvr override="childStyle">
                                        <p:cTn id="10" dur="100" fill="hold"/>
                                        <p:tgtEl>
                                          <p:spTgt spid="3">
                                            <p:txEl>
                                              <p:pRg st="1" end="1"/>
                                            </p:txEl>
                                          </p:spTgt>
                                        </p:tgtEl>
                                        <p:attrNameLst>
                                          <p:attrName>style.color</p:attrName>
                                        </p:attrNameLst>
                                      </p:cBhvr>
                                      <p:to>
                                        <a:schemeClr val="tx1"/>
                                      </p:to>
                                    </p:animClr>
                                  </p:childTnLst>
                                </p:cTn>
                              </p:par>
                            </p:childTnLst>
                          </p:cTn>
                        </p:par>
                      </p:childTnLst>
                    </p:cTn>
                  </p:par>
                  <p:par>
                    <p:cTn id="11" fill="hold">
                      <p:stCondLst>
                        <p:cond delay="indefinite"/>
                      </p:stCondLst>
                      <p:childTnLst>
                        <p:par>
                          <p:cTn id="12" fill="hold">
                            <p:stCondLst>
                              <p:cond delay="0"/>
                            </p:stCondLst>
                            <p:childTnLst>
                              <p:par>
                                <p:cTn id="13" presetID="3" presetClass="emph" presetSubtype="2" fill="hold" nodeType="clickEffect">
                                  <p:stCondLst>
                                    <p:cond delay="0"/>
                                  </p:stCondLst>
                                  <p:childTnLst>
                                    <p:animClr clrSpc="rgb" dir="cw">
                                      <p:cBhvr override="childStyle">
                                        <p:cTn id="14" dur="100" fill="hold"/>
                                        <p:tgtEl>
                                          <p:spTgt spid="3">
                                            <p:txEl>
                                              <p:pRg st="2" end="2"/>
                                            </p:txEl>
                                          </p:spTgt>
                                        </p:tgtEl>
                                        <p:attrNameLst>
                                          <p:attrName>style.color</p:attrName>
                                        </p:attrNameLst>
                                      </p:cBhvr>
                                      <p:to>
                                        <a:schemeClr val="tx1"/>
                                      </p:to>
                                    </p:animClr>
                                  </p:childTnLst>
                                </p:cTn>
                              </p:par>
                            </p:childTnLst>
                          </p:cTn>
                        </p:par>
                      </p:childTnLst>
                    </p:cTn>
                  </p:par>
                  <p:par>
                    <p:cTn id="15" fill="hold">
                      <p:stCondLst>
                        <p:cond delay="indefinite"/>
                      </p:stCondLst>
                      <p:childTnLst>
                        <p:par>
                          <p:cTn id="16" fill="hold">
                            <p:stCondLst>
                              <p:cond delay="0"/>
                            </p:stCondLst>
                            <p:childTnLst>
                              <p:par>
                                <p:cTn id="17" presetID="3" presetClass="emph" presetSubtype="2" fill="hold" nodeType="clickEffect">
                                  <p:stCondLst>
                                    <p:cond delay="0"/>
                                  </p:stCondLst>
                                  <p:childTnLst>
                                    <p:animClr clrSpc="rgb" dir="cw">
                                      <p:cBhvr override="childStyle">
                                        <p:cTn id="18" dur="100" fill="hold"/>
                                        <p:tgtEl>
                                          <p:spTgt spid="3">
                                            <p:txEl>
                                              <p:pRg st="3" end="3"/>
                                            </p:txEl>
                                          </p:spTgt>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Image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An image, or a </a:t>
                </a:r>
                <a:r>
                  <a:rPr lang="en-US" dirty="0">
                    <a:solidFill>
                      <a:srgbClr val="C00000"/>
                    </a:solidFill>
                  </a:rPr>
                  <a:t>digital image</a:t>
                </a:r>
                <a:r>
                  <a:rPr lang="en-US" dirty="0"/>
                  <a:t>, is an </a:t>
                </a:r>
                <a:r>
                  <a:rPr lang="en-US" dirty="0">
                    <a:solidFill>
                      <a:srgbClr val="C00000"/>
                    </a:solidFill>
                  </a:rPr>
                  <a:t>intensity distribution </a:t>
                </a:r>
                <a:r>
                  <a:rPr lang="en-US" dirty="0"/>
                  <a:t>over a bounded two dimensional region</a:t>
                </a:r>
              </a:p>
              <a:p>
                <a:r>
                  <a:rPr lang="en-US" dirty="0"/>
                  <a:t>More formally, </a:t>
                </a:r>
                <a14:m>
                  <m:oMath xmlns:m="http://schemas.openxmlformats.org/officeDocument/2006/math">
                    <m:r>
                      <a:rPr lang="en-US" b="0" i="1" smtClean="0">
                        <a:latin typeface="Cambria Math" panose="02040503050406030204" pitchFamily="18" charset="0"/>
                      </a:rPr>
                      <m:t>𝐼</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i="1">
                            <a:latin typeface="Cambria Math" panose="02040503050406030204" pitchFamily="18" charset="0"/>
                          </a:rPr>
                          <m:t>ℝ</m:t>
                        </m:r>
                      </m:e>
                      <m:sup>
                        <m:r>
                          <a:rPr lang="en-US" i="1" dirty="0">
                            <a:latin typeface="Cambria Math" panose="02040503050406030204" pitchFamily="18" charset="0"/>
                          </a:rPr>
                          <m:t>2</m:t>
                        </m:r>
                      </m:sup>
                    </m:sSup>
                    <m:r>
                      <a:rPr lang="en-US" b="0" i="1" smtClean="0">
                        <a:latin typeface="Cambria Math" panose="02040503050406030204" pitchFamily="18" charset="0"/>
                      </a:rPr>
                      <m:t> → …</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63" t="-943"/>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US"/>
              <a:t>CENG 477 – Computer Graphics</a:t>
            </a:r>
          </a:p>
        </p:txBody>
      </p:sp>
      <p:sp>
        <p:nvSpPr>
          <p:cNvPr id="5" name="Slide Number Placeholder 4"/>
          <p:cNvSpPr>
            <a:spLocks noGrp="1"/>
          </p:cNvSpPr>
          <p:nvPr>
            <p:ph type="sldNum" sz="quarter" idx="12"/>
          </p:nvPr>
        </p:nvSpPr>
        <p:spPr/>
        <p:txBody>
          <a:bodyPr/>
          <a:lstStyle/>
          <a:p>
            <a:fld id="{30D85F22-8D96-4CC0-8AEC-D5DD45058382}" type="slidenum">
              <a:rPr lang="en-US" smtClean="0"/>
              <a:t>3</a:t>
            </a:fld>
            <a:endParaRPr lang="en-US"/>
          </a:p>
        </p:txBody>
      </p:sp>
      <mc:AlternateContent xmlns:mc="http://schemas.openxmlformats.org/markup-compatibility/2006" xmlns:a14="http://schemas.microsoft.com/office/drawing/2010/main">
        <mc:Choice Requires="a14">
          <p:sp>
            <p:nvSpPr>
              <p:cNvPr id="6" name="Rectangle 5"/>
              <p:cNvSpPr/>
              <p:nvPr/>
            </p:nvSpPr>
            <p:spPr>
              <a:xfrm>
                <a:off x="2286000" y="3505200"/>
                <a:ext cx="4267200" cy="2133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𝐼</m:t>
                      </m:r>
                    </m:oMath>
                  </m:oMathPara>
                </a14:m>
                <a:endParaRPr lang="en-US" sz="2400" dirty="0"/>
              </a:p>
            </p:txBody>
          </p:sp>
        </mc:Choice>
        <mc:Fallback xmlns="">
          <p:sp>
            <p:nvSpPr>
              <p:cNvPr id="6" name="Rectangle 5"/>
              <p:cNvSpPr>
                <a:spLocks noRot="1" noChangeAspect="1" noMove="1" noResize="1" noEditPoints="1" noAdjustHandles="1" noChangeArrowheads="1" noChangeShapeType="1" noTextEdit="1"/>
              </p:cNvSpPr>
              <p:nvPr/>
            </p:nvSpPr>
            <p:spPr>
              <a:xfrm>
                <a:off x="2286000" y="3505200"/>
                <a:ext cx="4267200" cy="2133600"/>
              </a:xfrm>
              <a:prstGeom prst="rect">
                <a:avLst/>
              </a:prstGeom>
              <a:blipFill>
                <a:blip r:embed="rId3"/>
                <a:stretch>
                  <a:fillRect/>
                </a:stretch>
              </a:blipFill>
            </p:spPr>
            <p:txBody>
              <a:bodyPr/>
              <a:lstStyle/>
              <a:p>
                <a:r>
                  <a:rPr lang="en-US">
                    <a:noFill/>
                  </a:rPr>
                  <a:t> </a:t>
                </a:r>
              </a:p>
            </p:txBody>
          </p:sp>
        </mc:Fallback>
      </mc:AlternateContent>
      <p:sp>
        <p:nvSpPr>
          <p:cNvPr id="8" name="TextBox 7"/>
          <p:cNvSpPr txBox="1"/>
          <p:nvPr/>
        </p:nvSpPr>
        <p:spPr>
          <a:xfrm>
            <a:off x="4057962" y="5638800"/>
            <a:ext cx="723275" cy="369332"/>
          </a:xfrm>
          <a:prstGeom prst="rect">
            <a:avLst/>
          </a:prstGeom>
          <a:noFill/>
        </p:spPr>
        <p:txBody>
          <a:bodyPr wrap="none" rtlCol="0">
            <a:spAutoFit/>
          </a:bodyPr>
          <a:lstStyle/>
          <a:p>
            <a:r>
              <a:rPr lang="en-US" dirty="0"/>
              <a:t>width</a:t>
            </a:r>
          </a:p>
        </p:txBody>
      </p:sp>
      <p:sp>
        <p:nvSpPr>
          <p:cNvPr id="11" name="TextBox 10"/>
          <p:cNvSpPr txBox="1"/>
          <p:nvPr/>
        </p:nvSpPr>
        <p:spPr>
          <a:xfrm>
            <a:off x="1524000" y="4387334"/>
            <a:ext cx="813043" cy="369332"/>
          </a:xfrm>
          <a:prstGeom prst="rect">
            <a:avLst/>
          </a:prstGeom>
          <a:noFill/>
        </p:spPr>
        <p:txBody>
          <a:bodyPr wrap="none" rtlCol="0">
            <a:spAutoFit/>
          </a:bodyPr>
          <a:lstStyle/>
          <a:p>
            <a:r>
              <a:rPr lang="en-US" dirty="0"/>
              <a:t>height</a:t>
            </a:r>
          </a:p>
        </p:txBody>
      </p:sp>
    </p:spTree>
    <p:extLst>
      <p:ext uri="{BB962C8B-B14F-4D97-AF65-F5344CB8AC3E}">
        <p14:creationId xmlns:p14="http://schemas.microsoft.com/office/powerpoint/2010/main" val="3877755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Image</a:t>
            </a:r>
          </a:p>
        </p:txBody>
      </p:sp>
      <p:sp>
        <p:nvSpPr>
          <p:cNvPr id="3" name="Content Placeholder 2"/>
          <p:cNvSpPr>
            <a:spLocks noGrp="1"/>
          </p:cNvSpPr>
          <p:nvPr>
            <p:ph idx="1"/>
          </p:nvPr>
        </p:nvSpPr>
        <p:spPr/>
        <p:txBody>
          <a:bodyPr/>
          <a:lstStyle/>
          <a:p>
            <a:r>
              <a:rPr lang="en-US" dirty="0"/>
              <a:t>In practice, we place two restrictions in order handle images on a computer:</a:t>
            </a:r>
          </a:p>
          <a:p>
            <a:pPr lvl="1"/>
            <a:r>
              <a:rPr lang="en-US" dirty="0"/>
              <a:t>Discretization</a:t>
            </a:r>
          </a:p>
          <a:p>
            <a:pPr lvl="1"/>
            <a:r>
              <a:rPr lang="en-US" dirty="0"/>
              <a:t>Data type</a:t>
            </a:r>
          </a:p>
          <a:p>
            <a:pPr marL="457200" lvl="1" indent="0">
              <a:buNone/>
            </a:pPr>
            <a:endParaRPr lang="en-US" dirty="0"/>
          </a:p>
        </p:txBody>
      </p:sp>
      <p:sp>
        <p:nvSpPr>
          <p:cNvPr id="4" name="Footer Placeholder 3"/>
          <p:cNvSpPr>
            <a:spLocks noGrp="1"/>
          </p:cNvSpPr>
          <p:nvPr>
            <p:ph type="ftr" sz="quarter" idx="11"/>
          </p:nvPr>
        </p:nvSpPr>
        <p:spPr/>
        <p:txBody>
          <a:bodyPr/>
          <a:lstStyle/>
          <a:p>
            <a:r>
              <a:rPr lang="en-US"/>
              <a:t>CENG 477 – Computer Graphics</a:t>
            </a:r>
          </a:p>
        </p:txBody>
      </p:sp>
      <p:sp>
        <p:nvSpPr>
          <p:cNvPr id="5" name="Slide Number Placeholder 4"/>
          <p:cNvSpPr>
            <a:spLocks noGrp="1"/>
          </p:cNvSpPr>
          <p:nvPr>
            <p:ph type="sldNum" sz="quarter" idx="12"/>
          </p:nvPr>
        </p:nvSpPr>
        <p:spPr/>
        <p:txBody>
          <a:bodyPr/>
          <a:lstStyle/>
          <a:p>
            <a:fld id="{30D85F22-8D96-4CC0-8AEC-D5DD45058382}" type="slidenum">
              <a:rPr lang="en-US" smtClean="0"/>
              <a:t>4</a:t>
            </a:fld>
            <a:endParaRPr lang="en-US"/>
          </a:p>
        </p:txBody>
      </p:sp>
    </p:spTree>
    <p:extLst>
      <p:ext uri="{BB962C8B-B14F-4D97-AF65-F5344CB8AC3E}">
        <p14:creationId xmlns:p14="http://schemas.microsoft.com/office/powerpoint/2010/main" val="15233255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Discretization</a:t>
            </a:r>
          </a:p>
        </p:txBody>
      </p:sp>
      <p:sp>
        <p:nvSpPr>
          <p:cNvPr id="3" name="Content Placeholder 2"/>
          <p:cNvSpPr>
            <a:spLocks noGrp="1"/>
          </p:cNvSpPr>
          <p:nvPr>
            <p:ph idx="1"/>
          </p:nvPr>
        </p:nvSpPr>
        <p:spPr/>
        <p:txBody>
          <a:bodyPr/>
          <a:lstStyle/>
          <a:p>
            <a:r>
              <a:rPr lang="en-US" dirty="0"/>
              <a:t>Discretization is the partitioning of the image region to a non-overlapping grid</a:t>
            </a:r>
          </a:p>
          <a:p>
            <a:r>
              <a:rPr lang="en-US" dirty="0"/>
              <a:t>Each cell is called a </a:t>
            </a:r>
            <a:r>
              <a:rPr lang="en-US" dirty="0">
                <a:solidFill>
                  <a:srgbClr val="C00000"/>
                </a:solidFill>
              </a:rPr>
              <a:t>pixel </a:t>
            </a:r>
            <a:r>
              <a:rPr lang="en-US" dirty="0"/>
              <a:t>(short for picture element)</a:t>
            </a:r>
            <a:endParaRPr lang="en-US" dirty="0">
              <a:solidFill>
                <a:srgbClr val="C00000"/>
              </a:solidFill>
            </a:endParaRPr>
          </a:p>
        </p:txBody>
      </p:sp>
      <p:sp>
        <p:nvSpPr>
          <p:cNvPr id="4" name="Footer Placeholder 3"/>
          <p:cNvSpPr>
            <a:spLocks noGrp="1"/>
          </p:cNvSpPr>
          <p:nvPr>
            <p:ph type="ftr" sz="quarter" idx="11"/>
          </p:nvPr>
        </p:nvSpPr>
        <p:spPr/>
        <p:txBody>
          <a:bodyPr/>
          <a:lstStyle/>
          <a:p>
            <a:r>
              <a:rPr lang="en-US"/>
              <a:t>CENG 477 – Computer Graphics</a:t>
            </a:r>
          </a:p>
        </p:txBody>
      </p:sp>
      <p:sp>
        <p:nvSpPr>
          <p:cNvPr id="5" name="Slide Number Placeholder 4"/>
          <p:cNvSpPr>
            <a:spLocks noGrp="1"/>
          </p:cNvSpPr>
          <p:nvPr>
            <p:ph type="sldNum" sz="quarter" idx="12"/>
          </p:nvPr>
        </p:nvSpPr>
        <p:spPr/>
        <p:txBody>
          <a:bodyPr/>
          <a:lstStyle/>
          <a:p>
            <a:fld id="{30D85F22-8D96-4CC0-8AEC-D5DD45058382}" type="slidenum">
              <a:rPr lang="en-US" smtClean="0"/>
              <a:t>5</a:t>
            </a:fld>
            <a:endParaRPr lang="en-US"/>
          </a:p>
        </p:txBody>
      </p:sp>
      <mc:AlternateContent xmlns:mc="http://schemas.openxmlformats.org/markup-compatibility/2006" xmlns:a14="http://schemas.microsoft.com/office/drawing/2010/main">
        <mc:Choice Requires="a14">
          <p:sp>
            <p:nvSpPr>
              <p:cNvPr id="6" name="Rectangle 5"/>
              <p:cNvSpPr/>
              <p:nvPr/>
            </p:nvSpPr>
            <p:spPr>
              <a:xfrm>
                <a:off x="2364058" y="3505200"/>
                <a:ext cx="4112941" cy="218192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𝐼</m:t>
                      </m:r>
                    </m:oMath>
                  </m:oMathPara>
                </a14:m>
                <a:endParaRPr lang="en-US" sz="2400" dirty="0"/>
              </a:p>
            </p:txBody>
          </p:sp>
        </mc:Choice>
        <mc:Fallback xmlns="">
          <p:sp>
            <p:nvSpPr>
              <p:cNvPr id="6" name="Rectangle 5"/>
              <p:cNvSpPr>
                <a:spLocks noRot="1" noChangeAspect="1" noMove="1" noResize="1" noEditPoints="1" noAdjustHandles="1" noChangeArrowheads="1" noChangeShapeType="1" noTextEdit="1"/>
              </p:cNvSpPr>
              <p:nvPr/>
            </p:nvSpPr>
            <p:spPr>
              <a:xfrm>
                <a:off x="2364058" y="3505200"/>
                <a:ext cx="4112941" cy="2181922"/>
              </a:xfrm>
              <a:prstGeom prst="rect">
                <a:avLst/>
              </a:prstGeom>
              <a:blipFill>
                <a:blip r:embed="rId2"/>
                <a:stretch>
                  <a:fillRect/>
                </a:stretch>
              </a:blipFill>
            </p:spPr>
            <p:txBody>
              <a:bodyPr/>
              <a:lstStyle/>
              <a:p>
                <a:r>
                  <a:rPr lang="en-US">
                    <a:noFill/>
                  </a:rPr>
                  <a:t> </a:t>
                </a:r>
              </a:p>
            </p:txBody>
          </p:sp>
        </mc:Fallback>
      </mc:AlternateContent>
      <p:sp>
        <p:nvSpPr>
          <p:cNvPr id="7" name="TextBox 6"/>
          <p:cNvSpPr txBox="1"/>
          <p:nvPr/>
        </p:nvSpPr>
        <p:spPr>
          <a:xfrm>
            <a:off x="4057962" y="5638800"/>
            <a:ext cx="723275" cy="369332"/>
          </a:xfrm>
          <a:prstGeom prst="rect">
            <a:avLst/>
          </a:prstGeom>
          <a:noFill/>
        </p:spPr>
        <p:txBody>
          <a:bodyPr wrap="none" rtlCol="0">
            <a:spAutoFit/>
          </a:bodyPr>
          <a:lstStyle/>
          <a:p>
            <a:r>
              <a:rPr lang="en-US" dirty="0"/>
              <a:t>width</a:t>
            </a:r>
          </a:p>
        </p:txBody>
      </p:sp>
      <p:sp>
        <p:nvSpPr>
          <p:cNvPr id="8" name="TextBox 7"/>
          <p:cNvSpPr txBox="1"/>
          <p:nvPr/>
        </p:nvSpPr>
        <p:spPr>
          <a:xfrm>
            <a:off x="1524000" y="4387334"/>
            <a:ext cx="813043" cy="369332"/>
          </a:xfrm>
          <a:prstGeom prst="rect">
            <a:avLst/>
          </a:prstGeom>
          <a:noFill/>
        </p:spPr>
        <p:txBody>
          <a:bodyPr wrap="none" rtlCol="0">
            <a:spAutoFit/>
          </a:bodyPr>
          <a:lstStyle/>
          <a:p>
            <a:r>
              <a:rPr lang="en-US" dirty="0"/>
              <a:t>height</a:t>
            </a:r>
          </a:p>
        </p:txBody>
      </p:sp>
      <p:grpSp>
        <p:nvGrpSpPr>
          <p:cNvPr id="89" name="Group 88"/>
          <p:cNvGrpSpPr/>
          <p:nvPr/>
        </p:nvGrpSpPr>
        <p:grpSpPr>
          <a:xfrm>
            <a:off x="2590800" y="3495236"/>
            <a:ext cx="3657600" cy="2191886"/>
            <a:chOff x="2590800" y="3495236"/>
            <a:chExt cx="3657600" cy="2143564"/>
          </a:xfrm>
        </p:grpSpPr>
        <p:cxnSp>
          <p:nvCxnSpPr>
            <p:cNvPr id="10" name="Straight Connector 9"/>
            <p:cNvCxnSpPr/>
            <p:nvPr/>
          </p:nvCxnSpPr>
          <p:spPr>
            <a:xfrm>
              <a:off x="2590800" y="3505200"/>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2819400" y="3505200"/>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3048000" y="3505200"/>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3276600" y="3505200"/>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3505200" y="3495236"/>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3733800" y="3495236"/>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3962400" y="3495236"/>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4191000" y="3495236"/>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4414024" y="3505200"/>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4642624" y="3505200"/>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4871224" y="3505200"/>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5099824" y="3505200"/>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5328424" y="3495236"/>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5557024" y="3495236"/>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5785624" y="3495236"/>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6014224" y="3495236"/>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6248400" y="3505200"/>
              <a:ext cx="0" cy="213360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9" name="Straight Connector 28"/>
          <p:cNvCxnSpPr/>
          <p:nvPr/>
        </p:nvCxnSpPr>
        <p:spPr>
          <a:xfrm>
            <a:off x="2364058" y="3733800"/>
            <a:ext cx="411294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2362200" y="3962400"/>
            <a:ext cx="411294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2364059" y="4158734"/>
            <a:ext cx="411294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2364059" y="4387334"/>
            <a:ext cx="411294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2364058" y="4604266"/>
            <a:ext cx="411294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2362200" y="4832866"/>
            <a:ext cx="411294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2364059" y="5029200"/>
            <a:ext cx="411294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2364059" y="5257800"/>
            <a:ext cx="411294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2362200" y="5486400"/>
            <a:ext cx="411294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5715000" y="3733800"/>
            <a:ext cx="1295400" cy="533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7016972" y="3590137"/>
            <a:ext cx="684803" cy="369332"/>
          </a:xfrm>
          <a:prstGeom prst="rect">
            <a:avLst/>
          </a:prstGeom>
          <a:noFill/>
        </p:spPr>
        <p:txBody>
          <a:bodyPr wrap="none" rtlCol="0">
            <a:spAutoFit/>
          </a:bodyPr>
          <a:lstStyle/>
          <a:p>
            <a:r>
              <a:rPr lang="en-US" dirty="0"/>
              <a:t>Pixel</a:t>
            </a:r>
          </a:p>
        </p:txBody>
      </p:sp>
    </p:spTree>
    <p:extLst>
      <p:ext uri="{BB962C8B-B14F-4D97-AF65-F5344CB8AC3E}">
        <p14:creationId xmlns:p14="http://schemas.microsoft.com/office/powerpoint/2010/main" val="38781344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Discretization</a:t>
            </a:r>
          </a:p>
        </p:txBody>
      </p:sp>
      <p:sp>
        <p:nvSpPr>
          <p:cNvPr id="3" name="Content Placeholder 2"/>
          <p:cNvSpPr>
            <a:spLocks noGrp="1"/>
          </p:cNvSpPr>
          <p:nvPr>
            <p:ph idx="1"/>
          </p:nvPr>
        </p:nvSpPr>
        <p:spPr/>
        <p:txBody>
          <a:bodyPr/>
          <a:lstStyle/>
          <a:p>
            <a:r>
              <a:rPr lang="en-US" dirty="0"/>
              <a:t>The total number of pixels in an image called image </a:t>
            </a:r>
            <a:r>
              <a:rPr lang="en-US" dirty="0">
                <a:solidFill>
                  <a:schemeClr val="accent1"/>
                </a:solidFill>
              </a:rPr>
              <a:t>resolution</a:t>
            </a:r>
          </a:p>
          <a:p>
            <a:r>
              <a:rPr lang="en-US" dirty="0"/>
              <a:t>The same term is used for display devices as well</a:t>
            </a:r>
          </a:p>
        </p:txBody>
      </p:sp>
      <p:sp>
        <p:nvSpPr>
          <p:cNvPr id="4" name="Footer Placeholder 3"/>
          <p:cNvSpPr>
            <a:spLocks noGrp="1"/>
          </p:cNvSpPr>
          <p:nvPr>
            <p:ph type="ftr" sz="quarter" idx="11"/>
          </p:nvPr>
        </p:nvSpPr>
        <p:spPr/>
        <p:txBody>
          <a:bodyPr/>
          <a:lstStyle/>
          <a:p>
            <a:r>
              <a:rPr lang="en-US"/>
              <a:t>CENG 477 – Computer Graphics</a:t>
            </a:r>
          </a:p>
        </p:txBody>
      </p:sp>
      <p:sp>
        <p:nvSpPr>
          <p:cNvPr id="5" name="Slide Number Placeholder 4"/>
          <p:cNvSpPr>
            <a:spLocks noGrp="1"/>
          </p:cNvSpPr>
          <p:nvPr>
            <p:ph type="sldNum" sz="quarter" idx="12"/>
          </p:nvPr>
        </p:nvSpPr>
        <p:spPr/>
        <p:txBody>
          <a:bodyPr/>
          <a:lstStyle/>
          <a:p>
            <a:fld id="{30D85F22-8D96-4CC0-8AEC-D5DD45058382}" type="slidenum">
              <a:rPr lang="en-US" smtClean="0"/>
              <a:t>6</a:t>
            </a:fld>
            <a:endParaRPr lang="en-US"/>
          </a:p>
        </p:txBody>
      </p:sp>
      <p:grpSp>
        <p:nvGrpSpPr>
          <p:cNvPr id="9" name="Group 8"/>
          <p:cNvGrpSpPr/>
          <p:nvPr/>
        </p:nvGrpSpPr>
        <p:grpSpPr>
          <a:xfrm>
            <a:off x="1524000" y="3495236"/>
            <a:ext cx="4953000" cy="2512896"/>
            <a:chOff x="1524000" y="3495236"/>
            <a:chExt cx="4953000" cy="2512896"/>
          </a:xfrm>
        </p:grpSpPr>
        <mc:AlternateContent xmlns:mc="http://schemas.openxmlformats.org/markup-compatibility/2006" xmlns:a14="http://schemas.microsoft.com/office/drawing/2010/main">
          <mc:Choice Requires="a14">
            <p:sp>
              <p:nvSpPr>
                <p:cNvPr id="6" name="Rectangle 5"/>
                <p:cNvSpPr/>
                <p:nvPr/>
              </p:nvSpPr>
              <p:spPr>
                <a:xfrm>
                  <a:off x="2364058" y="3505200"/>
                  <a:ext cx="4112941" cy="218192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𝐼</m:t>
                        </m:r>
                      </m:oMath>
                    </m:oMathPara>
                  </a14:m>
                  <a:endParaRPr lang="en-US" sz="2400" dirty="0"/>
                </a:p>
              </p:txBody>
            </p:sp>
          </mc:Choice>
          <mc:Fallback xmlns="">
            <p:sp>
              <p:nvSpPr>
                <p:cNvPr id="6" name="Rectangle 5"/>
                <p:cNvSpPr>
                  <a:spLocks noRot="1" noChangeAspect="1" noMove="1" noResize="1" noEditPoints="1" noAdjustHandles="1" noChangeArrowheads="1" noChangeShapeType="1" noTextEdit="1"/>
                </p:cNvSpPr>
                <p:nvPr/>
              </p:nvSpPr>
              <p:spPr>
                <a:xfrm>
                  <a:off x="2364058" y="3505200"/>
                  <a:ext cx="4112941" cy="2181922"/>
                </a:xfrm>
                <a:prstGeom prst="rect">
                  <a:avLst/>
                </a:prstGeom>
                <a:blipFill>
                  <a:blip r:embed="rId2"/>
                  <a:stretch>
                    <a:fillRect/>
                  </a:stretch>
                </a:blipFill>
              </p:spPr>
              <p:txBody>
                <a:bodyPr/>
                <a:lstStyle/>
                <a:p>
                  <a:r>
                    <a:rPr lang="en-US">
                      <a:noFill/>
                    </a:rPr>
                    <a:t> </a:t>
                  </a:r>
                </a:p>
              </p:txBody>
            </p:sp>
          </mc:Fallback>
        </mc:AlternateContent>
        <p:sp>
          <p:nvSpPr>
            <p:cNvPr id="7" name="TextBox 6"/>
            <p:cNvSpPr txBox="1"/>
            <p:nvPr/>
          </p:nvSpPr>
          <p:spPr>
            <a:xfrm>
              <a:off x="4057962" y="5638800"/>
              <a:ext cx="723275" cy="369332"/>
            </a:xfrm>
            <a:prstGeom prst="rect">
              <a:avLst/>
            </a:prstGeom>
            <a:noFill/>
          </p:spPr>
          <p:txBody>
            <a:bodyPr wrap="none" rtlCol="0">
              <a:spAutoFit/>
            </a:bodyPr>
            <a:lstStyle/>
            <a:p>
              <a:r>
                <a:rPr lang="en-US" dirty="0"/>
                <a:t>width</a:t>
              </a:r>
            </a:p>
          </p:txBody>
        </p:sp>
        <p:sp>
          <p:nvSpPr>
            <p:cNvPr id="8" name="TextBox 7"/>
            <p:cNvSpPr txBox="1"/>
            <p:nvPr/>
          </p:nvSpPr>
          <p:spPr>
            <a:xfrm>
              <a:off x="1524000" y="4387334"/>
              <a:ext cx="813043" cy="369332"/>
            </a:xfrm>
            <a:prstGeom prst="rect">
              <a:avLst/>
            </a:prstGeom>
            <a:noFill/>
          </p:spPr>
          <p:txBody>
            <a:bodyPr wrap="none" rtlCol="0">
              <a:spAutoFit/>
            </a:bodyPr>
            <a:lstStyle/>
            <a:p>
              <a:r>
                <a:rPr lang="en-US" dirty="0"/>
                <a:t>height</a:t>
              </a:r>
            </a:p>
          </p:txBody>
        </p:sp>
        <p:grpSp>
          <p:nvGrpSpPr>
            <p:cNvPr id="89" name="Group 88"/>
            <p:cNvGrpSpPr/>
            <p:nvPr/>
          </p:nvGrpSpPr>
          <p:grpSpPr>
            <a:xfrm>
              <a:off x="2590800" y="3495236"/>
              <a:ext cx="3657600" cy="2191886"/>
              <a:chOff x="2590800" y="3495236"/>
              <a:chExt cx="3657600" cy="2143564"/>
            </a:xfrm>
          </p:grpSpPr>
          <p:cxnSp>
            <p:nvCxnSpPr>
              <p:cNvPr id="10" name="Straight Connector 9"/>
              <p:cNvCxnSpPr/>
              <p:nvPr/>
            </p:nvCxnSpPr>
            <p:spPr>
              <a:xfrm>
                <a:off x="2590800" y="3505200"/>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2819400" y="3505200"/>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3048000" y="3505200"/>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3276600" y="3505200"/>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3505200" y="3495236"/>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3733800" y="3495236"/>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3962400" y="3495236"/>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4191000" y="3495236"/>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4414024" y="3505200"/>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4642624" y="3505200"/>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4871224" y="3505200"/>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5099824" y="3505200"/>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5328424" y="3495236"/>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5557024" y="3495236"/>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5785624" y="3495236"/>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6014224" y="3495236"/>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6248400" y="3505200"/>
                <a:ext cx="0" cy="213360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9" name="Straight Connector 28"/>
            <p:cNvCxnSpPr/>
            <p:nvPr/>
          </p:nvCxnSpPr>
          <p:spPr>
            <a:xfrm>
              <a:off x="2364058" y="3733800"/>
              <a:ext cx="411294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2362200" y="3962400"/>
              <a:ext cx="411294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2364059" y="4158734"/>
              <a:ext cx="411294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2364059" y="4387334"/>
              <a:ext cx="411294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2364058" y="4604266"/>
              <a:ext cx="411294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2362200" y="4832866"/>
              <a:ext cx="411294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2364059" y="5029200"/>
              <a:ext cx="411294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2364059" y="5257800"/>
              <a:ext cx="411294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2362200" y="5486400"/>
              <a:ext cx="4112941" cy="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94919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Type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Data type represents what can be stored in a pixel</a:t>
                </a:r>
              </a:p>
              <a:p>
                <a:pPr lvl="1"/>
                <a:r>
                  <a:rPr lang="en-US" dirty="0"/>
                  <a:t>Bitmaps: </a:t>
                </a:r>
                <a14:m>
                  <m:oMath xmlns:m="http://schemas.openxmlformats.org/officeDocument/2006/math">
                    <m:r>
                      <a:rPr lang="en-US" i="1">
                        <a:latin typeface="Cambria Math" panose="02040503050406030204" pitchFamily="18" charset="0"/>
                      </a:rPr>
                      <m:t>𝐼</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ℝ</m:t>
                        </m:r>
                      </m:e>
                      <m:sup>
                        <m:r>
                          <a:rPr lang="en-US" i="1" dirty="0">
                            <a:latin typeface="Cambria Math" panose="02040503050406030204" pitchFamily="18" charset="0"/>
                          </a:rPr>
                          <m:t>2</m:t>
                        </m:r>
                      </m:sup>
                    </m:sSup>
                    <m:r>
                      <a:rPr lang="en-US" i="1">
                        <a:latin typeface="Cambria Math" panose="02040503050406030204" pitchFamily="18" charset="0"/>
                      </a:rPr>
                      <m:t> →</m:t>
                    </m:r>
                    <m:r>
                      <a:rPr lang="en-US" b="0" i="1" smtClean="0">
                        <a:latin typeface="Cambria Math" panose="02040503050406030204" pitchFamily="18" charset="0"/>
                      </a:rPr>
                      <m:t>{0,1}</m:t>
                    </m:r>
                  </m:oMath>
                </a14:m>
                <a:endParaRPr lang="en-US" dirty="0"/>
              </a:p>
              <a:p>
                <a:pPr lvl="1"/>
                <a:r>
                  <a:rPr lang="en-US" dirty="0"/>
                  <a:t>Grayscale: </a:t>
                </a:r>
                <a14:m>
                  <m:oMath xmlns:m="http://schemas.openxmlformats.org/officeDocument/2006/math">
                    <m:r>
                      <a:rPr lang="en-US" i="1">
                        <a:latin typeface="Cambria Math" panose="02040503050406030204" pitchFamily="18" charset="0"/>
                      </a:rPr>
                      <m:t>𝐼</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ℝ</m:t>
                        </m:r>
                      </m:e>
                      <m:sup>
                        <m:r>
                          <a:rPr lang="en-US" i="1" dirty="0">
                            <a:latin typeface="Cambria Math" panose="02040503050406030204" pitchFamily="18" charset="0"/>
                          </a:rPr>
                          <m:t>2</m:t>
                        </m:r>
                      </m:sup>
                    </m:sSup>
                    <m:r>
                      <a:rPr lang="en-US" i="1">
                        <a:latin typeface="Cambria Math" panose="02040503050406030204" pitchFamily="18" charset="0"/>
                      </a:rPr>
                      <m:t> →{0,1</m:t>
                    </m:r>
                    <m:r>
                      <a:rPr lang="en-US" b="0" i="1" smtClean="0">
                        <a:latin typeface="Cambria Math" panose="02040503050406030204" pitchFamily="18" charset="0"/>
                      </a:rPr>
                      <m:t>, …, 255</m:t>
                    </m:r>
                    <m:r>
                      <a:rPr lang="en-US" i="1">
                        <a:latin typeface="Cambria Math" panose="02040503050406030204" pitchFamily="18" charset="0"/>
                      </a:rPr>
                      <m:t>}</m:t>
                    </m:r>
                  </m:oMath>
                </a14:m>
                <a:endParaRPr lang="en-US" dirty="0"/>
              </a:p>
              <a:p>
                <a:pPr lvl="1"/>
                <a:r>
                  <a:rPr lang="en-US" dirty="0"/>
                  <a:t>Color: </a:t>
                </a:r>
                <a14:m>
                  <m:oMath xmlns:m="http://schemas.openxmlformats.org/officeDocument/2006/math">
                    <m:r>
                      <a:rPr lang="en-US" i="1">
                        <a:latin typeface="Cambria Math" panose="02040503050406030204" pitchFamily="18" charset="0"/>
                      </a:rPr>
                      <m:t>𝐼</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ℝ</m:t>
                        </m:r>
                      </m:e>
                      <m:sup>
                        <m:r>
                          <a:rPr lang="en-US" i="1" dirty="0">
                            <a:latin typeface="Cambria Math" panose="02040503050406030204" pitchFamily="18" charset="0"/>
                          </a:rPr>
                          <m:t>2</m:t>
                        </m:r>
                      </m:sup>
                    </m:sSup>
                    <m:r>
                      <a:rPr lang="en-US" i="1">
                        <a:latin typeface="Cambria Math" panose="02040503050406030204" pitchFamily="18" charset="0"/>
                      </a:rPr>
                      <m:t> →</m:t>
                    </m:r>
                    <m:d>
                      <m:dPr>
                        <m:begChr m:val="{"/>
                        <m:endChr m:val="}"/>
                        <m:ctrlPr>
                          <a:rPr lang="en-US" i="1">
                            <a:latin typeface="Cambria Math" panose="02040503050406030204" pitchFamily="18" charset="0"/>
                          </a:rPr>
                        </m:ctrlPr>
                      </m:dPr>
                      <m:e>
                        <m:r>
                          <a:rPr lang="en-US" i="1">
                            <a:latin typeface="Cambria Math" panose="02040503050406030204" pitchFamily="18" charset="0"/>
                          </a:rPr>
                          <m:t>0,1</m:t>
                        </m:r>
                        <m:r>
                          <a:rPr lang="en-US" b="0" i="1" smtClean="0">
                            <a:latin typeface="Cambria Math" panose="02040503050406030204" pitchFamily="18" charset="0"/>
                          </a:rPr>
                          <m:t>, …, 255</m:t>
                        </m:r>
                      </m:e>
                    </m:d>
                    <m:r>
                      <a:rPr lang="en-US" b="0" i="1" baseline="30000" smtClean="0">
                        <a:latin typeface="Cambria Math" panose="02040503050406030204" pitchFamily="18" charset="0"/>
                      </a:rPr>
                      <m:t>3</m:t>
                    </m:r>
                  </m:oMath>
                </a14:m>
                <a:endParaRPr lang="en-US" dirty="0"/>
              </a:p>
              <a:p>
                <a:pPr lvl="1"/>
                <a:r>
                  <a:rPr lang="en-US" dirty="0"/>
                  <a:t>Color (generalized): </a:t>
                </a:r>
                <a14:m>
                  <m:oMath xmlns:m="http://schemas.openxmlformats.org/officeDocument/2006/math">
                    <m:r>
                      <a:rPr lang="en-US" i="1">
                        <a:latin typeface="Cambria Math" panose="02040503050406030204" pitchFamily="18" charset="0"/>
                      </a:rPr>
                      <m:t>𝐼</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ℝ</m:t>
                        </m:r>
                      </m:e>
                      <m:sup>
                        <m:r>
                          <a:rPr lang="en-US" i="1" dirty="0">
                            <a:latin typeface="Cambria Math" panose="02040503050406030204" pitchFamily="18" charset="0"/>
                          </a:rPr>
                          <m:t>2</m:t>
                        </m:r>
                      </m:sup>
                    </m:sSup>
                    <m:r>
                      <a:rPr lang="en-US" i="1">
                        <a:latin typeface="Cambria Math" panose="02040503050406030204" pitchFamily="18" charset="0"/>
                      </a:rPr>
                      <m:t> →</m:t>
                    </m:r>
                    <m:r>
                      <a:rPr lang="en-US" i="1">
                        <a:latin typeface="Cambria Math" panose="02040503050406030204" pitchFamily="18" charset="0"/>
                      </a:rPr>
                      <m:t>ℝ</m:t>
                    </m:r>
                    <m:r>
                      <a:rPr lang="en-US" i="1" baseline="30000">
                        <a:latin typeface="Cambria Math" panose="02040503050406030204" pitchFamily="18" charset="0"/>
                      </a:rPr>
                      <m:t>3</m:t>
                    </m:r>
                  </m:oMath>
                </a14:m>
                <a:endParaRPr lang="en-US" dirty="0"/>
              </a:p>
              <a:p>
                <a:pPr lvl="1"/>
                <a:endParaRPr lang="en-US" dirty="0"/>
              </a:p>
              <a:p>
                <a:pPr lvl="1"/>
                <a:endParaRPr lang="en-US" dirty="0"/>
              </a:p>
              <a:p>
                <a:pPr lvl="1"/>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63" t="-943"/>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US"/>
              <a:t>CENG 477 – Computer Graphics</a:t>
            </a:r>
          </a:p>
        </p:txBody>
      </p:sp>
      <p:sp>
        <p:nvSpPr>
          <p:cNvPr id="5" name="Slide Number Placeholder 4"/>
          <p:cNvSpPr>
            <a:spLocks noGrp="1"/>
          </p:cNvSpPr>
          <p:nvPr>
            <p:ph type="sldNum" sz="quarter" idx="12"/>
          </p:nvPr>
        </p:nvSpPr>
        <p:spPr/>
        <p:txBody>
          <a:bodyPr/>
          <a:lstStyle/>
          <a:p>
            <a:fld id="{30D85F22-8D96-4CC0-8AEC-D5DD45058382}" type="slidenum">
              <a:rPr lang="en-US" smtClean="0"/>
              <a:t>7</a:t>
            </a:fld>
            <a:endParaRPr lang="en-US"/>
          </a:p>
        </p:txBody>
      </p:sp>
    </p:spTree>
    <p:extLst>
      <p:ext uri="{BB962C8B-B14F-4D97-AF65-F5344CB8AC3E}">
        <p14:creationId xmlns:p14="http://schemas.microsoft.com/office/powerpoint/2010/main" val="2338754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Bitmap</a:t>
            </a:r>
          </a:p>
        </p:txBody>
      </p:sp>
      <p:sp>
        <p:nvSpPr>
          <p:cNvPr id="3" name="Content Placeholder 2"/>
          <p:cNvSpPr>
            <a:spLocks noGrp="1"/>
          </p:cNvSpPr>
          <p:nvPr>
            <p:ph idx="1"/>
          </p:nvPr>
        </p:nvSpPr>
        <p:spPr/>
        <p:txBody>
          <a:bodyPr/>
          <a:lstStyle/>
          <a:p>
            <a:r>
              <a:rPr lang="en-US" dirty="0"/>
              <a:t>A sample bitmap image (1 </a:t>
            </a:r>
            <a:r>
              <a:rPr lang="en-US" dirty="0" err="1"/>
              <a:t>bpp</a:t>
            </a:r>
            <a:r>
              <a:rPr lang="en-US" dirty="0"/>
              <a:t>):</a:t>
            </a:r>
          </a:p>
        </p:txBody>
      </p:sp>
      <p:sp>
        <p:nvSpPr>
          <p:cNvPr id="4" name="Footer Placeholder 3"/>
          <p:cNvSpPr>
            <a:spLocks noGrp="1"/>
          </p:cNvSpPr>
          <p:nvPr>
            <p:ph type="ftr" sz="quarter" idx="11"/>
          </p:nvPr>
        </p:nvSpPr>
        <p:spPr/>
        <p:txBody>
          <a:bodyPr/>
          <a:lstStyle/>
          <a:p>
            <a:r>
              <a:rPr lang="en-US"/>
              <a:t>CENG 477 – Computer Graphics</a:t>
            </a:r>
          </a:p>
        </p:txBody>
      </p:sp>
      <p:sp>
        <p:nvSpPr>
          <p:cNvPr id="5" name="Slide Number Placeholder 4"/>
          <p:cNvSpPr>
            <a:spLocks noGrp="1"/>
          </p:cNvSpPr>
          <p:nvPr>
            <p:ph type="sldNum" sz="quarter" idx="12"/>
          </p:nvPr>
        </p:nvSpPr>
        <p:spPr/>
        <p:txBody>
          <a:bodyPr/>
          <a:lstStyle/>
          <a:p>
            <a:fld id="{30D85F22-8D96-4CC0-8AEC-D5DD45058382}" type="slidenum">
              <a:rPr lang="en-US" smtClean="0"/>
              <a:t>8</a:t>
            </a:fld>
            <a:endParaRPr lang="en-US"/>
          </a:p>
        </p:txBody>
      </p:sp>
      <p:pic>
        <p:nvPicPr>
          <p:cNvPr id="6" name="Picture 5"/>
          <p:cNvPicPr>
            <a:picLocks noChangeAspect="1"/>
          </p:cNvPicPr>
          <p:nvPr/>
        </p:nvPicPr>
        <p:blipFill>
          <a:blip r:embed="rId3"/>
          <a:stretch>
            <a:fillRect/>
          </a:stretch>
        </p:blipFill>
        <p:spPr>
          <a:xfrm>
            <a:off x="1666875" y="2657475"/>
            <a:ext cx="5810250" cy="3362325"/>
          </a:xfrm>
          <a:prstGeom prst="rect">
            <a:avLst/>
          </a:prstGeom>
        </p:spPr>
      </p:pic>
    </p:spTree>
    <p:extLst>
      <p:ext uri="{BB962C8B-B14F-4D97-AF65-F5344CB8AC3E}">
        <p14:creationId xmlns:p14="http://schemas.microsoft.com/office/powerpoint/2010/main" val="11934325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Grayscale</a:t>
            </a:r>
          </a:p>
        </p:txBody>
      </p:sp>
      <p:sp>
        <p:nvSpPr>
          <p:cNvPr id="3" name="Content Placeholder 2"/>
          <p:cNvSpPr>
            <a:spLocks noGrp="1"/>
          </p:cNvSpPr>
          <p:nvPr>
            <p:ph idx="1"/>
          </p:nvPr>
        </p:nvSpPr>
        <p:spPr/>
        <p:txBody>
          <a:bodyPr/>
          <a:lstStyle/>
          <a:p>
            <a:r>
              <a:rPr lang="en-US" dirty="0"/>
              <a:t>A sample grayscale image (8 </a:t>
            </a:r>
            <a:r>
              <a:rPr lang="en-US" dirty="0" err="1"/>
              <a:t>bpp</a:t>
            </a:r>
            <a:r>
              <a:rPr lang="en-US" dirty="0"/>
              <a:t>):</a:t>
            </a:r>
          </a:p>
        </p:txBody>
      </p:sp>
      <p:sp>
        <p:nvSpPr>
          <p:cNvPr id="4" name="Footer Placeholder 3"/>
          <p:cNvSpPr>
            <a:spLocks noGrp="1"/>
          </p:cNvSpPr>
          <p:nvPr>
            <p:ph type="ftr" sz="quarter" idx="11"/>
          </p:nvPr>
        </p:nvSpPr>
        <p:spPr/>
        <p:txBody>
          <a:bodyPr/>
          <a:lstStyle/>
          <a:p>
            <a:r>
              <a:rPr lang="en-US"/>
              <a:t>CENG 477 – Computer Graphics</a:t>
            </a:r>
          </a:p>
        </p:txBody>
      </p:sp>
      <p:sp>
        <p:nvSpPr>
          <p:cNvPr id="5" name="Slide Number Placeholder 4"/>
          <p:cNvSpPr>
            <a:spLocks noGrp="1"/>
          </p:cNvSpPr>
          <p:nvPr>
            <p:ph type="sldNum" sz="quarter" idx="12"/>
          </p:nvPr>
        </p:nvSpPr>
        <p:spPr/>
        <p:txBody>
          <a:bodyPr/>
          <a:lstStyle/>
          <a:p>
            <a:fld id="{30D85F22-8D96-4CC0-8AEC-D5DD45058382}" type="slidenum">
              <a:rPr lang="en-US" smtClean="0"/>
              <a:t>9</a:t>
            </a:fld>
            <a:endParaRPr lang="en-US"/>
          </a:p>
        </p:txBody>
      </p:sp>
      <p:pic>
        <p:nvPicPr>
          <p:cNvPr id="6" name="Picture 5"/>
          <p:cNvPicPr>
            <a:picLocks noChangeAspect="1"/>
          </p:cNvPicPr>
          <p:nvPr/>
        </p:nvPicPr>
        <p:blipFill>
          <a:blip r:embed="rId3"/>
          <a:stretch>
            <a:fillRect/>
          </a:stretch>
        </p:blipFill>
        <p:spPr>
          <a:xfrm>
            <a:off x="2438401" y="2318214"/>
            <a:ext cx="4267198" cy="3853986"/>
          </a:xfrm>
          <a:prstGeom prst="rect">
            <a:avLst/>
          </a:prstGeom>
        </p:spPr>
      </p:pic>
    </p:spTree>
    <p:extLst>
      <p:ext uri="{BB962C8B-B14F-4D97-AF65-F5344CB8AC3E}">
        <p14:creationId xmlns:p14="http://schemas.microsoft.com/office/powerpoint/2010/main" val="5138425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Color</a:t>
            </a:r>
          </a:p>
        </p:txBody>
      </p:sp>
      <p:sp>
        <p:nvSpPr>
          <p:cNvPr id="3" name="Content Placeholder 2"/>
          <p:cNvSpPr>
            <a:spLocks noGrp="1"/>
          </p:cNvSpPr>
          <p:nvPr>
            <p:ph idx="1"/>
          </p:nvPr>
        </p:nvSpPr>
        <p:spPr/>
        <p:txBody>
          <a:bodyPr/>
          <a:lstStyle/>
          <a:p>
            <a:r>
              <a:rPr lang="en-US" dirty="0"/>
              <a:t>A sample color image (24 </a:t>
            </a:r>
            <a:r>
              <a:rPr lang="en-US" dirty="0" err="1"/>
              <a:t>bpp</a:t>
            </a:r>
            <a:r>
              <a:rPr lang="en-US" dirty="0"/>
              <a:t>):</a:t>
            </a:r>
          </a:p>
        </p:txBody>
      </p:sp>
      <p:sp>
        <p:nvSpPr>
          <p:cNvPr id="4" name="Footer Placeholder 3"/>
          <p:cNvSpPr>
            <a:spLocks noGrp="1"/>
          </p:cNvSpPr>
          <p:nvPr>
            <p:ph type="ftr" sz="quarter" idx="11"/>
          </p:nvPr>
        </p:nvSpPr>
        <p:spPr/>
        <p:txBody>
          <a:bodyPr/>
          <a:lstStyle/>
          <a:p>
            <a:r>
              <a:rPr lang="en-US"/>
              <a:t>CENG 477 – Computer Graphics</a:t>
            </a:r>
          </a:p>
        </p:txBody>
      </p:sp>
      <p:sp>
        <p:nvSpPr>
          <p:cNvPr id="5" name="Slide Number Placeholder 4"/>
          <p:cNvSpPr>
            <a:spLocks noGrp="1"/>
          </p:cNvSpPr>
          <p:nvPr>
            <p:ph type="sldNum" sz="quarter" idx="12"/>
          </p:nvPr>
        </p:nvSpPr>
        <p:spPr/>
        <p:txBody>
          <a:bodyPr/>
          <a:lstStyle/>
          <a:p>
            <a:fld id="{30D85F22-8D96-4CC0-8AEC-D5DD45058382}" type="slidenum">
              <a:rPr lang="en-US" smtClean="0"/>
              <a:t>10</a:t>
            </a:fld>
            <a:endParaRPr lang="en-US"/>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69531" y="2514600"/>
            <a:ext cx="5204938" cy="3505200"/>
          </a:xfrm>
          <a:prstGeom prst="rect">
            <a:avLst/>
          </a:prstGeom>
        </p:spPr>
      </p:pic>
    </p:spTree>
    <p:extLst>
      <p:ext uri="{BB962C8B-B14F-4D97-AF65-F5344CB8AC3E}">
        <p14:creationId xmlns:p14="http://schemas.microsoft.com/office/powerpoint/2010/main" val="32676900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Color</a:t>
            </a:r>
          </a:p>
        </p:txBody>
      </p:sp>
      <p:sp>
        <p:nvSpPr>
          <p:cNvPr id="3" name="Content Placeholder 2"/>
          <p:cNvSpPr>
            <a:spLocks noGrp="1"/>
          </p:cNvSpPr>
          <p:nvPr>
            <p:ph idx="1"/>
          </p:nvPr>
        </p:nvSpPr>
        <p:spPr/>
        <p:txBody>
          <a:bodyPr/>
          <a:lstStyle/>
          <a:p>
            <a:r>
              <a:rPr lang="en-US" dirty="0"/>
              <a:t>In color images, each pixel has three components: red, green, blue</a:t>
            </a:r>
          </a:p>
          <a:p>
            <a:r>
              <a:rPr lang="en-US" dirty="0"/>
              <a:t>Their relative contribution determines the actual color</a:t>
            </a:r>
          </a:p>
        </p:txBody>
      </p:sp>
      <p:sp>
        <p:nvSpPr>
          <p:cNvPr id="4" name="Footer Placeholder 3"/>
          <p:cNvSpPr>
            <a:spLocks noGrp="1"/>
          </p:cNvSpPr>
          <p:nvPr>
            <p:ph type="ftr" sz="quarter" idx="11"/>
          </p:nvPr>
        </p:nvSpPr>
        <p:spPr/>
        <p:txBody>
          <a:bodyPr/>
          <a:lstStyle/>
          <a:p>
            <a:r>
              <a:rPr lang="en-US"/>
              <a:t>CENG 477 – Computer Graphics</a:t>
            </a:r>
          </a:p>
        </p:txBody>
      </p:sp>
      <p:sp>
        <p:nvSpPr>
          <p:cNvPr id="5" name="Slide Number Placeholder 4"/>
          <p:cNvSpPr>
            <a:spLocks noGrp="1"/>
          </p:cNvSpPr>
          <p:nvPr>
            <p:ph type="sldNum" sz="quarter" idx="12"/>
          </p:nvPr>
        </p:nvSpPr>
        <p:spPr/>
        <p:txBody>
          <a:bodyPr/>
          <a:lstStyle/>
          <a:p>
            <a:fld id="{30D85F22-8D96-4CC0-8AEC-D5DD45058382}" type="slidenum">
              <a:rPr lang="en-US" smtClean="0"/>
              <a:t>11</a:t>
            </a:fld>
            <a:endParaRPr lang="en-US"/>
          </a:p>
        </p:txBody>
      </p:sp>
      <mc:AlternateContent xmlns:mc="http://schemas.openxmlformats.org/markup-compatibility/2006" xmlns:a14="http://schemas.microsoft.com/office/drawing/2010/main">
        <mc:Choice Requires="a14">
          <p:sp>
            <p:nvSpPr>
              <p:cNvPr id="7" name="Rectangle 6"/>
              <p:cNvSpPr/>
              <p:nvPr/>
            </p:nvSpPr>
            <p:spPr>
              <a:xfrm>
                <a:off x="2364058" y="3505200"/>
                <a:ext cx="4112941" cy="218192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𝐼</m:t>
                      </m:r>
                    </m:oMath>
                  </m:oMathPara>
                </a14:m>
                <a:endParaRPr lang="en-US" sz="2400" dirty="0"/>
              </a:p>
            </p:txBody>
          </p:sp>
        </mc:Choice>
        <mc:Fallback xmlns="">
          <p:sp>
            <p:nvSpPr>
              <p:cNvPr id="7" name="Rectangle 6"/>
              <p:cNvSpPr>
                <a:spLocks noRot="1" noChangeAspect="1" noMove="1" noResize="1" noEditPoints="1" noAdjustHandles="1" noChangeArrowheads="1" noChangeShapeType="1" noTextEdit="1"/>
              </p:cNvSpPr>
              <p:nvPr/>
            </p:nvSpPr>
            <p:spPr>
              <a:xfrm>
                <a:off x="2364058" y="3505200"/>
                <a:ext cx="4112941" cy="2181922"/>
              </a:xfrm>
              <a:prstGeom prst="rect">
                <a:avLst/>
              </a:prstGeom>
              <a:blipFill>
                <a:blip r:embed="rId3"/>
                <a:stretch>
                  <a:fillRect/>
                </a:stretch>
              </a:blipFill>
            </p:spPr>
            <p:txBody>
              <a:bodyPr/>
              <a:lstStyle/>
              <a:p>
                <a:r>
                  <a:rPr lang="en-US">
                    <a:noFill/>
                  </a:rPr>
                  <a:t> </a:t>
                </a:r>
              </a:p>
            </p:txBody>
          </p:sp>
        </mc:Fallback>
      </mc:AlternateContent>
      <p:sp>
        <p:nvSpPr>
          <p:cNvPr id="8" name="TextBox 7"/>
          <p:cNvSpPr txBox="1"/>
          <p:nvPr/>
        </p:nvSpPr>
        <p:spPr>
          <a:xfrm>
            <a:off x="4057962" y="5638800"/>
            <a:ext cx="723275" cy="369332"/>
          </a:xfrm>
          <a:prstGeom prst="rect">
            <a:avLst/>
          </a:prstGeom>
          <a:noFill/>
        </p:spPr>
        <p:txBody>
          <a:bodyPr wrap="none" rtlCol="0">
            <a:spAutoFit/>
          </a:bodyPr>
          <a:lstStyle/>
          <a:p>
            <a:r>
              <a:rPr lang="en-US" dirty="0"/>
              <a:t>width</a:t>
            </a:r>
          </a:p>
        </p:txBody>
      </p:sp>
      <p:sp>
        <p:nvSpPr>
          <p:cNvPr id="9" name="TextBox 8"/>
          <p:cNvSpPr txBox="1"/>
          <p:nvPr/>
        </p:nvSpPr>
        <p:spPr>
          <a:xfrm>
            <a:off x="1524000" y="4387334"/>
            <a:ext cx="813043" cy="369332"/>
          </a:xfrm>
          <a:prstGeom prst="rect">
            <a:avLst/>
          </a:prstGeom>
          <a:noFill/>
        </p:spPr>
        <p:txBody>
          <a:bodyPr wrap="none" rtlCol="0">
            <a:spAutoFit/>
          </a:bodyPr>
          <a:lstStyle/>
          <a:p>
            <a:r>
              <a:rPr lang="en-US" dirty="0"/>
              <a:t>height</a:t>
            </a:r>
          </a:p>
        </p:txBody>
      </p:sp>
      <p:grpSp>
        <p:nvGrpSpPr>
          <p:cNvPr id="10" name="Group 9"/>
          <p:cNvGrpSpPr/>
          <p:nvPr/>
        </p:nvGrpSpPr>
        <p:grpSpPr>
          <a:xfrm>
            <a:off x="2590800" y="3495236"/>
            <a:ext cx="3657600" cy="2191886"/>
            <a:chOff x="2590800" y="3495236"/>
            <a:chExt cx="3657600" cy="2143564"/>
          </a:xfrm>
        </p:grpSpPr>
        <p:cxnSp>
          <p:nvCxnSpPr>
            <p:cNvPr id="20" name="Straight Connector 19"/>
            <p:cNvCxnSpPr/>
            <p:nvPr/>
          </p:nvCxnSpPr>
          <p:spPr>
            <a:xfrm>
              <a:off x="2590800" y="3505200"/>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2819400" y="3505200"/>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3048000" y="3505200"/>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3276600" y="3505200"/>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3505200" y="3495236"/>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3733800" y="3495236"/>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3962400" y="3495236"/>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4191000" y="3495236"/>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4414024" y="3505200"/>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4642624" y="3505200"/>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4871224" y="3505200"/>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5099824" y="3505200"/>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5328424" y="3495236"/>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5557024" y="3495236"/>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785624" y="3495236"/>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6014224" y="3495236"/>
              <a:ext cx="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6248400" y="3505200"/>
              <a:ext cx="0" cy="213360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11" name="Straight Connector 10"/>
          <p:cNvCxnSpPr/>
          <p:nvPr/>
        </p:nvCxnSpPr>
        <p:spPr>
          <a:xfrm>
            <a:off x="2364058" y="3733800"/>
            <a:ext cx="411294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2362200" y="3962400"/>
            <a:ext cx="411294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2364059" y="4158734"/>
            <a:ext cx="411294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2364059" y="4387334"/>
            <a:ext cx="411294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2364058" y="4604266"/>
            <a:ext cx="411294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2362200" y="4832866"/>
            <a:ext cx="411294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2364059" y="5029200"/>
            <a:ext cx="411294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2364059" y="5257800"/>
            <a:ext cx="411294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2362200" y="5486400"/>
            <a:ext cx="411294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Curved Connector 37"/>
          <p:cNvCxnSpPr/>
          <p:nvPr/>
        </p:nvCxnSpPr>
        <p:spPr>
          <a:xfrm>
            <a:off x="5410200" y="3886200"/>
            <a:ext cx="1447799" cy="1409668"/>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47" name="Group 46"/>
          <p:cNvGrpSpPr/>
          <p:nvPr/>
        </p:nvGrpSpPr>
        <p:grpSpPr>
          <a:xfrm>
            <a:off x="7010399" y="4945566"/>
            <a:ext cx="1163445" cy="845634"/>
            <a:chOff x="7010399" y="2667000"/>
            <a:chExt cx="1163445" cy="845634"/>
          </a:xfrm>
        </p:grpSpPr>
        <p:sp>
          <p:nvSpPr>
            <p:cNvPr id="39" name="Rectangle 38"/>
            <p:cNvSpPr/>
            <p:nvPr/>
          </p:nvSpPr>
          <p:spPr>
            <a:xfrm>
              <a:off x="7010399" y="2667000"/>
              <a:ext cx="1163445" cy="84563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nvGrpSpPr>
            <p:cNvPr id="46" name="Group 45"/>
            <p:cNvGrpSpPr/>
            <p:nvPr/>
          </p:nvGrpSpPr>
          <p:grpSpPr>
            <a:xfrm>
              <a:off x="7027066" y="2676964"/>
              <a:ext cx="1138343" cy="828236"/>
              <a:chOff x="7162800" y="2819400"/>
              <a:chExt cx="1138343" cy="828236"/>
            </a:xfrm>
          </p:grpSpPr>
          <p:sp>
            <p:nvSpPr>
              <p:cNvPr id="43" name="Rectangle 42"/>
              <p:cNvSpPr/>
              <p:nvPr/>
            </p:nvSpPr>
            <p:spPr>
              <a:xfrm>
                <a:off x="7162800" y="2819400"/>
                <a:ext cx="381001" cy="828236"/>
              </a:xfrm>
              <a:prstGeom prst="rect">
                <a:avLst/>
              </a:prstGeom>
              <a:solidFill>
                <a:srgbClr val="FF0000"/>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4" name="Rectangle 43"/>
              <p:cNvSpPr/>
              <p:nvPr/>
            </p:nvSpPr>
            <p:spPr>
              <a:xfrm>
                <a:off x="7541936" y="2819400"/>
                <a:ext cx="381001" cy="828236"/>
              </a:xfrm>
              <a:prstGeom prst="rect">
                <a:avLst/>
              </a:prstGeom>
              <a:solidFill>
                <a:srgbClr val="00FF00"/>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 name="Rectangle 44"/>
              <p:cNvSpPr/>
              <p:nvPr/>
            </p:nvSpPr>
            <p:spPr>
              <a:xfrm>
                <a:off x="7920142" y="2819400"/>
                <a:ext cx="381001" cy="828236"/>
              </a:xfrm>
              <a:prstGeom prst="rect">
                <a:avLst/>
              </a:prstGeom>
              <a:solidFill>
                <a:srgbClr val="0000FF"/>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spTree>
    <p:extLst>
      <p:ext uri="{BB962C8B-B14F-4D97-AF65-F5344CB8AC3E}">
        <p14:creationId xmlns:p14="http://schemas.microsoft.com/office/powerpoint/2010/main" val="3342851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Color</a:t>
            </a:r>
          </a:p>
        </p:txBody>
      </p:sp>
      <p:sp>
        <p:nvSpPr>
          <p:cNvPr id="3" name="Content Placeholder 2"/>
          <p:cNvSpPr>
            <a:spLocks noGrp="1"/>
          </p:cNvSpPr>
          <p:nvPr>
            <p:ph idx="1"/>
          </p:nvPr>
        </p:nvSpPr>
        <p:spPr/>
        <p:txBody>
          <a:bodyPr/>
          <a:lstStyle/>
          <a:p>
            <a:r>
              <a:rPr lang="en-US" dirty="0"/>
              <a:t>Typically, each color value is an 8-bit integer in [0, 255] range</a:t>
            </a:r>
          </a:p>
          <a:p>
            <a:r>
              <a:rPr lang="en-US" dirty="0"/>
              <a:t>This corresponding space is called the RGB color cube</a:t>
            </a:r>
          </a:p>
        </p:txBody>
      </p:sp>
      <p:sp>
        <p:nvSpPr>
          <p:cNvPr id="4" name="Footer Placeholder 3"/>
          <p:cNvSpPr>
            <a:spLocks noGrp="1"/>
          </p:cNvSpPr>
          <p:nvPr>
            <p:ph type="ftr" sz="quarter" idx="11"/>
          </p:nvPr>
        </p:nvSpPr>
        <p:spPr/>
        <p:txBody>
          <a:bodyPr/>
          <a:lstStyle/>
          <a:p>
            <a:r>
              <a:rPr lang="en-US"/>
              <a:t>CENG 477 – Computer Graphics</a:t>
            </a:r>
          </a:p>
        </p:txBody>
      </p:sp>
      <p:sp>
        <p:nvSpPr>
          <p:cNvPr id="5" name="Slide Number Placeholder 4"/>
          <p:cNvSpPr>
            <a:spLocks noGrp="1"/>
          </p:cNvSpPr>
          <p:nvPr>
            <p:ph type="sldNum" sz="quarter" idx="12"/>
          </p:nvPr>
        </p:nvSpPr>
        <p:spPr/>
        <p:txBody>
          <a:bodyPr/>
          <a:lstStyle/>
          <a:p>
            <a:fld id="{30D85F22-8D96-4CC0-8AEC-D5DD45058382}" type="slidenum">
              <a:rPr lang="en-US" smtClean="0"/>
              <a:t>12</a:t>
            </a:fld>
            <a:endParaRPr lang="en-US"/>
          </a:p>
        </p:txBody>
      </p:sp>
      <p:pic>
        <p:nvPicPr>
          <p:cNvPr id="1026" name="Picture 2" descr="Image result for rgb spa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4787" y="3048000"/>
            <a:ext cx="3654425" cy="292354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3925828" y="5987663"/>
            <a:ext cx="1292341" cy="276999"/>
          </a:xfrm>
          <a:prstGeom prst="rect">
            <a:avLst/>
          </a:prstGeom>
          <a:noFill/>
        </p:spPr>
        <p:txBody>
          <a:bodyPr wrap="none" rtlCol="0">
            <a:spAutoFit/>
          </a:bodyPr>
          <a:lstStyle/>
          <a:p>
            <a:r>
              <a:rPr lang="en-US" sz="1200" dirty="0"/>
              <a:t>medialooks.com</a:t>
            </a:r>
          </a:p>
        </p:txBody>
      </p:sp>
    </p:spTree>
    <p:extLst>
      <p:ext uri="{BB962C8B-B14F-4D97-AF65-F5344CB8AC3E}">
        <p14:creationId xmlns:p14="http://schemas.microsoft.com/office/powerpoint/2010/main" val="25044843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Storage</a:t>
            </a:r>
          </a:p>
        </p:txBody>
      </p:sp>
      <p:sp>
        <p:nvSpPr>
          <p:cNvPr id="3" name="Content Placeholder 2"/>
          <p:cNvSpPr>
            <a:spLocks noGrp="1"/>
          </p:cNvSpPr>
          <p:nvPr>
            <p:ph idx="1"/>
          </p:nvPr>
        </p:nvSpPr>
        <p:spPr/>
        <p:txBody>
          <a:bodyPr/>
          <a:lstStyle/>
          <a:p>
            <a:r>
              <a:rPr lang="en-US" dirty="0"/>
              <a:t>These colors can be stored as </a:t>
            </a:r>
            <a:r>
              <a:rPr lang="en-US" dirty="0">
                <a:solidFill>
                  <a:srgbClr val="C00000"/>
                </a:solidFill>
              </a:rPr>
              <a:t>interleaved</a:t>
            </a:r>
            <a:r>
              <a:rPr lang="en-US" dirty="0"/>
              <a:t> or as </a:t>
            </a:r>
            <a:r>
              <a:rPr lang="en-US" dirty="0">
                <a:solidFill>
                  <a:srgbClr val="C00000"/>
                </a:solidFill>
              </a:rPr>
              <a:t>planar </a:t>
            </a:r>
            <a:r>
              <a:rPr lang="en-US" dirty="0"/>
              <a:t>in an image file</a:t>
            </a:r>
          </a:p>
        </p:txBody>
      </p:sp>
      <p:sp>
        <p:nvSpPr>
          <p:cNvPr id="4" name="Footer Placeholder 3"/>
          <p:cNvSpPr>
            <a:spLocks noGrp="1"/>
          </p:cNvSpPr>
          <p:nvPr>
            <p:ph type="ftr" sz="quarter" idx="11"/>
          </p:nvPr>
        </p:nvSpPr>
        <p:spPr/>
        <p:txBody>
          <a:bodyPr/>
          <a:lstStyle/>
          <a:p>
            <a:r>
              <a:rPr lang="en-US"/>
              <a:t>CENG 477 – Computer Graphics</a:t>
            </a:r>
          </a:p>
        </p:txBody>
      </p:sp>
      <p:sp>
        <p:nvSpPr>
          <p:cNvPr id="5" name="Slide Number Placeholder 4"/>
          <p:cNvSpPr>
            <a:spLocks noGrp="1"/>
          </p:cNvSpPr>
          <p:nvPr>
            <p:ph type="sldNum" sz="quarter" idx="12"/>
          </p:nvPr>
        </p:nvSpPr>
        <p:spPr/>
        <p:txBody>
          <a:bodyPr/>
          <a:lstStyle/>
          <a:p>
            <a:fld id="{30D85F22-8D96-4CC0-8AEC-D5DD45058382}" type="slidenum">
              <a:rPr lang="en-US" smtClean="0"/>
              <a:t>13</a:t>
            </a:fld>
            <a:endParaRPr lang="en-US"/>
          </a:p>
        </p:txBody>
      </p:sp>
      <p:pic>
        <p:nvPicPr>
          <p:cNvPr id="6" name="Picture 5"/>
          <p:cNvPicPr>
            <a:picLocks noChangeAspect="1"/>
          </p:cNvPicPr>
          <p:nvPr/>
        </p:nvPicPr>
        <p:blipFill>
          <a:blip r:embed="rId2"/>
          <a:stretch>
            <a:fillRect/>
          </a:stretch>
        </p:blipFill>
        <p:spPr>
          <a:xfrm>
            <a:off x="762000" y="3309286"/>
            <a:ext cx="3061017" cy="1558210"/>
          </a:xfrm>
          <a:prstGeom prst="rect">
            <a:avLst/>
          </a:prstGeom>
        </p:spPr>
      </p:pic>
      <p:pic>
        <p:nvPicPr>
          <p:cNvPr id="7" name="Picture 6"/>
          <p:cNvPicPr>
            <a:picLocks noChangeAspect="1"/>
          </p:cNvPicPr>
          <p:nvPr/>
        </p:nvPicPr>
        <p:blipFill>
          <a:blip r:embed="rId3"/>
          <a:stretch>
            <a:fillRect/>
          </a:stretch>
        </p:blipFill>
        <p:spPr>
          <a:xfrm>
            <a:off x="5050224" y="3200400"/>
            <a:ext cx="3005951" cy="1775983"/>
          </a:xfrm>
          <a:prstGeom prst="rect">
            <a:avLst/>
          </a:prstGeom>
        </p:spPr>
      </p:pic>
      <p:sp>
        <p:nvSpPr>
          <p:cNvPr id="8" name="TextBox 7"/>
          <p:cNvSpPr txBox="1"/>
          <p:nvPr/>
        </p:nvSpPr>
        <p:spPr>
          <a:xfrm>
            <a:off x="1629506" y="4942831"/>
            <a:ext cx="1326004" cy="369332"/>
          </a:xfrm>
          <a:prstGeom prst="rect">
            <a:avLst/>
          </a:prstGeom>
          <a:noFill/>
        </p:spPr>
        <p:txBody>
          <a:bodyPr wrap="none" rtlCol="0">
            <a:spAutoFit/>
          </a:bodyPr>
          <a:lstStyle/>
          <a:p>
            <a:r>
              <a:rPr lang="en-US" dirty="0"/>
              <a:t>Interleaved</a:t>
            </a:r>
          </a:p>
        </p:txBody>
      </p:sp>
      <p:sp>
        <p:nvSpPr>
          <p:cNvPr id="9" name="TextBox 8"/>
          <p:cNvSpPr txBox="1"/>
          <p:nvPr/>
        </p:nvSpPr>
        <p:spPr>
          <a:xfrm>
            <a:off x="6172200" y="4997275"/>
            <a:ext cx="851515" cy="369332"/>
          </a:xfrm>
          <a:prstGeom prst="rect">
            <a:avLst/>
          </a:prstGeom>
          <a:noFill/>
        </p:spPr>
        <p:txBody>
          <a:bodyPr wrap="none" rtlCol="0">
            <a:spAutoFit/>
          </a:bodyPr>
          <a:lstStyle/>
          <a:p>
            <a:r>
              <a:rPr lang="en-US" dirty="0"/>
              <a:t>Planar</a:t>
            </a:r>
          </a:p>
        </p:txBody>
      </p:sp>
    </p:spTree>
    <p:extLst>
      <p:ext uri="{BB962C8B-B14F-4D97-AF65-F5344CB8AC3E}">
        <p14:creationId xmlns:p14="http://schemas.microsoft.com/office/powerpoint/2010/main" val="5078953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Image Formats</a:t>
            </a:r>
          </a:p>
        </p:txBody>
      </p:sp>
      <p:sp>
        <p:nvSpPr>
          <p:cNvPr id="3" name="Content Placeholder 2"/>
          <p:cNvSpPr>
            <a:spLocks noGrp="1"/>
          </p:cNvSpPr>
          <p:nvPr>
            <p:ph idx="1"/>
          </p:nvPr>
        </p:nvSpPr>
        <p:spPr/>
        <p:txBody>
          <a:bodyPr/>
          <a:lstStyle/>
          <a:p>
            <a:r>
              <a:rPr lang="en-US" dirty="0"/>
              <a:t>Images generated by a CG program can be sent to a display device or written to an image file</a:t>
            </a:r>
          </a:p>
        </p:txBody>
      </p:sp>
      <p:sp>
        <p:nvSpPr>
          <p:cNvPr id="4" name="Footer Placeholder 3"/>
          <p:cNvSpPr>
            <a:spLocks noGrp="1"/>
          </p:cNvSpPr>
          <p:nvPr>
            <p:ph type="ftr" sz="quarter" idx="11"/>
          </p:nvPr>
        </p:nvSpPr>
        <p:spPr/>
        <p:txBody>
          <a:bodyPr/>
          <a:lstStyle/>
          <a:p>
            <a:r>
              <a:rPr lang="en-US"/>
              <a:t>CENG 477 – Computer Graphics</a:t>
            </a:r>
          </a:p>
        </p:txBody>
      </p:sp>
      <p:sp>
        <p:nvSpPr>
          <p:cNvPr id="5" name="Slide Number Placeholder 4"/>
          <p:cNvSpPr>
            <a:spLocks noGrp="1"/>
          </p:cNvSpPr>
          <p:nvPr>
            <p:ph type="sldNum" sz="quarter" idx="12"/>
          </p:nvPr>
        </p:nvSpPr>
        <p:spPr/>
        <p:txBody>
          <a:bodyPr/>
          <a:lstStyle/>
          <a:p>
            <a:fld id="{30D85F22-8D96-4CC0-8AEC-D5DD45058382}" type="slidenum">
              <a:rPr lang="en-US" smtClean="0"/>
              <a:t>14</a:t>
            </a:fld>
            <a:endParaRPr lang="en-US"/>
          </a:p>
        </p:txBody>
      </p:sp>
      <p:sp>
        <p:nvSpPr>
          <p:cNvPr id="6" name="Rounded Rectangle 5"/>
          <p:cNvSpPr/>
          <p:nvPr/>
        </p:nvSpPr>
        <p:spPr>
          <a:xfrm>
            <a:off x="1143000" y="3429000"/>
            <a:ext cx="1524000" cy="1905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Scene</a:t>
            </a:r>
          </a:p>
          <a:p>
            <a:pPr algn="ctr"/>
            <a:r>
              <a:rPr lang="en-US" dirty="0"/>
              <a:t>Description</a:t>
            </a:r>
          </a:p>
          <a:p>
            <a:pPr algn="ctr"/>
            <a:r>
              <a:rPr lang="en-US" dirty="0"/>
              <a:t>File</a:t>
            </a:r>
          </a:p>
        </p:txBody>
      </p:sp>
      <p:sp>
        <p:nvSpPr>
          <p:cNvPr id="7" name="Rectangle 6"/>
          <p:cNvSpPr/>
          <p:nvPr/>
        </p:nvSpPr>
        <p:spPr>
          <a:xfrm>
            <a:off x="3505200" y="3771900"/>
            <a:ext cx="1905000" cy="1219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CG Program (Rendering)</a:t>
            </a:r>
          </a:p>
        </p:txBody>
      </p:sp>
      <p:sp>
        <p:nvSpPr>
          <p:cNvPr id="8" name="Right Arrow 7"/>
          <p:cNvSpPr/>
          <p:nvPr/>
        </p:nvSpPr>
        <p:spPr>
          <a:xfrm>
            <a:off x="2743200" y="4286250"/>
            <a:ext cx="685800" cy="1905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Curved Connector 9"/>
          <p:cNvCxnSpPr/>
          <p:nvPr/>
        </p:nvCxnSpPr>
        <p:spPr>
          <a:xfrm flipV="1">
            <a:off x="5410200" y="3456221"/>
            <a:ext cx="1371600" cy="658579"/>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Curved Connector 11"/>
          <p:cNvCxnSpPr/>
          <p:nvPr/>
        </p:nvCxnSpPr>
        <p:spPr>
          <a:xfrm>
            <a:off x="5410200" y="4572000"/>
            <a:ext cx="1447800" cy="41910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pic>
        <p:nvPicPr>
          <p:cNvPr id="15" name="Picture 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58000" y="2865882"/>
            <a:ext cx="1550620" cy="1420368"/>
          </a:xfrm>
          <a:prstGeom prst="rect">
            <a:avLst/>
          </a:prstGeom>
        </p:spPr>
      </p:pic>
      <p:sp>
        <p:nvSpPr>
          <p:cNvPr id="16" name="Rounded Rectangle 15"/>
          <p:cNvSpPr/>
          <p:nvPr/>
        </p:nvSpPr>
        <p:spPr>
          <a:xfrm>
            <a:off x="6991815" y="4389098"/>
            <a:ext cx="1524000" cy="1905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Output</a:t>
            </a:r>
          </a:p>
          <a:p>
            <a:pPr algn="ctr"/>
            <a:r>
              <a:rPr lang="en-US" dirty="0"/>
              <a:t>Image</a:t>
            </a:r>
          </a:p>
          <a:p>
            <a:pPr algn="ctr"/>
            <a:r>
              <a:rPr lang="en-US" dirty="0"/>
              <a:t>File</a:t>
            </a:r>
          </a:p>
        </p:txBody>
      </p:sp>
    </p:spTree>
    <p:extLst>
      <p:ext uri="{BB962C8B-B14F-4D97-AF65-F5344CB8AC3E}">
        <p14:creationId xmlns:p14="http://schemas.microsoft.com/office/powerpoint/2010/main" val="1541248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Image Formats</a:t>
            </a:r>
          </a:p>
        </p:txBody>
      </p:sp>
      <p:sp>
        <p:nvSpPr>
          <p:cNvPr id="3" name="Content Placeholder 2"/>
          <p:cNvSpPr>
            <a:spLocks noGrp="1"/>
          </p:cNvSpPr>
          <p:nvPr>
            <p:ph idx="1"/>
          </p:nvPr>
        </p:nvSpPr>
        <p:spPr/>
        <p:txBody>
          <a:bodyPr/>
          <a:lstStyle/>
          <a:p>
            <a:r>
              <a:rPr lang="en-US" dirty="0"/>
              <a:t>There are hundreds of image formats perhaps the best well-known being the </a:t>
            </a:r>
            <a:r>
              <a:rPr lang="en-US" dirty="0">
                <a:solidFill>
                  <a:srgbClr val="C00000"/>
                </a:solidFill>
              </a:rPr>
              <a:t>JPEG</a:t>
            </a:r>
            <a:r>
              <a:rPr lang="en-US" dirty="0"/>
              <a:t> format</a:t>
            </a:r>
          </a:p>
          <a:p>
            <a:r>
              <a:rPr lang="en-US" dirty="0"/>
              <a:t>A very simple image format is the </a:t>
            </a:r>
            <a:r>
              <a:rPr lang="en-US" dirty="0">
                <a:solidFill>
                  <a:srgbClr val="C00000"/>
                </a:solidFill>
              </a:rPr>
              <a:t>PPM</a:t>
            </a:r>
            <a:r>
              <a:rPr lang="en-US" dirty="0"/>
              <a:t> format:</a:t>
            </a:r>
          </a:p>
        </p:txBody>
      </p:sp>
      <p:sp>
        <p:nvSpPr>
          <p:cNvPr id="4" name="Footer Placeholder 3"/>
          <p:cNvSpPr>
            <a:spLocks noGrp="1"/>
          </p:cNvSpPr>
          <p:nvPr>
            <p:ph type="ftr" sz="quarter" idx="11"/>
          </p:nvPr>
        </p:nvSpPr>
        <p:spPr/>
        <p:txBody>
          <a:bodyPr/>
          <a:lstStyle/>
          <a:p>
            <a:r>
              <a:rPr lang="en-US"/>
              <a:t>CENG 477 – Computer Graphics</a:t>
            </a:r>
          </a:p>
        </p:txBody>
      </p:sp>
      <p:sp>
        <p:nvSpPr>
          <p:cNvPr id="5" name="Slide Number Placeholder 4"/>
          <p:cNvSpPr>
            <a:spLocks noGrp="1"/>
          </p:cNvSpPr>
          <p:nvPr>
            <p:ph type="sldNum" sz="quarter" idx="12"/>
          </p:nvPr>
        </p:nvSpPr>
        <p:spPr/>
        <p:txBody>
          <a:bodyPr/>
          <a:lstStyle/>
          <a:p>
            <a:fld id="{30D85F22-8D96-4CC0-8AEC-D5DD45058382}" type="slidenum">
              <a:rPr lang="en-US" smtClean="0"/>
              <a:t>15</a:t>
            </a:fld>
            <a:endParaRPr lang="en-US"/>
          </a:p>
        </p:txBody>
      </p:sp>
      <p:pic>
        <p:nvPicPr>
          <p:cNvPr id="6" name="Picture 5"/>
          <p:cNvPicPr>
            <a:picLocks noChangeAspect="1"/>
          </p:cNvPicPr>
          <p:nvPr/>
        </p:nvPicPr>
        <p:blipFill>
          <a:blip r:embed="rId3"/>
          <a:stretch>
            <a:fillRect/>
          </a:stretch>
        </p:blipFill>
        <p:spPr>
          <a:xfrm>
            <a:off x="1143000" y="3200400"/>
            <a:ext cx="6991350" cy="2266950"/>
          </a:xfrm>
          <a:prstGeom prst="rect">
            <a:avLst/>
          </a:prstGeom>
        </p:spPr>
      </p:pic>
    </p:spTree>
    <p:extLst>
      <p:ext uri="{BB962C8B-B14F-4D97-AF65-F5344CB8AC3E}">
        <p14:creationId xmlns:p14="http://schemas.microsoft.com/office/powerpoint/2010/main" val="3734130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Image Formats</a:t>
            </a:r>
          </a:p>
        </p:txBody>
      </p:sp>
      <p:sp>
        <p:nvSpPr>
          <p:cNvPr id="3" name="Content Placeholder 2"/>
          <p:cNvSpPr>
            <a:spLocks noGrp="1"/>
          </p:cNvSpPr>
          <p:nvPr>
            <p:ph idx="1"/>
          </p:nvPr>
        </p:nvSpPr>
        <p:spPr/>
        <p:txBody>
          <a:bodyPr/>
          <a:lstStyle/>
          <a:p>
            <a:r>
              <a:rPr lang="en-US" dirty="0"/>
              <a:t>Despite being simple, the PPM format is very inefficient due to lack of compression</a:t>
            </a:r>
          </a:p>
          <a:p>
            <a:r>
              <a:rPr lang="en-US" dirty="0"/>
              <a:t>How many MBs would an 18 megapixel (MP) </a:t>
            </a:r>
            <a:r>
              <a:rPr lang="en-US" dirty="0">
                <a:solidFill>
                  <a:srgbClr val="C00000"/>
                </a:solidFill>
              </a:rPr>
              <a:t>plain PPM </a:t>
            </a:r>
            <a:r>
              <a:rPr lang="en-US" dirty="0"/>
              <a:t>image would occupy?</a:t>
            </a:r>
          </a:p>
          <a:p>
            <a:pPr marL="0" indent="0">
              <a:buNone/>
            </a:pPr>
            <a:endParaRPr lang="en-US" dirty="0"/>
          </a:p>
        </p:txBody>
      </p:sp>
      <p:sp>
        <p:nvSpPr>
          <p:cNvPr id="4" name="Footer Placeholder 3"/>
          <p:cNvSpPr>
            <a:spLocks noGrp="1"/>
          </p:cNvSpPr>
          <p:nvPr>
            <p:ph type="ftr" sz="quarter" idx="11"/>
          </p:nvPr>
        </p:nvSpPr>
        <p:spPr/>
        <p:txBody>
          <a:bodyPr/>
          <a:lstStyle/>
          <a:p>
            <a:r>
              <a:rPr lang="en-US"/>
              <a:t>CENG 477 – Computer Graphics</a:t>
            </a:r>
          </a:p>
        </p:txBody>
      </p:sp>
      <p:sp>
        <p:nvSpPr>
          <p:cNvPr id="5" name="Slide Number Placeholder 4"/>
          <p:cNvSpPr>
            <a:spLocks noGrp="1"/>
          </p:cNvSpPr>
          <p:nvPr>
            <p:ph type="sldNum" sz="quarter" idx="12"/>
          </p:nvPr>
        </p:nvSpPr>
        <p:spPr/>
        <p:txBody>
          <a:bodyPr/>
          <a:lstStyle/>
          <a:p>
            <a:fld id="{30D85F22-8D96-4CC0-8AEC-D5DD45058382}" type="slidenum">
              <a:rPr lang="en-US" smtClean="0"/>
              <a:t>16</a:t>
            </a:fld>
            <a:endParaRPr lang="en-US"/>
          </a:p>
        </p:txBody>
      </p:sp>
      <mc:AlternateContent xmlns:mc="http://schemas.openxmlformats.org/markup-compatibility/2006" xmlns:a14="http://schemas.microsoft.com/office/drawing/2010/main">
        <mc:Choice Requires="a14">
          <p:sp>
            <p:nvSpPr>
              <p:cNvPr id="6" name="Rounded Rectangle 5"/>
              <p:cNvSpPr/>
              <p:nvPr/>
            </p:nvSpPr>
            <p:spPr>
              <a:xfrm>
                <a:off x="762000" y="3429000"/>
                <a:ext cx="8001000" cy="1600200"/>
              </a:xfrm>
              <a:prstGeom prst="roundRect">
                <a:avLst/>
              </a:prstGeom>
              <a:solidFill>
                <a:schemeClr val="tx2">
                  <a:lumMod val="50000"/>
                  <a:lumOff val="5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18 ∗1024 ∗1024 ∗3 ∗3.57</m:t>
                          </m:r>
                        </m:num>
                        <m:den>
                          <m:r>
                            <a:rPr lang="en-US" sz="2400" b="0" i="1" smtClean="0">
                              <a:latin typeface="Cambria Math" panose="02040503050406030204" pitchFamily="18" charset="0"/>
                            </a:rPr>
                            <m:t>1024 ∗1024</m:t>
                          </m:r>
                        </m:den>
                      </m:f>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193 </m:t>
                      </m:r>
                      <m:r>
                        <a:rPr lang="en-US" sz="2400" b="0" i="1" smtClean="0">
                          <a:latin typeface="Cambria Math" panose="02040503050406030204" pitchFamily="18" charset="0"/>
                          <a:ea typeface="Cambria Math" panose="02040503050406030204" pitchFamily="18" charset="0"/>
                        </a:rPr>
                        <m:t>𝑀𝐵𝑠</m:t>
                      </m:r>
                    </m:oMath>
                  </m:oMathPara>
                </a14:m>
                <a:endParaRPr lang="en-US" sz="2400" dirty="0"/>
              </a:p>
            </p:txBody>
          </p:sp>
        </mc:Choice>
        <mc:Fallback xmlns="">
          <p:sp>
            <p:nvSpPr>
              <p:cNvPr id="6" name="Rounded Rectangle 5"/>
              <p:cNvSpPr>
                <a:spLocks noRot="1" noChangeAspect="1" noMove="1" noResize="1" noEditPoints="1" noAdjustHandles="1" noChangeArrowheads="1" noChangeShapeType="1" noTextEdit="1"/>
              </p:cNvSpPr>
              <p:nvPr/>
            </p:nvSpPr>
            <p:spPr>
              <a:xfrm>
                <a:off x="762000" y="3429000"/>
                <a:ext cx="8001000" cy="1600200"/>
              </a:xfrm>
              <a:prstGeom prst="roundRect">
                <a:avLst/>
              </a:prstGeom>
              <a:blipFill>
                <a:blip r:embed="rId3"/>
                <a:stretch>
                  <a:fillRect/>
                </a:stretch>
              </a:blipFill>
              <a:ln>
                <a:solidFill>
                  <a:schemeClr val="bg2">
                    <a:lumMod val="25000"/>
                  </a:schemeClr>
                </a:solidFill>
              </a:ln>
            </p:spPr>
            <p:txBody>
              <a:bodyPr/>
              <a:lstStyle/>
              <a:p>
                <a:r>
                  <a:rPr lang="en-US">
                    <a:noFill/>
                  </a:rPr>
                  <a:t> </a:t>
                </a:r>
              </a:p>
            </p:txBody>
          </p:sp>
        </mc:Fallback>
      </mc:AlternateContent>
    </p:spTree>
    <p:extLst>
      <p:ext uri="{BB962C8B-B14F-4D97-AF65-F5344CB8AC3E}">
        <p14:creationId xmlns:p14="http://schemas.microsoft.com/office/powerpoint/2010/main" val="2331396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Image Formats</a:t>
            </a:r>
          </a:p>
        </p:txBody>
      </p:sp>
      <p:sp>
        <p:nvSpPr>
          <p:cNvPr id="3" name="Content Placeholder 2"/>
          <p:cNvSpPr>
            <a:spLocks noGrp="1"/>
          </p:cNvSpPr>
          <p:nvPr>
            <p:ph idx="1"/>
          </p:nvPr>
        </p:nvSpPr>
        <p:spPr/>
        <p:txBody>
          <a:bodyPr/>
          <a:lstStyle/>
          <a:p>
            <a:r>
              <a:rPr lang="en-US" dirty="0"/>
              <a:t>3.57 in this formula comes from the expected number of bytes that each component will occupy:</a:t>
            </a:r>
          </a:p>
          <a:p>
            <a:endParaRPr lang="en-US" dirty="0"/>
          </a:p>
          <a:p>
            <a:endParaRPr lang="en-US" dirty="0"/>
          </a:p>
          <a:p>
            <a:endParaRPr lang="en-US" dirty="0"/>
          </a:p>
          <a:p>
            <a:endParaRPr lang="en-US" dirty="0"/>
          </a:p>
          <a:p>
            <a:endParaRPr lang="en-US" dirty="0"/>
          </a:p>
          <a:p>
            <a:r>
              <a:rPr lang="en-US" dirty="0"/>
              <a:t>The last +1 is for the whitespace between the components</a:t>
            </a:r>
          </a:p>
          <a:p>
            <a:pPr marL="0" indent="0">
              <a:buNone/>
            </a:pPr>
            <a:endParaRPr lang="en-US" dirty="0"/>
          </a:p>
        </p:txBody>
      </p:sp>
      <p:sp>
        <p:nvSpPr>
          <p:cNvPr id="4" name="Footer Placeholder 3"/>
          <p:cNvSpPr>
            <a:spLocks noGrp="1"/>
          </p:cNvSpPr>
          <p:nvPr>
            <p:ph type="ftr" sz="quarter" idx="11"/>
          </p:nvPr>
        </p:nvSpPr>
        <p:spPr/>
        <p:txBody>
          <a:bodyPr/>
          <a:lstStyle/>
          <a:p>
            <a:r>
              <a:rPr lang="en-US"/>
              <a:t>CENG 477 – Computer Graphics</a:t>
            </a:r>
          </a:p>
        </p:txBody>
      </p:sp>
      <p:sp>
        <p:nvSpPr>
          <p:cNvPr id="5" name="Slide Number Placeholder 4"/>
          <p:cNvSpPr>
            <a:spLocks noGrp="1"/>
          </p:cNvSpPr>
          <p:nvPr>
            <p:ph type="sldNum" sz="quarter" idx="12"/>
          </p:nvPr>
        </p:nvSpPr>
        <p:spPr/>
        <p:txBody>
          <a:bodyPr/>
          <a:lstStyle/>
          <a:p>
            <a:fld id="{30D85F22-8D96-4CC0-8AEC-D5DD45058382}" type="slidenum">
              <a:rPr lang="en-US" smtClean="0"/>
              <a:t>17</a:t>
            </a:fld>
            <a:endParaRPr lang="en-US"/>
          </a:p>
        </p:txBody>
      </p:sp>
      <mc:AlternateContent xmlns:mc="http://schemas.openxmlformats.org/markup-compatibility/2006" xmlns:a14="http://schemas.microsoft.com/office/drawing/2010/main">
        <mc:Choice Requires="a14">
          <p:sp>
            <p:nvSpPr>
              <p:cNvPr id="6" name="Rounded Rectangle 5"/>
              <p:cNvSpPr/>
              <p:nvPr/>
            </p:nvSpPr>
            <p:spPr>
              <a:xfrm>
                <a:off x="762000" y="2667000"/>
                <a:ext cx="8001000" cy="1600200"/>
              </a:xfrm>
              <a:prstGeom prst="roundRect">
                <a:avLst/>
              </a:prstGeom>
              <a:solidFill>
                <a:schemeClr val="tx2">
                  <a:lumMod val="50000"/>
                  <a:lumOff val="5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10 ∗1+90 ∗2+156 ∗3</m:t>
                          </m:r>
                        </m:num>
                        <m:den>
                          <m:r>
                            <a:rPr lang="en-US" sz="2400" b="0" i="1" smtClean="0">
                              <a:latin typeface="Cambria Math" panose="02040503050406030204" pitchFamily="18" charset="0"/>
                            </a:rPr>
                            <m:t>256</m:t>
                          </m:r>
                        </m:den>
                      </m:f>
                      <m:r>
                        <a:rPr lang="en-US" sz="2400" b="0" i="1" smtClean="0">
                          <a:latin typeface="Cambria Math" panose="02040503050406030204" pitchFamily="18" charset="0"/>
                        </a:rPr>
                        <m:t>+1</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3.57</m:t>
                      </m:r>
                    </m:oMath>
                  </m:oMathPara>
                </a14:m>
                <a:endParaRPr lang="en-US" sz="2400" dirty="0"/>
              </a:p>
            </p:txBody>
          </p:sp>
        </mc:Choice>
        <mc:Fallback xmlns="">
          <p:sp>
            <p:nvSpPr>
              <p:cNvPr id="6" name="Rounded Rectangle 5"/>
              <p:cNvSpPr>
                <a:spLocks noRot="1" noChangeAspect="1" noMove="1" noResize="1" noEditPoints="1" noAdjustHandles="1" noChangeArrowheads="1" noChangeShapeType="1" noTextEdit="1"/>
              </p:cNvSpPr>
              <p:nvPr/>
            </p:nvSpPr>
            <p:spPr>
              <a:xfrm>
                <a:off x="762000" y="2667000"/>
                <a:ext cx="8001000" cy="1600200"/>
              </a:xfrm>
              <a:prstGeom prst="roundRect">
                <a:avLst/>
              </a:prstGeom>
              <a:blipFill>
                <a:blip r:embed="rId2"/>
                <a:stretch>
                  <a:fillRect/>
                </a:stretch>
              </a:blipFill>
              <a:ln>
                <a:solidFill>
                  <a:schemeClr val="bg2">
                    <a:lumMod val="25000"/>
                  </a:schemeClr>
                </a:solidFill>
              </a:ln>
            </p:spPr>
            <p:txBody>
              <a:bodyPr/>
              <a:lstStyle/>
              <a:p>
                <a:r>
                  <a:rPr lang="en-US">
                    <a:noFill/>
                  </a:rPr>
                  <a:t> </a:t>
                </a:r>
              </a:p>
            </p:txBody>
          </p:sp>
        </mc:Fallback>
      </mc:AlternateContent>
    </p:spTree>
    <p:extLst>
      <p:ext uri="{BB962C8B-B14F-4D97-AF65-F5344CB8AC3E}">
        <p14:creationId xmlns:p14="http://schemas.microsoft.com/office/powerpoint/2010/main" val="3416790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Image Formats</a:t>
            </a:r>
          </a:p>
        </p:txBody>
      </p:sp>
      <p:sp>
        <p:nvSpPr>
          <p:cNvPr id="3" name="Content Placeholder 2"/>
          <p:cNvSpPr>
            <a:spLocks noGrp="1"/>
          </p:cNvSpPr>
          <p:nvPr>
            <p:ph idx="1"/>
          </p:nvPr>
        </p:nvSpPr>
        <p:spPr/>
        <p:txBody>
          <a:bodyPr/>
          <a:lstStyle/>
          <a:p>
            <a:r>
              <a:rPr lang="en-US" dirty="0"/>
              <a:t>If we used </a:t>
            </a:r>
            <a:r>
              <a:rPr lang="en-US" dirty="0">
                <a:solidFill>
                  <a:srgbClr val="C00000"/>
                </a:solidFill>
              </a:rPr>
              <a:t>binary PPM</a:t>
            </a:r>
            <a:r>
              <a:rPr lang="en-US" dirty="0"/>
              <a:t> (each component is 1 byte and there is no white space) this produce a file size of 54 MBs for an 18 MP image (still too much)</a:t>
            </a:r>
          </a:p>
          <a:p>
            <a:r>
              <a:rPr lang="en-US" dirty="0"/>
              <a:t>For this reason, compressed image formats are available</a:t>
            </a:r>
          </a:p>
          <a:p>
            <a:pPr lvl="1"/>
            <a:r>
              <a:rPr lang="en-US" dirty="0"/>
              <a:t>Lossless compression</a:t>
            </a:r>
          </a:p>
          <a:p>
            <a:pPr lvl="1"/>
            <a:r>
              <a:rPr lang="en-US" dirty="0"/>
              <a:t>Lossy compression</a:t>
            </a:r>
          </a:p>
        </p:txBody>
      </p:sp>
      <p:sp>
        <p:nvSpPr>
          <p:cNvPr id="4" name="Footer Placeholder 3"/>
          <p:cNvSpPr>
            <a:spLocks noGrp="1"/>
          </p:cNvSpPr>
          <p:nvPr>
            <p:ph type="ftr" sz="quarter" idx="11"/>
          </p:nvPr>
        </p:nvSpPr>
        <p:spPr/>
        <p:txBody>
          <a:bodyPr/>
          <a:lstStyle/>
          <a:p>
            <a:r>
              <a:rPr lang="en-US"/>
              <a:t>CENG 477 – Computer Graphics</a:t>
            </a:r>
          </a:p>
        </p:txBody>
      </p:sp>
      <p:sp>
        <p:nvSpPr>
          <p:cNvPr id="5" name="Slide Number Placeholder 4"/>
          <p:cNvSpPr>
            <a:spLocks noGrp="1"/>
          </p:cNvSpPr>
          <p:nvPr>
            <p:ph type="sldNum" sz="quarter" idx="12"/>
          </p:nvPr>
        </p:nvSpPr>
        <p:spPr/>
        <p:txBody>
          <a:bodyPr/>
          <a:lstStyle/>
          <a:p>
            <a:fld id="{30D85F22-8D96-4CC0-8AEC-D5DD45058382}" type="slidenum">
              <a:rPr lang="en-US" smtClean="0"/>
              <a:t>18</a:t>
            </a:fld>
            <a:endParaRPr lang="en-US"/>
          </a:p>
        </p:txBody>
      </p:sp>
    </p:spTree>
    <p:extLst>
      <p:ext uri="{BB962C8B-B14F-4D97-AF65-F5344CB8AC3E}">
        <p14:creationId xmlns:p14="http://schemas.microsoft.com/office/powerpoint/2010/main" val="18555560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Lossless Compression</a:t>
            </a:r>
          </a:p>
        </p:txBody>
      </p:sp>
      <p:sp>
        <p:nvSpPr>
          <p:cNvPr id="3" name="Content Placeholder 2"/>
          <p:cNvSpPr>
            <a:spLocks noGrp="1"/>
          </p:cNvSpPr>
          <p:nvPr>
            <p:ph idx="1"/>
          </p:nvPr>
        </p:nvSpPr>
        <p:spPr/>
        <p:txBody>
          <a:bodyPr/>
          <a:lstStyle/>
          <a:p>
            <a:r>
              <a:rPr lang="en-US" dirty="0"/>
              <a:t>With lossless compression, a </a:t>
            </a:r>
            <a:r>
              <a:rPr lang="en-US" dirty="0">
                <a:solidFill>
                  <a:srgbClr val="C00000"/>
                </a:solidFill>
              </a:rPr>
              <a:t>decoder</a:t>
            </a:r>
            <a:r>
              <a:rPr lang="en-US" dirty="0"/>
              <a:t> will read the exact information that an </a:t>
            </a:r>
            <a:r>
              <a:rPr lang="en-US" dirty="0">
                <a:solidFill>
                  <a:srgbClr val="C00000"/>
                </a:solidFill>
              </a:rPr>
              <a:t>encoder</a:t>
            </a:r>
            <a:r>
              <a:rPr lang="en-US" dirty="0"/>
              <a:t> wrote to a file</a:t>
            </a:r>
          </a:p>
          <a:p>
            <a:r>
              <a:rPr lang="en-US" dirty="0"/>
              <a:t>Various lossless compression techniques are used such as Huffman encoding, run-length encoding, etc.</a:t>
            </a:r>
          </a:p>
          <a:p>
            <a:r>
              <a:rPr lang="en-US" dirty="0"/>
              <a:t>A well-known lossless image format is the </a:t>
            </a:r>
            <a:r>
              <a:rPr lang="en-US" dirty="0">
                <a:solidFill>
                  <a:srgbClr val="C00000"/>
                </a:solidFill>
              </a:rPr>
              <a:t>PNG</a:t>
            </a:r>
            <a:r>
              <a:rPr lang="en-US" dirty="0"/>
              <a:t> format</a:t>
            </a:r>
          </a:p>
          <a:p>
            <a:r>
              <a:rPr lang="en-US" dirty="0"/>
              <a:t>Efficient for computer generated images but not for natural (photographic) images due to presence of noise</a:t>
            </a:r>
          </a:p>
          <a:p>
            <a:r>
              <a:rPr lang="en-US" dirty="0"/>
              <a:t>Lossless file formats can be converted to each other without any degradations</a:t>
            </a:r>
          </a:p>
          <a:p>
            <a:pPr lvl="1"/>
            <a:r>
              <a:rPr lang="en-US" dirty="0"/>
              <a:t>PNG </a:t>
            </a:r>
            <a:r>
              <a:rPr lang="en-US" dirty="0">
                <a:sym typeface="Wingdings" panose="05000000000000000000" pitchFamily="2" charset="2"/>
              </a:rPr>
              <a:t> BMP  PNG (both PNGs will be the same)</a:t>
            </a:r>
            <a:endParaRPr lang="en-US" dirty="0"/>
          </a:p>
        </p:txBody>
      </p:sp>
      <p:sp>
        <p:nvSpPr>
          <p:cNvPr id="4" name="Footer Placeholder 3"/>
          <p:cNvSpPr>
            <a:spLocks noGrp="1"/>
          </p:cNvSpPr>
          <p:nvPr>
            <p:ph type="ftr" sz="quarter" idx="11"/>
          </p:nvPr>
        </p:nvSpPr>
        <p:spPr/>
        <p:txBody>
          <a:bodyPr/>
          <a:lstStyle/>
          <a:p>
            <a:r>
              <a:rPr lang="en-US"/>
              <a:t>CENG 477 – Computer Graphics</a:t>
            </a:r>
          </a:p>
        </p:txBody>
      </p:sp>
      <p:sp>
        <p:nvSpPr>
          <p:cNvPr id="5" name="Slide Number Placeholder 4"/>
          <p:cNvSpPr>
            <a:spLocks noGrp="1"/>
          </p:cNvSpPr>
          <p:nvPr>
            <p:ph type="sldNum" sz="quarter" idx="12"/>
          </p:nvPr>
        </p:nvSpPr>
        <p:spPr/>
        <p:txBody>
          <a:bodyPr/>
          <a:lstStyle/>
          <a:p>
            <a:fld id="{30D85F22-8D96-4CC0-8AEC-D5DD45058382}" type="slidenum">
              <a:rPr lang="en-US" smtClean="0"/>
              <a:t>19</a:t>
            </a:fld>
            <a:endParaRPr lang="en-US"/>
          </a:p>
        </p:txBody>
      </p:sp>
    </p:spTree>
    <p:extLst>
      <p:ext uri="{BB962C8B-B14F-4D97-AF65-F5344CB8AC3E}">
        <p14:creationId xmlns:p14="http://schemas.microsoft.com/office/powerpoint/2010/main" val="39234142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Lossy Compression</a:t>
            </a:r>
          </a:p>
        </p:txBody>
      </p:sp>
      <p:sp>
        <p:nvSpPr>
          <p:cNvPr id="3" name="Content Placeholder 2"/>
          <p:cNvSpPr>
            <a:spLocks noGrp="1"/>
          </p:cNvSpPr>
          <p:nvPr>
            <p:ph idx="1"/>
          </p:nvPr>
        </p:nvSpPr>
        <p:spPr/>
        <p:txBody>
          <a:bodyPr/>
          <a:lstStyle/>
          <a:p>
            <a:r>
              <a:rPr lang="en-US" dirty="0"/>
              <a:t>In </a:t>
            </a:r>
            <a:r>
              <a:rPr lang="en-US" dirty="0">
                <a:solidFill>
                  <a:srgbClr val="C00000"/>
                </a:solidFill>
              </a:rPr>
              <a:t>lossy compression</a:t>
            </a:r>
            <a:r>
              <a:rPr lang="en-US" dirty="0"/>
              <a:t>, numerical match between the input and output is not required</a:t>
            </a:r>
          </a:p>
          <a:p>
            <a:r>
              <a:rPr lang="en-US" dirty="0"/>
              <a:t>Some information is lost to improve compression efficiency</a:t>
            </a:r>
          </a:p>
          <a:p>
            <a:r>
              <a:rPr lang="en-US" dirty="0"/>
              <a:t>However, lossy formats can still be </a:t>
            </a:r>
            <a:r>
              <a:rPr lang="en-US" dirty="0">
                <a:solidFill>
                  <a:srgbClr val="C00000"/>
                </a:solidFill>
              </a:rPr>
              <a:t>visually lossless</a:t>
            </a:r>
          </a:p>
          <a:p>
            <a:r>
              <a:rPr lang="en-US" dirty="0"/>
              <a:t>The most well-known lossy format is the </a:t>
            </a:r>
            <a:r>
              <a:rPr lang="en-US" dirty="0">
                <a:solidFill>
                  <a:srgbClr val="C00000"/>
                </a:solidFill>
              </a:rPr>
              <a:t>JPEG</a:t>
            </a:r>
            <a:r>
              <a:rPr lang="en-US" dirty="0"/>
              <a:t> format</a:t>
            </a:r>
          </a:p>
          <a:p>
            <a:r>
              <a:rPr lang="en-US" dirty="0"/>
              <a:t>Reading a JPEG image and writing it back to the disk will most likely produce a slightly degraded result</a:t>
            </a:r>
          </a:p>
          <a:p>
            <a:pPr lvl="1"/>
            <a:r>
              <a:rPr lang="en-US" dirty="0"/>
              <a:t>Therefore, in an image processing pipeline lossy formats should be used only at the end</a:t>
            </a:r>
          </a:p>
        </p:txBody>
      </p:sp>
      <p:sp>
        <p:nvSpPr>
          <p:cNvPr id="4" name="Footer Placeholder 3"/>
          <p:cNvSpPr>
            <a:spLocks noGrp="1"/>
          </p:cNvSpPr>
          <p:nvPr>
            <p:ph type="ftr" sz="quarter" idx="11"/>
          </p:nvPr>
        </p:nvSpPr>
        <p:spPr/>
        <p:txBody>
          <a:bodyPr/>
          <a:lstStyle/>
          <a:p>
            <a:r>
              <a:rPr lang="en-US"/>
              <a:t>CENG 477 – Computer Graphics</a:t>
            </a:r>
          </a:p>
        </p:txBody>
      </p:sp>
      <p:sp>
        <p:nvSpPr>
          <p:cNvPr id="5" name="Slide Number Placeholder 4"/>
          <p:cNvSpPr>
            <a:spLocks noGrp="1"/>
          </p:cNvSpPr>
          <p:nvPr>
            <p:ph type="sldNum" sz="quarter" idx="12"/>
          </p:nvPr>
        </p:nvSpPr>
        <p:spPr/>
        <p:txBody>
          <a:bodyPr/>
          <a:lstStyle/>
          <a:p>
            <a:fld id="{30D85F22-8D96-4CC0-8AEC-D5DD45058382}" type="slidenum">
              <a:rPr lang="en-US" smtClean="0"/>
              <a:t>20</a:t>
            </a:fld>
            <a:endParaRPr lang="en-US"/>
          </a:p>
        </p:txBody>
      </p:sp>
    </p:spTree>
    <p:extLst>
      <p:ext uri="{BB962C8B-B14F-4D97-AF65-F5344CB8AC3E}">
        <p14:creationId xmlns:p14="http://schemas.microsoft.com/office/powerpoint/2010/main" val="24514386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Lossy vs Lossless</a:t>
            </a:r>
          </a:p>
        </p:txBody>
      </p:sp>
      <p:sp>
        <p:nvSpPr>
          <p:cNvPr id="3" name="Content Placeholder 2"/>
          <p:cNvSpPr>
            <a:spLocks noGrp="1"/>
          </p:cNvSpPr>
          <p:nvPr>
            <p:ph idx="1"/>
          </p:nvPr>
        </p:nvSpPr>
        <p:spPr/>
        <p:txBody>
          <a:bodyPr/>
          <a:lstStyle/>
          <a:p>
            <a:r>
              <a:rPr lang="en-US" dirty="0"/>
              <a:t>Assume we encode and decode this data as PPM and JPEG:</a:t>
            </a:r>
          </a:p>
        </p:txBody>
      </p:sp>
      <p:sp>
        <p:nvSpPr>
          <p:cNvPr id="4" name="Footer Placeholder 3"/>
          <p:cNvSpPr>
            <a:spLocks noGrp="1"/>
          </p:cNvSpPr>
          <p:nvPr>
            <p:ph type="ftr" sz="quarter" idx="11"/>
          </p:nvPr>
        </p:nvSpPr>
        <p:spPr/>
        <p:txBody>
          <a:bodyPr/>
          <a:lstStyle/>
          <a:p>
            <a:r>
              <a:rPr lang="en-US"/>
              <a:t>CENG 477 – Computer Graphics</a:t>
            </a:r>
          </a:p>
        </p:txBody>
      </p:sp>
      <p:sp>
        <p:nvSpPr>
          <p:cNvPr id="5" name="Slide Number Placeholder 4"/>
          <p:cNvSpPr>
            <a:spLocks noGrp="1"/>
          </p:cNvSpPr>
          <p:nvPr>
            <p:ph type="sldNum" sz="quarter" idx="12"/>
          </p:nvPr>
        </p:nvSpPr>
        <p:spPr/>
        <p:txBody>
          <a:bodyPr/>
          <a:lstStyle/>
          <a:p>
            <a:fld id="{30D85F22-8D96-4CC0-8AEC-D5DD45058382}" type="slidenum">
              <a:rPr lang="en-US" smtClean="0"/>
              <a:t>21</a:t>
            </a:fld>
            <a:endParaRPr lang="en-US"/>
          </a:p>
        </p:txBody>
      </p:sp>
      <p:pic>
        <p:nvPicPr>
          <p:cNvPr id="6" name="Picture 5"/>
          <p:cNvPicPr>
            <a:picLocks noChangeAspect="1"/>
          </p:cNvPicPr>
          <p:nvPr/>
        </p:nvPicPr>
        <p:blipFill>
          <a:blip r:embed="rId2"/>
          <a:stretch>
            <a:fillRect/>
          </a:stretch>
        </p:blipFill>
        <p:spPr>
          <a:xfrm>
            <a:off x="2328747" y="2466422"/>
            <a:ext cx="4419600" cy="1433058"/>
          </a:xfrm>
          <a:prstGeom prst="rect">
            <a:avLst/>
          </a:prstGeom>
        </p:spPr>
      </p:pic>
      <p:pic>
        <p:nvPicPr>
          <p:cNvPr id="7" name="Picture 6"/>
          <p:cNvPicPr>
            <a:picLocks noChangeAspect="1"/>
          </p:cNvPicPr>
          <p:nvPr/>
        </p:nvPicPr>
        <p:blipFill>
          <a:blip r:embed="rId3"/>
          <a:stretch>
            <a:fillRect/>
          </a:stretch>
        </p:blipFill>
        <p:spPr>
          <a:xfrm>
            <a:off x="2347912" y="4080386"/>
            <a:ext cx="4448175" cy="2275810"/>
          </a:xfrm>
          <a:prstGeom prst="rect">
            <a:avLst/>
          </a:prstGeom>
        </p:spPr>
      </p:pic>
    </p:spTree>
    <p:extLst>
      <p:ext uri="{BB962C8B-B14F-4D97-AF65-F5344CB8AC3E}">
        <p14:creationId xmlns:p14="http://schemas.microsoft.com/office/powerpoint/2010/main" val="2605318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JPEG Quality</a:t>
            </a:r>
          </a:p>
        </p:txBody>
      </p:sp>
      <p:sp>
        <p:nvSpPr>
          <p:cNvPr id="3" name="Content Placeholder 2"/>
          <p:cNvSpPr>
            <a:spLocks noGrp="1"/>
          </p:cNvSpPr>
          <p:nvPr>
            <p:ph idx="1"/>
          </p:nvPr>
        </p:nvSpPr>
        <p:spPr/>
        <p:txBody>
          <a:bodyPr/>
          <a:lstStyle/>
          <a:p>
            <a:r>
              <a:rPr lang="en-US" dirty="0"/>
              <a:t>A JPEG image with different quality settings:</a:t>
            </a:r>
          </a:p>
        </p:txBody>
      </p:sp>
      <p:sp>
        <p:nvSpPr>
          <p:cNvPr id="4" name="Footer Placeholder 3"/>
          <p:cNvSpPr>
            <a:spLocks noGrp="1"/>
          </p:cNvSpPr>
          <p:nvPr>
            <p:ph type="ftr" sz="quarter" idx="11"/>
          </p:nvPr>
        </p:nvSpPr>
        <p:spPr/>
        <p:txBody>
          <a:bodyPr/>
          <a:lstStyle/>
          <a:p>
            <a:r>
              <a:rPr lang="en-US"/>
              <a:t>CENG 477 – Computer Graphics</a:t>
            </a:r>
          </a:p>
        </p:txBody>
      </p:sp>
      <p:sp>
        <p:nvSpPr>
          <p:cNvPr id="5" name="Slide Number Placeholder 4"/>
          <p:cNvSpPr>
            <a:spLocks noGrp="1"/>
          </p:cNvSpPr>
          <p:nvPr>
            <p:ph type="sldNum" sz="quarter" idx="12"/>
          </p:nvPr>
        </p:nvSpPr>
        <p:spPr/>
        <p:txBody>
          <a:bodyPr/>
          <a:lstStyle/>
          <a:p>
            <a:fld id="{30D85F22-8D96-4CC0-8AEC-D5DD45058382}" type="slidenum">
              <a:rPr lang="en-US" smtClean="0"/>
              <a:t>22</a:t>
            </a:fld>
            <a:endParaRPr lang="en-US"/>
          </a:p>
        </p:txBody>
      </p:sp>
      <p:pic>
        <p:nvPicPr>
          <p:cNvPr id="8" name="Picture 7"/>
          <p:cNvPicPr>
            <a:picLocks noChangeAspect="1"/>
          </p:cNvPicPr>
          <p:nvPr/>
        </p:nvPicPr>
        <p:blipFill>
          <a:blip r:embed="rId2"/>
          <a:stretch>
            <a:fillRect/>
          </a:stretch>
        </p:blipFill>
        <p:spPr>
          <a:xfrm>
            <a:off x="1371600" y="2590800"/>
            <a:ext cx="6400800" cy="2955358"/>
          </a:xfrm>
          <a:prstGeom prst="rect">
            <a:avLst/>
          </a:prstGeom>
        </p:spPr>
      </p:pic>
    </p:spTree>
    <p:extLst>
      <p:ext uri="{BB962C8B-B14F-4D97-AF65-F5344CB8AC3E}">
        <p14:creationId xmlns:p14="http://schemas.microsoft.com/office/powerpoint/2010/main" val="6875893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Video</a:t>
            </a:r>
          </a:p>
        </p:txBody>
      </p:sp>
      <p:sp>
        <p:nvSpPr>
          <p:cNvPr id="3" name="Content Placeholder 2"/>
          <p:cNvSpPr>
            <a:spLocks noGrp="1"/>
          </p:cNvSpPr>
          <p:nvPr>
            <p:ph idx="1"/>
          </p:nvPr>
        </p:nvSpPr>
        <p:spPr>
          <a:xfrm>
            <a:off x="457200" y="1600200"/>
            <a:ext cx="8229600" cy="4841642"/>
          </a:xfrm>
        </p:spPr>
        <p:txBody>
          <a:bodyPr/>
          <a:lstStyle/>
          <a:p>
            <a:r>
              <a:rPr lang="en-US" dirty="0"/>
              <a:t>If we need to save a large number of successive frames, storing them as a video is a better option</a:t>
            </a:r>
          </a:p>
          <a:p>
            <a:endParaRPr lang="en-US" dirty="0"/>
          </a:p>
          <a:p>
            <a:endParaRPr lang="en-US" dirty="0"/>
          </a:p>
          <a:p>
            <a:endParaRPr lang="en-US" dirty="0"/>
          </a:p>
          <a:p>
            <a:endParaRPr lang="en-US" dirty="0"/>
          </a:p>
          <a:p>
            <a:endParaRPr lang="en-US" dirty="0"/>
          </a:p>
          <a:p>
            <a:endParaRPr lang="en-US" dirty="0"/>
          </a:p>
          <a:p>
            <a:endParaRPr lang="en-US" dirty="0"/>
          </a:p>
          <a:p>
            <a:r>
              <a:rPr lang="en-US" dirty="0"/>
              <a:t>The size of the video file will be much smaller than the sum of the individual frames</a:t>
            </a:r>
          </a:p>
        </p:txBody>
      </p:sp>
      <p:sp>
        <p:nvSpPr>
          <p:cNvPr id="4" name="Footer Placeholder 3"/>
          <p:cNvSpPr>
            <a:spLocks noGrp="1"/>
          </p:cNvSpPr>
          <p:nvPr>
            <p:ph type="ftr" sz="quarter" idx="11"/>
          </p:nvPr>
        </p:nvSpPr>
        <p:spPr/>
        <p:txBody>
          <a:bodyPr/>
          <a:lstStyle/>
          <a:p>
            <a:r>
              <a:rPr lang="en-US"/>
              <a:t>CENG 477 – Computer Graphics</a:t>
            </a:r>
          </a:p>
        </p:txBody>
      </p:sp>
      <p:sp>
        <p:nvSpPr>
          <p:cNvPr id="5" name="Slide Number Placeholder 4"/>
          <p:cNvSpPr>
            <a:spLocks noGrp="1"/>
          </p:cNvSpPr>
          <p:nvPr>
            <p:ph type="sldNum" sz="quarter" idx="12"/>
          </p:nvPr>
        </p:nvSpPr>
        <p:spPr/>
        <p:txBody>
          <a:bodyPr/>
          <a:lstStyle/>
          <a:p>
            <a:fld id="{30D85F22-8D96-4CC0-8AEC-D5DD45058382}" type="slidenum">
              <a:rPr lang="en-US" smtClean="0"/>
              <a:t>23</a:t>
            </a:fld>
            <a:endParaRPr lang="en-US"/>
          </a:p>
        </p:txBody>
      </p:sp>
      <p:sp>
        <p:nvSpPr>
          <p:cNvPr id="6" name="Rectangle 5">
            <a:extLst>
              <a:ext uri="{FF2B5EF4-FFF2-40B4-BE49-F238E27FC236}">
                <a16:creationId xmlns:a16="http://schemas.microsoft.com/office/drawing/2014/main" id="{433299A8-A2E7-41CC-AC77-9EB9C4B2129E}"/>
              </a:ext>
            </a:extLst>
          </p:cNvPr>
          <p:cNvSpPr/>
          <p:nvPr/>
        </p:nvSpPr>
        <p:spPr>
          <a:xfrm>
            <a:off x="1531711" y="2971800"/>
            <a:ext cx="1295400" cy="1219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F9BC1EC-5F38-430B-AB2F-263996C1BAC3}"/>
              </a:ext>
            </a:extLst>
          </p:cNvPr>
          <p:cNvSpPr/>
          <p:nvPr/>
        </p:nvSpPr>
        <p:spPr>
          <a:xfrm>
            <a:off x="1684111" y="3124200"/>
            <a:ext cx="1295400" cy="1219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D006CA3-A888-4042-BD27-20EBD9822FA2}"/>
              </a:ext>
            </a:extLst>
          </p:cNvPr>
          <p:cNvSpPr/>
          <p:nvPr/>
        </p:nvSpPr>
        <p:spPr>
          <a:xfrm>
            <a:off x="1836511" y="3276600"/>
            <a:ext cx="1295400" cy="1219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D846176-430E-4461-88BD-D3485054CBAE}"/>
              </a:ext>
            </a:extLst>
          </p:cNvPr>
          <p:cNvSpPr/>
          <p:nvPr/>
        </p:nvSpPr>
        <p:spPr>
          <a:xfrm>
            <a:off x="1988911" y="3429000"/>
            <a:ext cx="1295400" cy="1219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01A2276-7D8F-498A-AC12-EBEA134FEF08}"/>
              </a:ext>
            </a:extLst>
          </p:cNvPr>
          <p:cNvSpPr/>
          <p:nvPr/>
        </p:nvSpPr>
        <p:spPr>
          <a:xfrm>
            <a:off x="2141311" y="3581400"/>
            <a:ext cx="1295400" cy="1219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DEFEB45-F2AD-4392-BAB4-7A41A19DE085}"/>
              </a:ext>
            </a:extLst>
          </p:cNvPr>
          <p:cNvSpPr/>
          <p:nvPr/>
        </p:nvSpPr>
        <p:spPr>
          <a:xfrm>
            <a:off x="2293711" y="3733800"/>
            <a:ext cx="1295400" cy="1219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B7CAB700-AFF3-4495-9F23-F354F2AFF0E2}"/>
              </a:ext>
            </a:extLst>
          </p:cNvPr>
          <p:cNvCxnSpPr>
            <a:cxnSpLocks/>
          </p:cNvCxnSpPr>
          <p:nvPr/>
        </p:nvCxnSpPr>
        <p:spPr>
          <a:xfrm flipV="1">
            <a:off x="3741511" y="4103132"/>
            <a:ext cx="2202089" cy="11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5DC02DF6-D29C-457D-9749-65DACC288D10}"/>
              </a:ext>
            </a:extLst>
          </p:cNvPr>
          <p:cNvSpPr txBox="1"/>
          <p:nvPr/>
        </p:nvSpPr>
        <p:spPr>
          <a:xfrm>
            <a:off x="3939721" y="3429000"/>
            <a:ext cx="1973489" cy="646331"/>
          </a:xfrm>
          <a:prstGeom prst="rect">
            <a:avLst/>
          </a:prstGeom>
          <a:noFill/>
        </p:spPr>
        <p:txBody>
          <a:bodyPr wrap="none" rtlCol="0">
            <a:spAutoFit/>
          </a:bodyPr>
          <a:lstStyle/>
          <a:p>
            <a:r>
              <a:rPr lang="en-US" dirty="0"/>
              <a:t>Video compression</a:t>
            </a:r>
          </a:p>
          <a:p>
            <a:r>
              <a:rPr lang="en-US" dirty="0"/>
              <a:t>(h264, h265, etc.)</a:t>
            </a:r>
          </a:p>
        </p:txBody>
      </p:sp>
      <p:sp>
        <p:nvSpPr>
          <p:cNvPr id="18" name="Rectangle 17">
            <a:extLst>
              <a:ext uri="{FF2B5EF4-FFF2-40B4-BE49-F238E27FC236}">
                <a16:creationId xmlns:a16="http://schemas.microsoft.com/office/drawing/2014/main" id="{2E56269D-6FA8-47D7-AAE0-25CE9D19A7A1}"/>
              </a:ext>
            </a:extLst>
          </p:cNvPr>
          <p:cNvSpPr/>
          <p:nvPr/>
        </p:nvSpPr>
        <p:spPr>
          <a:xfrm>
            <a:off x="6172200" y="3310759"/>
            <a:ext cx="1295400" cy="1219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D37DF099-5EDD-43D8-B648-66B2A8DA8733}"/>
              </a:ext>
            </a:extLst>
          </p:cNvPr>
          <p:cNvSpPr txBox="1"/>
          <p:nvPr/>
        </p:nvSpPr>
        <p:spPr>
          <a:xfrm rot="16200000">
            <a:off x="325831" y="3733800"/>
            <a:ext cx="1802160" cy="369332"/>
          </a:xfrm>
          <a:prstGeom prst="rect">
            <a:avLst/>
          </a:prstGeom>
          <a:noFill/>
        </p:spPr>
        <p:txBody>
          <a:bodyPr wrap="none" rtlCol="0">
            <a:spAutoFit/>
          </a:bodyPr>
          <a:lstStyle/>
          <a:p>
            <a:r>
              <a:rPr lang="en-US" dirty="0"/>
              <a:t>Individual frames</a:t>
            </a:r>
          </a:p>
        </p:txBody>
      </p:sp>
      <p:sp>
        <p:nvSpPr>
          <p:cNvPr id="20" name="TextBox 19">
            <a:extLst>
              <a:ext uri="{FF2B5EF4-FFF2-40B4-BE49-F238E27FC236}">
                <a16:creationId xmlns:a16="http://schemas.microsoft.com/office/drawing/2014/main" id="{323114CB-4021-4CA1-B5C9-6C62BA161E00}"/>
              </a:ext>
            </a:extLst>
          </p:cNvPr>
          <p:cNvSpPr txBox="1"/>
          <p:nvPr/>
        </p:nvSpPr>
        <p:spPr>
          <a:xfrm>
            <a:off x="6298152" y="3732432"/>
            <a:ext cx="1072730" cy="369332"/>
          </a:xfrm>
          <a:prstGeom prst="rect">
            <a:avLst/>
          </a:prstGeom>
          <a:noFill/>
        </p:spPr>
        <p:txBody>
          <a:bodyPr wrap="none" rtlCol="0">
            <a:spAutoFit/>
          </a:bodyPr>
          <a:lstStyle/>
          <a:p>
            <a:r>
              <a:rPr lang="en-US" dirty="0"/>
              <a:t>Video file</a:t>
            </a:r>
          </a:p>
        </p:txBody>
      </p:sp>
    </p:spTree>
    <p:extLst>
      <p:ext uri="{BB962C8B-B14F-4D97-AF65-F5344CB8AC3E}">
        <p14:creationId xmlns:p14="http://schemas.microsoft.com/office/powerpoint/2010/main" val="32942917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Image Capture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We defined a color image as </a:t>
                </a:r>
                <a14:m>
                  <m:oMath xmlns:m="http://schemas.openxmlformats.org/officeDocument/2006/math">
                    <m:r>
                      <a:rPr lang="en-US" i="1">
                        <a:latin typeface="Cambria Math" panose="02040503050406030204" pitchFamily="18" charset="0"/>
                      </a:rPr>
                      <m:t>𝐼</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ℝ</m:t>
                        </m:r>
                      </m:e>
                      <m:sup>
                        <m:r>
                          <a:rPr lang="en-US" i="1" dirty="0">
                            <a:latin typeface="Cambria Math" panose="02040503050406030204" pitchFamily="18" charset="0"/>
                          </a:rPr>
                          <m:t>2</m:t>
                        </m:r>
                      </m:sup>
                    </m:sSup>
                    <m:r>
                      <a:rPr lang="en-US" i="1">
                        <a:latin typeface="Cambria Math" panose="02040503050406030204" pitchFamily="18" charset="0"/>
                      </a:rPr>
                      <m:t> →</m:t>
                    </m:r>
                    <m:d>
                      <m:dPr>
                        <m:begChr m:val="{"/>
                        <m:endChr m:val="}"/>
                        <m:ctrlPr>
                          <a:rPr lang="en-US" i="1">
                            <a:latin typeface="Cambria Math" panose="02040503050406030204" pitchFamily="18" charset="0"/>
                          </a:rPr>
                        </m:ctrlPr>
                      </m:dPr>
                      <m:e>
                        <m:r>
                          <a:rPr lang="en-US" i="1">
                            <a:latin typeface="Cambria Math" panose="02040503050406030204" pitchFamily="18" charset="0"/>
                          </a:rPr>
                          <m:t>0,1, …, 255</m:t>
                        </m:r>
                      </m:e>
                    </m:d>
                    <m:r>
                      <a:rPr lang="en-US" i="1" baseline="30000">
                        <a:latin typeface="Cambria Math" panose="02040503050406030204" pitchFamily="18" charset="0"/>
                      </a:rPr>
                      <m:t>3</m:t>
                    </m:r>
                  </m:oMath>
                </a14:m>
                <a:r>
                  <a:rPr lang="en-US" dirty="0"/>
                  <a:t> </a:t>
                </a:r>
              </a:p>
              <a:p>
                <a:r>
                  <a:rPr lang="en-US" dirty="0"/>
                  <a:t>The light intensity (more precisely </a:t>
                </a:r>
                <a:r>
                  <a:rPr lang="en-US" i="1" dirty="0">
                    <a:solidFill>
                      <a:srgbClr val="C00000"/>
                    </a:solidFill>
                  </a:rPr>
                  <a:t>luminance</a:t>
                </a:r>
                <a:r>
                  <a:rPr lang="en-US" dirty="0"/>
                  <a:t>) in the world is not restricted to such a set</a:t>
                </a:r>
              </a:p>
              <a:p>
                <a:r>
                  <a:rPr lang="en-US" dirty="0"/>
                  <a:t>Larger and smaller values are clamped (saturated) and all values are quantized to integers</a:t>
                </a:r>
              </a:p>
              <a:p>
                <a:r>
                  <a:rPr lang="en-US" dirty="0"/>
                  <a:t>Which values get saturated depends on the exposure setting of the camera</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963" t="-1078"/>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US"/>
              <a:t>CENG 477 – Computer Graphics</a:t>
            </a:r>
          </a:p>
        </p:txBody>
      </p:sp>
      <p:sp>
        <p:nvSpPr>
          <p:cNvPr id="5" name="Slide Number Placeholder 4"/>
          <p:cNvSpPr>
            <a:spLocks noGrp="1"/>
          </p:cNvSpPr>
          <p:nvPr>
            <p:ph type="sldNum" sz="quarter" idx="12"/>
          </p:nvPr>
        </p:nvSpPr>
        <p:spPr/>
        <p:txBody>
          <a:bodyPr/>
          <a:lstStyle/>
          <a:p>
            <a:fld id="{30D85F22-8D96-4CC0-8AEC-D5DD45058382}" type="slidenum">
              <a:rPr lang="en-US" smtClean="0"/>
              <a:t>24</a:t>
            </a:fld>
            <a:endParaRPr lang="en-US"/>
          </a:p>
        </p:txBody>
      </p:sp>
    </p:spTree>
    <p:extLst>
      <p:ext uri="{BB962C8B-B14F-4D97-AF65-F5344CB8AC3E}">
        <p14:creationId xmlns:p14="http://schemas.microsoft.com/office/powerpoint/2010/main" val="21404594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Image Capture</a:t>
            </a:r>
          </a:p>
        </p:txBody>
      </p:sp>
      <p:sp>
        <p:nvSpPr>
          <p:cNvPr id="3" name="Content Placeholder 2"/>
          <p:cNvSpPr>
            <a:spLocks noGrp="1"/>
          </p:cNvSpPr>
          <p:nvPr>
            <p:ph idx="1"/>
          </p:nvPr>
        </p:nvSpPr>
        <p:spPr/>
        <p:txBody>
          <a:bodyPr/>
          <a:lstStyle/>
          <a:p>
            <a:r>
              <a:rPr lang="en-US" dirty="0"/>
              <a:t>A low exposure image:</a:t>
            </a:r>
          </a:p>
        </p:txBody>
      </p:sp>
      <p:sp>
        <p:nvSpPr>
          <p:cNvPr id="4" name="Footer Placeholder 3"/>
          <p:cNvSpPr>
            <a:spLocks noGrp="1"/>
          </p:cNvSpPr>
          <p:nvPr>
            <p:ph type="ftr" sz="quarter" idx="11"/>
          </p:nvPr>
        </p:nvSpPr>
        <p:spPr/>
        <p:txBody>
          <a:bodyPr/>
          <a:lstStyle/>
          <a:p>
            <a:r>
              <a:rPr lang="en-US"/>
              <a:t>CENG 477 – Computer Graphics</a:t>
            </a:r>
          </a:p>
        </p:txBody>
      </p:sp>
      <p:sp>
        <p:nvSpPr>
          <p:cNvPr id="5" name="Slide Number Placeholder 4"/>
          <p:cNvSpPr>
            <a:spLocks noGrp="1"/>
          </p:cNvSpPr>
          <p:nvPr>
            <p:ph type="sldNum" sz="quarter" idx="12"/>
          </p:nvPr>
        </p:nvSpPr>
        <p:spPr/>
        <p:txBody>
          <a:bodyPr/>
          <a:lstStyle/>
          <a:p>
            <a:fld id="{30D85F22-8D96-4CC0-8AEC-D5DD45058382}" type="slidenum">
              <a:rPr lang="en-US" smtClean="0"/>
              <a:t>25</a:t>
            </a:fld>
            <a:endParaRPr lang="en-US"/>
          </a:p>
        </p:txBody>
      </p:sp>
      <p:pic>
        <p:nvPicPr>
          <p:cNvPr id="6" name="Picture 5"/>
          <p:cNvPicPr>
            <a:picLocks noChangeAspect="1"/>
          </p:cNvPicPr>
          <p:nvPr/>
        </p:nvPicPr>
        <p:blipFill>
          <a:blip r:embed="rId3"/>
          <a:stretch>
            <a:fillRect/>
          </a:stretch>
        </p:blipFill>
        <p:spPr>
          <a:xfrm>
            <a:off x="2409825" y="2362200"/>
            <a:ext cx="4324350" cy="3248025"/>
          </a:xfrm>
          <a:prstGeom prst="rect">
            <a:avLst/>
          </a:prstGeom>
        </p:spPr>
      </p:pic>
    </p:spTree>
    <p:extLst>
      <p:ext uri="{BB962C8B-B14F-4D97-AF65-F5344CB8AC3E}">
        <p14:creationId xmlns:p14="http://schemas.microsoft.com/office/powerpoint/2010/main" val="21501045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Image Capture</a:t>
            </a:r>
          </a:p>
        </p:txBody>
      </p:sp>
      <p:sp>
        <p:nvSpPr>
          <p:cNvPr id="3" name="Content Placeholder 2"/>
          <p:cNvSpPr>
            <a:spLocks noGrp="1"/>
          </p:cNvSpPr>
          <p:nvPr>
            <p:ph idx="1"/>
          </p:nvPr>
        </p:nvSpPr>
        <p:spPr/>
        <p:txBody>
          <a:bodyPr/>
          <a:lstStyle/>
          <a:p>
            <a:r>
              <a:rPr lang="en-US" dirty="0"/>
              <a:t>A high exposure image:</a:t>
            </a:r>
          </a:p>
        </p:txBody>
      </p:sp>
      <p:sp>
        <p:nvSpPr>
          <p:cNvPr id="4" name="Footer Placeholder 3"/>
          <p:cNvSpPr>
            <a:spLocks noGrp="1"/>
          </p:cNvSpPr>
          <p:nvPr>
            <p:ph type="ftr" sz="quarter" idx="11"/>
          </p:nvPr>
        </p:nvSpPr>
        <p:spPr/>
        <p:txBody>
          <a:bodyPr/>
          <a:lstStyle/>
          <a:p>
            <a:r>
              <a:rPr lang="en-US"/>
              <a:t>CENG 477 – Computer Graphics</a:t>
            </a:r>
          </a:p>
        </p:txBody>
      </p:sp>
      <p:sp>
        <p:nvSpPr>
          <p:cNvPr id="5" name="Slide Number Placeholder 4"/>
          <p:cNvSpPr>
            <a:spLocks noGrp="1"/>
          </p:cNvSpPr>
          <p:nvPr>
            <p:ph type="sldNum" sz="quarter" idx="12"/>
          </p:nvPr>
        </p:nvSpPr>
        <p:spPr/>
        <p:txBody>
          <a:bodyPr/>
          <a:lstStyle/>
          <a:p>
            <a:fld id="{30D85F22-8D96-4CC0-8AEC-D5DD45058382}" type="slidenum">
              <a:rPr lang="en-US" smtClean="0"/>
              <a:t>26</a:t>
            </a:fld>
            <a:endParaRPr lang="en-US"/>
          </a:p>
        </p:txBody>
      </p:sp>
      <p:pic>
        <p:nvPicPr>
          <p:cNvPr id="6" name="Picture 5"/>
          <p:cNvPicPr>
            <a:picLocks noChangeAspect="1"/>
          </p:cNvPicPr>
          <p:nvPr/>
        </p:nvPicPr>
        <p:blipFill>
          <a:blip r:embed="rId2"/>
          <a:stretch>
            <a:fillRect/>
          </a:stretch>
        </p:blipFill>
        <p:spPr>
          <a:xfrm>
            <a:off x="2414587" y="2362200"/>
            <a:ext cx="4314825" cy="3238500"/>
          </a:xfrm>
          <a:prstGeom prst="rect">
            <a:avLst/>
          </a:prstGeom>
        </p:spPr>
      </p:pic>
    </p:spTree>
    <p:extLst>
      <p:ext uri="{BB962C8B-B14F-4D97-AF65-F5344CB8AC3E}">
        <p14:creationId xmlns:p14="http://schemas.microsoft.com/office/powerpoint/2010/main" val="25150403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Dynamic Range</a:t>
            </a:r>
          </a:p>
        </p:txBody>
      </p:sp>
      <p:sp>
        <p:nvSpPr>
          <p:cNvPr id="3" name="Content Placeholder 2"/>
          <p:cNvSpPr>
            <a:spLocks noGrp="1"/>
          </p:cNvSpPr>
          <p:nvPr>
            <p:ph idx="1"/>
          </p:nvPr>
        </p:nvSpPr>
        <p:spPr>
          <a:xfrm>
            <a:off x="457200" y="1600200"/>
            <a:ext cx="8229600" cy="4841642"/>
          </a:xfrm>
        </p:spPr>
        <p:txBody>
          <a:bodyPr/>
          <a:lstStyle/>
          <a:p>
            <a:r>
              <a:rPr lang="en-US" dirty="0"/>
              <a:t>Dynamic range (DR) is defined as the ratio of the highest luminance to the lowest luminance in a given scene</a:t>
            </a:r>
          </a:p>
          <a:p>
            <a:endParaRPr lang="en-US" dirty="0"/>
          </a:p>
          <a:p>
            <a:endParaRPr lang="en-US" dirty="0"/>
          </a:p>
          <a:p>
            <a:endParaRPr lang="en-US" dirty="0"/>
          </a:p>
          <a:p>
            <a:endParaRPr lang="en-US" dirty="0"/>
          </a:p>
          <a:p>
            <a:endParaRPr lang="en-US" dirty="0"/>
          </a:p>
          <a:p>
            <a:endParaRPr lang="en-US" dirty="0"/>
          </a:p>
          <a:p>
            <a:endParaRPr lang="en-US" dirty="0"/>
          </a:p>
          <a:p>
            <a:r>
              <a:rPr lang="en-US" dirty="0"/>
              <a:t>A real scene may have a dynamic range of 10000:1 or more</a:t>
            </a:r>
          </a:p>
          <a:p>
            <a:r>
              <a:rPr lang="en-US" dirty="0"/>
              <a:t>A camera somehow has to fit this range to [0, 255]</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4" name="Footer Placeholder 3"/>
          <p:cNvSpPr>
            <a:spLocks noGrp="1"/>
          </p:cNvSpPr>
          <p:nvPr>
            <p:ph type="ftr" sz="quarter" idx="11"/>
          </p:nvPr>
        </p:nvSpPr>
        <p:spPr/>
        <p:txBody>
          <a:bodyPr/>
          <a:lstStyle/>
          <a:p>
            <a:r>
              <a:rPr lang="en-US"/>
              <a:t>CENG 477 – Computer Graphics</a:t>
            </a:r>
          </a:p>
        </p:txBody>
      </p:sp>
      <p:sp>
        <p:nvSpPr>
          <p:cNvPr id="5" name="Slide Number Placeholder 4"/>
          <p:cNvSpPr>
            <a:spLocks noGrp="1"/>
          </p:cNvSpPr>
          <p:nvPr>
            <p:ph type="sldNum" sz="quarter" idx="12"/>
          </p:nvPr>
        </p:nvSpPr>
        <p:spPr/>
        <p:txBody>
          <a:bodyPr/>
          <a:lstStyle/>
          <a:p>
            <a:fld id="{30D85F22-8D96-4CC0-8AEC-D5DD45058382}" type="slidenum">
              <a:rPr lang="en-US" smtClean="0"/>
              <a:t>27</a:t>
            </a:fld>
            <a:endParaRPr lang="en-US"/>
          </a:p>
        </p:txBody>
      </p:sp>
      <p:pic>
        <p:nvPicPr>
          <p:cNvPr id="6" name="Picture 5"/>
          <p:cNvPicPr>
            <a:picLocks noChangeAspect="1"/>
          </p:cNvPicPr>
          <p:nvPr/>
        </p:nvPicPr>
        <p:blipFill>
          <a:blip r:embed="rId2"/>
          <a:stretch>
            <a:fillRect/>
          </a:stretch>
        </p:blipFill>
        <p:spPr>
          <a:xfrm>
            <a:off x="1119210" y="2882512"/>
            <a:ext cx="2341059" cy="1757086"/>
          </a:xfrm>
          <a:prstGeom prst="rect">
            <a:avLst/>
          </a:prstGeom>
        </p:spPr>
      </p:pic>
      <p:pic>
        <p:nvPicPr>
          <p:cNvPr id="7" name="Picture 6"/>
          <p:cNvPicPr>
            <a:picLocks noChangeAspect="1"/>
          </p:cNvPicPr>
          <p:nvPr/>
        </p:nvPicPr>
        <p:blipFill>
          <a:blip r:embed="rId3"/>
          <a:stretch>
            <a:fillRect/>
          </a:stretch>
        </p:blipFill>
        <p:spPr>
          <a:xfrm>
            <a:off x="3763189" y="2883950"/>
            <a:ext cx="2337432" cy="1755648"/>
          </a:xfrm>
          <a:prstGeom prst="rect">
            <a:avLst/>
          </a:prstGeom>
        </p:spPr>
      </p:pic>
      <p:cxnSp>
        <p:nvCxnSpPr>
          <p:cNvPr id="9" name="Straight Arrow Connector 8"/>
          <p:cNvCxnSpPr>
            <a:cxnSpLocks/>
          </p:cNvCxnSpPr>
          <p:nvPr/>
        </p:nvCxnSpPr>
        <p:spPr>
          <a:xfrm>
            <a:off x="2088669" y="3720712"/>
            <a:ext cx="425931" cy="11560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p:cNvSpPr txBox="1"/>
              <p:nvPr/>
            </p:nvSpPr>
            <p:spPr>
              <a:xfrm>
                <a:off x="2401754" y="4858301"/>
                <a:ext cx="468654" cy="27065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𝐿</m:t>
                      </m:r>
                      <m:r>
                        <a:rPr lang="en-US" b="0" i="1" baseline="-25000" smtClean="0">
                          <a:latin typeface="Cambria Math" panose="02040503050406030204" pitchFamily="18" charset="0"/>
                        </a:rPr>
                        <m:t>𝑚𝑎𝑥</m:t>
                      </m:r>
                    </m:oMath>
                  </m:oMathPara>
                </a14:m>
                <a:endParaRPr lang="en-US" baseline="-25000" dirty="0"/>
              </a:p>
            </p:txBody>
          </p:sp>
        </mc:Choice>
        <mc:Fallback xmlns="">
          <p:sp>
            <p:nvSpPr>
              <p:cNvPr id="10" name="TextBox 9"/>
              <p:cNvSpPr txBox="1">
                <a:spLocks noRot="1" noChangeAspect="1" noMove="1" noResize="1" noEditPoints="1" noAdjustHandles="1" noChangeArrowheads="1" noChangeShapeType="1" noTextEdit="1"/>
              </p:cNvSpPr>
              <p:nvPr/>
            </p:nvSpPr>
            <p:spPr>
              <a:xfrm>
                <a:off x="2401754" y="4858301"/>
                <a:ext cx="468654" cy="270652"/>
              </a:xfrm>
              <a:prstGeom prst="rect">
                <a:avLst/>
              </a:prstGeom>
              <a:blipFill>
                <a:blip r:embed="rId4"/>
                <a:stretch>
                  <a:fillRect l="-12987" r="-1299" b="-13636"/>
                </a:stretch>
              </a:blipFill>
            </p:spPr>
            <p:txBody>
              <a:bodyPr/>
              <a:lstStyle/>
              <a:p>
                <a:r>
                  <a:rPr lang="en-US">
                    <a:noFill/>
                  </a:rPr>
                  <a:t> </a:t>
                </a:r>
              </a:p>
            </p:txBody>
          </p:sp>
        </mc:Fallback>
      </mc:AlternateContent>
      <p:cxnSp>
        <p:nvCxnSpPr>
          <p:cNvPr id="11" name="Straight Arrow Connector 10"/>
          <p:cNvCxnSpPr>
            <a:cxnSpLocks/>
          </p:cNvCxnSpPr>
          <p:nvPr/>
        </p:nvCxnSpPr>
        <p:spPr>
          <a:xfrm flipH="1">
            <a:off x="4146069" y="4176344"/>
            <a:ext cx="1219200" cy="6458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p:cNvSpPr txBox="1"/>
              <p:nvPr/>
            </p:nvSpPr>
            <p:spPr>
              <a:xfrm>
                <a:off x="3710885" y="4819951"/>
                <a:ext cx="435184" cy="27065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𝐿</m:t>
                      </m:r>
                      <m:r>
                        <a:rPr lang="en-US" b="0" i="1" baseline="-25000" smtClean="0">
                          <a:latin typeface="Cambria Math" panose="02040503050406030204" pitchFamily="18" charset="0"/>
                        </a:rPr>
                        <m:t>𝑚𝑖𝑛</m:t>
                      </m:r>
                    </m:oMath>
                  </m:oMathPara>
                </a14:m>
                <a:endParaRPr lang="en-US" baseline="-25000" dirty="0"/>
              </a:p>
            </p:txBody>
          </p:sp>
        </mc:Choice>
        <mc:Fallback xmlns="">
          <p:sp>
            <p:nvSpPr>
              <p:cNvPr id="13" name="TextBox 12"/>
              <p:cNvSpPr txBox="1">
                <a:spLocks noRot="1" noChangeAspect="1" noMove="1" noResize="1" noEditPoints="1" noAdjustHandles="1" noChangeArrowheads="1" noChangeShapeType="1" noTextEdit="1"/>
              </p:cNvSpPr>
              <p:nvPr/>
            </p:nvSpPr>
            <p:spPr>
              <a:xfrm>
                <a:off x="3710885" y="4819951"/>
                <a:ext cx="435184" cy="270652"/>
              </a:xfrm>
              <a:prstGeom prst="rect">
                <a:avLst/>
              </a:prstGeom>
              <a:blipFill>
                <a:blip r:embed="rId5"/>
                <a:stretch>
                  <a:fillRect l="-14085" r="-5634" b="-1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6768137" y="3339712"/>
                <a:ext cx="1156663" cy="51796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𝐷𝑅</m:t>
                      </m:r>
                      <m:r>
                        <a:rPr lang="en-US" b="0" i="1" smtClean="0">
                          <a:latin typeface="Cambria Math" panose="02040503050406030204" pitchFamily="18" charset="0"/>
                        </a:rPr>
                        <m:t>= </m:t>
                      </m:r>
                      <m:f>
                        <m:fPr>
                          <m:ctrlPr>
                            <a:rPr lang="en-US" i="1" smtClean="0">
                              <a:latin typeface="Cambria Math" panose="02040503050406030204" pitchFamily="18" charset="0"/>
                            </a:rPr>
                          </m:ctrlPr>
                        </m:fPr>
                        <m:num>
                          <m:r>
                            <a:rPr lang="en-US" b="0" i="1" smtClean="0">
                              <a:latin typeface="Cambria Math" panose="02040503050406030204" pitchFamily="18" charset="0"/>
                            </a:rPr>
                            <m:t>𝐿</m:t>
                          </m:r>
                          <m:r>
                            <a:rPr lang="en-US" b="0" i="1" baseline="-25000" smtClean="0">
                              <a:latin typeface="Cambria Math" panose="02040503050406030204" pitchFamily="18" charset="0"/>
                            </a:rPr>
                            <m:t>𝑚𝑎𝑥</m:t>
                          </m:r>
                        </m:num>
                        <m:den>
                          <m:r>
                            <a:rPr lang="en-US" b="0" i="1" smtClean="0">
                              <a:latin typeface="Cambria Math" panose="02040503050406030204" pitchFamily="18" charset="0"/>
                            </a:rPr>
                            <m:t>𝐿</m:t>
                          </m:r>
                          <m:r>
                            <a:rPr lang="en-US" b="0" i="1" baseline="-25000" smtClean="0">
                              <a:latin typeface="Cambria Math" panose="02040503050406030204" pitchFamily="18" charset="0"/>
                            </a:rPr>
                            <m:t>𝑚𝑖𝑛</m:t>
                          </m:r>
                        </m:den>
                      </m:f>
                    </m:oMath>
                  </m:oMathPara>
                </a14:m>
                <a:endParaRPr lang="en-US" dirty="0"/>
              </a:p>
            </p:txBody>
          </p:sp>
        </mc:Choice>
        <mc:Fallback xmlns="">
          <p:sp>
            <p:nvSpPr>
              <p:cNvPr id="14" name="TextBox 13"/>
              <p:cNvSpPr txBox="1">
                <a:spLocks noRot="1" noChangeAspect="1" noMove="1" noResize="1" noEditPoints="1" noAdjustHandles="1" noChangeArrowheads="1" noChangeShapeType="1" noTextEdit="1"/>
              </p:cNvSpPr>
              <p:nvPr/>
            </p:nvSpPr>
            <p:spPr>
              <a:xfrm>
                <a:off x="6768137" y="3339712"/>
                <a:ext cx="1156663" cy="517962"/>
              </a:xfrm>
              <a:prstGeom prst="rect">
                <a:avLst/>
              </a:prstGeom>
              <a:blipFill>
                <a:blip r:embed="rId6"/>
                <a:stretch>
                  <a:fillRect b="-9412"/>
                </a:stretch>
              </a:blipFill>
            </p:spPr>
            <p:txBody>
              <a:bodyPr/>
              <a:lstStyle/>
              <a:p>
                <a:r>
                  <a:rPr lang="en-US">
                    <a:noFill/>
                  </a:rPr>
                  <a:t> </a:t>
                </a:r>
              </a:p>
            </p:txBody>
          </p:sp>
        </mc:Fallback>
      </mc:AlternateContent>
    </p:spTree>
    <p:extLst>
      <p:ext uri="{BB962C8B-B14F-4D97-AF65-F5344CB8AC3E}">
        <p14:creationId xmlns:p14="http://schemas.microsoft.com/office/powerpoint/2010/main" val="26305781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Exposure Control</a:t>
            </a:r>
          </a:p>
        </p:txBody>
      </p:sp>
      <p:sp>
        <p:nvSpPr>
          <p:cNvPr id="3" name="Content Placeholder 2"/>
          <p:cNvSpPr>
            <a:spLocks noGrp="1"/>
          </p:cNvSpPr>
          <p:nvPr>
            <p:ph idx="1"/>
          </p:nvPr>
        </p:nvSpPr>
        <p:spPr/>
        <p:txBody>
          <a:bodyPr/>
          <a:lstStyle/>
          <a:p>
            <a:r>
              <a:rPr lang="en-US" dirty="0"/>
              <a:t>Cameras control their exposure to decide on a proper range:</a:t>
            </a:r>
          </a:p>
        </p:txBody>
      </p:sp>
      <p:sp>
        <p:nvSpPr>
          <p:cNvPr id="4" name="Footer Placeholder 3"/>
          <p:cNvSpPr>
            <a:spLocks noGrp="1"/>
          </p:cNvSpPr>
          <p:nvPr>
            <p:ph type="ftr" sz="quarter" idx="11"/>
          </p:nvPr>
        </p:nvSpPr>
        <p:spPr/>
        <p:txBody>
          <a:bodyPr/>
          <a:lstStyle/>
          <a:p>
            <a:r>
              <a:rPr lang="en-US"/>
              <a:t>CENG 477 – Computer Graphics</a:t>
            </a:r>
          </a:p>
        </p:txBody>
      </p:sp>
      <p:sp>
        <p:nvSpPr>
          <p:cNvPr id="5" name="Slide Number Placeholder 4"/>
          <p:cNvSpPr>
            <a:spLocks noGrp="1"/>
          </p:cNvSpPr>
          <p:nvPr>
            <p:ph type="sldNum" sz="quarter" idx="12"/>
          </p:nvPr>
        </p:nvSpPr>
        <p:spPr/>
        <p:txBody>
          <a:bodyPr/>
          <a:lstStyle/>
          <a:p>
            <a:fld id="{30D85F22-8D96-4CC0-8AEC-D5DD45058382}" type="slidenum">
              <a:rPr lang="en-US" smtClean="0"/>
              <a:t>28</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2200" y="2514600"/>
            <a:ext cx="4419600" cy="3314700"/>
          </a:xfrm>
          <a:prstGeom prst="rect">
            <a:avLst/>
          </a:prstGeom>
        </p:spPr>
      </p:pic>
      <p:sp>
        <p:nvSpPr>
          <p:cNvPr id="6" name="TextBox 5">
            <a:extLst>
              <a:ext uri="{FF2B5EF4-FFF2-40B4-BE49-F238E27FC236}">
                <a16:creationId xmlns:a16="http://schemas.microsoft.com/office/drawing/2014/main" id="{A32139E3-143A-2249-B371-312399FD22BE}"/>
              </a:ext>
            </a:extLst>
          </p:cNvPr>
          <p:cNvSpPr txBox="1"/>
          <p:nvPr/>
        </p:nvSpPr>
        <p:spPr>
          <a:xfrm>
            <a:off x="4114800" y="5704534"/>
            <a:ext cx="1208985" cy="369332"/>
          </a:xfrm>
          <a:prstGeom prst="rect">
            <a:avLst/>
          </a:prstGeom>
          <a:noFill/>
        </p:spPr>
        <p:txBody>
          <a:bodyPr wrap="none" rtlCol="0">
            <a:spAutoFit/>
          </a:bodyPr>
          <a:lstStyle/>
          <a:p>
            <a:r>
              <a:rPr lang="en-US" dirty="0"/>
              <a:t>Luminance</a:t>
            </a:r>
          </a:p>
        </p:txBody>
      </p:sp>
      <p:sp>
        <p:nvSpPr>
          <p:cNvPr id="8" name="TextBox 7">
            <a:extLst>
              <a:ext uri="{FF2B5EF4-FFF2-40B4-BE49-F238E27FC236}">
                <a16:creationId xmlns:a16="http://schemas.microsoft.com/office/drawing/2014/main" id="{C1E1EAC9-23B1-C647-B8DF-76CFAF6DDE06}"/>
              </a:ext>
            </a:extLst>
          </p:cNvPr>
          <p:cNvSpPr txBox="1"/>
          <p:nvPr/>
        </p:nvSpPr>
        <p:spPr>
          <a:xfrm rot="16200000">
            <a:off x="1767166" y="3839368"/>
            <a:ext cx="1190069" cy="369332"/>
          </a:xfrm>
          <a:prstGeom prst="rect">
            <a:avLst/>
          </a:prstGeom>
          <a:noFill/>
        </p:spPr>
        <p:txBody>
          <a:bodyPr wrap="none" rtlCol="0">
            <a:spAutoFit/>
          </a:bodyPr>
          <a:lstStyle/>
          <a:p>
            <a:r>
              <a:rPr lang="en-US" dirty="0"/>
              <a:t>Pixel Value</a:t>
            </a:r>
          </a:p>
        </p:txBody>
      </p:sp>
    </p:spTree>
    <p:extLst>
      <p:ext uri="{BB962C8B-B14F-4D97-AF65-F5344CB8AC3E}">
        <p14:creationId xmlns:p14="http://schemas.microsoft.com/office/powerpoint/2010/main" val="16719366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Quantization</a:t>
            </a:r>
          </a:p>
        </p:txBody>
      </p:sp>
      <p:sp>
        <p:nvSpPr>
          <p:cNvPr id="3" name="Content Placeholder 2"/>
          <p:cNvSpPr>
            <a:spLocks noGrp="1"/>
          </p:cNvSpPr>
          <p:nvPr>
            <p:ph idx="1"/>
          </p:nvPr>
        </p:nvSpPr>
        <p:spPr/>
        <p:txBody>
          <a:bodyPr/>
          <a:lstStyle/>
          <a:p>
            <a:r>
              <a:rPr lang="en-US" dirty="0"/>
              <a:t>With quantization, world luminance to pixel value mapping looks like this:</a:t>
            </a:r>
          </a:p>
        </p:txBody>
      </p:sp>
      <p:sp>
        <p:nvSpPr>
          <p:cNvPr id="4" name="Footer Placeholder 3"/>
          <p:cNvSpPr>
            <a:spLocks noGrp="1"/>
          </p:cNvSpPr>
          <p:nvPr>
            <p:ph type="ftr" sz="quarter" idx="11"/>
          </p:nvPr>
        </p:nvSpPr>
        <p:spPr/>
        <p:txBody>
          <a:bodyPr/>
          <a:lstStyle/>
          <a:p>
            <a:r>
              <a:rPr lang="en-US"/>
              <a:t>CENG 477 – Computer Graphics</a:t>
            </a:r>
          </a:p>
        </p:txBody>
      </p:sp>
      <p:sp>
        <p:nvSpPr>
          <p:cNvPr id="5" name="Slide Number Placeholder 4"/>
          <p:cNvSpPr>
            <a:spLocks noGrp="1"/>
          </p:cNvSpPr>
          <p:nvPr>
            <p:ph type="sldNum" sz="quarter" idx="12"/>
          </p:nvPr>
        </p:nvSpPr>
        <p:spPr/>
        <p:txBody>
          <a:bodyPr/>
          <a:lstStyle/>
          <a:p>
            <a:fld id="{30D85F22-8D96-4CC0-8AEC-D5DD45058382}" type="slidenum">
              <a:rPr lang="en-US" smtClean="0"/>
              <a:t>29</a:t>
            </a:fld>
            <a:endParaRPr lang="en-US"/>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59152" y="2667000"/>
            <a:ext cx="4425696" cy="3319272"/>
          </a:xfrm>
          <a:prstGeom prst="rect">
            <a:avLst/>
          </a:prstGeom>
        </p:spPr>
      </p:pic>
      <p:sp>
        <p:nvSpPr>
          <p:cNvPr id="7" name="TextBox 6">
            <a:extLst>
              <a:ext uri="{FF2B5EF4-FFF2-40B4-BE49-F238E27FC236}">
                <a16:creationId xmlns:a16="http://schemas.microsoft.com/office/drawing/2014/main" id="{551DECB7-A85C-784E-BD48-B070C9DEA4AB}"/>
              </a:ext>
            </a:extLst>
          </p:cNvPr>
          <p:cNvSpPr txBox="1"/>
          <p:nvPr/>
        </p:nvSpPr>
        <p:spPr>
          <a:xfrm>
            <a:off x="4114800" y="5889480"/>
            <a:ext cx="1208985" cy="369333"/>
          </a:xfrm>
          <a:prstGeom prst="rect">
            <a:avLst/>
          </a:prstGeom>
          <a:noFill/>
        </p:spPr>
        <p:txBody>
          <a:bodyPr wrap="none" rtlCol="0">
            <a:spAutoFit/>
          </a:bodyPr>
          <a:lstStyle/>
          <a:p>
            <a:r>
              <a:rPr lang="en-US" dirty="0"/>
              <a:t>Luminance</a:t>
            </a:r>
          </a:p>
        </p:txBody>
      </p:sp>
      <p:sp>
        <p:nvSpPr>
          <p:cNvPr id="8" name="TextBox 7">
            <a:extLst>
              <a:ext uri="{FF2B5EF4-FFF2-40B4-BE49-F238E27FC236}">
                <a16:creationId xmlns:a16="http://schemas.microsoft.com/office/drawing/2014/main" id="{B427A978-70C5-3F4A-8BEA-586A2119D9CE}"/>
              </a:ext>
            </a:extLst>
          </p:cNvPr>
          <p:cNvSpPr txBox="1"/>
          <p:nvPr/>
        </p:nvSpPr>
        <p:spPr>
          <a:xfrm rot="16200000">
            <a:off x="1767166" y="3944699"/>
            <a:ext cx="1190069" cy="369332"/>
          </a:xfrm>
          <a:prstGeom prst="rect">
            <a:avLst/>
          </a:prstGeom>
          <a:noFill/>
        </p:spPr>
        <p:txBody>
          <a:bodyPr wrap="none" rtlCol="0">
            <a:spAutoFit/>
          </a:bodyPr>
          <a:lstStyle/>
          <a:p>
            <a:r>
              <a:rPr lang="en-US" dirty="0"/>
              <a:t>Pixel Value</a:t>
            </a:r>
          </a:p>
        </p:txBody>
      </p:sp>
    </p:spTree>
    <p:extLst>
      <p:ext uri="{BB962C8B-B14F-4D97-AF65-F5344CB8AC3E}">
        <p14:creationId xmlns:p14="http://schemas.microsoft.com/office/powerpoint/2010/main" val="13360812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HDR</a:t>
            </a:r>
          </a:p>
        </p:txBody>
      </p:sp>
      <p:sp>
        <p:nvSpPr>
          <p:cNvPr id="3" name="Content Placeholder 2"/>
          <p:cNvSpPr>
            <a:spLocks noGrp="1"/>
          </p:cNvSpPr>
          <p:nvPr>
            <p:ph idx="1"/>
          </p:nvPr>
        </p:nvSpPr>
        <p:spPr/>
        <p:txBody>
          <a:bodyPr/>
          <a:lstStyle/>
          <a:p>
            <a:r>
              <a:rPr lang="en-US" dirty="0"/>
              <a:t>What if we want to capture (or render) the world as it is without mapping to [0, 255] range?</a:t>
            </a:r>
          </a:p>
          <a:p>
            <a:r>
              <a:rPr lang="en-US" dirty="0"/>
              <a:t>We can capture multiple exposures and merge them to create an HDR image</a:t>
            </a:r>
          </a:p>
        </p:txBody>
      </p:sp>
      <p:sp>
        <p:nvSpPr>
          <p:cNvPr id="4" name="Footer Placeholder 3"/>
          <p:cNvSpPr>
            <a:spLocks noGrp="1"/>
          </p:cNvSpPr>
          <p:nvPr>
            <p:ph type="ftr" sz="quarter" idx="11"/>
          </p:nvPr>
        </p:nvSpPr>
        <p:spPr/>
        <p:txBody>
          <a:bodyPr/>
          <a:lstStyle/>
          <a:p>
            <a:r>
              <a:rPr lang="en-US"/>
              <a:t>CENG 477 – Computer Graphics</a:t>
            </a:r>
          </a:p>
        </p:txBody>
      </p:sp>
      <p:sp>
        <p:nvSpPr>
          <p:cNvPr id="5" name="Slide Number Placeholder 4"/>
          <p:cNvSpPr>
            <a:spLocks noGrp="1"/>
          </p:cNvSpPr>
          <p:nvPr>
            <p:ph type="sldNum" sz="quarter" idx="12"/>
          </p:nvPr>
        </p:nvSpPr>
        <p:spPr/>
        <p:txBody>
          <a:bodyPr/>
          <a:lstStyle/>
          <a:p>
            <a:fld id="{30D85F22-8D96-4CC0-8AEC-D5DD45058382}" type="slidenum">
              <a:rPr lang="en-US" smtClean="0"/>
              <a:t>30</a:t>
            </a:fld>
            <a:endParaRPr lang="en-US"/>
          </a:p>
        </p:txBody>
      </p:sp>
      <p:pic>
        <p:nvPicPr>
          <p:cNvPr id="6" name="Picture 5"/>
          <p:cNvPicPr>
            <a:picLocks noChangeAspect="1"/>
          </p:cNvPicPr>
          <p:nvPr/>
        </p:nvPicPr>
        <p:blipFill>
          <a:blip r:embed="rId3"/>
          <a:stretch>
            <a:fillRect/>
          </a:stretch>
        </p:blipFill>
        <p:spPr>
          <a:xfrm>
            <a:off x="2035846" y="3332355"/>
            <a:ext cx="5072308" cy="3045812"/>
          </a:xfrm>
          <a:prstGeom prst="rect">
            <a:avLst/>
          </a:prstGeom>
        </p:spPr>
      </p:pic>
    </p:spTree>
    <p:extLst>
      <p:ext uri="{BB962C8B-B14F-4D97-AF65-F5344CB8AC3E}">
        <p14:creationId xmlns:p14="http://schemas.microsoft.com/office/powerpoint/2010/main" val="30481389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HDR</a:t>
            </a:r>
          </a:p>
        </p:txBody>
      </p:sp>
      <p:sp>
        <p:nvSpPr>
          <p:cNvPr id="3" name="Content Placeholder 2"/>
          <p:cNvSpPr>
            <a:spLocks noGrp="1"/>
          </p:cNvSpPr>
          <p:nvPr>
            <p:ph idx="1"/>
          </p:nvPr>
        </p:nvSpPr>
        <p:spPr/>
        <p:txBody>
          <a:bodyPr/>
          <a:lstStyle/>
          <a:p>
            <a:r>
              <a:rPr lang="en-US" dirty="0"/>
              <a:t>HDR image capture process:</a:t>
            </a:r>
          </a:p>
        </p:txBody>
      </p:sp>
      <p:sp>
        <p:nvSpPr>
          <p:cNvPr id="4" name="Footer Placeholder 3"/>
          <p:cNvSpPr>
            <a:spLocks noGrp="1"/>
          </p:cNvSpPr>
          <p:nvPr>
            <p:ph type="ftr" sz="quarter" idx="11"/>
          </p:nvPr>
        </p:nvSpPr>
        <p:spPr/>
        <p:txBody>
          <a:bodyPr/>
          <a:lstStyle/>
          <a:p>
            <a:r>
              <a:rPr lang="en-US"/>
              <a:t>CENG 477 – Computer Graphics</a:t>
            </a:r>
          </a:p>
        </p:txBody>
      </p:sp>
      <p:sp>
        <p:nvSpPr>
          <p:cNvPr id="5" name="Slide Number Placeholder 4"/>
          <p:cNvSpPr>
            <a:spLocks noGrp="1"/>
          </p:cNvSpPr>
          <p:nvPr>
            <p:ph type="sldNum" sz="quarter" idx="12"/>
          </p:nvPr>
        </p:nvSpPr>
        <p:spPr/>
        <p:txBody>
          <a:bodyPr/>
          <a:lstStyle/>
          <a:p>
            <a:fld id="{30D85F22-8D96-4CC0-8AEC-D5DD45058382}" type="slidenum">
              <a:rPr lang="en-US" smtClean="0"/>
              <a:t>31</a:t>
            </a:fld>
            <a:endParaRPr lang="en-US"/>
          </a:p>
        </p:txBody>
      </p:sp>
      <p:pic>
        <p:nvPicPr>
          <p:cNvPr id="6" name="Picture 5"/>
          <p:cNvPicPr>
            <a:picLocks noChangeAspect="1"/>
          </p:cNvPicPr>
          <p:nvPr/>
        </p:nvPicPr>
        <p:blipFill>
          <a:blip r:embed="rId3"/>
          <a:stretch>
            <a:fillRect/>
          </a:stretch>
        </p:blipFill>
        <p:spPr>
          <a:xfrm>
            <a:off x="609600" y="2667000"/>
            <a:ext cx="5072308" cy="3045812"/>
          </a:xfrm>
          <a:prstGeom prst="rect">
            <a:avLst/>
          </a:prstGeom>
        </p:spPr>
      </p:pic>
      <p:sp>
        <p:nvSpPr>
          <p:cNvPr id="7" name="Rectangle 6"/>
          <p:cNvSpPr/>
          <p:nvPr/>
        </p:nvSpPr>
        <p:spPr>
          <a:xfrm>
            <a:off x="7010400" y="3581400"/>
            <a:ext cx="1602059" cy="117459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HDR Image</a:t>
            </a:r>
          </a:p>
        </p:txBody>
      </p:sp>
      <p:sp>
        <p:nvSpPr>
          <p:cNvPr id="9" name="Right Arrow 8"/>
          <p:cNvSpPr/>
          <p:nvPr/>
        </p:nvSpPr>
        <p:spPr>
          <a:xfrm>
            <a:off x="6018122" y="4064095"/>
            <a:ext cx="762000" cy="2516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5945639" y="3729883"/>
            <a:ext cx="838691" cy="369332"/>
          </a:xfrm>
          <a:prstGeom prst="rect">
            <a:avLst/>
          </a:prstGeom>
          <a:noFill/>
        </p:spPr>
        <p:txBody>
          <a:bodyPr wrap="none" rtlCol="0">
            <a:spAutoFit/>
          </a:bodyPr>
          <a:lstStyle/>
          <a:p>
            <a:r>
              <a:rPr lang="en-US" dirty="0"/>
              <a:t>Merge</a:t>
            </a:r>
          </a:p>
        </p:txBody>
      </p:sp>
    </p:spTree>
    <p:extLst>
      <p:ext uri="{BB962C8B-B14F-4D97-AF65-F5344CB8AC3E}">
        <p14:creationId xmlns:p14="http://schemas.microsoft.com/office/powerpoint/2010/main" val="11217086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HDR</a:t>
            </a:r>
          </a:p>
        </p:txBody>
      </p:sp>
      <p:sp>
        <p:nvSpPr>
          <p:cNvPr id="3" name="Content Placeholder 2"/>
          <p:cNvSpPr>
            <a:spLocks noGrp="1"/>
          </p:cNvSpPr>
          <p:nvPr>
            <p:ph idx="1"/>
          </p:nvPr>
        </p:nvSpPr>
        <p:spPr/>
        <p:txBody>
          <a:bodyPr/>
          <a:lstStyle/>
          <a:p>
            <a:r>
              <a:rPr lang="en-US" dirty="0"/>
              <a:t>Unfortunately, HDR images cannot be directly displayed on standard display devices</a:t>
            </a:r>
          </a:p>
          <a:p>
            <a:r>
              <a:rPr lang="en-US" dirty="0"/>
              <a:t>They must be </a:t>
            </a:r>
            <a:r>
              <a:rPr lang="en-US" dirty="0">
                <a:solidFill>
                  <a:srgbClr val="C00000"/>
                </a:solidFill>
              </a:rPr>
              <a:t>tonemapped</a:t>
            </a:r>
            <a:r>
              <a:rPr lang="en-US" dirty="0"/>
              <a:t> first (see Chapter 23 in our textbook):</a:t>
            </a:r>
          </a:p>
        </p:txBody>
      </p:sp>
      <p:sp>
        <p:nvSpPr>
          <p:cNvPr id="4" name="Footer Placeholder 3"/>
          <p:cNvSpPr>
            <a:spLocks noGrp="1"/>
          </p:cNvSpPr>
          <p:nvPr>
            <p:ph type="ftr" sz="quarter" idx="11"/>
          </p:nvPr>
        </p:nvSpPr>
        <p:spPr/>
        <p:txBody>
          <a:bodyPr/>
          <a:lstStyle/>
          <a:p>
            <a:r>
              <a:rPr lang="en-US"/>
              <a:t>CENG 477 – Computer Graphics</a:t>
            </a:r>
          </a:p>
        </p:txBody>
      </p:sp>
      <p:sp>
        <p:nvSpPr>
          <p:cNvPr id="5" name="Slide Number Placeholder 4"/>
          <p:cNvSpPr>
            <a:spLocks noGrp="1"/>
          </p:cNvSpPr>
          <p:nvPr>
            <p:ph type="sldNum" sz="quarter" idx="12"/>
          </p:nvPr>
        </p:nvSpPr>
        <p:spPr/>
        <p:txBody>
          <a:bodyPr/>
          <a:lstStyle/>
          <a:p>
            <a:fld id="{30D85F22-8D96-4CC0-8AEC-D5DD45058382}" type="slidenum">
              <a:rPr lang="en-US" smtClean="0"/>
              <a:t>32</a:t>
            </a:fld>
            <a:endParaRPr lang="en-US"/>
          </a:p>
        </p:txBody>
      </p:sp>
      <p:sp>
        <p:nvSpPr>
          <p:cNvPr id="6" name="Rectangle 5"/>
          <p:cNvSpPr/>
          <p:nvPr/>
        </p:nvSpPr>
        <p:spPr>
          <a:xfrm>
            <a:off x="817755" y="3612995"/>
            <a:ext cx="1602059" cy="117459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HDR Image</a:t>
            </a:r>
          </a:p>
        </p:txBody>
      </p:sp>
      <p:sp>
        <p:nvSpPr>
          <p:cNvPr id="7" name="Right Arrow 6"/>
          <p:cNvSpPr/>
          <p:nvPr/>
        </p:nvSpPr>
        <p:spPr>
          <a:xfrm>
            <a:off x="2791522" y="4077547"/>
            <a:ext cx="762000" cy="2516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2605668" y="3612995"/>
            <a:ext cx="1133708" cy="369332"/>
          </a:xfrm>
          <a:prstGeom prst="rect">
            <a:avLst/>
          </a:prstGeom>
          <a:noFill/>
        </p:spPr>
        <p:txBody>
          <a:bodyPr wrap="none" rtlCol="0">
            <a:spAutoFit/>
          </a:bodyPr>
          <a:lstStyle/>
          <a:p>
            <a:r>
              <a:rPr lang="en-US" dirty="0" err="1"/>
              <a:t>Tonemap</a:t>
            </a:r>
            <a:endParaRPr lang="en-US" dirty="0"/>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07580" y="3490108"/>
            <a:ext cx="1550620" cy="1420368"/>
          </a:xfrm>
          <a:prstGeom prst="rect">
            <a:avLst/>
          </a:prstGeom>
        </p:spPr>
      </p:pic>
      <p:sp>
        <p:nvSpPr>
          <p:cNvPr id="10" name="Rectangle 9"/>
          <p:cNvSpPr/>
          <p:nvPr/>
        </p:nvSpPr>
        <p:spPr>
          <a:xfrm>
            <a:off x="3925230" y="3612995"/>
            <a:ext cx="1602059" cy="117459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LDR Image</a:t>
            </a:r>
          </a:p>
        </p:txBody>
      </p:sp>
      <p:sp>
        <p:nvSpPr>
          <p:cNvPr id="11" name="Right Arrow 10"/>
          <p:cNvSpPr/>
          <p:nvPr/>
        </p:nvSpPr>
        <p:spPr>
          <a:xfrm>
            <a:off x="5898997" y="4083793"/>
            <a:ext cx="762000" cy="2516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5764317" y="3619241"/>
            <a:ext cx="941283" cy="369332"/>
          </a:xfrm>
          <a:prstGeom prst="rect">
            <a:avLst/>
          </a:prstGeom>
          <a:noFill/>
        </p:spPr>
        <p:txBody>
          <a:bodyPr wrap="none" rtlCol="0">
            <a:spAutoFit/>
          </a:bodyPr>
          <a:lstStyle/>
          <a:p>
            <a:r>
              <a:rPr lang="en-US" dirty="0"/>
              <a:t>Display</a:t>
            </a:r>
          </a:p>
        </p:txBody>
      </p:sp>
    </p:spTree>
    <p:extLst>
      <p:ext uri="{BB962C8B-B14F-4D97-AF65-F5344CB8AC3E}">
        <p14:creationId xmlns:p14="http://schemas.microsoft.com/office/powerpoint/2010/main" val="4463297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HDR</a:t>
            </a:r>
          </a:p>
        </p:txBody>
      </p:sp>
      <p:sp>
        <p:nvSpPr>
          <p:cNvPr id="3" name="Content Placeholder 2"/>
          <p:cNvSpPr>
            <a:spLocks noGrp="1"/>
          </p:cNvSpPr>
          <p:nvPr>
            <p:ph idx="1"/>
          </p:nvPr>
        </p:nvSpPr>
        <p:spPr/>
        <p:txBody>
          <a:bodyPr/>
          <a:lstStyle/>
          <a:p>
            <a:r>
              <a:rPr lang="en-US" dirty="0"/>
              <a:t>HDR images can also be saved in HDR file formats such as </a:t>
            </a:r>
            <a:r>
              <a:rPr lang="en-US" dirty="0">
                <a:solidFill>
                  <a:srgbClr val="C00000"/>
                </a:solidFill>
              </a:rPr>
              <a:t>.</a:t>
            </a:r>
            <a:r>
              <a:rPr lang="en-US" dirty="0" err="1">
                <a:solidFill>
                  <a:srgbClr val="C00000"/>
                </a:solidFill>
              </a:rPr>
              <a:t>hdr</a:t>
            </a:r>
            <a:r>
              <a:rPr lang="en-US" dirty="0">
                <a:solidFill>
                  <a:srgbClr val="C00000"/>
                </a:solidFill>
              </a:rPr>
              <a:t> </a:t>
            </a:r>
            <a:r>
              <a:rPr lang="en-US" dirty="0"/>
              <a:t>and </a:t>
            </a:r>
            <a:r>
              <a:rPr lang="en-US" dirty="0">
                <a:solidFill>
                  <a:srgbClr val="C00000"/>
                </a:solidFill>
              </a:rPr>
              <a:t>.</a:t>
            </a:r>
            <a:r>
              <a:rPr lang="en-US" dirty="0" err="1">
                <a:solidFill>
                  <a:srgbClr val="C00000"/>
                </a:solidFill>
              </a:rPr>
              <a:t>exr</a:t>
            </a:r>
            <a:endParaRPr lang="en-US" dirty="0">
              <a:solidFill>
                <a:srgbClr val="C00000"/>
              </a:solidFill>
            </a:endParaRPr>
          </a:p>
          <a:p>
            <a:r>
              <a:rPr lang="en-US" dirty="0"/>
              <a:t>Novel HDR displays allow direct display of HDR imagery:</a:t>
            </a:r>
          </a:p>
        </p:txBody>
      </p:sp>
      <p:sp>
        <p:nvSpPr>
          <p:cNvPr id="4" name="Footer Placeholder 3"/>
          <p:cNvSpPr>
            <a:spLocks noGrp="1"/>
          </p:cNvSpPr>
          <p:nvPr>
            <p:ph type="ftr" sz="quarter" idx="11"/>
          </p:nvPr>
        </p:nvSpPr>
        <p:spPr/>
        <p:txBody>
          <a:bodyPr/>
          <a:lstStyle/>
          <a:p>
            <a:r>
              <a:rPr lang="en-US"/>
              <a:t>CENG 477 – Computer Graphics</a:t>
            </a:r>
          </a:p>
        </p:txBody>
      </p:sp>
      <p:sp>
        <p:nvSpPr>
          <p:cNvPr id="5" name="Slide Number Placeholder 4"/>
          <p:cNvSpPr>
            <a:spLocks noGrp="1"/>
          </p:cNvSpPr>
          <p:nvPr>
            <p:ph type="sldNum" sz="quarter" idx="12"/>
          </p:nvPr>
        </p:nvSpPr>
        <p:spPr/>
        <p:txBody>
          <a:bodyPr/>
          <a:lstStyle/>
          <a:p>
            <a:fld id="{30D85F22-8D96-4CC0-8AEC-D5DD45058382}" type="slidenum">
              <a:rPr lang="en-US" smtClean="0"/>
              <a:t>33</a:t>
            </a:fld>
            <a:endParaRPr lang="en-US"/>
          </a:p>
        </p:txBody>
      </p:sp>
      <p:sp>
        <p:nvSpPr>
          <p:cNvPr id="6" name="Rectangle 5"/>
          <p:cNvSpPr/>
          <p:nvPr/>
        </p:nvSpPr>
        <p:spPr>
          <a:xfrm>
            <a:off x="279284" y="4186786"/>
            <a:ext cx="1602059" cy="117459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HDR Image</a:t>
            </a:r>
          </a:p>
        </p:txBody>
      </p:sp>
      <p:sp>
        <p:nvSpPr>
          <p:cNvPr id="7" name="Right Arrow 6"/>
          <p:cNvSpPr/>
          <p:nvPr/>
        </p:nvSpPr>
        <p:spPr>
          <a:xfrm rot="19592698">
            <a:off x="1937430" y="4070816"/>
            <a:ext cx="1515451" cy="2319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rot="19522914">
            <a:off x="1909552" y="3760929"/>
            <a:ext cx="1133708" cy="369332"/>
          </a:xfrm>
          <a:prstGeom prst="rect">
            <a:avLst/>
          </a:prstGeom>
          <a:noFill/>
        </p:spPr>
        <p:txBody>
          <a:bodyPr wrap="none" rtlCol="0">
            <a:spAutoFit/>
          </a:bodyPr>
          <a:lstStyle/>
          <a:p>
            <a:r>
              <a:rPr lang="en-US" dirty="0" err="1"/>
              <a:t>Tonemap</a:t>
            </a:r>
            <a:endParaRPr lang="en-US" dirty="0"/>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81608" y="3112049"/>
            <a:ext cx="1550620" cy="1420368"/>
          </a:xfrm>
          <a:prstGeom prst="rect">
            <a:avLst/>
          </a:prstGeom>
        </p:spPr>
      </p:pic>
      <p:pic>
        <p:nvPicPr>
          <p:cNvPr id="1026" name="Picture 2" descr="http://hdr.sim2.it/sites/default/files/styles/medium/public/field/image/cittaSIDE1_1000X747.png?itok=C0yYk3a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29830" y="4705916"/>
            <a:ext cx="2095500" cy="15621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6218774" y="4413352"/>
            <a:ext cx="1903085" cy="369332"/>
          </a:xfrm>
          <a:prstGeom prst="rect">
            <a:avLst/>
          </a:prstGeom>
          <a:noFill/>
        </p:spPr>
        <p:txBody>
          <a:bodyPr wrap="none" rtlCol="0">
            <a:spAutoFit/>
          </a:bodyPr>
          <a:lstStyle/>
          <a:p>
            <a:r>
              <a:rPr lang="en-US" dirty="0"/>
              <a:t>Standard display</a:t>
            </a:r>
          </a:p>
        </p:txBody>
      </p:sp>
      <p:sp>
        <p:nvSpPr>
          <p:cNvPr id="12" name="TextBox 11"/>
          <p:cNvSpPr txBox="1"/>
          <p:nvPr/>
        </p:nvSpPr>
        <p:spPr>
          <a:xfrm>
            <a:off x="6509087" y="6071098"/>
            <a:ext cx="1467068" cy="369332"/>
          </a:xfrm>
          <a:prstGeom prst="rect">
            <a:avLst/>
          </a:prstGeom>
          <a:noFill/>
        </p:spPr>
        <p:txBody>
          <a:bodyPr wrap="none" rtlCol="0">
            <a:spAutoFit/>
          </a:bodyPr>
          <a:lstStyle/>
          <a:p>
            <a:r>
              <a:rPr lang="en-US" dirty="0"/>
              <a:t>HDR display</a:t>
            </a:r>
          </a:p>
        </p:txBody>
      </p:sp>
      <p:sp>
        <p:nvSpPr>
          <p:cNvPr id="13" name="Rectangle 12"/>
          <p:cNvSpPr/>
          <p:nvPr/>
        </p:nvSpPr>
        <p:spPr>
          <a:xfrm>
            <a:off x="3483698" y="3099816"/>
            <a:ext cx="1602059" cy="117459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LDR Image</a:t>
            </a:r>
          </a:p>
        </p:txBody>
      </p:sp>
      <p:sp>
        <p:nvSpPr>
          <p:cNvPr id="14" name="Right Arrow 13"/>
          <p:cNvSpPr/>
          <p:nvPr/>
        </p:nvSpPr>
        <p:spPr>
          <a:xfrm>
            <a:off x="5457465" y="3570614"/>
            <a:ext cx="762000" cy="2516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5322785" y="3212068"/>
            <a:ext cx="941283" cy="369332"/>
          </a:xfrm>
          <a:prstGeom prst="rect">
            <a:avLst/>
          </a:prstGeom>
          <a:noFill/>
        </p:spPr>
        <p:txBody>
          <a:bodyPr wrap="none" rtlCol="0">
            <a:spAutoFit/>
          </a:bodyPr>
          <a:lstStyle/>
          <a:p>
            <a:r>
              <a:rPr lang="en-US" dirty="0"/>
              <a:t>Display</a:t>
            </a:r>
          </a:p>
        </p:txBody>
      </p:sp>
      <p:sp>
        <p:nvSpPr>
          <p:cNvPr id="11" name="Right Arrow 10"/>
          <p:cNvSpPr/>
          <p:nvPr/>
        </p:nvSpPr>
        <p:spPr>
          <a:xfrm rot="430373">
            <a:off x="2061087" y="5176212"/>
            <a:ext cx="4224983" cy="19333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rot="460810">
            <a:off x="3772817" y="4861842"/>
            <a:ext cx="941283" cy="369332"/>
          </a:xfrm>
          <a:prstGeom prst="rect">
            <a:avLst/>
          </a:prstGeom>
          <a:noFill/>
        </p:spPr>
        <p:txBody>
          <a:bodyPr wrap="none" rtlCol="0">
            <a:spAutoFit/>
          </a:bodyPr>
          <a:lstStyle/>
          <a:p>
            <a:r>
              <a:rPr lang="en-US" dirty="0"/>
              <a:t>Display</a:t>
            </a:r>
          </a:p>
        </p:txBody>
      </p:sp>
    </p:spTree>
    <p:extLst>
      <p:ext uri="{BB962C8B-B14F-4D97-AF65-F5344CB8AC3E}">
        <p14:creationId xmlns:p14="http://schemas.microsoft.com/office/powerpoint/2010/main" val="26089609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HDR</a:t>
            </a:r>
          </a:p>
        </p:txBody>
      </p:sp>
      <p:sp>
        <p:nvSpPr>
          <p:cNvPr id="3" name="Content Placeholder 2"/>
          <p:cNvSpPr>
            <a:spLocks noGrp="1"/>
          </p:cNvSpPr>
          <p:nvPr>
            <p:ph idx="1"/>
          </p:nvPr>
        </p:nvSpPr>
        <p:spPr/>
        <p:txBody>
          <a:bodyPr/>
          <a:lstStyle/>
          <a:p>
            <a:r>
              <a:rPr lang="en-US" dirty="0"/>
              <a:t>HDR images can also be saved in HDR file formats such as </a:t>
            </a:r>
            <a:r>
              <a:rPr lang="en-US" dirty="0">
                <a:solidFill>
                  <a:srgbClr val="C00000"/>
                </a:solidFill>
              </a:rPr>
              <a:t>.</a:t>
            </a:r>
            <a:r>
              <a:rPr lang="en-US" dirty="0" err="1">
                <a:solidFill>
                  <a:srgbClr val="C00000"/>
                </a:solidFill>
              </a:rPr>
              <a:t>hdr</a:t>
            </a:r>
            <a:r>
              <a:rPr lang="en-US" dirty="0">
                <a:solidFill>
                  <a:srgbClr val="C00000"/>
                </a:solidFill>
              </a:rPr>
              <a:t> </a:t>
            </a:r>
            <a:r>
              <a:rPr lang="en-US" dirty="0"/>
              <a:t>and </a:t>
            </a:r>
            <a:r>
              <a:rPr lang="en-US" dirty="0">
                <a:solidFill>
                  <a:srgbClr val="C00000"/>
                </a:solidFill>
              </a:rPr>
              <a:t>.</a:t>
            </a:r>
            <a:r>
              <a:rPr lang="en-US" dirty="0" err="1">
                <a:solidFill>
                  <a:srgbClr val="C00000"/>
                </a:solidFill>
              </a:rPr>
              <a:t>exr</a:t>
            </a:r>
            <a:endParaRPr lang="en-US" dirty="0">
              <a:solidFill>
                <a:srgbClr val="C00000"/>
              </a:solidFill>
            </a:endParaRPr>
          </a:p>
          <a:p>
            <a:r>
              <a:rPr lang="en-US" dirty="0"/>
              <a:t>Novel HDR displays allow direct display of HDR imagery:</a:t>
            </a:r>
          </a:p>
        </p:txBody>
      </p:sp>
      <p:sp>
        <p:nvSpPr>
          <p:cNvPr id="4" name="Footer Placeholder 3"/>
          <p:cNvSpPr>
            <a:spLocks noGrp="1"/>
          </p:cNvSpPr>
          <p:nvPr>
            <p:ph type="ftr" sz="quarter" idx="11"/>
          </p:nvPr>
        </p:nvSpPr>
        <p:spPr/>
        <p:txBody>
          <a:bodyPr/>
          <a:lstStyle/>
          <a:p>
            <a:r>
              <a:rPr lang="en-US"/>
              <a:t>CENG 477 – Computer Graphics</a:t>
            </a:r>
          </a:p>
        </p:txBody>
      </p:sp>
      <p:sp>
        <p:nvSpPr>
          <p:cNvPr id="5" name="Slide Number Placeholder 4"/>
          <p:cNvSpPr>
            <a:spLocks noGrp="1"/>
          </p:cNvSpPr>
          <p:nvPr>
            <p:ph type="sldNum" sz="quarter" idx="12"/>
          </p:nvPr>
        </p:nvSpPr>
        <p:spPr/>
        <p:txBody>
          <a:bodyPr/>
          <a:lstStyle/>
          <a:p>
            <a:fld id="{30D85F22-8D96-4CC0-8AEC-D5DD45058382}" type="slidenum">
              <a:rPr lang="en-US" smtClean="0"/>
              <a:t>34</a:t>
            </a:fld>
            <a:endParaRPr lang="en-US"/>
          </a:p>
        </p:txBody>
      </p:sp>
      <p:sp>
        <p:nvSpPr>
          <p:cNvPr id="6" name="Rectangle 5"/>
          <p:cNvSpPr/>
          <p:nvPr/>
        </p:nvSpPr>
        <p:spPr>
          <a:xfrm>
            <a:off x="279284" y="4186786"/>
            <a:ext cx="1602059" cy="117459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HDR Image</a:t>
            </a:r>
          </a:p>
        </p:txBody>
      </p:sp>
      <p:sp>
        <p:nvSpPr>
          <p:cNvPr id="7" name="Right Arrow 6"/>
          <p:cNvSpPr/>
          <p:nvPr/>
        </p:nvSpPr>
        <p:spPr>
          <a:xfrm rot="19592698">
            <a:off x="1937430" y="4070816"/>
            <a:ext cx="1515451" cy="2319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rot="19522914">
            <a:off x="1909552" y="3760929"/>
            <a:ext cx="1133708" cy="369332"/>
          </a:xfrm>
          <a:prstGeom prst="rect">
            <a:avLst/>
          </a:prstGeom>
          <a:noFill/>
        </p:spPr>
        <p:txBody>
          <a:bodyPr wrap="none" rtlCol="0">
            <a:spAutoFit/>
          </a:bodyPr>
          <a:lstStyle/>
          <a:p>
            <a:r>
              <a:rPr lang="en-US" dirty="0" err="1"/>
              <a:t>Tonemap</a:t>
            </a:r>
            <a:endParaRPr lang="en-US" dirty="0"/>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81608" y="3112049"/>
            <a:ext cx="1550620" cy="1420368"/>
          </a:xfrm>
          <a:prstGeom prst="rect">
            <a:avLst/>
          </a:prstGeom>
        </p:spPr>
      </p:pic>
      <p:pic>
        <p:nvPicPr>
          <p:cNvPr id="1026" name="Picture 2" descr="http://hdr.sim2.it/sites/default/files/styles/medium/public/field/image/cittaSIDE1_1000X747.png?itok=C0yYk3a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29830" y="4705916"/>
            <a:ext cx="2095500" cy="15621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6218774" y="4413352"/>
            <a:ext cx="1903085" cy="369332"/>
          </a:xfrm>
          <a:prstGeom prst="rect">
            <a:avLst/>
          </a:prstGeom>
          <a:noFill/>
        </p:spPr>
        <p:txBody>
          <a:bodyPr wrap="none" rtlCol="0">
            <a:spAutoFit/>
          </a:bodyPr>
          <a:lstStyle/>
          <a:p>
            <a:r>
              <a:rPr lang="en-US" dirty="0"/>
              <a:t>Standard display</a:t>
            </a:r>
          </a:p>
        </p:txBody>
      </p:sp>
      <p:sp>
        <p:nvSpPr>
          <p:cNvPr id="12" name="TextBox 11"/>
          <p:cNvSpPr txBox="1"/>
          <p:nvPr/>
        </p:nvSpPr>
        <p:spPr>
          <a:xfrm>
            <a:off x="6509087" y="6071098"/>
            <a:ext cx="1467068" cy="369332"/>
          </a:xfrm>
          <a:prstGeom prst="rect">
            <a:avLst/>
          </a:prstGeom>
          <a:noFill/>
        </p:spPr>
        <p:txBody>
          <a:bodyPr wrap="none" rtlCol="0">
            <a:spAutoFit/>
          </a:bodyPr>
          <a:lstStyle/>
          <a:p>
            <a:r>
              <a:rPr lang="en-US" dirty="0"/>
              <a:t>HDR display</a:t>
            </a:r>
          </a:p>
        </p:txBody>
      </p:sp>
      <p:sp>
        <p:nvSpPr>
          <p:cNvPr id="13" name="Rectangle 12"/>
          <p:cNvSpPr/>
          <p:nvPr/>
        </p:nvSpPr>
        <p:spPr>
          <a:xfrm>
            <a:off x="3483698" y="3099816"/>
            <a:ext cx="1602059" cy="117459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LDR Image</a:t>
            </a:r>
          </a:p>
        </p:txBody>
      </p:sp>
      <p:sp>
        <p:nvSpPr>
          <p:cNvPr id="14" name="Right Arrow 13"/>
          <p:cNvSpPr/>
          <p:nvPr/>
        </p:nvSpPr>
        <p:spPr>
          <a:xfrm>
            <a:off x="5457465" y="3570614"/>
            <a:ext cx="762000" cy="2516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5322785" y="3212068"/>
            <a:ext cx="941283" cy="369332"/>
          </a:xfrm>
          <a:prstGeom prst="rect">
            <a:avLst/>
          </a:prstGeom>
          <a:noFill/>
        </p:spPr>
        <p:txBody>
          <a:bodyPr wrap="none" rtlCol="0">
            <a:spAutoFit/>
          </a:bodyPr>
          <a:lstStyle/>
          <a:p>
            <a:r>
              <a:rPr lang="en-US" dirty="0"/>
              <a:t>Display</a:t>
            </a:r>
          </a:p>
        </p:txBody>
      </p:sp>
      <p:sp>
        <p:nvSpPr>
          <p:cNvPr id="11" name="Right Arrow 10"/>
          <p:cNvSpPr/>
          <p:nvPr/>
        </p:nvSpPr>
        <p:spPr>
          <a:xfrm rot="430373">
            <a:off x="2061087" y="5176212"/>
            <a:ext cx="4224983" cy="19333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rot="460810">
            <a:off x="3772817" y="4861842"/>
            <a:ext cx="941283" cy="369332"/>
          </a:xfrm>
          <a:prstGeom prst="rect">
            <a:avLst/>
          </a:prstGeom>
          <a:noFill/>
        </p:spPr>
        <p:txBody>
          <a:bodyPr wrap="none" rtlCol="0">
            <a:spAutoFit/>
          </a:bodyPr>
          <a:lstStyle/>
          <a:p>
            <a:r>
              <a:rPr lang="en-US" dirty="0"/>
              <a:t>Display</a:t>
            </a:r>
          </a:p>
        </p:txBody>
      </p:sp>
      <p:sp>
        <p:nvSpPr>
          <p:cNvPr id="19" name="Rounded Rectangle 18"/>
          <p:cNvSpPr/>
          <p:nvPr/>
        </p:nvSpPr>
        <p:spPr>
          <a:xfrm>
            <a:off x="762000" y="3429000"/>
            <a:ext cx="8001000" cy="1600200"/>
          </a:xfrm>
          <a:prstGeom prst="roundRect">
            <a:avLst/>
          </a:prstGeom>
          <a:solidFill>
            <a:schemeClr val="tx2">
              <a:lumMod val="50000"/>
              <a:lumOff val="5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See </a:t>
            </a:r>
            <a:r>
              <a:rPr lang="en-US" sz="2400" dirty="0">
                <a:hlinkClick r:id="rId4"/>
              </a:rPr>
              <a:t>http://hdr.sim2.it/</a:t>
            </a:r>
            <a:r>
              <a:rPr lang="en-US" sz="2400" dirty="0"/>
              <a:t> for more info on HDR displays</a:t>
            </a:r>
          </a:p>
        </p:txBody>
      </p:sp>
    </p:spTree>
    <p:extLst>
      <p:ext uri="{BB962C8B-B14F-4D97-AF65-F5344CB8AC3E}">
        <p14:creationId xmlns:p14="http://schemas.microsoft.com/office/powerpoint/2010/main" val="15756487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Rendering</a:t>
            </a:r>
          </a:p>
        </p:txBody>
      </p:sp>
      <p:sp>
        <p:nvSpPr>
          <p:cNvPr id="3" name="Content Placeholder 2"/>
          <p:cNvSpPr>
            <a:spLocks noGrp="1"/>
          </p:cNvSpPr>
          <p:nvPr>
            <p:ph idx="1"/>
          </p:nvPr>
        </p:nvSpPr>
        <p:spPr/>
        <p:txBody>
          <a:bodyPr/>
          <a:lstStyle/>
          <a:p>
            <a:pPr>
              <a:buClrTx/>
            </a:pPr>
            <a:r>
              <a:rPr lang="en-US" dirty="0">
                <a:solidFill>
                  <a:schemeClr val="tx2">
                    <a:lumMod val="25000"/>
                    <a:lumOff val="75000"/>
                  </a:schemeClr>
                </a:solidFill>
              </a:rPr>
              <a:t>Why this matters for CG?</a:t>
            </a:r>
          </a:p>
          <a:p>
            <a:pPr>
              <a:buClrTx/>
            </a:pPr>
            <a:r>
              <a:rPr lang="en-US" dirty="0">
                <a:solidFill>
                  <a:schemeClr val="tx2">
                    <a:lumMod val="25000"/>
                    <a:lumOff val="75000"/>
                  </a:schemeClr>
                </a:solidFill>
              </a:rPr>
              <a:t>In CG, we generate images just like a camera captures images</a:t>
            </a:r>
          </a:p>
          <a:p>
            <a:pPr>
              <a:buClrTx/>
            </a:pPr>
            <a:r>
              <a:rPr lang="en-US" dirty="0">
                <a:solidFill>
                  <a:schemeClr val="tx2">
                    <a:lumMod val="25000"/>
                    <a:lumOff val="75000"/>
                  </a:schemeClr>
                </a:solidFill>
              </a:rPr>
              <a:t>Our artificial scene may have luminance values not limited to [0, 255] range</a:t>
            </a:r>
          </a:p>
          <a:p>
            <a:pPr>
              <a:buClrTx/>
            </a:pPr>
            <a:r>
              <a:rPr lang="en-US" dirty="0">
                <a:solidFill>
                  <a:schemeClr val="tx2">
                    <a:lumMod val="25000"/>
                    <a:lumOff val="75000"/>
                  </a:schemeClr>
                </a:solidFill>
              </a:rPr>
              <a:t>As such, we have to mimic what the camera does</a:t>
            </a:r>
          </a:p>
          <a:p>
            <a:pPr lvl="1">
              <a:buClrTx/>
            </a:pPr>
            <a:r>
              <a:rPr lang="en-US" dirty="0">
                <a:solidFill>
                  <a:schemeClr val="tx2">
                    <a:lumMod val="25000"/>
                    <a:lumOff val="75000"/>
                  </a:schemeClr>
                </a:solidFill>
              </a:rPr>
              <a:t>Except for creating multiple exposures</a:t>
            </a:r>
          </a:p>
          <a:p>
            <a:pPr lvl="1">
              <a:buClrTx/>
            </a:pPr>
            <a:r>
              <a:rPr lang="en-US" dirty="0">
                <a:solidFill>
                  <a:schemeClr val="tx2">
                    <a:lumMod val="25000"/>
                    <a:lumOff val="75000"/>
                  </a:schemeClr>
                </a:solidFill>
              </a:rPr>
              <a:t>Our rendering result can directly be a floating point image with a high dynamic range</a:t>
            </a:r>
          </a:p>
          <a:p>
            <a:pPr lvl="1">
              <a:buClrTx/>
            </a:pPr>
            <a:r>
              <a:rPr lang="en-US" dirty="0">
                <a:solidFill>
                  <a:schemeClr val="tx2">
                    <a:lumMod val="25000"/>
                    <a:lumOff val="75000"/>
                  </a:schemeClr>
                </a:solidFill>
              </a:rPr>
              <a:t>It needs to be tone mapped prior to display on a regular monitor</a:t>
            </a:r>
          </a:p>
          <a:p>
            <a:endParaRPr lang="en-US" dirty="0"/>
          </a:p>
        </p:txBody>
      </p:sp>
      <p:sp>
        <p:nvSpPr>
          <p:cNvPr id="4" name="Footer Placeholder 3"/>
          <p:cNvSpPr>
            <a:spLocks noGrp="1"/>
          </p:cNvSpPr>
          <p:nvPr>
            <p:ph type="ftr" sz="quarter" idx="11"/>
          </p:nvPr>
        </p:nvSpPr>
        <p:spPr/>
        <p:txBody>
          <a:bodyPr/>
          <a:lstStyle/>
          <a:p>
            <a:r>
              <a:rPr lang="en-US"/>
              <a:t>CENG 477 – Computer Graphics</a:t>
            </a:r>
          </a:p>
        </p:txBody>
      </p:sp>
      <p:sp>
        <p:nvSpPr>
          <p:cNvPr id="5" name="Slide Number Placeholder 4"/>
          <p:cNvSpPr>
            <a:spLocks noGrp="1"/>
          </p:cNvSpPr>
          <p:nvPr>
            <p:ph type="sldNum" sz="quarter" idx="12"/>
          </p:nvPr>
        </p:nvSpPr>
        <p:spPr/>
        <p:txBody>
          <a:bodyPr/>
          <a:lstStyle/>
          <a:p>
            <a:fld id="{30D85F22-8D96-4CC0-8AEC-D5DD45058382}" type="slidenum">
              <a:rPr lang="en-US" smtClean="0"/>
              <a:t>35</a:t>
            </a:fld>
            <a:endParaRPr lang="en-US"/>
          </a:p>
        </p:txBody>
      </p:sp>
      <p:sp>
        <p:nvSpPr>
          <p:cNvPr id="6" name="Rectangle 5">
            <a:extLst>
              <a:ext uri="{FF2B5EF4-FFF2-40B4-BE49-F238E27FC236}">
                <a16:creationId xmlns:a16="http://schemas.microsoft.com/office/drawing/2014/main" id="{C5659CFD-8161-4A61-8C90-C0BD27C9497D}"/>
              </a:ext>
            </a:extLst>
          </p:cNvPr>
          <p:cNvSpPr/>
          <p:nvPr/>
        </p:nvSpPr>
        <p:spPr>
          <a:xfrm>
            <a:off x="1669121" y="5756831"/>
            <a:ext cx="5805757" cy="369332"/>
          </a:xfrm>
          <a:prstGeom prst="rect">
            <a:avLst/>
          </a:prstGeom>
        </p:spPr>
        <p:txBody>
          <a:bodyPr wrap="none">
            <a:spAutoFit/>
          </a:bodyPr>
          <a:lstStyle/>
          <a:p>
            <a:r>
              <a:rPr lang="en-US" dirty="0"/>
              <a:t>Tone mapping example: </a:t>
            </a:r>
            <a:r>
              <a:rPr lang="en-US" dirty="0">
                <a:hlinkClick r:id="rId2"/>
              </a:rPr>
              <a:t>https://szimek.github.io/webgl-hdr/</a:t>
            </a:r>
            <a:endParaRPr lang="en-US" dirty="0"/>
          </a:p>
        </p:txBody>
      </p:sp>
    </p:spTree>
    <p:extLst>
      <p:ext uri="{BB962C8B-B14F-4D97-AF65-F5344CB8AC3E}">
        <p14:creationId xmlns:p14="http://schemas.microsoft.com/office/powerpoint/2010/main" val="3826537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2" fill="hold" nodeType="withEffect">
                                  <p:stCondLst>
                                    <p:cond delay="0"/>
                                  </p:stCondLst>
                                  <p:childTnLst>
                                    <p:animClr clrSpc="rgb" dir="cw">
                                      <p:cBhvr override="childStyle">
                                        <p:cTn id="6" dur="100" fill="hold"/>
                                        <p:tgtEl>
                                          <p:spTgt spid="3">
                                            <p:txEl>
                                              <p:pRg st="0" end="0"/>
                                            </p:txEl>
                                          </p:spTgt>
                                        </p:tgtEl>
                                        <p:attrNameLst>
                                          <p:attrName>style.color</p:attrName>
                                        </p:attrNameLst>
                                      </p:cBhvr>
                                      <p:to>
                                        <a:schemeClr val="tx1"/>
                                      </p:to>
                                    </p:animClr>
                                  </p:childTnLst>
                                </p:cTn>
                              </p:par>
                            </p:childTnLst>
                          </p:cTn>
                        </p:par>
                      </p:childTnLst>
                    </p:cTn>
                  </p:par>
                  <p:par>
                    <p:cTn id="7" fill="hold">
                      <p:stCondLst>
                        <p:cond delay="indefinite"/>
                      </p:stCondLst>
                      <p:childTnLst>
                        <p:par>
                          <p:cTn id="8" fill="hold">
                            <p:stCondLst>
                              <p:cond delay="0"/>
                            </p:stCondLst>
                            <p:childTnLst>
                              <p:par>
                                <p:cTn id="9" presetID="3" presetClass="emph" presetSubtype="2" fill="hold" nodeType="clickEffect">
                                  <p:stCondLst>
                                    <p:cond delay="0"/>
                                  </p:stCondLst>
                                  <p:childTnLst>
                                    <p:animClr clrSpc="rgb" dir="cw">
                                      <p:cBhvr override="childStyle">
                                        <p:cTn id="10" dur="100" fill="hold"/>
                                        <p:tgtEl>
                                          <p:spTgt spid="3">
                                            <p:txEl>
                                              <p:pRg st="1" end="1"/>
                                            </p:txEl>
                                          </p:spTgt>
                                        </p:tgtEl>
                                        <p:attrNameLst>
                                          <p:attrName>style.color</p:attrName>
                                        </p:attrNameLst>
                                      </p:cBhvr>
                                      <p:to>
                                        <a:schemeClr val="tx1"/>
                                      </p:to>
                                    </p:animClr>
                                  </p:childTnLst>
                                </p:cTn>
                              </p:par>
                            </p:childTnLst>
                          </p:cTn>
                        </p:par>
                      </p:childTnLst>
                    </p:cTn>
                  </p:par>
                  <p:par>
                    <p:cTn id="11" fill="hold">
                      <p:stCondLst>
                        <p:cond delay="indefinite"/>
                      </p:stCondLst>
                      <p:childTnLst>
                        <p:par>
                          <p:cTn id="12" fill="hold">
                            <p:stCondLst>
                              <p:cond delay="0"/>
                            </p:stCondLst>
                            <p:childTnLst>
                              <p:par>
                                <p:cTn id="13" presetID="3" presetClass="emph" presetSubtype="2" fill="hold" nodeType="clickEffect">
                                  <p:stCondLst>
                                    <p:cond delay="0"/>
                                  </p:stCondLst>
                                  <p:childTnLst>
                                    <p:animClr clrSpc="rgb" dir="cw">
                                      <p:cBhvr override="childStyle">
                                        <p:cTn id="14" dur="100" fill="hold"/>
                                        <p:tgtEl>
                                          <p:spTgt spid="3">
                                            <p:txEl>
                                              <p:pRg st="2" end="2"/>
                                            </p:txEl>
                                          </p:spTgt>
                                        </p:tgtEl>
                                        <p:attrNameLst>
                                          <p:attrName>style.color</p:attrName>
                                        </p:attrNameLst>
                                      </p:cBhvr>
                                      <p:to>
                                        <a:schemeClr val="tx1"/>
                                      </p:to>
                                    </p:animClr>
                                  </p:childTnLst>
                                </p:cTn>
                              </p:par>
                            </p:childTnLst>
                          </p:cTn>
                        </p:par>
                      </p:childTnLst>
                    </p:cTn>
                  </p:par>
                  <p:par>
                    <p:cTn id="15" fill="hold">
                      <p:stCondLst>
                        <p:cond delay="indefinite"/>
                      </p:stCondLst>
                      <p:childTnLst>
                        <p:par>
                          <p:cTn id="16" fill="hold">
                            <p:stCondLst>
                              <p:cond delay="0"/>
                            </p:stCondLst>
                            <p:childTnLst>
                              <p:par>
                                <p:cTn id="17" presetID="3" presetClass="emph" presetSubtype="2" fill="hold" nodeType="clickEffect">
                                  <p:stCondLst>
                                    <p:cond delay="0"/>
                                  </p:stCondLst>
                                  <p:childTnLst>
                                    <p:animClr clrSpc="rgb" dir="cw">
                                      <p:cBhvr override="childStyle">
                                        <p:cTn id="18" dur="100" fill="hold"/>
                                        <p:tgtEl>
                                          <p:spTgt spid="3">
                                            <p:txEl>
                                              <p:pRg st="3" end="3"/>
                                            </p:txEl>
                                          </p:spTgt>
                                        </p:tgtEl>
                                        <p:attrNameLst>
                                          <p:attrName>style.color</p:attrName>
                                        </p:attrNameLst>
                                      </p:cBhvr>
                                      <p:to>
                                        <a:schemeClr val="tx1"/>
                                      </p:to>
                                    </p:animClr>
                                  </p:childTnLst>
                                </p:cTn>
                              </p:par>
                            </p:childTnLst>
                          </p:cTn>
                        </p:par>
                      </p:childTnLst>
                    </p:cTn>
                  </p:par>
                  <p:par>
                    <p:cTn id="19" fill="hold">
                      <p:stCondLst>
                        <p:cond delay="indefinite"/>
                      </p:stCondLst>
                      <p:childTnLst>
                        <p:par>
                          <p:cTn id="20" fill="hold">
                            <p:stCondLst>
                              <p:cond delay="0"/>
                            </p:stCondLst>
                            <p:childTnLst>
                              <p:par>
                                <p:cTn id="21" presetID="3" presetClass="emph" presetSubtype="2" fill="hold" nodeType="clickEffect">
                                  <p:stCondLst>
                                    <p:cond delay="0"/>
                                  </p:stCondLst>
                                  <p:childTnLst>
                                    <p:animClr clrSpc="rgb" dir="cw">
                                      <p:cBhvr override="childStyle">
                                        <p:cTn id="22" dur="100" fill="hold"/>
                                        <p:tgtEl>
                                          <p:spTgt spid="3">
                                            <p:txEl>
                                              <p:pRg st="4" end="4"/>
                                            </p:txEl>
                                          </p:spTgt>
                                        </p:tgtEl>
                                        <p:attrNameLst>
                                          <p:attrName>style.color</p:attrName>
                                        </p:attrNameLst>
                                      </p:cBhvr>
                                      <p:to>
                                        <a:schemeClr val="tx1"/>
                                      </p:to>
                                    </p:animClr>
                                  </p:childTnLst>
                                </p:cTn>
                              </p:par>
                            </p:childTnLst>
                          </p:cTn>
                        </p:par>
                      </p:childTnLst>
                    </p:cTn>
                  </p:par>
                  <p:par>
                    <p:cTn id="23" fill="hold">
                      <p:stCondLst>
                        <p:cond delay="indefinite"/>
                      </p:stCondLst>
                      <p:childTnLst>
                        <p:par>
                          <p:cTn id="24" fill="hold">
                            <p:stCondLst>
                              <p:cond delay="0"/>
                            </p:stCondLst>
                            <p:childTnLst>
                              <p:par>
                                <p:cTn id="25" presetID="3" presetClass="emph" presetSubtype="2" fill="hold" nodeType="clickEffect">
                                  <p:stCondLst>
                                    <p:cond delay="0"/>
                                  </p:stCondLst>
                                  <p:childTnLst>
                                    <p:animClr clrSpc="rgb" dir="cw">
                                      <p:cBhvr override="childStyle">
                                        <p:cTn id="26" dur="100" fill="hold"/>
                                        <p:tgtEl>
                                          <p:spTgt spid="3">
                                            <p:txEl>
                                              <p:pRg st="5" end="5"/>
                                            </p:txEl>
                                          </p:spTgt>
                                        </p:tgtEl>
                                        <p:attrNameLst>
                                          <p:attrName>style.color</p:attrName>
                                        </p:attrNameLst>
                                      </p:cBhvr>
                                      <p:to>
                                        <a:schemeClr val="tx1"/>
                                      </p:to>
                                    </p:animClr>
                                  </p:childTnLst>
                                </p:cTn>
                              </p:par>
                            </p:childTnLst>
                          </p:cTn>
                        </p:par>
                      </p:childTnLst>
                    </p:cTn>
                  </p:par>
                  <p:par>
                    <p:cTn id="27" fill="hold">
                      <p:stCondLst>
                        <p:cond delay="indefinite"/>
                      </p:stCondLst>
                      <p:childTnLst>
                        <p:par>
                          <p:cTn id="28" fill="hold">
                            <p:stCondLst>
                              <p:cond delay="0"/>
                            </p:stCondLst>
                            <p:childTnLst>
                              <p:par>
                                <p:cTn id="29" presetID="3" presetClass="emph" presetSubtype="2" fill="hold" nodeType="clickEffect">
                                  <p:stCondLst>
                                    <p:cond delay="0"/>
                                  </p:stCondLst>
                                  <p:childTnLst>
                                    <p:animClr clrSpc="rgb" dir="cw">
                                      <p:cBhvr override="childStyle">
                                        <p:cTn id="30" dur="100" fill="hold"/>
                                        <p:tgtEl>
                                          <p:spTgt spid="3">
                                            <p:txEl>
                                              <p:pRg st="6" end="6"/>
                                            </p:txEl>
                                          </p:spTgt>
                                        </p:tgtEl>
                                        <p:attrNameLst>
                                          <p:attrName>style.color</p:attrName>
                                        </p:attrNameLst>
                                      </p:cBhvr>
                                      <p:to>
                                        <a:schemeClr val="tx1"/>
                                      </p:to>
                                    </p:animClr>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Display Devices</a:t>
            </a:r>
          </a:p>
        </p:txBody>
      </p:sp>
      <p:sp>
        <p:nvSpPr>
          <p:cNvPr id="3" name="Content Placeholder 2"/>
          <p:cNvSpPr>
            <a:spLocks noGrp="1"/>
          </p:cNvSpPr>
          <p:nvPr>
            <p:ph idx="1"/>
          </p:nvPr>
        </p:nvSpPr>
        <p:spPr/>
        <p:txBody>
          <a:bodyPr>
            <a:normAutofit lnSpcReduction="10000"/>
          </a:bodyPr>
          <a:lstStyle/>
          <a:p>
            <a:endParaRPr lang="en-US" dirty="0"/>
          </a:p>
          <a:p>
            <a:endParaRPr lang="en-US" dirty="0"/>
          </a:p>
          <a:p>
            <a:endParaRPr lang="en-US" dirty="0"/>
          </a:p>
          <a:p>
            <a:endParaRPr lang="en-US" dirty="0"/>
          </a:p>
          <a:p>
            <a:endParaRPr lang="en-US" dirty="0"/>
          </a:p>
          <a:p>
            <a:endParaRPr lang="en-US" dirty="0"/>
          </a:p>
          <a:p>
            <a:endParaRPr lang="en-US" dirty="0"/>
          </a:p>
          <a:p>
            <a:r>
              <a:rPr lang="en-US" dirty="0"/>
              <a:t>Generated images are sent to a display device via the video card</a:t>
            </a:r>
          </a:p>
          <a:p>
            <a:r>
              <a:rPr lang="en-US" dirty="0"/>
              <a:t>Therefore, understanding the basic properties of display devices is important</a:t>
            </a:r>
          </a:p>
          <a:p>
            <a:endParaRPr lang="en-US" dirty="0"/>
          </a:p>
          <a:p>
            <a:pPr marL="457200" lvl="1" indent="0">
              <a:buNone/>
            </a:pPr>
            <a:endParaRPr lang="en-US" dirty="0"/>
          </a:p>
        </p:txBody>
      </p:sp>
      <p:sp>
        <p:nvSpPr>
          <p:cNvPr id="4" name="Footer Placeholder 3"/>
          <p:cNvSpPr>
            <a:spLocks noGrp="1"/>
          </p:cNvSpPr>
          <p:nvPr>
            <p:ph type="ftr" sz="quarter" idx="11"/>
          </p:nvPr>
        </p:nvSpPr>
        <p:spPr/>
        <p:txBody>
          <a:bodyPr/>
          <a:lstStyle/>
          <a:p>
            <a:r>
              <a:rPr lang="en-US"/>
              <a:t>CENG 477 – Computer Graphics</a:t>
            </a:r>
          </a:p>
        </p:txBody>
      </p:sp>
      <p:sp>
        <p:nvSpPr>
          <p:cNvPr id="5" name="Slide Number Placeholder 4"/>
          <p:cNvSpPr>
            <a:spLocks noGrp="1"/>
          </p:cNvSpPr>
          <p:nvPr>
            <p:ph type="sldNum" sz="quarter" idx="12"/>
          </p:nvPr>
        </p:nvSpPr>
        <p:spPr/>
        <p:txBody>
          <a:bodyPr/>
          <a:lstStyle/>
          <a:p>
            <a:fld id="{30D85F22-8D96-4CC0-8AEC-D5DD45058382}" type="slidenum">
              <a:rPr lang="en-US" smtClean="0"/>
              <a:t>36</a:t>
            </a:fld>
            <a:endParaRPr lang="en-US"/>
          </a:p>
        </p:txBody>
      </p:sp>
      <p:pic>
        <p:nvPicPr>
          <p:cNvPr id="6" name="Picture 5"/>
          <p:cNvPicPr>
            <a:picLocks noChangeAspect="1"/>
          </p:cNvPicPr>
          <p:nvPr/>
        </p:nvPicPr>
        <p:blipFill>
          <a:blip r:embed="rId2"/>
          <a:stretch>
            <a:fillRect/>
          </a:stretch>
        </p:blipFill>
        <p:spPr>
          <a:xfrm>
            <a:off x="381000" y="1752600"/>
            <a:ext cx="8382000" cy="2562225"/>
          </a:xfrm>
          <a:prstGeom prst="rect">
            <a:avLst/>
          </a:prstGeom>
        </p:spPr>
      </p:pic>
    </p:spTree>
    <p:extLst>
      <p:ext uri="{BB962C8B-B14F-4D97-AF65-F5344CB8AC3E}">
        <p14:creationId xmlns:p14="http://schemas.microsoft.com/office/powerpoint/2010/main" val="36006005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Display Devices</a:t>
            </a:r>
          </a:p>
        </p:txBody>
      </p:sp>
      <p:sp>
        <p:nvSpPr>
          <p:cNvPr id="3" name="Content Placeholder 2"/>
          <p:cNvSpPr>
            <a:spLocks noGrp="1"/>
          </p:cNvSpPr>
          <p:nvPr>
            <p:ph idx="1"/>
          </p:nvPr>
        </p:nvSpPr>
        <p:spPr/>
        <p: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There are numerous types of display devices</a:t>
            </a:r>
          </a:p>
          <a:p>
            <a:r>
              <a:rPr lang="en-US" dirty="0"/>
              <a:t>But they all share some basic properties</a:t>
            </a:r>
          </a:p>
        </p:txBody>
      </p:sp>
      <p:sp>
        <p:nvSpPr>
          <p:cNvPr id="4" name="Footer Placeholder 3"/>
          <p:cNvSpPr>
            <a:spLocks noGrp="1"/>
          </p:cNvSpPr>
          <p:nvPr>
            <p:ph type="ftr" sz="quarter" idx="11"/>
          </p:nvPr>
        </p:nvSpPr>
        <p:spPr/>
        <p:txBody>
          <a:bodyPr/>
          <a:lstStyle/>
          <a:p>
            <a:r>
              <a:rPr lang="en-US"/>
              <a:t>CENG 477 – Computer Graphics</a:t>
            </a:r>
          </a:p>
        </p:txBody>
      </p:sp>
      <p:sp>
        <p:nvSpPr>
          <p:cNvPr id="5" name="Slide Number Placeholder 4"/>
          <p:cNvSpPr>
            <a:spLocks noGrp="1"/>
          </p:cNvSpPr>
          <p:nvPr>
            <p:ph type="sldNum" sz="quarter" idx="12"/>
          </p:nvPr>
        </p:nvSpPr>
        <p:spPr/>
        <p:txBody>
          <a:bodyPr/>
          <a:lstStyle/>
          <a:p>
            <a:fld id="{30D85F22-8D96-4CC0-8AEC-D5DD45058382}" type="slidenum">
              <a:rPr lang="en-US" smtClean="0"/>
              <a:t>37</a:t>
            </a:fld>
            <a:endParaRPr lang="en-US"/>
          </a:p>
        </p:txBody>
      </p:sp>
      <p:pic>
        <p:nvPicPr>
          <p:cNvPr id="6" name="Picture 5"/>
          <p:cNvPicPr>
            <a:picLocks noChangeAspect="1"/>
          </p:cNvPicPr>
          <p:nvPr/>
        </p:nvPicPr>
        <p:blipFill>
          <a:blip r:embed="rId2"/>
          <a:stretch>
            <a:fillRect/>
          </a:stretch>
        </p:blipFill>
        <p:spPr>
          <a:xfrm>
            <a:off x="2971800" y="1752600"/>
            <a:ext cx="3200400" cy="3031322"/>
          </a:xfrm>
          <a:prstGeom prst="rect">
            <a:avLst/>
          </a:prstGeom>
        </p:spPr>
      </p:pic>
      <p:sp>
        <p:nvSpPr>
          <p:cNvPr id="8" name="TextBox 7"/>
          <p:cNvSpPr txBox="1"/>
          <p:nvPr/>
        </p:nvSpPr>
        <p:spPr>
          <a:xfrm>
            <a:off x="6705600" y="2208074"/>
            <a:ext cx="1981200" cy="2031325"/>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rgbClr val="C00000"/>
                </a:solidFill>
              </a:rPr>
              <a:t>CRT</a:t>
            </a:r>
          </a:p>
          <a:p>
            <a:pPr marL="285750" indent="-285750">
              <a:buFont typeface="Arial" panose="020B0604020202020204" pitchFamily="34" charset="0"/>
              <a:buChar char="•"/>
            </a:pPr>
            <a:r>
              <a:rPr lang="en-US" dirty="0">
                <a:solidFill>
                  <a:srgbClr val="C00000"/>
                </a:solidFill>
              </a:rPr>
              <a:t>Plasma</a:t>
            </a:r>
          </a:p>
          <a:p>
            <a:pPr marL="285750" indent="-285750">
              <a:buFont typeface="Arial" panose="020B0604020202020204" pitchFamily="34" charset="0"/>
              <a:buChar char="•"/>
            </a:pPr>
            <a:r>
              <a:rPr lang="en-US" dirty="0">
                <a:solidFill>
                  <a:srgbClr val="C00000"/>
                </a:solidFill>
              </a:rPr>
              <a:t>LCD</a:t>
            </a:r>
          </a:p>
          <a:p>
            <a:pPr marL="285750" indent="-285750">
              <a:buFont typeface="Arial" panose="020B0604020202020204" pitchFamily="34" charset="0"/>
              <a:buChar char="•"/>
            </a:pPr>
            <a:r>
              <a:rPr lang="en-US" dirty="0">
                <a:solidFill>
                  <a:srgbClr val="C00000"/>
                </a:solidFill>
              </a:rPr>
              <a:t>LED</a:t>
            </a:r>
          </a:p>
          <a:p>
            <a:pPr marL="285750" indent="-285750">
              <a:buFont typeface="Arial" panose="020B0604020202020204" pitchFamily="34" charset="0"/>
              <a:buChar char="•"/>
            </a:pPr>
            <a:r>
              <a:rPr lang="en-US" dirty="0">
                <a:solidFill>
                  <a:srgbClr val="C00000"/>
                </a:solidFill>
              </a:rPr>
              <a:t>OLED</a:t>
            </a:r>
          </a:p>
          <a:p>
            <a:pPr marL="285750" indent="-285750">
              <a:buFont typeface="Arial" panose="020B0604020202020204" pitchFamily="34" charset="0"/>
              <a:buChar char="•"/>
            </a:pPr>
            <a:r>
              <a:rPr lang="en-US" dirty="0">
                <a:solidFill>
                  <a:srgbClr val="C00000"/>
                </a:solidFill>
              </a:rPr>
              <a:t>E-ink</a:t>
            </a:r>
          </a:p>
          <a:p>
            <a:pPr marL="285750" indent="-285750">
              <a:buFont typeface="Arial" panose="020B0604020202020204" pitchFamily="34" charset="0"/>
              <a:buChar char="•"/>
            </a:pPr>
            <a:r>
              <a:rPr lang="en-US" dirty="0">
                <a:solidFill>
                  <a:srgbClr val="C00000"/>
                </a:solidFill>
              </a:rPr>
              <a:t>…</a:t>
            </a:r>
          </a:p>
        </p:txBody>
      </p:sp>
    </p:spTree>
    <p:extLst>
      <p:ext uri="{BB962C8B-B14F-4D97-AF65-F5344CB8AC3E}">
        <p14:creationId xmlns:p14="http://schemas.microsoft.com/office/powerpoint/2010/main" val="156391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Display Devices</a:t>
            </a:r>
          </a:p>
        </p:txBody>
      </p:sp>
      <p:sp>
        <p:nvSpPr>
          <p:cNvPr id="3" name="Content Placeholder 2"/>
          <p:cNvSpPr>
            <a:spLocks noGrp="1"/>
          </p:cNvSpPr>
          <p:nvPr>
            <p:ph idx="1"/>
          </p:nvPr>
        </p:nvSpPr>
        <p:spPr/>
        <p:txBody>
          <a:bodyPr/>
          <a:lstStyle/>
          <a:p>
            <a:r>
              <a:rPr lang="en-US" dirty="0"/>
              <a:t>The </a:t>
            </a:r>
            <a:r>
              <a:rPr lang="en-US" dirty="0">
                <a:solidFill>
                  <a:srgbClr val="C00000"/>
                </a:solidFill>
              </a:rPr>
              <a:t>digital</a:t>
            </a:r>
            <a:r>
              <a:rPr lang="en-US" dirty="0"/>
              <a:t> RGB signals sent from the video card are translated into </a:t>
            </a:r>
            <a:r>
              <a:rPr lang="en-US" dirty="0">
                <a:solidFill>
                  <a:srgbClr val="C00000"/>
                </a:solidFill>
              </a:rPr>
              <a:t>analog</a:t>
            </a:r>
            <a:r>
              <a:rPr lang="en-US" dirty="0"/>
              <a:t> voltages in the display device</a:t>
            </a:r>
          </a:p>
          <a:p>
            <a:pPr lvl="1"/>
            <a:r>
              <a:rPr lang="en-US" dirty="0"/>
              <a:t>A regular display device expects 8-bit per color channel input</a:t>
            </a:r>
          </a:p>
          <a:p>
            <a:r>
              <a:rPr lang="en-US" dirty="0"/>
              <a:t>These voltages determine the luminance emitted from each pixel</a:t>
            </a:r>
          </a:p>
          <a:p>
            <a:r>
              <a:rPr lang="en-US" dirty="0"/>
              <a:t>However, voltage to luminance relationship is </a:t>
            </a:r>
            <a:r>
              <a:rPr lang="en-US" dirty="0">
                <a:solidFill>
                  <a:srgbClr val="C00000"/>
                </a:solidFill>
              </a:rPr>
              <a:t>nonlinear</a:t>
            </a:r>
          </a:p>
          <a:p>
            <a:endParaRPr lang="en-US" dirty="0"/>
          </a:p>
        </p:txBody>
      </p:sp>
      <p:sp>
        <p:nvSpPr>
          <p:cNvPr id="4" name="Footer Placeholder 3"/>
          <p:cNvSpPr>
            <a:spLocks noGrp="1"/>
          </p:cNvSpPr>
          <p:nvPr>
            <p:ph type="ftr" sz="quarter" idx="11"/>
          </p:nvPr>
        </p:nvSpPr>
        <p:spPr/>
        <p:txBody>
          <a:bodyPr/>
          <a:lstStyle/>
          <a:p>
            <a:r>
              <a:rPr lang="en-US"/>
              <a:t>CENG 477 – Computer Graphics</a:t>
            </a:r>
          </a:p>
        </p:txBody>
      </p:sp>
      <p:sp>
        <p:nvSpPr>
          <p:cNvPr id="5" name="Slide Number Placeholder 4"/>
          <p:cNvSpPr>
            <a:spLocks noGrp="1"/>
          </p:cNvSpPr>
          <p:nvPr>
            <p:ph type="sldNum" sz="quarter" idx="12"/>
          </p:nvPr>
        </p:nvSpPr>
        <p:spPr/>
        <p:txBody>
          <a:bodyPr/>
          <a:lstStyle/>
          <a:p>
            <a:fld id="{30D85F22-8D96-4CC0-8AEC-D5DD45058382}" type="slidenum">
              <a:rPr lang="en-US" smtClean="0"/>
              <a:t>38</a:t>
            </a:fld>
            <a:endParaRPr lang="en-US"/>
          </a:p>
        </p:txBody>
      </p:sp>
      <p:pic>
        <p:nvPicPr>
          <p:cNvPr id="2052" name="Picture 4" descr="Image result for gamma correctio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57600" y="3902075"/>
            <a:ext cx="1980031" cy="224139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3352800" y="6018615"/>
            <a:ext cx="2667000" cy="2579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124200" y="4206875"/>
            <a:ext cx="660779" cy="19365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3657600" y="3908503"/>
            <a:ext cx="2057400" cy="2221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3948040" y="5968811"/>
            <a:ext cx="1577676" cy="307777"/>
          </a:xfrm>
          <a:prstGeom prst="rect">
            <a:avLst/>
          </a:prstGeom>
          <a:noFill/>
        </p:spPr>
        <p:txBody>
          <a:bodyPr wrap="none" rtlCol="0">
            <a:spAutoFit/>
          </a:bodyPr>
          <a:lstStyle/>
          <a:p>
            <a:r>
              <a:rPr lang="en-US" sz="1400" dirty="0"/>
              <a:t>Image pixel value</a:t>
            </a:r>
          </a:p>
        </p:txBody>
      </p:sp>
      <p:sp>
        <p:nvSpPr>
          <p:cNvPr id="11" name="TextBox 10"/>
          <p:cNvSpPr txBox="1"/>
          <p:nvPr/>
        </p:nvSpPr>
        <p:spPr>
          <a:xfrm rot="16200000">
            <a:off x="2823929" y="4937963"/>
            <a:ext cx="1587294" cy="307777"/>
          </a:xfrm>
          <a:prstGeom prst="rect">
            <a:avLst/>
          </a:prstGeom>
          <a:noFill/>
        </p:spPr>
        <p:txBody>
          <a:bodyPr wrap="none" rtlCol="0">
            <a:spAutoFit/>
          </a:bodyPr>
          <a:lstStyle/>
          <a:p>
            <a:r>
              <a:rPr lang="en-US" sz="1400" dirty="0"/>
              <a:t>Output luminance</a:t>
            </a:r>
          </a:p>
        </p:txBody>
      </p:sp>
    </p:spTree>
    <p:extLst>
      <p:ext uri="{BB962C8B-B14F-4D97-AF65-F5344CB8AC3E}">
        <p14:creationId xmlns:p14="http://schemas.microsoft.com/office/powerpoint/2010/main" val="15592489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Gamma</a:t>
            </a:r>
          </a:p>
        </p:txBody>
      </p:sp>
      <p:sp>
        <p:nvSpPr>
          <p:cNvPr id="3" name="Content Placeholder 2"/>
          <p:cNvSpPr>
            <a:spLocks noGrp="1"/>
          </p:cNvSpPr>
          <p:nvPr>
            <p:ph idx="1"/>
          </p:nvPr>
        </p:nvSpPr>
        <p:spPr/>
        <p:txBody>
          <a:bodyPr/>
          <a:lstStyle/>
          <a:p>
            <a:r>
              <a:rPr lang="en-US" dirty="0"/>
              <a:t>This nonlinearity is called the display </a:t>
            </a:r>
            <a:r>
              <a:rPr lang="en-US" dirty="0">
                <a:solidFill>
                  <a:srgbClr val="C00000"/>
                </a:solidFill>
              </a:rPr>
              <a:t>gamma</a:t>
            </a:r>
          </a:p>
          <a:p>
            <a:pPr lvl="1"/>
            <a:r>
              <a:rPr lang="en-US" dirty="0"/>
              <a:t>E.g. twice the pixel value (twice the voltage) does not result in twice the luminance</a:t>
            </a:r>
          </a:p>
          <a:p>
            <a:r>
              <a:rPr lang="en-US" dirty="0"/>
              <a:t>Also, zero RGB value does not mean zero luminance due to leaking light and reflections off the screen</a:t>
            </a:r>
          </a:p>
          <a:p>
            <a:r>
              <a:rPr lang="en-US" dirty="0"/>
              <a:t>A simplified display model is:</a:t>
            </a:r>
          </a:p>
        </p:txBody>
      </p:sp>
      <p:sp>
        <p:nvSpPr>
          <p:cNvPr id="4" name="Footer Placeholder 3"/>
          <p:cNvSpPr>
            <a:spLocks noGrp="1"/>
          </p:cNvSpPr>
          <p:nvPr>
            <p:ph type="ftr" sz="quarter" idx="11"/>
          </p:nvPr>
        </p:nvSpPr>
        <p:spPr/>
        <p:txBody>
          <a:bodyPr/>
          <a:lstStyle/>
          <a:p>
            <a:r>
              <a:rPr lang="en-US"/>
              <a:t>CENG 477 – Computer Graphics</a:t>
            </a:r>
          </a:p>
        </p:txBody>
      </p:sp>
      <p:sp>
        <p:nvSpPr>
          <p:cNvPr id="5" name="Slide Number Placeholder 4"/>
          <p:cNvSpPr>
            <a:spLocks noGrp="1"/>
          </p:cNvSpPr>
          <p:nvPr>
            <p:ph type="sldNum" sz="quarter" idx="12"/>
          </p:nvPr>
        </p:nvSpPr>
        <p:spPr/>
        <p:txBody>
          <a:bodyPr/>
          <a:lstStyle/>
          <a:p>
            <a:fld id="{30D85F22-8D96-4CC0-8AEC-D5DD45058382}" type="slidenum">
              <a:rPr lang="en-US" smtClean="0"/>
              <a:t>39</a:t>
            </a:fld>
            <a:endParaRPr lang="en-US"/>
          </a:p>
        </p:txBody>
      </p:sp>
      <mc:AlternateContent xmlns:mc="http://schemas.openxmlformats.org/markup-compatibility/2006" xmlns:a14="http://schemas.microsoft.com/office/drawing/2010/main">
        <mc:Choice Requires="a14">
          <p:sp>
            <p:nvSpPr>
              <p:cNvPr id="6" name="TextBox 5"/>
              <p:cNvSpPr txBox="1"/>
              <p:nvPr/>
            </p:nvSpPr>
            <p:spPr>
              <a:xfrm>
                <a:off x="3457678" y="4267200"/>
                <a:ext cx="195252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𝐿</m:t>
                      </m:r>
                      <m:r>
                        <a:rPr lang="en-US" sz="2400" b="0" i="1" baseline="-25000" smtClean="0">
                          <a:latin typeface="Cambria Math" panose="02040503050406030204" pitchFamily="18" charset="0"/>
                        </a:rPr>
                        <m:t>𝑜𝑢𝑡</m:t>
                      </m:r>
                      <m:r>
                        <a:rPr lang="en-US" sz="2400" b="0" i="1" smtClean="0">
                          <a:latin typeface="Cambria Math" panose="02040503050406030204" pitchFamily="18" charset="0"/>
                        </a:rPr>
                        <m:t>=</m:t>
                      </m:r>
                      <m:r>
                        <a:rPr lang="en-US" sz="2400" b="0" i="1" smtClean="0">
                          <a:latin typeface="Cambria Math" panose="02040503050406030204" pitchFamily="18" charset="0"/>
                        </a:rPr>
                        <m:t>𝑐𝑉</m:t>
                      </m:r>
                      <m:r>
                        <a:rPr lang="en-US" sz="2400" b="0" i="1" baseline="30000" smtClean="0">
                          <a:latin typeface="Cambria Math" panose="02040503050406030204" pitchFamily="18" charset="0"/>
                          <a:ea typeface="Cambria Math" panose="02040503050406030204" pitchFamily="18" charset="0"/>
                        </a:rPr>
                        <m:t>𝛾</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𝑏</m:t>
                      </m:r>
                    </m:oMath>
                  </m:oMathPara>
                </a14:m>
                <a:endParaRPr lang="en-US" sz="2400" dirty="0"/>
              </a:p>
            </p:txBody>
          </p:sp>
        </mc:Choice>
        <mc:Fallback xmlns="">
          <p:sp>
            <p:nvSpPr>
              <p:cNvPr id="6" name="TextBox 5"/>
              <p:cNvSpPr txBox="1">
                <a:spLocks noRot="1" noChangeAspect="1" noMove="1" noResize="1" noEditPoints="1" noAdjustHandles="1" noChangeArrowheads="1" noChangeShapeType="1" noTextEdit="1"/>
              </p:cNvSpPr>
              <p:nvPr/>
            </p:nvSpPr>
            <p:spPr>
              <a:xfrm>
                <a:off x="3457678" y="4267200"/>
                <a:ext cx="1952522" cy="369332"/>
              </a:xfrm>
              <a:prstGeom prst="rect">
                <a:avLst/>
              </a:prstGeom>
              <a:blipFill>
                <a:blip r:embed="rId3"/>
                <a:stretch>
                  <a:fillRect l="-2804" r="-2492" b="-16393"/>
                </a:stretch>
              </a:blipFill>
            </p:spPr>
            <p:txBody>
              <a:bodyPr/>
              <a:lstStyle/>
              <a:p>
                <a:r>
                  <a:rPr lang="en-US">
                    <a:noFill/>
                  </a:rPr>
                  <a:t> </a:t>
                </a:r>
              </a:p>
            </p:txBody>
          </p:sp>
        </mc:Fallback>
      </mc:AlternateContent>
      <p:grpSp>
        <p:nvGrpSpPr>
          <p:cNvPr id="22" name="Group 21"/>
          <p:cNvGrpSpPr/>
          <p:nvPr/>
        </p:nvGrpSpPr>
        <p:grpSpPr>
          <a:xfrm>
            <a:off x="1711556" y="4636532"/>
            <a:ext cx="1746122" cy="1324304"/>
            <a:chOff x="1711556" y="4636532"/>
            <a:chExt cx="1746122" cy="1324304"/>
          </a:xfrm>
        </p:grpSpPr>
        <p:sp>
          <p:nvSpPr>
            <p:cNvPr id="7" name="TextBox 6"/>
            <p:cNvSpPr txBox="1"/>
            <p:nvPr/>
          </p:nvSpPr>
          <p:spPr>
            <a:xfrm>
              <a:off x="1711556" y="5314505"/>
              <a:ext cx="1236236" cy="646331"/>
            </a:xfrm>
            <a:prstGeom prst="rect">
              <a:avLst/>
            </a:prstGeom>
            <a:noFill/>
          </p:spPr>
          <p:txBody>
            <a:bodyPr wrap="none" rtlCol="0">
              <a:spAutoFit/>
            </a:bodyPr>
            <a:lstStyle/>
            <a:p>
              <a:pPr algn="ctr"/>
              <a:r>
                <a:rPr lang="en-US" dirty="0"/>
                <a:t>Output</a:t>
              </a:r>
            </a:p>
            <a:p>
              <a:pPr algn="ctr"/>
              <a:r>
                <a:rPr lang="en-US" dirty="0"/>
                <a:t>luminance</a:t>
              </a:r>
            </a:p>
          </p:txBody>
        </p:sp>
        <p:cxnSp>
          <p:nvCxnSpPr>
            <p:cNvPr id="13" name="Straight Arrow Connector 12"/>
            <p:cNvCxnSpPr/>
            <p:nvPr/>
          </p:nvCxnSpPr>
          <p:spPr>
            <a:xfrm flipH="1">
              <a:off x="2514600" y="4636532"/>
              <a:ext cx="943078" cy="6779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23" name="Group 22"/>
          <p:cNvGrpSpPr/>
          <p:nvPr/>
        </p:nvGrpSpPr>
        <p:grpSpPr>
          <a:xfrm>
            <a:off x="3154740" y="4636532"/>
            <a:ext cx="1279199" cy="1185804"/>
            <a:chOff x="3154740" y="4636532"/>
            <a:chExt cx="1279199" cy="1185804"/>
          </a:xfrm>
        </p:grpSpPr>
        <p:sp>
          <p:nvSpPr>
            <p:cNvPr id="8" name="TextBox 7"/>
            <p:cNvSpPr txBox="1"/>
            <p:nvPr/>
          </p:nvSpPr>
          <p:spPr>
            <a:xfrm>
              <a:off x="3154740" y="5453004"/>
              <a:ext cx="1056701" cy="369332"/>
            </a:xfrm>
            <a:prstGeom prst="rect">
              <a:avLst/>
            </a:prstGeom>
            <a:noFill/>
          </p:spPr>
          <p:txBody>
            <a:bodyPr wrap="none" rtlCol="0">
              <a:spAutoFit/>
            </a:bodyPr>
            <a:lstStyle/>
            <a:p>
              <a:pPr algn="ctr"/>
              <a:r>
                <a:rPr lang="en-US" dirty="0"/>
                <a:t>Contrast</a:t>
              </a:r>
            </a:p>
          </p:txBody>
        </p:sp>
        <p:cxnSp>
          <p:nvCxnSpPr>
            <p:cNvPr id="15" name="Straight Arrow Connector 14"/>
            <p:cNvCxnSpPr>
              <a:stCxn id="6" idx="2"/>
              <a:endCxn id="8" idx="0"/>
            </p:cNvCxnSpPr>
            <p:nvPr/>
          </p:nvCxnSpPr>
          <p:spPr>
            <a:xfrm flipH="1">
              <a:off x="3683091" y="4636532"/>
              <a:ext cx="750848" cy="8164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p:nvGrpSpPr>
        <p:grpSpPr>
          <a:xfrm>
            <a:off x="4301382" y="4636532"/>
            <a:ext cx="1495409" cy="1739802"/>
            <a:chOff x="4301382" y="4636532"/>
            <a:chExt cx="1495409" cy="1739802"/>
          </a:xfrm>
        </p:grpSpPr>
        <p:sp>
          <p:nvSpPr>
            <p:cNvPr id="11" name="TextBox 10"/>
            <p:cNvSpPr txBox="1"/>
            <p:nvPr/>
          </p:nvSpPr>
          <p:spPr>
            <a:xfrm>
              <a:off x="4301382" y="5453004"/>
              <a:ext cx="1495409" cy="923330"/>
            </a:xfrm>
            <a:prstGeom prst="rect">
              <a:avLst/>
            </a:prstGeom>
            <a:noFill/>
          </p:spPr>
          <p:txBody>
            <a:bodyPr wrap="none" rtlCol="0">
              <a:spAutoFit/>
            </a:bodyPr>
            <a:lstStyle/>
            <a:p>
              <a:pPr algn="ctr"/>
              <a:r>
                <a:rPr lang="en-US" dirty="0"/>
                <a:t>Voltage</a:t>
              </a:r>
            </a:p>
            <a:p>
              <a:pPr algn="ctr"/>
              <a:r>
                <a:rPr lang="en-US" dirty="0"/>
                <a:t>(proportional</a:t>
              </a:r>
            </a:p>
            <a:p>
              <a:pPr algn="ctr"/>
              <a:r>
                <a:rPr lang="en-US" dirty="0"/>
                <a:t>to pixel value)</a:t>
              </a:r>
            </a:p>
          </p:txBody>
        </p:sp>
        <p:cxnSp>
          <p:nvCxnSpPr>
            <p:cNvPr id="17" name="Straight Arrow Connector 16"/>
            <p:cNvCxnSpPr/>
            <p:nvPr/>
          </p:nvCxnSpPr>
          <p:spPr>
            <a:xfrm>
              <a:off x="4589795" y="4636532"/>
              <a:ext cx="415397" cy="8164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4794498" y="4451866"/>
            <a:ext cx="2006615" cy="1370471"/>
            <a:chOff x="4794498" y="4451866"/>
            <a:chExt cx="2006615" cy="1370471"/>
          </a:xfrm>
        </p:grpSpPr>
        <p:sp>
          <p:nvSpPr>
            <p:cNvPr id="10" name="TextBox 9"/>
            <p:cNvSpPr txBox="1"/>
            <p:nvPr/>
          </p:nvSpPr>
          <p:spPr>
            <a:xfrm>
              <a:off x="5795709" y="5453005"/>
              <a:ext cx="1005404" cy="369332"/>
            </a:xfrm>
            <a:prstGeom prst="rect">
              <a:avLst/>
            </a:prstGeom>
            <a:noFill/>
          </p:spPr>
          <p:txBody>
            <a:bodyPr wrap="none" rtlCol="0">
              <a:spAutoFit/>
            </a:bodyPr>
            <a:lstStyle/>
            <a:p>
              <a:pPr algn="ctr"/>
              <a:r>
                <a:rPr lang="en-US" dirty="0"/>
                <a:t>Gamma</a:t>
              </a:r>
            </a:p>
          </p:txBody>
        </p:sp>
        <p:cxnSp>
          <p:nvCxnSpPr>
            <p:cNvPr id="19" name="Straight Arrow Connector 18"/>
            <p:cNvCxnSpPr>
              <a:endCxn id="10" idx="0"/>
            </p:cNvCxnSpPr>
            <p:nvPr/>
          </p:nvCxnSpPr>
          <p:spPr>
            <a:xfrm>
              <a:off x="4794498" y="4451866"/>
              <a:ext cx="1503913" cy="10011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26" name="Group 25"/>
          <p:cNvGrpSpPr/>
          <p:nvPr/>
        </p:nvGrpSpPr>
        <p:grpSpPr>
          <a:xfrm>
            <a:off x="5410200" y="4451866"/>
            <a:ext cx="2847154" cy="1370471"/>
            <a:chOff x="5410200" y="4451866"/>
            <a:chExt cx="2847154" cy="1370471"/>
          </a:xfrm>
        </p:grpSpPr>
        <p:sp>
          <p:nvSpPr>
            <p:cNvPr id="9" name="TextBox 8"/>
            <p:cNvSpPr txBox="1"/>
            <p:nvPr/>
          </p:nvSpPr>
          <p:spPr>
            <a:xfrm>
              <a:off x="6982646" y="5453005"/>
              <a:ext cx="1274708" cy="369332"/>
            </a:xfrm>
            <a:prstGeom prst="rect">
              <a:avLst/>
            </a:prstGeom>
            <a:noFill/>
          </p:spPr>
          <p:txBody>
            <a:bodyPr wrap="none" rtlCol="0">
              <a:spAutoFit/>
            </a:bodyPr>
            <a:lstStyle/>
            <a:p>
              <a:pPr algn="ctr"/>
              <a:r>
                <a:rPr lang="en-US" dirty="0"/>
                <a:t>Brightness</a:t>
              </a:r>
            </a:p>
          </p:txBody>
        </p:sp>
        <p:cxnSp>
          <p:nvCxnSpPr>
            <p:cNvPr id="21" name="Straight Arrow Connector 20"/>
            <p:cNvCxnSpPr>
              <a:stCxn id="6" idx="3"/>
              <a:endCxn id="9" idx="0"/>
            </p:cNvCxnSpPr>
            <p:nvPr/>
          </p:nvCxnSpPr>
          <p:spPr>
            <a:xfrm>
              <a:off x="5410200" y="4451866"/>
              <a:ext cx="2209800" cy="10011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0597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Gamma</a:t>
            </a:r>
          </a:p>
        </p:txBody>
      </p:sp>
      <p:sp>
        <p:nvSpPr>
          <p:cNvPr id="3" name="Content Placeholder 2"/>
          <p:cNvSpPr>
            <a:spLocks noGrp="1"/>
          </p:cNvSpPr>
          <p:nvPr>
            <p:ph idx="1"/>
          </p:nvPr>
        </p:nvSpPr>
        <p:spPr/>
        <p:txBody>
          <a:bodyPr/>
          <a:lstStyle/>
          <a:p>
            <a:r>
              <a:rPr lang="en-US" dirty="0"/>
              <a:t>Measured gamma of a NEC </a:t>
            </a:r>
            <a:r>
              <a:rPr lang="en-US" dirty="0" err="1"/>
              <a:t>Spectraview</a:t>
            </a:r>
            <a:r>
              <a:rPr lang="en-US" dirty="0"/>
              <a:t> 241 monitor calibrated to the </a:t>
            </a:r>
            <a:r>
              <a:rPr lang="en-US" dirty="0" err="1">
                <a:solidFill>
                  <a:schemeClr val="accent1"/>
                </a:solidFill>
              </a:rPr>
              <a:t>sRGB</a:t>
            </a:r>
            <a:r>
              <a:rPr lang="en-US" dirty="0">
                <a:solidFill>
                  <a:schemeClr val="accent1"/>
                </a:solidFill>
              </a:rPr>
              <a:t> </a:t>
            </a:r>
            <a:r>
              <a:rPr lang="en-US" dirty="0"/>
              <a:t>profile:</a:t>
            </a:r>
          </a:p>
        </p:txBody>
      </p:sp>
      <p:sp>
        <p:nvSpPr>
          <p:cNvPr id="4" name="Footer Placeholder 3"/>
          <p:cNvSpPr>
            <a:spLocks noGrp="1"/>
          </p:cNvSpPr>
          <p:nvPr>
            <p:ph type="ftr" sz="quarter" idx="11"/>
          </p:nvPr>
        </p:nvSpPr>
        <p:spPr/>
        <p:txBody>
          <a:bodyPr/>
          <a:lstStyle/>
          <a:p>
            <a:r>
              <a:rPr lang="en-US"/>
              <a:t>CENG 477 – Computer Graphics</a:t>
            </a:r>
          </a:p>
        </p:txBody>
      </p:sp>
      <p:sp>
        <p:nvSpPr>
          <p:cNvPr id="5" name="Slide Number Placeholder 4"/>
          <p:cNvSpPr>
            <a:spLocks noGrp="1"/>
          </p:cNvSpPr>
          <p:nvPr>
            <p:ph type="sldNum" sz="quarter" idx="12"/>
          </p:nvPr>
        </p:nvSpPr>
        <p:spPr/>
        <p:txBody>
          <a:bodyPr/>
          <a:lstStyle/>
          <a:p>
            <a:fld id="{30D85F22-8D96-4CC0-8AEC-D5DD45058382}" type="slidenum">
              <a:rPr lang="en-US" smtClean="0"/>
              <a:t>40</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19943" y="2362200"/>
            <a:ext cx="5342857" cy="3990476"/>
          </a:xfrm>
          <a:prstGeom prst="rect">
            <a:avLst/>
          </a:prstGeom>
        </p:spPr>
      </p:pic>
      <p:sp>
        <p:nvSpPr>
          <p:cNvPr id="7" name="TextBox 6"/>
          <p:cNvSpPr txBox="1"/>
          <p:nvPr/>
        </p:nvSpPr>
        <p:spPr>
          <a:xfrm>
            <a:off x="6858000" y="2362200"/>
            <a:ext cx="1981200" cy="1754326"/>
          </a:xfrm>
          <a:prstGeom prst="rect">
            <a:avLst/>
          </a:prstGeom>
          <a:noFill/>
        </p:spPr>
        <p:txBody>
          <a:bodyPr wrap="square" rtlCol="0">
            <a:spAutoFit/>
          </a:bodyPr>
          <a:lstStyle/>
          <a:p>
            <a:pPr marL="285750" indent="-285750">
              <a:buFont typeface="Arial" panose="020B0604020202020204" pitchFamily="34" charset="0"/>
              <a:buChar char="•"/>
            </a:pPr>
            <a:r>
              <a:rPr lang="en-US" dirty="0"/>
              <a:t>Measurements are taken at intervals of 10</a:t>
            </a:r>
          </a:p>
          <a:p>
            <a:pPr marL="285750" indent="-285750">
              <a:buFont typeface="Arial" panose="020B0604020202020204" pitchFamily="34" charset="0"/>
              <a:buChar char="•"/>
            </a:pPr>
            <a:r>
              <a:rPr lang="en-US" dirty="0"/>
              <a:t>Ideal is a gamma value of 2.2</a:t>
            </a:r>
          </a:p>
        </p:txBody>
      </p:sp>
    </p:spTree>
    <p:extLst>
      <p:ext uri="{BB962C8B-B14F-4D97-AF65-F5344CB8AC3E}">
        <p14:creationId xmlns:p14="http://schemas.microsoft.com/office/powerpoint/2010/main" val="11980769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Gamma Correction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Most display devices have a gamma value around 2.2</a:t>
                </a:r>
              </a:p>
              <a:p>
                <a:r>
                  <a:rPr lang="en-US" dirty="0">
                    <a:solidFill>
                      <a:srgbClr val="C00000"/>
                    </a:solidFill>
                  </a:rPr>
                  <a:t>Gamma correction </a:t>
                </a:r>
                <a:r>
                  <a:rPr lang="en-US" dirty="0"/>
                  <a:t>is performed to account for this non-linearity:</a:t>
                </a:r>
              </a:p>
              <a:p>
                <a:pPr lvl="1"/>
                <a:r>
                  <a:rPr lang="en-US" dirty="0"/>
                  <a:t>The input signal is raised to the power </a:t>
                </a:r>
                <a14:m>
                  <m:oMath xmlns:m="http://schemas.openxmlformats.org/officeDocument/2006/math">
                    <m:f>
                      <m:fPr>
                        <m:type m:val="lin"/>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i="1" smtClean="0">
                            <a:latin typeface="Cambria Math" panose="02040503050406030204" pitchFamily="18" charset="0"/>
                            <a:ea typeface="Cambria Math" panose="02040503050406030204" pitchFamily="18" charset="0"/>
                          </a:rPr>
                          <m:t>𝛾</m:t>
                        </m:r>
                      </m:den>
                    </m:f>
                  </m:oMath>
                </a14:m>
                <a:r>
                  <a:rPr lang="en-US" dirty="0"/>
                  <a:t> before being stored</a:t>
                </a:r>
              </a:p>
              <a:p>
                <a:pPr lvl="1"/>
                <a:r>
                  <a:rPr lang="en-US"/>
                  <a:t>Typically cameras do </a:t>
                </a:r>
                <a:r>
                  <a:rPr lang="en-US" dirty="0"/>
                  <a:t>this for us unless capturing in RAW format</a:t>
                </a:r>
              </a:p>
              <a:p>
                <a:r>
                  <a:rPr lang="en-US" dirty="0"/>
                  <a:t>This makes the luminance emitted by a display device linear</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63" t="-1078"/>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US"/>
              <a:t>CENG 477 – Computer Graphics</a:t>
            </a:r>
          </a:p>
        </p:txBody>
      </p:sp>
      <p:sp>
        <p:nvSpPr>
          <p:cNvPr id="5" name="Slide Number Placeholder 4"/>
          <p:cNvSpPr>
            <a:spLocks noGrp="1"/>
          </p:cNvSpPr>
          <p:nvPr>
            <p:ph type="sldNum" sz="quarter" idx="12"/>
          </p:nvPr>
        </p:nvSpPr>
        <p:spPr/>
        <p:txBody>
          <a:bodyPr/>
          <a:lstStyle/>
          <a:p>
            <a:fld id="{30D85F22-8D96-4CC0-8AEC-D5DD45058382}" type="slidenum">
              <a:rPr lang="en-US" smtClean="0"/>
              <a:t>41</a:t>
            </a:fld>
            <a:endParaRPr lang="en-US"/>
          </a:p>
        </p:txBody>
      </p:sp>
    </p:spTree>
    <p:extLst>
      <p:ext uri="{BB962C8B-B14F-4D97-AF65-F5344CB8AC3E}">
        <p14:creationId xmlns:p14="http://schemas.microsoft.com/office/powerpoint/2010/main" val="3632545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Gamma Correction</a:t>
            </a:r>
          </a:p>
        </p:txBody>
      </p:sp>
      <p:sp>
        <p:nvSpPr>
          <p:cNvPr id="3" name="Content Placeholder 2"/>
          <p:cNvSpPr>
            <a:spLocks noGrp="1"/>
          </p:cNvSpPr>
          <p:nvPr>
            <p:ph idx="1"/>
          </p:nvPr>
        </p:nvSpPr>
        <p:spPr/>
        <p:txBody>
          <a:bodyPr/>
          <a:lstStyle/>
          <a:p>
            <a:pPr marL="0" indent="0">
              <a:buNone/>
            </a:pPr>
            <a:endParaRPr lang="en-US" dirty="0"/>
          </a:p>
        </p:txBody>
      </p:sp>
      <p:sp>
        <p:nvSpPr>
          <p:cNvPr id="4" name="Footer Placeholder 3"/>
          <p:cNvSpPr>
            <a:spLocks noGrp="1"/>
          </p:cNvSpPr>
          <p:nvPr>
            <p:ph type="ftr" sz="quarter" idx="11"/>
          </p:nvPr>
        </p:nvSpPr>
        <p:spPr/>
        <p:txBody>
          <a:bodyPr/>
          <a:lstStyle/>
          <a:p>
            <a:r>
              <a:rPr lang="en-US"/>
              <a:t>CENG 477 – Computer Graphics</a:t>
            </a:r>
          </a:p>
        </p:txBody>
      </p:sp>
      <p:sp>
        <p:nvSpPr>
          <p:cNvPr id="5" name="Slide Number Placeholder 4"/>
          <p:cNvSpPr>
            <a:spLocks noGrp="1"/>
          </p:cNvSpPr>
          <p:nvPr>
            <p:ph type="sldNum" sz="quarter" idx="12"/>
          </p:nvPr>
        </p:nvSpPr>
        <p:spPr/>
        <p:txBody>
          <a:bodyPr/>
          <a:lstStyle/>
          <a:p>
            <a:fld id="{30D85F22-8D96-4CC0-8AEC-D5DD45058382}" type="slidenum">
              <a:rPr lang="en-US" smtClean="0"/>
              <a:t>42</a:t>
            </a:fld>
            <a:endParaRPr lang="en-US"/>
          </a:p>
        </p:txBody>
      </p:sp>
      <p:pic>
        <p:nvPicPr>
          <p:cNvPr id="6" name="Picture 5"/>
          <p:cNvPicPr>
            <a:picLocks noChangeAspect="1"/>
          </p:cNvPicPr>
          <p:nvPr/>
        </p:nvPicPr>
        <p:blipFill>
          <a:blip r:embed="rId2"/>
          <a:stretch>
            <a:fillRect/>
          </a:stretch>
        </p:blipFill>
        <p:spPr>
          <a:xfrm>
            <a:off x="1236382" y="1835809"/>
            <a:ext cx="6671235" cy="4327525"/>
          </a:xfrm>
          <a:prstGeom prst="rect">
            <a:avLst/>
          </a:prstGeom>
        </p:spPr>
      </p:pic>
    </p:spTree>
    <p:extLst>
      <p:ext uri="{BB962C8B-B14F-4D97-AF65-F5344CB8AC3E}">
        <p14:creationId xmlns:p14="http://schemas.microsoft.com/office/powerpoint/2010/main" val="1272066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Gamma Correction</a:t>
            </a:r>
          </a:p>
        </p:txBody>
      </p:sp>
      <p:sp>
        <p:nvSpPr>
          <p:cNvPr id="3" name="Content Placeholder 2"/>
          <p:cNvSpPr>
            <a:spLocks noGrp="1"/>
          </p:cNvSpPr>
          <p:nvPr>
            <p:ph idx="1"/>
          </p:nvPr>
        </p:nvSpPr>
        <p:spPr/>
        <p:txBody>
          <a:bodyPr/>
          <a:lstStyle/>
          <a:p>
            <a:r>
              <a:rPr lang="en-US" dirty="0"/>
              <a:t>In CG, we must also apply gamma correction as the last step of the rendering process</a:t>
            </a:r>
          </a:p>
          <a:p>
            <a:r>
              <a:rPr lang="en-US" dirty="0"/>
              <a:t>Without gamma correction, we may obtain unnaturally dark images</a:t>
            </a:r>
          </a:p>
        </p:txBody>
      </p:sp>
      <p:sp>
        <p:nvSpPr>
          <p:cNvPr id="4" name="Footer Placeholder 3"/>
          <p:cNvSpPr>
            <a:spLocks noGrp="1"/>
          </p:cNvSpPr>
          <p:nvPr>
            <p:ph type="ftr" sz="quarter" idx="11"/>
          </p:nvPr>
        </p:nvSpPr>
        <p:spPr/>
        <p:txBody>
          <a:bodyPr/>
          <a:lstStyle/>
          <a:p>
            <a:r>
              <a:rPr lang="en-US"/>
              <a:t>CENG 477 – Computer Graphics</a:t>
            </a:r>
          </a:p>
        </p:txBody>
      </p:sp>
      <p:sp>
        <p:nvSpPr>
          <p:cNvPr id="5" name="Slide Number Placeholder 4"/>
          <p:cNvSpPr>
            <a:spLocks noGrp="1"/>
          </p:cNvSpPr>
          <p:nvPr>
            <p:ph type="sldNum" sz="quarter" idx="12"/>
          </p:nvPr>
        </p:nvSpPr>
        <p:spPr/>
        <p:txBody>
          <a:bodyPr/>
          <a:lstStyle/>
          <a:p>
            <a:fld id="{30D85F22-8D96-4CC0-8AEC-D5DD45058382}" type="slidenum">
              <a:rPr lang="en-US" smtClean="0"/>
              <a:t>43</a:t>
            </a:fld>
            <a:endParaRPr lang="en-US"/>
          </a:p>
        </p:txBody>
      </p:sp>
      <p:pic>
        <p:nvPicPr>
          <p:cNvPr id="3074" name="Picture 2" descr="24fig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3378877"/>
            <a:ext cx="4762500" cy="290512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3980030" y="6122446"/>
            <a:ext cx="917239" cy="276999"/>
          </a:xfrm>
          <a:prstGeom prst="rect">
            <a:avLst/>
          </a:prstGeom>
          <a:noFill/>
        </p:spPr>
        <p:txBody>
          <a:bodyPr wrap="none" rtlCol="0">
            <a:spAutoFit/>
          </a:bodyPr>
          <a:lstStyle/>
          <a:p>
            <a:r>
              <a:rPr lang="en-US" sz="1200" dirty="0"/>
              <a:t>nvidia.com</a:t>
            </a:r>
          </a:p>
        </p:txBody>
      </p:sp>
    </p:spTree>
    <p:extLst>
      <p:ext uri="{BB962C8B-B14F-4D97-AF65-F5344CB8AC3E}">
        <p14:creationId xmlns:p14="http://schemas.microsoft.com/office/powerpoint/2010/main" val="11959886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Gamma Correction</a:t>
            </a:r>
          </a:p>
        </p:txBody>
      </p:sp>
      <p:sp>
        <p:nvSpPr>
          <p:cNvPr id="3" name="Content Placeholder 2"/>
          <p:cNvSpPr>
            <a:spLocks noGrp="1"/>
          </p:cNvSpPr>
          <p:nvPr>
            <p:ph idx="1"/>
          </p:nvPr>
        </p:nvSpPr>
        <p:spPr/>
        <p:txBody>
          <a:bodyPr/>
          <a:lstStyle/>
          <a:p>
            <a:r>
              <a:rPr lang="en-US" dirty="0"/>
              <a:t>In CG, we must also apply gamma correction as the last step of the rendering process</a:t>
            </a:r>
          </a:p>
          <a:p>
            <a:r>
              <a:rPr lang="en-US" dirty="0"/>
              <a:t>Without gamma correction, we may obtain unnaturally dark images</a:t>
            </a:r>
          </a:p>
        </p:txBody>
      </p:sp>
      <p:sp>
        <p:nvSpPr>
          <p:cNvPr id="4" name="Footer Placeholder 3"/>
          <p:cNvSpPr>
            <a:spLocks noGrp="1"/>
          </p:cNvSpPr>
          <p:nvPr>
            <p:ph type="ftr" sz="quarter" idx="11"/>
          </p:nvPr>
        </p:nvSpPr>
        <p:spPr/>
        <p:txBody>
          <a:bodyPr/>
          <a:lstStyle/>
          <a:p>
            <a:r>
              <a:rPr lang="en-US"/>
              <a:t>CENG 477 – Computer Graphics</a:t>
            </a:r>
          </a:p>
        </p:txBody>
      </p:sp>
      <p:sp>
        <p:nvSpPr>
          <p:cNvPr id="5" name="Slide Number Placeholder 4"/>
          <p:cNvSpPr>
            <a:spLocks noGrp="1"/>
          </p:cNvSpPr>
          <p:nvPr>
            <p:ph type="sldNum" sz="quarter" idx="12"/>
          </p:nvPr>
        </p:nvSpPr>
        <p:spPr/>
        <p:txBody>
          <a:bodyPr/>
          <a:lstStyle/>
          <a:p>
            <a:fld id="{30D85F22-8D96-4CC0-8AEC-D5DD45058382}" type="slidenum">
              <a:rPr lang="en-US" smtClean="0"/>
              <a:t>44</a:t>
            </a:fld>
            <a:endParaRPr lang="en-US"/>
          </a:p>
        </p:txBody>
      </p:sp>
      <p:pic>
        <p:nvPicPr>
          <p:cNvPr id="3074" name="Picture 2" descr="24fig0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3378877"/>
            <a:ext cx="4762500" cy="290512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3980030" y="6122446"/>
            <a:ext cx="917239" cy="276999"/>
          </a:xfrm>
          <a:prstGeom prst="rect">
            <a:avLst/>
          </a:prstGeom>
          <a:noFill/>
        </p:spPr>
        <p:txBody>
          <a:bodyPr wrap="none" rtlCol="0">
            <a:spAutoFit/>
          </a:bodyPr>
          <a:lstStyle/>
          <a:p>
            <a:r>
              <a:rPr lang="en-US" sz="1200" dirty="0"/>
              <a:t>nvidia.com</a:t>
            </a:r>
          </a:p>
        </p:txBody>
      </p:sp>
      <p:sp>
        <p:nvSpPr>
          <p:cNvPr id="10" name="Rounded Rectangle 9"/>
          <p:cNvSpPr/>
          <p:nvPr/>
        </p:nvSpPr>
        <p:spPr>
          <a:xfrm>
            <a:off x="533400" y="3560269"/>
            <a:ext cx="8229600" cy="2362200"/>
          </a:xfrm>
          <a:prstGeom prst="roundRect">
            <a:avLst/>
          </a:prstGeom>
          <a:solidFill>
            <a:schemeClr val="tx2">
              <a:lumMod val="50000"/>
              <a:lumOff val="5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See </a:t>
            </a:r>
            <a:br>
              <a:rPr lang="en-US" sz="2400" dirty="0"/>
            </a:br>
            <a:r>
              <a:rPr lang="en-US" sz="2000" dirty="0">
                <a:hlinkClick r:id="rId3"/>
              </a:rPr>
              <a:t>https://developer.nvidia.com/gpugems/GPUGems3/gpugems3_ch24.html</a:t>
            </a:r>
            <a:endParaRPr lang="en-US" sz="2000" dirty="0"/>
          </a:p>
          <a:p>
            <a:pPr algn="ctr"/>
            <a:r>
              <a:rPr lang="en-US" sz="2400" dirty="0"/>
              <a:t> for more information</a:t>
            </a:r>
          </a:p>
        </p:txBody>
      </p:sp>
    </p:spTree>
    <p:extLst>
      <p:ext uri="{BB962C8B-B14F-4D97-AF65-F5344CB8AC3E}">
        <p14:creationId xmlns:p14="http://schemas.microsoft.com/office/powerpoint/2010/main" val="2344491613"/>
      </p:ext>
    </p:extLst>
  </p:cSld>
  <p:clrMapOvr>
    <a:masterClrMapping/>
  </p:clrMapOvr>
</p:sld>
</file>

<file path=ppt/theme/theme1.xml><?xml version="1.0" encoding="utf-8"?>
<a:theme xmlns:a="http://schemas.openxmlformats.org/drawingml/2006/main" name="metu">
  <a:themeElements>
    <a:clrScheme name="NewsPrint">
      <a:dk1>
        <a:sysClr val="windowText" lastClr="000000"/>
      </a:dk1>
      <a:lt1>
        <a:sysClr val="window" lastClr="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Benton">
      <a:majorFont>
        <a:latin typeface="BentonSansTRUMed"/>
        <a:ea typeface=""/>
        <a:cs typeface=""/>
      </a:majorFont>
      <a:minorFont>
        <a:latin typeface="BentonSansTRUReg"/>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metu</Template>
  <TotalTime>592</TotalTime>
  <Words>2517</Words>
  <Application>Microsoft Macintosh PowerPoint</Application>
  <PresentationFormat>On-screen Show (4:3)</PresentationFormat>
  <Paragraphs>400</Paragraphs>
  <Slides>44</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44</vt:i4>
      </vt:variant>
    </vt:vector>
  </HeadingPairs>
  <TitlesOfParts>
    <vt:vector size="51" baseType="lpstr">
      <vt:lpstr>Arial</vt:lpstr>
      <vt:lpstr>BentonSansTRUMed</vt:lpstr>
      <vt:lpstr>BentonSansTRUReg</vt:lpstr>
      <vt:lpstr>Calibri</vt:lpstr>
      <vt:lpstr>Cambria Math</vt:lpstr>
      <vt:lpstr>Wingdings</vt:lpstr>
      <vt:lpstr>metu</vt:lpstr>
      <vt:lpstr>CENG 477 Introduction to Computer Graphics</vt:lpstr>
      <vt:lpstr>Images and Displays</vt:lpstr>
      <vt:lpstr>Image</vt:lpstr>
      <vt:lpstr>Image</vt:lpstr>
      <vt:lpstr>Discretization</vt:lpstr>
      <vt:lpstr>Discretization</vt:lpstr>
      <vt:lpstr>Data Type</vt:lpstr>
      <vt:lpstr>Bitmap</vt:lpstr>
      <vt:lpstr>Grayscale</vt:lpstr>
      <vt:lpstr>Color</vt:lpstr>
      <vt:lpstr>Color</vt:lpstr>
      <vt:lpstr>Color</vt:lpstr>
      <vt:lpstr>Storage</vt:lpstr>
      <vt:lpstr>Image Formats</vt:lpstr>
      <vt:lpstr>Image Formats</vt:lpstr>
      <vt:lpstr>Image Formats</vt:lpstr>
      <vt:lpstr>Image Formats</vt:lpstr>
      <vt:lpstr>Image Formats</vt:lpstr>
      <vt:lpstr>Lossless Compression</vt:lpstr>
      <vt:lpstr>Lossy Compression</vt:lpstr>
      <vt:lpstr>Lossy vs Lossless</vt:lpstr>
      <vt:lpstr>JPEG Quality</vt:lpstr>
      <vt:lpstr>Video</vt:lpstr>
      <vt:lpstr>Image Capture</vt:lpstr>
      <vt:lpstr>Image Capture</vt:lpstr>
      <vt:lpstr>Image Capture</vt:lpstr>
      <vt:lpstr>Dynamic Range</vt:lpstr>
      <vt:lpstr>Exposure Control</vt:lpstr>
      <vt:lpstr>Quantization</vt:lpstr>
      <vt:lpstr>HDR</vt:lpstr>
      <vt:lpstr>HDR</vt:lpstr>
      <vt:lpstr>HDR</vt:lpstr>
      <vt:lpstr>HDR</vt:lpstr>
      <vt:lpstr>HDR</vt:lpstr>
      <vt:lpstr>Rendering</vt:lpstr>
      <vt:lpstr>Display Devices</vt:lpstr>
      <vt:lpstr>Display Devices</vt:lpstr>
      <vt:lpstr>Display Devices</vt:lpstr>
      <vt:lpstr>Gamma</vt:lpstr>
      <vt:lpstr>Gamma</vt:lpstr>
      <vt:lpstr>Gamma Correction</vt:lpstr>
      <vt:lpstr>Gamma Correction</vt:lpstr>
      <vt:lpstr>Gamma Correction</vt:lpstr>
      <vt:lpstr>Gamma Correction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CENG - 477</dc:title>
  <dc:creator>akyuz</dc:creator>
  <cp:lastModifiedBy>Yarkın ÖZCAN</cp:lastModifiedBy>
  <cp:revision>530</cp:revision>
  <dcterms:created xsi:type="dcterms:W3CDTF">2012-11-20T10:00:08Z</dcterms:created>
  <dcterms:modified xsi:type="dcterms:W3CDTF">2025-10-07T07:59:39Z</dcterms:modified>
</cp:coreProperties>
</file>