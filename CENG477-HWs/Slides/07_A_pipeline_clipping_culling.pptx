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4" r:id="rId1"/>
  </p:sldMasterIdLst>
  <p:notesMasterIdLst>
    <p:notesMasterId r:id="rId75"/>
  </p:notesMasterIdLst>
  <p:sldIdLst>
    <p:sldId id="256" r:id="rId2"/>
    <p:sldId id="257" r:id="rId3"/>
    <p:sldId id="390" r:id="rId4"/>
    <p:sldId id="318" r:id="rId5"/>
    <p:sldId id="370" r:id="rId6"/>
    <p:sldId id="371" r:id="rId7"/>
    <p:sldId id="372" r:id="rId8"/>
    <p:sldId id="373" r:id="rId9"/>
    <p:sldId id="375" r:id="rId10"/>
    <p:sldId id="376" r:id="rId11"/>
    <p:sldId id="396" r:id="rId12"/>
    <p:sldId id="355" r:id="rId13"/>
    <p:sldId id="320" r:id="rId14"/>
    <p:sldId id="408" r:id="rId15"/>
    <p:sldId id="409" r:id="rId16"/>
    <p:sldId id="362" r:id="rId17"/>
    <p:sldId id="411" r:id="rId18"/>
    <p:sldId id="357" r:id="rId19"/>
    <p:sldId id="363" r:id="rId20"/>
    <p:sldId id="364" r:id="rId21"/>
    <p:sldId id="329" r:id="rId22"/>
    <p:sldId id="339" r:id="rId23"/>
    <p:sldId id="340" r:id="rId24"/>
    <p:sldId id="365" r:id="rId25"/>
    <p:sldId id="366" r:id="rId26"/>
    <p:sldId id="380" r:id="rId27"/>
    <p:sldId id="381" r:id="rId28"/>
    <p:sldId id="382" r:id="rId29"/>
    <p:sldId id="383" r:id="rId30"/>
    <p:sldId id="384" r:id="rId31"/>
    <p:sldId id="385" r:id="rId32"/>
    <p:sldId id="386" r:id="rId33"/>
    <p:sldId id="387" r:id="rId34"/>
    <p:sldId id="389" r:id="rId35"/>
    <p:sldId id="367" r:id="rId36"/>
    <p:sldId id="368" r:id="rId37"/>
    <p:sldId id="341" r:id="rId38"/>
    <p:sldId id="328" r:id="rId39"/>
    <p:sldId id="331" r:id="rId40"/>
    <p:sldId id="332" r:id="rId41"/>
    <p:sldId id="333" r:id="rId42"/>
    <p:sldId id="334" r:id="rId43"/>
    <p:sldId id="377" r:id="rId44"/>
    <p:sldId id="378" r:id="rId45"/>
    <p:sldId id="335" r:id="rId46"/>
    <p:sldId id="336" r:id="rId47"/>
    <p:sldId id="337" r:id="rId48"/>
    <p:sldId id="322" r:id="rId49"/>
    <p:sldId id="326" r:id="rId50"/>
    <p:sldId id="369" r:id="rId51"/>
    <p:sldId id="358" r:id="rId52"/>
    <p:sldId id="359" r:id="rId53"/>
    <p:sldId id="360" r:id="rId54"/>
    <p:sldId id="342" r:id="rId55"/>
    <p:sldId id="343" r:id="rId56"/>
    <p:sldId id="344" r:id="rId57"/>
    <p:sldId id="345" r:id="rId58"/>
    <p:sldId id="346" r:id="rId59"/>
    <p:sldId id="391" r:id="rId60"/>
    <p:sldId id="392" r:id="rId61"/>
    <p:sldId id="393" r:id="rId62"/>
    <p:sldId id="394" r:id="rId63"/>
    <p:sldId id="395" r:id="rId64"/>
    <p:sldId id="347" r:id="rId65"/>
    <p:sldId id="348" r:id="rId66"/>
    <p:sldId id="349" r:id="rId67"/>
    <p:sldId id="361" r:id="rId68"/>
    <p:sldId id="350" r:id="rId69"/>
    <p:sldId id="352" r:id="rId70"/>
    <p:sldId id="413" r:id="rId71"/>
    <p:sldId id="354" r:id="rId72"/>
    <p:sldId id="412" r:id="rId73"/>
    <p:sldId id="353" r:id="rId7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2D050"/>
    <a:srgbClr val="727C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013" autoAdjust="0"/>
    <p:restoredTop sz="83761" autoAdjust="0"/>
  </p:normalViewPr>
  <p:slideViewPr>
    <p:cSldViewPr snapToGrid="0">
      <p:cViewPr varScale="1">
        <p:scale>
          <a:sx n="94" d="100"/>
          <a:sy n="94" d="100"/>
        </p:scale>
        <p:origin x="172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144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FB2274-0A50-4573-AC5E-2BA910662B63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0D9FC4-FF40-4120-8672-25457C595D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447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0D9FC4-FF40-4120-8672-25457C595D2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752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0D9FC4-FF40-4120-8672-25457C595D2D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0948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have 27 regions</a:t>
            </a:r>
            <a:r>
              <a:rPr lang="en-US" baseline="0" dirty="0"/>
              <a:t> in three 3D</a:t>
            </a:r>
          </a:p>
          <a:p>
            <a:r>
              <a:rPr lang="en-US" baseline="0" dirty="0"/>
              <a:t>So at minimum we need 5 bits. But to apply the exact same algorithm we need 6 bits because each bit indicates whether we are inside or outside with respect to a given face. And we have 6 faces of our viewing volume.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0D9FC4-FF40-4120-8672-25457C595D2D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7287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0D9FC4-FF40-4120-8672-25457C595D2D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191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</a:t>
            </a:r>
            <a:r>
              <a:rPr lang="en-US" baseline="0" dirty="0"/>
              <a:t> say potentially because, we are intersecting the line with the extended edges. Intersecting with an extended edge does not mean that it is actually entering the clip rectangle.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0D9FC4-FF40-4120-8672-25457C595D2D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4404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0D9FC4-FF40-4120-8672-25457C595D2D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5716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0D9FC4-FF40-4120-8672-25457C595D2D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0999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0D9FC4-FF40-4120-8672-25457C595D2D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6066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0D9FC4-FF40-4120-8672-25457C595D2D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6420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0D9FC4-FF40-4120-8672-25457C595D2D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0117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0D9FC4-FF40-4120-8672-25457C595D2D}" type="slidenum">
              <a:rPr lang="en-US" smtClean="0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1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E9F2633-B3F3-4E57-AC24-408D2B4D87BE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CENG 477 – Computer Graphics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490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tx1"/>
              </a:buClr>
              <a:defRPr sz="2400"/>
            </a:lvl1pPr>
            <a:lvl2pPr>
              <a:buClr>
                <a:schemeClr val="tx1"/>
              </a:buClr>
              <a:defRPr sz="20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9692226A-1D72-4B80-BC98-F475FD08A0A0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244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973E2A69-E49F-46A4-B83D-C2E531B43AC8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89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AC9E756-81A7-4627-9E06-7A41D127E163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028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6E81E54-45E0-44E9-8CA4-C1029E8916C2}" type="datetime1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806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99C20B27-4F11-49EC-BDCE-B506597AE917}" type="datetime1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924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937CBBCD-6440-4868-BE00-3F848420AF20}" type="datetime1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595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418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CENG 477 – Computer Graphics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4418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D85F22-8D96-4CC0-8AEC-D5DD45058382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6470779"/>
            <a:ext cx="762000" cy="316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/>
        </p:nvSpPr>
        <p:spPr>
          <a:xfrm>
            <a:off x="0" y="6391656"/>
            <a:ext cx="9144000" cy="91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0" y="6830568"/>
            <a:ext cx="91440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972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9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70.png"/><Relationship Id="rId4" Type="http://schemas.openxmlformats.org/officeDocument/2006/relationships/image" Target="../media/image60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CENG 477</a:t>
            </a:r>
            <a:br>
              <a:rPr lang="en-US" dirty="0"/>
            </a:br>
            <a:r>
              <a:rPr lang="en-US" dirty="0"/>
              <a:t>Introduction to Computer Graphics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Forward Rendering Pipeline</a:t>
            </a:r>
            <a:br>
              <a:rPr lang="en-US" dirty="0"/>
            </a:br>
            <a:r>
              <a:rPr lang="en-US" dirty="0"/>
              <a:t>Clipping and Culling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Rendering Pipeline</a:t>
            </a:r>
          </a:p>
        </p:txBody>
      </p:sp>
      <p:sp>
        <p:nvSpPr>
          <p:cNvPr id="9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Sequence of operations that are used to draw primitives defined in a 3D coordinate system on a 2D window</a:t>
            </a:r>
          </a:p>
          <a:p>
            <a:r>
              <a:rPr lang="en-US" dirty="0"/>
              <a:t>Can be implemented on </a:t>
            </a:r>
            <a:r>
              <a:rPr lang="en-US" dirty="0">
                <a:solidFill>
                  <a:schemeClr val="accent1"/>
                </a:solidFill>
              </a:rPr>
              <a:t>hardware </a:t>
            </a:r>
            <a:r>
              <a:rPr lang="en-US" dirty="0"/>
              <a:t>or </a:t>
            </a:r>
            <a:r>
              <a:rPr lang="en-US" dirty="0">
                <a:solidFill>
                  <a:schemeClr val="accent1"/>
                </a:solidFill>
              </a:rPr>
              <a:t>software</a:t>
            </a:r>
          </a:p>
          <a:p>
            <a:r>
              <a:rPr lang="en-US" dirty="0"/>
              <a:t>Two notable APIs: OpenGL and D3D</a:t>
            </a:r>
          </a:p>
          <a:p>
            <a:r>
              <a:rPr lang="en-US" dirty="0">
                <a:solidFill>
                  <a:schemeClr val="accent1"/>
                </a:solidFill>
              </a:rPr>
              <a:t>Not static</a:t>
            </a:r>
            <a:r>
              <a:rPr lang="en-US" dirty="0"/>
              <a:t>: Constantly evolving to meet the demands of the industry</a:t>
            </a:r>
          </a:p>
          <a:p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914400" y="4114800"/>
            <a:ext cx="2209800" cy="1874982"/>
            <a:chOff x="914400" y="3974068"/>
            <a:chExt cx="2514600" cy="2133600"/>
          </a:xfrm>
        </p:grpSpPr>
        <p:sp>
          <p:nvSpPr>
            <p:cNvPr id="99" name="Isosceles Triangle 98"/>
            <p:cNvSpPr/>
            <p:nvPr/>
          </p:nvSpPr>
          <p:spPr>
            <a:xfrm>
              <a:off x="1524000" y="4278868"/>
              <a:ext cx="533400" cy="609600"/>
            </a:xfrm>
            <a:prstGeom prst="triangl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Isosceles Triangle 102"/>
            <p:cNvSpPr/>
            <p:nvPr/>
          </p:nvSpPr>
          <p:spPr>
            <a:xfrm>
              <a:off x="2133600" y="4278868"/>
              <a:ext cx="533400" cy="609600"/>
            </a:xfrm>
            <a:prstGeom prst="triangl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Isosceles Triangle 111"/>
            <p:cNvSpPr/>
            <p:nvPr/>
          </p:nvSpPr>
          <p:spPr>
            <a:xfrm>
              <a:off x="1905000" y="4888468"/>
              <a:ext cx="533400" cy="609600"/>
            </a:xfrm>
            <a:prstGeom prst="triangl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Isosceles Triangle 112"/>
            <p:cNvSpPr/>
            <p:nvPr/>
          </p:nvSpPr>
          <p:spPr>
            <a:xfrm>
              <a:off x="2209800" y="5193268"/>
              <a:ext cx="533400" cy="609600"/>
            </a:xfrm>
            <a:prstGeom prst="triangl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Isosceles Triangle 114"/>
            <p:cNvSpPr/>
            <p:nvPr/>
          </p:nvSpPr>
          <p:spPr>
            <a:xfrm>
              <a:off x="1447800" y="5117068"/>
              <a:ext cx="533400" cy="609600"/>
            </a:xfrm>
            <a:prstGeom prst="triangl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Cube 116"/>
            <p:cNvSpPr/>
            <p:nvPr/>
          </p:nvSpPr>
          <p:spPr>
            <a:xfrm>
              <a:off x="914400" y="3974068"/>
              <a:ext cx="2514600" cy="2133600"/>
            </a:xfrm>
            <a:prstGeom prst="cube">
              <a:avLst/>
            </a:prstGeom>
            <a:solidFill>
              <a:schemeClr val="accent1"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8" name="Right Arrow 117"/>
          <p:cNvSpPr/>
          <p:nvPr/>
        </p:nvSpPr>
        <p:spPr>
          <a:xfrm>
            <a:off x="3581400" y="4724400"/>
            <a:ext cx="18288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6096000" y="4124462"/>
            <a:ext cx="2667000" cy="1754605"/>
            <a:chOff x="5867400" y="3974068"/>
            <a:chExt cx="2895600" cy="1905000"/>
          </a:xfrm>
        </p:grpSpPr>
        <p:sp>
          <p:nvSpPr>
            <p:cNvPr id="116" name="Rectangle 115"/>
            <p:cNvSpPr/>
            <p:nvPr/>
          </p:nvSpPr>
          <p:spPr>
            <a:xfrm>
              <a:off x="5867400" y="3974068"/>
              <a:ext cx="2895600" cy="1905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Isosceles Triangle 118"/>
            <p:cNvSpPr/>
            <p:nvPr/>
          </p:nvSpPr>
          <p:spPr>
            <a:xfrm>
              <a:off x="6019800" y="4050268"/>
              <a:ext cx="533400" cy="609600"/>
            </a:xfrm>
            <a:prstGeom prst="triangl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Isosceles Triangle 128"/>
            <p:cNvSpPr/>
            <p:nvPr/>
          </p:nvSpPr>
          <p:spPr>
            <a:xfrm>
              <a:off x="8077200" y="4050268"/>
              <a:ext cx="533400" cy="609600"/>
            </a:xfrm>
            <a:prstGeom prst="triangl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Isosceles Triangle 129"/>
            <p:cNvSpPr/>
            <p:nvPr/>
          </p:nvSpPr>
          <p:spPr>
            <a:xfrm>
              <a:off x="7086600" y="4583668"/>
              <a:ext cx="533400" cy="609600"/>
            </a:xfrm>
            <a:prstGeom prst="triangl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Isosceles Triangle 132"/>
            <p:cNvSpPr/>
            <p:nvPr/>
          </p:nvSpPr>
          <p:spPr>
            <a:xfrm>
              <a:off x="8077200" y="5117068"/>
              <a:ext cx="533400" cy="609600"/>
            </a:xfrm>
            <a:prstGeom prst="triangl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Isosceles Triangle 133"/>
            <p:cNvSpPr/>
            <p:nvPr/>
          </p:nvSpPr>
          <p:spPr>
            <a:xfrm>
              <a:off x="6019800" y="5117068"/>
              <a:ext cx="533400" cy="609600"/>
            </a:xfrm>
            <a:prstGeom prst="triangl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5" name="TextBox 134"/>
          <p:cNvSpPr txBox="1"/>
          <p:nvPr/>
        </p:nvSpPr>
        <p:spPr>
          <a:xfrm>
            <a:off x="1447800" y="6040993"/>
            <a:ext cx="1114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3D World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886464" y="5879068"/>
            <a:ext cx="1323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2D Window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962400" y="5117068"/>
            <a:ext cx="11336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Rendering</a:t>
            </a:r>
          </a:p>
          <a:p>
            <a:pPr algn="ctr"/>
            <a:r>
              <a:rPr lang="en-US" dirty="0"/>
              <a:t>Pipeline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Rendering Pipeline</a:t>
            </a:r>
          </a:p>
        </p:txBody>
      </p:sp>
      <p:sp>
        <p:nvSpPr>
          <p:cNvPr id="9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Official versions of </a:t>
            </a:r>
            <a:r>
              <a:rPr lang="en-US" dirty="0">
                <a:solidFill>
                  <a:schemeClr val="accent1"/>
                </a:solidFill>
              </a:rPr>
              <a:t>OpenGL</a:t>
            </a:r>
            <a:r>
              <a:rPr lang="en-US" dirty="0"/>
              <a:t> released to date are 1.0, 1.1, 1.2, 1.2.1, 1.3, 1.4, 1.5, 2.0, 2.1, 3.0, 3.1, 3.2, 3.3, 4.0, 4.1, 4.2, 4.3, 4.4, 4.5, 4.6 (2017)</a:t>
            </a:r>
          </a:p>
          <a:p>
            <a:r>
              <a:rPr lang="en-US" dirty="0"/>
              <a:t>4.6 is still the latest version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914400" y="4114800"/>
            <a:ext cx="2209800" cy="1874982"/>
            <a:chOff x="914400" y="3974068"/>
            <a:chExt cx="2514600" cy="2133600"/>
          </a:xfrm>
        </p:grpSpPr>
        <p:sp>
          <p:nvSpPr>
            <p:cNvPr id="99" name="Isosceles Triangle 98"/>
            <p:cNvSpPr/>
            <p:nvPr/>
          </p:nvSpPr>
          <p:spPr>
            <a:xfrm>
              <a:off x="1524000" y="4278868"/>
              <a:ext cx="533400" cy="609600"/>
            </a:xfrm>
            <a:prstGeom prst="triangl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Isosceles Triangle 102"/>
            <p:cNvSpPr/>
            <p:nvPr/>
          </p:nvSpPr>
          <p:spPr>
            <a:xfrm>
              <a:off x="2133600" y="4278868"/>
              <a:ext cx="533400" cy="609600"/>
            </a:xfrm>
            <a:prstGeom prst="triangl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Isosceles Triangle 111"/>
            <p:cNvSpPr/>
            <p:nvPr/>
          </p:nvSpPr>
          <p:spPr>
            <a:xfrm>
              <a:off x="1905000" y="4888468"/>
              <a:ext cx="533400" cy="609600"/>
            </a:xfrm>
            <a:prstGeom prst="triangl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Isosceles Triangle 112"/>
            <p:cNvSpPr/>
            <p:nvPr/>
          </p:nvSpPr>
          <p:spPr>
            <a:xfrm>
              <a:off x="2209800" y="5193268"/>
              <a:ext cx="533400" cy="609600"/>
            </a:xfrm>
            <a:prstGeom prst="triangl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Isosceles Triangle 114"/>
            <p:cNvSpPr/>
            <p:nvPr/>
          </p:nvSpPr>
          <p:spPr>
            <a:xfrm>
              <a:off x="1447800" y="5117068"/>
              <a:ext cx="533400" cy="609600"/>
            </a:xfrm>
            <a:prstGeom prst="triangl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Cube 116"/>
            <p:cNvSpPr/>
            <p:nvPr/>
          </p:nvSpPr>
          <p:spPr>
            <a:xfrm>
              <a:off x="914400" y="3974068"/>
              <a:ext cx="2514600" cy="2133600"/>
            </a:xfrm>
            <a:prstGeom prst="cube">
              <a:avLst/>
            </a:prstGeom>
            <a:solidFill>
              <a:schemeClr val="accent1"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8" name="Right Arrow 117"/>
          <p:cNvSpPr/>
          <p:nvPr/>
        </p:nvSpPr>
        <p:spPr>
          <a:xfrm>
            <a:off x="3581400" y="4724400"/>
            <a:ext cx="18288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6096000" y="4124462"/>
            <a:ext cx="2667000" cy="1754605"/>
            <a:chOff x="5867400" y="3974068"/>
            <a:chExt cx="2895600" cy="1905000"/>
          </a:xfrm>
        </p:grpSpPr>
        <p:sp>
          <p:nvSpPr>
            <p:cNvPr id="116" name="Rectangle 115"/>
            <p:cNvSpPr/>
            <p:nvPr/>
          </p:nvSpPr>
          <p:spPr>
            <a:xfrm>
              <a:off x="5867400" y="3974068"/>
              <a:ext cx="2895600" cy="1905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Isosceles Triangle 118"/>
            <p:cNvSpPr/>
            <p:nvPr/>
          </p:nvSpPr>
          <p:spPr>
            <a:xfrm>
              <a:off x="6019800" y="4050268"/>
              <a:ext cx="533400" cy="609600"/>
            </a:xfrm>
            <a:prstGeom prst="triangl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Isosceles Triangle 128"/>
            <p:cNvSpPr/>
            <p:nvPr/>
          </p:nvSpPr>
          <p:spPr>
            <a:xfrm>
              <a:off x="8077200" y="4050268"/>
              <a:ext cx="533400" cy="609600"/>
            </a:xfrm>
            <a:prstGeom prst="triangl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Isosceles Triangle 129"/>
            <p:cNvSpPr/>
            <p:nvPr/>
          </p:nvSpPr>
          <p:spPr>
            <a:xfrm>
              <a:off x="7086600" y="4583668"/>
              <a:ext cx="533400" cy="609600"/>
            </a:xfrm>
            <a:prstGeom prst="triangl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Isosceles Triangle 132"/>
            <p:cNvSpPr/>
            <p:nvPr/>
          </p:nvSpPr>
          <p:spPr>
            <a:xfrm>
              <a:off x="8077200" y="5117068"/>
              <a:ext cx="533400" cy="609600"/>
            </a:xfrm>
            <a:prstGeom prst="triangl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Isosceles Triangle 133"/>
            <p:cNvSpPr/>
            <p:nvPr/>
          </p:nvSpPr>
          <p:spPr>
            <a:xfrm>
              <a:off x="6019800" y="5117068"/>
              <a:ext cx="533400" cy="609600"/>
            </a:xfrm>
            <a:prstGeom prst="triangl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5" name="TextBox 134"/>
          <p:cNvSpPr txBox="1"/>
          <p:nvPr/>
        </p:nvSpPr>
        <p:spPr>
          <a:xfrm>
            <a:off x="1447800" y="6040993"/>
            <a:ext cx="1114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3D World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886464" y="5879068"/>
            <a:ext cx="1323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2D Window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962400" y="5117068"/>
            <a:ext cx="11336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Rendering</a:t>
            </a:r>
          </a:p>
          <a:p>
            <a:pPr algn="ctr"/>
            <a:r>
              <a:rPr lang="en-US" dirty="0"/>
              <a:t>Pipeline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849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Rendering Pipeline – Overview</a:t>
            </a:r>
          </a:p>
        </p:txBody>
      </p:sp>
      <p:sp>
        <p:nvSpPr>
          <p:cNvPr id="26" name="Content Placeholder 2"/>
          <p:cNvSpPr>
            <a:spLocks noGrp="1"/>
          </p:cNvSpPr>
          <p:nvPr>
            <p:ph idx="1"/>
          </p:nvPr>
        </p:nvSpPr>
        <p:spPr>
          <a:xfrm>
            <a:off x="4876800" y="1752600"/>
            <a:ext cx="4191000" cy="4800600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Get vertices in specific order and connectivity information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Process (transform) vertices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Create primitives from connected vertices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Clip and cull primitives to eliminate invisible ones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Transform primitives to screen space (preserve z)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Rasterize primitives to obtain fragments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Process fragments to obtain visible pixels with color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grpSp>
        <p:nvGrpSpPr>
          <p:cNvPr id="44" name="Group 43"/>
          <p:cNvGrpSpPr/>
          <p:nvPr/>
        </p:nvGrpSpPr>
        <p:grpSpPr>
          <a:xfrm>
            <a:off x="569884" y="1295400"/>
            <a:ext cx="4186181" cy="4953000"/>
            <a:chOff x="569884" y="1295400"/>
            <a:chExt cx="4186181" cy="4953000"/>
          </a:xfrm>
        </p:grpSpPr>
        <p:sp>
          <p:nvSpPr>
            <p:cNvPr id="4" name="Rectangle 3"/>
            <p:cNvSpPr/>
            <p:nvPr/>
          </p:nvSpPr>
          <p:spPr>
            <a:xfrm>
              <a:off x="736195" y="1922764"/>
              <a:ext cx="1676400" cy="60350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Vertex Processing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117195" y="1307068"/>
              <a:ext cx="9356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Vertices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69884" y="2754868"/>
              <a:ext cx="21475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Transformed vertices</a:t>
              </a:r>
            </a:p>
          </p:txBody>
        </p:sp>
        <p:cxnSp>
          <p:nvCxnSpPr>
            <p:cNvPr id="10" name="Straight Arrow Connector 9"/>
            <p:cNvCxnSpPr/>
            <p:nvPr/>
          </p:nvCxnSpPr>
          <p:spPr>
            <a:xfrm flipH="1">
              <a:off x="1574395" y="1611868"/>
              <a:ext cx="10621" cy="24636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 flipH="1">
              <a:off x="1563774" y="2584704"/>
              <a:ext cx="10621" cy="24636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/>
            <p:cNvSpPr/>
            <p:nvPr/>
          </p:nvSpPr>
          <p:spPr>
            <a:xfrm>
              <a:off x="736195" y="3370564"/>
              <a:ext cx="1676400" cy="60350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/>
                <a:t>Pr</a:t>
              </a:r>
              <a:r>
                <a:rPr lang="en-US" dirty="0" err="1"/>
                <a:t>imitive</a:t>
              </a:r>
              <a:r>
                <a:rPr lang="en-US" dirty="0"/>
                <a:t> Assembly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040995" y="4202668"/>
              <a:ext cx="10969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Primitives</a:t>
              </a:r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 flipH="1">
              <a:off x="1574395" y="3059668"/>
              <a:ext cx="10621" cy="24636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 flipH="1">
              <a:off x="1563774" y="4032504"/>
              <a:ext cx="10621" cy="24636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/>
            <p:cNvSpPr/>
            <p:nvPr/>
          </p:nvSpPr>
          <p:spPr>
            <a:xfrm>
              <a:off x="736195" y="4818364"/>
              <a:ext cx="1676400" cy="60350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Clipping and Culling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62000" y="5791200"/>
              <a:ext cx="17670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Visible primitives</a:t>
              </a:r>
            </a:p>
          </p:txBody>
        </p:sp>
        <p:cxnSp>
          <p:nvCxnSpPr>
            <p:cNvPr id="18" name="Straight Arrow Connector 17"/>
            <p:cNvCxnSpPr/>
            <p:nvPr/>
          </p:nvCxnSpPr>
          <p:spPr>
            <a:xfrm flipH="1">
              <a:off x="1574395" y="4507468"/>
              <a:ext cx="10621" cy="24636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 flipH="1">
              <a:off x="1563774" y="5486400"/>
              <a:ext cx="10621" cy="24636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>
              <a:off x="2514600" y="5981700"/>
              <a:ext cx="3048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/>
            <p:cNvSpPr/>
            <p:nvPr/>
          </p:nvSpPr>
          <p:spPr>
            <a:xfrm>
              <a:off x="2867025" y="1924050"/>
              <a:ext cx="1676400" cy="60350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Fragment Processing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352800" y="1295400"/>
              <a:ext cx="7116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Pixels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867025" y="3733800"/>
              <a:ext cx="1676400" cy="60350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Rasterization</a:t>
              </a:r>
              <a:endParaRPr lang="en-US" dirty="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165151" y="2907268"/>
              <a:ext cx="11496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Fragments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895600" y="5644896"/>
              <a:ext cx="1676400" cy="60350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Viewport Transform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2831949" y="4687669"/>
              <a:ext cx="192411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Primitives with 2D</a:t>
              </a:r>
            </a:p>
            <a:p>
              <a:pPr algn="ctr"/>
              <a:r>
                <a:rPr lang="en-US" dirty="0"/>
                <a:t>coordinates and z</a:t>
              </a:r>
            </a:p>
          </p:txBody>
        </p:sp>
        <p:cxnSp>
          <p:nvCxnSpPr>
            <p:cNvPr id="36" name="Straight Arrow Connector 35"/>
            <p:cNvCxnSpPr/>
            <p:nvPr/>
          </p:nvCxnSpPr>
          <p:spPr>
            <a:xfrm flipH="1" flipV="1">
              <a:off x="3667124" y="5334000"/>
              <a:ext cx="1" cy="2286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 flipH="1" flipV="1">
              <a:off x="3676650" y="4448175"/>
              <a:ext cx="1" cy="2286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 flipH="1" flipV="1">
              <a:off x="3676650" y="3352800"/>
              <a:ext cx="1" cy="2286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/>
            <p:nvPr/>
          </p:nvCxnSpPr>
          <p:spPr>
            <a:xfrm flipH="1" flipV="1">
              <a:off x="3667125" y="2762250"/>
              <a:ext cx="1" cy="2286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/>
            <p:nvPr/>
          </p:nvCxnSpPr>
          <p:spPr>
            <a:xfrm flipH="1" flipV="1">
              <a:off x="3657600" y="1638300"/>
              <a:ext cx="1" cy="2286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Rendering Pipeline – Overview</a:t>
            </a:r>
          </a:p>
        </p:txBody>
      </p:sp>
      <p:sp>
        <p:nvSpPr>
          <p:cNvPr id="26" name="Content Placeholder 2"/>
          <p:cNvSpPr>
            <a:spLocks noGrp="1"/>
          </p:cNvSpPr>
          <p:nvPr>
            <p:ph idx="1"/>
          </p:nvPr>
        </p:nvSpPr>
        <p:spPr>
          <a:xfrm>
            <a:off x="4876800" y="1922764"/>
            <a:ext cx="4038600" cy="4325636"/>
          </a:xfrm>
        </p:spPr>
        <p:txBody>
          <a:bodyPr>
            <a:normAutofit/>
          </a:bodyPr>
          <a:lstStyle/>
          <a:p>
            <a:r>
              <a:rPr lang="en-US" dirty="0"/>
              <a:t>We learned about vertex processing</a:t>
            </a:r>
          </a:p>
          <a:p>
            <a:pPr lvl="1"/>
            <a:r>
              <a:rPr lang="en-US" dirty="0"/>
              <a:t>Modeling transformations</a:t>
            </a:r>
          </a:p>
          <a:p>
            <a:pPr lvl="1"/>
            <a:r>
              <a:rPr lang="en-US" dirty="0"/>
              <a:t>Camera transformations</a:t>
            </a:r>
          </a:p>
          <a:p>
            <a:pPr lvl="1"/>
            <a:r>
              <a:rPr lang="en-US" dirty="0"/>
              <a:t>Projection transformations</a:t>
            </a:r>
          </a:p>
        </p:txBody>
      </p:sp>
      <p:grpSp>
        <p:nvGrpSpPr>
          <p:cNvPr id="44" name="Group 43"/>
          <p:cNvGrpSpPr/>
          <p:nvPr/>
        </p:nvGrpSpPr>
        <p:grpSpPr>
          <a:xfrm>
            <a:off x="569884" y="1295400"/>
            <a:ext cx="4186181" cy="4953000"/>
            <a:chOff x="569884" y="1295400"/>
            <a:chExt cx="4186181" cy="4953000"/>
          </a:xfrm>
        </p:grpSpPr>
        <p:sp>
          <p:nvSpPr>
            <p:cNvPr id="4" name="Rectangle 3"/>
            <p:cNvSpPr/>
            <p:nvPr/>
          </p:nvSpPr>
          <p:spPr>
            <a:xfrm>
              <a:off x="736195" y="1922764"/>
              <a:ext cx="1676400" cy="603504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Vertex Processing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117195" y="1307068"/>
              <a:ext cx="9356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Vertices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69884" y="2754868"/>
              <a:ext cx="21475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Transformed vertices</a:t>
              </a:r>
            </a:p>
          </p:txBody>
        </p:sp>
        <p:cxnSp>
          <p:nvCxnSpPr>
            <p:cNvPr id="10" name="Straight Arrow Connector 9"/>
            <p:cNvCxnSpPr/>
            <p:nvPr/>
          </p:nvCxnSpPr>
          <p:spPr>
            <a:xfrm flipH="1">
              <a:off x="1574395" y="1611868"/>
              <a:ext cx="10621" cy="24636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 flipH="1">
              <a:off x="1563774" y="2584704"/>
              <a:ext cx="10621" cy="24636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/>
            <p:cNvSpPr/>
            <p:nvPr/>
          </p:nvSpPr>
          <p:spPr>
            <a:xfrm>
              <a:off x="736195" y="3370564"/>
              <a:ext cx="1676400" cy="60350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/>
                <a:t>Pr</a:t>
              </a:r>
              <a:r>
                <a:rPr lang="en-US" dirty="0" err="1"/>
                <a:t>imitive</a:t>
              </a:r>
              <a:r>
                <a:rPr lang="en-US" dirty="0"/>
                <a:t> Assembly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040995" y="4202668"/>
              <a:ext cx="10969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Primitives</a:t>
              </a:r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 flipH="1">
              <a:off x="1574395" y="3059668"/>
              <a:ext cx="10621" cy="24636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 flipH="1">
              <a:off x="1563774" y="4032504"/>
              <a:ext cx="10621" cy="24636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/>
            <p:cNvSpPr/>
            <p:nvPr/>
          </p:nvSpPr>
          <p:spPr>
            <a:xfrm>
              <a:off x="736195" y="4818364"/>
              <a:ext cx="1676400" cy="60350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Clipping and Culling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62000" y="5791200"/>
              <a:ext cx="17670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Visible primitives</a:t>
              </a:r>
            </a:p>
          </p:txBody>
        </p:sp>
        <p:cxnSp>
          <p:nvCxnSpPr>
            <p:cNvPr id="18" name="Straight Arrow Connector 17"/>
            <p:cNvCxnSpPr/>
            <p:nvPr/>
          </p:nvCxnSpPr>
          <p:spPr>
            <a:xfrm flipH="1">
              <a:off x="1574395" y="4507468"/>
              <a:ext cx="10621" cy="24636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 flipH="1">
              <a:off x="1563774" y="5486400"/>
              <a:ext cx="10621" cy="24636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>
              <a:off x="2514600" y="5981700"/>
              <a:ext cx="3048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/>
            <p:cNvSpPr/>
            <p:nvPr/>
          </p:nvSpPr>
          <p:spPr>
            <a:xfrm>
              <a:off x="2867025" y="1924050"/>
              <a:ext cx="1676400" cy="60350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Fragment Processing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352800" y="1295400"/>
              <a:ext cx="7116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Pixels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867025" y="3733800"/>
              <a:ext cx="1676400" cy="60350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Rasterization</a:t>
              </a:r>
              <a:endParaRPr lang="en-US" dirty="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165151" y="2907268"/>
              <a:ext cx="11496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Fragments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895600" y="5644896"/>
              <a:ext cx="1676400" cy="60350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Viewport Transform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2831949" y="4687669"/>
              <a:ext cx="192411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Primitives with 2D</a:t>
              </a:r>
            </a:p>
            <a:p>
              <a:pPr algn="ctr"/>
              <a:r>
                <a:rPr lang="en-US" dirty="0"/>
                <a:t>coordinates and z</a:t>
              </a:r>
            </a:p>
          </p:txBody>
        </p:sp>
        <p:cxnSp>
          <p:nvCxnSpPr>
            <p:cNvPr id="36" name="Straight Arrow Connector 35"/>
            <p:cNvCxnSpPr/>
            <p:nvPr/>
          </p:nvCxnSpPr>
          <p:spPr>
            <a:xfrm flipH="1" flipV="1">
              <a:off x="3667124" y="5334000"/>
              <a:ext cx="1" cy="2286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 flipH="1" flipV="1">
              <a:off x="3676650" y="4448175"/>
              <a:ext cx="1" cy="2286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 flipH="1" flipV="1">
              <a:off x="3676650" y="3352800"/>
              <a:ext cx="1" cy="2286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/>
            <p:nvPr/>
          </p:nvCxnSpPr>
          <p:spPr>
            <a:xfrm flipH="1" flipV="1">
              <a:off x="3667125" y="2762250"/>
              <a:ext cx="1" cy="2286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/>
            <p:nvPr/>
          </p:nvCxnSpPr>
          <p:spPr>
            <a:xfrm flipH="1" flipV="1">
              <a:off x="3657600" y="1638300"/>
              <a:ext cx="1" cy="2286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226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Rendering Pipeline – Overview</a:t>
            </a:r>
          </a:p>
        </p:txBody>
      </p:sp>
      <p:sp>
        <p:nvSpPr>
          <p:cNvPr id="26" name="Content Placeholder 2"/>
          <p:cNvSpPr>
            <a:spLocks noGrp="1"/>
          </p:cNvSpPr>
          <p:nvPr>
            <p:ph idx="1"/>
          </p:nvPr>
        </p:nvSpPr>
        <p:spPr>
          <a:xfrm>
            <a:off x="4876800" y="1922764"/>
            <a:ext cx="4038600" cy="4325636"/>
          </a:xfrm>
        </p:spPr>
        <p:txBody>
          <a:bodyPr>
            <a:normAutofit/>
          </a:bodyPr>
          <a:lstStyle/>
          <a:p>
            <a:r>
              <a:rPr lang="en-US" dirty="0"/>
              <a:t>Primitive assembly is the process of grouping of vertices to create primitives</a:t>
            </a:r>
          </a:p>
          <a:p>
            <a:pPr lvl="1"/>
            <a:r>
              <a:rPr lang="en-US" dirty="0"/>
              <a:t>Lines</a:t>
            </a:r>
          </a:p>
          <a:p>
            <a:pPr lvl="1"/>
            <a:r>
              <a:rPr lang="en-US" dirty="0"/>
              <a:t>Triangles</a:t>
            </a:r>
          </a:p>
          <a:p>
            <a:pPr lvl="1"/>
            <a:r>
              <a:rPr lang="en-US" dirty="0"/>
              <a:t>Quadrangles</a:t>
            </a:r>
          </a:p>
          <a:p>
            <a:pPr lvl="1"/>
            <a:r>
              <a:rPr lang="mr-IN" dirty="0"/>
              <a:t>…</a:t>
            </a:r>
            <a:endParaRPr lang="en-US" dirty="0"/>
          </a:p>
          <a:p>
            <a:r>
              <a:rPr lang="en-US" dirty="0"/>
              <a:t>This is just logical grouping, no actual objects are visible at this point</a:t>
            </a:r>
          </a:p>
        </p:txBody>
      </p:sp>
      <p:grpSp>
        <p:nvGrpSpPr>
          <p:cNvPr id="44" name="Group 43"/>
          <p:cNvGrpSpPr/>
          <p:nvPr/>
        </p:nvGrpSpPr>
        <p:grpSpPr>
          <a:xfrm>
            <a:off x="569884" y="1295400"/>
            <a:ext cx="4186181" cy="4953000"/>
            <a:chOff x="569884" y="1295400"/>
            <a:chExt cx="4186181" cy="4953000"/>
          </a:xfrm>
        </p:grpSpPr>
        <p:sp>
          <p:nvSpPr>
            <p:cNvPr id="4" name="Rectangle 3"/>
            <p:cNvSpPr/>
            <p:nvPr/>
          </p:nvSpPr>
          <p:spPr>
            <a:xfrm>
              <a:off x="736195" y="1922764"/>
              <a:ext cx="1676400" cy="603504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Vertex Processing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117195" y="1307068"/>
              <a:ext cx="9356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Vertices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69884" y="2754868"/>
              <a:ext cx="21475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Transformed vertices</a:t>
              </a:r>
            </a:p>
          </p:txBody>
        </p:sp>
        <p:cxnSp>
          <p:nvCxnSpPr>
            <p:cNvPr id="10" name="Straight Arrow Connector 9"/>
            <p:cNvCxnSpPr/>
            <p:nvPr/>
          </p:nvCxnSpPr>
          <p:spPr>
            <a:xfrm flipH="1">
              <a:off x="1574395" y="1611868"/>
              <a:ext cx="10621" cy="24636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 flipH="1">
              <a:off x="1563774" y="2584704"/>
              <a:ext cx="10621" cy="24636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/>
            <p:cNvSpPr/>
            <p:nvPr/>
          </p:nvSpPr>
          <p:spPr>
            <a:xfrm>
              <a:off x="736195" y="3370564"/>
              <a:ext cx="1676400" cy="603504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/>
                <a:t>Pr</a:t>
              </a:r>
              <a:r>
                <a:rPr lang="en-US" dirty="0" err="1"/>
                <a:t>imitive</a:t>
              </a:r>
              <a:r>
                <a:rPr lang="en-US" dirty="0"/>
                <a:t> Assembly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040995" y="4202668"/>
              <a:ext cx="10969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Primitives</a:t>
              </a:r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 flipH="1">
              <a:off x="1574395" y="3059668"/>
              <a:ext cx="10621" cy="24636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 flipH="1">
              <a:off x="1563774" y="4032504"/>
              <a:ext cx="10621" cy="24636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/>
            <p:cNvSpPr/>
            <p:nvPr/>
          </p:nvSpPr>
          <p:spPr>
            <a:xfrm>
              <a:off x="736195" y="4818364"/>
              <a:ext cx="1676400" cy="60350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Clipping and Culling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62000" y="5791200"/>
              <a:ext cx="17670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Visible primitives</a:t>
              </a:r>
            </a:p>
          </p:txBody>
        </p:sp>
        <p:cxnSp>
          <p:nvCxnSpPr>
            <p:cNvPr id="18" name="Straight Arrow Connector 17"/>
            <p:cNvCxnSpPr/>
            <p:nvPr/>
          </p:nvCxnSpPr>
          <p:spPr>
            <a:xfrm flipH="1">
              <a:off x="1574395" y="4507468"/>
              <a:ext cx="10621" cy="24636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 flipH="1">
              <a:off x="1563774" y="5486400"/>
              <a:ext cx="10621" cy="24636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>
              <a:off x="2514600" y="5981700"/>
              <a:ext cx="3048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/>
            <p:cNvSpPr/>
            <p:nvPr/>
          </p:nvSpPr>
          <p:spPr>
            <a:xfrm>
              <a:off x="2867025" y="1924050"/>
              <a:ext cx="1676400" cy="60350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Fragment Processing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352800" y="1295400"/>
              <a:ext cx="7116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Pixels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867025" y="3733800"/>
              <a:ext cx="1676400" cy="60350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Rasterization</a:t>
              </a:r>
              <a:endParaRPr lang="en-US" dirty="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165151" y="2907268"/>
              <a:ext cx="11496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Fragments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895600" y="5644896"/>
              <a:ext cx="1676400" cy="60350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Viewport Transform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2831949" y="4687669"/>
              <a:ext cx="192411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Primitives with 2D</a:t>
              </a:r>
            </a:p>
            <a:p>
              <a:pPr algn="ctr"/>
              <a:r>
                <a:rPr lang="en-US" dirty="0"/>
                <a:t>coordinates and z</a:t>
              </a:r>
            </a:p>
          </p:txBody>
        </p:sp>
        <p:cxnSp>
          <p:nvCxnSpPr>
            <p:cNvPr id="36" name="Straight Arrow Connector 35"/>
            <p:cNvCxnSpPr/>
            <p:nvPr/>
          </p:nvCxnSpPr>
          <p:spPr>
            <a:xfrm flipH="1" flipV="1">
              <a:off x="3667124" y="5334000"/>
              <a:ext cx="1" cy="2286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 flipH="1" flipV="1">
              <a:off x="3676650" y="4448175"/>
              <a:ext cx="1" cy="2286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 flipH="1" flipV="1">
              <a:off x="3676650" y="3352800"/>
              <a:ext cx="1" cy="2286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/>
            <p:nvPr/>
          </p:nvCxnSpPr>
          <p:spPr>
            <a:xfrm flipH="1" flipV="1">
              <a:off x="3667125" y="2762250"/>
              <a:ext cx="1" cy="2286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/>
            <p:nvPr/>
          </p:nvCxnSpPr>
          <p:spPr>
            <a:xfrm flipH="1" flipV="1">
              <a:off x="3657600" y="1638300"/>
              <a:ext cx="1" cy="2286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240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Rendering Pipeline – Overview</a:t>
            </a:r>
          </a:p>
        </p:txBody>
      </p:sp>
      <p:sp>
        <p:nvSpPr>
          <p:cNvPr id="26" name="Content Placeholder 2"/>
          <p:cNvSpPr>
            <a:spLocks noGrp="1"/>
          </p:cNvSpPr>
          <p:nvPr>
            <p:ph idx="1"/>
          </p:nvPr>
        </p:nvSpPr>
        <p:spPr>
          <a:xfrm>
            <a:off x="4876800" y="1922764"/>
            <a:ext cx="4038600" cy="4325636"/>
          </a:xfrm>
        </p:spPr>
        <p:txBody>
          <a:bodyPr>
            <a:normAutofit/>
          </a:bodyPr>
          <a:lstStyle/>
          <a:p>
            <a:r>
              <a:rPr lang="en-US" dirty="0"/>
              <a:t>During clipping and culling, primitives outside the CVV must be culled</a:t>
            </a:r>
          </a:p>
          <a:p>
            <a:r>
              <a:rPr lang="en-US" dirty="0"/>
              <a:t>Primitives partially inside the CVV must be clipped</a:t>
            </a:r>
          </a:p>
          <a:p>
            <a:pPr lvl="1"/>
            <a:r>
              <a:rPr lang="en-US" dirty="0"/>
              <a:t>May produce new vertices</a:t>
            </a:r>
          </a:p>
        </p:txBody>
      </p:sp>
      <p:grpSp>
        <p:nvGrpSpPr>
          <p:cNvPr id="44" name="Group 43"/>
          <p:cNvGrpSpPr/>
          <p:nvPr/>
        </p:nvGrpSpPr>
        <p:grpSpPr>
          <a:xfrm>
            <a:off x="569884" y="1295400"/>
            <a:ext cx="4186181" cy="4953000"/>
            <a:chOff x="569884" y="1295400"/>
            <a:chExt cx="4186181" cy="4953000"/>
          </a:xfrm>
        </p:grpSpPr>
        <p:sp>
          <p:nvSpPr>
            <p:cNvPr id="4" name="Rectangle 3"/>
            <p:cNvSpPr/>
            <p:nvPr/>
          </p:nvSpPr>
          <p:spPr>
            <a:xfrm>
              <a:off x="736195" y="1922764"/>
              <a:ext cx="1676400" cy="603504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Vertex Processing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117195" y="1307068"/>
              <a:ext cx="9356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Vertices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69884" y="2754868"/>
              <a:ext cx="21475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Transformed vertices</a:t>
              </a:r>
            </a:p>
          </p:txBody>
        </p:sp>
        <p:cxnSp>
          <p:nvCxnSpPr>
            <p:cNvPr id="10" name="Straight Arrow Connector 9"/>
            <p:cNvCxnSpPr/>
            <p:nvPr/>
          </p:nvCxnSpPr>
          <p:spPr>
            <a:xfrm flipH="1">
              <a:off x="1574395" y="1611868"/>
              <a:ext cx="10621" cy="24636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 flipH="1">
              <a:off x="1563774" y="2584704"/>
              <a:ext cx="10621" cy="24636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/>
            <p:cNvSpPr/>
            <p:nvPr/>
          </p:nvSpPr>
          <p:spPr>
            <a:xfrm>
              <a:off x="736195" y="3370564"/>
              <a:ext cx="1676400" cy="603504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/>
                <a:t>Pr</a:t>
              </a:r>
              <a:r>
                <a:rPr lang="en-US" dirty="0" err="1"/>
                <a:t>imitive</a:t>
              </a:r>
              <a:r>
                <a:rPr lang="en-US" dirty="0"/>
                <a:t> Assembly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040995" y="4202668"/>
              <a:ext cx="10969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Primitives</a:t>
              </a:r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 flipH="1">
              <a:off x="1574395" y="3059668"/>
              <a:ext cx="10621" cy="24636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 flipH="1">
              <a:off x="1563774" y="4032504"/>
              <a:ext cx="10621" cy="24636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/>
            <p:cNvSpPr/>
            <p:nvPr/>
          </p:nvSpPr>
          <p:spPr>
            <a:xfrm>
              <a:off x="736195" y="4818364"/>
              <a:ext cx="1676400" cy="603504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Clipping and Culling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62000" y="5791200"/>
              <a:ext cx="17670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Visible primitives</a:t>
              </a:r>
            </a:p>
          </p:txBody>
        </p:sp>
        <p:cxnSp>
          <p:nvCxnSpPr>
            <p:cNvPr id="18" name="Straight Arrow Connector 17"/>
            <p:cNvCxnSpPr/>
            <p:nvPr/>
          </p:nvCxnSpPr>
          <p:spPr>
            <a:xfrm flipH="1">
              <a:off x="1574395" y="4507468"/>
              <a:ext cx="10621" cy="24636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 flipH="1">
              <a:off x="1563774" y="5486400"/>
              <a:ext cx="10621" cy="24636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>
              <a:off x="2514600" y="5981700"/>
              <a:ext cx="3048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/>
            <p:cNvSpPr/>
            <p:nvPr/>
          </p:nvSpPr>
          <p:spPr>
            <a:xfrm>
              <a:off x="2867025" y="1924050"/>
              <a:ext cx="1676400" cy="60350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Fragment Processing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352800" y="1295400"/>
              <a:ext cx="7116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Pixels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867025" y="3733800"/>
              <a:ext cx="1676400" cy="60350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Rasterization</a:t>
              </a:r>
              <a:endParaRPr lang="en-US" dirty="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165151" y="2907268"/>
              <a:ext cx="11496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Fragments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895600" y="5644896"/>
              <a:ext cx="1676400" cy="60350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Viewport Transform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2831949" y="4687669"/>
              <a:ext cx="192411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Primitives with 2D</a:t>
              </a:r>
            </a:p>
            <a:p>
              <a:pPr algn="ctr"/>
              <a:r>
                <a:rPr lang="en-US" dirty="0"/>
                <a:t>coordinates and z</a:t>
              </a:r>
            </a:p>
          </p:txBody>
        </p:sp>
        <p:cxnSp>
          <p:nvCxnSpPr>
            <p:cNvPr id="36" name="Straight Arrow Connector 35"/>
            <p:cNvCxnSpPr/>
            <p:nvPr/>
          </p:nvCxnSpPr>
          <p:spPr>
            <a:xfrm flipH="1" flipV="1">
              <a:off x="3667124" y="5334000"/>
              <a:ext cx="1" cy="2286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 flipH="1" flipV="1">
              <a:off x="3676650" y="4448175"/>
              <a:ext cx="1" cy="2286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 flipH="1" flipV="1">
              <a:off x="3676650" y="3352800"/>
              <a:ext cx="1" cy="2286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/>
            <p:nvPr/>
          </p:nvCxnSpPr>
          <p:spPr>
            <a:xfrm flipH="1" flipV="1">
              <a:off x="3667125" y="2762250"/>
              <a:ext cx="1" cy="2286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/>
            <p:nvPr/>
          </p:nvCxnSpPr>
          <p:spPr>
            <a:xfrm flipH="1" flipV="1">
              <a:off x="3657600" y="1638300"/>
              <a:ext cx="1" cy="2286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262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Rendering Pipeline – Overview</a:t>
            </a:r>
          </a:p>
        </p:txBody>
      </p:sp>
      <p:sp>
        <p:nvSpPr>
          <p:cNvPr id="26" name="Content Placeholder 2"/>
          <p:cNvSpPr>
            <a:spLocks noGrp="1"/>
          </p:cNvSpPr>
          <p:nvPr>
            <p:ph idx="1"/>
          </p:nvPr>
        </p:nvSpPr>
        <p:spPr>
          <a:xfrm>
            <a:off x="4876800" y="1922764"/>
            <a:ext cx="4038600" cy="4325636"/>
          </a:xfrm>
        </p:spPr>
        <p:txBody>
          <a:bodyPr>
            <a:normAutofit/>
          </a:bodyPr>
          <a:lstStyle/>
          <a:p>
            <a:r>
              <a:rPr lang="en-US" dirty="0"/>
              <a:t>With viewport transform, all surviving (and potentially clipped) primitives acquire viewport coordinates</a:t>
            </a:r>
          </a:p>
          <a:p>
            <a:pPr lvl="1"/>
            <a:r>
              <a:rPr lang="en-US" dirty="0"/>
              <a:t>We work on integer pixel coordinates from this point on</a:t>
            </a:r>
          </a:p>
          <a:p>
            <a:pPr lvl="1"/>
            <a:r>
              <a:rPr lang="en-US" dirty="0"/>
              <a:t>Depth can be fixed point or floating point number in [0, 1] range (unless changed by </a:t>
            </a:r>
            <a:r>
              <a:rPr lang="en-US" dirty="0" err="1"/>
              <a:t>glDepthRange</a:t>
            </a:r>
            <a:r>
              <a:rPr lang="en-US" dirty="0"/>
              <a:t>)</a:t>
            </a:r>
          </a:p>
        </p:txBody>
      </p:sp>
      <p:grpSp>
        <p:nvGrpSpPr>
          <p:cNvPr id="44" name="Group 43"/>
          <p:cNvGrpSpPr/>
          <p:nvPr/>
        </p:nvGrpSpPr>
        <p:grpSpPr>
          <a:xfrm>
            <a:off x="569884" y="1295400"/>
            <a:ext cx="4186181" cy="4953000"/>
            <a:chOff x="569884" y="1295400"/>
            <a:chExt cx="4186181" cy="4953000"/>
          </a:xfrm>
        </p:grpSpPr>
        <p:sp>
          <p:nvSpPr>
            <p:cNvPr id="4" name="Rectangle 3"/>
            <p:cNvSpPr/>
            <p:nvPr/>
          </p:nvSpPr>
          <p:spPr>
            <a:xfrm>
              <a:off x="736195" y="1922764"/>
              <a:ext cx="1676400" cy="603504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Vertex Processing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117195" y="1307068"/>
              <a:ext cx="9356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Vertices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69884" y="2754868"/>
              <a:ext cx="21475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Transformed vertices</a:t>
              </a:r>
            </a:p>
          </p:txBody>
        </p:sp>
        <p:cxnSp>
          <p:nvCxnSpPr>
            <p:cNvPr id="10" name="Straight Arrow Connector 9"/>
            <p:cNvCxnSpPr/>
            <p:nvPr/>
          </p:nvCxnSpPr>
          <p:spPr>
            <a:xfrm flipH="1">
              <a:off x="1574395" y="1611868"/>
              <a:ext cx="10621" cy="24636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 flipH="1">
              <a:off x="1563774" y="2584704"/>
              <a:ext cx="10621" cy="24636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/>
            <p:cNvSpPr/>
            <p:nvPr/>
          </p:nvSpPr>
          <p:spPr>
            <a:xfrm>
              <a:off x="736195" y="3370564"/>
              <a:ext cx="1676400" cy="603504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/>
                <a:t>Pr</a:t>
              </a:r>
              <a:r>
                <a:rPr lang="en-US" dirty="0" err="1"/>
                <a:t>imitive</a:t>
              </a:r>
              <a:r>
                <a:rPr lang="en-US" dirty="0"/>
                <a:t> Assembly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040995" y="4202668"/>
              <a:ext cx="10969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Primitives</a:t>
              </a:r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 flipH="1">
              <a:off x="1574395" y="3059668"/>
              <a:ext cx="10621" cy="24636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 flipH="1">
              <a:off x="1563774" y="4032504"/>
              <a:ext cx="10621" cy="24636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/>
            <p:cNvSpPr/>
            <p:nvPr/>
          </p:nvSpPr>
          <p:spPr>
            <a:xfrm>
              <a:off x="736195" y="4818364"/>
              <a:ext cx="1676400" cy="603504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Clipping and Culling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62000" y="5791200"/>
              <a:ext cx="17670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Visible primitives</a:t>
              </a:r>
            </a:p>
          </p:txBody>
        </p:sp>
        <p:cxnSp>
          <p:nvCxnSpPr>
            <p:cNvPr id="18" name="Straight Arrow Connector 17"/>
            <p:cNvCxnSpPr/>
            <p:nvPr/>
          </p:nvCxnSpPr>
          <p:spPr>
            <a:xfrm flipH="1">
              <a:off x="1574395" y="4507468"/>
              <a:ext cx="10621" cy="24636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 flipH="1">
              <a:off x="1563774" y="5486400"/>
              <a:ext cx="10621" cy="24636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>
              <a:off x="2514600" y="5981700"/>
              <a:ext cx="3048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/>
            <p:cNvSpPr/>
            <p:nvPr/>
          </p:nvSpPr>
          <p:spPr>
            <a:xfrm>
              <a:off x="2867025" y="1924050"/>
              <a:ext cx="1676400" cy="60350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Fragment Processing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352800" y="1295400"/>
              <a:ext cx="7116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Pixels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867025" y="3733800"/>
              <a:ext cx="1676400" cy="60350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Rasterization</a:t>
              </a:r>
              <a:endParaRPr lang="en-US" dirty="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165151" y="2907268"/>
              <a:ext cx="11496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Fragments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895600" y="5644896"/>
              <a:ext cx="1676400" cy="603504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Viewport Transform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2831949" y="4687669"/>
              <a:ext cx="192411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Primitives with 2D</a:t>
              </a:r>
            </a:p>
            <a:p>
              <a:pPr algn="ctr"/>
              <a:r>
                <a:rPr lang="en-US" dirty="0"/>
                <a:t>coordinates and z</a:t>
              </a:r>
            </a:p>
          </p:txBody>
        </p:sp>
        <p:cxnSp>
          <p:nvCxnSpPr>
            <p:cNvPr id="36" name="Straight Arrow Connector 35"/>
            <p:cNvCxnSpPr/>
            <p:nvPr/>
          </p:nvCxnSpPr>
          <p:spPr>
            <a:xfrm flipH="1" flipV="1">
              <a:off x="3667124" y="5334000"/>
              <a:ext cx="1" cy="2286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 flipH="1" flipV="1">
              <a:off x="3676650" y="4448175"/>
              <a:ext cx="1" cy="2286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 flipH="1" flipV="1">
              <a:off x="3676650" y="3352800"/>
              <a:ext cx="1" cy="2286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/>
            <p:nvPr/>
          </p:nvCxnSpPr>
          <p:spPr>
            <a:xfrm flipH="1" flipV="1">
              <a:off x="3667125" y="2762250"/>
              <a:ext cx="1" cy="2286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/>
            <p:nvPr/>
          </p:nvCxnSpPr>
          <p:spPr>
            <a:xfrm flipH="1" flipV="1">
              <a:off x="3657600" y="1638300"/>
              <a:ext cx="1" cy="2286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58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Rendering Pipeline – Overview</a:t>
            </a:r>
          </a:p>
        </p:txBody>
      </p:sp>
      <p:sp>
        <p:nvSpPr>
          <p:cNvPr id="26" name="Content Placeholder 2"/>
          <p:cNvSpPr>
            <a:spLocks noGrp="1"/>
          </p:cNvSpPr>
          <p:nvPr>
            <p:ph idx="1"/>
          </p:nvPr>
        </p:nvSpPr>
        <p:spPr>
          <a:xfrm>
            <a:off x="4876800" y="1922764"/>
            <a:ext cx="4038600" cy="4325636"/>
          </a:xfrm>
        </p:spPr>
        <p:txBody>
          <a:bodyPr>
            <a:normAutofit/>
          </a:bodyPr>
          <a:lstStyle/>
          <a:p>
            <a:r>
              <a:rPr lang="en-US" dirty="0" err="1"/>
              <a:t>Rasterization</a:t>
            </a:r>
            <a:r>
              <a:rPr lang="en-US" dirty="0"/>
              <a:t> is the process of determining the pixels (fragments) that make up a primitive</a:t>
            </a:r>
          </a:p>
          <a:p>
            <a:pPr lvl="1"/>
            <a:r>
              <a:rPr lang="en-US" dirty="0"/>
              <a:t>Different algorithms for lines, triangles, etc. </a:t>
            </a:r>
          </a:p>
        </p:txBody>
      </p:sp>
      <p:grpSp>
        <p:nvGrpSpPr>
          <p:cNvPr id="44" name="Group 43"/>
          <p:cNvGrpSpPr/>
          <p:nvPr/>
        </p:nvGrpSpPr>
        <p:grpSpPr>
          <a:xfrm>
            <a:off x="569884" y="1295400"/>
            <a:ext cx="4186181" cy="4953000"/>
            <a:chOff x="569884" y="1295400"/>
            <a:chExt cx="4186181" cy="4953000"/>
          </a:xfrm>
        </p:grpSpPr>
        <p:sp>
          <p:nvSpPr>
            <p:cNvPr id="4" name="Rectangle 3"/>
            <p:cNvSpPr/>
            <p:nvPr/>
          </p:nvSpPr>
          <p:spPr>
            <a:xfrm>
              <a:off x="736195" y="1922764"/>
              <a:ext cx="1676400" cy="603504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Vertex Processing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117195" y="1307068"/>
              <a:ext cx="9356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Vertices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69884" y="2754868"/>
              <a:ext cx="21475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Transformed vertices</a:t>
              </a:r>
            </a:p>
          </p:txBody>
        </p:sp>
        <p:cxnSp>
          <p:nvCxnSpPr>
            <p:cNvPr id="10" name="Straight Arrow Connector 9"/>
            <p:cNvCxnSpPr/>
            <p:nvPr/>
          </p:nvCxnSpPr>
          <p:spPr>
            <a:xfrm flipH="1">
              <a:off x="1574395" y="1611868"/>
              <a:ext cx="10621" cy="24636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 flipH="1">
              <a:off x="1563774" y="2584704"/>
              <a:ext cx="10621" cy="24636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/>
            <p:cNvSpPr/>
            <p:nvPr/>
          </p:nvSpPr>
          <p:spPr>
            <a:xfrm>
              <a:off x="736195" y="3370564"/>
              <a:ext cx="1676400" cy="603504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/>
                <a:t>Pr</a:t>
              </a:r>
              <a:r>
                <a:rPr lang="en-US" dirty="0" err="1"/>
                <a:t>imitive</a:t>
              </a:r>
              <a:r>
                <a:rPr lang="en-US" dirty="0"/>
                <a:t> Assembly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040995" y="4202668"/>
              <a:ext cx="10969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Primitives</a:t>
              </a:r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 flipH="1">
              <a:off x="1574395" y="3059668"/>
              <a:ext cx="10621" cy="24636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 flipH="1">
              <a:off x="1563774" y="4032504"/>
              <a:ext cx="10621" cy="24636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/>
            <p:cNvSpPr/>
            <p:nvPr/>
          </p:nvSpPr>
          <p:spPr>
            <a:xfrm>
              <a:off x="736195" y="4818364"/>
              <a:ext cx="1676400" cy="603504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Clipping and Culling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62000" y="5791200"/>
              <a:ext cx="17670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Visible primitives</a:t>
              </a:r>
            </a:p>
          </p:txBody>
        </p:sp>
        <p:cxnSp>
          <p:nvCxnSpPr>
            <p:cNvPr id="18" name="Straight Arrow Connector 17"/>
            <p:cNvCxnSpPr/>
            <p:nvPr/>
          </p:nvCxnSpPr>
          <p:spPr>
            <a:xfrm flipH="1">
              <a:off x="1574395" y="4507468"/>
              <a:ext cx="10621" cy="24636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 flipH="1">
              <a:off x="1563774" y="5486400"/>
              <a:ext cx="10621" cy="24636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>
              <a:off x="2514600" y="5981700"/>
              <a:ext cx="3048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/>
            <p:cNvSpPr/>
            <p:nvPr/>
          </p:nvSpPr>
          <p:spPr>
            <a:xfrm>
              <a:off x="2867025" y="1924050"/>
              <a:ext cx="1676400" cy="60350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Fragment Processing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352800" y="1295400"/>
              <a:ext cx="7116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Pixels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867025" y="3733800"/>
              <a:ext cx="1676400" cy="603504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Rasterization</a:t>
              </a:r>
              <a:endParaRPr lang="en-US" dirty="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165151" y="2907268"/>
              <a:ext cx="11496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Fragments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895600" y="5644896"/>
              <a:ext cx="1676400" cy="603504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Viewport Transform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2831949" y="4687669"/>
              <a:ext cx="192411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Primitives with 2D</a:t>
              </a:r>
            </a:p>
            <a:p>
              <a:pPr algn="ctr"/>
              <a:r>
                <a:rPr lang="en-US" dirty="0"/>
                <a:t>coordinates and z</a:t>
              </a:r>
            </a:p>
          </p:txBody>
        </p:sp>
        <p:cxnSp>
          <p:nvCxnSpPr>
            <p:cNvPr id="36" name="Straight Arrow Connector 35"/>
            <p:cNvCxnSpPr/>
            <p:nvPr/>
          </p:nvCxnSpPr>
          <p:spPr>
            <a:xfrm flipH="1" flipV="1">
              <a:off x="3667124" y="5334000"/>
              <a:ext cx="1" cy="2286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 flipH="1" flipV="1">
              <a:off x="3676650" y="4448175"/>
              <a:ext cx="1" cy="2286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 flipH="1" flipV="1">
              <a:off x="3676650" y="3352800"/>
              <a:ext cx="1" cy="2286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/>
            <p:nvPr/>
          </p:nvCxnSpPr>
          <p:spPr>
            <a:xfrm flipH="1" flipV="1">
              <a:off x="3667125" y="2762250"/>
              <a:ext cx="1" cy="2286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/>
            <p:nvPr/>
          </p:nvCxnSpPr>
          <p:spPr>
            <a:xfrm flipH="1" flipV="1">
              <a:off x="3657600" y="1638300"/>
              <a:ext cx="1" cy="2286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0531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Rendering Pipeline – Overview</a:t>
            </a:r>
          </a:p>
        </p:txBody>
      </p:sp>
      <p:sp>
        <p:nvSpPr>
          <p:cNvPr id="26" name="Content Placeholder 2"/>
          <p:cNvSpPr>
            <a:spLocks noGrp="1"/>
          </p:cNvSpPr>
          <p:nvPr>
            <p:ph idx="1"/>
          </p:nvPr>
        </p:nvSpPr>
        <p:spPr>
          <a:xfrm>
            <a:off x="4876800" y="1922764"/>
            <a:ext cx="4038600" cy="4325636"/>
          </a:xfrm>
        </p:spPr>
        <p:txBody>
          <a:bodyPr>
            <a:normAutofit/>
          </a:bodyPr>
          <a:lstStyle/>
          <a:p>
            <a:r>
              <a:rPr lang="en-US" dirty="0"/>
              <a:t>Finally, each fragment may be further processed before being a visible pixel on the screen (or being written to a memory buffer)</a:t>
            </a:r>
          </a:p>
          <a:p>
            <a:pPr lvl="1"/>
            <a:r>
              <a:rPr lang="en-US" dirty="0"/>
              <a:t>Depth testing</a:t>
            </a:r>
          </a:p>
          <a:p>
            <a:pPr lvl="1"/>
            <a:r>
              <a:rPr lang="en-US" dirty="0"/>
              <a:t>Alpha blending</a:t>
            </a:r>
          </a:p>
          <a:p>
            <a:pPr lvl="1"/>
            <a:r>
              <a:rPr lang="mr-IN" dirty="0"/>
              <a:t>…</a:t>
            </a:r>
            <a:endParaRPr lang="en-US" dirty="0"/>
          </a:p>
          <a:p>
            <a:r>
              <a:rPr lang="en-US" dirty="0"/>
              <a:t>This has a pipeline on its own</a:t>
            </a:r>
          </a:p>
        </p:txBody>
      </p:sp>
      <p:grpSp>
        <p:nvGrpSpPr>
          <p:cNvPr id="44" name="Group 43"/>
          <p:cNvGrpSpPr/>
          <p:nvPr/>
        </p:nvGrpSpPr>
        <p:grpSpPr>
          <a:xfrm>
            <a:off x="569884" y="1295400"/>
            <a:ext cx="4186181" cy="4953000"/>
            <a:chOff x="569884" y="1295400"/>
            <a:chExt cx="4186181" cy="4953000"/>
          </a:xfrm>
        </p:grpSpPr>
        <p:sp>
          <p:nvSpPr>
            <p:cNvPr id="4" name="Rectangle 3"/>
            <p:cNvSpPr/>
            <p:nvPr/>
          </p:nvSpPr>
          <p:spPr>
            <a:xfrm>
              <a:off x="736195" y="1922764"/>
              <a:ext cx="1676400" cy="603504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Vertex Processing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117195" y="1307068"/>
              <a:ext cx="9356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Vertices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69884" y="2754868"/>
              <a:ext cx="21475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Transformed vertices</a:t>
              </a:r>
            </a:p>
          </p:txBody>
        </p:sp>
        <p:cxnSp>
          <p:nvCxnSpPr>
            <p:cNvPr id="10" name="Straight Arrow Connector 9"/>
            <p:cNvCxnSpPr/>
            <p:nvPr/>
          </p:nvCxnSpPr>
          <p:spPr>
            <a:xfrm flipH="1">
              <a:off x="1574395" y="1611868"/>
              <a:ext cx="10621" cy="24636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 flipH="1">
              <a:off x="1563774" y="2584704"/>
              <a:ext cx="10621" cy="24636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/>
            <p:cNvSpPr/>
            <p:nvPr/>
          </p:nvSpPr>
          <p:spPr>
            <a:xfrm>
              <a:off x="736195" y="3370564"/>
              <a:ext cx="1676400" cy="603504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/>
                <a:t>Pr</a:t>
              </a:r>
              <a:r>
                <a:rPr lang="en-US" dirty="0" err="1"/>
                <a:t>imitive</a:t>
              </a:r>
              <a:r>
                <a:rPr lang="en-US" dirty="0"/>
                <a:t> Assembly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040995" y="4202668"/>
              <a:ext cx="10969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Primitives</a:t>
              </a:r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 flipH="1">
              <a:off x="1574395" y="3059668"/>
              <a:ext cx="10621" cy="24636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 flipH="1">
              <a:off x="1563774" y="4032504"/>
              <a:ext cx="10621" cy="24636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/>
            <p:cNvSpPr/>
            <p:nvPr/>
          </p:nvSpPr>
          <p:spPr>
            <a:xfrm>
              <a:off x="736195" y="4818364"/>
              <a:ext cx="1676400" cy="603504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Clipping and Culling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62000" y="5791200"/>
              <a:ext cx="17670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Visible primitives</a:t>
              </a:r>
            </a:p>
          </p:txBody>
        </p:sp>
        <p:cxnSp>
          <p:nvCxnSpPr>
            <p:cNvPr id="18" name="Straight Arrow Connector 17"/>
            <p:cNvCxnSpPr/>
            <p:nvPr/>
          </p:nvCxnSpPr>
          <p:spPr>
            <a:xfrm flipH="1">
              <a:off x="1574395" y="4507468"/>
              <a:ext cx="10621" cy="24636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 flipH="1">
              <a:off x="1563774" y="5486400"/>
              <a:ext cx="10621" cy="24636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>
              <a:off x="2514600" y="5981700"/>
              <a:ext cx="3048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/>
            <p:cNvSpPr/>
            <p:nvPr/>
          </p:nvSpPr>
          <p:spPr>
            <a:xfrm>
              <a:off x="2867025" y="1924050"/>
              <a:ext cx="1676400" cy="603504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Fragment Processing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352800" y="1295400"/>
              <a:ext cx="7116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Pixels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867025" y="3733800"/>
              <a:ext cx="1676400" cy="603504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Rasterization</a:t>
              </a:r>
              <a:endParaRPr lang="en-US" dirty="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165151" y="2907268"/>
              <a:ext cx="11496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Fragments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895600" y="5644896"/>
              <a:ext cx="1676400" cy="603504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Viewport Transform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2831949" y="4687669"/>
              <a:ext cx="192411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Primitives with 2D</a:t>
              </a:r>
            </a:p>
            <a:p>
              <a:pPr algn="ctr"/>
              <a:r>
                <a:rPr lang="en-US" dirty="0"/>
                <a:t>coordinates and z</a:t>
              </a:r>
            </a:p>
          </p:txBody>
        </p:sp>
        <p:cxnSp>
          <p:nvCxnSpPr>
            <p:cNvPr id="36" name="Straight Arrow Connector 35"/>
            <p:cNvCxnSpPr/>
            <p:nvPr/>
          </p:nvCxnSpPr>
          <p:spPr>
            <a:xfrm flipH="1" flipV="1">
              <a:off x="3667124" y="5334000"/>
              <a:ext cx="1" cy="2286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 flipH="1" flipV="1">
              <a:off x="3676650" y="4448175"/>
              <a:ext cx="1" cy="2286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 flipH="1" flipV="1">
              <a:off x="3676650" y="3352800"/>
              <a:ext cx="1" cy="2286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/>
            <p:nvPr/>
          </p:nvCxnSpPr>
          <p:spPr>
            <a:xfrm flipH="1" flipV="1">
              <a:off x="3667125" y="2762250"/>
              <a:ext cx="1" cy="2286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/>
            <p:nvPr/>
          </p:nvCxnSpPr>
          <p:spPr>
            <a:xfrm flipH="1" flipV="1">
              <a:off x="3657600" y="1638300"/>
              <a:ext cx="1" cy="2286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5145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Until Now</a:t>
            </a:r>
          </a:p>
        </p:txBody>
      </p:sp>
      <p:sp>
        <p:nvSpPr>
          <p:cNvPr id="26" name="Content Placeholder 2"/>
          <p:cNvSpPr>
            <a:spLocks noGrp="1"/>
          </p:cNvSpPr>
          <p:nvPr>
            <p:ph idx="1"/>
          </p:nvPr>
        </p:nvSpPr>
        <p:spPr>
          <a:xfrm>
            <a:off x="4876800" y="1922764"/>
            <a:ext cx="4038600" cy="4325636"/>
          </a:xfrm>
        </p:spPr>
        <p:txBody>
          <a:bodyPr>
            <a:normAutofit/>
          </a:bodyPr>
          <a:lstStyle/>
          <a:p>
            <a:r>
              <a:rPr lang="tr-TR" dirty="0" err="1"/>
              <a:t>We</a:t>
            </a:r>
            <a:r>
              <a:rPr lang="tr-TR" dirty="0"/>
              <a:t> </a:t>
            </a:r>
            <a:r>
              <a:rPr lang="tr-TR" dirty="0" err="1"/>
              <a:t>learned</a:t>
            </a:r>
            <a:r>
              <a:rPr lang="tr-TR" dirty="0"/>
              <a:t> </a:t>
            </a:r>
            <a:r>
              <a:rPr lang="tr-TR" dirty="0" err="1"/>
              <a:t>about</a:t>
            </a:r>
            <a:r>
              <a:rPr lang="tr-TR" dirty="0"/>
              <a:t> </a:t>
            </a:r>
            <a:r>
              <a:rPr lang="tr-TR" dirty="0" err="1"/>
              <a:t>vertex</a:t>
            </a:r>
            <a:r>
              <a:rPr lang="tr-TR" dirty="0"/>
              <a:t> </a:t>
            </a:r>
            <a:r>
              <a:rPr lang="tr-TR" dirty="0" err="1"/>
              <a:t>processing</a:t>
            </a:r>
            <a:endParaRPr lang="tr-TR" dirty="0"/>
          </a:p>
          <a:p>
            <a:pPr lvl="1"/>
            <a:r>
              <a:rPr lang="tr-TR" dirty="0" err="1"/>
              <a:t>Modeling</a:t>
            </a:r>
            <a:r>
              <a:rPr lang="tr-TR" dirty="0"/>
              <a:t> trans.</a:t>
            </a:r>
          </a:p>
          <a:p>
            <a:pPr lvl="1"/>
            <a:r>
              <a:rPr lang="tr-TR" dirty="0" err="1"/>
              <a:t>Viewing</a:t>
            </a:r>
            <a:r>
              <a:rPr lang="tr-TR" dirty="0"/>
              <a:t> trans.</a:t>
            </a:r>
          </a:p>
          <a:p>
            <a:pPr lvl="1"/>
            <a:r>
              <a:rPr lang="tr-TR" dirty="0" err="1"/>
              <a:t>Projection</a:t>
            </a:r>
            <a:r>
              <a:rPr lang="tr-TR" dirty="0"/>
              <a:t> trans.</a:t>
            </a:r>
          </a:p>
          <a:p>
            <a:pPr lvl="1"/>
            <a:r>
              <a:rPr lang="tr-TR" dirty="0" err="1"/>
              <a:t>Viewport</a:t>
            </a:r>
            <a:r>
              <a:rPr lang="tr-TR" dirty="0"/>
              <a:t> trans.</a:t>
            </a:r>
          </a:p>
          <a:p>
            <a:r>
              <a:rPr lang="tr-TR" dirty="0" err="1"/>
              <a:t>We</a:t>
            </a:r>
            <a:r>
              <a:rPr lang="tr-TR" dirty="0"/>
              <a:t> </a:t>
            </a:r>
            <a:r>
              <a:rPr lang="tr-TR" dirty="0" err="1"/>
              <a:t>will</a:t>
            </a:r>
            <a:r>
              <a:rPr lang="tr-TR" dirty="0"/>
              <a:t> </a:t>
            </a:r>
            <a:r>
              <a:rPr lang="tr-TR" dirty="0" err="1"/>
              <a:t>now</a:t>
            </a:r>
            <a:r>
              <a:rPr lang="tr-TR" dirty="0"/>
              <a:t> </a:t>
            </a:r>
            <a:r>
              <a:rPr lang="tr-TR" dirty="0" err="1"/>
              <a:t>focus</a:t>
            </a:r>
            <a:r>
              <a:rPr lang="tr-TR" dirty="0"/>
              <a:t> on</a:t>
            </a:r>
          </a:p>
          <a:p>
            <a:pPr lvl="1"/>
            <a:r>
              <a:rPr lang="tr-TR" dirty="0" err="1"/>
              <a:t>Clipping</a:t>
            </a:r>
            <a:r>
              <a:rPr lang="tr-TR" dirty="0"/>
              <a:t> &amp; </a:t>
            </a:r>
            <a:r>
              <a:rPr lang="tr-TR" dirty="0" err="1"/>
              <a:t>Culling</a:t>
            </a:r>
            <a:endParaRPr lang="tr-TR" dirty="0"/>
          </a:p>
          <a:p>
            <a:pPr lvl="1"/>
            <a:r>
              <a:rPr lang="tr-TR" dirty="0" err="1"/>
              <a:t>Rasterization</a:t>
            </a:r>
            <a:endParaRPr lang="tr-TR" dirty="0"/>
          </a:p>
          <a:p>
            <a:pPr lvl="1"/>
            <a:r>
              <a:rPr lang="tr-TR" dirty="0" err="1"/>
              <a:t>Fragment</a:t>
            </a:r>
            <a:r>
              <a:rPr lang="tr-TR" dirty="0"/>
              <a:t> </a:t>
            </a:r>
            <a:r>
              <a:rPr lang="tr-TR" dirty="0" err="1"/>
              <a:t>processing</a:t>
            </a:r>
            <a:endParaRPr lang="tr-TR" dirty="0"/>
          </a:p>
          <a:p>
            <a:pPr lvl="1"/>
            <a:endParaRPr lang="en-US" dirty="0"/>
          </a:p>
        </p:txBody>
      </p:sp>
      <p:grpSp>
        <p:nvGrpSpPr>
          <p:cNvPr id="44" name="Group 43"/>
          <p:cNvGrpSpPr/>
          <p:nvPr/>
        </p:nvGrpSpPr>
        <p:grpSpPr>
          <a:xfrm>
            <a:off x="569884" y="1295400"/>
            <a:ext cx="4186181" cy="4953000"/>
            <a:chOff x="569884" y="1295400"/>
            <a:chExt cx="4186181" cy="4953000"/>
          </a:xfrm>
        </p:grpSpPr>
        <p:sp>
          <p:nvSpPr>
            <p:cNvPr id="4" name="Rectangle 3"/>
            <p:cNvSpPr/>
            <p:nvPr/>
          </p:nvSpPr>
          <p:spPr>
            <a:xfrm>
              <a:off x="736195" y="1922764"/>
              <a:ext cx="1676400" cy="603504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Vertex Processing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117195" y="1307068"/>
              <a:ext cx="9356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Vertices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69884" y="2754868"/>
              <a:ext cx="21475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Transformed vertices</a:t>
              </a:r>
            </a:p>
          </p:txBody>
        </p:sp>
        <p:cxnSp>
          <p:nvCxnSpPr>
            <p:cNvPr id="10" name="Straight Arrow Connector 9"/>
            <p:cNvCxnSpPr/>
            <p:nvPr/>
          </p:nvCxnSpPr>
          <p:spPr>
            <a:xfrm flipH="1">
              <a:off x="1574395" y="1611868"/>
              <a:ext cx="10621" cy="24636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 flipH="1">
              <a:off x="1563774" y="2584704"/>
              <a:ext cx="10621" cy="24636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/>
            <p:cNvSpPr/>
            <p:nvPr/>
          </p:nvSpPr>
          <p:spPr>
            <a:xfrm>
              <a:off x="736195" y="3370564"/>
              <a:ext cx="1676400" cy="603504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/>
                <a:t>Pr</a:t>
              </a:r>
              <a:r>
                <a:rPr lang="en-US" dirty="0" err="1"/>
                <a:t>imitive</a:t>
              </a:r>
              <a:r>
                <a:rPr lang="en-US" dirty="0"/>
                <a:t> Assembly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040995" y="4202668"/>
              <a:ext cx="10969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Primitives</a:t>
              </a:r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 flipH="1">
              <a:off x="1574395" y="3059668"/>
              <a:ext cx="10621" cy="24636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 flipH="1">
              <a:off x="1563774" y="4032504"/>
              <a:ext cx="10621" cy="24636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/>
            <p:cNvSpPr/>
            <p:nvPr/>
          </p:nvSpPr>
          <p:spPr>
            <a:xfrm>
              <a:off x="736195" y="4818364"/>
              <a:ext cx="1676400" cy="603504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Clipping and Culling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62000" y="5791200"/>
              <a:ext cx="17670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Visible primitives</a:t>
              </a:r>
            </a:p>
          </p:txBody>
        </p:sp>
        <p:cxnSp>
          <p:nvCxnSpPr>
            <p:cNvPr id="18" name="Straight Arrow Connector 17"/>
            <p:cNvCxnSpPr/>
            <p:nvPr/>
          </p:nvCxnSpPr>
          <p:spPr>
            <a:xfrm flipH="1">
              <a:off x="1574395" y="4507468"/>
              <a:ext cx="10621" cy="24636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 flipH="1">
              <a:off x="1563774" y="5486400"/>
              <a:ext cx="10621" cy="24636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>
              <a:off x="2514600" y="5981700"/>
              <a:ext cx="3048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/>
            <p:cNvSpPr/>
            <p:nvPr/>
          </p:nvSpPr>
          <p:spPr>
            <a:xfrm>
              <a:off x="2867025" y="1924050"/>
              <a:ext cx="1676400" cy="603504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Fragment Processing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352800" y="1295400"/>
              <a:ext cx="7116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Pixels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867025" y="3733800"/>
              <a:ext cx="1676400" cy="603504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Rasterization</a:t>
              </a:r>
              <a:endParaRPr lang="en-US" dirty="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165151" y="2907268"/>
              <a:ext cx="11496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Fragments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895600" y="5644896"/>
              <a:ext cx="1676400" cy="603504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Viewport Transform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2831949" y="4687669"/>
              <a:ext cx="192411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Primitives with 2D</a:t>
              </a:r>
            </a:p>
            <a:p>
              <a:pPr algn="ctr"/>
              <a:r>
                <a:rPr lang="en-US" dirty="0"/>
                <a:t>coordinates and z</a:t>
              </a:r>
            </a:p>
          </p:txBody>
        </p:sp>
        <p:cxnSp>
          <p:nvCxnSpPr>
            <p:cNvPr id="36" name="Straight Arrow Connector 35"/>
            <p:cNvCxnSpPr/>
            <p:nvPr/>
          </p:nvCxnSpPr>
          <p:spPr>
            <a:xfrm flipH="1" flipV="1">
              <a:off x="3667124" y="5334000"/>
              <a:ext cx="1" cy="2286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 flipH="1" flipV="1">
              <a:off x="3676650" y="4448175"/>
              <a:ext cx="1" cy="2286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 flipH="1" flipV="1">
              <a:off x="3676650" y="3352800"/>
              <a:ext cx="1" cy="2286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/>
            <p:nvPr/>
          </p:nvCxnSpPr>
          <p:spPr>
            <a:xfrm flipH="1" flipV="1">
              <a:off x="3667125" y="2762250"/>
              <a:ext cx="1" cy="2286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/>
            <p:nvPr/>
          </p:nvCxnSpPr>
          <p:spPr>
            <a:xfrm flipH="1" flipV="1">
              <a:off x="3657600" y="1638300"/>
              <a:ext cx="1" cy="2286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8011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modern graphics API, there are essentially three kinds of primitives: </a:t>
            </a:r>
            <a:r>
              <a:rPr lang="en-US" dirty="0">
                <a:solidFill>
                  <a:srgbClr val="C00000"/>
                </a:solidFill>
              </a:rPr>
              <a:t>points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lines</a:t>
            </a:r>
            <a:r>
              <a:rPr lang="en-US" dirty="0"/>
              <a:t>, and </a:t>
            </a:r>
            <a:r>
              <a:rPr lang="en-US" dirty="0">
                <a:solidFill>
                  <a:srgbClr val="C00000"/>
                </a:solidFill>
              </a:rPr>
              <a:t>triangles</a:t>
            </a:r>
            <a:endParaRPr lang="en-US" dirty="0"/>
          </a:p>
          <a:p>
            <a:r>
              <a:rPr lang="en-US" dirty="0"/>
              <a:t>Point clipping: straightforward</a:t>
            </a:r>
          </a:p>
          <a:p>
            <a:pPr lvl="1"/>
            <a:r>
              <a:rPr lang="en-US" dirty="0"/>
              <a:t>Reject a point if its coordinates are outside the viewing volume</a:t>
            </a:r>
          </a:p>
          <a:p>
            <a:r>
              <a:rPr lang="en-US" dirty="0"/>
              <a:t>Line clipping</a:t>
            </a:r>
          </a:p>
          <a:p>
            <a:pPr lvl="1"/>
            <a:r>
              <a:rPr lang="en-US" dirty="0"/>
              <a:t>Cohen-Sutherland algorithm</a:t>
            </a:r>
          </a:p>
          <a:p>
            <a:pPr lvl="1"/>
            <a:r>
              <a:rPr lang="en-US" dirty="0"/>
              <a:t>Liang-</a:t>
            </a:r>
            <a:r>
              <a:rPr lang="en-US" dirty="0" err="1"/>
              <a:t>Barsky</a:t>
            </a:r>
            <a:r>
              <a:rPr lang="en-US" dirty="0"/>
              <a:t> algorithm</a:t>
            </a:r>
          </a:p>
          <a:p>
            <a:r>
              <a:rPr lang="en-US" dirty="0"/>
              <a:t>Polygon clipping</a:t>
            </a:r>
          </a:p>
          <a:p>
            <a:pPr lvl="1"/>
            <a:r>
              <a:rPr lang="en-US" dirty="0"/>
              <a:t>Sutherland-Hodgeman algorithm</a:t>
            </a:r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0033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Clipping is done in the </a:t>
            </a:r>
            <a:r>
              <a:rPr lang="en-US" dirty="0">
                <a:solidFill>
                  <a:srgbClr val="C00000"/>
                </a:solidFill>
              </a:rPr>
              <a:t>clip space </a:t>
            </a:r>
            <a:r>
              <a:rPr lang="en-US" dirty="0"/>
              <a:t>which is a result of applying projection (</a:t>
            </a:r>
            <a:r>
              <a:rPr lang="en-US" dirty="0">
                <a:solidFill>
                  <a:srgbClr val="C00000"/>
                </a:solidFill>
              </a:rPr>
              <a:t>orthographic</a:t>
            </a:r>
            <a:r>
              <a:rPr lang="en-US" dirty="0"/>
              <a:t> or </a:t>
            </a:r>
            <a:r>
              <a:rPr lang="en-US" dirty="0">
                <a:solidFill>
                  <a:srgbClr val="C00000"/>
                </a:solidFill>
              </a:rPr>
              <a:t>perspective</a:t>
            </a:r>
            <a:r>
              <a:rPr lang="en-US" dirty="0"/>
              <a:t>) transformation</a:t>
            </a:r>
          </a:p>
          <a:p>
            <a:r>
              <a:rPr lang="en-US" dirty="0"/>
              <a:t>After perspective transformation the </a:t>
            </a:r>
            <a:r>
              <a:rPr lang="en-US" i="1" dirty="0"/>
              <a:t>w</a:t>
            </a:r>
            <a:r>
              <a:rPr lang="en-US" b="1" dirty="0"/>
              <a:t> </a:t>
            </a:r>
            <a:r>
              <a:rPr lang="en-US" dirty="0"/>
              <a:t>component of a point becomes equal to </a:t>
            </a:r>
            <a:r>
              <a:rPr lang="en-US" i="1" dirty="0"/>
              <a:t>–z</a:t>
            </a:r>
          </a:p>
          <a:p>
            <a:r>
              <a:rPr lang="en-US" dirty="0"/>
              <a:t>After orthographic it remains as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-638509" y="4394741"/>
                <a:ext cx="5364609" cy="172252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𝑝𝑒𝑟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 −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num>
                                  <m:den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 −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 −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num>
                                  <m:den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 −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𝑓𝑛</m:t>
                                    </m:r>
                                  </m:num>
                                  <m:den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 −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38509" y="4394741"/>
                <a:ext cx="5364609" cy="172252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13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FB6FBC6-BB73-4581-8DA9-D92886A779F8}"/>
                  </a:ext>
                </a:extLst>
              </p:cNvPr>
              <p:cNvSpPr txBox="1"/>
              <p:nvPr/>
            </p:nvSpPr>
            <p:spPr>
              <a:xfrm>
                <a:off x="4915712" y="4394742"/>
                <a:ext cx="3960700" cy="17225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𝑜𝑟𝑡h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 −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num>
                                  <m:den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 −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 −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num>
                                  <m:den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 −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 −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FB6FBC6-BB73-4581-8DA9-D92886A779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5712" y="4394742"/>
                <a:ext cx="3960700" cy="172252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43113-5D03-4592-B784-CD82290A2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Clipping 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5E797-4F83-4111-B0B6-97DF93B83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pipeline, clipping is done before the perspective divide: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B72EF6-8BFF-4A3A-A53B-60611C546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E98B9D-DDAD-478C-8976-EB0212B82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14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B71CAE-D12A-48A8-AEDB-B253D1D22A86}"/>
              </a:ext>
            </a:extLst>
          </p:cNvPr>
          <p:cNvSpPr txBox="1"/>
          <p:nvPr/>
        </p:nvSpPr>
        <p:spPr>
          <a:xfrm>
            <a:off x="2895600" y="2133600"/>
            <a:ext cx="3064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Original z value in range [-n, -f]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00102BC-F24E-43B1-AFF2-EE866594F2FF}"/>
              </a:ext>
            </a:extLst>
          </p:cNvPr>
          <p:cNvCxnSpPr/>
          <p:nvPr/>
        </p:nvCxnSpPr>
        <p:spPr>
          <a:xfrm>
            <a:off x="4419600" y="2514600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28F1487-455B-414E-890E-70E89FD63E5D}"/>
                  </a:ext>
                </a:extLst>
              </p:cNvPr>
              <p:cNvSpPr/>
              <p:nvPr/>
            </p:nvSpPr>
            <p:spPr>
              <a:xfrm>
                <a:off x="4059283" y="2798908"/>
                <a:ext cx="737446" cy="3907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28F1487-455B-414E-890E-70E89FD63E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9283" y="2798908"/>
                <a:ext cx="737446" cy="390748"/>
              </a:xfrm>
              <a:prstGeom prst="rect">
                <a:avLst/>
              </a:prstGeom>
              <a:blipFill>
                <a:blip r:embed="rId2"/>
                <a:stretch>
                  <a:fillRect b="-7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A53BE294-57E3-4908-BAE9-7A51DCA78298}"/>
              </a:ext>
            </a:extLst>
          </p:cNvPr>
          <p:cNvSpPr txBox="1"/>
          <p:nvPr/>
        </p:nvSpPr>
        <p:spPr>
          <a:xfrm>
            <a:off x="3352800" y="3505335"/>
            <a:ext cx="22262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 mapped to [-n</a:t>
            </a:r>
            <a:r>
              <a:rPr lang="en-US" baseline="30000" dirty="0"/>
              <a:t>2</a:t>
            </a:r>
            <a:r>
              <a:rPr lang="en-US" dirty="0"/>
              <a:t>, -f</a:t>
            </a:r>
            <a:r>
              <a:rPr lang="en-US" baseline="30000" dirty="0"/>
              <a:t>2</a:t>
            </a:r>
            <a:r>
              <a:rPr lang="en-US" dirty="0"/>
              <a:t>]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0721395-0E2C-41C5-A546-EBDDC758DF28}"/>
              </a:ext>
            </a:extLst>
          </p:cNvPr>
          <p:cNvCxnSpPr/>
          <p:nvPr/>
        </p:nvCxnSpPr>
        <p:spPr>
          <a:xfrm>
            <a:off x="4419600" y="3189656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A75B94E-7B69-4066-9363-03A8DF319C1E}"/>
                  </a:ext>
                </a:extLst>
              </p:cNvPr>
              <p:cNvSpPr/>
              <p:nvPr/>
            </p:nvSpPr>
            <p:spPr>
              <a:xfrm>
                <a:off x="4026934" y="4127527"/>
                <a:ext cx="80214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𝑜𝑟𝑡h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A75B94E-7B69-4066-9363-03A8DF319C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6934" y="4127527"/>
                <a:ext cx="80214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A93F22F-4812-47F8-824B-451693C0551B}"/>
              </a:ext>
            </a:extLst>
          </p:cNvPr>
          <p:cNvCxnSpPr/>
          <p:nvPr/>
        </p:nvCxnSpPr>
        <p:spPr>
          <a:xfrm>
            <a:off x="4415127" y="3863181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956B5A5-07B3-4B2A-B3CE-88D40F92AEAC}"/>
              </a:ext>
            </a:extLst>
          </p:cNvPr>
          <p:cNvSpPr txBox="1"/>
          <p:nvPr/>
        </p:nvSpPr>
        <p:spPr>
          <a:xfrm>
            <a:off x="3454287" y="4808261"/>
            <a:ext cx="1921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 mapped to [-n, f]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17723A3-4D4F-45AD-9FD8-02350A241FD8}"/>
              </a:ext>
            </a:extLst>
          </p:cNvPr>
          <p:cNvCxnSpPr/>
          <p:nvPr/>
        </p:nvCxnSpPr>
        <p:spPr>
          <a:xfrm>
            <a:off x="4419600" y="4496859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190C958-5739-4D64-82B9-42777F612E69}"/>
              </a:ext>
            </a:extLst>
          </p:cNvPr>
          <p:cNvSpPr txBox="1"/>
          <p:nvPr/>
        </p:nvSpPr>
        <p:spPr>
          <a:xfrm>
            <a:off x="3523808" y="5467212"/>
            <a:ext cx="1884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Perspective divide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17F1AA8-108E-4B9F-B6AC-345B3C5C88AC}"/>
              </a:ext>
            </a:extLst>
          </p:cNvPr>
          <p:cNvCxnSpPr/>
          <p:nvPr/>
        </p:nvCxnSpPr>
        <p:spPr>
          <a:xfrm>
            <a:off x="4415127" y="5177593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83AB958-38F9-445D-B757-19E0FC25917B}"/>
              </a:ext>
            </a:extLst>
          </p:cNvPr>
          <p:cNvSpPr txBox="1"/>
          <p:nvPr/>
        </p:nvSpPr>
        <p:spPr>
          <a:xfrm>
            <a:off x="3505085" y="5995956"/>
            <a:ext cx="1963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 mapped to [-1, 1]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E322291-7DAF-4A99-8043-FE5208AFCC52}"/>
              </a:ext>
            </a:extLst>
          </p:cNvPr>
          <p:cNvCxnSpPr/>
          <p:nvPr/>
        </p:nvCxnSpPr>
        <p:spPr>
          <a:xfrm>
            <a:off x="4428005" y="5763850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1CDBB52-EA20-4415-9FA1-9A3EAD009D4C}"/>
              </a:ext>
            </a:extLst>
          </p:cNvPr>
          <p:cNvCxnSpPr>
            <a:stCxn id="20" idx="3"/>
          </p:cNvCxnSpPr>
          <p:nvPr/>
        </p:nvCxnSpPr>
        <p:spPr>
          <a:xfrm>
            <a:off x="5468443" y="6180622"/>
            <a:ext cx="3227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BA2ACA5-E36E-4155-B41C-C46D5B5C097F}"/>
              </a:ext>
            </a:extLst>
          </p:cNvPr>
          <p:cNvSpPr txBox="1"/>
          <p:nvPr/>
        </p:nvSpPr>
        <p:spPr>
          <a:xfrm>
            <a:off x="5791200" y="6003392"/>
            <a:ext cx="20264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Viewport transform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6D90047-BEDE-49CB-B4E4-C362CC3D3F7B}"/>
              </a:ext>
            </a:extLst>
          </p:cNvPr>
          <p:cNvCxnSpPr/>
          <p:nvPr/>
        </p:nvCxnSpPr>
        <p:spPr>
          <a:xfrm flipV="1">
            <a:off x="6804426" y="5668011"/>
            <a:ext cx="0" cy="3370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940FC75-F142-424F-A8F7-A355AD221B6C}"/>
              </a:ext>
            </a:extLst>
          </p:cNvPr>
          <p:cNvSpPr txBox="1"/>
          <p:nvPr/>
        </p:nvSpPr>
        <p:spPr>
          <a:xfrm>
            <a:off x="5854294" y="5281704"/>
            <a:ext cx="1963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 mapped to [0, 1]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9975DE8-0C7C-4613-9F68-243173DB3474}"/>
              </a:ext>
            </a:extLst>
          </p:cNvPr>
          <p:cNvGrpSpPr/>
          <p:nvPr/>
        </p:nvGrpSpPr>
        <p:grpSpPr>
          <a:xfrm>
            <a:off x="2537077" y="2971800"/>
            <a:ext cx="723018" cy="2205793"/>
            <a:chOff x="2537077" y="2971800"/>
            <a:chExt cx="723018" cy="220579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C3305AB7-3E44-446A-B0E9-329A96B50D0E}"/>
                    </a:ext>
                  </a:extLst>
                </p:cNvPr>
                <p:cNvSpPr/>
                <p:nvPr/>
              </p:nvSpPr>
              <p:spPr>
                <a:xfrm>
                  <a:off x="2537077" y="3800729"/>
                  <a:ext cx="723018" cy="39074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𝑝𝑒𝑟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C3305AB7-3E44-446A-B0E9-329A96B50D0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37077" y="3800729"/>
                  <a:ext cx="723018" cy="390748"/>
                </a:xfrm>
                <a:prstGeom prst="rect">
                  <a:avLst/>
                </a:prstGeom>
                <a:blipFill>
                  <a:blip r:embed="rId4"/>
                  <a:stretch>
                    <a:fillRect b="-307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Left Brace 6">
              <a:extLst>
                <a:ext uri="{FF2B5EF4-FFF2-40B4-BE49-F238E27FC236}">
                  <a16:creationId xmlns:a16="http://schemas.microsoft.com/office/drawing/2014/main" id="{B108DC90-AFA1-41FE-8F54-7AE966FD48B5}"/>
                </a:ext>
              </a:extLst>
            </p:cNvPr>
            <p:cNvSpPr/>
            <p:nvPr/>
          </p:nvSpPr>
          <p:spPr>
            <a:xfrm>
              <a:off x="3205486" y="2971800"/>
              <a:ext cx="45719" cy="2205793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0170B915-C808-45F2-AF11-2A1AC0492639}"/>
              </a:ext>
            </a:extLst>
          </p:cNvPr>
          <p:cNvSpPr txBox="1"/>
          <p:nvPr/>
        </p:nvSpPr>
        <p:spPr>
          <a:xfrm>
            <a:off x="1152657" y="5101531"/>
            <a:ext cx="1957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Clipping done here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21F0518-45E6-4806-9D1A-07640DAFE533}"/>
              </a:ext>
            </a:extLst>
          </p:cNvPr>
          <p:cNvCxnSpPr/>
          <p:nvPr/>
        </p:nvCxnSpPr>
        <p:spPr>
          <a:xfrm>
            <a:off x="3124200" y="5304608"/>
            <a:ext cx="10734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61462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43113-5D03-4592-B784-CD82290A2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Clipping 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5E797-4F83-4111-B0B6-97DF93B83D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1720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If clipping was done after perspective divide, we would clip against [-1, 1] range in all axis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 clip space, clipping is done against [-w, w]</a:t>
            </a:r>
          </a:p>
          <a:p>
            <a:pPr lvl="1"/>
            <a:r>
              <a:rPr lang="en-US" dirty="0"/>
              <a:t>Clipping may produce new vertices at the clip boundaries</a:t>
            </a:r>
          </a:p>
          <a:p>
            <a:pPr lvl="1"/>
            <a:r>
              <a:rPr lang="en-US" dirty="0"/>
              <a:t>Outside vertices may be discarded</a:t>
            </a:r>
          </a:p>
          <a:p>
            <a:r>
              <a:rPr lang="en-US" dirty="0"/>
              <a:t>After clipping all vertices are transformed to the canonical viewing volume (aka normalized device coordinates in [-1, 1])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B72EF6-8BFF-4A3A-A53B-60611C546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E98B9D-DDAD-478C-8976-EB0212B82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15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CB89494-C031-48FE-98AB-E7527965E955}"/>
                  </a:ext>
                </a:extLst>
              </p:cNvPr>
              <p:cNvSpPr txBox="1"/>
              <p:nvPr/>
            </p:nvSpPr>
            <p:spPr>
              <a:xfrm>
                <a:off x="2427620" y="2415789"/>
                <a:ext cx="830932" cy="10204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CB89494-C031-48FE-98AB-E7527965E9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7620" y="2415789"/>
                <a:ext cx="830932" cy="102047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7A9E3E5C-6DE3-440E-9E4F-D10B2F2A16CB}"/>
              </a:ext>
            </a:extLst>
          </p:cNvPr>
          <p:cNvSpPr txBox="1"/>
          <p:nvPr/>
        </p:nvSpPr>
        <p:spPr>
          <a:xfrm>
            <a:off x="3675729" y="2446473"/>
            <a:ext cx="17925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Perspective</a:t>
            </a:r>
          </a:p>
          <a:p>
            <a:pPr algn="ctr"/>
            <a:r>
              <a:rPr lang="en-US" dirty="0"/>
              <a:t>(or orthographic)</a:t>
            </a:r>
          </a:p>
          <a:p>
            <a:pPr algn="ctr"/>
            <a:r>
              <a:rPr lang="en-US" dirty="0"/>
              <a:t>Transform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55FC1EE-9C5E-4D9D-8357-74C87AAC5931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3258552" y="2926025"/>
            <a:ext cx="4083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D16CC456-8FC3-4139-B053-6FF074F6D3B7}"/>
                  </a:ext>
                </a:extLst>
              </p:cNvPr>
              <p:cNvSpPr/>
              <p:nvPr/>
            </p:nvSpPr>
            <p:spPr>
              <a:xfrm>
                <a:off x="5908922" y="2323456"/>
                <a:ext cx="621259" cy="11454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D16CC456-8FC3-4139-B053-6FF074F6D3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8922" y="2323456"/>
                <a:ext cx="621259" cy="114544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2D40CDD-E391-4EBC-BC3E-52B0D9887B64}"/>
              </a:ext>
            </a:extLst>
          </p:cNvPr>
          <p:cNvCxnSpPr>
            <a:cxnSpLocks/>
          </p:cNvCxnSpPr>
          <p:nvPr/>
        </p:nvCxnSpPr>
        <p:spPr>
          <a:xfrm>
            <a:off x="5466818" y="2905840"/>
            <a:ext cx="4083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FFDC161-6BD3-4816-8D99-241238B9724E}"/>
              </a:ext>
            </a:extLst>
          </p:cNvPr>
          <p:cNvSpPr txBox="1"/>
          <p:nvPr/>
        </p:nvSpPr>
        <p:spPr>
          <a:xfrm>
            <a:off x="4757128" y="3659011"/>
            <a:ext cx="19085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 = -z in case of perspective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AC46E85-9E4D-4A22-BEBA-6F9EB056953C}"/>
              </a:ext>
            </a:extLst>
          </p:cNvPr>
          <p:cNvCxnSpPr>
            <a:cxnSpLocks/>
            <a:stCxn id="33" idx="2"/>
          </p:cNvCxnSpPr>
          <p:nvPr/>
        </p:nvCxnSpPr>
        <p:spPr>
          <a:xfrm flipH="1">
            <a:off x="5817793" y="3468898"/>
            <a:ext cx="401759" cy="2534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6C771139-F882-41BC-9FA7-FE98C313B088}"/>
              </a:ext>
            </a:extLst>
          </p:cNvPr>
          <p:cNvSpPr txBox="1"/>
          <p:nvPr/>
        </p:nvSpPr>
        <p:spPr>
          <a:xfrm>
            <a:off x="6553200" y="3659011"/>
            <a:ext cx="19085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 = 1 in case of orthographic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E73E20E-C20C-4728-A919-074D26BA024F}"/>
              </a:ext>
            </a:extLst>
          </p:cNvPr>
          <p:cNvCxnSpPr>
            <a:cxnSpLocks/>
          </p:cNvCxnSpPr>
          <p:nvPr/>
        </p:nvCxnSpPr>
        <p:spPr>
          <a:xfrm>
            <a:off x="6393431" y="3456562"/>
            <a:ext cx="384788" cy="2658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81717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Clipping Location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757642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Clipping is performed before dividing by </a:t>
                </a:r>
                <a:r>
                  <a:rPr lang="en-US" i="1" dirty="0"/>
                  <a:t>w</a:t>
                </a:r>
                <a:r>
                  <a:rPr lang="en-US" b="1" dirty="0"/>
                  <a:t> </a:t>
                </a:r>
                <a:r>
                  <a:rPr lang="en-US" dirty="0"/>
                  <a:t>for several reasons:</a:t>
                </a:r>
              </a:p>
              <a:p>
                <a:pPr lvl="1"/>
                <a:r>
                  <a:rPr lang="en-US" i="1" dirty="0"/>
                  <a:t>w</a:t>
                </a:r>
                <a:r>
                  <a:rPr lang="en-US" dirty="0"/>
                  <a:t> may be equal to 0 in which case division would be undefined</a:t>
                </a:r>
              </a:p>
              <a:p>
                <a:pPr lvl="2"/>
                <a:r>
                  <a:rPr lang="en-US" i="1" dirty="0"/>
                  <a:t>inf</a:t>
                </a:r>
                <a:r>
                  <a:rPr lang="en-US" dirty="0"/>
                  <a:t> or </a:t>
                </a:r>
                <a:r>
                  <a:rPr lang="en-US" i="1" dirty="0"/>
                  <a:t>–inf</a:t>
                </a:r>
                <a:r>
                  <a:rPr lang="en-US" dirty="0"/>
                  <a:t> of x, y, z are non zero and </a:t>
                </a:r>
                <a:r>
                  <a:rPr lang="en-US" i="1" dirty="0"/>
                  <a:t>nan</a:t>
                </a:r>
                <a:r>
                  <a:rPr lang="en-US" dirty="0"/>
                  <a:t> otherwise</a:t>
                </a:r>
              </a:p>
              <a:p>
                <a:pPr lvl="1"/>
                <a:r>
                  <a:rPr lang="en-US" dirty="0"/>
                  <a:t>Instead of comparing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en-US" dirty="0"/>
                  <a:t> we can directly compare 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/>
                  <a:t> thus avoiding an extra division</a:t>
                </a:r>
              </a:p>
              <a:p>
                <a:pPr lvl="2"/>
                <a:r>
                  <a:rPr lang="en-US" dirty="0"/>
                  <a:t>Division is a costly hardware operation</a:t>
                </a:r>
              </a:p>
              <a:p>
                <a:pPr lvl="1"/>
                <a:r>
                  <a:rPr lang="en-US" dirty="0"/>
                  <a:t>Division by </a:t>
                </a:r>
                <a:r>
                  <a:rPr lang="en-US" i="1" dirty="0"/>
                  <a:t>w</a:t>
                </a:r>
                <a:r>
                  <a:rPr lang="en-US" dirty="0"/>
                  <a:t> may make objects behind the viewer to come in-front of the viewer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757642"/>
              </a:xfrm>
              <a:blipFill>
                <a:blip r:embed="rId2"/>
                <a:stretch>
                  <a:fillRect l="-963" t="-1026" r="-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16</a:t>
            </a:fld>
            <a:endParaRPr lang="en-US"/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EC9FC423-ACE0-405B-98AE-985B2656B7F9}"/>
              </a:ext>
            </a:extLst>
          </p:cNvPr>
          <p:cNvGrpSpPr/>
          <p:nvPr/>
        </p:nvGrpSpPr>
        <p:grpSpPr>
          <a:xfrm>
            <a:off x="727354" y="4446954"/>
            <a:ext cx="2933132" cy="1856454"/>
            <a:chOff x="225704" y="4446954"/>
            <a:chExt cx="2933132" cy="1856454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8AD85DED-F1FE-4D0B-BA70-9B48D210CD17}"/>
                </a:ext>
              </a:extLst>
            </p:cNvPr>
            <p:cNvCxnSpPr/>
            <p:nvPr/>
          </p:nvCxnSpPr>
          <p:spPr>
            <a:xfrm flipV="1">
              <a:off x="1428247" y="4749264"/>
              <a:ext cx="0" cy="6197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06C1638E-6A0D-4522-AD03-D48468374355}"/>
                </a:ext>
              </a:extLst>
            </p:cNvPr>
            <p:cNvCxnSpPr/>
            <p:nvPr/>
          </p:nvCxnSpPr>
          <p:spPr>
            <a:xfrm flipH="1">
              <a:off x="828807" y="5369024"/>
              <a:ext cx="59944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A9D5014-075D-4D7F-870A-E3E312CC82B9}"/>
                </a:ext>
              </a:extLst>
            </p:cNvPr>
            <p:cNvSpPr txBox="1"/>
            <p:nvPr/>
          </p:nvSpPr>
          <p:spPr>
            <a:xfrm>
              <a:off x="772999" y="5331757"/>
              <a:ext cx="25519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z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1384FC3-6D54-452E-A4C7-BE5060EDEE62}"/>
                </a:ext>
              </a:extLst>
            </p:cNvPr>
            <p:cNvCxnSpPr>
              <a:cxnSpLocks/>
            </p:cNvCxnSpPr>
            <p:nvPr/>
          </p:nvCxnSpPr>
          <p:spPr>
            <a:xfrm>
              <a:off x="1720347" y="5231864"/>
              <a:ext cx="0" cy="2349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C252C54-8C5F-439F-A39C-89CB7D57BF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90247" y="5059145"/>
              <a:ext cx="0" cy="58038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80E6DB10-A608-4621-92EC-65BCB8B334FD}"/>
                </a:ext>
              </a:extLst>
            </p:cNvPr>
            <p:cNvCxnSpPr/>
            <p:nvPr/>
          </p:nvCxnSpPr>
          <p:spPr>
            <a:xfrm flipV="1">
              <a:off x="1720347" y="5059144"/>
              <a:ext cx="469900" cy="1727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82342A4-BABC-488C-8B22-DFFCC74CCD90}"/>
                </a:ext>
              </a:extLst>
            </p:cNvPr>
            <p:cNvCxnSpPr/>
            <p:nvPr/>
          </p:nvCxnSpPr>
          <p:spPr>
            <a:xfrm>
              <a:off x="1720347" y="5466814"/>
              <a:ext cx="469900" cy="1727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B6D802E-ACBB-47E7-BA91-EE95B192E7FE}"/>
                </a:ext>
              </a:extLst>
            </p:cNvPr>
            <p:cNvSpPr txBox="1"/>
            <p:nvPr/>
          </p:nvSpPr>
          <p:spPr>
            <a:xfrm>
              <a:off x="1867596" y="5062587"/>
              <a:ext cx="3032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A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E07D4BA-A814-4071-9A53-A3FCFA393470}"/>
                </a:ext>
              </a:extLst>
            </p:cNvPr>
            <p:cNvSpPr txBox="1"/>
            <p:nvPr/>
          </p:nvSpPr>
          <p:spPr>
            <a:xfrm>
              <a:off x="1034995" y="5062587"/>
              <a:ext cx="3032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B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F0AE750-7617-457C-BA6C-16004EBB6E8D}"/>
                </a:ext>
              </a:extLst>
            </p:cNvPr>
            <p:cNvSpPr txBox="1"/>
            <p:nvPr/>
          </p:nvSpPr>
          <p:spPr>
            <a:xfrm>
              <a:off x="1507401" y="5072479"/>
              <a:ext cx="3032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C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E32CBB4-A2CE-47D1-A25C-95BB3EFE81E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57996" y="5326846"/>
              <a:ext cx="83260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1196BECE-F4A8-4A61-AD8C-B77595AB1F7E}"/>
                </a:ext>
              </a:extLst>
            </p:cNvPr>
            <p:cNvSpPr/>
            <p:nvPr/>
          </p:nvSpPr>
          <p:spPr>
            <a:xfrm>
              <a:off x="1941381" y="5285571"/>
              <a:ext cx="82550" cy="82550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042615B-87F4-42AE-B1CB-395BA2428FA0}"/>
                </a:ext>
              </a:extLst>
            </p:cNvPr>
            <p:cNvSpPr/>
            <p:nvPr/>
          </p:nvSpPr>
          <p:spPr>
            <a:xfrm>
              <a:off x="1676653" y="5285571"/>
              <a:ext cx="82550" cy="82550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3697FB2C-0122-45FB-BC06-015ADE62EC66}"/>
                </a:ext>
              </a:extLst>
            </p:cNvPr>
            <p:cNvSpPr/>
            <p:nvPr/>
          </p:nvSpPr>
          <p:spPr>
            <a:xfrm>
              <a:off x="1127378" y="5285571"/>
              <a:ext cx="82550" cy="82550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D175047-655C-4DB7-92DF-D2790A97EF97}"/>
                </a:ext>
              </a:extLst>
            </p:cNvPr>
            <p:cNvSpPr txBox="1"/>
            <p:nvPr/>
          </p:nvSpPr>
          <p:spPr>
            <a:xfrm>
              <a:off x="277020" y="5780188"/>
              <a:ext cx="288181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Clipping the AB line should produce AC (clip point on the near plane)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E390D369-D015-4505-A5A3-765DB781A141}"/>
                </a:ext>
              </a:extLst>
            </p:cNvPr>
            <p:cNvSpPr txBox="1"/>
            <p:nvPr/>
          </p:nvSpPr>
          <p:spPr>
            <a:xfrm>
              <a:off x="225704" y="4446954"/>
              <a:ext cx="25633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Before perspective divide</a:t>
              </a:r>
            </a:p>
          </p:txBody>
        </p:sp>
      </p:grp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10C22B0-2AA4-488E-8743-5C907C0A3E6E}"/>
              </a:ext>
            </a:extLst>
          </p:cNvPr>
          <p:cNvCxnSpPr/>
          <p:nvPr/>
        </p:nvCxnSpPr>
        <p:spPr>
          <a:xfrm flipV="1">
            <a:off x="6569801" y="4682242"/>
            <a:ext cx="0" cy="6197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C382C1A-D554-411E-A482-241D7BA6285B}"/>
              </a:ext>
            </a:extLst>
          </p:cNvPr>
          <p:cNvCxnSpPr>
            <a:cxnSpLocks/>
          </p:cNvCxnSpPr>
          <p:nvPr/>
        </p:nvCxnSpPr>
        <p:spPr>
          <a:xfrm>
            <a:off x="6569801" y="5302002"/>
            <a:ext cx="5270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6950B1A5-4CAE-49B6-ACC9-632986F4DE1D}"/>
              </a:ext>
            </a:extLst>
          </p:cNvPr>
          <p:cNvSpPr txBox="1"/>
          <p:nvPr/>
        </p:nvSpPr>
        <p:spPr>
          <a:xfrm>
            <a:off x="6924453" y="5226198"/>
            <a:ext cx="2551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z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E38B30B-0A82-4BEF-AC23-E3CC6B5281C2}"/>
              </a:ext>
            </a:extLst>
          </p:cNvPr>
          <p:cNvSpPr txBox="1"/>
          <p:nvPr/>
        </p:nvSpPr>
        <p:spPr>
          <a:xfrm>
            <a:off x="6569800" y="4973439"/>
            <a:ext cx="3032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DE2E41D-2DFB-4FE1-BA6A-FDF7C25E1CCA}"/>
              </a:ext>
            </a:extLst>
          </p:cNvPr>
          <p:cNvSpPr txBox="1"/>
          <p:nvPr/>
        </p:nvSpPr>
        <p:spPr>
          <a:xfrm>
            <a:off x="7397066" y="4973439"/>
            <a:ext cx="3032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B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2F1929A-7B7E-458D-875A-6AD4C3E35063}"/>
              </a:ext>
            </a:extLst>
          </p:cNvPr>
          <p:cNvSpPr txBox="1"/>
          <p:nvPr/>
        </p:nvSpPr>
        <p:spPr>
          <a:xfrm>
            <a:off x="6884630" y="4973439"/>
            <a:ext cx="3032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C66CAFA-827E-4DF4-8BE8-52EA0530F677}"/>
              </a:ext>
            </a:extLst>
          </p:cNvPr>
          <p:cNvCxnSpPr>
            <a:cxnSpLocks/>
          </p:cNvCxnSpPr>
          <p:nvPr/>
        </p:nvCxnSpPr>
        <p:spPr>
          <a:xfrm flipH="1">
            <a:off x="6721444" y="5264735"/>
            <a:ext cx="8326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58">
            <a:extLst>
              <a:ext uri="{FF2B5EF4-FFF2-40B4-BE49-F238E27FC236}">
                <a16:creationId xmlns:a16="http://schemas.microsoft.com/office/drawing/2014/main" id="{A17CE8BC-8AB9-47DD-BB37-DD4372755AF4}"/>
              </a:ext>
            </a:extLst>
          </p:cNvPr>
          <p:cNvSpPr/>
          <p:nvPr/>
        </p:nvSpPr>
        <p:spPr>
          <a:xfrm>
            <a:off x="7504326" y="5223460"/>
            <a:ext cx="82550" cy="8255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484206DB-3A4C-46B2-87CE-66A1579667EA}"/>
              </a:ext>
            </a:extLst>
          </p:cNvPr>
          <p:cNvSpPr/>
          <p:nvPr/>
        </p:nvSpPr>
        <p:spPr>
          <a:xfrm>
            <a:off x="6680169" y="5223460"/>
            <a:ext cx="82550" cy="8255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C6E11E8-1106-42AE-8BA3-0914FAFD0A35}"/>
              </a:ext>
            </a:extLst>
          </p:cNvPr>
          <p:cNvSpPr txBox="1"/>
          <p:nvPr/>
        </p:nvSpPr>
        <p:spPr>
          <a:xfrm>
            <a:off x="5129701" y="5787836"/>
            <a:ext cx="29549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After the divide the clip point goes to the far plane, which is wrong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12EC5E5-CC9A-4E30-956F-93088C874A26}"/>
              </a:ext>
            </a:extLst>
          </p:cNvPr>
          <p:cNvSpPr txBox="1"/>
          <p:nvPr/>
        </p:nvSpPr>
        <p:spPr>
          <a:xfrm>
            <a:off x="5367258" y="4379932"/>
            <a:ext cx="2418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After perspective divide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DB2E648D-5B73-4921-B12B-C881A3F13912}"/>
              </a:ext>
            </a:extLst>
          </p:cNvPr>
          <p:cNvSpPr/>
          <p:nvPr/>
        </p:nvSpPr>
        <p:spPr>
          <a:xfrm>
            <a:off x="6260594" y="5100646"/>
            <a:ext cx="693160" cy="374382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CF9F37ED-CD31-4CA1-B370-767313FFC309}"/>
              </a:ext>
            </a:extLst>
          </p:cNvPr>
          <p:cNvSpPr/>
          <p:nvPr/>
        </p:nvSpPr>
        <p:spPr>
          <a:xfrm>
            <a:off x="6921411" y="5223460"/>
            <a:ext cx="82550" cy="8255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5378273-4A84-4488-AF00-28BAE4680393}"/>
              </a:ext>
            </a:extLst>
          </p:cNvPr>
          <p:cNvSpPr txBox="1"/>
          <p:nvPr/>
        </p:nvSpPr>
        <p:spPr>
          <a:xfrm>
            <a:off x="1979531" y="5444956"/>
            <a:ext cx="4683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near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5C7A5A5-9E3C-45F4-9207-C1A66E64414B}"/>
              </a:ext>
            </a:extLst>
          </p:cNvPr>
          <p:cNvSpPr txBox="1"/>
          <p:nvPr/>
        </p:nvSpPr>
        <p:spPr>
          <a:xfrm>
            <a:off x="2510694" y="5566707"/>
            <a:ext cx="3547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far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4595BE9-6A0A-4CDB-A6F1-E10E2DDCCF50}"/>
              </a:ext>
            </a:extLst>
          </p:cNvPr>
          <p:cNvSpPr txBox="1"/>
          <p:nvPr/>
        </p:nvSpPr>
        <p:spPr>
          <a:xfrm>
            <a:off x="6044808" y="5404653"/>
            <a:ext cx="4683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near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8963852-D591-49D0-91A2-729B3E2B3263}"/>
              </a:ext>
            </a:extLst>
          </p:cNvPr>
          <p:cNvSpPr txBox="1"/>
          <p:nvPr/>
        </p:nvSpPr>
        <p:spPr>
          <a:xfrm>
            <a:off x="6816188" y="5428824"/>
            <a:ext cx="3547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far</a:t>
            </a:r>
          </a:p>
        </p:txBody>
      </p:sp>
    </p:spTree>
    <p:extLst>
      <p:ext uri="{BB962C8B-B14F-4D97-AF65-F5344CB8AC3E}">
        <p14:creationId xmlns:p14="http://schemas.microsoft.com/office/powerpoint/2010/main" val="6570856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Clipping Location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757642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Clipping is performed before dividing by </a:t>
                </a:r>
                <a:r>
                  <a:rPr lang="en-US" i="1" dirty="0"/>
                  <a:t>w</a:t>
                </a:r>
                <a:r>
                  <a:rPr lang="en-US" b="1" dirty="0"/>
                  <a:t> </a:t>
                </a:r>
                <a:r>
                  <a:rPr lang="en-US" dirty="0"/>
                  <a:t>for several reasons:</a:t>
                </a:r>
              </a:p>
              <a:p>
                <a:pPr lvl="1"/>
                <a:r>
                  <a:rPr lang="en-US" i="1" dirty="0"/>
                  <a:t>w</a:t>
                </a:r>
                <a:r>
                  <a:rPr lang="en-US" dirty="0"/>
                  <a:t> may be equal to 0 in which case division would be undefined</a:t>
                </a:r>
              </a:p>
              <a:p>
                <a:pPr lvl="2"/>
                <a:r>
                  <a:rPr lang="en-US" i="1" dirty="0"/>
                  <a:t>inf</a:t>
                </a:r>
                <a:r>
                  <a:rPr lang="en-US" dirty="0"/>
                  <a:t> or </a:t>
                </a:r>
                <a:r>
                  <a:rPr lang="en-US" i="1" dirty="0"/>
                  <a:t>–inf</a:t>
                </a:r>
                <a:r>
                  <a:rPr lang="en-US" dirty="0"/>
                  <a:t> of x, y, z are non zero and </a:t>
                </a:r>
                <a:r>
                  <a:rPr lang="en-US" i="1" dirty="0"/>
                  <a:t>nan</a:t>
                </a:r>
                <a:r>
                  <a:rPr lang="en-US" dirty="0"/>
                  <a:t> otherwise</a:t>
                </a:r>
              </a:p>
              <a:p>
                <a:pPr lvl="1"/>
                <a:r>
                  <a:rPr lang="en-US" dirty="0"/>
                  <a:t>Instead of comparing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en-US" dirty="0"/>
                  <a:t> we can directly compare 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/>
                  <a:t> thus avoiding an extra division</a:t>
                </a:r>
              </a:p>
              <a:p>
                <a:pPr lvl="2"/>
                <a:r>
                  <a:rPr lang="en-US" dirty="0"/>
                  <a:t>Division is a costly hardware operation</a:t>
                </a:r>
              </a:p>
              <a:p>
                <a:pPr lvl="1"/>
                <a:r>
                  <a:rPr lang="en-US" dirty="0"/>
                  <a:t>Division by </a:t>
                </a:r>
                <a:r>
                  <a:rPr lang="en-US" i="1" dirty="0"/>
                  <a:t>w</a:t>
                </a:r>
                <a:r>
                  <a:rPr lang="en-US" dirty="0"/>
                  <a:t> may make objects behind the viewer to come in-front of the viewer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757642"/>
              </a:xfrm>
              <a:blipFill>
                <a:blip r:embed="rId2"/>
                <a:stretch>
                  <a:fillRect l="-963" t="-1026" r="-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17</a:t>
            </a:fld>
            <a:endParaRPr lang="en-US"/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EC9FC423-ACE0-405B-98AE-985B2656B7F9}"/>
              </a:ext>
            </a:extLst>
          </p:cNvPr>
          <p:cNvGrpSpPr/>
          <p:nvPr/>
        </p:nvGrpSpPr>
        <p:grpSpPr>
          <a:xfrm>
            <a:off x="727354" y="4446954"/>
            <a:ext cx="2933132" cy="1856454"/>
            <a:chOff x="225704" y="4446954"/>
            <a:chExt cx="2933132" cy="1856454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8AD85DED-F1FE-4D0B-BA70-9B48D210CD17}"/>
                </a:ext>
              </a:extLst>
            </p:cNvPr>
            <p:cNvCxnSpPr/>
            <p:nvPr/>
          </p:nvCxnSpPr>
          <p:spPr>
            <a:xfrm flipV="1">
              <a:off x="1428247" y="4749264"/>
              <a:ext cx="0" cy="6197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06C1638E-6A0D-4522-AD03-D48468374355}"/>
                </a:ext>
              </a:extLst>
            </p:cNvPr>
            <p:cNvCxnSpPr/>
            <p:nvPr/>
          </p:nvCxnSpPr>
          <p:spPr>
            <a:xfrm flipH="1">
              <a:off x="828807" y="5369024"/>
              <a:ext cx="59944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A9D5014-075D-4D7F-870A-E3E312CC82B9}"/>
                </a:ext>
              </a:extLst>
            </p:cNvPr>
            <p:cNvSpPr txBox="1"/>
            <p:nvPr/>
          </p:nvSpPr>
          <p:spPr>
            <a:xfrm>
              <a:off x="772999" y="5331757"/>
              <a:ext cx="25519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z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1384FC3-6D54-452E-A4C7-BE5060EDEE62}"/>
                </a:ext>
              </a:extLst>
            </p:cNvPr>
            <p:cNvCxnSpPr>
              <a:cxnSpLocks/>
            </p:cNvCxnSpPr>
            <p:nvPr/>
          </p:nvCxnSpPr>
          <p:spPr>
            <a:xfrm>
              <a:off x="1720347" y="5231864"/>
              <a:ext cx="0" cy="2349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C252C54-8C5F-439F-A39C-89CB7D57BF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90247" y="5059145"/>
              <a:ext cx="0" cy="58038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80E6DB10-A608-4621-92EC-65BCB8B334FD}"/>
                </a:ext>
              </a:extLst>
            </p:cNvPr>
            <p:cNvCxnSpPr/>
            <p:nvPr/>
          </p:nvCxnSpPr>
          <p:spPr>
            <a:xfrm flipV="1">
              <a:off x="1720347" y="5059144"/>
              <a:ext cx="469900" cy="1727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82342A4-BABC-488C-8B22-DFFCC74CCD90}"/>
                </a:ext>
              </a:extLst>
            </p:cNvPr>
            <p:cNvCxnSpPr/>
            <p:nvPr/>
          </p:nvCxnSpPr>
          <p:spPr>
            <a:xfrm>
              <a:off x="1720347" y="5466814"/>
              <a:ext cx="469900" cy="1727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B6D802E-ACBB-47E7-BA91-EE95B192E7FE}"/>
                </a:ext>
              </a:extLst>
            </p:cNvPr>
            <p:cNvSpPr txBox="1"/>
            <p:nvPr/>
          </p:nvSpPr>
          <p:spPr>
            <a:xfrm>
              <a:off x="1867596" y="5062587"/>
              <a:ext cx="3032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A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E07D4BA-A814-4071-9A53-A3FCFA393470}"/>
                </a:ext>
              </a:extLst>
            </p:cNvPr>
            <p:cNvSpPr txBox="1"/>
            <p:nvPr/>
          </p:nvSpPr>
          <p:spPr>
            <a:xfrm>
              <a:off x="1034995" y="5062587"/>
              <a:ext cx="3032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B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F0AE750-7617-457C-BA6C-16004EBB6E8D}"/>
                </a:ext>
              </a:extLst>
            </p:cNvPr>
            <p:cNvSpPr txBox="1"/>
            <p:nvPr/>
          </p:nvSpPr>
          <p:spPr>
            <a:xfrm>
              <a:off x="1507401" y="5072479"/>
              <a:ext cx="3032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C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E32CBB4-A2CE-47D1-A25C-95BB3EFE81E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57996" y="5326846"/>
              <a:ext cx="83260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1196BECE-F4A8-4A61-AD8C-B77595AB1F7E}"/>
                </a:ext>
              </a:extLst>
            </p:cNvPr>
            <p:cNvSpPr/>
            <p:nvPr/>
          </p:nvSpPr>
          <p:spPr>
            <a:xfrm>
              <a:off x="1941381" y="5285571"/>
              <a:ext cx="82550" cy="82550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042615B-87F4-42AE-B1CB-395BA2428FA0}"/>
                </a:ext>
              </a:extLst>
            </p:cNvPr>
            <p:cNvSpPr/>
            <p:nvPr/>
          </p:nvSpPr>
          <p:spPr>
            <a:xfrm>
              <a:off x="1676653" y="5285571"/>
              <a:ext cx="82550" cy="82550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3697FB2C-0122-45FB-BC06-015ADE62EC66}"/>
                </a:ext>
              </a:extLst>
            </p:cNvPr>
            <p:cNvSpPr/>
            <p:nvPr/>
          </p:nvSpPr>
          <p:spPr>
            <a:xfrm>
              <a:off x="1127378" y="5285571"/>
              <a:ext cx="82550" cy="82550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D175047-655C-4DB7-92DF-D2790A97EF97}"/>
                </a:ext>
              </a:extLst>
            </p:cNvPr>
            <p:cNvSpPr txBox="1"/>
            <p:nvPr/>
          </p:nvSpPr>
          <p:spPr>
            <a:xfrm>
              <a:off x="277020" y="5780188"/>
              <a:ext cx="288181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Clipping the AB line should produce AC (clip point on the near plane)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E390D369-D015-4505-A5A3-765DB781A141}"/>
                </a:ext>
              </a:extLst>
            </p:cNvPr>
            <p:cNvSpPr txBox="1"/>
            <p:nvPr/>
          </p:nvSpPr>
          <p:spPr>
            <a:xfrm>
              <a:off x="225704" y="4446954"/>
              <a:ext cx="25633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Before perspective divide</a:t>
              </a:r>
            </a:p>
          </p:txBody>
        </p:sp>
      </p:grp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10C22B0-2AA4-488E-8743-5C907C0A3E6E}"/>
              </a:ext>
            </a:extLst>
          </p:cNvPr>
          <p:cNvCxnSpPr/>
          <p:nvPr/>
        </p:nvCxnSpPr>
        <p:spPr>
          <a:xfrm flipV="1">
            <a:off x="6569801" y="4682242"/>
            <a:ext cx="0" cy="6197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C382C1A-D554-411E-A482-241D7BA6285B}"/>
              </a:ext>
            </a:extLst>
          </p:cNvPr>
          <p:cNvCxnSpPr>
            <a:cxnSpLocks/>
          </p:cNvCxnSpPr>
          <p:nvPr/>
        </p:nvCxnSpPr>
        <p:spPr>
          <a:xfrm>
            <a:off x="6569801" y="5302002"/>
            <a:ext cx="5270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6950B1A5-4CAE-49B6-ACC9-632986F4DE1D}"/>
              </a:ext>
            </a:extLst>
          </p:cNvPr>
          <p:cNvSpPr txBox="1"/>
          <p:nvPr/>
        </p:nvSpPr>
        <p:spPr>
          <a:xfrm>
            <a:off x="6924453" y="5226198"/>
            <a:ext cx="2551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z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E38B30B-0A82-4BEF-AC23-E3CC6B5281C2}"/>
              </a:ext>
            </a:extLst>
          </p:cNvPr>
          <p:cNvSpPr txBox="1"/>
          <p:nvPr/>
        </p:nvSpPr>
        <p:spPr>
          <a:xfrm>
            <a:off x="6569800" y="4973439"/>
            <a:ext cx="3032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DE2E41D-2DFB-4FE1-BA6A-FDF7C25E1CCA}"/>
              </a:ext>
            </a:extLst>
          </p:cNvPr>
          <p:cNvSpPr txBox="1"/>
          <p:nvPr/>
        </p:nvSpPr>
        <p:spPr>
          <a:xfrm>
            <a:off x="7397066" y="4973439"/>
            <a:ext cx="3032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B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2F1929A-7B7E-458D-875A-6AD4C3E35063}"/>
              </a:ext>
            </a:extLst>
          </p:cNvPr>
          <p:cNvSpPr txBox="1"/>
          <p:nvPr/>
        </p:nvSpPr>
        <p:spPr>
          <a:xfrm>
            <a:off x="6884630" y="4973439"/>
            <a:ext cx="3032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C66CAFA-827E-4DF4-8BE8-52EA0530F677}"/>
              </a:ext>
            </a:extLst>
          </p:cNvPr>
          <p:cNvCxnSpPr>
            <a:cxnSpLocks/>
          </p:cNvCxnSpPr>
          <p:nvPr/>
        </p:nvCxnSpPr>
        <p:spPr>
          <a:xfrm flipH="1">
            <a:off x="6721444" y="5264735"/>
            <a:ext cx="8326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58">
            <a:extLst>
              <a:ext uri="{FF2B5EF4-FFF2-40B4-BE49-F238E27FC236}">
                <a16:creationId xmlns:a16="http://schemas.microsoft.com/office/drawing/2014/main" id="{A17CE8BC-8AB9-47DD-BB37-DD4372755AF4}"/>
              </a:ext>
            </a:extLst>
          </p:cNvPr>
          <p:cNvSpPr/>
          <p:nvPr/>
        </p:nvSpPr>
        <p:spPr>
          <a:xfrm>
            <a:off x="7504326" y="5223460"/>
            <a:ext cx="82550" cy="8255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484206DB-3A4C-46B2-87CE-66A1579667EA}"/>
              </a:ext>
            </a:extLst>
          </p:cNvPr>
          <p:cNvSpPr/>
          <p:nvPr/>
        </p:nvSpPr>
        <p:spPr>
          <a:xfrm>
            <a:off x="6680169" y="5223460"/>
            <a:ext cx="82550" cy="8255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C6E11E8-1106-42AE-8BA3-0914FAFD0A35}"/>
              </a:ext>
            </a:extLst>
          </p:cNvPr>
          <p:cNvSpPr txBox="1"/>
          <p:nvPr/>
        </p:nvSpPr>
        <p:spPr>
          <a:xfrm>
            <a:off x="5129701" y="5787836"/>
            <a:ext cx="29549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After the divide the clip point goes to the far plane, which is wrong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12EC5E5-CC9A-4E30-956F-93088C874A26}"/>
              </a:ext>
            </a:extLst>
          </p:cNvPr>
          <p:cNvSpPr txBox="1"/>
          <p:nvPr/>
        </p:nvSpPr>
        <p:spPr>
          <a:xfrm>
            <a:off x="5367258" y="4379932"/>
            <a:ext cx="2418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After perspective divide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DB2E648D-5B73-4921-B12B-C881A3F13912}"/>
              </a:ext>
            </a:extLst>
          </p:cNvPr>
          <p:cNvSpPr/>
          <p:nvPr/>
        </p:nvSpPr>
        <p:spPr>
          <a:xfrm>
            <a:off x="6260594" y="5100646"/>
            <a:ext cx="693160" cy="374382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CF9F37ED-CD31-4CA1-B370-767313FFC309}"/>
              </a:ext>
            </a:extLst>
          </p:cNvPr>
          <p:cNvSpPr/>
          <p:nvPr/>
        </p:nvSpPr>
        <p:spPr>
          <a:xfrm>
            <a:off x="6921411" y="5223460"/>
            <a:ext cx="82550" cy="8255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85F4F9C-B68B-4FCC-B0C5-0A0A4C6F5B67}"/>
              </a:ext>
            </a:extLst>
          </p:cNvPr>
          <p:cNvSpPr/>
          <p:nvPr/>
        </p:nvSpPr>
        <p:spPr>
          <a:xfrm>
            <a:off x="1466850" y="3206750"/>
            <a:ext cx="6402500" cy="2213277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/>
            <a:r>
              <a:rPr lang="en-US" dirty="0"/>
              <a:t>That is why in the following we don’t clip against -1 and 1 but against arbitrary numbers (it is also possible to define user clip planes which may have arbitrary values)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9943916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simplicity, however, in the following we assume that clipping is performed against a 2D box with coordinates between [</a:t>
            </a:r>
            <a:r>
              <a:rPr lang="en-US" dirty="0" err="1"/>
              <a:t>x</a:t>
            </a:r>
            <a:r>
              <a:rPr lang="en-US" baseline="-25000" dirty="0" err="1"/>
              <a:t>min</a:t>
            </a:r>
            <a:r>
              <a:rPr lang="en-US" dirty="0"/>
              <a:t>, </a:t>
            </a:r>
            <a:r>
              <a:rPr lang="en-US" dirty="0" err="1"/>
              <a:t>x</a:t>
            </a:r>
            <a:r>
              <a:rPr lang="en-US" baseline="-25000" dirty="0" err="1"/>
              <a:t>max</a:t>
            </a:r>
            <a:r>
              <a:rPr lang="en-US" dirty="0"/>
              <a:t>] and [</a:t>
            </a:r>
            <a:r>
              <a:rPr lang="en-US" dirty="0" err="1"/>
              <a:t>y</a:t>
            </a:r>
            <a:r>
              <a:rPr lang="en-US" baseline="-25000" dirty="0" err="1"/>
              <a:t>min</a:t>
            </a:r>
            <a:r>
              <a:rPr lang="en-US" dirty="0"/>
              <a:t>, </a:t>
            </a:r>
            <a:r>
              <a:rPr lang="en-US" dirty="0" err="1"/>
              <a:t>y</a:t>
            </a:r>
            <a:r>
              <a:rPr lang="en-US" baseline="-25000" dirty="0" err="1"/>
              <a:t>max</a:t>
            </a:r>
            <a:r>
              <a:rPr lang="en-US" dirty="0"/>
              <a:t>]</a:t>
            </a:r>
          </a:p>
          <a:p>
            <a:r>
              <a:rPr lang="en-US" dirty="0"/>
              <a:t>The same ideas can be easily generalized to 3D</a:t>
            </a:r>
          </a:p>
          <a:p>
            <a:r>
              <a:rPr lang="en-US" dirty="0"/>
              <a:t>Line clipping:</a:t>
            </a:r>
          </a:p>
          <a:p>
            <a:pPr lvl="1"/>
            <a:r>
              <a:rPr lang="en-US" dirty="0"/>
              <a:t>Cohen-Sutherland Algorithm</a:t>
            </a:r>
          </a:p>
          <a:p>
            <a:pPr lvl="1"/>
            <a:r>
              <a:rPr lang="en-US" dirty="0"/>
              <a:t>Liang-</a:t>
            </a:r>
            <a:r>
              <a:rPr lang="en-US" dirty="0" err="1"/>
              <a:t>Barsky</a:t>
            </a:r>
            <a:r>
              <a:rPr lang="en-US" dirty="0"/>
              <a:t> Algorithm</a:t>
            </a:r>
          </a:p>
          <a:p>
            <a:r>
              <a:rPr lang="en-US" dirty="0"/>
              <a:t>Polygon clipping:</a:t>
            </a:r>
          </a:p>
          <a:p>
            <a:pPr lvl="1"/>
            <a:r>
              <a:rPr lang="en-US" dirty="0"/>
              <a:t>Sutherland-Hodgeman Algorithm</a:t>
            </a:r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7871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Cohen-Sutherland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Assign </a:t>
            </a:r>
            <a:r>
              <a:rPr lang="en-US" dirty="0" err="1">
                <a:solidFill>
                  <a:srgbClr val="C00000"/>
                </a:solidFill>
              </a:rPr>
              <a:t>outcodes</a:t>
            </a:r>
            <a:r>
              <a:rPr lang="en-US" dirty="0"/>
              <a:t> to the end points of lines:</a:t>
            </a:r>
          </a:p>
          <a:p>
            <a:pPr lvl="1"/>
            <a:r>
              <a:rPr lang="en-US" dirty="0"/>
              <a:t>Bit0 = 1 if region is to the left of left edge, 0 otherwise</a:t>
            </a:r>
          </a:p>
          <a:p>
            <a:pPr lvl="1"/>
            <a:r>
              <a:rPr lang="en-US" dirty="0"/>
              <a:t>Bit1 = 1 if region is to the right of right edge, 0 otherwise</a:t>
            </a:r>
          </a:p>
          <a:p>
            <a:pPr lvl="1"/>
            <a:r>
              <a:rPr lang="en-US" dirty="0"/>
              <a:t>Bit2 = 1 if region is below the bottom edge, 0 otherwise</a:t>
            </a:r>
          </a:p>
          <a:p>
            <a:pPr lvl="1"/>
            <a:r>
              <a:rPr lang="en-US" dirty="0"/>
              <a:t>Bit3 = 1 if region is above the top edge, 0 otherwise</a:t>
            </a:r>
          </a:p>
        </p:txBody>
      </p:sp>
      <p:grpSp>
        <p:nvGrpSpPr>
          <p:cNvPr id="4" name="Group 40"/>
          <p:cNvGrpSpPr/>
          <p:nvPr/>
        </p:nvGrpSpPr>
        <p:grpSpPr>
          <a:xfrm>
            <a:off x="3184073" y="3733800"/>
            <a:ext cx="2819401" cy="2367232"/>
            <a:chOff x="2362200" y="3238500"/>
            <a:chExt cx="4038600" cy="3390900"/>
          </a:xfrm>
        </p:grpSpPr>
        <p:sp>
          <p:nvSpPr>
            <p:cNvPr id="5" name="Rectangle 4"/>
            <p:cNvSpPr/>
            <p:nvPr/>
          </p:nvSpPr>
          <p:spPr>
            <a:xfrm>
              <a:off x="3505200" y="3924300"/>
              <a:ext cx="1752600" cy="17526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grpSp>
          <p:nvGrpSpPr>
            <p:cNvPr id="6" name="Group 8"/>
            <p:cNvGrpSpPr/>
            <p:nvPr/>
          </p:nvGrpSpPr>
          <p:grpSpPr>
            <a:xfrm>
              <a:off x="3505200" y="3352800"/>
              <a:ext cx="0" cy="3276600"/>
              <a:chOff x="3505200" y="3009900"/>
              <a:chExt cx="0" cy="3276600"/>
            </a:xfrm>
          </p:grpSpPr>
          <p:cxnSp>
            <p:nvCxnSpPr>
              <p:cNvPr id="7" name="Straight Connector 6"/>
              <p:cNvCxnSpPr>
                <a:stCxn id="5" idx="1"/>
              </p:cNvCxnSpPr>
              <p:nvPr/>
            </p:nvCxnSpPr>
            <p:spPr>
              <a:xfrm flipV="1">
                <a:off x="3505200" y="3009900"/>
                <a:ext cx="0" cy="17907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/>
              <p:cNvCxnSpPr/>
              <p:nvPr/>
            </p:nvCxnSpPr>
            <p:spPr>
              <a:xfrm flipV="1">
                <a:off x="3505200" y="4495800"/>
                <a:ext cx="0" cy="17907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Group 9"/>
            <p:cNvGrpSpPr/>
            <p:nvPr/>
          </p:nvGrpSpPr>
          <p:grpSpPr>
            <a:xfrm>
              <a:off x="5257800" y="3352800"/>
              <a:ext cx="76200" cy="3276600"/>
              <a:chOff x="3505200" y="2667000"/>
              <a:chExt cx="0" cy="3619500"/>
            </a:xfrm>
          </p:grpSpPr>
          <p:cxnSp>
            <p:nvCxnSpPr>
              <p:cNvPr id="11" name="Straight Connector 10"/>
              <p:cNvCxnSpPr/>
              <p:nvPr/>
            </p:nvCxnSpPr>
            <p:spPr>
              <a:xfrm flipV="1">
                <a:off x="3505200" y="2667000"/>
                <a:ext cx="0" cy="17907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 flipV="1">
                <a:off x="3505200" y="4495800"/>
                <a:ext cx="0" cy="17907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Group 18"/>
            <p:cNvGrpSpPr/>
            <p:nvPr/>
          </p:nvGrpSpPr>
          <p:grpSpPr>
            <a:xfrm>
              <a:off x="2362200" y="3924300"/>
              <a:ext cx="4038600" cy="0"/>
              <a:chOff x="2362200" y="3581400"/>
              <a:chExt cx="4038600" cy="0"/>
            </a:xfrm>
          </p:grpSpPr>
          <p:cxnSp>
            <p:nvCxnSpPr>
              <p:cNvPr id="17" name="Straight Connector 16"/>
              <p:cNvCxnSpPr/>
              <p:nvPr/>
            </p:nvCxnSpPr>
            <p:spPr>
              <a:xfrm>
                <a:off x="4381500" y="3581400"/>
                <a:ext cx="2019300" cy="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2362200" y="3581400"/>
                <a:ext cx="2019300" cy="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 19"/>
            <p:cNvGrpSpPr/>
            <p:nvPr/>
          </p:nvGrpSpPr>
          <p:grpSpPr>
            <a:xfrm>
              <a:off x="2362200" y="5676900"/>
              <a:ext cx="4038600" cy="0"/>
              <a:chOff x="2362200" y="3581400"/>
              <a:chExt cx="4038600" cy="0"/>
            </a:xfrm>
          </p:grpSpPr>
          <p:cxnSp>
            <p:nvCxnSpPr>
              <p:cNvPr id="21" name="Straight Connector 20"/>
              <p:cNvCxnSpPr/>
              <p:nvPr/>
            </p:nvCxnSpPr>
            <p:spPr>
              <a:xfrm>
                <a:off x="4381500" y="3581400"/>
                <a:ext cx="2019300" cy="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>
                <a:off x="2362200" y="3581400"/>
                <a:ext cx="2019300" cy="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" name="TextBox 25"/>
            <p:cNvSpPr txBox="1"/>
            <p:nvPr/>
          </p:nvSpPr>
          <p:spPr>
            <a:xfrm>
              <a:off x="2630270" y="3238500"/>
              <a:ext cx="778869" cy="4408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1001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4001870" y="3238500"/>
              <a:ext cx="778869" cy="4408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1000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536165" y="3238500"/>
              <a:ext cx="778869" cy="4408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1010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001869" y="4610100"/>
              <a:ext cx="778869" cy="4408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0000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630270" y="4610100"/>
              <a:ext cx="778869" cy="4408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0001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5536165" y="4610100"/>
              <a:ext cx="778869" cy="4408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0010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2630270" y="5993368"/>
              <a:ext cx="778869" cy="4408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0101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4001869" y="5981700"/>
              <a:ext cx="778869" cy="4408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0100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536165" y="5981700"/>
              <a:ext cx="778869" cy="4408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0110</a:t>
              </a: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6617982" y="4021944"/>
            <a:ext cx="20954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many regions</a:t>
            </a:r>
          </a:p>
          <a:p>
            <a:r>
              <a:rPr lang="en-US" dirty="0"/>
              <a:t>would we have in</a:t>
            </a:r>
          </a:p>
          <a:p>
            <a:r>
              <a:rPr lang="en-US" dirty="0"/>
              <a:t>3D?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17982" y="5122053"/>
            <a:ext cx="20954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bits would we</a:t>
            </a:r>
          </a:p>
          <a:p>
            <a:r>
              <a:rPr lang="en-US" dirty="0"/>
              <a:t>need?</a:t>
            </a:r>
          </a:p>
        </p:txBody>
      </p:sp>
      <p:cxnSp>
        <p:nvCxnSpPr>
          <p:cNvPr id="16" name="Straight Connector 15"/>
          <p:cNvCxnSpPr/>
          <p:nvPr/>
        </p:nvCxnSpPr>
        <p:spPr>
          <a:xfrm flipV="1">
            <a:off x="3184073" y="4041577"/>
            <a:ext cx="2819402" cy="16154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04800" y="4343400"/>
            <a:ext cx="23519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Outcodes</a:t>
            </a:r>
            <a:r>
              <a:rPr lang="en-US" dirty="0"/>
              <a:t> for this line</a:t>
            </a:r>
          </a:p>
          <a:p>
            <a:r>
              <a:rPr lang="en-US" dirty="0"/>
              <a:t>are: 0101 and 1010</a:t>
            </a:r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719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9" grpId="0"/>
      <p:bldP spid="1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Cohen-Sutherland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Handle </a:t>
            </a:r>
            <a:r>
              <a:rPr lang="en-US" b="1" dirty="0"/>
              <a:t>trivial accept </a:t>
            </a:r>
            <a:r>
              <a:rPr lang="en-US" dirty="0"/>
              <a:t>and </a:t>
            </a:r>
            <a:r>
              <a:rPr lang="en-US" b="1" dirty="0"/>
              <a:t>trivial rejects </a:t>
            </a:r>
            <a:r>
              <a:rPr lang="en-US" dirty="0"/>
              <a:t>first:</a:t>
            </a:r>
          </a:p>
          <a:p>
            <a:pPr lvl="1"/>
            <a:r>
              <a:rPr lang="en-US" dirty="0"/>
              <a:t>If both </a:t>
            </a:r>
            <a:r>
              <a:rPr lang="en-US" dirty="0" err="1"/>
              <a:t>outcodes</a:t>
            </a:r>
            <a:r>
              <a:rPr lang="en-US" dirty="0"/>
              <a:t> are zero (i.e. their BITWISE OR is zero) accept the line as it is</a:t>
            </a:r>
          </a:p>
          <a:p>
            <a:pPr lvl="1"/>
            <a:r>
              <a:rPr lang="en-US" dirty="0"/>
              <a:t>If BITWISE AND of </a:t>
            </a:r>
            <a:r>
              <a:rPr lang="en-US" dirty="0" err="1"/>
              <a:t>outcodes</a:t>
            </a:r>
            <a:r>
              <a:rPr lang="en-US" dirty="0"/>
              <a:t> are non-zero, reject the line entirely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3084094" y="3641725"/>
            <a:ext cx="2975811" cy="2667000"/>
            <a:chOff x="2362200" y="2667000"/>
            <a:chExt cx="4038600" cy="3619500"/>
          </a:xfrm>
        </p:grpSpPr>
        <p:sp>
          <p:nvSpPr>
            <p:cNvPr id="5" name="Rectangle 4"/>
            <p:cNvSpPr/>
            <p:nvPr/>
          </p:nvSpPr>
          <p:spPr>
            <a:xfrm>
              <a:off x="3505200" y="3581400"/>
              <a:ext cx="1752600" cy="17526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3505200" y="2667000"/>
              <a:ext cx="0" cy="3619500"/>
              <a:chOff x="3505200" y="2667000"/>
              <a:chExt cx="0" cy="3619500"/>
            </a:xfrm>
          </p:grpSpPr>
          <p:cxnSp>
            <p:nvCxnSpPr>
              <p:cNvPr id="7" name="Straight Connector 6"/>
              <p:cNvCxnSpPr>
                <a:stCxn id="5" idx="1"/>
              </p:cNvCxnSpPr>
              <p:nvPr/>
            </p:nvCxnSpPr>
            <p:spPr>
              <a:xfrm flipV="1">
                <a:off x="3505200" y="2667000"/>
                <a:ext cx="0" cy="17907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/>
              <p:cNvCxnSpPr/>
              <p:nvPr/>
            </p:nvCxnSpPr>
            <p:spPr>
              <a:xfrm flipV="1">
                <a:off x="3505200" y="4495800"/>
                <a:ext cx="0" cy="17907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Group 9"/>
            <p:cNvGrpSpPr/>
            <p:nvPr/>
          </p:nvGrpSpPr>
          <p:grpSpPr>
            <a:xfrm>
              <a:off x="5257800" y="2667000"/>
              <a:ext cx="0" cy="3619500"/>
              <a:chOff x="3505200" y="2667000"/>
              <a:chExt cx="0" cy="3619500"/>
            </a:xfrm>
          </p:grpSpPr>
          <p:cxnSp>
            <p:nvCxnSpPr>
              <p:cNvPr id="11" name="Straight Connector 10"/>
              <p:cNvCxnSpPr/>
              <p:nvPr/>
            </p:nvCxnSpPr>
            <p:spPr>
              <a:xfrm flipV="1">
                <a:off x="3505200" y="2667000"/>
                <a:ext cx="0" cy="17907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 flipV="1">
                <a:off x="3505200" y="4495800"/>
                <a:ext cx="0" cy="17907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8"/>
            <p:cNvGrpSpPr/>
            <p:nvPr/>
          </p:nvGrpSpPr>
          <p:grpSpPr>
            <a:xfrm>
              <a:off x="2362200" y="3581400"/>
              <a:ext cx="4038600" cy="0"/>
              <a:chOff x="2362200" y="3581400"/>
              <a:chExt cx="4038600" cy="0"/>
            </a:xfrm>
          </p:grpSpPr>
          <p:cxnSp>
            <p:nvCxnSpPr>
              <p:cNvPr id="17" name="Straight Connector 16"/>
              <p:cNvCxnSpPr>
                <a:stCxn id="5" idx="0"/>
              </p:cNvCxnSpPr>
              <p:nvPr/>
            </p:nvCxnSpPr>
            <p:spPr>
              <a:xfrm>
                <a:off x="4381500" y="3581400"/>
                <a:ext cx="2019300" cy="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2362200" y="3581400"/>
                <a:ext cx="2019300" cy="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Group 19"/>
            <p:cNvGrpSpPr/>
            <p:nvPr/>
          </p:nvGrpSpPr>
          <p:grpSpPr>
            <a:xfrm>
              <a:off x="2362200" y="5334000"/>
              <a:ext cx="4038600" cy="0"/>
              <a:chOff x="2362200" y="3581400"/>
              <a:chExt cx="4038600" cy="0"/>
            </a:xfrm>
          </p:grpSpPr>
          <p:cxnSp>
            <p:nvCxnSpPr>
              <p:cNvPr id="21" name="Straight Connector 20"/>
              <p:cNvCxnSpPr/>
              <p:nvPr/>
            </p:nvCxnSpPr>
            <p:spPr>
              <a:xfrm>
                <a:off x="4381500" y="3581400"/>
                <a:ext cx="2019300" cy="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>
                <a:off x="2362200" y="3581400"/>
                <a:ext cx="2019300" cy="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4" name="Straight Connector 23"/>
            <p:cNvCxnSpPr/>
            <p:nvPr/>
          </p:nvCxnSpPr>
          <p:spPr>
            <a:xfrm>
              <a:off x="3886200" y="3886200"/>
              <a:ext cx="990600" cy="685800"/>
            </a:xfrm>
            <a:prstGeom prst="line">
              <a:avLst/>
            </a:prstGeom>
            <a:ln w="381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2667000" y="4191000"/>
              <a:ext cx="533400" cy="1524000"/>
            </a:xfrm>
            <a:prstGeom prst="line">
              <a:avLst/>
            </a:prstGeom>
            <a:ln w="381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4495800" y="5867400"/>
              <a:ext cx="1600200" cy="0"/>
            </a:xfrm>
            <a:prstGeom prst="line">
              <a:avLst/>
            </a:prstGeom>
            <a:ln w="381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flipV="1">
              <a:off x="4114800" y="3505200"/>
              <a:ext cx="1981200" cy="243840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flipV="1">
              <a:off x="3138487" y="3200400"/>
              <a:ext cx="557213" cy="68580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TextBox 33"/>
          <p:cNvSpPr txBox="1"/>
          <p:nvPr/>
        </p:nvSpPr>
        <p:spPr>
          <a:xfrm>
            <a:off x="464783" y="3665537"/>
            <a:ext cx="2488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92D050"/>
                </a:solidFill>
              </a:rPr>
              <a:t>Trivial accept/reject lines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4783" y="4111069"/>
            <a:ext cx="1752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Non-trivial cases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6179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Cohen-Sutherland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non-trivial cases, </a:t>
            </a:r>
            <a:r>
              <a:rPr lang="en-US" dirty="0">
                <a:solidFill>
                  <a:srgbClr val="C00000"/>
                </a:solidFill>
              </a:rPr>
              <a:t>iteratively subdivide </a:t>
            </a:r>
            <a:r>
              <a:rPr lang="en-US" dirty="0"/>
              <a:t>lines until all parts can be trivially accepted and rejected</a:t>
            </a:r>
          </a:p>
          <a:p>
            <a:pPr lvl="1"/>
            <a:r>
              <a:rPr lang="en-US" dirty="0"/>
              <a:t>Iteration follows a fixed order (e.g. left, right, bottom, top)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3084094" y="3352800"/>
            <a:ext cx="2975811" cy="2667000"/>
            <a:chOff x="2362200" y="2667000"/>
            <a:chExt cx="4038600" cy="3619500"/>
          </a:xfrm>
        </p:grpSpPr>
        <p:sp>
          <p:nvSpPr>
            <p:cNvPr id="28" name="Rectangle 27"/>
            <p:cNvSpPr/>
            <p:nvPr/>
          </p:nvSpPr>
          <p:spPr>
            <a:xfrm>
              <a:off x="3505200" y="3581400"/>
              <a:ext cx="1752600" cy="17526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0" name="Group 29"/>
            <p:cNvGrpSpPr/>
            <p:nvPr/>
          </p:nvGrpSpPr>
          <p:grpSpPr>
            <a:xfrm>
              <a:off x="3505200" y="2667000"/>
              <a:ext cx="0" cy="3619500"/>
              <a:chOff x="3505200" y="2667000"/>
              <a:chExt cx="0" cy="3619500"/>
            </a:xfrm>
          </p:grpSpPr>
          <p:cxnSp>
            <p:nvCxnSpPr>
              <p:cNvPr id="48" name="Straight Connector 47"/>
              <p:cNvCxnSpPr>
                <a:stCxn id="28" idx="1"/>
              </p:cNvCxnSpPr>
              <p:nvPr/>
            </p:nvCxnSpPr>
            <p:spPr>
              <a:xfrm flipV="1">
                <a:off x="3505200" y="2667000"/>
                <a:ext cx="0" cy="17907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>
              <a:xfrm flipV="1">
                <a:off x="3505200" y="4495800"/>
                <a:ext cx="0" cy="17907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Group 31"/>
            <p:cNvGrpSpPr/>
            <p:nvPr/>
          </p:nvGrpSpPr>
          <p:grpSpPr>
            <a:xfrm>
              <a:off x="5257800" y="2667000"/>
              <a:ext cx="0" cy="3619500"/>
              <a:chOff x="3505200" y="2667000"/>
              <a:chExt cx="0" cy="3619500"/>
            </a:xfrm>
          </p:grpSpPr>
          <p:cxnSp>
            <p:nvCxnSpPr>
              <p:cNvPr id="46" name="Straight Connector 45"/>
              <p:cNvCxnSpPr/>
              <p:nvPr/>
            </p:nvCxnSpPr>
            <p:spPr>
              <a:xfrm flipV="1">
                <a:off x="3505200" y="2667000"/>
                <a:ext cx="0" cy="17907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>
              <a:xfrm flipV="1">
                <a:off x="3505200" y="4495800"/>
                <a:ext cx="0" cy="17907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" name="Group 32"/>
            <p:cNvGrpSpPr/>
            <p:nvPr/>
          </p:nvGrpSpPr>
          <p:grpSpPr>
            <a:xfrm>
              <a:off x="2362200" y="3581400"/>
              <a:ext cx="4038600" cy="0"/>
              <a:chOff x="2362200" y="3581400"/>
              <a:chExt cx="4038600" cy="0"/>
            </a:xfrm>
          </p:grpSpPr>
          <p:cxnSp>
            <p:nvCxnSpPr>
              <p:cNvPr id="44" name="Straight Connector 43"/>
              <p:cNvCxnSpPr>
                <a:stCxn id="28" idx="0"/>
              </p:cNvCxnSpPr>
              <p:nvPr/>
            </p:nvCxnSpPr>
            <p:spPr>
              <a:xfrm>
                <a:off x="4381500" y="3581400"/>
                <a:ext cx="2019300" cy="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>
              <a:xfrm>
                <a:off x="2362200" y="3581400"/>
                <a:ext cx="2019300" cy="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" name="Group 35"/>
            <p:cNvGrpSpPr/>
            <p:nvPr/>
          </p:nvGrpSpPr>
          <p:grpSpPr>
            <a:xfrm>
              <a:off x="2362200" y="5334000"/>
              <a:ext cx="4038600" cy="0"/>
              <a:chOff x="2362200" y="3581400"/>
              <a:chExt cx="4038600" cy="0"/>
            </a:xfrm>
          </p:grpSpPr>
          <p:cxnSp>
            <p:nvCxnSpPr>
              <p:cNvPr id="42" name="Straight Connector 41"/>
              <p:cNvCxnSpPr/>
              <p:nvPr/>
            </p:nvCxnSpPr>
            <p:spPr>
              <a:xfrm>
                <a:off x="4381500" y="3581400"/>
                <a:ext cx="2019300" cy="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>
              <a:xfrm>
                <a:off x="2362200" y="3581400"/>
                <a:ext cx="2019300" cy="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7" name="Straight Connector 36"/>
            <p:cNvCxnSpPr/>
            <p:nvPr/>
          </p:nvCxnSpPr>
          <p:spPr>
            <a:xfrm>
              <a:off x="3886200" y="3886200"/>
              <a:ext cx="990600" cy="685800"/>
            </a:xfrm>
            <a:prstGeom prst="line">
              <a:avLst/>
            </a:prstGeom>
            <a:ln w="381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2667000" y="4191000"/>
              <a:ext cx="533400" cy="1524000"/>
            </a:xfrm>
            <a:prstGeom prst="line">
              <a:avLst/>
            </a:prstGeom>
            <a:ln w="381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4495800" y="5867400"/>
              <a:ext cx="1600200" cy="0"/>
            </a:xfrm>
            <a:prstGeom prst="line">
              <a:avLst/>
            </a:prstGeom>
            <a:ln w="381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flipV="1">
              <a:off x="4114800" y="3505200"/>
              <a:ext cx="1981200" cy="243840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flipV="1">
              <a:off x="3138487" y="3200400"/>
              <a:ext cx="557213" cy="68580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Cohen-Sutherland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Non-trivial cases:</a:t>
            </a:r>
          </a:p>
          <a:p>
            <a:pPr lvl="1"/>
            <a:r>
              <a:rPr lang="en-US" b="1" dirty="0"/>
              <a:t>Step 1:</a:t>
            </a:r>
            <a:r>
              <a:rPr lang="en-US" dirty="0"/>
              <a:t> Pick an </a:t>
            </a:r>
            <a:r>
              <a:rPr lang="en-US" b="1" dirty="0"/>
              <a:t>outside</a:t>
            </a:r>
            <a:r>
              <a:rPr lang="en-US" dirty="0"/>
              <a:t> endpoint (v = v0 or v1)</a:t>
            </a:r>
          </a:p>
          <a:p>
            <a:pPr lvl="1"/>
            <a:r>
              <a:rPr lang="en-US" b="1" dirty="0"/>
              <a:t>Step 2:</a:t>
            </a:r>
            <a:r>
              <a:rPr lang="en-US" dirty="0"/>
              <a:t> Pick an edge for which v is </a:t>
            </a:r>
            <a:r>
              <a:rPr lang="en-US" b="1" dirty="0"/>
              <a:t>outside</a:t>
            </a:r>
          </a:p>
          <a:p>
            <a:pPr lvl="1"/>
            <a:r>
              <a:rPr lang="en-US" b="1" dirty="0"/>
              <a:t>Step 3:</a:t>
            </a:r>
            <a:r>
              <a:rPr lang="en-US" dirty="0"/>
              <a:t> Intersect the line with that edge creating a new endpoint v’</a:t>
            </a:r>
          </a:p>
          <a:p>
            <a:pPr lvl="1"/>
            <a:r>
              <a:rPr lang="en-US" b="1" dirty="0"/>
              <a:t>Step 4:</a:t>
            </a:r>
            <a:r>
              <a:rPr lang="en-US" dirty="0"/>
              <a:t> </a:t>
            </a:r>
            <a:r>
              <a:rPr lang="en-US" b="1" dirty="0"/>
              <a:t>Recompute </a:t>
            </a:r>
            <a:r>
              <a:rPr lang="en-US" dirty="0"/>
              <a:t>the </a:t>
            </a:r>
            <a:r>
              <a:rPr lang="en-US" dirty="0" err="1"/>
              <a:t>outcode</a:t>
            </a:r>
            <a:r>
              <a:rPr lang="en-US" b="1" dirty="0"/>
              <a:t> </a:t>
            </a:r>
            <a:r>
              <a:rPr lang="en-US" dirty="0"/>
              <a:t>of v’ and go to step 1 unless trivial reject or trivial accept is possible</a:t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15" name="Group 14"/>
          <p:cNvGrpSpPr/>
          <p:nvPr/>
        </p:nvGrpSpPr>
        <p:grpSpPr>
          <a:xfrm>
            <a:off x="685800" y="3842322"/>
            <a:ext cx="7848600" cy="2482278"/>
            <a:chOff x="685800" y="3121311"/>
            <a:chExt cx="7848600" cy="2482278"/>
          </a:xfrm>
        </p:grpSpPr>
        <p:grpSp>
          <p:nvGrpSpPr>
            <p:cNvPr id="4" name="Group 46"/>
            <p:cNvGrpSpPr/>
            <p:nvPr/>
          </p:nvGrpSpPr>
          <p:grpSpPr>
            <a:xfrm>
              <a:off x="685800" y="3124200"/>
              <a:ext cx="3505200" cy="2479389"/>
              <a:chOff x="3124200" y="3364468"/>
              <a:chExt cx="3505200" cy="2479389"/>
            </a:xfrm>
          </p:grpSpPr>
          <p:grpSp>
            <p:nvGrpSpPr>
              <p:cNvPr id="6" name="Group 40"/>
              <p:cNvGrpSpPr/>
              <p:nvPr/>
            </p:nvGrpSpPr>
            <p:grpSpPr>
              <a:xfrm>
                <a:off x="3184073" y="3476625"/>
                <a:ext cx="2819401" cy="2367232"/>
                <a:chOff x="2362200" y="3238500"/>
                <a:chExt cx="4038600" cy="3390900"/>
              </a:xfrm>
            </p:grpSpPr>
            <p:sp>
              <p:nvSpPr>
                <p:cNvPr id="5" name="Rectangle 4"/>
                <p:cNvSpPr/>
                <p:nvPr/>
              </p:nvSpPr>
              <p:spPr>
                <a:xfrm>
                  <a:off x="3505200" y="3924300"/>
                  <a:ext cx="1752600" cy="175260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grpSp>
              <p:nvGrpSpPr>
                <p:cNvPr id="9" name="Group 8"/>
                <p:cNvGrpSpPr/>
                <p:nvPr/>
              </p:nvGrpSpPr>
              <p:grpSpPr>
                <a:xfrm>
                  <a:off x="3505200" y="3352800"/>
                  <a:ext cx="0" cy="3276600"/>
                  <a:chOff x="3505200" y="3009900"/>
                  <a:chExt cx="0" cy="3276600"/>
                </a:xfrm>
              </p:grpSpPr>
              <p:cxnSp>
                <p:nvCxnSpPr>
                  <p:cNvPr id="7" name="Straight Connector 6"/>
                  <p:cNvCxnSpPr>
                    <a:stCxn id="5" idx="1"/>
                  </p:cNvCxnSpPr>
                  <p:nvPr/>
                </p:nvCxnSpPr>
                <p:spPr>
                  <a:xfrm flipV="1">
                    <a:off x="3505200" y="3009900"/>
                    <a:ext cx="0" cy="1790700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" name="Straight Connector 7"/>
                  <p:cNvCxnSpPr/>
                  <p:nvPr/>
                </p:nvCxnSpPr>
                <p:spPr>
                  <a:xfrm flipV="1">
                    <a:off x="3505200" y="4495800"/>
                    <a:ext cx="0" cy="1790700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0" name="Group 9"/>
                <p:cNvGrpSpPr/>
                <p:nvPr/>
              </p:nvGrpSpPr>
              <p:grpSpPr>
                <a:xfrm>
                  <a:off x="5257800" y="3352800"/>
                  <a:ext cx="76200" cy="3276600"/>
                  <a:chOff x="3505200" y="2667000"/>
                  <a:chExt cx="0" cy="3619500"/>
                </a:xfrm>
              </p:grpSpPr>
              <p:cxnSp>
                <p:nvCxnSpPr>
                  <p:cNvPr id="11" name="Straight Connector 10"/>
                  <p:cNvCxnSpPr/>
                  <p:nvPr/>
                </p:nvCxnSpPr>
                <p:spPr>
                  <a:xfrm flipV="1">
                    <a:off x="3505200" y="2667000"/>
                    <a:ext cx="0" cy="1790700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" name="Straight Connector 11"/>
                  <p:cNvCxnSpPr/>
                  <p:nvPr/>
                </p:nvCxnSpPr>
                <p:spPr>
                  <a:xfrm flipV="1">
                    <a:off x="3505200" y="4495800"/>
                    <a:ext cx="0" cy="1790700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3" name="Group 18"/>
                <p:cNvGrpSpPr/>
                <p:nvPr/>
              </p:nvGrpSpPr>
              <p:grpSpPr>
                <a:xfrm>
                  <a:off x="2362200" y="3924300"/>
                  <a:ext cx="4038600" cy="0"/>
                  <a:chOff x="2362200" y="3581400"/>
                  <a:chExt cx="4038600" cy="0"/>
                </a:xfrm>
              </p:grpSpPr>
              <p:cxnSp>
                <p:nvCxnSpPr>
                  <p:cNvPr id="17" name="Straight Connector 16"/>
                  <p:cNvCxnSpPr/>
                  <p:nvPr/>
                </p:nvCxnSpPr>
                <p:spPr>
                  <a:xfrm>
                    <a:off x="4381500" y="3581400"/>
                    <a:ext cx="2019300" cy="0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Straight Connector 17"/>
                  <p:cNvCxnSpPr/>
                  <p:nvPr/>
                </p:nvCxnSpPr>
                <p:spPr>
                  <a:xfrm>
                    <a:off x="2362200" y="3581400"/>
                    <a:ext cx="2019300" cy="0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4" name="Group 19"/>
                <p:cNvGrpSpPr/>
                <p:nvPr/>
              </p:nvGrpSpPr>
              <p:grpSpPr>
                <a:xfrm>
                  <a:off x="2362200" y="5676900"/>
                  <a:ext cx="4038600" cy="0"/>
                  <a:chOff x="2362200" y="3581400"/>
                  <a:chExt cx="4038600" cy="0"/>
                </a:xfrm>
              </p:grpSpPr>
              <p:cxnSp>
                <p:nvCxnSpPr>
                  <p:cNvPr id="21" name="Straight Connector 20"/>
                  <p:cNvCxnSpPr/>
                  <p:nvPr/>
                </p:nvCxnSpPr>
                <p:spPr>
                  <a:xfrm>
                    <a:off x="4381500" y="3581400"/>
                    <a:ext cx="2019300" cy="0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" name="Straight Connector 21"/>
                  <p:cNvCxnSpPr/>
                  <p:nvPr/>
                </p:nvCxnSpPr>
                <p:spPr>
                  <a:xfrm>
                    <a:off x="2362200" y="3581400"/>
                    <a:ext cx="2019300" cy="0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6" name="TextBox 25"/>
                <p:cNvSpPr txBox="1"/>
                <p:nvPr/>
              </p:nvSpPr>
              <p:spPr>
                <a:xfrm>
                  <a:off x="2630270" y="3238500"/>
                  <a:ext cx="778869" cy="440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/>
                    <a:t>1001</a:t>
                  </a:r>
                </a:p>
              </p:txBody>
            </p:sp>
            <p:sp>
              <p:nvSpPr>
                <p:cNvPr id="28" name="TextBox 27"/>
                <p:cNvSpPr txBox="1"/>
                <p:nvPr/>
              </p:nvSpPr>
              <p:spPr>
                <a:xfrm>
                  <a:off x="4001870" y="3238500"/>
                  <a:ext cx="778869" cy="440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/>
                    <a:t>1000</a:t>
                  </a:r>
                </a:p>
              </p:txBody>
            </p:sp>
            <p:sp>
              <p:nvSpPr>
                <p:cNvPr id="30" name="TextBox 29"/>
                <p:cNvSpPr txBox="1"/>
                <p:nvPr/>
              </p:nvSpPr>
              <p:spPr>
                <a:xfrm>
                  <a:off x="5536165" y="3238500"/>
                  <a:ext cx="778869" cy="440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/>
                    <a:t>1010</a:t>
                  </a:r>
                </a:p>
              </p:txBody>
            </p:sp>
            <p:sp>
              <p:nvSpPr>
                <p:cNvPr id="32" name="TextBox 31"/>
                <p:cNvSpPr txBox="1"/>
                <p:nvPr/>
              </p:nvSpPr>
              <p:spPr>
                <a:xfrm>
                  <a:off x="4001869" y="4610100"/>
                  <a:ext cx="778869" cy="440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/>
                    <a:t>0000</a:t>
                  </a:r>
                </a:p>
              </p:txBody>
            </p:sp>
            <p:sp>
              <p:nvSpPr>
                <p:cNvPr id="33" name="TextBox 32"/>
                <p:cNvSpPr txBox="1"/>
                <p:nvPr/>
              </p:nvSpPr>
              <p:spPr>
                <a:xfrm>
                  <a:off x="2630270" y="4610100"/>
                  <a:ext cx="778869" cy="440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/>
                    <a:t>0001</a:t>
                  </a:r>
                </a:p>
              </p:txBody>
            </p:sp>
            <p:sp>
              <p:nvSpPr>
                <p:cNvPr id="36" name="TextBox 35"/>
                <p:cNvSpPr txBox="1"/>
                <p:nvPr/>
              </p:nvSpPr>
              <p:spPr>
                <a:xfrm>
                  <a:off x="5536165" y="4610100"/>
                  <a:ext cx="778869" cy="440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/>
                    <a:t>0010</a:t>
                  </a:r>
                </a:p>
              </p:txBody>
            </p:sp>
            <p:sp>
              <p:nvSpPr>
                <p:cNvPr id="37" name="TextBox 36"/>
                <p:cNvSpPr txBox="1"/>
                <p:nvPr/>
              </p:nvSpPr>
              <p:spPr>
                <a:xfrm>
                  <a:off x="2630270" y="5993368"/>
                  <a:ext cx="778869" cy="440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/>
                    <a:t>0101</a:t>
                  </a:r>
                </a:p>
              </p:txBody>
            </p:sp>
            <p:sp>
              <p:nvSpPr>
                <p:cNvPr id="38" name="TextBox 37"/>
                <p:cNvSpPr txBox="1"/>
                <p:nvPr/>
              </p:nvSpPr>
              <p:spPr>
                <a:xfrm>
                  <a:off x="4001869" y="5981700"/>
                  <a:ext cx="778869" cy="440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/>
                    <a:t>0100</a:t>
                  </a:r>
                </a:p>
              </p:txBody>
            </p:sp>
            <p:sp>
              <p:nvSpPr>
                <p:cNvPr id="39" name="TextBox 38"/>
                <p:cNvSpPr txBox="1"/>
                <p:nvPr/>
              </p:nvSpPr>
              <p:spPr>
                <a:xfrm>
                  <a:off x="5536165" y="5981700"/>
                  <a:ext cx="778869" cy="440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/>
                    <a:t>0110</a:t>
                  </a:r>
                </a:p>
              </p:txBody>
            </p:sp>
          </p:grpSp>
          <p:cxnSp>
            <p:nvCxnSpPr>
              <p:cNvPr id="43" name="Straight Connector 42"/>
              <p:cNvCxnSpPr/>
              <p:nvPr/>
            </p:nvCxnSpPr>
            <p:spPr>
              <a:xfrm flipV="1">
                <a:off x="3505200" y="3629025"/>
                <a:ext cx="2819400" cy="12192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TextBox 43"/>
              <p:cNvSpPr txBox="1"/>
              <p:nvPr/>
            </p:nvSpPr>
            <p:spPr>
              <a:xfrm>
                <a:off x="3124200" y="4619625"/>
                <a:ext cx="4010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v0</a:t>
                </a:r>
              </a:p>
            </p:txBody>
          </p:sp>
          <p:sp>
            <p:nvSpPr>
              <p:cNvPr id="45" name="TextBox 44"/>
              <p:cNvSpPr txBox="1"/>
              <p:nvPr/>
            </p:nvSpPr>
            <p:spPr>
              <a:xfrm>
                <a:off x="6228328" y="3364468"/>
                <a:ext cx="4010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v1</a:t>
                </a:r>
              </a:p>
            </p:txBody>
          </p:sp>
        </p:grpSp>
        <p:grpSp>
          <p:nvGrpSpPr>
            <p:cNvPr id="34" name="Group 40"/>
            <p:cNvGrpSpPr/>
            <p:nvPr/>
          </p:nvGrpSpPr>
          <p:grpSpPr>
            <a:xfrm>
              <a:off x="5089073" y="3233468"/>
              <a:ext cx="2819401" cy="2367232"/>
              <a:chOff x="2362200" y="3238500"/>
              <a:chExt cx="4038600" cy="3390900"/>
            </a:xfrm>
          </p:grpSpPr>
          <p:sp>
            <p:nvSpPr>
              <p:cNvPr id="42" name="Rectangle 41"/>
              <p:cNvSpPr/>
              <p:nvPr/>
            </p:nvSpPr>
            <p:spPr>
              <a:xfrm>
                <a:off x="3505200" y="3924300"/>
                <a:ext cx="1752600" cy="17526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grpSp>
            <p:nvGrpSpPr>
              <p:cNvPr id="46" name="Group 8"/>
              <p:cNvGrpSpPr/>
              <p:nvPr/>
            </p:nvGrpSpPr>
            <p:grpSpPr>
              <a:xfrm>
                <a:off x="3505200" y="3352800"/>
                <a:ext cx="0" cy="3276600"/>
                <a:chOff x="3505200" y="3009900"/>
                <a:chExt cx="0" cy="3276600"/>
              </a:xfrm>
            </p:grpSpPr>
            <p:cxnSp>
              <p:nvCxnSpPr>
                <p:cNvPr id="65" name="Straight Connector 64"/>
                <p:cNvCxnSpPr>
                  <a:stCxn id="42" idx="1"/>
                </p:cNvCxnSpPr>
                <p:nvPr/>
              </p:nvCxnSpPr>
              <p:spPr>
                <a:xfrm flipV="1">
                  <a:off x="3505200" y="3009900"/>
                  <a:ext cx="0" cy="179070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Connector 7"/>
                <p:cNvCxnSpPr/>
                <p:nvPr/>
              </p:nvCxnSpPr>
              <p:spPr>
                <a:xfrm flipV="1">
                  <a:off x="3505200" y="4495800"/>
                  <a:ext cx="0" cy="179070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7" name="Group 9"/>
              <p:cNvGrpSpPr/>
              <p:nvPr/>
            </p:nvGrpSpPr>
            <p:grpSpPr>
              <a:xfrm>
                <a:off x="5257800" y="3352800"/>
                <a:ext cx="76200" cy="3276600"/>
                <a:chOff x="3505200" y="2667000"/>
                <a:chExt cx="0" cy="3619500"/>
              </a:xfrm>
            </p:grpSpPr>
            <p:cxnSp>
              <p:nvCxnSpPr>
                <p:cNvPr id="63" name="Straight Connector 10"/>
                <p:cNvCxnSpPr/>
                <p:nvPr/>
              </p:nvCxnSpPr>
              <p:spPr>
                <a:xfrm flipV="1">
                  <a:off x="3505200" y="2667000"/>
                  <a:ext cx="0" cy="179070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/>
                <p:cNvCxnSpPr/>
                <p:nvPr/>
              </p:nvCxnSpPr>
              <p:spPr>
                <a:xfrm flipV="1">
                  <a:off x="3505200" y="4495800"/>
                  <a:ext cx="0" cy="179070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8" name="Group 18"/>
              <p:cNvGrpSpPr/>
              <p:nvPr/>
            </p:nvGrpSpPr>
            <p:grpSpPr>
              <a:xfrm>
                <a:off x="2362200" y="3924300"/>
                <a:ext cx="4038600" cy="0"/>
                <a:chOff x="2362200" y="3581400"/>
                <a:chExt cx="4038600" cy="0"/>
              </a:xfrm>
            </p:grpSpPr>
            <p:cxnSp>
              <p:nvCxnSpPr>
                <p:cNvPr id="61" name="Straight Connector 60"/>
                <p:cNvCxnSpPr/>
                <p:nvPr/>
              </p:nvCxnSpPr>
              <p:spPr>
                <a:xfrm>
                  <a:off x="4381500" y="3581400"/>
                  <a:ext cx="2019300" cy="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Connector 61"/>
                <p:cNvCxnSpPr/>
                <p:nvPr/>
              </p:nvCxnSpPr>
              <p:spPr>
                <a:xfrm>
                  <a:off x="2362200" y="3581400"/>
                  <a:ext cx="2019300" cy="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9" name="Group 19"/>
              <p:cNvGrpSpPr/>
              <p:nvPr/>
            </p:nvGrpSpPr>
            <p:grpSpPr>
              <a:xfrm>
                <a:off x="2362200" y="5676900"/>
                <a:ext cx="4038600" cy="0"/>
                <a:chOff x="2362200" y="3581400"/>
                <a:chExt cx="4038600" cy="0"/>
              </a:xfrm>
            </p:grpSpPr>
            <p:cxnSp>
              <p:nvCxnSpPr>
                <p:cNvPr id="59" name="Straight Connector 58"/>
                <p:cNvCxnSpPr/>
                <p:nvPr/>
              </p:nvCxnSpPr>
              <p:spPr>
                <a:xfrm>
                  <a:off x="4381500" y="3581400"/>
                  <a:ext cx="2019300" cy="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/>
                <p:cNvCxnSpPr/>
                <p:nvPr/>
              </p:nvCxnSpPr>
              <p:spPr>
                <a:xfrm>
                  <a:off x="2362200" y="3581400"/>
                  <a:ext cx="2019300" cy="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0" name="TextBox 49"/>
              <p:cNvSpPr txBox="1"/>
              <p:nvPr/>
            </p:nvSpPr>
            <p:spPr>
              <a:xfrm>
                <a:off x="2630270" y="32385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1001</a:t>
                </a:r>
              </a:p>
            </p:txBody>
          </p:sp>
          <p:sp>
            <p:nvSpPr>
              <p:cNvPr id="51" name="TextBox 50"/>
              <p:cNvSpPr txBox="1"/>
              <p:nvPr/>
            </p:nvSpPr>
            <p:spPr>
              <a:xfrm>
                <a:off x="4001870" y="32385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1000</a:t>
                </a:r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5536165" y="32385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1010</a:t>
                </a:r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4001869" y="46101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0000</a:t>
                </a:r>
              </a:p>
            </p:txBody>
          </p:sp>
          <p:sp>
            <p:nvSpPr>
              <p:cNvPr id="54" name="TextBox 53"/>
              <p:cNvSpPr txBox="1"/>
              <p:nvPr/>
            </p:nvSpPr>
            <p:spPr>
              <a:xfrm>
                <a:off x="2630270" y="46101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0001</a:t>
                </a:r>
              </a:p>
            </p:txBody>
          </p:sp>
          <p:sp>
            <p:nvSpPr>
              <p:cNvPr id="55" name="TextBox 54"/>
              <p:cNvSpPr txBox="1"/>
              <p:nvPr/>
            </p:nvSpPr>
            <p:spPr>
              <a:xfrm>
                <a:off x="5536165" y="46101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0010</a:t>
                </a:r>
              </a:p>
            </p:txBody>
          </p:sp>
          <p:sp>
            <p:nvSpPr>
              <p:cNvPr id="56" name="TextBox 55"/>
              <p:cNvSpPr txBox="1"/>
              <p:nvPr/>
            </p:nvSpPr>
            <p:spPr>
              <a:xfrm>
                <a:off x="2630270" y="5993368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0101</a:t>
                </a:r>
              </a:p>
            </p:txBody>
          </p:sp>
          <p:sp>
            <p:nvSpPr>
              <p:cNvPr id="57" name="TextBox 56"/>
              <p:cNvSpPr txBox="1"/>
              <p:nvPr/>
            </p:nvSpPr>
            <p:spPr>
              <a:xfrm>
                <a:off x="4001869" y="59817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0100</a:t>
                </a:r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5536165" y="59817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0110</a:t>
                </a:r>
              </a:p>
            </p:txBody>
          </p:sp>
        </p:grpSp>
        <p:cxnSp>
          <p:nvCxnSpPr>
            <p:cNvPr id="35" name="Straight Connector 34"/>
            <p:cNvCxnSpPr/>
            <p:nvPr/>
          </p:nvCxnSpPr>
          <p:spPr>
            <a:xfrm flipV="1">
              <a:off x="5410200" y="3385868"/>
              <a:ext cx="2819400" cy="12192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/>
            <p:cNvSpPr txBox="1"/>
            <p:nvPr/>
          </p:nvSpPr>
          <p:spPr>
            <a:xfrm>
              <a:off x="5029200" y="4376468"/>
              <a:ext cx="4010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v0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8133328" y="3121311"/>
              <a:ext cx="4010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v1</a:t>
              </a:r>
            </a:p>
          </p:txBody>
        </p:sp>
        <p:sp>
          <p:nvSpPr>
            <p:cNvPr id="72" name="Right Arrow 71"/>
            <p:cNvSpPr/>
            <p:nvPr/>
          </p:nvSpPr>
          <p:spPr>
            <a:xfrm>
              <a:off x="3886200" y="4191000"/>
              <a:ext cx="1066800" cy="2286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7" name="Straight Connector 66"/>
            <p:cNvCxnSpPr/>
            <p:nvPr/>
          </p:nvCxnSpPr>
          <p:spPr>
            <a:xfrm flipV="1">
              <a:off x="5398699" y="4396518"/>
              <a:ext cx="472948" cy="204518"/>
            </a:xfrm>
            <a:prstGeom prst="line">
              <a:avLst/>
            </a:prstGeom>
            <a:ln w="57150">
              <a:solidFill>
                <a:srgbClr val="0070C0"/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68" name="TextBox 67"/>
          <p:cNvSpPr txBox="1"/>
          <p:nvPr/>
        </p:nvSpPr>
        <p:spPr>
          <a:xfrm>
            <a:off x="5868234" y="5026221"/>
            <a:ext cx="444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v'0</a:t>
            </a:r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Cohen-Sutherland Algorithm</a:t>
            </a:r>
          </a:p>
        </p:txBody>
      </p:sp>
      <p:sp>
        <p:nvSpPr>
          <p:cNvPr id="72" name="Right Arrow 71"/>
          <p:cNvSpPr/>
          <p:nvPr/>
        </p:nvSpPr>
        <p:spPr>
          <a:xfrm>
            <a:off x="3886200" y="2329446"/>
            <a:ext cx="106680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9" name="Group 68"/>
          <p:cNvGrpSpPr/>
          <p:nvPr/>
        </p:nvGrpSpPr>
        <p:grpSpPr>
          <a:xfrm>
            <a:off x="745673" y="1262646"/>
            <a:ext cx="3445327" cy="2479389"/>
            <a:chOff x="5089073" y="3121311"/>
            <a:chExt cx="3445327" cy="2479389"/>
          </a:xfrm>
        </p:grpSpPr>
        <p:grpSp>
          <p:nvGrpSpPr>
            <p:cNvPr id="70" name="Group 40"/>
            <p:cNvGrpSpPr/>
            <p:nvPr/>
          </p:nvGrpSpPr>
          <p:grpSpPr>
            <a:xfrm>
              <a:off x="5089073" y="3233468"/>
              <a:ext cx="2819401" cy="2367232"/>
              <a:chOff x="2362200" y="3238500"/>
              <a:chExt cx="4038600" cy="3390900"/>
            </a:xfrm>
          </p:grpSpPr>
          <p:sp>
            <p:nvSpPr>
              <p:cNvPr id="76" name="Rectangle 75"/>
              <p:cNvSpPr/>
              <p:nvPr/>
            </p:nvSpPr>
            <p:spPr>
              <a:xfrm>
                <a:off x="3505200" y="3924300"/>
                <a:ext cx="1752600" cy="17526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grpSp>
            <p:nvGrpSpPr>
              <p:cNvPr id="77" name="Group 76"/>
              <p:cNvGrpSpPr/>
              <p:nvPr/>
            </p:nvGrpSpPr>
            <p:grpSpPr>
              <a:xfrm>
                <a:off x="3505200" y="3352800"/>
                <a:ext cx="0" cy="3276600"/>
                <a:chOff x="3505200" y="3009900"/>
                <a:chExt cx="0" cy="3276600"/>
              </a:xfrm>
            </p:grpSpPr>
            <p:cxnSp>
              <p:nvCxnSpPr>
                <p:cNvPr id="96" name="Straight Connector 95"/>
                <p:cNvCxnSpPr>
                  <a:stCxn id="76" idx="1"/>
                </p:cNvCxnSpPr>
                <p:nvPr/>
              </p:nvCxnSpPr>
              <p:spPr>
                <a:xfrm flipV="1">
                  <a:off x="3505200" y="3009900"/>
                  <a:ext cx="0" cy="179070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7" name="Straight Connector 7"/>
                <p:cNvCxnSpPr/>
                <p:nvPr/>
              </p:nvCxnSpPr>
              <p:spPr>
                <a:xfrm flipV="1">
                  <a:off x="3505200" y="4495800"/>
                  <a:ext cx="0" cy="179070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8" name="Group 77"/>
              <p:cNvGrpSpPr/>
              <p:nvPr/>
            </p:nvGrpSpPr>
            <p:grpSpPr>
              <a:xfrm>
                <a:off x="5257800" y="3352800"/>
                <a:ext cx="76200" cy="3276600"/>
                <a:chOff x="3505200" y="2667000"/>
                <a:chExt cx="0" cy="3619500"/>
              </a:xfrm>
            </p:grpSpPr>
            <p:cxnSp>
              <p:nvCxnSpPr>
                <p:cNvPr id="94" name="Straight Connector 10"/>
                <p:cNvCxnSpPr/>
                <p:nvPr/>
              </p:nvCxnSpPr>
              <p:spPr>
                <a:xfrm flipV="1">
                  <a:off x="3505200" y="2667000"/>
                  <a:ext cx="0" cy="179070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Straight Connector 94"/>
                <p:cNvCxnSpPr/>
                <p:nvPr/>
              </p:nvCxnSpPr>
              <p:spPr>
                <a:xfrm flipV="1">
                  <a:off x="3505200" y="4495800"/>
                  <a:ext cx="0" cy="179070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9" name="Group 18"/>
              <p:cNvGrpSpPr/>
              <p:nvPr/>
            </p:nvGrpSpPr>
            <p:grpSpPr>
              <a:xfrm>
                <a:off x="2362200" y="3924300"/>
                <a:ext cx="4038600" cy="0"/>
                <a:chOff x="2362200" y="3581400"/>
                <a:chExt cx="4038600" cy="0"/>
              </a:xfrm>
            </p:grpSpPr>
            <p:cxnSp>
              <p:nvCxnSpPr>
                <p:cNvPr id="92" name="Straight Connector 91"/>
                <p:cNvCxnSpPr/>
                <p:nvPr/>
              </p:nvCxnSpPr>
              <p:spPr>
                <a:xfrm>
                  <a:off x="4381500" y="3581400"/>
                  <a:ext cx="2019300" cy="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Straight Connector 92"/>
                <p:cNvCxnSpPr/>
                <p:nvPr/>
              </p:nvCxnSpPr>
              <p:spPr>
                <a:xfrm>
                  <a:off x="2362200" y="3581400"/>
                  <a:ext cx="2019300" cy="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0" name="Group 19"/>
              <p:cNvGrpSpPr/>
              <p:nvPr/>
            </p:nvGrpSpPr>
            <p:grpSpPr>
              <a:xfrm>
                <a:off x="2362200" y="5676900"/>
                <a:ext cx="4038600" cy="0"/>
                <a:chOff x="2362200" y="3581400"/>
                <a:chExt cx="4038600" cy="0"/>
              </a:xfrm>
            </p:grpSpPr>
            <p:cxnSp>
              <p:nvCxnSpPr>
                <p:cNvPr id="90" name="Straight Connector 89"/>
                <p:cNvCxnSpPr/>
                <p:nvPr/>
              </p:nvCxnSpPr>
              <p:spPr>
                <a:xfrm>
                  <a:off x="4381500" y="3581400"/>
                  <a:ext cx="2019300" cy="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Straight Connector 90"/>
                <p:cNvCxnSpPr/>
                <p:nvPr/>
              </p:nvCxnSpPr>
              <p:spPr>
                <a:xfrm>
                  <a:off x="2362200" y="3581400"/>
                  <a:ext cx="2019300" cy="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1" name="TextBox 80"/>
              <p:cNvSpPr txBox="1"/>
              <p:nvPr/>
            </p:nvSpPr>
            <p:spPr>
              <a:xfrm>
                <a:off x="2630270" y="32385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1001</a:t>
                </a:r>
              </a:p>
            </p:txBody>
          </p:sp>
          <p:sp>
            <p:nvSpPr>
              <p:cNvPr id="82" name="TextBox 81"/>
              <p:cNvSpPr txBox="1"/>
              <p:nvPr/>
            </p:nvSpPr>
            <p:spPr>
              <a:xfrm>
                <a:off x="4001870" y="32385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1000</a:t>
                </a:r>
              </a:p>
            </p:txBody>
          </p:sp>
          <p:sp>
            <p:nvSpPr>
              <p:cNvPr id="83" name="TextBox 82"/>
              <p:cNvSpPr txBox="1"/>
              <p:nvPr/>
            </p:nvSpPr>
            <p:spPr>
              <a:xfrm>
                <a:off x="5536165" y="32385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1010</a:t>
                </a:r>
              </a:p>
            </p:txBody>
          </p:sp>
          <p:sp>
            <p:nvSpPr>
              <p:cNvPr id="84" name="TextBox 83"/>
              <p:cNvSpPr txBox="1"/>
              <p:nvPr/>
            </p:nvSpPr>
            <p:spPr>
              <a:xfrm>
                <a:off x="4001869" y="46101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0000</a:t>
                </a:r>
              </a:p>
            </p:txBody>
          </p:sp>
          <p:sp>
            <p:nvSpPr>
              <p:cNvPr id="85" name="TextBox 84"/>
              <p:cNvSpPr txBox="1"/>
              <p:nvPr/>
            </p:nvSpPr>
            <p:spPr>
              <a:xfrm>
                <a:off x="2630270" y="46101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0001</a:t>
                </a:r>
              </a:p>
            </p:txBody>
          </p:sp>
          <p:sp>
            <p:nvSpPr>
              <p:cNvPr id="86" name="TextBox 85"/>
              <p:cNvSpPr txBox="1"/>
              <p:nvPr/>
            </p:nvSpPr>
            <p:spPr>
              <a:xfrm>
                <a:off x="5536165" y="46101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0010</a:t>
                </a:r>
              </a:p>
            </p:txBody>
          </p:sp>
          <p:sp>
            <p:nvSpPr>
              <p:cNvPr id="87" name="TextBox 86"/>
              <p:cNvSpPr txBox="1"/>
              <p:nvPr/>
            </p:nvSpPr>
            <p:spPr>
              <a:xfrm>
                <a:off x="2630270" y="5993368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0101</a:t>
                </a:r>
              </a:p>
            </p:txBody>
          </p:sp>
          <p:sp>
            <p:nvSpPr>
              <p:cNvPr id="88" name="TextBox 87"/>
              <p:cNvSpPr txBox="1"/>
              <p:nvPr/>
            </p:nvSpPr>
            <p:spPr>
              <a:xfrm>
                <a:off x="4001869" y="59817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0100</a:t>
                </a:r>
              </a:p>
            </p:txBody>
          </p:sp>
          <p:sp>
            <p:nvSpPr>
              <p:cNvPr id="89" name="TextBox 88"/>
              <p:cNvSpPr txBox="1"/>
              <p:nvPr/>
            </p:nvSpPr>
            <p:spPr>
              <a:xfrm>
                <a:off x="5536165" y="59817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0110</a:t>
                </a:r>
              </a:p>
            </p:txBody>
          </p:sp>
        </p:grpSp>
        <p:cxnSp>
          <p:nvCxnSpPr>
            <p:cNvPr id="71" name="Straight Connector 70"/>
            <p:cNvCxnSpPr/>
            <p:nvPr/>
          </p:nvCxnSpPr>
          <p:spPr>
            <a:xfrm flipV="1">
              <a:off x="5886450" y="3385868"/>
              <a:ext cx="2343150" cy="101325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Box 72"/>
            <p:cNvSpPr txBox="1"/>
            <p:nvPr/>
          </p:nvSpPr>
          <p:spPr>
            <a:xfrm>
              <a:off x="5837803" y="4292886"/>
              <a:ext cx="4443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v'0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8133328" y="3121311"/>
              <a:ext cx="4010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v1</a:t>
              </a:r>
            </a:p>
          </p:txBody>
        </p:sp>
      </p:grp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23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349C555-A362-B142-988D-E75C5F55AB22}"/>
              </a:ext>
            </a:extLst>
          </p:cNvPr>
          <p:cNvGrpSpPr/>
          <p:nvPr/>
        </p:nvGrpSpPr>
        <p:grpSpPr>
          <a:xfrm>
            <a:off x="5105400" y="1143000"/>
            <a:ext cx="3385633" cy="2599035"/>
            <a:chOff x="5105400" y="1295400"/>
            <a:chExt cx="3385633" cy="2599035"/>
          </a:xfrm>
        </p:grpSpPr>
        <p:grpSp>
          <p:nvGrpSpPr>
            <p:cNvPr id="131" name="Group 130"/>
            <p:cNvGrpSpPr/>
            <p:nvPr/>
          </p:nvGrpSpPr>
          <p:grpSpPr>
            <a:xfrm>
              <a:off x="5105400" y="1295400"/>
              <a:ext cx="3385633" cy="2599035"/>
              <a:chOff x="5165273" y="3004554"/>
              <a:chExt cx="3385633" cy="2599035"/>
            </a:xfrm>
          </p:grpSpPr>
          <p:grpSp>
            <p:nvGrpSpPr>
              <p:cNvPr id="100" name="Group 40"/>
              <p:cNvGrpSpPr/>
              <p:nvPr/>
            </p:nvGrpSpPr>
            <p:grpSpPr>
              <a:xfrm>
                <a:off x="5165273" y="3236357"/>
                <a:ext cx="2819401" cy="2367232"/>
                <a:chOff x="2362200" y="3238500"/>
                <a:chExt cx="4038600" cy="3390900"/>
              </a:xfrm>
            </p:grpSpPr>
            <p:sp>
              <p:nvSpPr>
                <p:cNvPr id="104" name="Rectangle 103"/>
                <p:cNvSpPr/>
                <p:nvPr/>
              </p:nvSpPr>
              <p:spPr>
                <a:xfrm>
                  <a:off x="3505200" y="3924300"/>
                  <a:ext cx="1752600" cy="175260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grpSp>
              <p:nvGrpSpPr>
                <p:cNvPr id="105" name="Group 76"/>
                <p:cNvGrpSpPr/>
                <p:nvPr/>
              </p:nvGrpSpPr>
              <p:grpSpPr>
                <a:xfrm>
                  <a:off x="3505200" y="3352800"/>
                  <a:ext cx="0" cy="3276600"/>
                  <a:chOff x="3505200" y="3009900"/>
                  <a:chExt cx="0" cy="3276600"/>
                </a:xfrm>
              </p:grpSpPr>
              <p:cxnSp>
                <p:nvCxnSpPr>
                  <p:cNvPr id="124" name="Straight Connector 123"/>
                  <p:cNvCxnSpPr>
                    <a:stCxn id="104" idx="1"/>
                  </p:cNvCxnSpPr>
                  <p:nvPr/>
                </p:nvCxnSpPr>
                <p:spPr>
                  <a:xfrm flipV="1">
                    <a:off x="3505200" y="3009900"/>
                    <a:ext cx="0" cy="1790700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5" name="Straight Connector 7"/>
                  <p:cNvCxnSpPr/>
                  <p:nvPr/>
                </p:nvCxnSpPr>
                <p:spPr>
                  <a:xfrm flipV="1">
                    <a:off x="3505200" y="4495800"/>
                    <a:ext cx="0" cy="1790700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06" name="Group 77"/>
                <p:cNvGrpSpPr/>
                <p:nvPr/>
              </p:nvGrpSpPr>
              <p:grpSpPr>
                <a:xfrm>
                  <a:off x="5257800" y="3352800"/>
                  <a:ext cx="76200" cy="3276600"/>
                  <a:chOff x="3505200" y="2667000"/>
                  <a:chExt cx="0" cy="3619500"/>
                </a:xfrm>
              </p:grpSpPr>
              <p:cxnSp>
                <p:nvCxnSpPr>
                  <p:cNvPr id="122" name="Straight Connector 10"/>
                  <p:cNvCxnSpPr/>
                  <p:nvPr/>
                </p:nvCxnSpPr>
                <p:spPr>
                  <a:xfrm flipV="1">
                    <a:off x="3505200" y="2667000"/>
                    <a:ext cx="0" cy="1790700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3" name="Straight Connector 122"/>
                  <p:cNvCxnSpPr/>
                  <p:nvPr/>
                </p:nvCxnSpPr>
                <p:spPr>
                  <a:xfrm flipV="1">
                    <a:off x="3505200" y="4495800"/>
                    <a:ext cx="0" cy="1790700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07" name="Group 18"/>
                <p:cNvGrpSpPr/>
                <p:nvPr/>
              </p:nvGrpSpPr>
              <p:grpSpPr>
                <a:xfrm>
                  <a:off x="2362200" y="3924300"/>
                  <a:ext cx="4038600" cy="0"/>
                  <a:chOff x="2362200" y="3581400"/>
                  <a:chExt cx="4038600" cy="0"/>
                </a:xfrm>
              </p:grpSpPr>
              <p:cxnSp>
                <p:nvCxnSpPr>
                  <p:cNvPr id="120" name="Straight Connector 119"/>
                  <p:cNvCxnSpPr/>
                  <p:nvPr/>
                </p:nvCxnSpPr>
                <p:spPr>
                  <a:xfrm>
                    <a:off x="4381500" y="3581400"/>
                    <a:ext cx="2019300" cy="0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1" name="Straight Connector 120"/>
                  <p:cNvCxnSpPr/>
                  <p:nvPr/>
                </p:nvCxnSpPr>
                <p:spPr>
                  <a:xfrm>
                    <a:off x="2362200" y="3581400"/>
                    <a:ext cx="2019300" cy="0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08" name="Group 19"/>
                <p:cNvGrpSpPr/>
                <p:nvPr/>
              </p:nvGrpSpPr>
              <p:grpSpPr>
                <a:xfrm>
                  <a:off x="2362200" y="5676900"/>
                  <a:ext cx="4038600" cy="0"/>
                  <a:chOff x="2362200" y="3581400"/>
                  <a:chExt cx="4038600" cy="0"/>
                </a:xfrm>
              </p:grpSpPr>
              <p:cxnSp>
                <p:nvCxnSpPr>
                  <p:cNvPr id="118" name="Straight Connector 117"/>
                  <p:cNvCxnSpPr/>
                  <p:nvPr/>
                </p:nvCxnSpPr>
                <p:spPr>
                  <a:xfrm>
                    <a:off x="4381500" y="3581400"/>
                    <a:ext cx="2019300" cy="0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9" name="Straight Connector 118"/>
                  <p:cNvCxnSpPr/>
                  <p:nvPr/>
                </p:nvCxnSpPr>
                <p:spPr>
                  <a:xfrm>
                    <a:off x="2362200" y="3581400"/>
                    <a:ext cx="2019300" cy="0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09" name="TextBox 108"/>
                <p:cNvSpPr txBox="1"/>
                <p:nvPr/>
              </p:nvSpPr>
              <p:spPr>
                <a:xfrm>
                  <a:off x="2630270" y="3238500"/>
                  <a:ext cx="778869" cy="440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/>
                    <a:t>1001</a:t>
                  </a:r>
                </a:p>
              </p:txBody>
            </p:sp>
            <p:sp>
              <p:nvSpPr>
                <p:cNvPr id="110" name="TextBox 109"/>
                <p:cNvSpPr txBox="1"/>
                <p:nvPr/>
              </p:nvSpPr>
              <p:spPr>
                <a:xfrm>
                  <a:off x="4001870" y="3238500"/>
                  <a:ext cx="778869" cy="440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/>
                    <a:t>1000</a:t>
                  </a:r>
                </a:p>
              </p:txBody>
            </p:sp>
            <p:sp>
              <p:nvSpPr>
                <p:cNvPr id="111" name="TextBox 110"/>
                <p:cNvSpPr txBox="1"/>
                <p:nvPr/>
              </p:nvSpPr>
              <p:spPr>
                <a:xfrm>
                  <a:off x="5536165" y="3238500"/>
                  <a:ext cx="778869" cy="440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/>
                    <a:t>1010</a:t>
                  </a:r>
                </a:p>
              </p:txBody>
            </p:sp>
            <p:sp>
              <p:nvSpPr>
                <p:cNvPr id="112" name="TextBox 111"/>
                <p:cNvSpPr txBox="1"/>
                <p:nvPr/>
              </p:nvSpPr>
              <p:spPr>
                <a:xfrm>
                  <a:off x="4001869" y="4610100"/>
                  <a:ext cx="778869" cy="440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/>
                    <a:t>0000</a:t>
                  </a:r>
                </a:p>
              </p:txBody>
            </p:sp>
            <p:sp>
              <p:nvSpPr>
                <p:cNvPr id="113" name="TextBox 112"/>
                <p:cNvSpPr txBox="1"/>
                <p:nvPr/>
              </p:nvSpPr>
              <p:spPr>
                <a:xfrm>
                  <a:off x="2630270" y="4610100"/>
                  <a:ext cx="778869" cy="440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/>
                    <a:t>0001</a:t>
                  </a:r>
                </a:p>
              </p:txBody>
            </p:sp>
            <p:sp>
              <p:nvSpPr>
                <p:cNvPr id="114" name="TextBox 113"/>
                <p:cNvSpPr txBox="1"/>
                <p:nvPr/>
              </p:nvSpPr>
              <p:spPr>
                <a:xfrm>
                  <a:off x="5536165" y="4610100"/>
                  <a:ext cx="778869" cy="440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/>
                    <a:t>0010</a:t>
                  </a:r>
                </a:p>
              </p:txBody>
            </p:sp>
            <p:sp>
              <p:nvSpPr>
                <p:cNvPr id="115" name="TextBox 114"/>
                <p:cNvSpPr txBox="1"/>
                <p:nvPr/>
              </p:nvSpPr>
              <p:spPr>
                <a:xfrm>
                  <a:off x="2630270" y="5993368"/>
                  <a:ext cx="778869" cy="440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/>
                    <a:t>0101</a:t>
                  </a:r>
                </a:p>
              </p:txBody>
            </p:sp>
            <p:sp>
              <p:nvSpPr>
                <p:cNvPr id="116" name="TextBox 115"/>
                <p:cNvSpPr txBox="1"/>
                <p:nvPr/>
              </p:nvSpPr>
              <p:spPr>
                <a:xfrm>
                  <a:off x="4001869" y="5981700"/>
                  <a:ext cx="778869" cy="440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/>
                    <a:t>0100</a:t>
                  </a:r>
                </a:p>
              </p:txBody>
            </p:sp>
            <p:sp>
              <p:nvSpPr>
                <p:cNvPr id="117" name="TextBox 116"/>
                <p:cNvSpPr txBox="1"/>
                <p:nvPr/>
              </p:nvSpPr>
              <p:spPr>
                <a:xfrm>
                  <a:off x="5536165" y="5981700"/>
                  <a:ext cx="778869" cy="440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/>
                    <a:t>0110</a:t>
                  </a:r>
                </a:p>
              </p:txBody>
            </p:sp>
          </p:grpSp>
          <p:sp>
            <p:nvSpPr>
              <p:cNvPr id="102" name="TextBox 101"/>
              <p:cNvSpPr txBox="1"/>
              <p:nvPr/>
            </p:nvSpPr>
            <p:spPr>
              <a:xfrm>
                <a:off x="5914003" y="4322207"/>
                <a:ext cx="4443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v'0</a:t>
                </a:r>
              </a:p>
            </p:txBody>
          </p:sp>
          <p:sp>
            <p:nvSpPr>
              <p:cNvPr id="103" name="TextBox 102"/>
              <p:cNvSpPr txBox="1"/>
              <p:nvPr/>
            </p:nvSpPr>
            <p:spPr>
              <a:xfrm>
                <a:off x="8149834" y="3004554"/>
                <a:ext cx="4010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v1</a:t>
                </a:r>
              </a:p>
            </p:txBody>
          </p:sp>
          <p:sp>
            <p:nvSpPr>
              <p:cNvPr id="130" name="TextBox 129"/>
              <p:cNvSpPr txBox="1"/>
              <p:nvPr/>
            </p:nvSpPr>
            <p:spPr>
              <a:xfrm>
                <a:off x="7142728" y="3793093"/>
                <a:ext cx="4443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v'1</a:t>
                </a:r>
              </a:p>
            </p:txBody>
          </p:sp>
        </p:grp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EE4AF6EB-2D43-4743-9917-BE4B9FE271D3}"/>
                </a:ext>
              </a:extLst>
            </p:cNvPr>
            <p:cNvCxnSpPr/>
            <p:nvPr/>
          </p:nvCxnSpPr>
          <p:spPr>
            <a:xfrm flipV="1">
              <a:off x="5904877" y="1674567"/>
              <a:ext cx="2343150" cy="101325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6F8D201A-56D1-A242-9E71-BE74E610A3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30005" y="1668685"/>
              <a:ext cx="1134319" cy="497710"/>
            </a:xfrm>
            <a:prstGeom prst="line">
              <a:avLst/>
            </a:prstGeom>
            <a:ln w="57150">
              <a:solidFill>
                <a:srgbClr val="0070C0"/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8F6F5A6B-4CCA-FC41-A35E-1DAA6650ED90}"/>
              </a:ext>
            </a:extLst>
          </p:cNvPr>
          <p:cNvGrpSpPr/>
          <p:nvPr/>
        </p:nvGrpSpPr>
        <p:grpSpPr>
          <a:xfrm>
            <a:off x="2932173" y="3871975"/>
            <a:ext cx="2819401" cy="2367232"/>
            <a:chOff x="5105400" y="1527203"/>
            <a:chExt cx="2819401" cy="2367232"/>
          </a:xfrm>
        </p:grpSpPr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4FAEA8B8-138B-D843-919B-55DC672AB213}"/>
                </a:ext>
              </a:extLst>
            </p:cNvPr>
            <p:cNvGrpSpPr/>
            <p:nvPr/>
          </p:nvGrpSpPr>
          <p:grpSpPr>
            <a:xfrm>
              <a:off x="5105400" y="1527203"/>
              <a:ext cx="2819401" cy="2367232"/>
              <a:chOff x="5165273" y="3236357"/>
              <a:chExt cx="2819401" cy="2367232"/>
            </a:xfrm>
          </p:grpSpPr>
          <p:grpSp>
            <p:nvGrpSpPr>
              <p:cNvPr id="128" name="Group 40">
                <a:extLst>
                  <a:ext uri="{FF2B5EF4-FFF2-40B4-BE49-F238E27FC236}">
                    <a16:creationId xmlns:a16="http://schemas.microsoft.com/office/drawing/2014/main" id="{92333B85-BF88-B84D-A099-4057DD35C5F7}"/>
                  </a:ext>
                </a:extLst>
              </p:cNvPr>
              <p:cNvGrpSpPr/>
              <p:nvPr/>
            </p:nvGrpSpPr>
            <p:grpSpPr>
              <a:xfrm>
                <a:off x="5165273" y="3236357"/>
                <a:ext cx="2819401" cy="2367232"/>
                <a:chOff x="2362200" y="3238500"/>
                <a:chExt cx="4038600" cy="3390900"/>
              </a:xfrm>
            </p:grpSpPr>
            <p:sp>
              <p:nvSpPr>
                <p:cNvPr id="134" name="Rectangle 133">
                  <a:extLst>
                    <a:ext uri="{FF2B5EF4-FFF2-40B4-BE49-F238E27FC236}">
                      <a16:creationId xmlns:a16="http://schemas.microsoft.com/office/drawing/2014/main" id="{4C60890E-18BE-0E47-85E8-4BD40E0378CA}"/>
                    </a:ext>
                  </a:extLst>
                </p:cNvPr>
                <p:cNvSpPr/>
                <p:nvPr/>
              </p:nvSpPr>
              <p:spPr>
                <a:xfrm>
                  <a:off x="3505200" y="3924300"/>
                  <a:ext cx="1752600" cy="175260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grpSp>
              <p:nvGrpSpPr>
                <p:cNvPr id="135" name="Group 76">
                  <a:extLst>
                    <a:ext uri="{FF2B5EF4-FFF2-40B4-BE49-F238E27FC236}">
                      <a16:creationId xmlns:a16="http://schemas.microsoft.com/office/drawing/2014/main" id="{DCCE9256-0958-284C-83E8-F5F24183E1F7}"/>
                    </a:ext>
                  </a:extLst>
                </p:cNvPr>
                <p:cNvGrpSpPr/>
                <p:nvPr/>
              </p:nvGrpSpPr>
              <p:grpSpPr>
                <a:xfrm>
                  <a:off x="3505200" y="3352800"/>
                  <a:ext cx="0" cy="3276600"/>
                  <a:chOff x="3505200" y="3009900"/>
                  <a:chExt cx="0" cy="3276600"/>
                </a:xfrm>
              </p:grpSpPr>
              <p:cxnSp>
                <p:nvCxnSpPr>
                  <p:cNvPr id="154" name="Straight Connector 153">
                    <a:extLst>
                      <a:ext uri="{FF2B5EF4-FFF2-40B4-BE49-F238E27FC236}">
                        <a16:creationId xmlns:a16="http://schemas.microsoft.com/office/drawing/2014/main" id="{285BE083-8C02-EB46-83E7-548C4E985F30}"/>
                      </a:ext>
                    </a:extLst>
                  </p:cNvPr>
                  <p:cNvCxnSpPr>
                    <a:stCxn id="134" idx="1"/>
                  </p:cNvCxnSpPr>
                  <p:nvPr/>
                </p:nvCxnSpPr>
                <p:spPr>
                  <a:xfrm flipV="1">
                    <a:off x="3505200" y="3009900"/>
                    <a:ext cx="0" cy="1790700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5" name="Straight Connector 7">
                    <a:extLst>
                      <a:ext uri="{FF2B5EF4-FFF2-40B4-BE49-F238E27FC236}">
                        <a16:creationId xmlns:a16="http://schemas.microsoft.com/office/drawing/2014/main" id="{308F34FD-9CD5-0645-89D1-9749035AA9E3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3505200" y="4495800"/>
                    <a:ext cx="0" cy="1790700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36" name="Group 77">
                  <a:extLst>
                    <a:ext uri="{FF2B5EF4-FFF2-40B4-BE49-F238E27FC236}">
                      <a16:creationId xmlns:a16="http://schemas.microsoft.com/office/drawing/2014/main" id="{6E4566A7-CDEB-794A-9A46-BDA61B6D27AB}"/>
                    </a:ext>
                  </a:extLst>
                </p:cNvPr>
                <p:cNvGrpSpPr/>
                <p:nvPr/>
              </p:nvGrpSpPr>
              <p:grpSpPr>
                <a:xfrm>
                  <a:off x="5257800" y="3352800"/>
                  <a:ext cx="76200" cy="3276600"/>
                  <a:chOff x="3505200" y="2667000"/>
                  <a:chExt cx="0" cy="3619500"/>
                </a:xfrm>
              </p:grpSpPr>
              <p:cxnSp>
                <p:nvCxnSpPr>
                  <p:cNvPr id="152" name="Straight Connector 10">
                    <a:extLst>
                      <a:ext uri="{FF2B5EF4-FFF2-40B4-BE49-F238E27FC236}">
                        <a16:creationId xmlns:a16="http://schemas.microsoft.com/office/drawing/2014/main" id="{76653DF3-1AB0-7540-9CC2-6C1312C2C495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3505200" y="2667000"/>
                    <a:ext cx="0" cy="1790700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3" name="Straight Connector 152">
                    <a:extLst>
                      <a:ext uri="{FF2B5EF4-FFF2-40B4-BE49-F238E27FC236}">
                        <a16:creationId xmlns:a16="http://schemas.microsoft.com/office/drawing/2014/main" id="{83799B64-CA67-D247-AA83-EDFD2A30C235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3505200" y="4495800"/>
                    <a:ext cx="0" cy="1790700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37" name="Group 18">
                  <a:extLst>
                    <a:ext uri="{FF2B5EF4-FFF2-40B4-BE49-F238E27FC236}">
                      <a16:creationId xmlns:a16="http://schemas.microsoft.com/office/drawing/2014/main" id="{639D5E70-4C79-164F-B41A-A528AFCD7998}"/>
                    </a:ext>
                  </a:extLst>
                </p:cNvPr>
                <p:cNvGrpSpPr/>
                <p:nvPr/>
              </p:nvGrpSpPr>
              <p:grpSpPr>
                <a:xfrm>
                  <a:off x="2362200" y="3924300"/>
                  <a:ext cx="4038600" cy="0"/>
                  <a:chOff x="2362200" y="3581400"/>
                  <a:chExt cx="4038600" cy="0"/>
                </a:xfrm>
              </p:grpSpPr>
              <p:cxnSp>
                <p:nvCxnSpPr>
                  <p:cNvPr id="150" name="Straight Connector 149">
                    <a:extLst>
                      <a:ext uri="{FF2B5EF4-FFF2-40B4-BE49-F238E27FC236}">
                        <a16:creationId xmlns:a16="http://schemas.microsoft.com/office/drawing/2014/main" id="{B15177BA-D6F6-0D4C-BCBE-A7B5A7C4060B}"/>
                      </a:ext>
                    </a:extLst>
                  </p:cNvPr>
                  <p:cNvCxnSpPr/>
                  <p:nvPr/>
                </p:nvCxnSpPr>
                <p:spPr>
                  <a:xfrm>
                    <a:off x="4381500" y="3581400"/>
                    <a:ext cx="2019300" cy="0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1" name="Straight Connector 150">
                    <a:extLst>
                      <a:ext uri="{FF2B5EF4-FFF2-40B4-BE49-F238E27FC236}">
                        <a16:creationId xmlns:a16="http://schemas.microsoft.com/office/drawing/2014/main" id="{1252BD4E-3CBF-9B40-BD05-C8176DF8AF67}"/>
                      </a:ext>
                    </a:extLst>
                  </p:cNvPr>
                  <p:cNvCxnSpPr/>
                  <p:nvPr/>
                </p:nvCxnSpPr>
                <p:spPr>
                  <a:xfrm>
                    <a:off x="2362200" y="3581400"/>
                    <a:ext cx="2019300" cy="0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38" name="Group 19">
                  <a:extLst>
                    <a:ext uri="{FF2B5EF4-FFF2-40B4-BE49-F238E27FC236}">
                      <a16:creationId xmlns:a16="http://schemas.microsoft.com/office/drawing/2014/main" id="{EFE3BDCD-9E35-6C4B-AE3B-C05FD176A4D1}"/>
                    </a:ext>
                  </a:extLst>
                </p:cNvPr>
                <p:cNvGrpSpPr/>
                <p:nvPr/>
              </p:nvGrpSpPr>
              <p:grpSpPr>
                <a:xfrm>
                  <a:off x="2362200" y="5676900"/>
                  <a:ext cx="4038600" cy="0"/>
                  <a:chOff x="2362200" y="3581400"/>
                  <a:chExt cx="4038600" cy="0"/>
                </a:xfrm>
              </p:grpSpPr>
              <p:cxnSp>
                <p:nvCxnSpPr>
                  <p:cNvPr id="148" name="Straight Connector 147">
                    <a:extLst>
                      <a:ext uri="{FF2B5EF4-FFF2-40B4-BE49-F238E27FC236}">
                        <a16:creationId xmlns:a16="http://schemas.microsoft.com/office/drawing/2014/main" id="{BE8D2A73-2EBF-6243-993C-3C76A69F77B8}"/>
                      </a:ext>
                    </a:extLst>
                  </p:cNvPr>
                  <p:cNvCxnSpPr/>
                  <p:nvPr/>
                </p:nvCxnSpPr>
                <p:spPr>
                  <a:xfrm>
                    <a:off x="4381500" y="3581400"/>
                    <a:ext cx="2019300" cy="0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9" name="Straight Connector 148">
                    <a:extLst>
                      <a:ext uri="{FF2B5EF4-FFF2-40B4-BE49-F238E27FC236}">
                        <a16:creationId xmlns:a16="http://schemas.microsoft.com/office/drawing/2014/main" id="{00A77333-2E6C-E24A-B807-5800A0FEEAAA}"/>
                      </a:ext>
                    </a:extLst>
                  </p:cNvPr>
                  <p:cNvCxnSpPr/>
                  <p:nvPr/>
                </p:nvCxnSpPr>
                <p:spPr>
                  <a:xfrm>
                    <a:off x="2362200" y="3581400"/>
                    <a:ext cx="2019300" cy="0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id="{A0EBFDA7-E2C8-FC4F-AB2C-A0D675A85628}"/>
                    </a:ext>
                  </a:extLst>
                </p:cNvPr>
                <p:cNvSpPr txBox="1"/>
                <p:nvPr/>
              </p:nvSpPr>
              <p:spPr>
                <a:xfrm>
                  <a:off x="2630270" y="3238500"/>
                  <a:ext cx="778869" cy="440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/>
                    <a:t>1001</a:t>
                  </a:r>
                </a:p>
              </p:txBody>
            </p:sp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6A063495-DFF3-254F-98C8-A9023D1C8AF7}"/>
                    </a:ext>
                  </a:extLst>
                </p:cNvPr>
                <p:cNvSpPr txBox="1"/>
                <p:nvPr/>
              </p:nvSpPr>
              <p:spPr>
                <a:xfrm>
                  <a:off x="4001870" y="3238500"/>
                  <a:ext cx="778869" cy="440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/>
                    <a:t>1000</a:t>
                  </a:r>
                </a:p>
              </p:txBody>
            </p:sp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2A96DF15-984F-254A-9D68-EB4A5ED323DE}"/>
                    </a:ext>
                  </a:extLst>
                </p:cNvPr>
                <p:cNvSpPr txBox="1"/>
                <p:nvPr/>
              </p:nvSpPr>
              <p:spPr>
                <a:xfrm>
                  <a:off x="5536165" y="3238500"/>
                  <a:ext cx="778869" cy="440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/>
                    <a:t>1010</a:t>
                  </a:r>
                </a:p>
              </p:txBody>
            </p:sp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136C30FA-8D86-CE49-BCEC-02769A1CABCF}"/>
                    </a:ext>
                  </a:extLst>
                </p:cNvPr>
                <p:cNvSpPr txBox="1"/>
                <p:nvPr/>
              </p:nvSpPr>
              <p:spPr>
                <a:xfrm>
                  <a:off x="4001869" y="4610100"/>
                  <a:ext cx="778869" cy="440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/>
                    <a:t>0000</a:t>
                  </a:r>
                </a:p>
              </p:txBody>
            </p:sp>
            <p:sp>
              <p:nvSpPr>
                <p:cNvPr id="143" name="TextBox 142">
                  <a:extLst>
                    <a:ext uri="{FF2B5EF4-FFF2-40B4-BE49-F238E27FC236}">
                      <a16:creationId xmlns:a16="http://schemas.microsoft.com/office/drawing/2014/main" id="{EAF0C773-42FC-B14F-B7CD-CFC60CC3844D}"/>
                    </a:ext>
                  </a:extLst>
                </p:cNvPr>
                <p:cNvSpPr txBox="1"/>
                <p:nvPr/>
              </p:nvSpPr>
              <p:spPr>
                <a:xfrm>
                  <a:off x="2630270" y="4610100"/>
                  <a:ext cx="778869" cy="440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/>
                    <a:t>0001</a:t>
                  </a:r>
                </a:p>
              </p:txBody>
            </p:sp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DF10506E-CAD4-1149-8B12-FDD518FE9BB9}"/>
                    </a:ext>
                  </a:extLst>
                </p:cNvPr>
                <p:cNvSpPr txBox="1"/>
                <p:nvPr/>
              </p:nvSpPr>
              <p:spPr>
                <a:xfrm>
                  <a:off x="5536165" y="4610100"/>
                  <a:ext cx="778869" cy="440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/>
                    <a:t>0010</a:t>
                  </a:r>
                </a:p>
              </p:txBody>
            </p:sp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9515DD02-D806-AC44-A550-8BA0CAEA1650}"/>
                    </a:ext>
                  </a:extLst>
                </p:cNvPr>
                <p:cNvSpPr txBox="1"/>
                <p:nvPr/>
              </p:nvSpPr>
              <p:spPr>
                <a:xfrm>
                  <a:off x="2630270" y="5993368"/>
                  <a:ext cx="778869" cy="440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/>
                    <a:t>0101</a:t>
                  </a:r>
                </a:p>
              </p:txBody>
            </p:sp>
            <p:sp>
              <p:nvSpPr>
                <p:cNvPr id="146" name="TextBox 145">
                  <a:extLst>
                    <a:ext uri="{FF2B5EF4-FFF2-40B4-BE49-F238E27FC236}">
                      <a16:creationId xmlns:a16="http://schemas.microsoft.com/office/drawing/2014/main" id="{6A52C85C-2D17-B441-988F-4887DABD799D}"/>
                    </a:ext>
                  </a:extLst>
                </p:cNvPr>
                <p:cNvSpPr txBox="1"/>
                <p:nvPr/>
              </p:nvSpPr>
              <p:spPr>
                <a:xfrm>
                  <a:off x="4001869" y="5981700"/>
                  <a:ext cx="778869" cy="440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/>
                    <a:t>0100</a:t>
                  </a:r>
                </a:p>
              </p:txBody>
            </p:sp>
            <p:sp>
              <p:nvSpPr>
                <p:cNvPr id="147" name="TextBox 146">
                  <a:extLst>
                    <a:ext uri="{FF2B5EF4-FFF2-40B4-BE49-F238E27FC236}">
                      <a16:creationId xmlns:a16="http://schemas.microsoft.com/office/drawing/2014/main" id="{F40D0DF5-D43E-7449-94A4-BD9C3B5B93D7}"/>
                    </a:ext>
                  </a:extLst>
                </p:cNvPr>
                <p:cNvSpPr txBox="1"/>
                <p:nvPr/>
              </p:nvSpPr>
              <p:spPr>
                <a:xfrm>
                  <a:off x="5536165" y="5981700"/>
                  <a:ext cx="778869" cy="440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/>
                    <a:t>0110</a:t>
                  </a:r>
                </a:p>
              </p:txBody>
            </p:sp>
          </p:grpSp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1580AB46-4761-B249-AB58-37274124E625}"/>
                  </a:ext>
                </a:extLst>
              </p:cNvPr>
              <p:cNvSpPr txBox="1"/>
              <p:nvPr/>
            </p:nvSpPr>
            <p:spPr>
              <a:xfrm>
                <a:off x="5914003" y="4322207"/>
                <a:ext cx="4443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v'0</a:t>
                </a:r>
              </a:p>
            </p:txBody>
          </p:sp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774C16D0-51C6-DC4A-963C-B15BC187FF75}"/>
                  </a:ext>
                </a:extLst>
              </p:cNvPr>
              <p:cNvSpPr txBox="1"/>
              <p:nvPr/>
            </p:nvSpPr>
            <p:spPr>
              <a:xfrm>
                <a:off x="7158885" y="3733093"/>
                <a:ext cx="4443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v'1</a:t>
                </a:r>
              </a:p>
            </p:txBody>
          </p:sp>
        </p:grp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D9D773A4-1204-5340-BD9B-97B2A83616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04877" y="2170498"/>
              <a:ext cx="1221350" cy="51732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Cohen-Sutherland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May perform needless clipping:</a:t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4" name="Group 46"/>
          <p:cNvGrpSpPr/>
          <p:nvPr/>
        </p:nvGrpSpPr>
        <p:grpSpPr>
          <a:xfrm>
            <a:off x="496956" y="3200400"/>
            <a:ext cx="3752455" cy="2710325"/>
            <a:chOff x="3103618" y="3133532"/>
            <a:chExt cx="3752455" cy="2710325"/>
          </a:xfrm>
        </p:grpSpPr>
        <p:grpSp>
          <p:nvGrpSpPr>
            <p:cNvPr id="6" name="Group 40"/>
            <p:cNvGrpSpPr/>
            <p:nvPr/>
          </p:nvGrpSpPr>
          <p:grpSpPr>
            <a:xfrm>
              <a:off x="3184073" y="3476625"/>
              <a:ext cx="2819401" cy="2367232"/>
              <a:chOff x="2362200" y="3238500"/>
              <a:chExt cx="4038600" cy="3390900"/>
            </a:xfrm>
          </p:grpSpPr>
          <p:sp>
            <p:nvSpPr>
              <p:cNvPr id="5" name="Rectangle 4"/>
              <p:cNvSpPr/>
              <p:nvPr/>
            </p:nvSpPr>
            <p:spPr>
              <a:xfrm>
                <a:off x="3505200" y="3924300"/>
                <a:ext cx="1752600" cy="17526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grpSp>
            <p:nvGrpSpPr>
              <p:cNvPr id="9" name="Group 8"/>
              <p:cNvGrpSpPr/>
              <p:nvPr/>
            </p:nvGrpSpPr>
            <p:grpSpPr>
              <a:xfrm>
                <a:off x="3505200" y="3352800"/>
                <a:ext cx="0" cy="3276600"/>
                <a:chOff x="3505200" y="3009900"/>
                <a:chExt cx="0" cy="3276600"/>
              </a:xfrm>
            </p:grpSpPr>
            <p:cxnSp>
              <p:nvCxnSpPr>
                <p:cNvPr id="7" name="Straight Connector 6"/>
                <p:cNvCxnSpPr>
                  <a:stCxn id="5" idx="1"/>
                </p:cNvCxnSpPr>
                <p:nvPr/>
              </p:nvCxnSpPr>
              <p:spPr>
                <a:xfrm flipV="1">
                  <a:off x="3505200" y="3009900"/>
                  <a:ext cx="0" cy="179070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Straight Connector 7"/>
                <p:cNvCxnSpPr/>
                <p:nvPr/>
              </p:nvCxnSpPr>
              <p:spPr>
                <a:xfrm flipV="1">
                  <a:off x="3505200" y="4495800"/>
                  <a:ext cx="0" cy="179070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" name="Group 9"/>
              <p:cNvGrpSpPr/>
              <p:nvPr/>
            </p:nvGrpSpPr>
            <p:grpSpPr>
              <a:xfrm>
                <a:off x="5257800" y="3352800"/>
                <a:ext cx="76200" cy="3276600"/>
                <a:chOff x="3505200" y="2667000"/>
                <a:chExt cx="0" cy="3619500"/>
              </a:xfrm>
            </p:grpSpPr>
            <p:cxnSp>
              <p:nvCxnSpPr>
                <p:cNvPr id="11" name="Straight Connector 10"/>
                <p:cNvCxnSpPr/>
                <p:nvPr/>
              </p:nvCxnSpPr>
              <p:spPr>
                <a:xfrm flipV="1">
                  <a:off x="3505200" y="2667000"/>
                  <a:ext cx="0" cy="179070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/>
                <p:cNvCxnSpPr/>
                <p:nvPr/>
              </p:nvCxnSpPr>
              <p:spPr>
                <a:xfrm flipV="1">
                  <a:off x="3505200" y="4495800"/>
                  <a:ext cx="0" cy="179070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" name="Group 18"/>
              <p:cNvGrpSpPr/>
              <p:nvPr/>
            </p:nvGrpSpPr>
            <p:grpSpPr>
              <a:xfrm>
                <a:off x="2362200" y="3924300"/>
                <a:ext cx="4038600" cy="0"/>
                <a:chOff x="2362200" y="3581400"/>
                <a:chExt cx="4038600" cy="0"/>
              </a:xfrm>
            </p:grpSpPr>
            <p:cxnSp>
              <p:nvCxnSpPr>
                <p:cNvPr id="17" name="Straight Connector 16"/>
                <p:cNvCxnSpPr/>
                <p:nvPr/>
              </p:nvCxnSpPr>
              <p:spPr>
                <a:xfrm>
                  <a:off x="4381500" y="3581400"/>
                  <a:ext cx="2019300" cy="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/>
                <p:cNvCxnSpPr/>
                <p:nvPr/>
              </p:nvCxnSpPr>
              <p:spPr>
                <a:xfrm>
                  <a:off x="2362200" y="3581400"/>
                  <a:ext cx="2019300" cy="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" name="Group 19"/>
              <p:cNvGrpSpPr/>
              <p:nvPr/>
            </p:nvGrpSpPr>
            <p:grpSpPr>
              <a:xfrm>
                <a:off x="2362200" y="5676900"/>
                <a:ext cx="4038600" cy="0"/>
                <a:chOff x="2362200" y="3581400"/>
                <a:chExt cx="4038600" cy="0"/>
              </a:xfrm>
            </p:grpSpPr>
            <p:cxnSp>
              <p:nvCxnSpPr>
                <p:cNvPr id="21" name="Straight Connector 20"/>
                <p:cNvCxnSpPr/>
                <p:nvPr/>
              </p:nvCxnSpPr>
              <p:spPr>
                <a:xfrm>
                  <a:off x="4381500" y="3581400"/>
                  <a:ext cx="2019300" cy="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/>
                <p:cNvCxnSpPr/>
                <p:nvPr/>
              </p:nvCxnSpPr>
              <p:spPr>
                <a:xfrm>
                  <a:off x="2362200" y="3581400"/>
                  <a:ext cx="2019300" cy="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6" name="TextBox 25"/>
              <p:cNvSpPr txBox="1"/>
              <p:nvPr/>
            </p:nvSpPr>
            <p:spPr>
              <a:xfrm>
                <a:off x="2630270" y="32385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1001</a:t>
                </a:r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4001870" y="32385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1000</a:t>
                </a:r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5536165" y="32385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1010</a:t>
                </a:r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4001869" y="46101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0000</a:t>
                </a: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2630270" y="46101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0001</a:t>
                </a:r>
              </a:p>
            </p:txBody>
          </p:sp>
          <p:sp>
            <p:nvSpPr>
              <p:cNvPr id="36" name="TextBox 35"/>
              <p:cNvSpPr txBox="1"/>
              <p:nvPr/>
            </p:nvSpPr>
            <p:spPr>
              <a:xfrm>
                <a:off x="5536165" y="46101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0010</a:t>
                </a:r>
              </a:p>
            </p:txBody>
          </p:sp>
          <p:sp>
            <p:nvSpPr>
              <p:cNvPr id="37" name="TextBox 36"/>
              <p:cNvSpPr txBox="1"/>
              <p:nvPr/>
            </p:nvSpPr>
            <p:spPr>
              <a:xfrm>
                <a:off x="2630270" y="5993368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0101</a:t>
                </a:r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4001869" y="59817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0100</a:t>
                </a:r>
              </a:p>
            </p:txBody>
          </p:sp>
          <p:sp>
            <p:nvSpPr>
              <p:cNvPr id="39" name="TextBox 38"/>
              <p:cNvSpPr txBox="1"/>
              <p:nvPr/>
            </p:nvSpPr>
            <p:spPr>
              <a:xfrm>
                <a:off x="5536165" y="59817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0110</a:t>
                </a:r>
              </a:p>
            </p:txBody>
          </p:sp>
        </p:grpSp>
        <p:cxnSp>
          <p:nvCxnSpPr>
            <p:cNvPr id="43" name="Straight Connector 42"/>
            <p:cNvCxnSpPr/>
            <p:nvPr/>
          </p:nvCxnSpPr>
          <p:spPr>
            <a:xfrm>
              <a:off x="3525272" y="3364468"/>
              <a:ext cx="3256528" cy="879189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/>
            <p:cNvSpPr txBox="1"/>
            <p:nvPr/>
          </p:nvSpPr>
          <p:spPr>
            <a:xfrm>
              <a:off x="3103618" y="3133532"/>
              <a:ext cx="4010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v0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6455001" y="4314467"/>
              <a:ext cx="4010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v1</a:t>
              </a:r>
            </a:p>
          </p:txBody>
        </p:sp>
      </p:grpSp>
      <p:grpSp>
        <p:nvGrpSpPr>
          <p:cNvPr id="69" name="Group 46"/>
          <p:cNvGrpSpPr/>
          <p:nvPr/>
        </p:nvGrpSpPr>
        <p:grpSpPr>
          <a:xfrm>
            <a:off x="4928590" y="3200400"/>
            <a:ext cx="3908637" cy="2710325"/>
            <a:chOff x="3103618" y="3133532"/>
            <a:chExt cx="3908637" cy="2710325"/>
          </a:xfrm>
        </p:grpSpPr>
        <p:grpSp>
          <p:nvGrpSpPr>
            <p:cNvPr id="70" name="Group 40"/>
            <p:cNvGrpSpPr/>
            <p:nvPr/>
          </p:nvGrpSpPr>
          <p:grpSpPr>
            <a:xfrm>
              <a:off x="3184073" y="3476625"/>
              <a:ext cx="2819401" cy="2367232"/>
              <a:chOff x="2362200" y="3238500"/>
              <a:chExt cx="4038600" cy="3390900"/>
            </a:xfrm>
          </p:grpSpPr>
          <p:sp>
            <p:nvSpPr>
              <p:cNvPr id="75" name="Rectangle 74"/>
              <p:cNvSpPr/>
              <p:nvPr/>
            </p:nvSpPr>
            <p:spPr>
              <a:xfrm>
                <a:off x="3505200" y="3924300"/>
                <a:ext cx="1752600" cy="17526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grpSp>
            <p:nvGrpSpPr>
              <p:cNvPr id="76" name="Group 75"/>
              <p:cNvGrpSpPr/>
              <p:nvPr/>
            </p:nvGrpSpPr>
            <p:grpSpPr>
              <a:xfrm>
                <a:off x="3505200" y="3352800"/>
                <a:ext cx="0" cy="3276600"/>
                <a:chOff x="3505200" y="3009900"/>
                <a:chExt cx="0" cy="3276600"/>
              </a:xfrm>
            </p:grpSpPr>
            <p:cxnSp>
              <p:nvCxnSpPr>
                <p:cNvPr id="95" name="Straight Connector 94"/>
                <p:cNvCxnSpPr>
                  <a:stCxn id="75" idx="1"/>
                </p:cNvCxnSpPr>
                <p:nvPr/>
              </p:nvCxnSpPr>
              <p:spPr>
                <a:xfrm flipV="1">
                  <a:off x="3505200" y="3009900"/>
                  <a:ext cx="0" cy="179070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Straight Connector 95"/>
                <p:cNvCxnSpPr/>
                <p:nvPr/>
              </p:nvCxnSpPr>
              <p:spPr>
                <a:xfrm flipV="1">
                  <a:off x="3505200" y="4495800"/>
                  <a:ext cx="0" cy="179070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7" name="Group 76"/>
              <p:cNvGrpSpPr/>
              <p:nvPr/>
            </p:nvGrpSpPr>
            <p:grpSpPr>
              <a:xfrm>
                <a:off x="5257800" y="3352800"/>
                <a:ext cx="76200" cy="3276600"/>
                <a:chOff x="3505200" y="2667000"/>
                <a:chExt cx="0" cy="3619500"/>
              </a:xfrm>
            </p:grpSpPr>
            <p:cxnSp>
              <p:nvCxnSpPr>
                <p:cNvPr id="93" name="Straight Connector 92"/>
                <p:cNvCxnSpPr/>
                <p:nvPr/>
              </p:nvCxnSpPr>
              <p:spPr>
                <a:xfrm flipV="1">
                  <a:off x="3505200" y="2667000"/>
                  <a:ext cx="0" cy="179070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Connector 93"/>
                <p:cNvCxnSpPr/>
                <p:nvPr/>
              </p:nvCxnSpPr>
              <p:spPr>
                <a:xfrm flipV="1">
                  <a:off x="3505200" y="4495800"/>
                  <a:ext cx="0" cy="179070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8" name="Group 18"/>
              <p:cNvGrpSpPr/>
              <p:nvPr/>
            </p:nvGrpSpPr>
            <p:grpSpPr>
              <a:xfrm>
                <a:off x="2362200" y="3924300"/>
                <a:ext cx="4038600" cy="0"/>
                <a:chOff x="2362200" y="3581400"/>
                <a:chExt cx="4038600" cy="0"/>
              </a:xfrm>
            </p:grpSpPr>
            <p:cxnSp>
              <p:nvCxnSpPr>
                <p:cNvPr id="91" name="Straight Connector 90"/>
                <p:cNvCxnSpPr/>
                <p:nvPr/>
              </p:nvCxnSpPr>
              <p:spPr>
                <a:xfrm>
                  <a:off x="4381500" y="3581400"/>
                  <a:ext cx="2019300" cy="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Connector 91"/>
                <p:cNvCxnSpPr/>
                <p:nvPr/>
              </p:nvCxnSpPr>
              <p:spPr>
                <a:xfrm>
                  <a:off x="2362200" y="3581400"/>
                  <a:ext cx="2019300" cy="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9" name="Group 19"/>
              <p:cNvGrpSpPr/>
              <p:nvPr/>
            </p:nvGrpSpPr>
            <p:grpSpPr>
              <a:xfrm>
                <a:off x="2362200" y="5676900"/>
                <a:ext cx="4038600" cy="0"/>
                <a:chOff x="2362200" y="3581400"/>
                <a:chExt cx="4038600" cy="0"/>
              </a:xfrm>
            </p:grpSpPr>
            <p:cxnSp>
              <p:nvCxnSpPr>
                <p:cNvPr id="89" name="Straight Connector 88"/>
                <p:cNvCxnSpPr/>
                <p:nvPr/>
              </p:nvCxnSpPr>
              <p:spPr>
                <a:xfrm>
                  <a:off x="4381500" y="3581400"/>
                  <a:ext cx="2019300" cy="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Connector 89"/>
                <p:cNvCxnSpPr/>
                <p:nvPr/>
              </p:nvCxnSpPr>
              <p:spPr>
                <a:xfrm>
                  <a:off x="2362200" y="3581400"/>
                  <a:ext cx="2019300" cy="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0" name="TextBox 79"/>
              <p:cNvSpPr txBox="1"/>
              <p:nvPr/>
            </p:nvSpPr>
            <p:spPr>
              <a:xfrm>
                <a:off x="2630270" y="32385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1001</a:t>
                </a:r>
              </a:p>
            </p:txBody>
          </p:sp>
          <p:sp>
            <p:nvSpPr>
              <p:cNvPr id="81" name="TextBox 80"/>
              <p:cNvSpPr txBox="1"/>
              <p:nvPr/>
            </p:nvSpPr>
            <p:spPr>
              <a:xfrm>
                <a:off x="4001870" y="32385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1000</a:t>
                </a:r>
              </a:p>
            </p:txBody>
          </p:sp>
          <p:sp>
            <p:nvSpPr>
              <p:cNvPr id="82" name="TextBox 81"/>
              <p:cNvSpPr txBox="1"/>
              <p:nvPr/>
            </p:nvSpPr>
            <p:spPr>
              <a:xfrm>
                <a:off x="5536165" y="32385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1010</a:t>
                </a:r>
              </a:p>
            </p:txBody>
          </p:sp>
          <p:sp>
            <p:nvSpPr>
              <p:cNvPr id="83" name="TextBox 82"/>
              <p:cNvSpPr txBox="1"/>
              <p:nvPr/>
            </p:nvSpPr>
            <p:spPr>
              <a:xfrm>
                <a:off x="4001869" y="46101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0000</a:t>
                </a:r>
              </a:p>
            </p:txBody>
          </p:sp>
          <p:sp>
            <p:nvSpPr>
              <p:cNvPr id="84" name="TextBox 83"/>
              <p:cNvSpPr txBox="1"/>
              <p:nvPr/>
            </p:nvSpPr>
            <p:spPr>
              <a:xfrm>
                <a:off x="2630270" y="46101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0001</a:t>
                </a:r>
              </a:p>
            </p:txBody>
          </p:sp>
          <p:sp>
            <p:nvSpPr>
              <p:cNvPr id="85" name="TextBox 84"/>
              <p:cNvSpPr txBox="1"/>
              <p:nvPr/>
            </p:nvSpPr>
            <p:spPr>
              <a:xfrm>
                <a:off x="5536165" y="46101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0010</a:t>
                </a:r>
              </a:p>
            </p:txBody>
          </p:sp>
          <p:sp>
            <p:nvSpPr>
              <p:cNvPr id="86" name="TextBox 85"/>
              <p:cNvSpPr txBox="1"/>
              <p:nvPr/>
            </p:nvSpPr>
            <p:spPr>
              <a:xfrm>
                <a:off x="2630270" y="5993368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0101</a:t>
                </a:r>
              </a:p>
            </p:txBody>
          </p:sp>
          <p:sp>
            <p:nvSpPr>
              <p:cNvPr id="87" name="TextBox 86"/>
              <p:cNvSpPr txBox="1"/>
              <p:nvPr/>
            </p:nvSpPr>
            <p:spPr>
              <a:xfrm>
                <a:off x="4001869" y="59817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0100</a:t>
                </a:r>
              </a:p>
            </p:txBody>
          </p:sp>
          <p:sp>
            <p:nvSpPr>
              <p:cNvPr id="88" name="TextBox 87"/>
              <p:cNvSpPr txBox="1"/>
              <p:nvPr/>
            </p:nvSpPr>
            <p:spPr>
              <a:xfrm>
                <a:off x="5536165" y="59817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0110</a:t>
                </a:r>
              </a:p>
            </p:txBody>
          </p:sp>
        </p:grpSp>
        <p:cxnSp>
          <p:nvCxnSpPr>
            <p:cNvPr id="71" name="Straight Connector 70"/>
            <p:cNvCxnSpPr/>
            <p:nvPr/>
          </p:nvCxnSpPr>
          <p:spPr>
            <a:xfrm>
              <a:off x="3525272" y="3364468"/>
              <a:ext cx="3256528" cy="879189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Box 72"/>
            <p:cNvSpPr txBox="1"/>
            <p:nvPr/>
          </p:nvSpPr>
          <p:spPr>
            <a:xfrm>
              <a:off x="3103618" y="3133532"/>
              <a:ext cx="4010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v0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6611183" y="4262624"/>
              <a:ext cx="4010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v1</a:t>
              </a:r>
            </a:p>
          </p:txBody>
        </p:sp>
      </p:grpSp>
      <p:sp>
        <p:nvSpPr>
          <p:cNvPr id="98" name="Right Arrow 97"/>
          <p:cNvSpPr/>
          <p:nvPr/>
        </p:nvSpPr>
        <p:spPr>
          <a:xfrm>
            <a:off x="3944845" y="4880120"/>
            <a:ext cx="838200" cy="1796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ooter Placeholder 2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24</a:t>
            </a:fld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5562600" y="2895600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left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0FC99101-2EE5-904B-B4E2-646B85C50AFE}"/>
              </a:ext>
            </a:extLst>
          </p:cNvPr>
          <p:cNvCxnSpPr>
            <a:cxnSpLocks/>
          </p:cNvCxnSpPr>
          <p:nvPr/>
        </p:nvCxnSpPr>
        <p:spPr>
          <a:xfrm>
            <a:off x="5340096" y="3429000"/>
            <a:ext cx="466893" cy="124739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6546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 animBg="1"/>
      <p:bldP spid="1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Cohen-Sutherland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May perform needless clipping:</a:t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24" name="Group 23"/>
          <p:cNvGrpSpPr/>
          <p:nvPr/>
        </p:nvGrpSpPr>
        <p:grpSpPr>
          <a:xfrm>
            <a:off x="474519" y="3200400"/>
            <a:ext cx="3678182" cy="2710325"/>
            <a:chOff x="4888834" y="3200400"/>
            <a:chExt cx="3678182" cy="2710325"/>
          </a:xfrm>
        </p:grpSpPr>
        <p:grpSp>
          <p:nvGrpSpPr>
            <p:cNvPr id="69" name="Group 46"/>
            <p:cNvGrpSpPr/>
            <p:nvPr/>
          </p:nvGrpSpPr>
          <p:grpSpPr>
            <a:xfrm>
              <a:off x="4888834" y="3200400"/>
              <a:ext cx="3678182" cy="2710325"/>
              <a:chOff x="3103618" y="3133532"/>
              <a:chExt cx="3678182" cy="2710325"/>
            </a:xfrm>
          </p:grpSpPr>
          <p:grpSp>
            <p:nvGrpSpPr>
              <p:cNvPr id="70" name="Group 40"/>
              <p:cNvGrpSpPr/>
              <p:nvPr/>
            </p:nvGrpSpPr>
            <p:grpSpPr>
              <a:xfrm>
                <a:off x="3184073" y="3476625"/>
                <a:ext cx="2819401" cy="2367232"/>
                <a:chOff x="2362200" y="3238500"/>
                <a:chExt cx="4038600" cy="3390900"/>
              </a:xfrm>
            </p:grpSpPr>
            <p:sp>
              <p:nvSpPr>
                <p:cNvPr id="75" name="Rectangle 74"/>
                <p:cNvSpPr/>
                <p:nvPr/>
              </p:nvSpPr>
              <p:spPr>
                <a:xfrm>
                  <a:off x="3505200" y="3924300"/>
                  <a:ext cx="1752600" cy="175260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grpSp>
              <p:nvGrpSpPr>
                <p:cNvPr id="76" name="Group 75"/>
                <p:cNvGrpSpPr/>
                <p:nvPr/>
              </p:nvGrpSpPr>
              <p:grpSpPr>
                <a:xfrm>
                  <a:off x="3505200" y="3352800"/>
                  <a:ext cx="0" cy="3276600"/>
                  <a:chOff x="3505200" y="3009900"/>
                  <a:chExt cx="0" cy="3276600"/>
                </a:xfrm>
              </p:grpSpPr>
              <p:cxnSp>
                <p:nvCxnSpPr>
                  <p:cNvPr id="95" name="Straight Connector 94"/>
                  <p:cNvCxnSpPr>
                    <a:stCxn id="75" idx="1"/>
                  </p:cNvCxnSpPr>
                  <p:nvPr/>
                </p:nvCxnSpPr>
                <p:spPr>
                  <a:xfrm flipV="1">
                    <a:off x="3505200" y="3009900"/>
                    <a:ext cx="0" cy="1790700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6" name="Straight Connector 95"/>
                  <p:cNvCxnSpPr/>
                  <p:nvPr/>
                </p:nvCxnSpPr>
                <p:spPr>
                  <a:xfrm flipV="1">
                    <a:off x="3505200" y="4495800"/>
                    <a:ext cx="0" cy="1790700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77" name="Group 76"/>
                <p:cNvGrpSpPr/>
                <p:nvPr/>
              </p:nvGrpSpPr>
              <p:grpSpPr>
                <a:xfrm>
                  <a:off x="5257800" y="3352800"/>
                  <a:ext cx="76200" cy="3276600"/>
                  <a:chOff x="3505200" y="2667000"/>
                  <a:chExt cx="0" cy="3619500"/>
                </a:xfrm>
              </p:grpSpPr>
              <p:cxnSp>
                <p:nvCxnSpPr>
                  <p:cNvPr id="93" name="Straight Connector 92"/>
                  <p:cNvCxnSpPr/>
                  <p:nvPr/>
                </p:nvCxnSpPr>
                <p:spPr>
                  <a:xfrm flipV="1">
                    <a:off x="3505200" y="2667000"/>
                    <a:ext cx="0" cy="1790700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4" name="Straight Connector 93"/>
                  <p:cNvCxnSpPr/>
                  <p:nvPr/>
                </p:nvCxnSpPr>
                <p:spPr>
                  <a:xfrm flipV="1">
                    <a:off x="3505200" y="4495800"/>
                    <a:ext cx="0" cy="1790700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78" name="Group 18"/>
                <p:cNvGrpSpPr/>
                <p:nvPr/>
              </p:nvGrpSpPr>
              <p:grpSpPr>
                <a:xfrm>
                  <a:off x="2362200" y="3924300"/>
                  <a:ext cx="4038600" cy="0"/>
                  <a:chOff x="2362200" y="3581400"/>
                  <a:chExt cx="4038600" cy="0"/>
                </a:xfrm>
              </p:grpSpPr>
              <p:cxnSp>
                <p:nvCxnSpPr>
                  <p:cNvPr id="91" name="Straight Connector 90"/>
                  <p:cNvCxnSpPr/>
                  <p:nvPr/>
                </p:nvCxnSpPr>
                <p:spPr>
                  <a:xfrm>
                    <a:off x="4381500" y="3581400"/>
                    <a:ext cx="2019300" cy="0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2" name="Straight Connector 91"/>
                  <p:cNvCxnSpPr/>
                  <p:nvPr/>
                </p:nvCxnSpPr>
                <p:spPr>
                  <a:xfrm>
                    <a:off x="2362200" y="3581400"/>
                    <a:ext cx="2019300" cy="0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79" name="Group 19"/>
                <p:cNvGrpSpPr/>
                <p:nvPr/>
              </p:nvGrpSpPr>
              <p:grpSpPr>
                <a:xfrm>
                  <a:off x="2362200" y="5676900"/>
                  <a:ext cx="4038600" cy="0"/>
                  <a:chOff x="2362200" y="3581400"/>
                  <a:chExt cx="4038600" cy="0"/>
                </a:xfrm>
              </p:grpSpPr>
              <p:cxnSp>
                <p:nvCxnSpPr>
                  <p:cNvPr id="89" name="Straight Connector 88"/>
                  <p:cNvCxnSpPr/>
                  <p:nvPr/>
                </p:nvCxnSpPr>
                <p:spPr>
                  <a:xfrm>
                    <a:off x="4381500" y="3581400"/>
                    <a:ext cx="2019300" cy="0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0" name="Straight Connector 89"/>
                  <p:cNvCxnSpPr/>
                  <p:nvPr/>
                </p:nvCxnSpPr>
                <p:spPr>
                  <a:xfrm>
                    <a:off x="2362200" y="3581400"/>
                    <a:ext cx="2019300" cy="0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80" name="TextBox 79"/>
                <p:cNvSpPr txBox="1"/>
                <p:nvPr/>
              </p:nvSpPr>
              <p:spPr>
                <a:xfrm>
                  <a:off x="2630270" y="3238500"/>
                  <a:ext cx="778869" cy="440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/>
                    <a:t>1001</a:t>
                  </a:r>
                </a:p>
              </p:txBody>
            </p:sp>
            <p:sp>
              <p:nvSpPr>
                <p:cNvPr id="81" name="TextBox 80"/>
                <p:cNvSpPr txBox="1"/>
                <p:nvPr/>
              </p:nvSpPr>
              <p:spPr>
                <a:xfrm>
                  <a:off x="4001870" y="3238500"/>
                  <a:ext cx="778869" cy="440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/>
                    <a:t>1000</a:t>
                  </a:r>
                </a:p>
              </p:txBody>
            </p:sp>
            <p:sp>
              <p:nvSpPr>
                <p:cNvPr id="82" name="TextBox 81"/>
                <p:cNvSpPr txBox="1"/>
                <p:nvPr/>
              </p:nvSpPr>
              <p:spPr>
                <a:xfrm>
                  <a:off x="5536165" y="3238500"/>
                  <a:ext cx="778869" cy="440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/>
                    <a:t>1010</a:t>
                  </a:r>
                </a:p>
              </p:txBody>
            </p:sp>
            <p:sp>
              <p:nvSpPr>
                <p:cNvPr id="83" name="TextBox 82"/>
                <p:cNvSpPr txBox="1"/>
                <p:nvPr/>
              </p:nvSpPr>
              <p:spPr>
                <a:xfrm>
                  <a:off x="4001869" y="4610100"/>
                  <a:ext cx="778869" cy="440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/>
                    <a:t>0000</a:t>
                  </a:r>
                </a:p>
              </p:txBody>
            </p:sp>
            <p:sp>
              <p:nvSpPr>
                <p:cNvPr id="84" name="TextBox 83"/>
                <p:cNvSpPr txBox="1"/>
                <p:nvPr/>
              </p:nvSpPr>
              <p:spPr>
                <a:xfrm>
                  <a:off x="2630270" y="4610100"/>
                  <a:ext cx="778869" cy="440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/>
                    <a:t>0001</a:t>
                  </a:r>
                </a:p>
              </p:txBody>
            </p:sp>
            <p:sp>
              <p:nvSpPr>
                <p:cNvPr id="85" name="TextBox 84"/>
                <p:cNvSpPr txBox="1"/>
                <p:nvPr/>
              </p:nvSpPr>
              <p:spPr>
                <a:xfrm>
                  <a:off x="5536165" y="4610100"/>
                  <a:ext cx="778869" cy="440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/>
                    <a:t>0010</a:t>
                  </a:r>
                </a:p>
              </p:txBody>
            </p:sp>
            <p:sp>
              <p:nvSpPr>
                <p:cNvPr id="86" name="TextBox 85"/>
                <p:cNvSpPr txBox="1"/>
                <p:nvPr/>
              </p:nvSpPr>
              <p:spPr>
                <a:xfrm>
                  <a:off x="2630270" y="5993368"/>
                  <a:ext cx="778869" cy="440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/>
                    <a:t>0101</a:t>
                  </a:r>
                </a:p>
              </p:txBody>
            </p:sp>
            <p:sp>
              <p:nvSpPr>
                <p:cNvPr id="87" name="TextBox 86"/>
                <p:cNvSpPr txBox="1"/>
                <p:nvPr/>
              </p:nvSpPr>
              <p:spPr>
                <a:xfrm>
                  <a:off x="4001869" y="5981700"/>
                  <a:ext cx="778869" cy="440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/>
                    <a:t>0100</a:t>
                  </a:r>
                </a:p>
              </p:txBody>
            </p:sp>
            <p:sp>
              <p:nvSpPr>
                <p:cNvPr id="88" name="TextBox 87"/>
                <p:cNvSpPr txBox="1"/>
                <p:nvPr/>
              </p:nvSpPr>
              <p:spPr>
                <a:xfrm>
                  <a:off x="5536165" y="5981700"/>
                  <a:ext cx="778869" cy="440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/>
                    <a:t>0110</a:t>
                  </a:r>
                </a:p>
              </p:txBody>
            </p:sp>
          </p:grpSp>
          <p:cxnSp>
            <p:nvCxnSpPr>
              <p:cNvPr id="71" name="Straight Connector 70"/>
              <p:cNvCxnSpPr/>
              <p:nvPr/>
            </p:nvCxnSpPr>
            <p:spPr>
              <a:xfrm>
                <a:off x="3525272" y="3364468"/>
                <a:ext cx="3256528" cy="879189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3" name="TextBox 72"/>
              <p:cNvSpPr txBox="1"/>
              <p:nvPr/>
            </p:nvSpPr>
            <p:spPr>
              <a:xfrm>
                <a:off x="3103618" y="3133532"/>
                <a:ext cx="4010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v0</a:t>
                </a:r>
              </a:p>
            </p:txBody>
          </p:sp>
        </p:grpSp>
        <p:cxnSp>
          <p:nvCxnSpPr>
            <p:cNvPr id="97" name="Straight Connector 96"/>
            <p:cNvCxnSpPr/>
            <p:nvPr/>
          </p:nvCxnSpPr>
          <p:spPr>
            <a:xfrm>
              <a:off x="5309971" y="3431336"/>
              <a:ext cx="435140" cy="112157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8" name="Right Arrow 97"/>
          <p:cNvSpPr/>
          <p:nvPr/>
        </p:nvSpPr>
        <p:spPr>
          <a:xfrm>
            <a:off x="3944845" y="4880120"/>
            <a:ext cx="838200" cy="1796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2" name="Group 46"/>
          <p:cNvGrpSpPr/>
          <p:nvPr/>
        </p:nvGrpSpPr>
        <p:grpSpPr>
          <a:xfrm>
            <a:off x="4916556" y="3200400"/>
            <a:ext cx="3908637" cy="2710325"/>
            <a:chOff x="3103618" y="3133532"/>
            <a:chExt cx="3908637" cy="2710325"/>
          </a:xfrm>
        </p:grpSpPr>
        <p:grpSp>
          <p:nvGrpSpPr>
            <p:cNvPr id="64" name="Group 40"/>
            <p:cNvGrpSpPr/>
            <p:nvPr/>
          </p:nvGrpSpPr>
          <p:grpSpPr>
            <a:xfrm>
              <a:off x="3184073" y="3476625"/>
              <a:ext cx="2819401" cy="2367232"/>
              <a:chOff x="2362200" y="3238500"/>
              <a:chExt cx="4038600" cy="3390900"/>
            </a:xfrm>
          </p:grpSpPr>
          <p:sp>
            <p:nvSpPr>
              <p:cNvPr id="68" name="Rectangle 67"/>
              <p:cNvSpPr/>
              <p:nvPr/>
            </p:nvSpPr>
            <p:spPr>
              <a:xfrm>
                <a:off x="3505200" y="3924300"/>
                <a:ext cx="1752600" cy="17526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grpSp>
            <p:nvGrpSpPr>
              <p:cNvPr id="72" name="Group 71"/>
              <p:cNvGrpSpPr/>
              <p:nvPr/>
            </p:nvGrpSpPr>
            <p:grpSpPr>
              <a:xfrm>
                <a:off x="3505200" y="3352800"/>
                <a:ext cx="0" cy="3276600"/>
                <a:chOff x="3505200" y="3009900"/>
                <a:chExt cx="0" cy="3276600"/>
              </a:xfrm>
            </p:grpSpPr>
            <p:cxnSp>
              <p:nvCxnSpPr>
                <p:cNvPr id="117" name="Straight Connector 116"/>
                <p:cNvCxnSpPr>
                  <a:stCxn id="68" idx="1"/>
                </p:cNvCxnSpPr>
                <p:nvPr/>
              </p:nvCxnSpPr>
              <p:spPr>
                <a:xfrm flipV="1">
                  <a:off x="3505200" y="3009900"/>
                  <a:ext cx="0" cy="179070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8" name="Straight Connector 117"/>
                <p:cNvCxnSpPr/>
                <p:nvPr/>
              </p:nvCxnSpPr>
              <p:spPr>
                <a:xfrm flipV="1">
                  <a:off x="3505200" y="4495800"/>
                  <a:ext cx="0" cy="179070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9" name="Group 98"/>
              <p:cNvGrpSpPr/>
              <p:nvPr/>
            </p:nvGrpSpPr>
            <p:grpSpPr>
              <a:xfrm>
                <a:off x="5257800" y="3352800"/>
                <a:ext cx="76200" cy="3276600"/>
                <a:chOff x="3505200" y="2667000"/>
                <a:chExt cx="0" cy="3619500"/>
              </a:xfrm>
            </p:grpSpPr>
            <p:cxnSp>
              <p:nvCxnSpPr>
                <p:cNvPr id="115" name="Straight Connector 114"/>
                <p:cNvCxnSpPr/>
                <p:nvPr/>
              </p:nvCxnSpPr>
              <p:spPr>
                <a:xfrm flipV="1">
                  <a:off x="3505200" y="2667000"/>
                  <a:ext cx="0" cy="179070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6" name="Straight Connector 115"/>
                <p:cNvCxnSpPr/>
                <p:nvPr/>
              </p:nvCxnSpPr>
              <p:spPr>
                <a:xfrm flipV="1">
                  <a:off x="3505200" y="4495800"/>
                  <a:ext cx="0" cy="179070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0" name="Group 18"/>
              <p:cNvGrpSpPr/>
              <p:nvPr/>
            </p:nvGrpSpPr>
            <p:grpSpPr>
              <a:xfrm>
                <a:off x="2362200" y="3924300"/>
                <a:ext cx="4038600" cy="0"/>
                <a:chOff x="2362200" y="3581400"/>
                <a:chExt cx="4038600" cy="0"/>
              </a:xfrm>
            </p:grpSpPr>
            <p:cxnSp>
              <p:nvCxnSpPr>
                <p:cNvPr id="113" name="Straight Connector 112"/>
                <p:cNvCxnSpPr/>
                <p:nvPr/>
              </p:nvCxnSpPr>
              <p:spPr>
                <a:xfrm>
                  <a:off x="4381500" y="3581400"/>
                  <a:ext cx="2019300" cy="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4" name="Straight Connector 113"/>
                <p:cNvCxnSpPr/>
                <p:nvPr/>
              </p:nvCxnSpPr>
              <p:spPr>
                <a:xfrm>
                  <a:off x="2362200" y="3581400"/>
                  <a:ext cx="2019300" cy="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1" name="Group 19"/>
              <p:cNvGrpSpPr/>
              <p:nvPr/>
            </p:nvGrpSpPr>
            <p:grpSpPr>
              <a:xfrm>
                <a:off x="2362200" y="5676900"/>
                <a:ext cx="4038600" cy="0"/>
                <a:chOff x="2362200" y="3581400"/>
                <a:chExt cx="4038600" cy="0"/>
              </a:xfrm>
            </p:grpSpPr>
            <p:cxnSp>
              <p:nvCxnSpPr>
                <p:cNvPr id="111" name="Straight Connector 110"/>
                <p:cNvCxnSpPr/>
                <p:nvPr/>
              </p:nvCxnSpPr>
              <p:spPr>
                <a:xfrm>
                  <a:off x="4381500" y="3581400"/>
                  <a:ext cx="2019300" cy="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" name="Straight Connector 111"/>
                <p:cNvCxnSpPr/>
                <p:nvPr/>
              </p:nvCxnSpPr>
              <p:spPr>
                <a:xfrm>
                  <a:off x="2362200" y="3581400"/>
                  <a:ext cx="2019300" cy="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2" name="TextBox 101"/>
              <p:cNvSpPr txBox="1"/>
              <p:nvPr/>
            </p:nvSpPr>
            <p:spPr>
              <a:xfrm>
                <a:off x="2630270" y="32385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1001</a:t>
                </a:r>
              </a:p>
            </p:txBody>
          </p:sp>
          <p:sp>
            <p:nvSpPr>
              <p:cNvPr id="103" name="TextBox 102"/>
              <p:cNvSpPr txBox="1"/>
              <p:nvPr/>
            </p:nvSpPr>
            <p:spPr>
              <a:xfrm>
                <a:off x="4001870" y="32385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1000</a:t>
                </a:r>
              </a:p>
            </p:txBody>
          </p:sp>
          <p:sp>
            <p:nvSpPr>
              <p:cNvPr id="104" name="TextBox 103"/>
              <p:cNvSpPr txBox="1"/>
              <p:nvPr/>
            </p:nvSpPr>
            <p:spPr>
              <a:xfrm>
                <a:off x="5536165" y="32385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1010</a:t>
                </a:r>
              </a:p>
            </p:txBody>
          </p:sp>
          <p:sp>
            <p:nvSpPr>
              <p:cNvPr id="105" name="TextBox 104"/>
              <p:cNvSpPr txBox="1"/>
              <p:nvPr/>
            </p:nvSpPr>
            <p:spPr>
              <a:xfrm>
                <a:off x="4001869" y="46101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0000</a:t>
                </a:r>
              </a:p>
            </p:txBody>
          </p:sp>
          <p:sp>
            <p:nvSpPr>
              <p:cNvPr id="106" name="TextBox 105"/>
              <p:cNvSpPr txBox="1"/>
              <p:nvPr/>
            </p:nvSpPr>
            <p:spPr>
              <a:xfrm>
                <a:off x="2630270" y="46101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0001</a:t>
                </a:r>
              </a:p>
            </p:txBody>
          </p:sp>
          <p:sp>
            <p:nvSpPr>
              <p:cNvPr id="107" name="TextBox 106"/>
              <p:cNvSpPr txBox="1"/>
              <p:nvPr/>
            </p:nvSpPr>
            <p:spPr>
              <a:xfrm>
                <a:off x="5536165" y="46101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0010</a:t>
                </a:r>
              </a:p>
            </p:txBody>
          </p:sp>
          <p:sp>
            <p:nvSpPr>
              <p:cNvPr id="108" name="TextBox 107"/>
              <p:cNvSpPr txBox="1"/>
              <p:nvPr/>
            </p:nvSpPr>
            <p:spPr>
              <a:xfrm>
                <a:off x="2630270" y="5993368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0101</a:t>
                </a:r>
              </a:p>
            </p:txBody>
          </p:sp>
          <p:sp>
            <p:nvSpPr>
              <p:cNvPr id="109" name="TextBox 108"/>
              <p:cNvSpPr txBox="1"/>
              <p:nvPr/>
            </p:nvSpPr>
            <p:spPr>
              <a:xfrm>
                <a:off x="4001869" y="59817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0100</a:t>
                </a:r>
              </a:p>
            </p:txBody>
          </p:sp>
          <p:sp>
            <p:nvSpPr>
              <p:cNvPr id="110" name="TextBox 109"/>
              <p:cNvSpPr txBox="1"/>
              <p:nvPr/>
            </p:nvSpPr>
            <p:spPr>
              <a:xfrm>
                <a:off x="5536165" y="59817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0110</a:t>
                </a:r>
              </a:p>
            </p:txBody>
          </p:sp>
        </p:grpSp>
        <p:cxnSp>
          <p:nvCxnSpPr>
            <p:cNvPr id="65" name="Straight Connector 64"/>
            <p:cNvCxnSpPr/>
            <p:nvPr/>
          </p:nvCxnSpPr>
          <p:spPr>
            <a:xfrm>
              <a:off x="3525272" y="3364468"/>
              <a:ext cx="3256528" cy="879189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TextBox 65"/>
            <p:cNvSpPr txBox="1"/>
            <p:nvPr/>
          </p:nvSpPr>
          <p:spPr>
            <a:xfrm>
              <a:off x="3103618" y="3133532"/>
              <a:ext cx="4010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v0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6611183" y="4262624"/>
              <a:ext cx="4010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v1</a:t>
              </a: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7344080" y="5746740"/>
            <a:ext cx="1762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Trivial reject</a:t>
            </a:r>
          </a:p>
          <a:p>
            <a:r>
              <a:rPr lang="en-US" dirty="0"/>
              <a:t>at the next step</a:t>
            </a:r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25" name="Slide Number Placeholder 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25</a:t>
            </a:fld>
            <a:endParaRPr lang="en-US"/>
          </a:p>
        </p:txBody>
      </p:sp>
      <p:sp>
        <p:nvSpPr>
          <p:cNvPr id="119" name="TextBox 118"/>
          <p:cNvSpPr txBox="1"/>
          <p:nvPr/>
        </p:nvSpPr>
        <p:spPr>
          <a:xfrm>
            <a:off x="3808583" y="4381335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729248" y="3651407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top</a:t>
            </a:r>
          </a:p>
        </p:txBody>
      </p: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3059E121-455A-FA49-9335-23E3467C35F3}"/>
              </a:ext>
            </a:extLst>
          </p:cNvPr>
          <p:cNvCxnSpPr>
            <a:cxnSpLocks/>
          </p:cNvCxnSpPr>
          <p:nvPr/>
        </p:nvCxnSpPr>
        <p:spPr>
          <a:xfrm>
            <a:off x="5338210" y="3431336"/>
            <a:ext cx="2205590" cy="592024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3003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7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Cohen-Sutherland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Another example:</a:t>
            </a:r>
          </a:p>
          <a:p>
            <a:pPr lvl="1"/>
            <a:r>
              <a:rPr lang="en-US" dirty="0"/>
              <a:t>Bitwise OR not zero (cannot trivially accept)</a:t>
            </a:r>
          </a:p>
          <a:p>
            <a:pPr lvl="1"/>
            <a:r>
              <a:rPr lang="en-US" dirty="0"/>
              <a:t>Bitwise AND not one (cannot trivially reject)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69" name="Group 46"/>
          <p:cNvGrpSpPr/>
          <p:nvPr/>
        </p:nvGrpSpPr>
        <p:grpSpPr>
          <a:xfrm>
            <a:off x="2764774" y="2926080"/>
            <a:ext cx="3989594" cy="2497639"/>
            <a:chOff x="3184073" y="3430905"/>
            <a:chExt cx="3989594" cy="2497639"/>
          </a:xfrm>
        </p:grpSpPr>
        <p:grpSp>
          <p:nvGrpSpPr>
            <p:cNvPr id="70" name="Group 40"/>
            <p:cNvGrpSpPr/>
            <p:nvPr/>
          </p:nvGrpSpPr>
          <p:grpSpPr>
            <a:xfrm>
              <a:off x="3184073" y="3476625"/>
              <a:ext cx="2819401" cy="2367232"/>
              <a:chOff x="2362200" y="3238500"/>
              <a:chExt cx="4038600" cy="3390900"/>
            </a:xfrm>
          </p:grpSpPr>
          <p:sp>
            <p:nvSpPr>
              <p:cNvPr id="75" name="Rectangle 74"/>
              <p:cNvSpPr/>
              <p:nvPr/>
            </p:nvSpPr>
            <p:spPr>
              <a:xfrm>
                <a:off x="3505200" y="3924300"/>
                <a:ext cx="1752600" cy="17526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grpSp>
            <p:nvGrpSpPr>
              <p:cNvPr id="76" name="Group 75"/>
              <p:cNvGrpSpPr/>
              <p:nvPr/>
            </p:nvGrpSpPr>
            <p:grpSpPr>
              <a:xfrm>
                <a:off x="3505200" y="3352800"/>
                <a:ext cx="0" cy="3276600"/>
                <a:chOff x="3505200" y="3009900"/>
                <a:chExt cx="0" cy="3276600"/>
              </a:xfrm>
            </p:grpSpPr>
            <p:cxnSp>
              <p:nvCxnSpPr>
                <p:cNvPr id="95" name="Straight Connector 94"/>
                <p:cNvCxnSpPr>
                  <a:stCxn id="75" idx="1"/>
                </p:cNvCxnSpPr>
                <p:nvPr/>
              </p:nvCxnSpPr>
              <p:spPr>
                <a:xfrm flipV="1">
                  <a:off x="3505200" y="3009900"/>
                  <a:ext cx="0" cy="179070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Straight Connector 95"/>
                <p:cNvCxnSpPr/>
                <p:nvPr/>
              </p:nvCxnSpPr>
              <p:spPr>
                <a:xfrm flipV="1">
                  <a:off x="3505200" y="4495800"/>
                  <a:ext cx="0" cy="179070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7" name="Group 76"/>
              <p:cNvGrpSpPr/>
              <p:nvPr/>
            </p:nvGrpSpPr>
            <p:grpSpPr>
              <a:xfrm>
                <a:off x="5257800" y="3352800"/>
                <a:ext cx="76200" cy="3276600"/>
                <a:chOff x="3505200" y="2667000"/>
                <a:chExt cx="0" cy="3619500"/>
              </a:xfrm>
            </p:grpSpPr>
            <p:cxnSp>
              <p:nvCxnSpPr>
                <p:cNvPr id="93" name="Straight Connector 92"/>
                <p:cNvCxnSpPr/>
                <p:nvPr/>
              </p:nvCxnSpPr>
              <p:spPr>
                <a:xfrm flipV="1">
                  <a:off x="3505200" y="2667000"/>
                  <a:ext cx="0" cy="179070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Connector 93"/>
                <p:cNvCxnSpPr/>
                <p:nvPr/>
              </p:nvCxnSpPr>
              <p:spPr>
                <a:xfrm flipV="1">
                  <a:off x="3505200" y="4495800"/>
                  <a:ext cx="0" cy="179070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8" name="Group 18"/>
              <p:cNvGrpSpPr/>
              <p:nvPr/>
            </p:nvGrpSpPr>
            <p:grpSpPr>
              <a:xfrm>
                <a:off x="2362200" y="3924300"/>
                <a:ext cx="4038600" cy="0"/>
                <a:chOff x="2362200" y="3581400"/>
                <a:chExt cx="4038600" cy="0"/>
              </a:xfrm>
            </p:grpSpPr>
            <p:cxnSp>
              <p:nvCxnSpPr>
                <p:cNvPr id="91" name="Straight Connector 90"/>
                <p:cNvCxnSpPr/>
                <p:nvPr/>
              </p:nvCxnSpPr>
              <p:spPr>
                <a:xfrm>
                  <a:off x="4381500" y="3581400"/>
                  <a:ext cx="2019300" cy="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Connector 91"/>
                <p:cNvCxnSpPr/>
                <p:nvPr/>
              </p:nvCxnSpPr>
              <p:spPr>
                <a:xfrm>
                  <a:off x="2362200" y="3581400"/>
                  <a:ext cx="2019300" cy="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9" name="Group 19"/>
              <p:cNvGrpSpPr/>
              <p:nvPr/>
            </p:nvGrpSpPr>
            <p:grpSpPr>
              <a:xfrm>
                <a:off x="2362200" y="5676900"/>
                <a:ext cx="4038600" cy="0"/>
                <a:chOff x="2362200" y="3581400"/>
                <a:chExt cx="4038600" cy="0"/>
              </a:xfrm>
            </p:grpSpPr>
            <p:cxnSp>
              <p:nvCxnSpPr>
                <p:cNvPr id="89" name="Straight Connector 88"/>
                <p:cNvCxnSpPr/>
                <p:nvPr/>
              </p:nvCxnSpPr>
              <p:spPr>
                <a:xfrm>
                  <a:off x="4381500" y="3581400"/>
                  <a:ext cx="2019300" cy="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Connector 89"/>
                <p:cNvCxnSpPr/>
                <p:nvPr/>
              </p:nvCxnSpPr>
              <p:spPr>
                <a:xfrm>
                  <a:off x="2362200" y="3581400"/>
                  <a:ext cx="2019300" cy="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0" name="TextBox 79"/>
              <p:cNvSpPr txBox="1"/>
              <p:nvPr/>
            </p:nvSpPr>
            <p:spPr>
              <a:xfrm>
                <a:off x="2630270" y="32385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1001</a:t>
                </a:r>
              </a:p>
            </p:txBody>
          </p:sp>
          <p:sp>
            <p:nvSpPr>
              <p:cNvPr id="81" name="TextBox 80"/>
              <p:cNvSpPr txBox="1"/>
              <p:nvPr/>
            </p:nvSpPr>
            <p:spPr>
              <a:xfrm>
                <a:off x="4001870" y="32385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1000</a:t>
                </a:r>
              </a:p>
            </p:txBody>
          </p:sp>
          <p:sp>
            <p:nvSpPr>
              <p:cNvPr id="82" name="TextBox 81"/>
              <p:cNvSpPr txBox="1"/>
              <p:nvPr/>
            </p:nvSpPr>
            <p:spPr>
              <a:xfrm>
                <a:off x="5536165" y="32385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1010</a:t>
                </a:r>
              </a:p>
            </p:txBody>
          </p:sp>
          <p:sp>
            <p:nvSpPr>
              <p:cNvPr id="83" name="TextBox 82"/>
              <p:cNvSpPr txBox="1"/>
              <p:nvPr/>
            </p:nvSpPr>
            <p:spPr>
              <a:xfrm>
                <a:off x="4001869" y="46101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0000</a:t>
                </a:r>
              </a:p>
            </p:txBody>
          </p:sp>
          <p:sp>
            <p:nvSpPr>
              <p:cNvPr id="84" name="TextBox 83"/>
              <p:cNvSpPr txBox="1"/>
              <p:nvPr/>
            </p:nvSpPr>
            <p:spPr>
              <a:xfrm>
                <a:off x="2630270" y="46101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0001</a:t>
                </a:r>
              </a:p>
            </p:txBody>
          </p:sp>
          <p:sp>
            <p:nvSpPr>
              <p:cNvPr id="85" name="TextBox 84"/>
              <p:cNvSpPr txBox="1"/>
              <p:nvPr/>
            </p:nvSpPr>
            <p:spPr>
              <a:xfrm>
                <a:off x="5536165" y="46101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0010</a:t>
                </a:r>
              </a:p>
            </p:txBody>
          </p:sp>
          <p:sp>
            <p:nvSpPr>
              <p:cNvPr id="86" name="TextBox 85"/>
              <p:cNvSpPr txBox="1"/>
              <p:nvPr/>
            </p:nvSpPr>
            <p:spPr>
              <a:xfrm>
                <a:off x="2630270" y="5993368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0101</a:t>
                </a:r>
              </a:p>
            </p:txBody>
          </p:sp>
          <p:sp>
            <p:nvSpPr>
              <p:cNvPr id="87" name="TextBox 86"/>
              <p:cNvSpPr txBox="1"/>
              <p:nvPr/>
            </p:nvSpPr>
            <p:spPr>
              <a:xfrm>
                <a:off x="4001869" y="59817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0100</a:t>
                </a:r>
              </a:p>
            </p:txBody>
          </p:sp>
          <p:sp>
            <p:nvSpPr>
              <p:cNvPr id="88" name="TextBox 87"/>
              <p:cNvSpPr txBox="1"/>
              <p:nvPr/>
            </p:nvSpPr>
            <p:spPr>
              <a:xfrm>
                <a:off x="5536165" y="59817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0110</a:t>
                </a:r>
              </a:p>
            </p:txBody>
          </p:sp>
        </p:grpSp>
        <p:cxnSp>
          <p:nvCxnSpPr>
            <p:cNvPr id="71" name="Straight Connector 70"/>
            <p:cNvCxnSpPr/>
            <p:nvPr/>
          </p:nvCxnSpPr>
          <p:spPr>
            <a:xfrm flipV="1">
              <a:off x="3184073" y="3430905"/>
              <a:ext cx="3989594" cy="2497639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25" name="Slide Number Placeholder 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26</a:t>
            </a:fld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704153" y="5363098"/>
            <a:ext cx="144391" cy="144391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Oval 119"/>
          <p:cNvSpPr/>
          <p:nvPr/>
        </p:nvSpPr>
        <p:spPr>
          <a:xfrm>
            <a:off x="6677033" y="2868168"/>
            <a:ext cx="144391" cy="144391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590800" y="5486400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659022" y="2514600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3686" y="-2314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08645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Cohen-Sutherland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Pick an outside vertex, A</a:t>
            </a:r>
          </a:p>
          <a:p>
            <a:r>
              <a:rPr lang="en-US" dirty="0"/>
              <a:t>Pick an edge that is outside of: 010</a:t>
            </a:r>
            <a:r>
              <a:rPr lang="en-US" b="1" dirty="0"/>
              <a:t>1</a:t>
            </a:r>
            <a:r>
              <a:rPr lang="en-US" dirty="0"/>
              <a:t> =&gt; left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69" name="Group 46"/>
          <p:cNvGrpSpPr/>
          <p:nvPr/>
        </p:nvGrpSpPr>
        <p:grpSpPr>
          <a:xfrm>
            <a:off x="2764774" y="2926080"/>
            <a:ext cx="3989594" cy="2497639"/>
            <a:chOff x="3184073" y="3430905"/>
            <a:chExt cx="3989594" cy="2497639"/>
          </a:xfrm>
        </p:grpSpPr>
        <p:grpSp>
          <p:nvGrpSpPr>
            <p:cNvPr id="70" name="Group 40"/>
            <p:cNvGrpSpPr/>
            <p:nvPr/>
          </p:nvGrpSpPr>
          <p:grpSpPr>
            <a:xfrm>
              <a:off x="3184073" y="3476625"/>
              <a:ext cx="2819401" cy="2367232"/>
              <a:chOff x="2362200" y="3238500"/>
              <a:chExt cx="4038600" cy="3390900"/>
            </a:xfrm>
          </p:grpSpPr>
          <p:sp>
            <p:nvSpPr>
              <p:cNvPr id="75" name="Rectangle 74"/>
              <p:cNvSpPr/>
              <p:nvPr/>
            </p:nvSpPr>
            <p:spPr>
              <a:xfrm>
                <a:off x="3505200" y="3924300"/>
                <a:ext cx="1752600" cy="17526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grpSp>
            <p:nvGrpSpPr>
              <p:cNvPr id="76" name="Group 75"/>
              <p:cNvGrpSpPr/>
              <p:nvPr/>
            </p:nvGrpSpPr>
            <p:grpSpPr>
              <a:xfrm>
                <a:off x="3505200" y="3352800"/>
                <a:ext cx="0" cy="3276600"/>
                <a:chOff x="3505200" y="3009900"/>
                <a:chExt cx="0" cy="3276600"/>
              </a:xfrm>
            </p:grpSpPr>
            <p:cxnSp>
              <p:nvCxnSpPr>
                <p:cNvPr id="95" name="Straight Connector 94"/>
                <p:cNvCxnSpPr>
                  <a:stCxn id="75" idx="1"/>
                </p:cNvCxnSpPr>
                <p:nvPr/>
              </p:nvCxnSpPr>
              <p:spPr>
                <a:xfrm flipV="1">
                  <a:off x="3505200" y="3009900"/>
                  <a:ext cx="0" cy="179070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Straight Connector 95"/>
                <p:cNvCxnSpPr/>
                <p:nvPr/>
              </p:nvCxnSpPr>
              <p:spPr>
                <a:xfrm flipV="1">
                  <a:off x="3505200" y="4495800"/>
                  <a:ext cx="0" cy="179070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7" name="Group 76"/>
              <p:cNvGrpSpPr/>
              <p:nvPr/>
            </p:nvGrpSpPr>
            <p:grpSpPr>
              <a:xfrm>
                <a:off x="5257800" y="3352800"/>
                <a:ext cx="76200" cy="3276600"/>
                <a:chOff x="3505200" y="2667000"/>
                <a:chExt cx="0" cy="3619500"/>
              </a:xfrm>
            </p:grpSpPr>
            <p:cxnSp>
              <p:nvCxnSpPr>
                <p:cNvPr id="93" name="Straight Connector 92"/>
                <p:cNvCxnSpPr/>
                <p:nvPr/>
              </p:nvCxnSpPr>
              <p:spPr>
                <a:xfrm flipV="1">
                  <a:off x="3505200" y="2667000"/>
                  <a:ext cx="0" cy="179070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Connector 93"/>
                <p:cNvCxnSpPr/>
                <p:nvPr/>
              </p:nvCxnSpPr>
              <p:spPr>
                <a:xfrm flipV="1">
                  <a:off x="3505200" y="4495800"/>
                  <a:ext cx="0" cy="179070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8" name="Group 18"/>
              <p:cNvGrpSpPr/>
              <p:nvPr/>
            </p:nvGrpSpPr>
            <p:grpSpPr>
              <a:xfrm>
                <a:off x="2362200" y="3924300"/>
                <a:ext cx="4038600" cy="0"/>
                <a:chOff x="2362200" y="3581400"/>
                <a:chExt cx="4038600" cy="0"/>
              </a:xfrm>
            </p:grpSpPr>
            <p:cxnSp>
              <p:nvCxnSpPr>
                <p:cNvPr id="91" name="Straight Connector 90"/>
                <p:cNvCxnSpPr/>
                <p:nvPr/>
              </p:nvCxnSpPr>
              <p:spPr>
                <a:xfrm>
                  <a:off x="4381500" y="3581400"/>
                  <a:ext cx="2019300" cy="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Connector 91"/>
                <p:cNvCxnSpPr/>
                <p:nvPr/>
              </p:nvCxnSpPr>
              <p:spPr>
                <a:xfrm>
                  <a:off x="2362200" y="3581400"/>
                  <a:ext cx="2019300" cy="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9" name="Group 19"/>
              <p:cNvGrpSpPr/>
              <p:nvPr/>
            </p:nvGrpSpPr>
            <p:grpSpPr>
              <a:xfrm>
                <a:off x="2362200" y="5676900"/>
                <a:ext cx="4038600" cy="0"/>
                <a:chOff x="2362200" y="3581400"/>
                <a:chExt cx="4038600" cy="0"/>
              </a:xfrm>
            </p:grpSpPr>
            <p:cxnSp>
              <p:nvCxnSpPr>
                <p:cNvPr id="89" name="Straight Connector 88"/>
                <p:cNvCxnSpPr/>
                <p:nvPr/>
              </p:nvCxnSpPr>
              <p:spPr>
                <a:xfrm>
                  <a:off x="4381500" y="3581400"/>
                  <a:ext cx="2019300" cy="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Connector 89"/>
                <p:cNvCxnSpPr/>
                <p:nvPr/>
              </p:nvCxnSpPr>
              <p:spPr>
                <a:xfrm>
                  <a:off x="2362200" y="3581400"/>
                  <a:ext cx="2019300" cy="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0" name="TextBox 79"/>
              <p:cNvSpPr txBox="1"/>
              <p:nvPr/>
            </p:nvSpPr>
            <p:spPr>
              <a:xfrm>
                <a:off x="2630270" y="32385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1001</a:t>
                </a:r>
              </a:p>
            </p:txBody>
          </p:sp>
          <p:sp>
            <p:nvSpPr>
              <p:cNvPr id="81" name="TextBox 80"/>
              <p:cNvSpPr txBox="1"/>
              <p:nvPr/>
            </p:nvSpPr>
            <p:spPr>
              <a:xfrm>
                <a:off x="4001870" y="32385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1000</a:t>
                </a:r>
              </a:p>
            </p:txBody>
          </p:sp>
          <p:sp>
            <p:nvSpPr>
              <p:cNvPr id="82" name="TextBox 81"/>
              <p:cNvSpPr txBox="1"/>
              <p:nvPr/>
            </p:nvSpPr>
            <p:spPr>
              <a:xfrm>
                <a:off x="5536165" y="32385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1010</a:t>
                </a:r>
              </a:p>
            </p:txBody>
          </p:sp>
          <p:sp>
            <p:nvSpPr>
              <p:cNvPr id="83" name="TextBox 82"/>
              <p:cNvSpPr txBox="1"/>
              <p:nvPr/>
            </p:nvSpPr>
            <p:spPr>
              <a:xfrm>
                <a:off x="4001869" y="46101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0000</a:t>
                </a:r>
              </a:p>
            </p:txBody>
          </p:sp>
          <p:sp>
            <p:nvSpPr>
              <p:cNvPr id="84" name="TextBox 83"/>
              <p:cNvSpPr txBox="1"/>
              <p:nvPr/>
            </p:nvSpPr>
            <p:spPr>
              <a:xfrm>
                <a:off x="2630270" y="46101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0001</a:t>
                </a:r>
              </a:p>
            </p:txBody>
          </p:sp>
          <p:sp>
            <p:nvSpPr>
              <p:cNvPr id="85" name="TextBox 84"/>
              <p:cNvSpPr txBox="1"/>
              <p:nvPr/>
            </p:nvSpPr>
            <p:spPr>
              <a:xfrm>
                <a:off x="5536165" y="46101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0010</a:t>
                </a:r>
              </a:p>
            </p:txBody>
          </p:sp>
          <p:sp>
            <p:nvSpPr>
              <p:cNvPr id="86" name="TextBox 85"/>
              <p:cNvSpPr txBox="1"/>
              <p:nvPr/>
            </p:nvSpPr>
            <p:spPr>
              <a:xfrm>
                <a:off x="2630270" y="5993368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0101</a:t>
                </a:r>
              </a:p>
            </p:txBody>
          </p:sp>
          <p:sp>
            <p:nvSpPr>
              <p:cNvPr id="87" name="TextBox 86"/>
              <p:cNvSpPr txBox="1"/>
              <p:nvPr/>
            </p:nvSpPr>
            <p:spPr>
              <a:xfrm>
                <a:off x="4001869" y="59817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0100</a:t>
                </a:r>
              </a:p>
            </p:txBody>
          </p:sp>
          <p:sp>
            <p:nvSpPr>
              <p:cNvPr id="88" name="TextBox 87"/>
              <p:cNvSpPr txBox="1"/>
              <p:nvPr/>
            </p:nvSpPr>
            <p:spPr>
              <a:xfrm>
                <a:off x="5536165" y="59817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0110</a:t>
                </a:r>
              </a:p>
            </p:txBody>
          </p:sp>
        </p:grpSp>
        <p:cxnSp>
          <p:nvCxnSpPr>
            <p:cNvPr id="71" name="Straight Connector 70"/>
            <p:cNvCxnSpPr/>
            <p:nvPr/>
          </p:nvCxnSpPr>
          <p:spPr>
            <a:xfrm flipV="1">
              <a:off x="3184073" y="3430905"/>
              <a:ext cx="3989594" cy="2497639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25" name="Slide Number Placeholder 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27</a:t>
            </a:fld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704153" y="5363098"/>
            <a:ext cx="144391" cy="144391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Oval 119"/>
          <p:cNvSpPr/>
          <p:nvPr/>
        </p:nvSpPr>
        <p:spPr>
          <a:xfrm>
            <a:off x="6677033" y="2868168"/>
            <a:ext cx="144391" cy="144391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590800" y="5486400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659022" y="2514600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3686" y="-2314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78374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Cohen-Sutherland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Intersect to find C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69" name="Group 46"/>
          <p:cNvGrpSpPr/>
          <p:nvPr/>
        </p:nvGrpSpPr>
        <p:grpSpPr>
          <a:xfrm>
            <a:off x="2764774" y="2926080"/>
            <a:ext cx="3989594" cy="2497639"/>
            <a:chOff x="3184073" y="3430905"/>
            <a:chExt cx="3989594" cy="2497639"/>
          </a:xfrm>
        </p:grpSpPr>
        <p:grpSp>
          <p:nvGrpSpPr>
            <p:cNvPr id="70" name="Group 40"/>
            <p:cNvGrpSpPr/>
            <p:nvPr/>
          </p:nvGrpSpPr>
          <p:grpSpPr>
            <a:xfrm>
              <a:off x="3184073" y="3476625"/>
              <a:ext cx="2819401" cy="2367232"/>
              <a:chOff x="2362200" y="3238500"/>
              <a:chExt cx="4038600" cy="3390900"/>
            </a:xfrm>
          </p:grpSpPr>
          <p:sp>
            <p:nvSpPr>
              <p:cNvPr id="75" name="Rectangle 74"/>
              <p:cNvSpPr/>
              <p:nvPr/>
            </p:nvSpPr>
            <p:spPr>
              <a:xfrm>
                <a:off x="3505200" y="3924300"/>
                <a:ext cx="1752600" cy="17526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grpSp>
            <p:nvGrpSpPr>
              <p:cNvPr id="76" name="Group 75"/>
              <p:cNvGrpSpPr/>
              <p:nvPr/>
            </p:nvGrpSpPr>
            <p:grpSpPr>
              <a:xfrm>
                <a:off x="3505200" y="3352800"/>
                <a:ext cx="0" cy="3276600"/>
                <a:chOff x="3505200" y="3009900"/>
                <a:chExt cx="0" cy="3276600"/>
              </a:xfrm>
            </p:grpSpPr>
            <p:cxnSp>
              <p:nvCxnSpPr>
                <p:cNvPr id="95" name="Straight Connector 94"/>
                <p:cNvCxnSpPr>
                  <a:stCxn id="75" idx="1"/>
                </p:cNvCxnSpPr>
                <p:nvPr/>
              </p:nvCxnSpPr>
              <p:spPr>
                <a:xfrm flipV="1">
                  <a:off x="3505200" y="3009900"/>
                  <a:ext cx="0" cy="179070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Straight Connector 95"/>
                <p:cNvCxnSpPr/>
                <p:nvPr/>
              </p:nvCxnSpPr>
              <p:spPr>
                <a:xfrm flipV="1">
                  <a:off x="3505200" y="4495800"/>
                  <a:ext cx="0" cy="179070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7" name="Group 76"/>
              <p:cNvGrpSpPr/>
              <p:nvPr/>
            </p:nvGrpSpPr>
            <p:grpSpPr>
              <a:xfrm>
                <a:off x="5257800" y="3352800"/>
                <a:ext cx="76200" cy="3276600"/>
                <a:chOff x="3505200" y="2667000"/>
                <a:chExt cx="0" cy="3619500"/>
              </a:xfrm>
            </p:grpSpPr>
            <p:cxnSp>
              <p:nvCxnSpPr>
                <p:cNvPr id="93" name="Straight Connector 92"/>
                <p:cNvCxnSpPr/>
                <p:nvPr/>
              </p:nvCxnSpPr>
              <p:spPr>
                <a:xfrm flipV="1">
                  <a:off x="3505200" y="2667000"/>
                  <a:ext cx="0" cy="179070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Connector 93"/>
                <p:cNvCxnSpPr/>
                <p:nvPr/>
              </p:nvCxnSpPr>
              <p:spPr>
                <a:xfrm flipV="1">
                  <a:off x="3505200" y="4495800"/>
                  <a:ext cx="0" cy="179070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8" name="Group 18"/>
              <p:cNvGrpSpPr/>
              <p:nvPr/>
            </p:nvGrpSpPr>
            <p:grpSpPr>
              <a:xfrm>
                <a:off x="2362200" y="3924300"/>
                <a:ext cx="4038600" cy="0"/>
                <a:chOff x="2362200" y="3581400"/>
                <a:chExt cx="4038600" cy="0"/>
              </a:xfrm>
            </p:grpSpPr>
            <p:cxnSp>
              <p:nvCxnSpPr>
                <p:cNvPr id="91" name="Straight Connector 90"/>
                <p:cNvCxnSpPr/>
                <p:nvPr/>
              </p:nvCxnSpPr>
              <p:spPr>
                <a:xfrm>
                  <a:off x="4381500" y="3581400"/>
                  <a:ext cx="2019300" cy="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Connector 91"/>
                <p:cNvCxnSpPr/>
                <p:nvPr/>
              </p:nvCxnSpPr>
              <p:spPr>
                <a:xfrm>
                  <a:off x="2362200" y="3581400"/>
                  <a:ext cx="2019300" cy="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9" name="Group 19"/>
              <p:cNvGrpSpPr/>
              <p:nvPr/>
            </p:nvGrpSpPr>
            <p:grpSpPr>
              <a:xfrm>
                <a:off x="2362200" y="5676900"/>
                <a:ext cx="4038600" cy="0"/>
                <a:chOff x="2362200" y="3581400"/>
                <a:chExt cx="4038600" cy="0"/>
              </a:xfrm>
            </p:grpSpPr>
            <p:cxnSp>
              <p:nvCxnSpPr>
                <p:cNvPr id="89" name="Straight Connector 88"/>
                <p:cNvCxnSpPr/>
                <p:nvPr/>
              </p:nvCxnSpPr>
              <p:spPr>
                <a:xfrm>
                  <a:off x="4381500" y="3581400"/>
                  <a:ext cx="2019300" cy="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Connector 89"/>
                <p:cNvCxnSpPr/>
                <p:nvPr/>
              </p:nvCxnSpPr>
              <p:spPr>
                <a:xfrm>
                  <a:off x="2362200" y="3581400"/>
                  <a:ext cx="2019300" cy="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0" name="TextBox 79"/>
              <p:cNvSpPr txBox="1"/>
              <p:nvPr/>
            </p:nvSpPr>
            <p:spPr>
              <a:xfrm>
                <a:off x="2630270" y="32385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1001</a:t>
                </a:r>
              </a:p>
            </p:txBody>
          </p:sp>
          <p:sp>
            <p:nvSpPr>
              <p:cNvPr id="81" name="TextBox 80"/>
              <p:cNvSpPr txBox="1"/>
              <p:nvPr/>
            </p:nvSpPr>
            <p:spPr>
              <a:xfrm>
                <a:off x="4001870" y="32385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1000</a:t>
                </a:r>
              </a:p>
            </p:txBody>
          </p:sp>
          <p:sp>
            <p:nvSpPr>
              <p:cNvPr id="82" name="TextBox 81"/>
              <p:cNvSpPr txBox="1"/>
              <p:nvPr/>
            </p:nvSpPr>
            <p:spPr>
              <a:xfrm>
                <a:off x="5536165" y="32385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1010</a:t>
                </a:r>
              </a:p>
            </p:txBody>
          </p:sp>
          <p:sp>
            <p:nvSpPr>
              <p:cNvPr id="83" name="TextBox 82"/>
              <p:cNvSpPr txBox="1"/>
              <p:nvPr/>
            </p:nvSpPr>
            <p:spPr>
              <a:xfrm>
                <a:off x="4001869" y="46101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0000</a:t>
                </a:r>
              </a:p>
            </p:txBody>
          </p:sp>
          <p:sp>
            <p:nvSpPr>
              <p:cNvPr id="84" name="TextBox 83"/>
              <p:cNvSpPr txBox="1"/>
              <p:nvPr/>
            </p:nvSpPr>
            <p:spPr>
              <a:xfrm>
                <a:off x="2630270" y="46101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0001</a:t>
                </a:r>
              </a:p>
            </p:txBody>
          </p:sp>
          <p:sp>
            <p:nvSpPr>
              <p:cNvPr id="85" name="TextBox 84"/>
              <p:cNvSpPr txBox="1"/>
              <p:nvPr/>
            </p:nvSpPr>
            <p:spPr>
              <a:xfrm>
                <a:off x="5536165" y="46101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0010</a:t>
                </a:r>
              </a:p>
            </p:txBody>
          </p:sp>
          <p:sp>
            <p:nvSpPr>
              <p:cNvPr id="86" name="TextBox 85"/>
              <p:cNvSpPr txBox="1"/>
              <p:nvPr/>
            </p:nvSpPr>
            <p:spPr>
              <a:xfrm>
                <a:off x="2630270" y="5993368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0101</a:t>
                </a:r>
              </a:p>
            </p:txBody>
          </p:sp>
          <p:sp>
            <p:nvSpPr>
              <p:cNvPr id="87" name="TextBox 86"/>
              <p:cNvSpPr txBox="1"/>
              <p:nvPr/>
            </p:nvSpPr>
            <p:spPr>
              <a:xfrm>
                <a:off x="4001869" y="59817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0100</a:t>
                </a:r>
              </a:p>
            </p:txBody>
          </p:sp>
          <p:sp>
            <p:nvSpPr>
              <p:cNvPr id="88" name="TextBox 87"/>
              <p:cNvSpPr txBox="1"/>
              <p:nvPr/>
            </p:nvSpPr>
            <p:spPr>
              <a:xfrm>
                <a:off x="5536165" y="59817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0110</a:t>
                </a:r>
              </a:p>
            </p:txBody>
          </p:sp>
        </p:grpSp>
        <p:cxnSp>
          <p:nvCxnSpPr>
            <p:cNvPr id="71" name="Straight Connector 70"/>
            <p:cNvCxnSpPr/>
            <p:nvPr/>
          </p:nvCxnSpPr>
          <p:spPr>
            <a:xfrm flipV="1">
              <a:off x="3184073" y="3430905"/>
              <a:ext cx="3989594" cy="2497639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25" name="Slide Number Placeholder 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28</a:t>
            </a:fld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704153" y="5363098"/>
            <a:ext cx="144391" cy="144391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Oval 119"/>
          <p:cNvSpPr/>
          <p:nvPr/>
        </p:nvSpPr>
        <p:spPr>
          <a:xfrm>
            <a:off x="6677033" y="2868168"/>
            <a:ext cx="144391" cy="144391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590800" y="5486400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659022" y="2514600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3686" y="-2314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6" name="Oval 35"/>
          <p:cNvSpPr/>
          <p:nvPr/>
        </p:nvSpPr>
        <p:spPr>
          <a:xfrm>
            <a:off x="3488825" y="4864608"/>
            <a:ext cx="144391" cy="144391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3534822" y="4888468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17355470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Cohen-Sutherland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Discard the A-C segment, C is your new endpoint</a:t>
            </a:r>
          </a:p>
          <a:p>
            <a:r>
              <a:rPr lang="en-US" dirty="0"/>
              <a:t>Its </a:t>
            </a:r>
            <a:r>
              <a:rPr lang="en-US" dirty="0" err="1"/>
              <a:t>outcode</a:t>
            </a:r>
            <a:r>
              <a:rPr lang="en-US" dirty="0"/>
              <a:t> is 0100</a:t>
            </a:r>
          </a:p>
          <a:p>
            <a:r>
              <a:rPr lang="en-US" dirty="0"/>
              <a:t>Cannot trivially accept or reject C-B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69" name="Group 46"/>
          <p:cNvGrpSpPr/>
          <p:nvPr/>
        </p:nvGrpSpPr>
        <p:grpSpPr>
          <a:xfrm>
            <a:off x="2764774" y="2926081"/>
            <a:ext cx="3989594" cy="2412951"/>
            <a:chOff x="3184073" y="3430906"/>
            <a:chExt cx="3989594" cy="2412951"/>
          </a:xfrm>
        </p:grpSpPr>
        <p:grpSp>
          <p:nvGrpSpPr>
            <p:cNvPr id="70" name="Group 40"/>
            <p:cNvGrpSpPr/>
            <p:nvPr/>
          </p:nvGrpSpPr>
          <p:grpSpPr>
            <a:xfrm>
              <a:off x="3184073" y="3476625"/>
              <a:ext cx="2819401" cy="2367232"/>
              <a:chOff x="2362200" y="3238500"/>
              <a:chExt cx="4038600" cy="3390900"/>
            </a:xfrm>
          </p:grpSpPr>
          <p:sp>
            <p:nvSpPr>
              <p:cNvPr id="75" name="Rectangle 74"/>
              <p:cNvSpPr/>
              <p:nvPr/>
            </p:nvSpPr>
            <p:spPr>
              <a:xfrm>
                <a:off x="3505200" y="3924300"/>
                <a:ext cx="1752600" cy="17526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grpSp>
            <p:nvGrpSpPr>
              <p:cNvPr id="76" name="Group 75"/>
              <p:cNvGrpSpPr/>
              <p:nvPr/>
            </p:nvGrpSpPr>
            <p:grpSpPr>
              <a:xfrm>
                <a:off x="3505200" y="3352800"/>
                <a:ext cx="0" cy="3276600"/>
                <a:chOff x="3505200" y="3009900"/>
                <a:chExt cx="0" cy="3276600"/>
              </a:xfrm>
            </p:grpSpPr>
            <p:cxnSp>
              <p:nvCxnSpPr>
                <p:cNvPr id="95" name="Straight Connector 94"/>
                <p:cNvCxnSpPr>
                  <a:stCxn id="75" idx="1"/>
                </p:cNvCxnSpPr>
                <p:nvPr/>
              </p:nvCxnSpPr>
              <p:spPr>
                <a:xfrm flipV="1">
                  <a:off x="3505200" y="3009900"/>
                  <a:ext cx="0" cy="179070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Straight Connector 95"/>
                <p:cNvCxnSpPr/>
                <p:nvPr/>
              </p:nvCxnSpPr>
              <p:spPr>
                <a:xfrm flipV="1">
                  <a:off x="3505200" y="4495800"/>
                  <a:ext cx="0" cy="179070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7" name="Group 76"/>
              <p:cNvGrpSpPr/>
              <p:nvPr/>
            </p:nvGrpSpPr>
            <p:grpSpPr>
              <a:xfrm>
                <a:off x="5257800" y="3352800"/>
                <a:ext cx="76200" cy="3276600"/>
                <a:chOff x="3505200" y="2667000"/>
                <a:chExt cx="0" cy="3619500"/>
              </a:xfrm>
            </p:grpSpPr>
            <p:cxnSp>
              <p:nvCxnSpPr>
                <p:cNvPr id="93" name="Straight Connector 92"/>
                <p:cNvCxnSpPr/>
                <p:nvPr/>
              </p:nvCxnSpPr>
              <p:spPr>
                <a:xfrm flipV="1">
                  <a:off x="3505200" y="2667000"/>
                  <a:ext cx="0" cy="179070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Connector 93"/>
                <p:cNvCxnSpPr/>
                <p:nvPr/>
              </p:nvCxnSpPr>
              <p:spPr>
                <a:xfrm flipV="1">
                  <a:off x="3505200" y="4495800"/>
                  <a:ext cx="0" cy="179070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8" name="Group 18"/>
              <p:cNvGrpSpPr/>
              <p:nvPr/>
            </p:nvGrpSpPr>
            <p:grpSpPr>
              <a:xfrm>
                <a:off x="2362200" y="3924300"/>
                <a:ext cx="4038600" cy="0"/>
                <a:chOff x="2362200" y="3581400"/>
                <a:chExt cx="4038600" cy="0"/>
              </a:xfrm>
            </p:grpSpPr>
            <p:cxnSp>
              <p:nvCxnSpPr>
                <p:cNvPr id="91" name="Straight Connector 90"/>
                <p:cNvCxnSpPr/>
                <p:nvPr/>
              </p:nvCxnSpPr>
              <p:spPr>
                <a:xfrm>
                  <a:off x="4381500" y="3581400"/>
                  <a:ext cx="2019300" cy="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Connector 91"/>
                <p:cNvCxnSpPr/>
                <p:nvPr/>
              </p:nvCxnSpPr>
              <p:spPr>
                <a:xfrm>
                  <a:off x="2362200" y="3581400"/>
                  <a:ext cx="2019300" cy="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9" name="Group 19"/>
              <p:cNvGrpSpPr/>
              <p:nvPr/>
            </p:nvGrpSpPr>
            <p:grpSpPr>
              <a:xfrm>
                <a:off x="2362200" y="5676900"/>
                <a:ext cx="4038600" cy="0"/>
                <a:chOff x="2362200" y="3581400"/>
                <a:chExt cx="4038600" cy="0"/>
              </a:xfrm>
            </p:grpSpPr>
            <p:cxnSp>
              <p:nvCxnSpPr>
                <p:cNvPr id="89" name="Straight Connector 88"/>
                <p:cNvCxnSpPr/>
                <p:nvPr/>
              </p:nvCxnSpPr>
              <p:spPr>
                <a:xfrm>
                  <a:off x="4381500" y="3581400"/>
                  <a:ext cx="2019300" cy="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Connector 89"/>
                <p:cNvCxnSpPr/>
                <p:nvPr/>
              </p:nvCxnSpPr>
              <p:spPr>
                <a:xfrm>
                  <a:off x="2362200" y="3581400"/>
                  <a:ext cx="2019300" cy="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0" name="TextBox 79"/>
              <p:cNvSpPr txBox="1"/>
              <p:nvPr/>
            </p:nvSpPr>
            <p:spPr>
              <a:xfrm>
                <a:off x="2630270" y="32385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1001</a:t>
                </a:r>
              </a:p>
            </p:txBody>
          </p:sp>
          <p:sp>
            <p:nvSpPr>
              <p:cNvPr id="81" name="TextBox 80"/>
              <p:cNvSpPr txBox="1"/>
              <p:nvPr/>
            </p:nvSpPr>
            <p:spPr>
              <a:xfrm>
                <a:off x="4001870" y="32385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1000</a:t>
                </a:r>
              </a:p>
            </p:txBody>
          </p:sp>
          <p:sp>
            <p:nvSpPr>
              <p:cNvPr id="82" name="TextBox 81"/>
              <p:cNvSpPr txBox="1"/>
              <p:nvPr/>
            </p:nvSpPr>
            <p:spPr>
              <a:xfrm>
                <a:off x="5536165" y="32385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1010</a:t>
                </a:r>
              </a:p>
            </p:txBody>
          </p:sp>
          <p:sp>
            <p:nvSpPr>
              <p:cNvPr id="83" name="TextBox 82"/>
              <p:cNvSpPr txBox="1"/>
              <p:nvPr/>
            </p:nvSpPr>
            <p:spPr>
              <a:xfrm>
                <a:off x="4001869" y="46101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0000</a:t>
                </a:r>
              </a:p>
            </p:txBody>
          </p:sp>
          <p:sp>
            <p:nvSpPr>
              <p:cNvPr id="84" name="TextBox 83"/>
              <p:cNvSpPr txBox="1"/>
              <p:nvPr/>
            </p:nvSpPr>
            <p:spPr>
              <a:xfrm>
                <a:off x="2630270" y="46101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0001</a:t>
                </a:r>
              </a:p>
            </p:txBody>
          </p:sp>
          <p:sp>
            <p:nvSpPr>
              <p:cNvPr id="85" name="TextBox 84"/>
              <p:cNvSpPr txBox="1"/>
              <p:nvPr/>
            </p:nvSpPr>
            <p:spPr>
              <a:xfrm>
                <a:off x="5536165" y="46101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0010</a:t>
                </a:r>
              </a:p>
            </p:txBody>
          </p:sp>
          <p:sp>
            <p:nvSpPr>
              <p:cNvPr id="86" name="TextBox 85"/>
              <p:cNvSpPr txBox="1"/>
              <p:nvPr/>
            </p:nvSpPr>
            <p:spPr>
              <a:xfrm>
                <a:off x="2630270" y="5993368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0101</a:t>
                </a:r>
              </a:p>
            </p:txBody>
          </p:sp>
          <p:sp>
            <p:nvSpPr>
              <p:cNvPr id="87" name="TextBox 86"/>
              <p:cNvSpPr txBox="1"/>
              <p:nvPr/>
            </p:nvSpPr>
            <p:spPr>
              <a:xfrm>
                <a:off x="4001869" y="59817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0100</a:t>
                </a:r>
              </a:p>
            </p:txBody>
          </p:sp>
          <p:sp>
            <p:nvSpPr>
              <p:cNvPr id="88" name="TextBox 87"/>
              <p:cNvSpPr txBox="1"/>
              <p:nvPr/>
            </p:nvSpPr>
            <p:spPr>
              <a:xfrm>
                <a:off x="5536165" y="59817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0110</a:t>
                </a:r>
              </a:p>
            </p:txBody>
          </p:sp>
        </p:grpSp>
        <p:cxnSp>
          <p:nvCxnSpPr>
            <p:cNvPr id="71" name="Straight Connector 70"/>
            <p:cNvCxnSpPr/>
            <p:nvPr/>
          </p:nvCxnSpPr>
          <p:spPr>
            <a:xfrm flipV="1">
              <a:off x="3967171" y="3430906"/>
              <a:ext cx="3206496" cy="2011679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25" name="Slide Number Placeholder 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29</a:t>
            </a:fld>
            <a:endParaRPr lang="en-US"/>
          </a:p>
        </p:txBody>
      </p:sp>
      <p:sp>
        <p:nvSpPr>
          <p:cNvPr id="120" name="Oval 119"/>
          <p:cNvSpPr/>
          <p:nvPr/>
        </p:nvSpPr>
        <p:spPr>
          <a:xfrm>
            <a:off x="6677033" y="2868168"/>
            <a:ext cx="144391" cy="144391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TextBox 120"/>
          <p:cNvSpPr txBox="1"/>
          <p:nvPr/>
        </p:nvSpPr>
        <p:spPr>
          <a:xfrm>
            <a:off x="6659022" y="2514600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3686" y="-2314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6" name="Oval 35"/>
          <p:cNvSpPr/>
          <p:nvPr/>
        </p:nvSpPr>
        <p:spPr>
          <a:xfrm>
            <a:off x="3488825" y="4864608"/>
            <a:ext cx="144391" cy="144391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3534822" y="4888468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4816986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Cohen-Sutherland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pick an outside point, C for example</a:t>
            </a:r>
          </a:p>
          <a:p>
            <a:r>
              <a:rPr lang="en-US" dirty="0"/>
              <a:t>Pick an edge that is outside of, 0</a:t>
            </a:r>
            <a:r>
              <a:rPr lang="en-US" b="1" dirty="0"/>
              <a:t>1</a:t>
            </a:r>
            <a:r>
              <a:rPr lang="en-US" dirty="0"/>
              <a:t>00 =&gt; bottom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69" name="Group 46"/>
          <p:cNvGrpSpPr/>
          <p:nvPr/>
        </p:nvGrpSpPr>
        <p:grpSpPr>
          <a:xfrm>
            <a:off x="2764774" y="2926081"/>
            <a:ext cx="3989594" cy="2412951"/>
            <a:chOff x="3184073" y="3430906"/>
            <a:chExt cx="3989594" cy="2412951"/>
          </a:xfrm>
        </p:grpSpPr>
        <p:grpSp>
          <p:nvGrpSpPr>
            <p:cNvPr id="70" name="Group 40"/>
            <p:cNvGrpSpPr/>
            <p:nvPr/>
          </p:nvGrpSpPr>
          <p:grpSpPr>
            <a:xfrm>
              <a:off x="3184073" y="3476625"/>
              <a:ext cx="2819401" cy="2367232"/>
              <a:chOff x="2362200" y="3238500"/>
              <a:chExt cx="4038600" cy="3390900"/>
            </a:xfrm>
          </p:grpSpPr>
          <p:sp>
            <p:nvSpPr>
              <p:cNvPr id="75" name="Rectangle 74"/>
              <p:cNvSpPr/>
              <p:nvPr/>
            </p:nvSpPr>
            <p:spPr>
              <a:xfrm>
                <a:off x="3505200" y="3924300"/>
                <a:ext cx="1752600" cy="17526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grpSp>
            <p:nvGrpSpPr>
              <p:cNvPr id="76" name="Group 75"/>
              <p:cNvGrpSpPr/>
              <p:nvPr/>
            </p:nvGrpSpPr>
            <p:grpSpPr>
              <a:xfrm>
                <a:off x="3505200" y="3352800"/>
                <a:ext cx="0" cy="3276600"/>
                <a:chOff x="3505200" y="3009900"/>
                <a:chExt cx="0" cy="3276600"/>
              </a:xfrm>
            </p:grpSpPr>
            <p:cxnSp>
              <p:nvCxnSpPr>
                <p:cNvPr id="95" name="Straight Connector 94"/>
                <p:cNvCxnSpPr>
                  <a:stCxn id="75" idx="1"/>
                </p:cNvCxnSpPr>
                <p:nvPr/>
              </p:nvCxnSpPr>
              <p:spPr>
                <a:xfrm flipV="1">
                  <a:off x="3505200" y="3009900"/>
                  <a:ext cx="0" cy="179070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Straight Connector 95"/>
                <p:cNvCxnSpPr/>
                <p:nvPr/>
              </p:nvCxnSpPr>
              <p:spPr>
                <a:xfrm flipV="1">
                  <a:off x="3505200" y="4495800"/>
                  <a:ext cx="0" cy="179070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7" name="Group 76"/>
              <p:cNvGrpSpPr/>
              <p:nvPr/>
            </p:nvGrpSpPr>
            <p:grpSpPr>
              <a:xfrm>
                <a:off x="5257800" y="3352800"/>
                <a:ext cx="76200" cy="3276600"/>
                <a:chOff x="3505200" y="2667000"/>
                <a:chExt cx="0" cy="3619500"/>
              </a:xfrm>
            </p:grpSpPr>
            <p:cxnSp>
              <p:nvCxnSpPr>
                <p:cNvPr id="93" name="Straight Connector 92"/>
                <p:cNvCxnSpPr/>
                <p:nvPr/>
              </p:nvCxnSpPr>
              <p:spPr>
                <a:xfrm flipV="1">
                  <a:off x="3505200" y="2667000"/>
                  <a:ext cx="0" cy="179070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Connector 93"/>
                <p:cNvCxnSpPr/>
                <p:nvPr/>
              </p:nvCxnSpPr>
              <p:spPr>
                <a:xfrm flipV="1">
                  <a:off x="3505200" y="4495800"/>
                  <a:ext cx="0" cy="179070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8" name="Group 18"/>
              <p:cNvGrpSpPr/>
              <p:nvPr/>
            </p:nvGrpSpPr>
            <p:grpSpPr>
              <a:xfrm>
                <a:off x="2362200" y="3924300"/>
                <a:ext cx="4038600" cy="0"/>
                <a:chOff x="2362200" y="3581400"/>
                <a:chExt cx="4038600" cy="0"/>
              </a:xfrm>
            </p:grpSpPr>
            <p:cxnSp>
              <p:nvCxnSpPr>
                <p:cNvPr id="91" name="Straight Connector 90"/>
                <p:cNvCxnSpPr/>
                <p:nvPr/>
              </p:nvCxnSpPr>
              <p:spPr>
                <a:xfrm>
                  <a:off x="4381500" y="3581400"/>
                  <a:ext cx="2019300" cy="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Connector 91"/>
                <p:cNvCxnSpPr/>
                <p:nvPr/>
              </p:nvCxnSpPr>
              <p:spPr>
                <a:xfrm>
                  <a:off x="2362200" y="3581400"/>
                  <a:ext cx="2019300" cy="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9" name="Group 19"/>
              <p:cNvGrpSpPr/>
              <p:nvPr/>
            </p:nvGrpSpPr>
            <p:grpSpPr>
              <a:xfrm>
                <a:off x="2362200" y="5676900"/>
                <a:ext cx="4038600" cy="0"/>
                <a:chOff x="2362200" y="3581400"/>
                <a:chExt cx="4038600" cy="0"/>
              </a:xfrm>
            </p:grpSpPr>
            <p:cxnSp>
              <p:nvCxnSpPr>
                <p:cNvPr id="89" name="Straight Connector 88"/>
                <p:cNvCxnSpPr/>
                <p:nvPr/>
              </p:nvCxnSpPr>
              <p:spPr>
                <a:xfrm>
                  <a:off x="4381500" y="3581400"/>
                  <a:ext cx="2019300" cy="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Connector 89"/>
                <p:cNvCxnSpPr/>
                <p:nvPr/>
              </p:nvCxnSpPr>
              <p:spPr>
                <a:xfrm>
                  <a:off x="2362200" y="3581400"/>
                  <a:ext cx="2019300" cy="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0" name="TextBox 79"/>
              <p:cNvSpPr txBox="1"/>
              <p:nvPr/>
            </p:nvSpPr>
            <p:spPr>
              <a:xfrm>
                <a:off x="2630270" y="32385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1001</a:t>
                </a:r>
              </a:p>
            </p:txBody>
          </p:sp>
          <p:sp>
            <p:nvSpPr>
              <p:cNvPr id="81" name="TextBox 80"/>
              <p:cNvSpPr txBox="1"/>
              <p:nvPr/>
            </p:nvSpPr>
            <p:spPr>
              <a:xfrm>
                <a:off x="4001870" y="32385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1000</a:t>
                </a:r>
              </a:p>
            </p:txBody>
          </p:sp>
          <p:sp>
            <p:nvSpPr>
              <p:cNvPr id="82" name="TextBox 81"/>
              <p:cNvSpPr txBox="1"/>
              <p:nvPr/>
            </p:nvSpPr>
            <p:spPr>
              <a:xfrm>
                <a:off x="5536165" y="32385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1010</a:t>
                </a:r>
              </a:p>
            </p:txBody>
          </p:sp>
          <p:sp>
            <p:nvSpPr>
              <p:cNvPr id="83" name="TextBox 82"/>
              <p:cNvSpPr txBox="1"/>
              <p:nvPr/>
            </p:nvSpPr>
            <p:spPr>
              <a:xfrm>
                <a:off x="4001869" y="46101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0000</a:t>
                </a:r>
              </a:p>
            </p:txBody>
          </p:sp>
          <p:sp>
            <p:nvSpPr>
              <p:cNvPr id="84" name="TextBox 83"/>
              <p:cNvSpPr txBox="1"/>
              <p:nvPr/>
            </p:nvSpPr>
            <p:spPr>
              <a:xfrm>
                <a:off x="2630270" y="46101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0001</a:t>
                </a:r>
              </a:p>
            </p:txBody>
          </p:sp>
          <p:sp>
            <p:nvSpPr>
              <p:cNvPr id="85" name="TextBox 84"/>
              <p:cNvSpPr txBox="1"/>
              <p:nvPr/>
            </p:nvSpPr>
            <p:spPr>
              <a:xfrm>
                <a:off x="5536165" y="46101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0010</a:t>
                </a:r>
              </a:p>
            </p:txBody>
          </p:sp>
          <p:sp>
            <p:nvSpPr>
              <p:cNvPr id="86" name="TextBox 85"/>
              <p:cNvSpPr txBox="1"/>
              <p:nvPr/>
            </p:nvSpPr>
            <p:spPr>
              <a:xfrm>
                <a:off x="2630270" y="5993368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0101</a:t>
                </a:r>
              </a:p>
            </p:txBody>
          </p:sp>
          <p:sp>
            <p:nvSpPr>
              <p:cNvPr id="87" name="TextBox 86"/>
              <p:cNvSpPr txBox="1"/>
              <p:nvPr/>
            </p:nvSpPr>
            <p:spPr>
              <a:xfrm>
                <a:off x="4001869" y="59817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0100</a:t>
                </a:r>
              </a:p>
            </p:txBody>
          </p:sp>
          <p:sp>
            <p:nvSpPr>
              <p:cNvPr id="88" name="TextBox 87"/>
              <p:cNvSpPr txBox="1"/>
              <p:nvPr/>
            </p:nvSpPr>
            <p:spPr>
              <a:xfrm>
                <a:off x="5536165" y="59817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0110</a:t>
                </a:r>
              </a:p>
            </p:txBody>
          </p:sp>
        </p:grpSp>
        <p:cxnSp>
          <p:nvCxnSpPr>
            <p:cNvPr id="71" name="Straight Connector 70"/>
            <p:cNvCxnSpPr/>
            <p:nvPr/>
          </p:nvCxnSpPr>
          <p:spPr>
            <a:xfrm flipV="1">
              <a:off x="3967171" y="3430906"/>
              <a:ext cx="3206496" cy="2011679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25" name="Slide Number Placeholder 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30</a:t>
            </a:fld>
            <a:endParaRPr lang="en-US"/>
          </a:p>
        </p:txBody>
      </p:sp>
      <p:sp>
        <p:nvSpPr>
          <p:cNvPr id="120" name="Oval 119"/>
          <p:cNvSpPr/>
          <p:nvPr/>
        </p:nvSpPr>
        <p:spPr>
          <a:xfrm>
            <a:off x="6677033" y="2868168"/>
            <a:ext cx="144391" cy="144391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TextBox 120"/>
          <p:cNvSpPr txBox="1"/>
          <p:nvPr/>
        </p:nvSpPr>
        <p:spPr>
          <a:xfrm>
            <a:off x="6659022" y="2514600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3686" y="-2314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6" name="Oval 35"/>
          <p:cNvSpPr/>
          <p:nvPr/>
        </p:nvSpPr>
        <p:spPr>
          <a:xfrm>
            <a:off x="3488825" y="4864608"/>
            <a:ext cx="144391" cy="144391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3534822" y="4888468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547494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Cohen-Sutherland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Intersect to find 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69" name="Group 46"/>
          <p:cNvGrpSpPr/>
          <p:nvPr/>
        </p:nvGrpSpPr>
        <p:grpSpPr>
          <a:xfrm>
            <a:off x="2764774" y="2926081"/>
            <a:ext cx="3989594" cy="2412951"/>
            <a:chOff x="3184073" y="3430906"/>
            <a:chExt cx="3989594" cy="2412951"/>
          </a:xfrm>
        </p:grpSpPr>
        <p:grpSp>
          <p:nvGrpSpPr>
            <p:cNvPr id="70" name="Group 40"/>
            <p:cNvGrpSpPr/>
            <p:nvPr/>
          </p:nvGrpSpPr>
          <p:grpSpPr>
            <a:xfrm>
              <a:off x="3184073" y="3476625"/>
              <a:ext cx="2819401" cy="2367232"/>
              <a:chOff x="2362200" y="3238500"/>
              <a:chExt cx="4038600" cy="3390900"/>
            </a:xfrm>
          </p:grpSpPr>
          <p:sp>
            <p:nvSpPr>
              <p:cNvPr id="75" name="Rectangle 74"/>
              <p:cNvSpPr/>
              <p:nvPr/>
            </p:nvSpPr>
            <p:spPr>
              <a:xfrm>
                <a:off x="3505200" y="3924300"/>
                <a:ext cx="1752600" cy="17526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grpSp>
            <p:nvGrpSpPr>
              <p:cNvPr id="76" name="Group 75"/>
              <p:cNvGrpSpPr/>
              <p:nvPr/>
            </p:nvGrpSpPr>
            <p:grpSpPr>
              <a:xfrm>
                <a:off x="3505200" y="3352800"/>
                <a:ext cx="0" cy="3276600"/>
                <a:chOff x="3505200" y="3009900"/>
                <a:chExt cx="0" cy="3276600"/>
              </a:xfrm>
            </p:grpSpPr>
            <p:cxnSp>
              <p:nvCxnSpPr>
                <p:cNvPr id="95" name="Straight Connector 94"/>
                <p:cNvCxnSpPr>
                  <a:stCxn id="75" idx="1"/>
                </p:cNvCxnSpPr>
                <p:nvPr/>
              </p:nvCxnSpPr>
              <p:spPr>
                <a:xfrm flipV="1">
                  <a:off x="3505200" y="3009900"/>
                  <a:ext cx="0" cy="179070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Straight Connector 95"/>
                <p:cNvCxnSpPr/>
                <p:nvPr/>
              </p:nvCxnSpPr>
              <p:spPr>
                <a:xfrm flipV="1">
                  <a:off x="3505200" y="4495800"/>
                  <a:ext cx="0" cy="179070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7" name="Group 76"/>
              <p:cNvGrpSpPr/>
              <p:nvPr/>
            </p:nvGrpSpPr>
            <p:grpSpPr>
              <a:xfrm>
                <a:off x="5257800" y="3352800"/>
                <a:ext cx="76200" cy="3276600"/>
                <a:chOff x="3505200" y="2667000"/>
                <a:chExt cx="0" cy="3619500"/>
              </a:xfrm>
            </p:grpSpPr>
            <p:cxnSp>
              <p:nvCxnSpPr>
                <p:cNvPr id="93" name="Straight Connector 92"/>
                <p:cNvCxnSpPr/>
                <p:nvPr/>
              </p:nvCxnSpPr>
              <p:spPr>
                <a:xfrm flipV="1">
                  <a:off x="3505200" y="2667000"/>
                  <a:ext cx="0" cy="179070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Connector 93"/>
                <p:cNvCxnSpPr/>
                <p:nvPr/>
              </p:nvCxnSpPr>
              <p:spPr>
                <a:xfrm flipV="1">
                  <a:off x="3505200" y="4495800"/>
                  <a:ext cx="0" cy="179070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8" name="Group 18"/>
              <p:cNvGrpSpPr/>
              <p:nvPr/>
            </p:nvGrpSpPr>
            <p:grpSpPr>
              <a:xfrm>
                <a:off x="2362200" y="3924300"/>
                <a:ext cx="4038600" cy="0"/>
                <a:chOff x="2362200" y="3581400"/>
                <a:chExt cx="4038600" cy="0"/>
              </a:xfrm>
            </p:grpSpPr>
            <p:cxnSp>
              <p:nvCxnSpPr>
                <p:cNvPr id="91" name="Straight Connector 90"/>
                <p:cNvCxnSpPr/>
                <p:nvPr/>
              </p:nvCxnSpPr>
              <p:spPr>
                <a:xfrm>
                  <a:off x="4381500" y="3581400"/>
                  <a:ext cx="2019300" cy="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Connector 91"/>
                <p:cNvCxnSpPr/>
                <p:nvPr/>
              </p:nvCxnSpPr>
              <p:spPr>
                <a:xfrm>
                  <a:off x="2362200" y="3581400"/>
                  <a:ext cx="2019300" cy="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9" name="Group 19"/>
              <p:cNvGrpSpPr/>
              <p:nvPr/>
            </p:nvGrpSpPr>
            <p:grpSpPr>
              <a:xfrm>
                <a:off x="2362200" y="5676900"/>
                <a:ext cx="4038600" cy="0"/>
                <a:chOff x="2362200" y="3581400"/>
                <a:chExt cx="4038600" cy="0"/>
              </a:xfrm>
            </p:grpSpPr>
            <p:cxnSp>
              <p:nvCxnSpPr>
                <p:cNvPr id="89" name="Straight Connector 88"/>
                <p:cNvCxnSpPr/>
                <p:nvPr/>
              </p:nvCxnSpPr>
              <p:spPr>
                <a:xfrm>
                  <a:off x="4381500" y="3581400"/>
                  <a:ext cx="2019300" cy="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Connector 89"/>
                <p:cNvCxnSpPr/>
                <p:nvPr/>
              </p:nvCxnSpPr>
              <p:spPr>
                <a:xfrm>
                  <a:off x="2362200" y="3581400"/>
                  <a:ext cx="2019300" cy="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0" name="TextBox 79"/>
              <p:cNvSpPr txBox="1"/>
              <p:nvPr/>
            </p:nvSpPr>
            <p:spPr>
              <a:xfrm>
                <a:off x="2630270" y="32385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1001</a:t>
                </a:r>
              </a:p>
            </p:txBody>
          </p:sp>
          <p:sp>
            <p:nvSpPr>
              <p:cNvPr id="81" name="TextBox 80"/>
              <p:cNvSpPr txBox="1"/>
              <p:nvPr/>
            </p:nvSpPr>
            <p:spPr>
              <a:xfrm>
                <a:off x="4001870" y="32385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1000</a:t>
                </a:r>
              </a:p>
            </p:txBody>
          </p:sp>
          <p:sp>
            <p:nvSpPr>
              <p:cNvPr id="82" name="TextBox 81"/>
              <p:cNvSpPr txBox="1"/>
              <p:nvPr/>
            </p:nvSpPr>
            <p:spPr>
              <a:xfrm>
                <a:off x="5536165" y="32385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1010</a:t>
                </a:r>
              </a:p>
            </p:txBody>
          </p:sp>
          <p:sp>
            <p:nvSpPr>
              <p:cNvPr id="83" name="TextBox 82"/>
              <p:cNvSpPr txBox="1"/>
              <p:nvPr/>
            </p:nvSpPr>
            <p:spPr>
              <a:xfrm>
                <a:off x="4001869" y="46101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0000</a:t>
                </a:r>
              </a:p>
            </p:txBody>
          </p:sp>
          <p:sp>
            <p:nvSpPr>
              <p:cNvPr id="84" name="TextBox 83"/>
              <p:cNvSpPr txBox="1"/>
              <p:nvPr/>
            </p:nvSpPr>
            <p:spPr>
              <a:xfrm>
                <a:off x="2630270" y="46101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0001</a:t>
                </a:r>
              </a:p>
            </p:txBody>
          </p:sp>
          <p:sp>
            <p:nvSpPr>
              <p:cNvPr id="85" name="TextBox 84"/>
              <p:cNvSpPr txBox="1"/>
              <p:nvPr/>
            </p:nvSpPr>
            <p:spPr>
              <a:xfrm>
                <a:off x="5536165" y="46101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0010</a:t>
                </a:r>
              </a:p>
            </p:txBody>
          </p:sp>
          <p:sp>
            <p:nvSpPr>
              <p:cNvPr id="86" name="TextBox 85"/>
              <p:cNvSpPr txBox="1"/>
              <p:nvPr/>
            </p:nvSpPr>
            <p:spPr>
              <a:xfrm>
                <a:off x="2630270" y="5993368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0101</a:t>
                </a:r>
              </a:p>
            </p:txBody>
          </p:sp>
          <p:sp>
            <p:nvSpPr>
              <p:cNvPr id="87" name="TextBox 86"/>
              <p:cNvSpPr txBox="1"/>
              <p:nvPr/>
            </p:nvSpPr>
            <p:spPr>
              <a:xfrm>
                <a:off x="4001869" y="59817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0100</a:t>
                </a:r>
              </a:p>
            </p:txBody>
          </p:sp>
          <p:sp>
            <p:nvSpPr>
              <p:cNvPr id="88" name="TextBox 87"/>
              <p:cNvSpPr txBox="1"/>
              <p:nvPr/>
            </p:nvSpPr>
            <p:spPr>
              <a:xfrm>
                <a:off x="5536165" y="59817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0110</a:t>
                </a:r>
              </a:p>
            </p:txBody>
          </p:sp>
        </p:grpSp>
        <p:cxnSp>
          <p:nvCxnSpPr>
            <p:cNvPr id="71" name="Straight Connector 70"/>
            <p:cNvCxnSpPr/>
            <p:nvPr/>
          </p:nvCxnSpPr>
          <p:spPr>
            <a:xfrm flipV="1">
              <a:off x="3967171" y="3430906"/>
              <a:ext cx="3206496" cy="2011679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25" name="Slide Number Placeholder 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31</a:t>
            </a:fld>
            <a:endParaRPr lang="en-US"/>
          </a:p>
        </p:txBody>
      </p:sp>
      <p:sp>
        <p:nvSpPr>
          <p:cNvPr id="120" name="Oval 119"/>
          <p:cNvSpPr/>
          <p:nvPr/>
        </p:nvSpPr>
        <p:spPr>
          <a:xfrm>
            <a:off x="6677033" y="2868168"/>
            <a:ext cx="144391" cy="144391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TextBox 120"/>
          <p:cNvSpPr txBox="1"/>
          <p:nvPr/>
        </p:nvSpPr>
        <p:spPr>
          <a:xfrm>
            <a:off x="6659022" y="2514600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3686" y="-2314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6" name="Oval 35"/>
          <p:cNvSpPr/>
          <p:nvPr/>
        </p:nvSpPr>
        <p:spPr>
          <a:xfrm>
            <a:off x="3488825" y="4864608"/>
            <a:ext cx="144391" cy="144391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3534822" y="4876800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92022" y="4623292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</a:p>
        </p:txBody>
      </p:sp>
      <p:sp>
        <p:nvSpPr>
          <p:cNvPr id="39" name="Oval 38"/>
          <p:cNvSpPr/>
          <p:nvPr/>
        </p:nvSpPr>
        <p:spPr>
          <a:xfrm>
            <a:off x="3916865" y="4598772"/>
            <a:ext cx="144391" cy="144391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9196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Cohen-Sutherland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Discard C-D, D is your new endpoint</a:t>
            </a:r>
          </a:p>
          <a:p>
            <a:r>
              <a:rPr lang="en-US" dirty="0"/>
              <a:t>Its </a:t>
            </a:r>
            <a:r>
              <a:rPr lang="en-US" dirty="0" err="1"/>
              <a:t>outcode</a:t>
            </a:r>
            <a:r>
              <a:rPr lang="en-US" dirty="0"/>
              <a:t> is 0000</a:t>
            </a:r>
          </a:p>
          <a:p>
            <a:r>
              <a:rPr lang="en-US" dirty="0"/>
              <a:t>Cannot trivially accept or reject D-B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69" name="Group 46"/>
          <p:cNvGrpSpPr/>
          <p:nvPr/>
        </p:nvGrpSpPr>
        <p:grpSpPr>
          <a:xfrm>
            <a:off x="2764774" y="2926082"/>
            <a:ext cx="3989594" cy="2412950"/>
            <a:chOff x="3184073" y="3430907"/>
            <a:chExt cx="3989594" cy="2412950"/>
          </a:xfrm>
        </p:grpSpPr>
        <p:grpSp>
          <p:nvGrpSpPr>
            <p:cNvPr id="70" name="Group 40"/>
            <p:cNvGrpSpPr/>
            <p:nvPr/>
          </p:nvGrpSpPr>
          <p:grpSpPr>
            <a:xfrm>
              <a:off x="3184073" y="3476625"/>
              <a:ext cx="2819401" cy="2367232"/>
              <a:chOff x="2362200" y="3238500"/>
              <a:chExt cx="4038600" cy="3390900"/>
            </a:xfrm>
          </p:grpSpPr>
          <p:sp>
            <p:nvSpPr>
              <p:cNvPr id="75" name="Rectangle 74"/>
              <p:cNvSpPr/>
              <p:nvPr/>
            </p:nvSpPr>
            <p:spPr>
              <a:xfrm>
                <a:off x="3505200" y="3924300"/>
                <a:ext cx="1752600" cy="17526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grpSp>
            <p:nvGrpSpPr>
              <p:cNvPr id="76" name="Group 75"/>
              <p:cNvGrpSpPr/>
              <p:nvPr/>
            </p:nvGrpSpPr>
            <p:grpSpPr>
              <a:xfrm>
                <a:off x="3505200" y="3352800"/>
                <a:ext cx="0" cy="3276600"/>
                <a:chOff x="3505200" y="3009900"/>
                <a:chExt cx="0" cy="3276600"/>
              </a:xfrm>
            </p:grpSpPr>
            <p:cxnSp>
              <p:nvCxnSpPr>
                <p:cNvPr id="95" name="Straight Connector 94"/>
                <p:cNvCxnSpPr>
                  <a:stCxn id="75" idx="1"/>
                </p:cNvCxnSpPr>
                <p:nvPr/>
              </p:nvCxnSpPr>
              <p:spPr>
                <a:xfrm flipV="1">
                  <a:off x="3505200" y="3009900"/>
                  <a:ext cx="0" cy="179070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Straight Connector 95"/>
                <p:cNvCxnSpPr/>
                <p:nvPr/>
              </p:nvCxnSpPr>
              <p:spPr>
                <a:xfrm flipV="1">
                  <a:off x="3505200" y="4495800"/>
                  <a:ext cx="0" cy="179070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7" name="Group 76"/>
              <p:cNvGrpSpPr/>
              <p:nvPr/>
            </p:nvGrpSpPr>
            <p:grpSpPr>
              <a:xfrm>
                <a:off x="5257800" y="3352800"/>
                <a:ext cx="76200" cy="3276600"/>
                <a:chOff x="3505200" y="2667000"/>
                <a:chExt cx="0" cy="3619500"/>
              </a:xfrm>
            </p:grpSpPr>
            <p:cxnSp>
              <p:nvCxnSpPr>
                <p:cNvPr id="93" name="Straight Connector 92"/>
                <p:cNvCxnSpPr/>
                <p:nvPr/>
              </p:nvCxnSpPr>
              <p:spPr>
                <a:xfrm flipV="1">
                  <a:off x="3505200" y="2667000"/>
                  <a:ext cx="0" cy="179070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Connector 93"/>
                <p:cNvCxnSpPr/>
                <p:nvPr/>
              </p:nvCxnSpPr>
              <p:spPr>
                <a:xfrm flipV="1">
                  <a:off x="3505200" y="4495800"/>
                  <a:ext cx="0" cy="179070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8" name="Group 18"/>
              <p:cNvGrpSpPr/>
              <p:nvPr/>
            </p:nvGrpSpPr>
            <p:grpSpPr>
              <a:xfrm>
                <a:off x="2362200" y="3924300"/>
                <a:ext cx="4038600" cy="0"/>
                <a:chOff x="2362200" y="3581400"/>
                <a:chExt cx="4038600" cy="0"/>
              </a:xfrm>
            </p:grpSpPr>
            <p:cxnSp>
              <p:nvCxnSpPr>
                <p:cNvPr id="91" name="Straight Connector 90"/>
                <p:cNvCxnSpPr/>
                <p:nvPr/>
              </p:nvCxnSpPr>
              <p:spPr>
                <a:xfrm>
                  <a:off x="4381500" y="3581400"/>
                  <a:ext cx="2019300" cy="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Connector 91"/>
                <p:cNvCxnSpPr/>
                <p:nvPr/>
              </p:nvCxnSpPr>
              <p:spPr>
                <a:xfrm>
                  <a:off x="2362200" y="3581400"/>
                  <a:ext cx="2019300" cy="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9" name="Group 19"/>
              <p:cNvGrpSpPr/>
              <p:nvPr/>
            </p:nvGrpSpPr>
            <p:grpSpPr>
              <a:xfrm>
                <a:off x="2362200" y="5676900"/>
                <a:ext cx="4038600" cy="0"/>
                <a:chOff x="2362200" y="3581400"/>
                <a:chExt cx="4038600" cy="0"/>
              </a:xfrm>
            </p:grpSpPr>
            <p:cxnSp>
              <p:nvCxnSpPr>
                <p:cNvPr id="89" name="Straight Connector 88"/>
                <p:cNvCxnSpPr/>
                <p:nvPr/>
              </p:nvCxnSpPr>
              <p:spPr>
                <a:xfrm>
                  <a:off x="4381500" y="3581400"/>
                  <a:ext cx="2019300" cy="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Connector 89"/>
                <p:cNvCxnSpPr/>
                <p:nvPr/>
              </p:nvCxnSpPr>
              <p:spPr>
                <a:xfrm>
                  <a:off x="2362200" y="3581400"/>
                  <a:ext cx="2019300" cy="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0" name="TextBox 79"/>
              <p:cNvSpPr txBox="1"/>
              <p:nvPr/>
            </p:nvSpPr>
            <p:spPr>
              <a:xfrm>
                <a:off x="2630270" y="32385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1001</a:t>
                </a:r>
              </a:p>
            </p:txBody>
          </p:sp>
          <p:sp>
            <p:nvSpPr>
              <p:cNvPr id="81" name="TextBox 80"/>
              <p:cNvSpPr txBox="1"/>
              <p:nvPr/>
            </p:nvSpPr>
            <p:spPr>
              <a:xfrm>
                <a:off x="4001870" y="32385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1000</a:t>
                </a:r>
              </a:p>
            </p:txBody>
          </p:sp>
          <p:sp>
            <p:nvSpPr>
              <p:cNvPr id="82" name="TextBox 81"/>
              <p:cNvSpPr txBox="1"/>
              <p:nvPr/>
            </p:nvSpPr>
            <p:spPr>
              <a:xfrm>
                <a:off x="5536165" y="32385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1010</a:t>
                </a:r>
              </a:p>
            </p:txBody>
          </p:sp>
          <p:sp>
            <p:nvSpPr>
              <p:cNvPr id="83" name="TextBox 82"/>
              <p:cNvSpPr txBox="1"/>
              <p:nvPr/>
            </p:nvSpPr>
            <p:spPr>
              <a:xfrm>
                <a:off x="4001869" y="46101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0000</a:t>
                </a:r>
              </a:p>
            </p:txBody>
          </p:sp>
          <p:sp>
            <p:nvSpPr>
              <p:cNvPr id="84" name="TextBox 83"/>
              <p:cNvSpPr txBox="1"/>
              <p:nvPr/>
            </p:nvSpPr>
            <p:spPr>
              <a:xfrm>
                <a:off x="2630270" y="46101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0001</a:t>
                </a:r>
              </a:p>
            </p:txBody>
          </p:sp>
          <p:sp>
            <p:nvSpPr>
              <p:cNvPr id="85" name="TextBox 84"/>
              <p:cNvSpPr txBox="1"/>
              <p:nvPr/>
            </p:nvSpPr>
            <p:spPr>
              <a:xfrm>
                <a:off x="5536165" y="46101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0010</a:t>
                </a:r>
              </a:p>
            </p:txBody>
          </p:sp>
          <p:sp>
            <p:nvSpPr>
              <p:cNvPr id="86" name="TextBox 85"/>
              <p:cNvSpPr txBox="1"/>
              <p:nvPr/>
            </p:nvSpPr>
            <p:spPr>
              <a:xfrm>
                <a:off x="2630270" y="5993368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0101</a:t>
                </a:r>
              </a:p>
            </p:txBody>
          </p:sp>
          <p:sp>
            <p:nvSpPr>
              <p:cNvPr id="87" name="TextBox 86"/>
              <p:cNvSpPr txBox="1"/>
              <p:nvPr/>
            </p:nvSpPr>
            <p:spPr>
              <a:xfrm>
                <a:off x="4001869" y="59817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0100</a:t>
                </a:r>
              </a:p>
            </p:txBody>
          </p:sp>
          <p:sp>
            <p:nvSpPr>
              <p:cNvPr id="88" name="TextBox 87"/>
              <p:cNvSpPr txBox="1"/>
              <p:nvPr/>
            </p:nvSpPr>
            <p:spPr>
              <a:xfrm>
                <a:off x="5536165" y="59817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0110</a:t>
                </a:r>
              </a:p>
            </p:txBody>
          </p:sp>
        </p:grpSp>
        <p:cxnSp>
          <p:nvCxnSpPr>
            <p:cNvPr id="71" name="Straight Connector 70"/>
            <p:cNvCxnSpPr>
              <a:stCxn id="39" idx="7"/>
            </p:cNvCxnSpPr>
            <p:nvPr/>
          </p:nvCxnSpPr>
          <p:spPr>
            <a:xfrm flipV="1">
              <a:off x="4459409" y="3430907"/>
              <a:ext cx="2714258" cy="1693836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25" name="Slide Number Placeholder 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32</a:t>
            </a:fld>
            <a:endParaRPr lang="en-US"/>
          </a:p>
        </p:txBody>
      </p:sp>
      <p:sp>
        <p:nvSpPr>
          <p:cNvPr id="120" name="Oval 119"/>
          <p:cNvSpPr/>
          <p:nvPr/>
        </p:nvSpPr>
        <p:spPr>
          <a:xfrm>
            <a:off x="6677033" y="2868168"/>
            <a:ext cx="144391" cy="144391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TextBox 120"/>
          <p:cNvSpPr txBox="1"/>
          <p:nvPr/>
        </p:nvSpPr>
        <p:spPr>
          <a:xfrm>
            <a:off x="6659022" y="2514600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3686" y="-2314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3992022" y="4623292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</a:p>
        </p:txBody>
      </p:sp>
      <p:sp>
        <p:nvSpPr>
          <p:cNvPr id="39" name="Oval 38"/>
          <p:cNvSpPr/>
          <p:nvPr/>
        </p:nvSpPr>
        <p:spPr>
          <a:xfrm>
            <a:off x="3916865" y="4598772"/>
            <a:ext cx="144391" cy="144391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206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Cohen-Sutherland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pick B as your only outside point</a:t>
            </a:r>
          </a:p>
          <a:p>
            <a:r>
              <a:rPr lang="en-US" dirty="0"/>
              <a:t>Pick an edge that is outside of, 10</a:t>
            </a:r>
            <a:r>
              <a:rPr lang="en-US" b="1" dirty="0"/>
              <a:t>1</a:t>
            </a:r>
            <a:r>
              <a:rPr lang="en-US" dirty="0"/>
              <a:t>0 =&gt; right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69" name="Group 46"/>
          <p:cNvGrpSpPr/>
          <p:nvPr/>
        </p:nvGrpSpPr>
        <p:grpSpPr>
          <a:xfrm>
            <a:off x="2764774" y="2926082"/>
            <a:ext cx="3989594" cy="2412950"/>
            <a:chOff x="3184073" y="3430907"/>
            <a:chExt cx="3989594" cy="2412950"/>
          </a:xfrm>
        </p:grpSpPr>
        <p:grpSp>
          <p:nvGrpSpPr>
            <p:cNvPr id="70" name="Group 40"/>
            <p:cNvGrpSpPr/>
            <p:nvPr/>
          </p:nvGrpSpPr>
          <p:grpSpPr>
            <a:xfrm>
              <a:off x="3184073" y="3476625"/>
              <a:ext cx="2819401" cy="2367232"/>
              <a:chOff x="2362200" y="3238500"/>
              <a:chExt cx="4038600" cy="3390900"/>
            </a:xfrm>
          </p:grpSpPr>
          <p:sp>
            <p:nvSpPr>
              <p:cNvPr id="75" name="Rectangle 74"/>
              <p:cNvSpPr/>
              <p:nvPr/>
            </p:nvSpPr>
            <p:spPr>
              <a:xfrm>
                <a:off x="3505200" y="3924300"/>
                <a:ext cx="1752600" cy="17526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grpSp>
            <p:nvGrpSpPr>
              <p:cNvPr id="76" name="Group 75"/>
              <p:cNvGrpSpPr/>
              <p:nvPr/>
            </p:nvGrpSpPr>
            <p:grpSpPr>
              <a:xfrm>
                <a:off x="3505200" y="3352800"/>
                <a:ext cx="0" cy="3276600"/>
                <a:chOff x="3505200" y="3009900"/>
                <a:chExt cx="0" cy="3276600"/>
              </a:xfrm>
            </p:grpSpPr>
            <p:cxnSp>
              <p:nvCxnSpPr>
                <p:cNvPr id="95" name="Straight Connector 94"/>
                <p:cNvCxnSpPr>
                  <a:stCxn id="75" idx="1"/>
                </p:cNvCxnSpPr>
                <p:nvPr/>
              </p:nvCxnSpPr>
              <p:spPr>
                <a:xfrm flipV="1">
                  <a:off x="3505200" y="3009900"/>
                  <a:ext cx="0" cy="179070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Straight Connector 95"/>
                <p:cNvCxnSpPr/>
                <p:nvPr/>
              </p:nvCxnSpPr>
              <p:spPr>
                <a:xfrm flipV="1">
                  <a:off x="3505200" y="4495800"/>
                  <a:ext cx="0" cy="179070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7" name="Group 76"/>
              <p:cNvGrpSpPr/>
              <p:nvPr/>
            </p:nvGrpSpPr>
            <p:grpSpPr>
              <a:xfrm>
                <a:off x="5257800" y="3352800"/>
                <a:ext cx="76200" cy="3276600"/>
                <a:chOff x="3505200" y="2667000"/>
                <a:chExt cx="0" cy="3619500"/>
              </a:xfrm>
            </p:grpSpPr>
            <p:cxnSp>
              <p:nvCxnSpPr>
                <p:cNvPr id="93" name="Straight Connector 92"/>
                <p:cNvCxnSpPr/>
                <p:nvPr/>
              </p:nvCxnSpPr>
              <p:spPr>
                <a:xfrm flipV="1">
                  <a:off x="3505200" y="2667000"/>
                  <a:ext cx="0" cy="179070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Connector 93"/>
                <p:cNvCxnSpPr/>
                <p:nvPr/>
              </p:nvCxnSpPr>
              <p:spPr>
                <a:xfrm flipV="1">
                  <a:off x="3505200" y="4495800"/>
                  <a:ext cx="0" cy="179070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8" name="Group 18"/>
              <p:cNvGrpSpPr/>
              <p:nvPr/>
            </p:nvGrpSpPr>
            <p:grpSpPr>
              <a:xfrm>
                <a:off x="2362200" y="3924300"/>
                <a:ext cx="4038600" cy="0"/>
                <a:chOff x="2362200" y="3581400"/>
                <a:chExt cx="4038600" cy="0"/>
              </a:xfrm>
            </p:grpSpPr>
            <p:cxnSp>
              <p:nvCxnSpPr>
                <p:cNvPr id="91" name="Straight Connector 90"/>
                <p:cNvCxnSpPr/>
                <p:nvPr/>
              </p:nvCxnSpPr>
              <p:spPr>
                <a:xfrm>
                  <a:off x="4381500" y="3581400"/>
                  <a:ext cx="2019300" cy="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Connector 91"/>
                <p:cNvCxnSpPr/>
                <p:nvPr/>
              </p:nvCxnSpPr>
              <p:spPr>
                <a:xfrm>
                  <a:off x="2362200" y="3581400"/>
                  <a:ext cx="2019300" cy="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9" name="Group 19"/>
              <p:cNvGrpSpPr/>
              <p:nvPr/>
            </p:nvGrpSpPr>
            <p:grpSpPr>
              <a:xfrm>
                <a:off x="2362200" y="5676900"/>
                <a:ext cx="4038600" cy="0"/>
                <a:chOff x="2362200" y="3581400"/>
                <a:chExt cx="4038600" cy="0"/>
              </a:xfrm>
            </p:grpSpPr>
            <p:cxnSp>
              <p:nvCxnSpPr>
                <p:cNvPr id="89" name="Straight Connector 88"/>
                <p:cNvCxnSpPr/>
                <p:nvPr/>
              </p:nvCxnSpPr>
              <p:spPr>
                <a:xfrm>
                  <a:off x="4381500" y="3581400"/>
                  <a:ext cx="2019300" cy="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Connector 89"/>
                <p:cNvCxnSpPr/>
                <p:nvPr/>
              </p:nvCxnSpPr>
              <p:spPr>
                <a:xfrm>
                  <a:off x="2362200" y="3581400"/>
                  <a:ext cx="2019300" cy="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0" name="TextBox 79"/>
              <p:cNvSpPr txBox="1"/>
              <p:nvPr/>
            </p:nvSpPr>
            <p:spPr>
              <a:xfrm>
                <a:off x="2630270" y="32385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1001</a:t>
                </a:r>
              </a:p>
            </p:txBody>
          </p:sp>
          <p:sp>
            <p:nvSpPr>
              <p:cNvPr id="81" name="TextBox 80"/>
              <p:cNvSpPr txBox="1"/>
              <p:nvPr/>
            </p:nvSpPr>
            <p:spPr>
              <a:xfrm>
                <a:off x="4001870" y="32385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1000</a:t>
                </a:r>
              </a:p>
            </p:txBody>
          </p:sp>
          <p:sp>
            <p:nvSpPr>
              <p:cNvPr id="82" name="TextBox 81"/>
              <p:cNvSpPr txBox="1"/>
              <p:nvPr/>
            </p:nvSpPr>
            <p:spPr>
              <a:xfrm>
                <a:off x="5536165" y="32385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1010</a:t>
                </a:r>
              </a:p>
            </p:txBody>
          </p:sp>
          <p:sp>
            <p:nvSpPr>
              <p:cNvPr id="83" name="TextBox 82"/>
              <p:cNvSpPr txBox="1"/>
              <p:nvPr/>
            </p:nvSpPr>
            <p:spPr>
              <a:xfrm>
                <a:off x="4001869" y="46101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0000</a:t>
                </a:r>
              </a:p>
            </p:txBody>
          </p:sp>
          <p:sp>
            <p:nvSpPr>
              <p:cNvPr id="84" name="TextBox 83"/>
              <p:cNvSpPr txBox="1"/>
              <p:nvPr/>
            </p:nvSpPr>
            <p:spPr>
              <a:xfrm>
                <a:off x="2630270" y="46101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0001</a:t>
                </a:r>
              </a:p>
            </p:txBody>
          </p:sp>
          <p:sp>
            <p:nvSpPr>
              <p:cNvPr id="85" name="TextBox 84"/>
              <p:cNvSpPr txBox="1"/>
              <p:nvPr/>
            </p:nvSpPr>
            <p:spPr>
              <a:xfrm>
                <a:off x="5536165" y="46101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0010</a:t>
                </a:r>
              </a:p>
            </p:txBody>
          </p:sp>
          <p:sp>
            <p:nvSpPr>
              <p:cNvPr id="86" name="TextBox 85"/>
              <p:cNvSpPr txBox="1"/>
              <p:nvPr/>
            </p:nvSpPr>
            <p:spPr>
              <a:xfrm>
                <a:off x="2630270" y="5993368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0101</a:t>
                </a:r>
              </a:p>
            </p:txBody>
          </p:sp>
          <p:sp>
            <p:nvSpPr>
              <p:cNvPr id="87" name="TextBox 86"/>
              <p:cNvSpPr txBox="1"/>
              <p:nvPr/>
            </p:nvSpPr>
            <p:spPr>
              <a:xfrm>
                <a:off x="4001869" y="59817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0100</a:t>
                </a:r>
              </a:p>
            </p:txBody>
          </p:sp>
          <p:sp>
            <p:nvSpPr>
              <p:cNvPr id="88" name="TextBox 87"/>
              <p:cNvSpPr txBox="1"/>
              <p:nvPr/>
            </p:nvSpPr>
            <p:spPr>
              <a:xfrm>
                <a:off x="5536165" y="59817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0110</a:t>
                </a:r>
              </a:p>
            </p:txBody>
          </p:sp>
        </p:grpSp>
        <p:cxnSp>
          <p:nvCxnSpPr>
            <p:cNvPr id="71" name="Straight Connector 70"/>
            <p:cNvCxnSpPr>
              <a:stCxn id="39" idx="7"/>
            </p:cNvCxnSpPr>
            <p:nvPr/>
          </p:nvCxnSpPr>
          <p:spPr>
            <a:xfrm flipV="1">
              <a:off x="4459409" y="3430907"/>
              <a:ext cx="2714258" cy="1693836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25" name="Slide Number Placeholder 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33</a:t>
            </a:fld>
            <a:endParaRPr lang="en-US"/>
          </a:p>
        </p:txBody>
      </p:sp>
      <p:sp>
        <p:nvSpPr>
          <p:cNvPr id="120" name="Oval 119"/>
          <p:cNvSpPr/>
          <p:nvPr/>
        </p:nvSpPr>
        <p:spPr>
          <a:xfrm>
            <a:off x="6677033" y="2868168"/>
            <a:ext cx="144391" cy="144391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TextBox 120"/>
          <p:cNvSpPr txBox="1"/>
          <p:nvPr/>
        </p:nvSpPr>
        <p:spPr>
          <a:xfrm>
            <a:off x="6659022" y="2514600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3686" y="-2314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3992022" y="4623292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</a:p>
        </p:txBody>
      </p:sp>
      <p:sp>
        <p:nvSpPr>
          <p:cNvPr id="39" name="Oval 38"/>
          <p:cNvSpPr/>
          <p:nvPr/>
        </p:nvSpPr>
        <p:spPr>
          <a:xfrm>
            <a:off x="3916865" y="4598772"/>
            <a:ext cx="144391" cy="144391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3315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Cohen-Sutherland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Intersect to find E</a:t>
            </a:r>
          </a:p>
          <a:p>
            <a:r>
              <a:rPr lang="en-US" dirty="0"/>
              <a:t>Discard E-B, E is your new endpoint</a:t>
            </a:r>
          </a:p>
          <a:p>
            <a:r>
              <a:rPr lang="en-US" dirty="0"/>
              <a:t>E’s </a:t>
            </a:r>
            <a:r>
              <a:rPr lang="en-US" dirty="0" err="1"/>
              <a:t>outcode</a:t>
            </a:r>
            <a:r>
              <a:rPr lang="en-US" dirty="0"/>
              <a:t> is 0000</a:t>
            </a:r>
          </a:p>
          <a:p>
            <a:r>
              <a:rPr lang="en-US" dirty="0"/>
              <a:t>We can now trivially accept D-E as our clipped line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69" name="Group 46"/>
          <p:cNvGrpSpPr/>
          <p:nvPr/>
        </p:nvGrpSpPr>
        <p:grpSpPr>
          <a:xfrm>
            <a:off x="2764774" y="3652568"/>
            <a:ext cx="2819401" cy="2367232"/>
            <a:chOff x="3184073" y="3476625"/>
            <a:chExt cx="2819401" cy="2367232"/>
          </a:xfrm>
        </p:grpSpPr>
        <p:grpSp>
          <p:nvGrpSpPr>
            <p:cNvPr id="70" name="Group 40"/>
            <p:cNvGrpSpPr/>
            <p:nvPr/>
          </p:nvGrpSpPr>
          <p:grpSpPr>
            <a:xfrm>
              <a:off x="3184073" y="3476625"/>
              <a:ext cx="2819401" cy="2367232"/>
              <a:chOff x="2362200" y="3238500"/>
              <a:chExt cx="4038600" cy="3390900"/>
            </a:xfrm>
          </p:grpSpPr>
          <p:sp>
            <p:nvSpPr>
              <p:cNvPr id="75" name="Rectangle 74"/>
              <p:cNvSpPr/>
              <p:nvPr/>
            </p:nvSpPr>
            <p:spPr>
              <a:xfrm>
                <a:off x="3505200" y="3924300"/>
                <a:ext cx="1752600" cy="17526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grpSp>
            <p:nvGrpSpPr>
              <p:cNvPr id="76" name="Group 75"/>
              <p:cNvGrpSpPr/>
              <p:nvPr/>
            </p:nvGrpSpPr>
            <p:grpSpPr>
              <a:xfrm>
                <a:off x="3505200" y="3352800"/>
                <a:ext cx="0" cy="3276600"/>
                <a:chOff x="3505200" y="3009900"/>
                <a:chExt cx="0" cy="3276600"/>
              </a:xfrm>
            </p:grpSpPr>
            <p:cxnSp>
              <p:nvCxnSpPr>
                <p:cNvPr id="95" name="Straight Connector 94"/>
                <p:cNvCxnSpPr>
                  <a:stCxn id="75" idx="1"/>
                </p:cNvCxnSpPr>
                <p:nvPr/>
              </p:nvCxnSpPr>
              <p:spPr>
                <a:xfrm flipV="1">
                  <a:off x="3505200" y="3009900"/>
                  <a:ext cx="0" cy="179070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Straight Connector 95"/>
                <p:cNvCxnSpPr/>
                <p:nvPr/>
              </p:nvCxnSpPr>
              <p:spPr>
                <a:xfrm flipV="1">
                  <a:off x="3505200" y="4495800"/>
                  <a:ext cx="0" cy="179070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7" name="Group 76"/>
              <p:cNvGrpSpPr/>
              <p:nvPr/>
            </p:nvGrpSpPr>
            <p:grpSpPr>
              <a:xfrm>
                <a:off x="5257800" y="3352800"/>
                <a:ext cx="76200" cy="3276600"/>
                <a:chOff x="3505200" y="2667000"/>
                <a:chExt cx="0" cy="3619500"/>
              </a:xfrm>
            </p:grpSpPr>
            <p:cxnSp>
              <p:nvCxnSpPr>
                <p:cNvPr id="93" name="Straight Connector 92"/>
                <p:cNvCxnSpPr/>
                <p:nvPr/>
              </p:nvCxnSpPr>
              <p:spPr>
                <a:xfrm flipV="1">
                  <a:off x="3505200" y="2667000"/>
                  <a:ext cx="0" cy="179070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Connector 93"/>
                <p:cNvCxnSpPr/>
                <p:nvPr/>
              </p:nvCxnSpPr>
              <p:spPr>
                <a:xfrm flipV="1">
                  <a:off x="3505200" y="4495800"/>
                  <a:ext cx="0" cy="179070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8" name="Group 18"/>
              <p:cNvGrpSpPr/>
              <p:nvPr/>
            </p:nvGrpSpPr>
            <p:grpSpPr>
              <a:xfrm>
                <a:off x="2362200" y="3924300"/>
                <a:ext cx="4038600" cy="0"/>
                <a:chOff x="2362200" y="3581400"/>
                <a:chExt cx="4038600" cy="0"/>
              </a:xfrm>
            </p:grpSpPr>
            <p:cxnSp>
              <p:nvCxnSpPr>
                <p:cNvPr id="91" name="Straight Connector 90"/>
                <p:cNvCxnSpPr/>
                <p:nvPr/>
              </p:nvCxnSpPr>
              <p:spPr>
                <a:xfrm>
                  <a:off x="4381500" y="3581400"/>
                  <a:ext cx="2019300" cy="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Connector 91"/>
                <p:cNvCxnSpPr/>
                <p:nvPr/>
              </p:nvCxnSpPr>
              <p:spPr>
                <a:xfrm>
                  <a:off x="2362200" y="3581400"/>
                  <a:ext cx="2019300" cy="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9" name="Group 19"/>
              <p:cNvGrpSpPr/>
              <p:nvPr/>
            </p:nvGrpSpPr>
            <p:grpSpPr>
              <a:xfrm>
                <a:off x="2362200" y="5676900"/>
                <a:ext cx="4038600" cy="0"/>
                <a:chOff x="2362200" y="3581400"/>
                <a:chExt cx="4038600" cy="0"/>
              </a:xfrm>
            </p:grpSpPr>
            <p:cxnSp>
              <p:nvCxnSpPr>
                <p:cNvPr id="89" name="Straight Connector 88"/>
                <p:cNvCxnSpPr/>
                <p:nvPr/>
              </p:nvCxnSpPr>
              <p:spPr>
                <a:xfrm>
                  <a:off x="4381500" y="3581400"/>
                  <a:ext cx="2019300" cy="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Connector 89"/>
                <p:cNvCxnSpPr/>
                <p:nvPr/>
              </p:nvCxnSpPr>
              <p:spPr>
                <a:xfrm>
                  <a:off x="2362200" y="3581400"/>
                  <a:ext cx="2019300" cy="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0" name="TextBox 79"/>
              <p:cNvSpPr txBox="1"/>
              <p:nvPr/>
            </p:nvSpPr>
            <p:spPr>
              <a:xfrm>
                <a:off x="2630270" y="32385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1001</a:t>
                </a:r>
              </a:p>
            </p:txBody>
          </p:sp>
          <p:sp>
            <p:nvSpPr>
              <p:cNvPr id="81" name="TextBox 80"/>
              <p:cNvSpPr txBox="1"/>
              <p:nvPr/>
            </p:nvSpPr>
            <p:spPr>
              <a:xfrm>
                <a:off x="4001870" y="32385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1000</a:t>
                </a:r>
              </a:p>
            </p:txBody>
          </p:sp>
          <p:sp>
            <p:nvSpPr>
              <p:cNvPr id="82" name="TextBox 81"/>
              <p:cNvSpPr txBox="1"/>
              <p:nvPr/>
            </p:nvSpPr>
            <p:spPr>
              <a:xfrm>
                <a:off x="5536165" y="32385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1010</a:t>
                </a:r>
              </a:p>
            </p:txBody>
          </p:sp>
          <p:sp>
            <p:nvSpPr>
              <p:cNvPr id="83" name="TextBox 82"/>
              <p:cNvSpPr txBox="1"/>
              <p:nvPr/>
            </p:nvSpPr>
            <p:spPr>
              <a:xfrm>
                <a:off x="4001869" y="46101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0000</a:t>
                </a:r>
              </a:p>
            </p:txBody>
          </p:sp>
          <p:sp>
            <p:nvSpPr>
              <p:cNvPr id="84" name="TextBox 83"/>
              <p:cNvSpPr txBox="1"/>
              <p:nvPr/>
            </p:nvSpPr>
            <p:spPr>
              <a:xfrm>
                <a:off x="2630270" y="46101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0001</a:t>
                </a:r>
              </a:p>
            </p:txBody>
          </p:sp>
          <p:sp>
            <p:nvSpPr>
              <p:cNvPr id="85" name="TextBox 84"/>
              <p:cNvSpPr txBox="1"/>
              <p:nvPr/>
            </p:nvSpPr>
            <p:spPr>
              <a:xfrm>
                <a:off x="5536165" y="46101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0010</a:t>
                </a:r>
              </a:p>
            </p:txBody>
          </p:sp>
          <p:sp>
            <p:nvSpPr>
              <p:cNvPr id="86" name="TextBox 85"/>
              <p:cNvSpPr txBox="1"/>
              <p:nvPr/>
            </p:nvSpPr>
            <p:spPr>
              <a:xfrm>
                <a:off x="2630270" y="5993368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0101</a:t>
                </a:r>
              </a:p>
            </p:txBody>
          </p:sp>
          <p:sp>
            <p:nvSpPr>
              <p:cNvPr id="87" name="TextBox 86"/>
              <p:cNvSpPr txBox="1"/>
              <p:nvPr/>
            </p:nvSpPr>
            <p:spPr>
              <a:xfrm>
                <a:off x="4001869" y="59817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0100</a:t>
                </a:r>
              </a:p>
            </p:txBody>
          </p:sp>
          <p:sp>
            <p:nvSpPr>
              <p:cNvPr id="88" name="TextBox 87"/>
              <p:cNvSpPr txBox="1"/>
              <p:nvPr/>
            </p:nvSpPr>
            <p:spPr>
              <a:xfrm>
                <a:off x="5536165" y="5981700"/>
                <a:ext cx="778869" cy="440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0110</a:t>
                </a:r>
              </a:p>
            </p:txBody>
          </p:sp>
        </p:grpSp>
        <p:cxnSp>
          <p:nvCxnSpPr>
            <p:cNvPr id="71" name="Straight Connector 70"/>
            <p:cNvCxnSpPr>
              <a:stCxn id="39" idx="7"/>
              <a:endCxn id="36" idx="7"/>
            </p:cNvCxnSpPr>
            <p:nvPr/>
          </p:nvCxnSpPr>
          <p:spPr>
            <a:xfrm flipV="1">
              <a:off x="4459409" y="4622008"/>
              <a:ext cx="795178" cy="502735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25" name="Slide Number Placeholder 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34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423686" y="-2314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3992022" y="5304060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</a:p>
        </p:txBody>
      </p:sp>
      <p:sp>
        <p:nvSpPr>
          <p:cNvPr id="39" name="Oval 38"/>
          <p:cNvSpPr/>
          <p:nvPr/>
        </p:nvSpPr>
        <p:spPr>
          <a:xfrm>
            <a:off x="3916865" y="5279540"/>
            <a:ext cx="144391" cy="144391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4712043" y="4776805"/>
            <a:ext cx="144391" cy="144391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4449222" y="4426236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4020260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 Intersections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2D, we need to intersect a line with other lines</a:t>
            </a:r>
          </a:p>
          <a:p>
            <a:r>
              <a:rPr lang="en-US" dirty="0"/>
              <a:t>In 3D, we need to intersect a line with planes</a:t>
            </a:r>
          </a:p>
          <a:p>
            <a:r>
              <a:rPr lang="en-US" dirty="0"/>
              <a:t>We may use parametric form in both cases (similar to ray tracing)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35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82472" y="3374168"/>
                <a:ext cx="1341842" cy="9780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472" y="3374168"/>
                <a:ext cx="1341842" cy="9780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62000" y="4750165"/>
                <a:ext cx="1327608" cy="9757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4750165"/>
                <a:ext cx="1327608" cy="9757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667000" y="3678514"/>
                <a:ext cx="210730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0" y="3678514"/>
                <a:ext cx="2107308" cy="369332"/>
              </a:xfrm>
              <a:prstGeom prst="rect">
                <a:avLst/>
              </a:prstGeom>
              <a:blipFill>
                <a:blip r:embed="rId4"/>
                <a:stretch>
                  <a:fillRect l="-1159" r="-1739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667000" y="4253981"/>
                <a:ext cx="210730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0" y="4253981"/>
                <a:ext cx="2107308" cy="369332"/>
              </a:xfrm>
              <a:prstGeom prst="rect">
                <a:avLst/>
              </a:prstGeom>
              <a:blipFill>
                <a:blip r:embed="rId5"/>
                <a:stretch>
                  <a:fillRect l="-2899" r="-1739" b="-3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667000" y="4829448"/>
                <a:ext cx="206992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0" y="4829448"/>
                <a:ext cx="2069926" cy="369332"/>
              </a:xfrm>
              <a:prstGeom prst="rect">
                <a:avLst/>
              </a:prstGeom>
              <a:blipFill>
                <a:blip r:embed="rId6"/>
                <a:stretch>
                  <a:fillRect l="-1475" r="-1770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5206757" y="4253981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where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248400" y="3949634"/>
                <a:ext cx="1883529" cy="9780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8400" y="3949634"/>
                <a:ext cx="1883529" cy="97802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7100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11" grpId="0"/>
      <p:bldP spid="12" grpId="0"/>
      <p:bldP spid="13" grpId="0"/>
      <p:bldP spid="1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 Intersections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find the intersection point, compute t corresponding to the given edge (or face) and then find the remaining values: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36</a:t>
            </a:fld>
            <a:endParaRPr lang="en-US"/>
          </a:p>
        </p:txBody>
      </p:sp>
      <p:grpSp>
        <p:nvGrpSpPr>
          <p:cNvPr id="23" name="Group 22"/>
          <p:cNvGrpSpPr/>
          <p:nvPr/>
        </p:nvGrpSpPr>
        <p:grpSpPr>
          <a:xfrm>
            <a:off x="762000" y="2825629"/>
            <a:ext cx="4172296" cy="3349949"/>
            <a:chOff x="3127612" y="2825629"/>
            <a:chExt cx="4172296" cy="3349949"/>
          </a:xfrm>
        </p:grpSpPr>
        <p:sp>
          <p:nvSpPr>
            <p:cNvPr id="8" name="Cube 7"/>
            <p:cNvSpPr/>
            <p:nvPr/>
          </p:nvSpPr>
          <p:spPr>
            <a:xfrm>
              <a:off x="3127612" y="3352800"/>
              <a:ext cx="2743200" cy="2468880"/>
            </a:xfrm>
            <a:prstGeom prst="cub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5" name="Straight Connector 14"/>
            <p:cNvCxnSpPr/>
            <p:nvPr/>
          </p:nvCxnSpPr>
          <p:spPr>
            <a:xfrm flipH="1" flipV="1">
              <a:off x="5562600" y="4724400"/>
              <a:ext cx="1371600" cy="1143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flipH="1" flipV="1">
              <a:off x="4191000" y="3581400"/>
              <a:ext cx="1371600" cy="1143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/>
            <p:cNvSpPr/>
            <p:nvPr/>
          </p:nvSpPr>
          <p:spPr>
            <a:xfrm>
              <a:off x="5437496" y="4600888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339726" y="3927073"/>
              <a:ext cx="5902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x</a:t>
              </a:r>
              <a:r>
                <a:rPr lang="en-US" baseline="-25000" dirty="0" err="1"/>
                <a:t>max</a:t>
              </a:r>
              <a:endParaRPr lang="en-US" baseline="-25000" dirty="0"/>
            </a:p>
          </p:txBody>
        </p:sp>
        <p:cxnSp>
          <p:nvCxnSpPr>
            <p:cNvPr id="19" name="Straight Connector 18"/>
            <p:cNvCxnSpPr/>
            <p:nvPr/>
          </p:nvCxnSpPr>
          <p:spPr>
            <a:xfrm flipH="1" flipV="1">
              <a:off x="3548090" y="3037121"/>
              <a:ext cx="680431" cy="56702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6914866" y="5806246"/>
              <a:ext cx="3850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</a:t>
              </a:r>
              <a:r>
                <a:rPr lang="en-US" baseline="-25000" dirty="0"/>
                <a:t>0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155097" y="2825629"/>
              <a:ext cx="3850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</a:t>
              </a:r>
              <a:r>
                <a:rPr lang="en-US" baseline="-25000" dirty="0"/>
                <a:t>1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4549254" y="2847333"/>
                <a:ext cx="2570960" cy="6952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𝑥𝑚𝑎𝑥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9254" y="2847333"/>
                <a:ext cx="2570960" cy="69525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/>
          <p:cNvSpPr txBox="1"/>
          <p:nvPr/>
        </p:nvSpPr>
        <p:spPr>
          <a:xfrm>
            <a:off x="4345275" y="4011120"/>
            <a:ext cx="3560590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The intersection point is at:</a:t>
            </a:r>
          </a:p>
          <a:p>
            <a:endParaRPr lang="en-US" sz="2200" dirty="0"/>
          </a:p>
          <a:p>
            <a:r>
              <a:rPr lang="en-US" sz="2200" dirty="0"/>
              <a:t>(</a:t>
            </a:r>
            <a:r>
              <a:rPr lang="en-US" sz="2200" dirty="0" err="1"/>
              <a:t>x</a:t>
            </a:r>
            <a:r>
              <a:rPr lang="en-US" sz="2200" baseline="-25000" dirty="0" err="1"/>
              <a:t>max</a:t>
            </a:r>
            <a:r>
              <a:rPr lang="en-US" sz="2200" dirty="0"/>
              <a:t>, y(</a:t>
            </a:r>
            <a:r>
              <a:rPr lang="en-US" sz="2200" dirty="0" err="1"/>
              <a:t>t</a:t>
            </a:r>
            <a:r>
              <a:rPr lang="en-US" sz="2200" baseline="-25000" dirty="0" err="1"/>
              <a:t>xmax</a:t>
            </a:r>
            <a:r>
              <a:rPr lang="en-US" sz="2200" dirty="0"/>
              <a:t>), z(</a:t>
            </a:r>
            <a:r>
              <a:rPr lang="en-US" sz="2200" dirty="0" err="1"/>
              <a:t>t</a:t>
            </a:r>
            <a:r>
              <a:rPr lang="en-US" sz="2200" baseline="-25000" dirty="0" err="1"/>
              <a:t>xmax</a:t>
            </a:r>
            <a:r>
              <a:rPr lang="en-US" sz="2200" dirty="0"/>
              <a:t>))</a:t>
            </a:r>
            <a:endParaRPr lang="en-US" sz="2200" baseline="-25000" dirty="0"/>
          </a:p>
        </p:txBody>
      </p:sp>
    </p:spTree>
    <p:extLst>
      <p:ext uri="{BB962C8B-B14F-4D97-AF65-F5344CB8AC3E}">
        <p14:creationId xmlns:p14="http://schemas.microsoft.com/office/powerpoint/2010/main" val="1654036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Cohen-Sutherland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Advantages:</a:t>
            </a:r>
          </a:p>
          <a:p>
            <a:pPr lvl="1"/>
            <a:r>
              <a:rPr lang="en-US" dirty="0"/>
              <a:t>If the chances of trivial accept/reject are high, this is a very fast algorithm</a:t>
            </a:r>
          </a:p>
          <a:p>
            <a:pPr lvl="1"/>
            <a:r>
              <a:rPr lang="en-US" dirty="0"/>
              <a:t>This can happen if the clipping rectangle is very large or very small</a:t>
            </a:r>
          </a:p>
          <a:p>
            <a:r>
              <a:rPr lang="en-US" dirty="0"/>
              <a:t>Disadvantages:</a:t>
            </a:r>
          </a:p>
          <a:p>
            <a:pPr lvl="1"/>
            <a:r>
              <a:rPr lang="en-US" dirty="0"/>
              <a:t>Non-trivial lines can take several iterations to clip</a:t>
            </a:r>
          </a:p>
          <a:p>
            <a:pPr lvl="1"/>
            <a:r>
              <a:rPr lang="en-US" dirty="0"/>
              <a:t>Because testing and clipping are done in a fixed order, the algorithm will sometimes perform needless clipping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Liang-</a:t>
            </a:r>
            <a:r>
              <a:rPr lang="en-US" dirty="0" err="1"/>
              <a:t>Barsky</a:t>
            </a:r>
            <a:r>
              <a:rPr lang="en-US" dirty="0"/>
              <a:t>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Uses the idea of parametric lines</a:t>
            </a:r>
          </a:p>
          <a:p>
            <a:r>
              <a:rPr lang="en-US" dirty="0"/>
              <a:t>Classifies lines as </a:t>
            </a:r>
            <a:r>
              <a:rPr lang="en-US" dirty="0">
                <a:solidFill>
                  <a:schemeClr val="accent1"/>
                </a:solidFill>
              </a:rPr>
              <a:t>potentially entering</a:t>
            </a:r>
            <a:r>
              <a:rPr lang="en-US" dirty="0"/>
              <a:t> and </a:t>
            </a:r>
            <a:r>
              <a:rPr lang="en-US" dirty="0">
                <a:solidFill>
                  <a:schemeClr val="accent1"/>
                </a:solidFill>
              </a:rPr>
              <a:t>potentially leaving </a:t>
            </a:r>
            <a:r>
              <a:rPr lang="en-US" dirty="0"/>
              <a:t>to speed up computation (approximately 40% speed-up over Cohen-Sutherland Alg.)</a:t>
            </a:r>
          </a:p>
          <a:p>
            <a:endParaRPr lang="en-US" dirty="0"/>
          </a:p>
        </p:txBody>
      </p:sp>
      <p:grpSp>
        <p:nvGrpSpPr>
          <p:cNvPr id="17" name="Group 16"/>
          <p:cNvGrpSpPr/>
          <p:nvPr/>
        </p:nvGrpSpPr>
        <p:grpSpPr>
          <a:xfrm>
            <a:off x="585784" y="3135868"/>
            <a:ext cx="4610420" cy="3264932"/>
            <a:chOff x="3647755" y="2438400"/>
            <a:chExt cx="4610420" cy="3264932"/>
          </a:xfrm>
        </p:grpSpPr>
        <p:grpSp>
          <p:nvGrpSpPr>
            <p:cNvPr id="9" name="Group 18"/>
            <p:cNvGrpSpPr/>
            <p:nvPr/>
          </p:nvGrpSpPr>
          <p:grpSpPr>
            <a:xfrm>
              <a:off x="3647755" y="2438400"/>
              <a:ext cx="4610420" cy="3264932"/>
              <a:chOff x="2123152" y="2438400"/>
              <a:chExt cx="4610420" cy="3264932"/>
            </a:xfrm>
          </p:grpSpPr>
          <p:sp>
            <p:nvSpPr>
              <p:cNvPr id="4" name="Rectangle 3"/>
              <p:cNvSpPr/>
              <p:nvPr/>
            </p:nvSpPr>
            <p:spPr>
              <a:xfrm>
                <a:off x="2667000" y="2971800"/>
                <a:ext cx="3733800" cy="24384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TextBox 4"/>
              <p:cNvSpPr txBox="1"/>
              <p:nvPr/>
            </p:nvSpPr>
            <p:spPr>
              <a:xfrm>
                <a:off x="2518688" y="5334000"/>
                <a:ext cx="5293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/>
                  <a:t>x</a:t>
                </a:r>
                <a:r>
                  <a:rPr lang="en-US" baseline="-25000" dirty="0" err="1"/>
                  <a:t>min</a:t>
                </a:r>
                <a:endParaRPr lang="en-US" baseline="-25000" dirty="0"/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6172200" y="5334000"/>
                <a:ext cx="5613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/>
                  <a:t>x</a:t>
                </a:r>
                <a:r>
                  <a:rPr lang="en-US" baseline="-25000" dirty="0" err="1"/>
                  <a:t>max</a:t>
                </a:r>
                <a:endParaRPr lang="en-US" baseline="-25000" dirty="0"/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2133600" y="5105400"/>
                <a:ext cx="5148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/>
                  <a:t>y</a:t>
                </a:r>
                <a:r>
                  <a:rPr lang="en-US" baseline="-25000" dirty="0" err="1"/>
                  <a:t>min</a:t>
                </a:r>
                <a:endParaRPr lang="en-US" baseline="-25000" dirty="0"/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2171700" y="2707243"/>
                <a:ext cx="5469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/>
                  <a:t>y</a:t>
                </a:r>
                <a:r>
                  <a:rPr lang="en-US" baseline="-25000" dirty="0" err="1"/>
                  <a:t>max</a:t>
                </a:r>
                <a:endParaRPr lang="en-US" baseline="-25000" dirty="0"/>
              </a:p>
            </p:txBody>
          </p:sp>
          <p:cxnSp>
            <p:nvCxnSpPr>
              <p:cNvPr id="12" name="Straight Connector 11"/>
              <p:cNvCxnSpPr/>
              <p:nvPr/>
            </p:nvCxnSpPr>
            <p:spPr>
              <a:xfrm flipV="1">
                <a:off x="2209800" y="2667000"/>
                <a:ext cx="2133600" cy="1447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 flipV="1">
                <a:off x="2657475" y="2971800"/>
                <a:ext cx="1235242" cy="8382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/>
              <p:cNvSpPr txBox="1"/>
              <p:nvPr/>
            </p:nvSpPr>
            <p:spPr>
              <a:xfrm>
                <a:off x="4343400" y="2438400"/>
                <a:ext cx="12772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v</a:t>
                </a:r>
                <a:r>
                  <a:rPr lang="en-US" baseline="-25000" dirty="0"/>
                  <a:t>1</a:t>
                </a:r>
                <a:r>
                  <a:rPr lang="en-US" dirty="0"/>
                  <a:t> = (x</a:t>
                </a:r>
                <a:r>
                  <a:rPr lang="en-US" baseline="-25000" dirty="0"/>
                  <a:t>1</a:t>
                </a:r>
                <a:r>
                  <a:rPr lang="en-US" dirty="0"/>
                  <a:t>, y</a:t>
                </a:r>
                <a:r>
                  <a:rPr lang="en-US" baseline="-25000" dirty="0"/>
                  <a:t>1</a:t>
                </a:r>
                <a:r>
                  <a:rPr lang="en-US" dirty="0"/>
                  <a:t>)</a:t>
                </a:r>
                <a:endParaRPr lang="en-US" baseline="-25000" dirty="0"/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2123152" y="4019550"/>
                <a:ext cx="12772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v</a:t>
                </a:r>
                <a:r>
                  <a:rPr lang="en-US" baseline="-25000" dirty="0"/>
                  <a:t>0</a:t>
                </a:r>
                <a:r>
                  <a:rPr lang="en-US" dirty="0"/>
                  <a:t> = (x</a:t>
                </a:r>
                <a:r>
                  <a:rPr lang="en-US" baseline="-25000" dirty="0"/>
                  <a:t>0</a:t>
                </a:r>
                <a:r>
                  <a:rPr lang="en-US" dirty="0"/>
                  <a:t>, y</a:t>
                </a:r>
                <a:r>
                  <a:rPr lang="en-US" baseline="-25000" dirty="0"/>
                  <a:t>0</a:t>
                </a:r>
                <a:r>
                  <a:rPr lang="en-US" dirty="0"/>
                  <a:t>)</a:t>
                </a:r>
                <a:endParaRPr lang="en-US" baseline="-25000" dirty="0"/>
              </a:p>
            </p:txBody>
          </p:sp>
        </p:grpSp>
        <p:sp>
          <p:nvSpPr>
            <p:cNvPr id="20" name="Oval 19"/>
            <p:cNvSpPr/>
            <p:nvPr/>
          </p:nvSpPr>
          <p:spPr>
            <a:xfrm>
              <a:off x="4495800" y="3533775"/>
              <a:ext cx="76200" cy="762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495800" y="3429000"/>
              <a:ext cx="10223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 = (x, y)</a:t>
              </a:r>
              <a:endParaRPr lang="en-US" baseline="-25000" dirty="0"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5105400" y="3420070"/>
            <a:ext cx="40005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Goal</a:t>
            </a:r>
            <a:r>
              <a:rPr lang="en-US" dirty="0"/>
              <a:t>: Given the line v0, v1 determine:</a:t>
            </a:r>
          </a:p>
          <a:p>
            <a:pPr marL="342900" indent="-342900"/>
            <a:r>
              <a:rPr lang="en-US" dirty="0"/>
              <a:t> - The part of the line is inside the viewing rectangle.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33975" y="4724400"/>
            <a:ext cx="2423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Note</a:t>
            </a:r>
            <a:r>
              <a:rPr lang="en-US" dirty="0"/>
              <a:t>: p = v0 + (v1-v0)t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38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Liang-</a:t>
            </a:r>
            <a:r>
              <a:rPr lang="en-US" dirty="0" err="1"/>
              <a:t>Barsky</a:t>
            </a:r>
            <a:r>
              <a:rPr lang="en-US" dirty="0"/>
              <a:t>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Potentially entering (PE) and leaving (PV):</a:t>
            </a:r>
          </a:p>
          <a:p>
            <a:r>
              <a:rPr lang="en-US" dirty="0"/>
              <a:t>Why do we say potentially?</a:t>
            </a:r>
          </a:p>
        </p:txBody>
      </p:sp>
      <p:sp>
        <p:nvSpPr>
          <p:cNvPr id="4" name="Rectangle 3"/>
          <p:cNvSpPr/>
          <p:nvPr/>
        </p:nvSpPr>
        <p:spPr>
          <a:xfrm>
            <a:off x="1505600" y="2743200"/>
            <a:ext cx="3733800" cy="243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515000" y="3657600"/>
            <a:ext cx="1676400" cy="10668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81000" y="4648200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</a:t>
            </a:r>
            <a:r>
              <a:rPr lang="en-US" baseline="-25000" dirty="0"/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33600" y="3352800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</a:t>
            </a:r>
            <a:r>
              <a:rPr lang="en-US" baseline="-25000" dirty="0"/>
              <a:t>1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H="1" flipV="1">
            <a:off x="819800" y="3200400"/>
            <a:ext cx="1447800" cy="14478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039000" y="4572000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</a:t>
            </a:r>
            <a:r>
              <a:rPr lang="en-US" baseline="-25000" dirty="0"/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819400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</a:t>
            </a:r>
            <a:r>
              <a:rPr lang="en-US" baseline="-25000" dirty="0"/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91200" y="2323742"/>
            <a:ext cx="280974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 v</a:t>
            </a:r>
            <a:r>
              <a:rPr lang="en-US" baseline="-25000" dirty="0"/>
              <a:t>0</a:t>
            </a:r>
            <a:r>
              <a:rPr lang="en-US" dirty="0"/>
              <a:t>,v</a:t>
            </a:r>
            <a:r>
              <a:rPr lang="en-US" baseline="-25000" dirty="0"/>
              <a:t>1</a:t>
            </a:r>
            <a:r>
              <a:rPr lang="en-US" dirty="0"/>
              <a:t> is </a:t>
            </a:r>
            <a:r>
              <a:rPr lang="en-US" dirty="0">
                <a:solidFill>
                  <a:srgbClr val="FF0000"/>
                </a:solidFill>
              </a:rPr>
              <a:t>potentially entering</a:t>
            </a:r>
          </a:p>
          <a:p>
            <a:r>
              <a:rPr lang="en-US" dirty="0"/>
              <a:t>the </a:t>
            </a:r>
            <a:r>
              <a:rPr lang="en-US" b="1" dirty="0"/>
              <a:t>left</a:t>
            </a:r>
            <a:r>
              <a:rPr lang="en-US" dirty="0"/>
              <a:t> edge as x</a:t>
            </a:r>
            <a:r>
              <a:rPr lang="en-US" baseline="-25000" dirty="0"/>
              <a:t>1</a:t>
            </a:r>
            <a:r>
              <a:rPr lang="en-US" dirty="0"/>
              <a:t> – x</a:t>
            </a:r>
            <a:r>
              <a:rPr lang="en-US" baseline="-25000" dirty="0"/>
              <a:t>0</a:t>
            </a:r>
            <a:r>
              <a:rPr lang="en-US" dirty="0"/>
              <a:t> &gt; 0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 v</a:t>
            </a:r>
            <a:r>
              <a:rPr lang="en-US" baseline="-25000" dirty="0"/>
              <a:t>2</a:t>
            </a:r>
            <a:r>
              <a:rPr lang="en-US" dirty="0"/>
              <a:t>,v</a:t>
            </a:r>
            <a:r>
              <a:rPr lang="en-US" baseline="-25000" dirty="0"/>
              <a:t>3</a:t>
            </a:r>
            <a:r>
              <a:rPr lang="en-US" dirty="0"/>
              <a:t> is </a:t>
            </a:r>
            <a:r>
              <a:rPr lang="en-US" dirty="0">
                <a:solidFill>
                  <a:srgbClr val="FF0000"/>
                </a:solidFill>
              </a:rPr>
              <a:t>potentially leaving</a:t>
            </a:r>
          </a:p>
          <a:p>
            <a:r>
              <a:rPr lang="en-US" dirty="0"/>
              <a:t>the </a:t>
            </a:r>
            <a:r>
              <a:rPr lang="en-US" b="1" dirty="0"/>
              <a:t>left</a:t>
            </a:r>
            <a:r>
              <a:rPr lang="en-US" dirty="0"/>
              <a:t> edge as x</a:t>
            </a:r>
            <a:r>
              <a:rPr lang="en-US" baseline="-25000" dirty="0"/>
              <a:t>3</a:t>
            </a:r>
            <a:r>
              <a:rPr lang="en-US" dirty="0"/>
              <a:t> – x</a:t>
            </a:r>
            <a:r>
              <a:rPr lang="en-US" baseline="-25000" dirty="0"/>
              <a:t>2</a:t>
            </a:r>
            <a:r>
              <a:rPr lang="en-US" dirty="0"/>
              <a:t> &lt; 0 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3791600" y="3745468"/>
            <a:ext cx="1676400" cy="10668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657600" y="473606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</a:t>
            </a:r>
            <a:r>
              <a:rPr lang="en-US" baseline="-25000" dirty="0"/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10200" y="344066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</a:t>
            </a:r>
            <a:r>
              <a:rPr lang="en-US" baseline="-25000" dirty="0"/>
              <a:t>5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 flipH="1" flipV="1">
            <a:off x="4096400" y="3288268"/>
            <a:ext cx="1447800" cy="14478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315600" y="465986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</a:t>
            </a:r>
            <a:r>
              <a:rPr lang="en-US" baseline="-25000" dirty="0"/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62400" y="290726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</a:t>
            </a:r>
            <a:r>
              <a:rPr lang="en-US" baseline="-25000" dirty="0"/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91200" y="4895671"/>
            <a:ext cx="295625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 v</a:t>
            </a:r>
            <a:r>
              <a:rPr lang="en-US" baseline="-25000" dirty="0"/>
              <a:t>4</a:t>
            </a:r>
            <a:r>
              <a:rPr lang="en-US" dirty="0"/>
              <a:t>,v</a:t>
            </a:r>
            <a:r>
              <a:rPr lang="en-US" baseline="-25000" dirty="0"/>
              <a:t>5</a:t>
            </a:r>
            <a:r>
              <a:rPr lang="en-US" dirty="0"/>
              <a:t> is </a:t>
            </a:r>
            <a:r>
              <a:rPr lang="en-US" dirty="0">
                <a:solidFill>
                  <a:srgbClr val="FF0000"/>
                </a:solidFill>
              </a:rPr>
              <a:t>potentially leaving</a:t>
            </a:r>
          </a:p>
          <a:p>
            <a:r>
              <a:rPr lang="en-US" dirty="0"/>
              <a:t>the </a:t>
            </a:r>
            <a:r>
              <a:rPr lang="en-US" b="1" dirty="0"/>
              <a:t>right</a:t>
            </a:r>
            <a:r>
              <a:rPr lang="en-US" dirty="0"/>
              <a:t> edge as x</a:t>
            </a:r>
            <a:r>
              <a:rPr lang="en-US" baseline="-25000" dirty="0"/>
              <a:t>5</a:t>
            </a:r>
            <a:r>
              <a:rPr lang="en-US" dirty="0"/>
              <a:t> – x</a:t>
            </a:r>
            <a:r>
              <a:rPr lang="en-US" baseline="-25000" dirty="0"/>
              <a:t>4</a:t>
            </a:r>
            <a:r>
              <a:rPr lang="en-US" dirty="0"/>
              <a:t> &gt; 0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 v</a:t>
            </a:r>
            <a:r>
              <a:rPr lang="en-US" baseline="-25000" dirty="0"/>
              <a:t>6</a:t>
            </a:r>
            <a:r>
              <a:rPr lang="en-US" dirty="0"/>
              <a:t>,v</a:t>
            </a:r>
            <a:r>
              <a:rPr lang="en-US" baseline="-25000" dirty="0"/>
              <a:t>7</a:t>
            </a:r>
            <a:r>
              <a:rPr lang="en-US" dirty="0"/>
              <a:t> is </a:t>
            </a:r>
            <a:r>
              <a:rPr lang="en-US" dirty="0">
                <a:solidFill>
                  <a:srgbClr val="FF0000"/>
                </a:solidFill>
              </a:rPr>
              <a:t>potentially entering</a:t>
            </a:r>
          </a:p>
          <a:p>
            <a:r>
              <a:rPr lang="en-US" dirty="0"/>
              <a:t>the </a:t>
            </a:r>
            <a:r>
              <a:rPr lang="en-US" b="1" dirty="0"/>
              <a:t>right</a:t>
            </a:r>
            <a:r>
              <a:rPr lang="en-US" dirty="0"/>
              <a:t> edge as x</a:t>
            </a:r>
            <a:r>
              <a:rPr lang="en-US" baseline="-25000" dirty="0"/>
              <a:t>7</a:t>
            </a:r>
            <a:r>
              <a:rPr lang="en-US" dirty="0"/>
              <a:t> – x</a:t>
            </a:r>
            <a:r>
              <a:rPr lang="en-US" baseline="-25000" dirty="0"/>
              <a:t>6</a:t>
            </a:r>
            <a:r>
              <a:rPr lang="en-US" dirty="0"/>
              <a:t> &lt; 0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91200" y="3944540"/>
            <a:ext cx="28275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The situation is reversed for</a:t>
            </a:r>
          </a:p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the right edge: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9200" y="5162550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Left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53000" y="5155168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Right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39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3" grpId="0"/>
      <p:bldP spid="2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Liang-</a:t>
            </a:r>
            <a:r>
              <a:rPr lang="en-US" dirty="0" err="1"/>
              <a:t>Barsky</a:t>
            </a:r>
            <a:r>
              <a:rPr lang="en-US" dirty="0"/>
              <a:t>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Similar for bottom and top edges:</a:t>
            </a:r>
          </a:p>
        </p:txBody>
      </p:sp>
      <p:sp>
        <p:nvSpPr>
          <p:cNvPr id="4" name="Rectangle 3"/>
          <p:cNvSpPr/>
          <p:nvPr/>
        </p:nvSpPr>
        <p:spPr>
          <a:xfrm>
            <a:off x="1505600" y="2743200"/>
            <a:ext cx="3733800" cy="243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1600200" y="4953000"/>
            <a:ext cx="1676400" cy="10668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466200" y="5943600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</a:t>
            </a:r>
            <a:r>
              <a:rPr lang="en-US" baseline="-25000" dirty="0"/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18800" y="4648200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</a:t>
            </a:r>
            <a:r>
              <a:rPr lang="en-US" baseline="-25000" dirty="0"/>
              <a:t>1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H="1" flipV="1">
            <a:off x="1905000" y="4495800"/>
            <a:ext cx="1447800" cy="1447800"/>
          </a:xfrm>
          <a:prstGeom prst="straightConnector1">
            <a:avLst/>
          </a:prstGeom>
          <a:ln w="28575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124200" y="5867400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</a:t>
            </a:r>
            <a:r>
              <a:rPr lang="en-US" baseline="-25000" dirty="0"/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71000" y="4114800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</a:t>
            </a:r>
            <a:r>
              <a:rPr lang="en-US" baseline="-25000" dirty="0"/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91200" y="2057400"/>
            <a:ext cx="325441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 v</a:t>
            </a:r>
            <a:r>
              <a:rPr lang="en-US" baseline="-25000" dirty="0"/>
              <a:t>0</a:t>
            </a:r>
            <a:r>
              <a:rPr lang="en-US" dirty="0"/>
              <a:t>,v</a:t>
            </a:r>
            <a:r>
              <a:rPr lang="en-US" baseline="-25000" dirty="0"/>
              <a:t>1</a:t>
            </a:r>
            <a:r>
              <a:rPr lang="en-US" dirty="0"/>
              <a:t> is </a:t>
            </a:r>
            <a:r>
              <a:rPr lang="en-US" dirty="0">
                <a:solidFill>
                  <a:srgbClr val="FF0000"/>
                </a:solidFill>
              </a:rPr>
              <a:t>potentially entering</a:t>
            </a:r>
          </a:p>
          <a:p>
            <a:r>
              <a:rPr lang="en-US" dirty="0"/>
              <a:t>the </a:t>
            </a:r>
            <a:r>
              <a:rPr lang="en-US" b="1" dirty="0"/>
              <a:t>bottom</a:t>
            </a:r>
            <a:r>
              <a:rPr lang="en-US" dirty="0"/>
              <a:t> edge as y</a:t>
            </a:r>
            <a:r>
              <a:rPr lang="en-US" baseline="-25000" dirty="0"/>
              <a:t>1</a:t>
            </a:r>
            <a:r>
              <a:rPr lang="en-US" dirty="0"/>
              <a:t> – y</a:t>
            </a:r>
            <a:r>
              <a:rPr lang="en-US" baseline="-25000" dirty="0"/>
              <a:t>0</a:t>
            </a:r>
            <a:r>
              <a:rPr lang="en-US" dirty="0"/>
              <a:t> &gt; 0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 v</a:t>
            </a:r>
            <a:r>
              <a:rPr lang="en-US" baseline="-25000" dirty="0"/>
              <a:t>2</a:t>
            </a:r>
            <a:r>
              <a:rPr lang="en-US" dirty="0"/>
              <a:t>,v</a:t>
            </a:r>
            <a:r>
              <a:rPr lang="en-US" baseline="-25000" dirty="0"/>
              <a:t>3</a:t>
            </a:r>
            <a:r>
              <a:rPr lang="en-US" dirty="0"/>
              <a:t> is </a:t>
            </a:r>
            <a:r>
              <a:rPr lang="en-US" dirty="0">
                <a:solidFill>
                  <a:srgbClr val="FF0000"/>
                </a:solidFill>
              </a:rPr>
              <a:t>potentially leaving</a:t>
            </a:r>
          </a:p>
          <a:p>
            <a:r>
              <a:rPr lang="en-US" dirty="0"/>
              <a:t>the </a:t>
            </a:r>
            <a:r>
              <a:rPr lang="en-US" b="1" dirty="0"/>
              <a:t>bottom </a:t>
            </a:r>
            <a:r>
              <a:rPr lang="en-US" dirty="0"/>
              <a:t>edge as y</a:t>
            </a:r>
            <a:r>
              <a:rPr lang="en-US" baseline="-25000" dirty="0"/>
              <a:t>3</a:t>
            </a:r>
            <a:r>
              <a:rPr lang="en-US" dirty="0"/>
              <a:t> – y</a:t>
            </a:r>
            <a:r>
              <a:rPr lang="en-US" baseline="-25000" dirty="0"/>
              <a:t>2</a:t>
            </a:r>
            <a:r>
              <a:rPr lang="en-US" dirty="0"/>
              <a:t> &lt; 0 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2590800" y="2145268"/>
            <a:ext cx="2115200" cy="2198132"/>
            <a:chOff x="2590800" y="2145268"/>
            <a:chExt cx="2115200" cy="2198132"/>
          </a:xfrm>
        </p:grpSpPr>
        <p:cxnSp>
          <p:nvCxnSpPr>
            <p:cNvPr id="17" name="Straight Arrow Connector 16"/>
            <p:cNvCxnSpPr/>
            <p:nvPr/>
          </p:nvCxnSpPr>
          <p:spPr>
            <a:xfrm flipV="1">
              <a:off x="2724800" y="2983468"/>
              <a:ext cx="1676400" cy="10668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2590800" y="3974068"/>
              <a:ext cx="3626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</a:t>
              </a:r>
              <a:r>
                <a:rPr lang="en-US" baseline="-25000" dirty="0"/>
                <a:t>4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343400" y="2678668"/>
              <a:ext cx="3626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</a:t>
              </a:r>
              <a:r>
                <a:rPr lang="en-US" baseline="-25000" dirty="0"/>
                <a:t>5</a:t>
              </a:r>
            </a:p>
          </p:txBody>
        </p:sp>
        <p:cxnSp>
          <p:nvCxnSpPr>
            <p:cNvPr id="20" name="Straight Arrow Connector 19"/>
            <p:cNvCxnSpPr/>
            <p:nvPr/>
          </p:nvCxnSpPr>
          <p:spPr>
            <a:xfrm flipH="1" flipV="1">
              <a:off x="3029600" y="2526268"/>
              <a:ext cx="1447800" cy="1447800"/>
            </a:xfrm>
            <a:prstGeom prst="straightConnector1">
              <a:avLst/>
            </a:prstGeom>
            <a:ln w="28575"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4248800" y="3897868"/>
              <a:ext cx="3626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</a:t>
              </a:r>
              <a:r>
                <a:rPr lang="en-US" baseline="-25000" dirty="0"/>
                <a:t>7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895600" y="2145268"/>
              <a:ext cx="3626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</a:t>
              </a:r>
              <a:r>
                <a:rPr lang="en-US" baseline="-25000" dirty="0"/>
                <a:t>6</a:t>
              </a: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5791200" y="4876800"/>
            <a:ext cx="280974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 v</a:t>
            </a:r>
            <a:r>
              <a:rPr lang="en-US" baseline="-25000" dirty="0"/>
              <a:t>4</a:t>
            </a:r>
            <a:r>
              <a:rPr lang="en-US" dirty="0"/>
              <a:t>,v</a:t>
            </a:r>
            <a:r>
              <a:rPr lang="en-US" baseline="-25000" dirty="0"/>
              <a:t>5</a:t>
            </a:r>
            <a:r>
              <a:rPr lang="en-US" dirty="0"/>
              <a:t> is </a:t>
            </a:r>
            <a:r>
              <a:rPr lang="en-US" dirty="0">
                <a:solidFill>
                  <a:srgbClr val="FF0000"/>
                </a:solidFill>
              </a:rPr>
              <a:t>potentially leaving</a:t>
            </a:r>
          </a:p>
          <a:p>
            <a:r>
              <a:rPr lang="en-US" dirty="0"/>
              <a:t>the </a:t>
            </a:r>
            <a:r>
              <a:rPr lang="en-US" b="1" dirty="0"/>
              <a:t>top</a:t>
            </a:r>
            <a:r>
              <a:rPr lang="en-US" dirty="0"/>
              <a:t> edge as y</a:t>
            </a:r>
            <a:r>
              <a:rPr lang="en-US" baseline="-25000" dirty="0"/>
              <a:t>5</a:t>
            </a:r>
            <a:r>
              <a:rPr lang="en-US" dirty="0"/>
              <a:t> – y</a:t>
            </a:r>
            <a:r>
              <a:rPr lang="en-US" baseline="-25000" dirty="0"/>
              <a:t>4</a:t>
            </a:r>
            <a:r>
              <a:rPr lang="en-US" dirty="0"/>
              <a:t> &gt; 0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 v</a:t>
            </a:r>
            <a:r>
              <a:rPr lang="en-US" baseline="-25000" dirty="0"/>
              <a:t>6</a:t>
            </a:r>
            <a:r>
              <a:rPr lang="en-US" dirty="0"/>
              <a:t>,v</a:t>
            </a:r>
            <a:r>
              <a:rPr lang="en-US" baseline="-25000" dirty="0"/>
              <a:t>7</a:t>
            </a:r>
            <a:r>
              <a:rPr lang="en-US" dirty="0"/>
              <a:t> is </a:t>
            </a:r>
            <a:r>
              <a:rPr lang="en-US" dirty="0">
                <a:solidFill>
                  <a:srgbClr val="FF0000"/>
                </a:solidFill>
              </a:rPr>
              <a:t>potentially entering</a:t>
            </a:r>
          </a:p>
          <a:p>
            <a:r>
              <a:rPr lang="en-US" dirty="0"/>
              <a:t>the </a:t>
            </a:r>
            <a:r>
              <a:rPr lang="en-US" b="1" dirty="0"/>
              <a:t>top</a:t>
            </a:r>
            <a:r>
              <a:rPr lang="en-US" dirty="0"/>
              <a:t> edge as y</a:t>
            </a:r>
            <a:r>
              <a:rPr lang="en-US" baseline="-25000" dirty="0"/>
              <a:t>7</a:t>
            </a:r>
            <a:r>
              <a:rPr lang="en-US" dirty="0"/>
              <a:t> – y</a:t>
            </a:r>
            <a:r>
              <a:rPr lang="en-US" baseline="-25000" dirty="0"/>
              <a:t>6</a:t>
            </a:r>
            <a:r>
              <a:rPr lang="en-US" dirty="0"/>
              <a:t> &lt; 0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91200" y="3733800"/>
            <a:ext cx="28275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The situation is reversed for</a:t>
            </a:r>
          </a:p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the top edge: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" y="4981575"/>
            <a:ext cx="899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Bottom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533" y="2543175"/>
            <a:ext cx="5315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Top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Liang-</a:t>
            </a:r>
            <a:r>
              <a:rPr lang="en-US" dirty="0" err="1"/>
              <a:t>Barsky</a:t>
            </a:r>
            <a:r>
              <a:rPr lang="en-US" dirty="0"/>
              <a:t>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Observation: </a:t>
            </a:r>
            <a:r>
              <a:rPr lang="en-US" dirty="0"/>
              <a:t>If a line is first leaving then entering, it cannot be visible</a:t>
            </a:r>
          </a:p>
        </p:txBody>
      </p:sp>
      <p:grpSp>
        <p:nvGrpSpPr>
          <p:cNvPr id="63" name="Group 62"/>
          <p:cNvGrpSpPr/>
          <p:nvPr/>
        </p:nvGrpSpPr>
        <p:grpSpPr>
          <a:xfrm>
            <a:off x="1166816" y="2173844"/>
            <a:ext cx="7162800" cy="4255532"/>
            <a:chOff x="647700" y="1981200"/>
            <a:chExt cx="7162800" cy="4255532"/>
          </a:xfrm>
        </p:grpSpPr>
        <p:sp>
          <p:nvSpPr>
            <p:cNvPr id="4" name="Rectangle 3"/>
            <p:cNvSpPr/>
            <p:nvPr/>
          </p:nvSpPr>
          <p:spPr>
            <a:xfrm>
              <a:off x="2286000" y="2819400"/>
              <a:ext cx="3733800" cy="24384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7" name="Group 26"/>
            <p:cNvGrpSpPr/>
            <p:nvPr/>
          </p:nvGrpSpPr>
          <p:grpSpPr>
            <a:xfrm>
              <a:off x="914400" y="1981200"/>
              <a:ext cx="2115200" cy="1664732"/>
              <a:chOff x="1466200" y="4648200"/>
              <a:chExt cx="2115200" cy="1664732"/>
            </a:xfrm>
          </p:grpSpPr>
          <p:cxnSp>
            <p:nvCxnSpPr>
              <p:cNvPr id="6" name="Straight Arrow Connector 5"/>
              <p:cNvCxnSpPr/>
              <p:nvPr/>
            </p:nvCxnSpPr>
            <p:spPr>
              <a:xfrm flipV="1">
                <a:off x="1600200" y="4953000"/>
                <a:ext cx="1676400" cy="10668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TextBox 6"/>
              <p:cNvSpPr txBox="1"/>
              <p:nvPr/>
            </p:nvSpPr>
            <p:spPr>
              <a:xfrm>
                <a:off x="1466200" y="5943600"/>
                <a:ext cx="3626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v</a:t>
                </a:r>
                <a:r>
                  <a:rPr lang="en-US" baseline="-25000" dirty="0"/>
                  <a:t>0</a:t>
                </a:r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3218800" y="4648200"/>
                <a:ext cx="3626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v</a:t>
                </a:r>
                <a:r>
                  <a:rPr lang="en-US" baseline="-25000" dirty="0"/>
                  <a:t>1</a:t>
                </a:r>
              </a:p>
            </p:txBody>
          </p:sp>
        </p:grpSp>
        <p:grpSp>
          <p:nvGrpSpPr>
            <p:cNvPr id="31" name="Group 30"/>
            <p:cNvGrpSpPr/>
            <p:nvPr/>
          </p:nvGrpSpPr>
          <p:grpSpPr>
            <a:xfrm>
              <a:off x="647700" y="2819400"/>
              <a:ext cx="7124700" cy="0"/>
              <a:chOff x="647700" y="2819400"/>
              <a:chExt cx="7124700" cy="0"/>
            </a:xfrm>
          </p:grpSpPr>
          <p:cxnSp>
            <p:nvCxnSpPr>
              <p:cNvPr id="29" name="Straight Connector 28"/>
              <p:cNvCxnSpPr>
                <a:stCxn id="4" idx="0"/>
              </p:cNvCxnSpPr>
              <p:nvPr/>
            </p:nvCxnSpPr>
            <p:spPr>
              <a:xfrm>
                <a:off x="4152900" y="2819400"/>
                <a:ext cx="3619500" cy="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>
              <a:xfrm>
                <a:off x="647700" y="2819400"/>
                <a:ext cx="3619500" cy="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Group 31"/>
            <p:cNvGrpSpPr/>
            <p:nvPr/>
          </p:nvGrpSpPr>
          <p:grpSpPr>
            <a:xfrm>
              <a:off x="685800" y="5257800"/>
              <a:ext cx="7124700" cy="0"/>
              <a:chOff x="647700" y="2819400"/>
              <a:chExt cx="7124700" cy="0"/>
            </a:xfrm>
          </p:grpSpPr>
          <p:cxnSp>
            <p:nvCxnSpPr>
              <p:cNvPr id="33" name="Straight Connector 32"/>
              <p:cNvCxnSpPr/>
              <p:nvPr/>
            </p:nvCxnSpPr>
            <p:spPr>
              <a:xfrm>
                <a:off x="4152900" y="2819400"/>
                <a:ext cx="3619500" cy="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>
              <a:xfrm>
                <a:off x="647700" y="2819400"/>
                <a:ext cx="3619500" cy="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8" name="Group 37"/>
            <p:cNvGrpSpPr/>
            <p:nvPr/>
          </p:nvGrpSpPr>
          <p:grpSpPr>
            <a:xfrm>
              <a:off x="2286000" y="2133600"/>
              <a:ext cx="0" cy="3886200"/>
              <a:chOff x="2286000" y="2133600"/>
              <a:chExt cx="0" cy="3886200"/>
            </a:xfrm>
          </p:grpSpPr>
          <p:cxnSp>
            <p:nvCxnSpPr>
              <p:cNvPr id="36" name="Straight Connector 35"/>
              <p:cNvCxnSpPr>
                <a:stCxn id="4" idx="1"/>
              </p:cNvCxnSpPr>
              <p:nvPr/>
            </p:nvCxnSpPr>
            <p:spPr>
              <a:xfrm flipV="1">
                <a:off x="2286000" y="2133600"/>
                <a:ext cx="0" cy="1905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>
              <a:xfrm flipV="1">
                <a:off x="2286000" y="4114800"/>
                <a:ext cx="0" cy="1905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9" name="Group 38"/>
            <p:cNvGrpSpPr/>
            <p:nvPr/>
          </p:nvGrpSpPr>
          <p:grpSpPr>
            <a:xfrm>
              <a:off x="6019800" y="2133600"/>
              <a:ext cx="0" cy="3886200"/>
              <a:chOff x="2286000" y="2133600"/>
              <a:chExt cx="0" cy="3886200"/>
            </a:xfrm>
          </p:grpSpPr>
          <p:cxnSp>
            <p:nvCxnSpPr>
              <p:cNvPr id="40" name="Straight Connector 39"/>
              <p:cNvCxnSpPr/>
              <p:nvPr/>
            </p:nvCxnSpPr>
            <p:spPr>
              <a:xfrm flipV="1">
                <a:off x="2286000" y="2133600"/>
                <a:ext cx="0" cy="1905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/>
              <p:cNvCxnSpPr/>
              <p:nvPr/>
            </p:nvCxnSpPr>
            <p:spPr>
              <a:xfrm flipV="1">
                <a:off x="2286000" y="4114800"/>
                <a:ext cx="0" cy="1905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2" name="TextBox 41"/>
            <p:cNvSpPr txBox="1"/>
            <p:nvPr/>
          </p:nvSpPr>
          <p:spPr>
            <a:xfrm>
              <a:off x="2209800" y="2085975"/>
              <a:ext cx="4171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PE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600200" y="2505075"/>
              <a:ext cx="4171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PL</a:t>
              </a:r>
            </a:p>
          </p:txBody>
        </p:sp>
        <p:grpSp>
          <p:nvGrpSpPr>
            <p:cNvPr id="44" name="Group 43"/>
            <p:cNvGrpSpPr/>
            <p:nvPr/>
          </p:nvGrpSpPr>
          <p:grpSpPr>
            <a:xfrm>
              <a:off x="5352400" y="4507468"/>
              <a:ext cx="2115200" cy="1664732"/>
              <a:chOff x="1466200" y="4648200"/>
              <a:chExt cx="2115200" cy="1664732"/>
            </a:xfrm>
          </p:grpSpPr>
          <p:cxnSp>
            <p:nvCxnSpPr>
              <p:cNvPr id="45" name="Straight Arrow Connector 44"/>
              <p:cNvCxnSpPr/>
              <p:nvPr/>
            </p:nvCxnSpPr>
            <p:spPr>
              <a:xfrm flipV="1">
                <a:off x="1600200" y="4953000"/>
                <a:ext cx="1676400" cy="10668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TextBox 45"/>
              <p:cNvSpPr txBox="1"/>
              <p:nvPr/>
            </p:nvSpPr>
            <p:spPr>
              <a:xfrm>
                <a:off x="1466200" y="5943600"/>
                <a:ext cx="3626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v</a:t>
                </a:r>
                <a:r>
                  <a:rPr lang="en-US" baseline="-25000" dirty="0"/>
                  <a:t>0</a:t>
                </a:r>
              </a:p>
            </p:txBody>
          </p:sp>
          <p:sp>
            <p:nvSpPr>
              <p:cNvPr id="47" name="TextBox 46"/>
              <p:cNvSpPr txBox="1"/>
              <p:nvPr/>
            </p:nvSpPr>
            <p:spPr>
              <a:xfrm>
                <a:off x="3218800" y="4648200"/>
                <a:ext cx="3626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v</a:t>
                </a:r>
                <a:r>
                  <a:rPr lang="en-US" baseline="-25000" dirty="0"/>
                  <a:t>1</a:t>
                </a:r>
              </a:p>
            </p:txBody>
          </p:sp>
        </p:grpSp>
        <p:sp>
          <p:nvSpPr>
            <p:cNvPr id="48" name="TextBox 47"/>
            <p:cNvSpPr txBox="1"/>
            <p:nvPr/>
          </p:nvSpPr>
          <p:spPr>
            <a:xfrm>
              <a:off x="6212298" y="4905375"/>
              <a:ext cx="4171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PE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602698" y="5269468"/>
              <a:ext cx="4171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PL</a:t>
              </a:r>
            </a:p>
          </p:txBody>
        </p:sp>
        <p:grpSp>
          <p:nvGrpSpPr>
            <p:cNvPr id="50" name="Group 49"/>
            <p:cNvGrpSpPr/>
            <p:nvPr/>
          </p:nvGrpSpPr>
          <p:grpSpPr>
            <a:xfrm>
              <a:off x="1390000" y="4659868"/>
              <a:ext cx="1487200" cy="1576864"/>
              <a:chOff x="341600" y="4736068"/>
              <a:chExt cx="1487200" cy="1576864"/>
            </a:xfrm>
          </p:grpSpPr>
          <p:cxnSp>
            <p:nvCxnSpPr>
              <p:cNvPr id="51" name="Straight Arrow Connector 50"/>
              <p:cNvCxnSpPr/>
              <p:nvPr/>
            </p:nvCxnSpPr>
            <p:spPr>
              <a:xfrm flipH="1" flipV="1">
                <a:off x="628000" y="4953000"/>
                <a:ext cx="972200" cy="10668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TextBox 51"/>
              <p:cNvSpPr txBox="1"/>
              <p:nvPr/>
            </p:nvSpPr>
            <p:spPr>
              <a:xfrm>
                <a:off x="1466200" y="5943600"/>
                <a:ext cx="3626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v</a:t>
                </a:r>
                <a:r>
                  <a:rPr lang="en-US" baseline="-25000" dirty="0"/>
                  <a:t>0</a:t>
                </a:r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341600" y="4736068"/>
                <a:ext cx="3626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v</a:t>
                </a:r>
                <a:r>
                  <a:rPr lang="en-US" baseline="-25000" dirty="0"/>
                  <a:t>1</a:t>
                </a:r>
              </a:p>
            </p:txBody>
          </p:sp>
        </p:grpSp>
        <p:sp>
          <p:nvSpPr>
            <p:cNvPr id="55" name="TextBox 54"/>
            <p:cNvSpPr txBox="1"/>
            <p:nvPr/>
          </p:nvSpPr>
          <p:spPr>
            <a:xfrm>
              <a:off x="1876425" y="4914900"/>
              <a:ext cx="4171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PE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2247900" y="5295900"/>
              <a:ext cx="4171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PL</a:t>
              </a:r>
            </a:p>
          </p:txBody>
        </p:sp>
        <p:grpSp>
          <p:nvGrpSpPr>
            <p:cNvPr id="57" name="Group 56"/>
            <p:cNvGrpSpPr/>
            <p:nvPr/>
          </p:nvGrpSpPr>
          <p:grpSpPr>
            <a:xfrm>
              <a:off x="5486400" y="2133600"/>
              <a:ext cx="1487200" cy="1576864"/>
              <a:chOff x="341600" y="4736068"/>
              <a:chExt cx="1487200" cy="1576864"/>
            </a:xfrm>
          </p:grpSpPr>
          <p:cxnSp>
            <p:nvCxnSpPr>
              <p:cNvPr id="58" name="Straight Arrow Connector 57"/>
              <p:cNvCxnSpPr/>
              <p:nvPr/>
            </p:nvCxnSpPr>
            <p:spPr>
              <a:xfrm flipH="1" flipV="1">
                <a:off x="628000" y="4953000"/>
                <a:ext cx="972200" cy="10668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TextBox 58"/>
              <p:cNvSpPr txBox="1"/>
              <p:nvPr/>
            </p:nvSpPr>
            <p:spPr>
              <a:xfrm>
                <a:off x="1466200" y="5943600"/>
                <a:ext cx="3626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v</a:t>
                </a:r>
                <a:r>
                  <a:rPr lang="en-US" baseline="-25000" dirty="0"/>
                  <a:t>0</a:t>
                </a:r>
              </a:p>
            </p:txBody>
          </p:sp>
          <p:sp>
            <p:nvSpPr>
              <p:cNvPr id="60" name="TextBox 59"/>
              <p:cNvSpPr txBox="1"/>
              <p:nvPr/>
            </p:nvSpPr>
            <p:spPr>
              <a:xfrm>
                <a:off x="341600" y="4736068"/>
                <a:ext cx="3626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v</a:t>
                </a:r>
                <a:r>
                  <a:rPr lang="en-US" baseline="-25000" dirty="0"/>
                  <a:t>1</a:t>
                </a:r>
              </a:p>
            </p:txBody>
          </p:sp>
        </p:grpSp>
        <p:sp>
          <p:nvSpPr>
            <p:cNvPr id="61" name="TextBox 60"/>
            <p:cNvSpPr txBox="1"/>
            <p:nvPr/>
          </p:nvSpPr>
          <p:spPr>
            <a:xfrm>
              <a:off x="5917023" y="2286000"/>
              <a:ext cx="4171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PE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6124575" y="2545318"/>
              <a:ext cx="4171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PL</a:t>
              </a:r>
            </a:p>
          </p:txBody>
        </p:sp>
      </p:grp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Liang-</a:t>
            </a:r>
            <a:r>
              <a:rPr lang="en-US" dirty="0" err="1"/>
              <a:t>Barsky</a:t>
            </a:r>
            <a:r>
              <a:rPr lang="en-US" dirty="0"/>
              <a:t>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Visible lines are first entering then leaving: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2819400"/>
            <a:ext cx="3733800" cy="243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26"/>
          <p:cNvGrpSpPr/>
          <p:nvPr/>
        </p:nvGrpSpPr>
        <p:grpSpPr>
          <a:xfrm>
            <a:off x="1600200" y="2362200"/>
            <a:ext cx="2115200" cy="1664732"/>
            <a:chOff x="1466200" y="4648200"/>
            <a:chExt cx="2115200" cy="1664732"/>
          </a:xfrm>
        </p:grpSpPr>
        <p:cxnSp>
          <p:nvCxnSpPr>
            <p:cNvPr id="6" name="Straight Arrow Connector 5"/>
            <p:cNvCxnSpPr/>
            <p:nvPr/>
          </p:nvCxnSpPr>
          <p:spPr>
            <a:xfrm flipV="1">
              <a:off x="1600200" y="4953000"/>
              <a:ext cx="1676400" cy="10668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1466200" y="5943600"/>
              <a:ext cx="3626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</a:t>
              </a:r>
              <a:r>
                <a:rPr lang="en-US" baseline="-25000" dirty="0"/>
                <a:t>0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218800" y="4648200"/>
              <a:ext cx="3626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</a:t>
              </a:r>
              <a:r>
                <a:rPr lang="en-US" baseline="-25000" dirty="0"/>
                <a:t>1</a:t>
              </a:r>
            </a:p>
          </p:txBody>
        </p:sp>
      </p:grpSp>
      <p:grpSp>
        <p:nvGrpSpPr>
          <p:cNvPr id="9" name="Group 30"/>
          <p:cNvGrpSpPr/>
          <p:nvPr/>
        </p:nvGrpSpPr>
        <p:grpSpPr>
          <a:xfrm>
            <a:off x="647700" y="2819400"/>
            <a:ext cx="7124700" cy="0"/>
            <a:chOff x="647700" y="2819400"/>
            <a:chExt cx="7124700" cy="0"/>
          </a:xfrm>
        </p:grpSpPr>
        <p:cxnSp>
          <p:nvCxnSpPr>
            <p:cNvPr id="29" name="Straight Connector 28"/>
            <p:cNvCxnSpPr>
              <a:stCxn id="4" idx="0"/>
            </p:cNvCxnSpPr>
            <p:nvPr/>
          </p:nvCxnSpPr>
          <p:spPr>
            <a:xfrm>
              <a:off x="4152900" y="2819400"/>
              <a:ext cx="3619500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647700" y="2819400"/>
              <a:ext cx="3619500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31"/>
          <p:cNvGrpSpPr/>
          <p:nvPr/>
        </p:nvGrpSpPr>
        <p:grpSpPr>
          <a:xfrm>
            <a:off x="685800" y="5257800"/>
            <a:ext cx="7124700" cy="0"/>
            <a:chOff x="647700" y="2819400"/>
            <a:chExt cx="7124700" cy="0"/>
          </a:xfrm>
        </p:grpSpPr>
        <p:cxnSp>
          <p:nvCxnSpPr>
            <p:cNvPr id="33" name="Straight Connector 32"/>
            <p:cNvCxnSpPr/>
            <p:nvPr/>
          </p:nvCxnSpPr>
          <p:spPr>
            <a:xfrm>
              <a:off x="4152900" y="2819400"/>
              <a:ext cx="3619500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647700" y="2819400"/>
              <a:ext cx="3619500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37"/>
          <p:cNvGrpSpPr/>
          <p:nvPr/>
        </p:nvGrpSpPr>
        <p:grpSpPr>
          <a:xfrm>
            <a:off x="2286000" y="2133600"/>
            <a:ext cx="0" cy="3886200"/>
            <a:chOff x="2286000" y="2133600"/>
            <a:chExt cx="0" cy="3886200"/>
          </a:xfrm>
        </p:grpSpPr>
        <p:cxnSp>
          <p:nvCxnSpPr>
            <p:cNvPr id="36" name="Straight Connector 35"/>
            <p:cNvCxnSpPr>
              <a:stCxn id="4" idx="1"/>
            </p:cNvCxnSpPr>
            <p:nvPr/>
          </p:nvCxnSpPr>
          <p:spPr>
            <a:xfrm flipV="1">
              <a:off x="2286000" y="2133600"/>
              <a:ext cx="0" cy="1905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flipV="1">
              <a:off x="2286000" y="4114800"/>
              <a:ext cx="0" cy="1905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38"/>
          <p:cNvGrpSpPr/>
          <p:nvPr/>
        </p:nvGrpSpPr>
        <p:grpSpPr>
          <a:xfrm>
            <a:off x="6019800" y="2133600"/>
            <a:ext cx="0" cy="3886200"/>
            <a:chOff x="2286000" y="2133600"/>
            <a:chExt cx="0" cy="3886200"/>
          </a:xfrm>
        </p:grpSpPr>
        <p:cxnSp>
          <p:nvCxnSpPr>
            <p:cNvPr id="40" name="Straight Connector 39"/>
            <p:cNvCxnSpPr/>
            <p:nvPr/>
          </p:nvCxnSpPr>
          <p:spPr>
            <a:xfrm flipV="1">
              <a:off x="2286000" y="2133600"/>
              <a:ext cx="0" cy="1905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flipV="1">
              <a:off x="2286000" y="4114800"/>
              <a:ext cx="0" cy="1905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TextBox 41"/>
          <p:cNvSpPr txBox="1"/>
          <p:nvPr/>
        </p:nvSpPr>
        <p:spPr>
          <a:xfrm>
            <a:off x="1914525" y="3095625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95600" y="2438400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</a:t>
            </a:r>
          </a:p>
        </p:txBody>
      </p:sp>
      <p:grpSp>
        <p:nvGrpSpPr>
          <p:cNvPr id="13" name="Group 43"/>
          <p:cNvGrpSpPr/>
          <p:nvPr/>
        </p:nvGrpSpPr>
        <p:grpSpPr>
          <a:xfrm>
            <a:off x="4953000" y="4114800"/>
            <a:ext cx="2115200" cy="1664732"/>
            <a:chOff x="1466200" y="4648200"/>
            <a:chExt cx="2115200" cy="1664732"/>
          </a:xfrm>
        </p:grpSpPr>
        <p:cxnSp>
          <p:nvCxnSpPr>
            <p:cNvPr id="45" name="Straight Arrow Connector 44"/>
            <p:cNvCxnSpPr/>
            <p:nvPr/>
          </p:nvCxnSpPr>
          <p:spPr>
            <a:xfrm flipV="1">
              <a:off x="1600200" y="4953000"/>
              <a:ext cx="1676400" cy="10668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/>
            <p:cNvSpPr txBox="1"/>
            <p:nvPr/>
          </p:nvSpPr>
          <p:spPr>
            <a:xfrm>
              <a:off x="1466200" y="5943600"/>
              <a:ext cx="3626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</a:t>
              </a:r>
              <a:r>
                <a:rPr lang="en-US" baseline="-25000" dirty="0"/>
                <a:t>0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3218800" y="4648200"/>
              <a:ext cx="3626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</a:t>
              </a:r>
              <a:r>
                <a:rPr lang="en-US" baseline="-25000" dirty="0"/>
                <a:t>1</a:t>
              </a:r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5133975" y="4953000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57850" y="4600575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</a:t>
            </a:r>
          </a:p>
        </p:txBody>
      </p:sp>
      <p:grpSp>
        <p:nvGrpSpPr>
          <p:cNvPr id="14" name="Group 49"/>
          <p:cNvGrpSpPr/>
          <p:nvPr/>
        </p:nvGrpSpPr>
        <p:grpSpPr>
          <a:xfrm>
            <a:off x="1752600" y="4191000"/>
            <a:ext cx="1487200" cy="1576864"/>
            <a:chOff x="341600" y="4736068"/>
            <a:chExt cx="1487200" cy="1576864"/>
          </a:xfrm>
        </p:grpSpPr>
        <p:cxnSp>
          <p:nvCxnSpPr>
            <p:cNvPr id="51" name="Straight Arrow Connector 50"/>
            <p:cNvCxnSpPr/>
            <p:nvPr/>
          </p:nvCxnSpPr>
          <p:spPr>
            <a:xfrm flipH="1" flipV="1">
              <a:off x="628000" y="4953000"/>
              <a:ext cx="972200" cy="10668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/>
            <p:cNvSpPr txBox="1"/>
            <p:nvPr/>
          </p:nvSpPr>
          <p:spPr>
            <a:xfrm>
              <a:off x="1466200" y="5943600"/>
              <a:ext cx="3626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</a:t>
              </a:r>
              <a:r>
                <a:rPr lang="en-US" baseline="-25000" dirty="0"/>
                <a:t>0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41600" y="4736068"/>
              <a:ext cx="3626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</a:t>
              </a:r>
              <a:r>
                <a:rPr lang="en-US" baseline="-25000" dirty="0"/>
                <a:t>1</a:t>
              </a:r>
            </a:p>
          </p:txBody>
        </p:sp>
      </p:grpSp>
      <p:sp>
        <p:nvSpPr>
          <p:cNvPr id="55" name="TextBox 54"/>
          <p:cNvSpPr txBox="1"/>
          <p:nvPr/>
        </p:nvSpPr>
        <p:spPr>
          <a:xfrm>
            <a:off x="2239025" y="443436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16623" y="4926568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</a:t>
            </a:r>
          </a:p>
        </p:txBody>
      </p:sp>
      <p:grpSp>
        <p:nvGrpSpPr>
          <p:cNvPr id="15" name="Group 56"/>
          <p:cNvGrpSpPr/>
          <p:nvPr/>
        </p:nvGrpSpPr>
        <p:grpSpPr>
          <a:xfrm>
            <a:off x="5029200" y="2438400"/>
            <a:ext cx="1487200" cy="1576864"/>
            <a:chOff x="341600" y="4736068"/>
            <a:chExt cx="1487200" cy="1576864"/>
          </a:xfrm>
        </p:grpSpPr>
        <p:cxnSp>
          <p:nvCxnSpPr>
            <p:cNvPr id="58" name="Straight Arrow Connector 57"/>
            <p:cNvCxnSpPr/>
            <p:nvPr/>
          </p:nvCxnSpPr>
          <p:spPr>
            <a:xfrm flipH="1" flipV="1">
              <a:off x="628000" y="4953000"/>
              <a:ext cx="972200" cy="10668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/>
            <p:cNvSpPr txBox="1"/>
            <p:nvPr/>
          </p:nvSpPr>
          <p:spPr>
            <a:xfrm>
              <a:off x="1466200" y="5943600"/>
              <a:ext cx="3626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</a:t>
              </a:r>
              <a:r>
                <a:rPr lang="en-US" baseline="-25000" dirty="0"/>
                <a:t>0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341600" y="4736068"/>
              <a:ext cx="3626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</a:t>
              </a:r>
              <a:r>
                <a:rPr lang="en-US" baseline="-25000" dirty="0"/>
                <a:t>1</a:t>
              </a:r>
            </a:p>
          </p:txBody>
        </p:sp>
      </p:grpSp>
      <p:sp>
        <p:nvSpPr>
          <p:cNvPr id="61" name="TextBox 60"/>
          <p:cNvSpPr txBox="1"/>
          <p:nvPr/>
        </p:nvSpPr>
        <p:spPr>
          <a:xfrm>
            <a:off x="5410200" y="2514600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74173" y="3171825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</a:t>
            </a:r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Liang-</a:t>
            </a:r>
            <a:r>
              <a:rPr lang="en-US" dirty="0" err="1"/>
              <a:t>Barsky</a:t>
            </a:r>
            <a:r>
              <a:rPr lang="en-US" dirty="0"/>
              <a:t>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Also note that for a 2D clipping rectangle, each line will enter and leave twice: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43</a:t>
            </a:fld>
            <a:endParaRPr lang="en-US"/>
          </a:p>
        </p:txBody>
      </p:sp>
      <p:cxnSp>
        <p:nvCxnSpPr>
          <p:cNvPr id="45" name="Straight Arrow Connector 44"/>
          <p:cNvCxnSpPr/>
          <p:nvPr/>
        </p:nvCxnSpPr>
        <p:spPr>
          <a:xfrm flipV="1">
            <a:off x="2438400" y="2895600"/>
            <a:ext cx="3886200" cy="2971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1981200" y="3655103"/>
            <a:ext cx="56388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1994452" y="5397764"/>
            <a:ext cx="56388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>
            <a:off x="3733800" y="2895600"/>
            <a:ext cx="0" cy="354624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5787886" y="2829339"/>
            <a:ext cx="0" cy="354624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3733800" y="3655103"/>
            <a:ext cx="2057400" cy="1752600"/>
          </a:xfrm>
          <a:prstGeom prst="rect">
            <a:avLst/>
          </a:prstGeom>
          <a:noFill/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/>
          <p:cNvSpPr/>
          <p:nvPr/>
        </p:nvSpPr>
        <p:spPr>
          <a:xfrm>
            <a:off x="2938670" y="5295900"/>
            <a:ext cx="228600" cy="2286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3621156" y="4789025"/>
            <a:ext cx="228600" cy="2286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/>
          <p:cNvSpPr/>
          <p:nvPr/>
        </p:nvSpPr>
        <p:spPr>
          <a:xfrm>
            <a:off x="5257800" y="3544956"/>
            <a:ext cx="228600" cy="2286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/>
          <p:cNvSpPr/>
          <p:nvPr/>
        </p:nvSpPr>
        <p:spPr>
          <a:xfrm>
            <a:off x="5691810" y="3197128"/>
            <a:ext cx="228600" cy="2286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/>
          <p:cNvSpPr txBox="1"/>
          <p:nvPr/>
        </p:nvSpPr>
        <p:spPr>
          <a:xfrm>
            <a:off x="3006547" y="5454219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821179" y="4811704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285878" y="3765251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890297" y="3185657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</a:t>
            </a:r>
          </a:p>
        </p:txBody>
      </p:sp>
    </p:spTree>
    <p:extLst>
      <p:ext uri="{BB962C8B-B14F-4D97-AF65-F5344CB8AC3E}">
        <p14:creationId xmlns:p14="http://schemas.microsoft.com/office/powerpoint/2010/main" val="921144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6" grpId="0" animBg="1"/>
      <p:bldP spid="57" grpId="0" animBg="1"/>
      <p:bldP spid="58" grpId="0" animBg="1"/>
      <p:bldP spid="59" grpId="0"/>
      <p:bldP spid="60" grpId="0"/>
      <p:bldP spid="61" grpId="0"/>
      <p:bldP spid="6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Liang-</a:t>
            </a:r>
            <a:r>
              <a:rPr lang="en-US" dirty="0" err="1"/>
              <a:t>Barsky</a:t>
            </a:r>
            <a:r>
              <a:rPr lang="en-US" dirty="0"/>
              <a:t>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Also note that for a 2D clipping rectangle, each line will enter and leave twice: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44</a:t>
            </a:fld>
            <a:endParaRPr lang="en-US"/>
          </a:p>
        </p:txBody>
      </p:sp>
      <p:cxnSp>
        <p:nvCxnSpPr>
          <p:cNvPr id="45" name="Straight Arrow Connector 44"/>
          <p:cNvCxnSpPr/>
          <p:nvPr/>
        </p:nvCxnSpPr>
        <p:spPr>
          <a:xfrm flipV="1">
            <a:off x="952368" y="2592574"/>
            <a:ext cx="6140515" cy="30840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1981200" y="4200843"/>
            <a:ext cx="56388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1994452" y="5397764"/>
            <a:ext cx="56388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>
            <a:off x="4374452" y="2895600"/>
            <a:ext cx="0" cy="354624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5787886" y="2829339"/>
            <a:ext cx="0" cy="354624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4374452" y="4200843"/>
            <a:ext cx="1416747" cy="1206859"/>
          </a:xfrm>
          <a:prstGeom prst="rect">
            <a:avLst/>
          </a:prstGeom>
          <a:noFill/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/>
          <p:cNvSpPr/>
          <p:nvPr/>
        </p:nvSpPr>
        <p:spPr>
          <a:xfrm>
            <a:off x="1462323" y="5283464"/>
            <a:ext cx="228600" cy="2286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4282937" y="3843514"/>
            <a:ext cx="228600" cy="2286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/>
          <p:cNvSpPr/>
          <p:nvPr/>
        </p:nvSpPr>
        <p:spPr>
          <a:xfrm>
            <a:off x="3816996" y="4086543"/>
            <a:ext cx="228600" cy="2286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/>
          <p:cNvSpPr/>
          <p:nvPr/>
        </p:nvSpPr>
        <p:spPr>
          <a:xfrm>
            <a:off x="5691810" y="3197128"/>
            <a:ext cx="228600" cy="2286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/>
          <p:cNvSpPr txBox="1"/>
          <p:nvPr/>
        </p:nvSpPr>
        <p:spPr>
          <a:xfrm>
            <a:off x="1660810" y="5407374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847335" y="4288317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77289" y="3831510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890297" y="3185657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7016" y="2819400"/>
            <a:ext cx="32879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the </a:t>
            </a:r>
            <a:r>
              <a:rPr lang="en-US" b="1" dirty="0"/>
              <a:t>first leave </a:t>
            </a:r>
            <a:r>
              <a:rPr lang="en-US" dirty="0"/>
              <a:t>happens before</a:t>
            </a:r>
          </a:p>
          <a:p>
            <a:r>
              <a:rPr lang="en-US" dirty="0"/>
              <a:t>the </a:t>
            </a:r>
            <a:r>
              <a:rPr lang="en-US" b="1" dirty="0"/>
              <a:t>last entrance</a:t>
            </a:r>
            <a:r>
              <a:rPr lang="en-US" dirty="0"/>
              <a:t>, the line cannot</a:t>
            </a:r>
          </a:p>
          <a:p>
            <a:r>
              <a:rPr lang="en-US" dirty="0"/>
              <a:t>be visible</a:t>
            </a:r>
          </a:p>
        </p:txBody>
      </p:sp>
    </p:spTree>
    <p:extLst>
      <p:ext uri="{BB962C8B-B14F-4D97-AF65-F5344CB8AC3E}">
        <p14:creationId xmlns:p14="http://schemas.microsoft.com/office/powerpoint/2010/main" val="999605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6" grpId="0" animBg="1"/>
      <p:bldP spid="57" grpId="0" animBg="1"/>
      <p:bldP spid="58" grpId="0" animBg="1"/>
      <p:bldP spid="59" grpId="0"/>
      <p:bldP spid="60" grpId="0"/>
      <p:bldP spid="61" grpId="0"/>
      <p:bldP spid="62" grpId="0"/>
      <p:bldP spid="8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Liang-</a:t>
            </a:r>
            <a:r>
              <a:rPr lang="en-US" dirty="0" err="1"/>
              <a:t>Barsky</a:t>
            </a:r>
            <a:r>
              <a:rPr lang="en-US" dirty="0"/>
              <a:t>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Mathematical interpretation: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So at intersection points, we need to compute the </a:t>
            </a:r>
            <a:r>
              <a:rPr lang="en-US" b="1" dirty="0"/>
              <a:t>t</a:t>
            </a:r>
            <a:r>
              <a:rPr lang="en-US" dirty="0"/>
              <a:t> value as well as whether the line is </a:t>
            </a:r>
            <a:r>
              <a:rPr lang="en-US" b="1" dirty="0"/>
              <a:t>PE</a:t>
            </a:r>
            <a:r>
              <a:rPr lang="en-US" dirty="0"/>
              <a:t> or </a:t>
            </a:r>
            <a:r>
              <a:rPr lang="en-US" b="1" dirty="0"/>
              <a:t>PL</a:t>
            </a:r>
            <a:r>
              <a:rPr lang="en-US" dirty="0"/>
              <a:t> at that point</a:t>
            </a:r>
          </a:p>
        </p:txBody>
      </p:sp>
      <p:grpSp>
        <p:nvGrpSpPr>
          <p:cNvPr id="44" name="Group 43"/>
          <p:cNvGrpSpPr/>
          <p:nvPr/>
        </p:nvGrpSpPr>
        <p:grpSpPr>
          <a:xfrm>
            <a:off x="152400" y="3810000"/>
            <a:ext cx="4213412" cy="2286000"/>
            <a:chOff x="647700" y="2133600"/>
            <a:chExt cx="7162800" cy="3886200"/>
          </a:xfrm>
        </p:grpSpPr>
        <p:sp>
          <p:nvSpPr>
            <p:cNvPr id="4" name="Rectangle 3"/>
            <p:cNvSpPr/>
            <p:nvPr/>
          </p:nvSpPr>
          <p:spPr>
            <a:xfrm>
              <a:off x="2286000" y="2819400"/>
              <a:ext cx="3733800" cy="24384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grpSp>
          <p:nvGrpSpPr>
            <p:cNvPr id="5" name="Group 26"/>
            <p:cNvGrpSpPr/>
            <p:nvPr/>
          </p:nvGrpSpPr>
          <p:grpSpPr>
            <a:xfrm>
              <a:off x="1600200" y="2362200"/>
              <a:ext cx="2235489" cy="1713976"/>
              <a:chOff x="1466200" y="4648200"/>
              <a:chExt cx="2235489" cy="1713976"/>
            </a:xfrm>
          </p:grpSpPr>
          <p:cxnSp>
            <p:nvCxnSpPr>
              <p:cNvPr id="6" name="Straight Arrow Connector 5"/>
              <p:cNvCxnSpPr/>
              <p:nvPr/>
            </p:nvCxnSpPr>
            <p:spPr>
              <a:xfrm flipV="1">
                <a:off x="1600200" y="4953000"/>
                <a:ext cx="1676400" cy="10668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TextBox 6"/>
              <p:cNvSpPr txBox="1"/>
              <p:nvPr/>
            </p:nvSpPr>
            <p:spPr>
              <a:xfrm>
                <a:off x="1466200" y="5943600"/>
                <a:ext cx="482889" cy="4185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/>
                  <a:t>v</a:t>
                </a:r>
                <a:r>
                  <a:rPr lang="en-US" sz="1000" baseline="-25000" dirty="0"/>
                  <a:t>0</a:t>
                </a:r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3218800" y="4648200"/>
                <a:ext cx="482889" cy="4185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/>
                  <a:t>v</a:t>
                </a:r>
                <a:r>
                  <a:rPr lang="en-US" sz="1000" baseline="-25000" dirty="0"/>
                  <a:t>1</a:t>
                </a:r>
              </a:p>
            </p:txBody>
          </p:sp>
        </p:grpSp>
        <p:grpSp>
          <p:nvGrpSpPr>
            <p:cNvPr id="9" name="Group 30"/>
            <p:cNvGrpSpPr/>
            <p:nvPr/>
          </p:nvGrpSpPr>
          <p:grpSpPr>
            <a:xfrm>
              <a:off x="647700" y="2819400"/>
              <a:ext cx="7124700" cy="0"/>
              <a:chOff x="647700" y="2819400"/>
              <a:chExt cx="7124700" cy="0"/>
            </a:xfrm>
          </p:grpSpPr>
          <p:cxnSp>
            <p:nvCxnSpPr>
              <p:cNvPr id="29" name="Straight Connector 28"/>
              <p:cNvCxnSpPr>
                <a:stCxn id="4" idx="0"/>
              </p:cNvCxnSpPr>
              <p:nvPr/>
            </p:nvCxnSpPr>
            <p:spPr>
              <a:xfrm>
                <a:off x="4152900" y="2819400"/>
                <a:ext cx="3619500" cy="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>
              <a:xfrm>
                <a:off x="647700" y="2819400"/>
                <a:ext cx="3619500" cy="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Group 31"/>
            <p:cNvGrpSpPr/>
            <p:nvPr/>
          </p:nvGrpSpPr>
          <p:grpSpPr>
            <a:xfrm>
              <a:off x="685800" y="5257800"/>
              <a:ext cx="7124700" cy="0"/>
              <a:chOff x="647700" y="2819400"/>
              <a:chExt cx="7124700" cy="0"/>
            </a:xfrm>
          </p:grpSpPr>
          <p:cxnSp>
            <p:nvCxnSpPr>
              <p:cNvPr id="33" name="Straight Connector 32"/>
              <p:cNvCxnSpPr/>
              <p:nvPr/>
            </p:nvCxnSpPr>
            <p:spPr>
              <a:xfrm>
                <a:off x="4152900" y="2819400"/>
                <a:ext cx="3619500" cy="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>
              <a:xfrm>
                <a:off x="647700" y="2819400"/>
                <a:ext cx="3619500" cy="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37"/>
            <p:cNvGrpSpPr/>
            <p:nvPr/>
          </p:nvGrpSpPr>
          <p:grpSpPr>
            <a:xfrm>
              <a:off x="2286000" y="2133600"/>
              <a:ext cx="0" cy="3886200"/>
              <a:chOff x="2286000" y="2133600"/>
              <a:chExt cx="0" cy="3886200"/>
            </a:xfrm>
          </p:grpSpPr>
          <p:cxnSp>
            <p:nvCxnSpPr>
              <p:cNvPr id="36" name="Straight Connector 35"/>
              <p:cNvCxnSpPr>
                <a:stCxn id="4" idx="1"/>
              </p:cNvCxnSpPr>
              <p:nvPr/>
            </p:nvCxnSpPr>
            <p:spPr>
              <a:xfrm flipV="1">
                <a:off x="2286000" y="2133600"/>
                <a:ext cx="0" cy="1905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>
              <a:xfrm flipV="1">
                <a:off x="2286000" y="4114800"/>
                <a:ext cx="0" cy="1905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Group 38"/>
            <p:cNvGrpSpPr/>
            <p:nvPr/>
          </p:nvGrpSpPr>
          <p:grpSpPr>
            <a:xfrm>
              <a:off x="6019800" y="2133600"/>
              <a:ext cx="0" cy="3886200"/>
              <a:chOff x="2286000" y="2133600"/>
              <a:chExt cx="0" cy="3886200"/>
            </a:xfrm>
          </p:grpSpPr>
          <p:cxnSp>
            <p:nvCxnSpPr>
              <p:cNvPr id="40" name="Straight Connector 39"/>
              <p:cNvCxnSpPr/>
              <p:nvPr/>
            </p:nvCxnSpPr>
            <p:spPr>
              <a:xfrm flipV="1">
                <a:off x="2286000" y="2133600"/>
                <a:ext cx="0" cy="1905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/>
              <p:cNvCxnSpPr/>
              <p:nvPr/>
            </p:nvCxnSpPr>
            <p:spPr>
              <a:xfrm flipV="1">
                <a:off x="2286000" y="4114800"/>
                <a:ext cx="0" cy="1905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2" name="TextBox 41"/>
            <p:cNvSpPr txBox="1"/>
            <p:nvPr/>
          </p:nvSpPr>
          <p:spPr>
            <a:xfrm>
              <a:off x="1914525" y="3095625"/>
              <a:ext cx="534667" cy="4185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PE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2895600" y="2438400"/>
              <a:ext cx="531940" cy="4185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PL</a:t>
              </a:r>
            </a:p>
          </p:txBody>
        </p:sp>
        <p:grpSp>
          <p:nvGrpSpPr>
            <p:cNvPr id="13" name="Group 43"/>
            <p:cNvGrpSpPr/>
            <p:nvPr/>
          </p:nvGrpSpPr>
          <p:grpSpPr>
            <a:xfrm>
              <a:off x="4953000" y="4114800"/>
              <a:ext cx="2235489" cy="1713976"/>
              <a:chOff x="1466200" y="4648200"/>
              <a:chExt cx="2235489" cy="1713976"/>
            </a:xfrm>
          </p:grpSpPr>
          <p:cxnSp>
            <p:nvCxnSpPr>
              <p:cNvPr id="45" name="Straight Arrow Connector 44"/>
              <p:cNvCxnSpPr/>
              <p:nvPr/>
            </p:nvCxnSpPr>
            <p:spPr>
              <a:xfrm flipV="1">
                <a:off x="1600200" y="4953000"/>
                <a:ext cx="1676400" cy="10668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TextBox 45"/>
              <p:cNvSpPr txBox="1"/>
              <p:nvPr/>
            </p:nvSpPr>
            <p:spPr>
              <a:xfrm>
                <a:off x="1466200" y="5943600"/>
                <a:ext cx="482889" cy="4185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/>
                  <a:t>v</a:t>
                </a:r>
                <a:r>
                  <a:rPr lang="en-US" sz="1000" baseline="-25000" dirty="0"/>
                  <a:t>0</a:t>
                </a:r>
              </a:p>
            </p:txBody>
          </p:sp>
          <p:sp>
            <p:nvSpPr>
              <p:cNvPr id="47" name="TextBox 46"/>
              <p:cNvSpPr txBox="1"/>
              <p:nvPr/>
            </p:nvSpPr>
            <p:spPr>
              <a:xfrm>
                <a:off x="3218800" y="4648200"/>
                <a:ext cx="482889" cy="4185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/>
                  <a:t>v</a:t>
                </a:r>
                <a:r>
                  <a:rPr lang="en-US" sz="1000" baseline="-25000" dirty="0"/>
                  <a:t>1</a:t>
                </a:r>
              </a:p>
            </p:txBody>
          </p:sp>
        </p:grpSp>
        <p:sp>
          <p:nvSpPr>
            <p:cNvPr id="48" name="TextBox 47"/>
            <p:cNvSpPr txBox="1"/>
            <p:nvPr/>
          </p:nvSpPr>
          <p:spPr>
            <a:xfrm>
              <a:off x="5133974" y="4953001"/>
              <a:ext cx="534667" cy="4185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PE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657850" y="4600575"/>
              <a:ext cx="531940" cy="4185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PL</a:t>
              </a:r>
            </a:p>
          </p:txBody>
        </p:sp>
        <p:grpSp>
          <p:nvGrpSpPr>
            <p:cNvPr id="14" name="Group 49"/>
            <p:cNvGrpSpPr/>
            <p:nvPr/>
          </p:nvGrpSpPr>
          <p:grpSpPr>
            <a:xfrm>
              <a:off x="1752600" y="4191000"/>
              <a:ext cx="1607489" cy="1626108"/>
              <a:chOff x="341600" y="4736068"/>
              <a:chExt cx="1607489" cy="1626108"/>
            </a:xfrm>
          </p:grpSpPr>
          <p:cxnSp>
            <p:nvCxnSpPr>
              <p:cNvPr id="51" name="Straight Arrow Connector 50"/>
              <p:cNvCxnSpPr/>
              <p:nvPr/>
            </p:nvCxnSpPr>
            <p:spPr>
              <a:xfrm flipH="1" flipV="1">
                <a:off x="628000" y="4953000"/>
                <a:ext cx="972200" cy="10668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TextBox 51"/>
              <p:cNvSpPr txBox="1"/>
              <p:nvPr/>
            </p:nvSpPr>
            <p:spPr>
              <a:xfrm>
                <a:off x="1466201" y="5943600"/>
                <a:ext cx="482888" cy="4185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/>
                  <a:t>v</a:t>
                </a:r>
                <a:r>
                  <a:rPr lang="en-US" sz="1000" baseline="-25000" dirty="0"/>
                  <a:t>0</a:t>
                </a:r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341600" y="4736068"/>
                <a:ext cx="482888" cy="4185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/>
                  <a:t>v</a:t>
                </a:r>
                <a:r>
                  <a:rPr lang="en-US" sz="1000" baseline="-25000" dirty="0"/>
                  <a:t>1</a:t>
                </a:r>
              </a:p>
            </p:txBody>
          </p:sp>
        </p:grpSp>
        <p:sp>
          <p:nvSpPr>
            <p:cNvPr id="55" name="TextBox 54"/>
            <p:cNvSpPr txBox="1"/>
            <p:nvPr/>
          </p:nvSpPr>
          <p:spPr>
            <a:xfrm>
              <a:off x="2239026" y="4434365"/>
              <a:ext cx="531940" cy="4185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PL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2716624" y="4926567"/>
              <a:ext cx="534667" cy="4185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PE</a:t>
              </a:r>
            </a:p>
          </p:txBody>
        </p:sp>
        <p:grpSp>
          <p:nvGrpSpPr>
            <p:cNvPr id="15" name="Group 56"/>
            <p:cNvGrpSpPr/>
            <p:nvPr/>
          </p:nvGrpSpPr>
          <p:grpSpPr>
            <a:xfrm>
              <a:off x="5029200" y="2438400"/>
              <a:ext cx="1607489" cy="1626108"/>
              <a:chOff x="341600" y="4736068"/>
              <a:chExt cx="1607489" cy="1626108"/>
            </a:xfrm>
          </p:grpSpPr>
          <p:cxnSp>
            <p:nvCxnSpPr>
              <p:cNvPr id="58" name="Straight Arrow Connector 57"/>
              <p:cNvCxnSpPr/>
              <p:nvPr/>
            </p:nvCxnSpPr>
            <p:spPr>
              <a:xfrm flipH="1" flipV="1">
                <a:off x="628000" y="4953000"/>
                <a:ext cx="972200" cy="10668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TextBox 58"/>
              <p:cNvSpPr txBox="1"/>
              <p:nvPr/>
            </p:nvSpPr>
            <p:spPr>
              <a:xfrm>
                <a:off x="1466201" y="5943600"/>
                <a:ext cx="482888" cy="4185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/>
                  <a:t>v</a:t>
                </a:r>
                <a:r>
                  <a:rPr lang="en-US" sz="1000" baseline="-25000" dirty="0"/>
                  <a:t>0</a:t>
                </a:r>
              </a:p>
            </p:txBody>
          </p:sp>
          <p:sp>
            <p:nvSpPr>
              <p:cNvPr id="60" name="TextBox 59"/>
              <p:cNvSpPr txBox="1"/>
              <p:nvPr/>
            </p:nvSpPr>
            <p:spPr>
              <a:xfrm>
                <a:off x="341600" y="4736068"/>
                <a:ext cx="482888" cy="4185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/>
                  <a:t>v</a:t>
                </a:r>
                <a:r>
                  <a:rPr lang="en-US" sz="1000" baseline="-25000" dirty="0"/>
                  <a:t>1</a:t>
                </a:r>
              </a:p>
            </p:txBody>
          </p:sp>
        </p:grpSp>
        <p:sp>
          <p:nvSpPr>
            <p:cNvPr id="61" name="TextBox 60"/>
            <p:cNvSpPr txBox="1"/>
            <p:nvPr/>
          </p:nvSpPr>
          <p:spPr>
            <a:xfrm>
              <a:off x="5410200" y="2514601"/>
              <a:ext cx="531940" cy="4185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PL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5974174" y="3171826"/>
              <a:ext cx="534667" cy="4185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PE</a:t>
              </a:r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4572000" y="3733800"/>
            <a:ext cx="4196834" cy="2523227"/>
            <a:chOff x="647700" y="1981200"/>
            <a:chExt cx="7162800" cy="4306430"/>
          </a:xfrm>
        </p:grpSpPr>
        <p:sp>
          <p:nvSpPr>
            <p:cNvPr id="54" name="Rectangle 53"/>
            <p:cNvSpPr/>
            <p:nvPr/>
          </p:nvSpPr>
          <p:spPr>
            <a:xfrm>
              <a:off x="2286000" y="2819400"/>
              <a:ext cx="3733800" cy="24384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grpSp>
          <p:nvGrpSpPr>
            <p:cNvPr id="57" name="Group 26"/>
            <p:cNvGrpSpPr/>
            <p:nvPr/>
          </p:nvGrpSpPr>
          <p:grpSpPr>
            <a:xfrm>
              <a:off x="914400" y="1981200"/>
              <a:ext cx="2237396" cy="1715629"/>
              <a:chOff x="1466200" y="4648200"/>
              <a:chExt cx="2237396" cy="1715629"/>
            </a:xfrm>
          </p:grpSpPr>
          <p:cxnSp>
            <p:nvCxnSpPr>
              <p:cNvPr id="95" name="Straight Arrow Connector 5"/>
              <p:cNvCxnSpPr/>
              <p:nvPr/>
            </p:nvCxnSpPr>
            <p:spPr>
              <a:xfrm flipV="1">
                <a:off x="1600200" y="4953000"/>
                <a:ext cx="1676400" cy="10668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6" name="TextBox 6"/>
              <p:cNvSpPr txBox="1"/>
              <p:nvPr/>
            </p:nvSpPr>
            <p:spPr>
              <a:xfrm>
                <a:off x="1466200" y="5943600"/>
                <a:ext cx="484796" cy="4202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/>
                  <a:t>v</a:t>
                </a:r>
                <a:r>
                  <a:rPr lang="en-US" sz="1000" baseline="-25000" dirty="0"/>
                  <a:t>0</a:t>
                </a:r>
              </a:p>
            </p:txBody>
          </p:sp>
          <p:sp>
            <p:nvSpPr>
              <p:cNvPr id="97" name="TextBox 7"/>
              <p:cNvSpPr txBox="1"/>
              <p:nvPr/>
            </p:nvSpPr>
            <p:spPr>
              <a:xfrm>
                <a:off x="3218800" y="4648200"/>
                <a:ext cx="484796" cy="4202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/>
                  <a:t>v</a:t>
                </a:r>
                <a:r>
                  <a:rPr lang="en-US" sz="1000" baseline="-25000" dirty="0"/>
                  <a:t>1</a:t>
                </a:r>
              </a:p>
            </p:txBody>
          </p:sp>
        </p:grpSp>
        <p:grpSp>
          <p:nvGrpSpPr>
            <p:cNvPr id="63" name="Group 30"/>
            <p:cNvGrpSpPr/>
            <p:nvPr/>
          </p:nvGrpSpPr>
          <p:grpSpPr>
            <a:xfrm>
              <a:off x="647700" y="2819400"/>
              <a:ext cx="7124700" cy="0"/>
              <a:chOff x="647700" y="2819400"/>
              <a:chExt cx="7124700" cy="0"/>
            </a:xfrm>
          </p:grpSpPr>
          <p:cxnSp>
            <p:nvCxnSpPr>
              <p:cNvPr id="93" name="Straight Connector 92"/>
              <p:cNvCxnSpPr>
                <a:stCxn id="54" idx="0"/>
              </p:cNvCxnSpPr>
              <p:nvPr/>
            </p:nvCxnSpPr>
            <p:spPr>
              <a:xfrm>
                <a:off x="4152900" y="2819400"/>
                <a:ext cx="3619500" cy="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/>
              <p:cNvCxnSpPr/>
              <p:nvPr/>
            </p:nvCxnSpPr>
            <p:spPr>
              <a:xfrm>
                <a:off x="647700" y="2819400"/>
                <a:ext cx="3619500" cy="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4" name="Group 31"/>
            <p:cNvGrpSpPr/>
            <p:nvPr/>
          </p:nvGrpSpPr>
          <p:grpSpPr>
            <a:xfrm>
              <a:off x="685800" y="5257800"/>
              <a:ext cx="7124700" cy="0"/>
              <a:chOff x="647700" y="2819400"/>
              <a:chExt cx="7124700" cy="0"/>
            </a:xfrm>
          </p:grpSpPr>
          <p:cxnSp>
            <p:nvCxnSpPr>
              <p:cNvPr id="91" name="Straight Connector 90"/>
              <p:cNvCxnSpPr/>
              <p:nvPr/>
            </p:nvCxnSpPr>
            <p:spPr>
              <a:xfrm>
                <a:off x="4152900" y="2819400"/>
                <a:ext cx="3619500" cy="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/>
              <p:cNvCxnSpPr/>
              <p:nvPr/>
            </p:nvCxnSpPr>
            <p:spPr>
              <a:xfrm>
                <a:off x="647700" y="2819400"/>
                <a:ext cx="3619500" cy="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37"/>
            <p:cNvGrpSpPr/>
            <p:nvPr/>
          </p:nvGrpSpPr>
          <p:grpSpPr>
            <a:xfrm>
              <a:off x="2286000" y="2133600"/>
              <a:ext cx="0" cy="3886200"/>
              <a:chOff x="2286000" y="2133600"/>
              <a:chExt cx="0" cy="3886200"/>
            </a:xfrm>
          </p:grpSpPr>
          <p:cxnSp>
            <p:nvCxnSpPr>
              <p:cNvPr id="89" name="Straight Connector 88"/>
              <p:cNvCxnSpPr>
                <a:stCxn id="54" idx="1"/>
              </p:cNvCxnSpPr>
              <p:nvPr/>
            </p:nvCxnSpPr>
            <p:spPr>
              <a:xfrm flipV="1">
                <a:off x="2286000" y="2133600"/>
                <a:ext cx="0" cy="1905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/>
              <p:cNvCxnSpPr/>
              <p:nvPr/>
            </p:nvCxnSpPr>
            <p:spPr>
              <a:xfrm flipV="1">
                <a:off x="2286000" y="4114800"/>
                <a:ext cx="0" cy="1905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6" name="Group 38"/>
            <p:cNvGrpSpPr/>
            <p:nvPr/>
          </p:nvGrpSpPr>
          <p:grpSpPr>
            <a:xfrm>
              <a:off x="6019800" y="2133600"/>
              <a:ext cx="0" cy="3886200"/>
              <a:chOff x="2286000" y="2133600"/>
              <a:chExt cx="0" cy="3886200"/>
            </a:xfrm>
          </p:grpSpPr>
          <p:cxnSp>
            <p:nvCxnSpPr>
              <p:cNvPr id="87" name="Straight Connector 86"/>
              <p:cNvCxnSpPr/>
              <p:nvPr/>
            </p:nvCxnSpPr>
            <p:spPr>
              <a:xfrm flipV="1">
                <a:off x="2286000" y="2133600"/>
                <a:ext cx="0" cy="1905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/>
              <p:cNvCxnSpPr/>
              <p:nvPr/>
            </p:nvCxnSpPr>
            <p:spPr>
              <a:xfrm flipV="1">
                <a:off x="2286000" y="4114800"/>
                <a:ext cx="0" cy="1905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7" name="TextBox 66"/>
            <p:cNvSpPr txBox="1"/>
            <p:nvPr/>
          </p:nvSpPr>
          <p:spPr>
            <a:xfrm>
              <a:off x="2209800" y="2085975"/>
              <a:ext cx="536779" cy="4202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PE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1600201" y="2505074"/>
              <a:ext cx="534041" cy="4202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PL</a:t>
              </a:r>
            </a:p>
          </p:txBody>
        </p:sp>
        <p:grpSp>
          <p:nvGrpSpPr>
            <p:cNvPr id="69" name="Group 43"/>
            <p:cNvGrpSpPr/>
            <p:nvPr/>
          </p:nvGrpSpPr>
          <p:grpSpPr>
            <a:xfrm>
              <a:off x="5352400" y="4507468"/>
              <a:ext cx="2237396" cy="1715629"/>
              <a:chOff x="1466200" y="4648200"/>
              <a:chExt cx="2237396" cy="1715629"/>
            </a:xfrm>
          </p:grpSpPr>
          <p:cxnSp>
            <p:nvCxnSpPr>
              <p:cNvPr id="84" name="Straight Arrow Connector 83"/>
              <p:cNvCxnSpPr/>
              <p:nvPr/>
            </p:nvCxnSpPr>
            <p:spPr>
              <a:xfrm flipV="1">
                <a:off x="1600200" y="4953000"/>
                <a:ext cx="1676400" cy="10668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5" name="TextBox 84"/>
              <p:cNvSpPr txBox="1"/>
              <p:nvPr/>
            </p:nvSpPr>
            <p:spPr>
              <a:xfrm>
                <a:off x="1466200" y="5943600"/>
                <a:ext cx="484796" cy="4202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/>
                  <a:t>v</a:t>
                </a:r>
                <a:r>
                  <a:rPr lang="en-US" sz="1000" baseline="-25000" dirty="0"/>
                  <a:t>0</a:t>
                </a:r>
              </a:p>
            </p:txBody>
          </p:sp>
          <p:sp>
            <p:nvSpPr>
              <p:cNvPr id="86" name="TextBox 85"/>
              <p:cNvSpPr txBox="1"/>
              <p:nvPr/>
            </p:nvSpPr>
            <p:spPr>
              <a:xfrm>
                <a:off x="3218800" y="4648200"/>
                <a:ext cx="484796" cy="4202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/>
                  <a:t>v</a:t>
                </a:r>
                <a:r>
                  <a:rPr lang="en-US" sz="1000" baseline="-25000" dirty="0"/>
                  <a:t>1</a:t>
                </a:r>
              </a:p>
            </p:txBody>
          </p:sp>
        </p:grpSp>
        <p:sp>
          <p:nvSpPr>
            <p:cNvPr id="70" name="TextBox 69"/>
            <p:cNvSpPr txBox="1"/>
            <p:nvPr/>
          </p:nvSpPr>
          <p:spPr>
            <a:xfrm>
              <a:off x="6212298" y="4905375"/>
              <a:ext cx="536779" cy="4202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PE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5602698" y="5269468"/>
              <a:ext cx="534041" cy="4202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PL</a:t>
              </a:r>
            </a:p>
          </p:txBody>
        </p:sp>
        <p:grpSp>
          <p:nvGrpSpPr>
            <p:cNvPr id="72" name="Group 49"/>
            <p:cNvGrpSpPr/>
            <p:nvPr/>
          </p:nvGrpSpPr>
          <p:grpSpPr>
            <a:xfrm>
              <a:off x="1390000" y="4659868"/>
              <a:ext cx="1609396" cy="1627762"/>
              <a:chOff x="341600" y="4736068"/>
              <a:chExt cx="1609396" cy="1627762"/>
            </a:xfrm>
          </p:grpSpPr>
          <p:cxnSp>
            <p:nvCxnSpPr>
              <p:cNvPr id="81" name="Straight Arrow Connector 80"/>
              <p:cNvCxnSpPr/>
              <p:nvPr/>
            </p:nvCxnSpPr>
            <p:spPr>
              <a:xfrm flipH="1" flipV="1">
                <a:off x="628000" y="4953000"/>
                <a:ext cx="972200" cy="10668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2" name="TextBox 81"/>
              <p:cNvSpPr txBox="1"/>
              <p:nvPr/>
            </p:nvSpPr>
            <p:spPr>
              <a:xfrm>
                <a:off x="1466200" y="5943601"/>
                <a:ext cx="484796" cy="4202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/>
                  <a:t>v</a:t>
                </a:r>
                <a:r>
                  <a:rPr lang="en-US" sz="1000" baseline="-25000" dirty="0"/>
                  <a:t>0</a:t>
                </a:r>
              </a:p>
            </p:txBody>
          </p:sp>
          <p:sp>
            <p:nvSpPr>
              <p:cNvPr id="83" name="TextBox 82"/>
              <p:cNvSpPr txBox="1"/>
              <p:nvPr/>
            </p:nvSpPr>
            <p:spPr>
              <a:xfrm>
                <a:off x="341600" y="4736068"/>
                <a:ext cx="484796" cy="4202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/>
                  <a:t>v</a:t>
                </a:r>
                <a:r>
                  <a:rPr lang="en-US" sz="1000" baseline="-25000" dirty="0"/>
                  <a:t>1</a:t>
                </a:r>
              </a:p>
            </p:txBody>
          </p:sp>
        </p:grpSp>
        <p:sp>
          <p:nvSpPr>
            <p:cNvPr id="73" name="TextBox 72"/>
            <p:cNvSpPr txBox="1"/>
            <p:nvPr/>
          </p:nvSpPr>
          <p:spPr>
            <a:xfrm>
              <a:off x="1876426" y="4914900"/>
              <a:ext cx="536779" cy="4202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PE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2247901" y="5295900"/>
              <a:ext cx="534041" cy="4202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PL</a:t>
              </a:r>
            </a:p>
          </p:txBody>
        </p:sp>
        <p:grpSp>
          <p:nvGrpSpPr>
            <p:cNvPr id="75" name="Group 56"/>
            <p:cNvGrpSpPr/>
            <p:nvPr/>
          </p:nvGrpSpPr>
          <p:grpSpPr>
            <a:xfrm>
              <a:off x="5486400" y="2133600"/>
              <a:ext cx="1609396" cy="1627763"/>
              <a:chOff x="341600" y="4736068"/>
              <a:chExt cx="1609396" cy="1627763"/>
            </a:xfrm>
          </p:grpSpPr>
          <p:cxnSp>
            <p:nvCxnSpPr>
              <p:cNvPr id="78" name="Straight Arrow Connector 77"/>
              <p:cNvCxnSpPr/>
              <p:nvPr/>
            </p:nvCxnSpPr>
            <p:spPr>
              <a:xfrm flipH="1" flipV="1">
                <a:off x="628000" y="4953000"/>
                <a:ext cx="972200" cy="10668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9" name="TextBox 78"/>
              <p:cNvSpPr txBox="1"/>
              <p:nvPr/>
            </p:nvSpPr>
            <p:spPr>
              <a:xfrm>
                <a:off x="1466200" y="5943602"/>
                <a:ext cx="484796" cy="4202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/>
                  <a:t>v</a:t>
                </a:r>
                <a:r>
                  <a:rPr lang="en-US" sz="1000" baseline="-25000" dirty="0"/>
                  <a:t>0</a:t>
                </a:r>
              </a:p>
            </p:txBody>
          </p:sp>
          <p:sp>
            <p:nvSpPr>
              <p:cNvPr id="80" name="TextBox 79"/>
              <p:cNvSpPr txBox="1"/>
              <p:nvPr/>
            </p:nvSpPr>
            <p:spPr>
              <a:xfrm>
                <a:off x="341600" y="4736068"/>
                <a:ext cx="484796" cy="4202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/>
                  <a:t>v</a:t>
                </a:r>
                <a:r>
                  <a:rPr lang="en-US" sz="1000" baseline="-25000" dirty="0"/>
                  <a:t>1</a:t>
                </a:r>
              </a:p>
            </p:txBody>
          </p:sp>
        </p:grpSp>
        <p:sp>
          <p:nvSpPr>
            <p:cNvPr id="76" name="TextBox 75"/>
            <p:cNvSpPr txBox="1"/>
            <p:nvPr/>
          </p:nvSpPr>
          <p:spPr>
            <a:xfrm>
              <a:off x="5917022" y="2286001"/>
              <a:ext cx="536779" cy="4202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PE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6124574" y="2545319"/>
              <a:ext cx="534041" cy="4202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PL</a:t>
              </a:r>
            </a:p>
          </p:txBody>
        </p:sp>
      </p:grpSp>
      <p:sp>
        <p:nvSpPr>
          <p:cNvPr id="98" name="TextBox 97"/>
          <p:cNvSpPr txBox="1"/>
          <p:nvPr/>
        </p:nvSpPr>
        <p:spPr>
          <a:xfrm>
            <a:off x="1564193" y="2189211"/>
            <a:ext cx="259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if</a:t>
            </a:r>
            <a:r>
              <a:rPr lang="en-US" dirty="0"/>
              <a:t> (</a:t>
            </a:r>
            <a:r>
              <a:rPr lang="en-US" dirty="0" err="1"/>
              <a:t>t</a:t>
            </a:r>
            <a:r>
              <a:rPr lang="en-US" baseline="-25000" dirty="0" err="1"/>
              <a:t>PL</a:t>
            </a:r>
            <a:r>
              <a:rPr lang="en-US" dirty="0"/>
              <a:t> &lt; </a:t>
            </a:r>
            <a:r>
              <a:rPr lang="en-US" dirty="0" err="1"/>
              <a:t>t</a:t>
            </a:r>
            <a:r>
              <a:rPr lang="en-US" baseline="-25000" dirty="0" err="1"/>
              <a:t>PE</a:t>
            </a:r>
            <a:r>
              <a:rPr lang="en-US" dirty="0"/>
              <a:t>):</a:t>
            </a:r>
          </a:p>
          <a:p>
            <a:r>
              <a:rPr lang="en-US" dirty="0"/>
              <a:t>    visible = </a:t>
            </a:r>
            <a:r>
              <a:rPr lang="en-US" b="1" dirty="0"/>
              <a:t>false</a:t>
            </a:r>
            <a:r>
              <a:rPr lang="en-US" dirty="0"/>
              <a:t>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89324" y="2044632"/>
            <a:ext cx="37048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where </a:t>
            </a:r>
            <a:r>
              <a:rPr lang="en-US" dirty="0" err="1"/>
              <a:t>t</a:t>
            </a:r>
            <a:r>
              <a:rPr lang="en-US" baseline="-25000" dirty="0" err="1"/>
              <a:t>PL</a:t>
            </a:r>
            <a:r>
              <a:rPr lang="en-US" dirty="0"/>
              <a:t> is the t value for the </a:t>
            </a:r>
            <a:r>
              <a:rPr lang="en-US" b="1" dirty="0"/>
              <a:t>first</a:t>
            </a:r>
          </a:p>
          <a:p>
            <a:r>
              <a:rPr lang="en-US" dirty="0"/>
              <a:t>leaving intersection and </a:t>
            </a:r>
            <a:r>
              <a:rPr lang="en-US" dirty="0" err="1"/>
              <a:t>t</a:t>
            </a:r>
            <a:r>
              <a:rPr lang="en-US" baseline="-25000" dirty="0" err="1"/>
              <a:t>PE</a:t>
            </a:r>
            <a:r>
              <a:rPr lang="en-US" dirty="0"/>
              <a:t> is the t</a:t>
            </a:r>
          </a:p>
          <a:p>
            <a:r>
              <a:rPr lang="en-US" dirty="0"/>
              <a:t>value for the </a:t>
            </a:r>
            <a:r>
              <a:rPr lang="en-US" b="1" dirty="0"/>
              <a:t>last</a:t>
            </a:r>
            <a:r>
              <a:rPr lang="en-US" dirty="0"/>
              <a:t> entering intersection</a:t>
            </a: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Liang-</a:t>
            </a:r>
            <a:r>
              <a:rPr lang="en-US" dirty="0" err="1"/>
              <a:t>Barsky</a:t>
            </a:r>
            <a:r>
              <a:rPr lang="en-US" dirty="0"/>
              <a:t>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Computing </a:t>
            </a:r>
            <a:r>
              <a:rPr lang="en-US" b="1" dirty="0"/>
              <a:t>t</a:t>
            </a:r>
            <a:r>
              <a:rPr lang="en-US" dirty="0"/>
              <a:t> value at every edge: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endParaRPr lang="en-US" dirty="0"/>
          </a:p>
          <a:p>
            <a:r>
              <a:rPr lang="en-US" dirty="0"/>
              <a:t>But this does not help us to know if line is entering or leaving at that point. </a:t>
            </a:r>
            <a:r>
              <a:rPr lang="en-US" b="1" dirty="0"/>
              <a:t>Solution:</a:t>
            </a:r>
            <a:r>
              <a:rPr lang="en-US" dirty="0"/>
              <a:t> look at the </a:t>
            </a:r>
            <a:r>
              <a:rPr lang="en-US" dirty="0">
                <a:solidFill>
                  <a:schemeClr val="accent1"/>
                </a:solidFill>
              </a:rPr>
              <a:t>sign </a:t>
            </a:r>
            <a:r>
              <a:rPr lang="en-US" dirty="0"/>
              <a:t>of </a:t>
            </a:r>
            <a:r>
              <a:rPr lang="en-US" dirty="0" err="1"/>
              <a:t>dx</a:t>
            </a:r>
            <a:r>
              <a:rPr lang="en-US" dirty="0"/>
              <a:t>, </a:t>
            </a:r>
            <a:r>
              <a:rPr lang="en-US" dirty="0" err="1"/>
              <a:t>dy</a:t>
            </a:r>
            <a:r>
              <a:rPr lang="en-US" dirty="0"/>
              <a:t>: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133600" y="2133600"/>
            <a:ext cx="518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x</a:t>
            </a:r>
            <a:r>
              <a:rPr lang="en-US" baseline="-25000" dirty="0" err="1"/>
              <a:t>left</a:t>
            </a:r>
            <a:r>
              <a:rPr lang="en-US" dirty="0"/>
              <a:t> = x0 + (x1-x0)t </a:t>
            </a:r>
            <a:r>
              <a:rPr lang="en-US" dirty="0">
                <a:sym typeface="Wingdings" pitchFamily="2" charset="2"/>
              </a:rPr>
              <a:t> t = (</a:t>
            </a:r>
            <a:r>
              <a:rPr lang="en-US" dirty="0" err="1">
                <a:sym typeface="Wingdings" pitchFamily="2" charset="2"/>
              </a:rPr>
              <a:t>x</a:t>
            </a:r>
            <a:r>
              <a:rPr lang="en-US" baseline="-25000" dirty="0" err="1">
                <a:sym typeface="Wingdings" pitchFamily="2" charset="2"/>
              </a:rPr>
              <a:t>left</a:t>
            </a:r>
            <a:r>
              <a:rPr lang="en-US" dirty="0">
                <a:sym typeface="Wingdings" pitchFamily="2" charset="2"/>
              </a:rPr>
              <a:t> – x0) / (x1 – x0)</a:t>
            </a:r>
            <a:endParaRPr lang="en-US" dirty="0"/>
          </a:p>
        </p:txBody>
      </p:sp>
      <p:sp>
        <p:nvSpPr>
          <p:cNvPr id="100" name="TextBox 99"/>
          <p:cNvSpPr txBox="1"/>
          <p:nvPr/>
        </p:nvSpPr>
        <p:spPr>
          <a:xfrm>
            <a:off x="2133600" y="2526268"/>
            <a:ext cx="518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x</a:t>
            </a:r>
            <a:r>
              <a:rPr lang="en-US" baseline="-25000" dirty="0" err="1"/>
              <a:t>right</a:t>
            </a:r>
            <a:r>
              <a:rPr lang="en-US" dirty="0"/>
              <a:t> = x0 + (x1-x0)t </a:t>
            </a:r>
            <a:r>
              <a:rPr lang="en-US" dirty="0">
                <a:sym typeface="Wingdings" pitchFamily="2" charset="2"/>
              </a:rPr>
              <a:t> t = (</a:t>
            </a:r>
            <a:r>
              <a:rPr lang="en-US" dirty="0" err="1">
                <a:sym typeface="Wingdings" pitchFamily="2" charset="2"/>
              </a:rPr>
              <a:t>x</a:t>
            </a:r>
            <a:r>
              <a:rPr lang="en-US" baseline="-25000" dirty="0" err="1">
                <a:sym typeface="Wingdings" pitchFamily="2" charset="2"/>
              </a:rPr>
              <a:t>right</a:t>
            </a:r>
            <a:r>
              <a:rPr lang="en-US" dirty="0">
                <a:sym typeface="Wingdings" pitchFamily="2" charset="2"/>
              </a:rPr>
              <a:t> – x0) / (x1 – x0)</a:t>
            </a:r>
            <a:endParaRPr lang="en-US" dirty="0"/>
          </a:p>
        </p:txBody>
      </p:sp>
      <p:sp>
        <p:nvSpPr>
          <p:cNvPr id="101" name="TextBox 100"/>
          <p:cNvSpPr txBox="1"/>
          <p:nvPr/>
        </p:nvSpPr>
        <p:spPr>
          <a:xfrm>
            <a:off x="2133600" y="2907268"/>
            <a:ext cx="56388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y</a:t>
            </a:r>
            <a:r>
              <a:rPr lang="en-US" baseline="-25000" dirty="0" err="1"/>
              <a:t>bottom</a:t>
            </a:r>
            <a:r>
              <a:rPr lang="en-US" dirty="0"/>
              <a:t> = y0 + (y1-y0)t </a:t>
            </a:r>
            <a:r>
              <a:rPr lang="en-US" dirty="0">
                <a:sym typeface="Wingdings" pitchFamily="2" charset="2"/>
              </a:rPr>
              <a:t> t = (</a:t>
            </a:r>
            <a:r>
              <a:rPr lang="en-US" dirty="0" err="1">
                <a:sym typeface="Wingdings" pitchFamily="2" charset="2"/>
              </a:rPr>
              <a:t>y</a:t>
            </a:r>
            <a:r>
              <a:rPr lang="en-US" baseline="-25000" dirty="0" err="1">
                <a:sym typeface="Wingdings" pitchFamily="2" charset="2"/>
              </a:rPr>
              <a:t>bottom</a:t>
            </a:r>
            <a:r>
              <a:rPr lang="en-US" dirty="0">
                <a:sym typeface="Wingdings" pitchFamily="2" charset="2"/>
              </a:rPr>
              <a:t> – y0) / (y1 – y0)</a:t>
            </a:r>
            <a:endParaRPr lang="en-US" dirty="0"/>
          </a:p>
        </p:txBody>
      </p:sp>
      <p:sp>
        <p:nvSpPr>
          <p:cNvPr id="102" name="TextBox 101"/>
          <p:cNvSpPr txBox="1"/>
          <p:nvPr/>
        </p:nvSpPr>
        <p:spPr>
          <a:xfrm>
            <a:off x="2133600" y="3288268"/>
            <a:ext cx="518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y</a:t>
            </a:r>
            <a:r>
              <a:rPr lang="en-US" baseline="-25000" dirty="0" err="1"/>
              <a:t>top</a:t>
            </a:r>
            <a:r>
              <a:rPr lang="en-US" dirty="0"/>
              <a:t> = y0 + (y1-y0)t </a:t>
            </a:r>
            <a:r>
              <a:rPr lang="en-US" dirty="0">
                <a:sym typeface="Wingdings" pitchFamily="2" charset="2"/>
              </a:rPr>
              <a:t> t = (</a:t>
            </a:r>
            <a:r>
              <a:rPr lang="en-US" dirty="0" err="1">
                <a:sym typeface="Wingdings" pitchFamily="2" charset="2"/>
              </a:rPr>
              <a:t>y</a:t>
            </a:r>
            <a:r>
              <a:rPr lang="en-US" baseline="-25000" dirty="0" err="1">
                <a:sym typeface="Wingdings" pitchFamily="2" charset="2"/>
              </a:rPr>
              <a:t>top</a:t>
            </a:r>
            <a:r>
              <a:rPr lang="en-US" dirty="0">
                <a:sym typeface="Wingdings" pitchFamily="2" charset="2"/>
              </a:rPr>
              <a:t> – y0) / (y1 – y0)</a:t>
            </a:r>
            <a:endParaRPr lang="en-US" dirty="0"/>
          </a:p>
        </p:txBody>
      </p:sp>
      <p:sp>
        <p:nvSpPr>
          <p:cNvPr id="103" name="TextBox 102"/>
          <p:cNvSpPr txBox="1"/>
          <p:nvPr/>
        </p:nvSpPr>
        <p:spPr>
          <a:xfrm>
            <a:off x="984044" y="4648200"/>
            <a:ext cx="343555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 v</a:t>
            </a:r>
            <a:r>
              <a:rPr lang="en-US" baseline="-25000" dirty="0"/>
              <a:t>0</a:t>
            </a:r>
            <a:r>
              <a:rPr lang="en-US" dirty="0"/>
              <a:t>,v</a:t>
            </a:r>
            <a:r>
              <a:rPr lang="en-US" baseline="-25000" dirty="0"/>
              <a:t>1</a:t>
            </a:r>
            <a:r>
              <a:rPr lang="en-US" dirty="0"/>
              <a:t> is </a:t>
            </a:r>
            <a:r>
              <a:rPr lang="en-US" dirty="0">
                <a:solidFill>
                  <a:srgbClr val="FF0000"/>
                </a:solidFill>
              </a:rPr>
              <a:t>potentially entering</a:t>
            </a:r>
          </a:p>
          <a:p>
            <a:r>
              <a:rPr lang="en-US" dirty="0"/>
              <a:t>the </a:t>
            </a:r>
            <a:r>
              <a:rPr lang="en-US" b="1" dirty="0"/>
              <a:t>left</a:t>
            </a:r>
            <a:r>
              <a:rPr lang="en-US" dirty="0"/>
              <a:t> edge if </a:t>
            </a:r>
            <a:r>
              <a:rPr lang="en-US" dirty="0" err="1"/>
              <a:t>dx</a:t>
            </a:r>
            <a:r>
              <a:rPr lang="en-US" dirty="0"/>
              <a:t> = (x</a:t>
            </a:r>
            <a:r>
              <a:rPr lang="en-US" baseline="-25000" dirty="0"/>
              <a:t>1</a:t>
            </a:r>
            <a:r>
              <a:rPr lang="en-US" dirty="0"/>
              <a:t> – x</a:t>
            </a:r>
            <a:r>
              <a:rPr lang="en-US" baseline="-25000" dirty="0"/>
              <a:t>0</a:t>
            </a:r>
            <a:r>
              <a:rPr lang="en-US" dirty="0"/>
              <a:t>) &gt; 0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 v</a:t>
            </a:r>
            <a:r>
              <a:rPr lang="en-US" baseline="-25000" dirty="0"/>
              <a:t>0</a:t>
            </a:r>
            <a:r>
              <a:rPr lang="en-US" dirty="0"/>
              <a:t>,v</a:t>
            </a:r>
            <a:r>
              <a:rPr lang="en-US" baseline="-25000" dirty="0"/>
              <a:t>1</a:t>
            </a:r>
            <a:r>
              <a:rPr lang="en-US" dirty="0"/>
              <a:t> is </a:t>
            </a:r>
            <a:r>
              <a:rPr lang="en-US" dirty="0">
                <a:solidFill>
                  <a:srgbClr val="FF0000"/>
                </a:solidFill>
              </a:rPr>
              <a:t>potentially entering</a:t>
            </a:r>
          </a:p>
          <a:p>
            <a:r>
              <a:rPr lang="en-US" dirty="0"/>
              <a:t>the </a:t>
            </a:r>
            <a:r>
              <a:rPr lang="en-US" b="1" dirty="0"/>
              <a:t>right</a:t>
            </a:r>
            <a:r>
              <a:rPr lang="en-US" dirty="0"/>
              <a:t> edge if </a:t>
            </a:r>
            <a:r>
              <a:rPr lang="en-US" dirty="0" err="1"/>
              <a:t>dx</a:t>
            </a:r>
            <a:r>
              <a:rPr lang="en-US" dirty="0"/>
              <a:t> = (x</a:t>
            </a:r>
            <a:r>
              <a:rPr lang="en-US" baseline="-25000" dirty="0"/>
              <a:t>1</a:t>
            </a:r>
            <a:r>
              <a:rPr lang="en-US" dirty="0"/>
              <a:t> – x</a:t>
            </a:r>
            <a:r>
              <a:rPr lang="en-US" baseline="-25000" dirty="0"/>
              <a:t>0</a:t>
            </a:r>
            <a:r>
              <a:rPr lang="en-US" dirty="0"/>
              <a:t>) &lt; 0</a:t>
            </a:r>
          </a:p>
          <a:p>
            <a:r>
              <a:rPr lang="en-US" dirty="0"/>
              <a:t>or –</a:t>
            </a:r>
            <a:r>
              <a:rPr lang="en-US" dirty="0" err="1"/>
              <a:t>dx</a:t>
            </a:r>
            <a:r>
              <a:rPr lang="en-US" dirty="0"/>
              <a:t> &gt; 0 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800600" y="4648200"/>
            <a:ext cx="369043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 v</a:t>
            </a:r>
            <a:r>
              <a:rPr lang="en-US" baseline="-25000" dirty="0"/>
              <a:t>0</a:t>
            </a:r>
            <a:r>
              <a:rPr lang="en-US" dirty="0"/>
              <a:t>,v</a:t>
            </a:r>
            <a:r>
              <a:rPr lang="en-US" baseline="-25000" dirty="0"/>
              <a:t>1</a:t>
            </a:r>
            <a:r>
              <a:rPr lang="en-US" dirty="0"/>
              <a:t> is </a:t>
            </a:r>
            <a:r>
              <a:rPr lang="en-US" dirty="0">
                <a:solidFill>
                  <a:srgbClr val="FF0000"/>
                </a:solidFill>
              </a:rPr>
              <a:t>potentially entering</a:t>
            </a:r>
          </a:p>
          <a:p>
            <a:r>
              <a:rPr lang="en-US" dirty="0"/>
              <a:t>the </a:t>
            </a:r>
            <a:r>
              <a:rPr lang="en-US" b="1" dirty="0"/>
              <a:t>bottom</a:t>
            </a:r>
            <a:r>
              <a:rPr lang="en-US" dirty="0"/>
              <a:t> edge if </a:t>
            </a:r>
            <a:r>
              <a:rPr lang="en-US" dirty="0" err="1"/>
              <a:t>dy</a:t>
            </a:r>
            <a:r>
              <a:rPr lang="en-US" dirty="0"/>
              <a:t> = (y</a:t>
            </a:r>
            <a:r>
              <a:rPr lang="en-US" baseline="-25000" dirty="0"/>
              <a:t>1</a:t>
            </a:r>
            <a:r>
              <a:rPr lang="en-US" dirty="0"/>
              <a:t> – y</a:t>
            </a:r>
            <a:r>
              <a:rPr lang="en-US" baseline="-25000" dirty="0"/>
              <a:t>0</a:t>
            </a:r>
            <a:r>
              <a:rPr lang="en-US" dirty="0"/>
              <a:t>) &gt; 0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 v</a:t>
            </a:r>
            <a:r>
              <a:rPr lang="en-US" baseline="-25000" dirty="0"/>
              <a:t>0</a:t>
            </a:r>
            <a:r>
              <a:rPr lang="en-US" dirty="0"/>
              <a:t>,v</a:t>
            </a:r>
            <a:r>
              <a:rPr lang="en-US" baseline="-25000" dirty="0"/>
              <a:t>1</a:t>
            </a:r>
            <a:r>
              <a:rPr lang="en-US" dirty="0"/>
              <a:t> is </a:t>
            </a:r>
            <a:r>
              <a:rPr lang="en-US" dirty="0">
                <a:solidFill>
                  <a:srgbClr val="FF0000"/>
                </a:solidFill>
              </a:rPr>
              <a:t>potentially entering</a:t>
            </a:r>
          </a:p>
          <a:p>
            <a:r>
              <a:rPr lang="en-US" dirty="0"/>
              <a:t>the </a:t>
            </a:r>
            <a:r>
              <a:rPr lang="en-US" b="1" dirty="0"/>
              <a:t>top</a:t>
            </a:r>
            <a:r>
              <a:rPr lang="en-US" dirty="0"/>
              <a:t> edge if </a:t>
            </a:r>
            <a:r>
              <a:rPr lang="en-US" dirty="0" err="1"/>
              <a:t>dy</a:t>
            </a:r>
            <a:r>
              <a:rPr lang="en-US" dirty="0"/>
              <a:t> = (y</a:t>
            </a:r>
            <a:r>
              <a:rPr lang="en-US" baseline="-25000" dirty="0"/>
              <a:t>1</a:t>
            </a:r>
            <a:r>
              <a:rPr lang="en-US" dirty="0"/>
              <a:t> – y</a:t>
            </a:r>
            <a:r>
              <a:rPr lang="en-US" baseline="-25000" dirty="0"/>
              <a:t>0</a:t>
            </a:r>
            <a:r>
              <a:rPr lang="en-US" dirty="0"/>
              <a:t>) &lt; 0</a:t>
            </a:r>
          </a:p>
          <a:p>
            <a:r>
              <a:rPr lang="en-US" dirty="0"/>
              <a:t>or –</a:t>
            </a:r>
            <a:r>
              <a:rPr lang="en-US" dirty="0" err="1"/>
              <a:t>dy</a:t>
            </a:r>
            <a:r>
              <a:rPr lang="en-US" dirty="0"/>
              <a:t> &gt; 0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46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" grpId="0"/>
      <p:bldP spid="10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Liang-</a:t>
            </a:r>
            <a:r>
              <a:rPr lang="en-US" dirty="0" err="1"/>
              <a:t>Barsky</a:t>
            </a:r>
            <a:r>
              <a:rPr lang="en-US" dirty="0"/>
              <a:t>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/>
          </a:bodyPr>
          <a:lstStyle/>
          <a:p>
            <a:r>
              <a:rPr lang="en-US" dirty="0"/>
              <a:t>Finding intersection type:</a:t>
            </a:r>
          </a:p>
          <a:p>
            <a:pPr lvl="1"/>
            <a:r>
              <a:rPr lang="en-US" dirty="0"/>
              <a:t>Entering </a:t>
            </a:r>
            <a:r>
              <a:rPr lang="en-US" dirty="0">
                <a:solidFill>
                  <a:srgbClr val="FF0000"/>
                </a:solidFill>
              </a:rPr>
              <a:t>left</a:t>
            </a:r>
            <a:r>
              <a:rPr lang="en-US" dirty="0"/>
              <a:t> edge if </a:t>
            </a:r>
            <a:r>
              <a:rPr lang="en-US" dirty="0" err="1"/>
              <a:t>dx</a:t>
            </a:r>
            <a:r>
              <a:rPr lang="en-US" dirty="0"/>
              <a:t> &gt; 0.</a:t>
            </a:r>
          </a:p>
          <a:p>
            <a:pPr lvl="1"/>
            <a:r>
              <a:rPr lang="en-US" dirty="0"/>
              <a:t>Entering </a:t>
            </a:r>
            <a:r>
              <a:rPr lang="en-US" dirty="0">
                <a:solidFill>
                  <a:srgbClr val="FF0000"/>
                </a:solidFill>
              </a:rPr>
              <a:t>right</a:t>
            </a:r>
            <a:r>
              <a:rPr lang="en-US" dirty="0"/>
              <a:t> edge if -</a:t>
            </a:r>
            <a:r>
              <a:rPr lang="en-US" dirty="0" err="1"/>
              <a:t>dx</a:t>
            </a:r>
            <a:r>
              <a:rPr lang="en-US" dirty="0"/>
              <a:t> &gt; 0.</a:t>
            </a:r>
          </a:p>
          <a:p>
            <a:pPr lvl="1"/>
            <a:r>
              <a:rPr lang="en-US" dirty="0"/>
              <a:t>Entering </a:t>
            </a:r>
            <a:r>
              <a:rPr lang="en-US" dirty="0">
                <a:solidFill>
                  <a:srgbClr val="FF0000"/>
                </a:solidFill>
              </a:rPr>
              <a:t>bottom</a:t>
            </a:r>
            <a:r>
              <a:rPr lang="en-US" dirty="0"/>
              <a:t> edge if </a:t>
            </a:r>
            <a:r>
              <a:rPr lang="en-US" dirty="0" err="1"/>
              <a:t>dy</a:t>
            </a:r>
            <a:r>
              <a:rPr lang="en-US" dirty="0"/>
              <a:t> &gt; 0.</a:t>
            </a:r>
          </a:p>
          <a:p>
            <a:pPr lvl="1"/>
            <a:r>
              <a:rPr lang="en-US" dirty="0"/>
              <a:t>Entering </a:t>
            </a:r>
            <a:r>
              <a:rPr lang="en-US" dirty="0">
                <a:solidFill>
                  <a:srgbClr val="FF0000"/>
                </a:solidFill>
              </a:rPr>
              <a:t>top</a:t>
            </a:r>
            <a:r>
              <a:rPr lang="en-US" dirty="0"/>
              <a:t> edge if -</a:t>
            </a:r>
            <a:r>
              <a:rPr lang="en-US" dirty="0" err="1"/>
              <a:t>dy</a:t>
            </a:r>
            <a:r>
              <a:rPr lang="en-US" dirty="0"/>
              <a:t> &gt; 0.</a:t>
            </a:r>
          </a:p>
          <a:p>
            <a:r>
              <a:rPr lang="en-US" dirty="0"/>
              <a:t>Finding t:</a:t>
            </a:r>
          </a:p>
          <a:p>
            <a:pPr lvl="1"/>
            <a:r>
              <a:rPr lang="en-US" dirty="0"/>
              <a:t>For </a:t>
            </a:r>
            <a:r>
              <a:rPr lang="en-US" dirty="0">
                <a:solidFill>
                  <a:srgbClr val="FF0000"/>
                </a:solidFill>
              </a:rPr>
              <a:t>left</a:t>
            </a:r>
            <a:r>
              <a:rPr lang="en-US" dirty="0"/>
              <a:t> edge: t = (</a:t>
            </a:r>
            <a:r>
              <a:rPr lang="en-US" dirty="0" err="1"/>
              <a:t>x</a:t>
            </a:r>
            <a:r>
              <a:rPr lang="en-US" baseline="-25000" dirty="0" err="1"/>
              <a:t>left</a:t>
            </a:r>
            <a:r>
              <a:rPr lang="en-US" dirty="0"/>
              <a:t> – x</a:t>
            </a:r>
            <a:r>
              <a:rPr lang="en-US" baseline="-25000" dirty="0"/>
              <a:t>0</a:t>
            </a:r>
            <a:r>
              <a:rPr lang="en-US" dirty="0"/>
              <a:t>) / (x</a:t>
            </a:r>
            <a:r>
              <a:rPr lang="en-US" baseline="-25000" dirty="0"/>
              <a:t>1</a:t>
            </a:r>
            <a:r>
              <a:rPr lang="en-US" dirty="0"/>
              <a:t> – x</a:t>
            </a:r>
            <a:r>
              <a:rPr lang="en-US" baseline="-25000" dirty="0"/>
              <a:t>0</a:t>
            </a:r>
            <a:r>
              <a:rPr lang="en-US" dirty="0"/>
              <a:t>) = (</a:t>
            </a:r>
            <a:r>
              <a:rPr lang="en-US" dirty="0" err="1"/>
              <a:t>x</a:t>
            </a:r>
            <a:r>
              <a:rPr lang="en-US" baseline="-25000" dirty="0" err="1"/>
              <a:t>left</a:t>
            </a:r>
            <a:r>
              <a:rPr lang="en-US" dirty="0"/>
              <a:t> – x</a:t>
            </a:r>
            <a:r>
              <a:rPr lang="en-US" baseline="-25000" dirty="0"/>
              <a:t>0</a:t>
            </a:r>
            <a:r>
              <a:rPr lang="en-US" dirty="0"/>
              <a:t>) / </a:t>
            </a:r>
            <a:r>
              <a:rPr lang="en-US" dirty="0" err="1"/>
              <a:t>dx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For </a:t>
            </a:r>
            <a:r>
              <a:rPr lang="en-US" dirty="0">
                <a:solidFill>
                  <a:srgbClr val="FF0000"/>
                </a:solidFill>
              </a:rPr>
              <a:t>right</a:t>
            </a:r>
            <a:r>
              <a:rPr lang="en-US" dirty="0"/>
              <a:t> edge: t = (</a:t>
            </a:r>
            <a:r>
              <a:rPr lang="en-US" dirty="0" err="1"/>
              <a:t>x</a:t>
            </a:r>
            <a:r>
              <a:rPr lang="en-US" baseline="-25000" dirty="0" err="1"/>
              <a:t>right</a:t>
            </a:r>
            <a:r>
              <a:rPr lang="en-US" dirty="0"/>
              <a:t> – x</a:t>
            </a:r>
            <a:r>
              <a:rPr lang="en-US" baseline="-25000" dirty="0"/>
              <a:t>0</a:t>
            </a:r>
            <a:r>
              <a:rPr lang="en-US" dirty="0"/>
              <a:t>) / (x</a:t>
            </a:r>
            <a:r>
              <a:rPr lang="en-US" baseline="-25000" dirty="0"/>
              <a:t>1</a:t>
            </a:r>
            <a:r>
              <a:rPr lang="en-US" dirty="0"/>
              <a:t> – x</a:t>
            </a:r>
            <a:r>
              <a:rPr lang="en-US" baseline="-25000" dirty="0"/>
              <a:t>0</a:t>
            </a:r>
            <a:r>
              <a:rPr lang="en-US" dirty="0"/>
              <a:t>) = (</a:t>
            </a:r>
            <a:r>
              <a:rPr lang="en-US" dirty="0" err="1"/>
              <a:t>x</a:t>
            </a:r>
            <a:r>
              <a:rPr lang="en-US" baseline="-25000" dirty="0" err="1"/>
              <a:t>right</a:t>
            </a:r>
            <a:r>
              <a:rPr lang="en-US" dirty="0"/>
              <a:t> – x</a:t>
            </a:r>
            <a:r>
              <a:rPr lang="en-US" baseline="-25000" dirty="0"/>
              <a:t>0</a:t>
            </a:r>
            <a:r>
              <a:rPr lang="en-US" dirty="0"/>
              <a:t>) / dx </a:t>
            </a:r>
          </a:p>
          <a:p>
            <a:pPr marL="457200" lvl="1" indent="0">
              <a:buNone/>
            </a:pPr>
            <a:r>
              <a:rPr lang="en-US" dirty="0"/>
              <a:t>    = (x0 – </a:t>
            </a:r>
            <a:r>
              <a:rPr lang="en-US" dirty="0" err="1"/>
              <a:t>x</a:t>
            </a:r>
            <a:r>
              <a:rPr lang="en-US" baseline="-25000" dirty="0" err="1"/>
              <a:t>right</a:t>
            </a:r>
            <a:r>
              <a:rPr lang="en-US" dirty="0"/>
              <a:t>) / (-dx)</a:t>
            </a:r>
          </a:p>
          <a:p>
            <a:pPr lvl="1"/>
            <a:r>
              <a:rPr lang="en-US" dirty="0"/>
              <a:t>For </a:t>
            </a:r>
            <a:r>
              <a:rPr lang="en-US" dirty="0">
                <a:solidFill>
                  <a:srgbClr val="FF0000"/>
                </a:solidFill>
              </a:rPr>
              <a:t>bottom</a:t>
            </a:r>
            <a:r>
              <a:rPr lang="en-US" dirty="0"/>
              <a:t> edge: t = (</a:t>
            </a:r>
            <a:r>
              <a:rPr lang="en-US" dirty="0" err="1"/>
              <a:t>y</a:t>
            </a:r>
            <a:r>
              <a:rPr lang="en-US" baseline="-25000" dirty="0" err="1"/>
              <a:t>bottom</a:t>
            </a:r>
            <a:r>
              <a:rPr lang="en-US" dirty="0"/>
              <a:t> – y</a:t>
            </a:r>
            <a:r>
              <a:rPr lang="en-US" baseline="-25000" dirty="0"/>
              <a:t>0</a:t>
            </a:r>
            <a:r>
              <a:rPr lang="en-US" dirty="0"/>
              <a:t>) / (y</a:t>
            </a:r>
            <a:r>
              <a:rPr lang="en-US" baseline="-25000" dirty="0"/>
              <a:t>1</a:t>
            </a:r>
            <a:r>
              <a:rPr lang="en-US" dirty="0"/>
              <a:t> – y</a:t>
            </a:r>
            <a:r>
              <a:rPr lang="en-US" baseline="-25000" dirty="0"/>
              <a:t>0</a:t>
            </a:r>
            <a:r>
              <a:rPr lang="en-US" dirty="0"/>
              <a:t>) = (</a:t>
            </a:r>
            <a:r>
              <a:rPr lang="en-US" dirty="0" err="1"/>
              <a:t>y</a:t>
            </a:r>
            <a:r>
              <a:rPr lang="en-US" baseline="-25000" dirty="0" err="1"/>
              <a:t>left</a:t>
            </a:r>
            <a:r>
              <a:rPr lang="en-US" dirty="0"/>
              <a:t> – y</a:t>
            </a:r>
            <a:r>
              <a:rPr lang="en-US" baseline="-25000" dirty="0"/>
              <a:t>0</a:t>
            </a:r>
            <a:r>
              <a:rPr lang="en-US" dirty="0"/>
              <a:t>) / </a:t>
            </a:r>
            <a:r>
              <a:rPr lang="en-US" dirty="0" err="1"/>
              <a:t>dy</a:t>
            </a:r>
            <a:endParaRPr lang="en-US" dirty="0"/>
          </a:p>
          <a:p>
            <a:pPr lvl="1"/>
            <a:r>
              <a:rPr lang="en-US" dirty="0"/>
              <a:t>For </a:t>
            </a:r>
            <a:r>
              <a:rPr lang="en-US" dirty="0">
                <a:solidFill>
                  <a:srgbClr val="FF0000"/>
                </a:solidFill>
              </a:rPr>
              <a:t>top</a:t>
            </a:r>
            <a:r>
              <a:rPr lang="en-US" dirty="0"/>
              <a:t> edge: t = (</a:t>
            </a:r>
            <a:r>
              <a:rPr lang="en-US" dirty="0" err="1"/>
              <a:t>y</a:t>
            </a:r>
            <a:r>
              <a:rPr lang="en-US" baseline="-25000" dirty="0" err="1"/>
              <a:t>top</a:t>
            </a:r>
            <a:r>
              <a:rPr lang="en-US" dirty="0"/>
              <a:t> – y</a:t>
            </a:r>
            <a:r>
              <a:rPr lang="en-US" baseline="-25000" dirty="0"/>
              <a:t>0</a:t>
            </a:r>
            <a:r>
              <a:rPr lang="en-US" dirty="0"/>
              <a:t>) / (y</a:t>
            </a:r>
            <a:r>
              <a:rPr lang="en-US" baseline="-25000" dirty="0"/>
              <a:t>1</a:t>
            </a:r>
            <a:r>
              <a:rPr lang="en-US" dirty="0"/>
              <a:t> – y</a:t>
            </a:r>
            <a:r>
              <a:rPr lang="en-US" baseline="-25000" dirty="0"/>
              <a:t>0</a:t>
            </a:r>
            <a:r>
              <a:rPr lang="en-US" dirty="0"/>
              <a:t>) = (</a:t>
            </a:r>
            <a:r>
              <a:rPr lang="en-US" dirty="0" err="1"/>
              <a:t>y</a:t>
            </a:r>
            <a:r>
              <a:rPr lang="en-US" baseline="-25000" dirty="0" err="1"/>
              <a:t>top</a:t>
            </a:r>
            <a:r>
              <a:rPr lang="en-US" dirty="0"/>
              <a:t> – y</a:t>
            </a:r>
            <a:r>
              <a:rPr lang="en-US" baseline="-25000" dirty="0"/>
              <a:t>0</a:t>
            </a:r>
            <a:r>
              <a:rPr lang="en-US" dirty="0"/>
              <a:t>) / </a:t>
            </a:r>
            <a:r>
              <a:rPr lang="en-US" dirty="0" err="1"/>
              <a:t>dy</a:t>
            </a:r>
            <a:r>
              <a:rPr lang="en-US" dirty="0"/>
              <a:t> </a:t>
            </a:r>
          </a:p>
          <a:p>
            <a:pPr marL="457200" lvl="1" indent="0">
              <a:buNone/>
            </a:pPr>
            <a:r>
              <a:rPr lang="en-US" dirty="0"/>
              <a:t>    = (y0 – </a:t>
            </a:r>
            <a:r>
              <a:rPr lang="en-US" dirty="0" err="1"/>
              <a:t>y</a:t>
            </a:r>
            <a:r>
              <a:rPr lang="en-US" baseline="-25000" dirty="0" err="1"/>
              <a:t>top</a:t>
            </a:r>
            <a:r>
              <a:rPr lang="en-US" dirty="0"/>
              <a:t>) / (-</a:t>
            </a:r>
            <a:r>
              <a:rPr lang="en-US" dirty="0" err="1"/>
              <a:t>dy</a:t>
            </a:r>
            <a:r>
              <a:rPr lang="en-US" dirty="0"/>
              <a:t>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Liang-</a:t>
            </a:r>
            <a:r>
              <a:rPr lang="en-US" dirty="0" err="1"/>
              <a:t>Barsky</a:t>
            </a:r>
            <a:r>
              <a:rPr lang="en-US" dirty="0"/>
              <a:t>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lines parallel to edges: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" y="2590800"/>
            <a:ext cx="4191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if</a:t>
            </a:r>
            <a:r>
              <a:rPr lang="en-US" dirty="0"/>
              <a:t> </a:t>
            </a:r>
            <a:r>
              <a:rPr lang="en-US" dirty="0" err="1"/>
              <a:t>d</a:t>
            </a:r>
            <a:r>
              <a:rPr lang="en-US" baseline="-25000" dirty="0" err="1"/>
              <a:t>x</a:t>
            </a:r>
            <a:r>
              <a:rPr lang="en-US" dirty="0"/>
              <a:t> == 0 and </a:t>
            </a:r>
            <a:r>
              <a:rPr lang="en-US" dirty="0" err="1"/>
              <a:t>x</a:t>
            </a:r>
            <a:r>
              <a:rPr lang="en-US" baseline="-25000" dirty="0" err="1"/>
              <a:t>min</a:t>
            </a:r>
            <a:r>
              <a:rPr lang="en-US" baseline="-25000" dirty="0"/>
              <a:t> </a:t>
            </a:r>
            <a:r>
              <a:rPr lang="en-US" dirty="0"/>
              <a:t>– x</a:t>
            </a:r>
            <a:r>
              <a:rPr lang="en-US" baseline="-25000" dirty="0"/>
              <a:t>0</a:t>
            </a:r>
            <a:r>
              <a:rPr lang="en-US" dirty="0"/>
              <a:t> &gt; 0: // left</a:t>
            </a:r>
          </a:p>
          <a:p>
            <a:r>
              <a:rPr lang="en-US" dirty="0"/>
              <a:t>    reject;</a:t>
            </a:r>
          </a:p>
          <a:p>
            <a:r>
              <a:rPr lang="en-US" b="1" dirty="0"/>
              <a:t>else if</a:t>
            </a:r>
            <a:r>
              <a:rPr lang="en-US" dirty="0"/>
              <a:t> </a:t>
            </a:r>
            <a:r>
              <a:rPr lang="en-US" dirty="0" err="1"/>
              <a:t>d</a:t>
            </a:r>
            <a:r>
              <a:rPr lang="en-US" baseline="-25000" dirty="0" err="1"/>
              <a:t>x</a:t>
            </a:r>
            <a:r>
              <a:rPr lang="en-US" dirty="0"/>
              <a:t> == 0 and x</a:t>
            </a:r>
            <a:r>
              <a:rPr lang="en-US" baseline="-25000" dirty="0"/>
              <a:t>0 </a:t>
            </a:r>
            <a:r>
              <a:rPr lang="en-US" dirty="0"/>
              <a:t>- </a:t>
            </a:r>
            <a:r>
              <a:rPr lang="en-US" dirty="0" err="1"/>
              <a:t>x</a:t>
            </a:r>
            <a:r>
              <a:rPr lang="en-US" baseline="-25000" dirty="0" err="1"/>
              <a:t>max</a:t>
            </a:r>
            <a:r>
              <a:rPr lang="en-US" dirty="0"/>
              <a:t> &gt; 0: // right</a:t>
            </a:r>
          </a:p>
          <a:p>
            <a:r>
              <a:rPr lang="en-US" dirty="0"/>
              <a:t>    reject;</a:t>
            </a:r>
          </a:p>
          <a:p>
            <a:r>
              <a:rPr lang="en-US" b="1" dirty="0"/>
              <a:t>else if</a:t>
            </a:r>
            <a:r>
              <a:rPr lang="en-US" dirty="0"/>
              <a:t> </a:t>
            </a:r>
            <a:r>
              <a:rPr lang="en-US" dirty="0" err="1"/>
              <a:t>d</a:t>
            </a:r>
            <a:r>
              <a:rPr lang="en-US" baseline="-25000" dirty="0" err="1"/>
              <a:t>y</a:t>
            </a:r>
            <a:r>
              <a:rPr lang="en-US" dirty="0"/>
              <a:t> == 0 and </a:t>
            </a:r>
            <a:r>
              <a:rPr lang="en-US" dirty="0" err="1"/>
              <a:t>y</a:t>
            </a:r>
            <a:r>
              <a:rPr lang="en-US" baseline="-25000" dirty="0" err="1"/>
              <a:t>min</a:t>
            </a:r>
            <a:r>
              <a:rPr lang="en-US" baseline="-25000" dirty="0"/>
              <a:t> </a:t>
            </a:r>
            <a:r>
              <a:rPr lang="en-US" dirty="0"/>
              <a:t>– y</a:t>
            </a:r>
            <a:r>
              <a:rPr lang="en-US" baseline="-25000" dirty="0"/>
              <a:t>0</a:t>
            </a:r>
            <a:r>
              <a:rPr lang="en-US" dirty="0"/>
              <a:t> &gt; 0: // bottom</a:t>
            </a:r>
          </a:p>
          <a:p>
            <a:r>
              <a:rPr lang="en-US" dirty="0"/>
              <a:t>    reject;</a:t>
            </a:r>
          </a:p>
          <a:p>
            <a:r>
              <a:rPr lang="en-US" b="1" dirty="0"/>
              <a:t>else if</a:t>
            </a:r>
            <a:r>
              <a:rPr lang="en-US" dirty="0"/>
              <a:t> </a:t>
            </a:r>
            <a:r>
              <a:rPr lang="en-US" dirty="0" err="1"/>
              <a:t>d</a:t>
            </a:r>
            <a:r>
              <a:rPr lang="en-US" baseline="-25000" dirty="0" err="1"/>
              <a:t>y</a:t>
            </a:r>
            <a:r>
              <a:rPr lang="en-US" dirty="0"/>
              <a:t> == 0 and y</a:t>
            </a:r>
            <a:r>
              <a:rPr lang="en-US" baseline="-25000" dirty="0"/>
              <a:t>0 </a:t>
            </a:r>
            <a:r>
              <a:rPr lang="en-US" dirty="0"/>
              <a:t>- </a:t>
            </a:r>
            <a:r>
              <a:rPr lang="en-US" dirty="0" err="1"/>
              <a:t>y</a:t>
            </a:r>
            <a:r>
              <a:rPr lang="en-US" baseline="-25000" dirty="0" err="1"/>
              <a:t>max</a:t>
            </a:r>
            <a:r>
              <a:rPr lang="en-US" dirty="0"/>
              <a:t> &gt; 0: // top</a:t>
            </a:r>
          </a:p>
          <a:p>
            <a:r>
              <a:rPr lang="en-US" dirty="0"/>
              <a:t>    reject;</a:t>
            </a:r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20" name="Group 19"/>
          <p:cNvGrpSpPr/>
          <p:nvPr/>
        </p:nvGrpSpPr>
        <p:grpSpPr>
          <a:xfrm>
            <a:off x="4381180" y="2438400"/>
            <a:ext cx="4610420" cy="3429000"/>
            <a:chOff x="4038600" y="2438400"/>
            <a:chExt cx="4610420" cy="3429000"/>
          </a:xfrm>
        </p:grpSpPr>
        <p:grpSp>
          <p:nvGrpSpPr>
            <p:cNvPr id="4" name="Group 3"/>
            <p:cNvGrpSpPr/>
            <p:nvPr/>
          </p:nvGrpSpPr>
          <p:grpSpPr>
            <a:xfrm>
              <a:off x="4038600" y="2526268"/>
              <a:ext cx="4610420" cy="3264932"/>
              <a:chOff x="2123152" y="2438400"/>
              <a:chExt cx="4610420" cy="3264932"/>
            </a:xfrm>
          </p:grpSpPr>
          <p:sp>
            <p:nvSpPr>
              <p:cNvPr id="5" name="Rectangle 4"/>
              <p:cNvSpPr/>
              <p:nvPr/>
            </p:nvSpPr>
            <p:spPr>
              <a:xfrm>
                <a:off x="2667000" y="2971800"/>
                <a:ext cx="3733800" cy="24384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2518688" y="5334000"/>
                <a:ext cx="5293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/>
                  <a:t>x</a:t>
                </a:r>
                <a:r>
                  <a:rPr lang="en-US" baseline="-25000" dirty="0" err="1"/>
                  <a:t>min</a:t>
                </a:r>
                <a:endParaRPr lang="en-US" baseline="-25000" dirty="0"/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6172200" y="5334000"/>
                <a:ext cx="5613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/>
                  <a:t>x</a:t>
                </a:r>
                <a:r>
                  <a:rPr lang="en-US" baseline="-25000" dirty="0" err="1"/>
                  <a:t>max</a:t>
                </a:r>
                <a:endParaRPr lang="en-US" baseline="-25000" dirty="0"/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2133600" y="5105400"/>
                <a:ext cx="5148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/>
                  <a:t>y</a:t>
                </a:r>
                <a:r>
                  <a:rPr lang="en-US" baseline="-25000" dirty="0" err="1"/>
                  <a:t>min</a:t>
                </a:r>
                <a:endParaRPr lang="en-US" baseline="-25000" dirty="0"/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2171700" y="2707243"/>
                <a:ext cx="5469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/>
                  <a:t>y</a:t>
                </a:r>
                <a:r>
                  <a:rPr lang="en-US" baseline="-25000" dirty="0" err="1"/>
                  <a:t>max</a:t>
                </a:r>
                <a:endParaRPr lang="en-US" baseline="-25000" dirty="0"/>
              </a:p>
            </p:txBody>
          </p:sp>
          <p:cxnSp>
            <p:nvCxnSpPr>
              <p:cNvPr id="10" name="Straight Connector 9"/>
              <p:cNvCxnSpPr/>
              <p:nvPr/>
            </p:nvCxnSpPr>
            <p:spPr>
              <a:xfrm flipV="1">
                <a:off x="2209800" y="2667000"/>
                <a:ext cx="2133600" cy="1447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 flipV="1">
                <a:off x="2657475" y="2971800"/>
                <a:ext cx="1235242" cy="8382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TextBox 11"/>
              <p:cNvSpPr txBox="1"/>
              <p:nvPr/>
            </p:nvSpPr>
            <p:spPr>
              <a:xfrm>
                <a:off x="4343400" y="2438400"/>
                <a:ext cx="12772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v</a:t>
                </a:r>
                <a:r>
                  <a:rPr lang="en-US" baseline="-25000" dirty="0"/>
                  <a:t>1</a:t>
                </a:r>
                <a:r>
                  <a:rPr lang="en-US" dirty="0"/>
                  <a:t> = (x</a:t>
                </a:r>
                <a:r>
                  <a:rPr lang="en-US" baseline="-25000" dirty="0"/>
                  <a:t>1</a:t>
                </a:r>
                <a:r>
                  <a:rPr lang="en-US" dirty="0"/>
                  <a:t>, y</a:t>
                </a:r>
                <a:r>
                  <a:rPr lang="en-US" baseline="-25000" dirty="0"/>
                  <a:t>1</a:t>
                </a:r>
                <a:r>
                  <a:rPr lang="en-US" dirty="0"/>
                  <a:t>)</a:t>
                </a:r>
                <a:endParaRPr lang="en-US" baseline="-25000" dirty="0"/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2123152" y="4019550"/>
                <a:ext cx="12772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v</a:t>
                </a:r>
                <a:r>
                  <a:rPr lang="en-US" baseline="-25000" dirty="0"/>
                  <a:t>0</a:t>
                </a:r>
                <a:r>
                  <a:rPr lang="en-US" dirty="0"/>
                  <a:t> = (x</a:t>
                </a:r>
                <a:r>
                  <a:rPr lang="en-US" baseline="-25000" dirty="0"/>
                  <a:t>0</a:t>
                </a:r>
                <a:r>
                  <a:rPr lang="en-US" dirty="0"/>
                  <a:t>, y</a:t>
                </a:r>
                <a:r>
                  <a:rPr lang="en-US" baseline="-25000" dirty="0"/>
                  <a:t>0</a:t>
                </a:r>
                <a:r>
                  <a:rPr lang="en-US" dirty="0"/>
                  <a:t>)</a:t>
                </a:r>
                <a:endParaRPr lang="en-US" baseline="-25000" dirty="0"/>
              </a:p>
            </p:txBody>
          </p:sp>
        </p:grpSp>
        <p:cxnSp>
          <p:nvCxnSpPr>
            <p:cNvPr id="16" name="Straight Connector 15"/>
            <p:cNvCxnSpPr/>
            <p:nvPr/>
          </p:nvCxnSpPr>
          <p:spPr>
            <a:xfrm>
              <a:off x="5562600" y="5867400"/>
              <a:ext cx="15240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5486400" y="2438400"/>
              <a:ext cx="15240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8610600" y="3505200"/>
              <a:ext cx="0" cy="129540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V="1">
              <a:off x="4343400" y="2667000"/>
              <a:ext cx="0" cy="129540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Liang-</a:t>
            </a:r>
            <a:r>
              <a:rPr lang="en-US" dirty="0" err="1"/>
              <a:t>Barsky</a:t>
            </a:r>
            <a:r>
              <a:rPr lang="en-US" dirty="0"/>
              <a:t>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Putting it all together: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4724400" y="1752600"/>
            <a:ext cx="44196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bool</a:t>
            </a:r>
            <a:r>
              <a:rPr lang="en-US" dirty="0"/>
              <a:t> </a:t>
            </a:r>
            <a:r>
              <a:rPr lang="en-US" b="1" dirty="0"/>
              <a:t>visible</a:t>
            </a:r>
            <a:r>
              <a:rPr lang="en-US" dirty="0"/>
              <a:t>(den, num, </a:t>
            </a:r>
            <a:r>
              <a:rPr lang="en-US" dirty="0" err="1"/>
              <a:t>t</a:t>
            </a:r>
            <a:r>
              <a:rPr lang="en-US" baseline="-25000" dirty="0" err="1"/>
              <a:t>E</a:t>
            </a:r>
            <a:r>
              <a:rPr lang="en-US" dirty="0"/>
              <a:t>, </a:t>
            </a:r>
            <a:r>
              <a:rPr lang="en-US" dirty="0" err="1"/>
              <a:t>t</a:t>
            </a:r>
            <a:r>
              <a:rPr lang="en-US" baseline="-25000" dirty="0" err="1"/>
              <a:t>L</a:t>
            </a:r>
            <a:r>
              <a:rPr lang="en-US" dirty="0"/>
              <a:t>):</a:t>
            </a:r>
          </a:p>
          <a:p>
            <a:r>
              <a:rPr lang="en-US" dirty="0"/>
              <a:t>    </a:t>
            </a:r>
            <a:r>
              <a:rPr lang="en-US" b="1" dirty="0"/>
              <a:t>if</a:t>
            </a:r>
            <a:r>
              <a:rPr lang="en-US" dirty="0"/>
              <a:t> (den &gt; 0):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// potentially entering</a:t>
            </a:r>
          </a:p>
          <a:p>
            <a:r>
              <a:rPr lang="en-US" dirty="0"/>
              <a:t>        t = num / den;</a:t>
            </a:r>
          </a:p>
          <a:p>
            <a:r>
              <a:rPr lang="en-US" dirty="0"/>
              <a:t>        </a:t>
            </a:r>
            <a:r>
              <a:rPr lang="en-US" b="1" dirty="0"/>
              <a:t>if</a:t>
            </a:r>
            <a:r>
              <a:rPr lang="en-US" dirty="0"/>
              <a:t> (t &gt; </a:t>
            </a:r>
            <a:r>
              <a:rPr lang="en-US" dirty="0" err="1"/>
              <a:t>t</a:t>
            </a:r>
            <a:r>
              <a:rPr lang="en-US" baseline="-25000" dirty="0" err="1"/>
              <a:t>L</a:t>
            </a:r>
            <a:r>
              <a:rPr lang="en-US" dirty="0"/>
              <a:t>):</a:t>
            </a:r>
          </a:p>
          <a:p>
            <a:r>
              <a:rPr lang="en-US" dirty="0"/>
              <a:t>            </a:t>
            </a:r>
            <a:r>
              <a:rPr lang="en-US" b="1" dirty="0"/>
              <a:t>return</a:t>
            </a:r>
            <a:r>
              <a:rPr lang="en-US" dirty="0"/>
              <a:t> false;</a:t>
            </a:r>
          </a:p>
          <a:p>
            <a:r>
              <a:rPr lang="en-US" dirty="0"/>
              <a:t>        </a:t>
            </a:r>
            <a:r>
              <a:rPr lang="en-US" b="1" dirty="0"/>
              <a:t>if</a:t>
            </a:r>
            <a:r>
              <a:rPr lang="en-US" dirty="0"/>
              <a:t> (t &gt; </a:t>
            </a:r>
            <a:r>
              <a:rPr lang="en-US" dirty="0" err="1"/>
              <a:t>t</a:t>
            </a:r>
            <a:r>
              <a:rPr lang="en-US" baseline="-25000" dirty="0" err="1"/>
              <a:t>E</a:t>
            </a:r>
            <a:r>
              <a:rPr lang="en-US" dirty="0"/>
              <a:t>)</a:t>
            </a:r>
          </a:p>
          <a:p>
            <a:r>
              <a:rPr lang="en-US" dirty="0"/>
              <a:t>            </a:t>
            </a:r>
            <a:r>
              <a:rPr lang="en-US" dirty="0" err="1"/>
              <a:t>t</a:t>
            </a:r>
            <a:r>
              <a:rPr lang="en-US" baseline="-25000" dirty="0" err="1"/>
              <a:t>E</a:t>
            </a:r>
            <a:r>
              <a:rPr lang="en-US" dirty="0"/>
              <a:t> = t;</a:t>
            </a:r>
          </a:p>
          <a:p>
            <a:r>
              <a:rPr lang="en-US" dirty="0"/>
              <a:t>    </a:t>
            </a:r>
            <a:r>
              <a:rPr lang="en-US" b="1" dirty="0"/>
              <a:t>else</a:t>
            </a:r>
            <a:r>
              <a:rPr lang="en-US" dirty="0"/>
              <a:t> </a:t>
            </a:r>
            <a:r>
              <a:rPr lang="en-US" b="1" dirty="0"/>
              <a:t>if</a:t>
            </a:r>
            <a:r>
              <a:rPr lang="en-US" dirty="0"/>
              <a:t> (den &lt; 0):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// potentially leaving</a:t>
            </a:r>
          </a:p>
          <a:p>
            <a:r>
              <a:rPr lang="en-US" dirty="0"/>
              <a:t>        t = num / den;</a:t>
            </a:r>
          </a:p>
          <a:p>
            <a:r>
              <a:rPr lang="en-US" dirty="0"/>
              <a:t>        </a:t>
            </a:r>
            <a:r>
              <a:rPr lang="en-US" b="1" dirty="0"/>
              <a:t>if</a:t>
            </a:r>
            <a:r>
              <a:rPr lang="en-US" dirty="0"/>
              <a:t> (t &lt; </a:t>
            </a:r>
            <a:r>
              <a:rPr lang="en-US" dirty="0" err="1"/>
              <a:t>t</a:t>
            </a:r>
            <a:r>
              <a:rPr lang="en-US" baseline="-25000" dirty="0" err="1"/>
              <a:t>E</a:t>
            </a:r>
            <a:r>
              <a:rPr lang="en-US" dirty="0"/>
              <a:t>):</a:t>
            </a:r>
          </a:p>
          <a:p>
            <a:r>
              <a:rPr lang="en-US" dirty="0"/>
              <a:t>            </a:t>
            </a:r>
            <a:r>
              <a:rPr lang="en-US" b="1" dirty="0"/>
              <a:t>return</a:t>
            </a:r>
            <a:r>
              <a:rPr lang="en-US" dirty="0"/>
              <a:t> false;</a:t>
            </a:r>
          </a:p>
          <a:p>
            <a:r>
              <a:rPr lang="en-US" dirty="0"/>
              <a:t>        </a:t>
            </a:r>
            <a:r>
              <a:rPr lang="en-US" b="1" dirty="0"/>
              <a:t>if </a:t>
            </a:r>
            <a:r>
              <a:rPr lang="en-US" dirty="0"/>
              <a:t>(t &lt; </a:t>
            </a:r>
            <a:r>
              <a:rPr lang="en-US" dirty="0" err="1"/>
              <a:t>t</a:t>
            </a:r>
            <a:r>
              <a:rPr lang="en-US" baseline="-25000" dirty="0" err="1"/>
              <a:t>L</a:t>
            </a:r>
            <a:r>
              <a:rPr lang="en-US" dirty="0"/>
              <a:t>)</a:t>
            </a:r>
            <a:endParaRPr lang="en-US" b="1" baseline="-25000" dirty="0"/>
          </a:p>
          <a:p>
            <a:r>
              <a:rPr lang="en-US" dirty="0"/>
              <a:t>            </a:t>
            </a:r>
            <a:r>
              <a:rPr lang="en-US" dirty="0" err="1"/>
              <a:t>t</a:t>
            </a:r>
            <a:r>
              <a:rPr lang="en-US" baseline="-25000" dirty="0" err="1"/>
              <a:t>L</a:t>
            </a:r>
            <a:r>
              <a:rPr lang="en-US" dirty="0"/>
              <a:t> = t;</a:t>
            </a:r>
          </a:p>
          <a:p>
            <a:r>
              <a:rPr lang="en-US" dirty="0"/>
              <a:t>    </a:t>
            </a:r>
            <a:r>
              <a:rPr lang="en-US" b="1" dirty="0"/>
              <a:t>else</a:t>
            </a:r>
            <a:r>
              <a:rPr lang="en-US" dirty="0"/>
              <a:t> if num &gt; 0: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// line parallel to edge</a:t>
            </a:r>
          </a:p>
          <a:p>
            <a:r>
              <a:rPr lang="en-US" dirty="0"/>
              <a:t>            </a:t>
            </a:r>
            <a:r>
              <a:rPr lang="en-US" b="1" dirty="0"/>
              <a:t>return</a:t>
            </a:r>
            <a:r>
              <a:rPr lang="en-US" dirty="0"/>
              <a:t> false;</a:t>
            </a:r>
          </a:p>
          <a:p>
            <a:r>
              <a:rPr lang="en-US" dirty="0"/>
              <a:t>    </a:t>
            </a:r>
            <a:r>
              <a:rPr lang="en-US" b="1" dirty="0"/>
              <a:t>return</a:t>
            </a:r>
            <a:r>
              <a:rPr lang="en-US" dirty="0"/>
              <a:t> true;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" y="2097881"/>
            <a:ext cx="46482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</a:t>
            </a:r>
            <a:r>
              <a:rPr lang="en-US" baseline="-25000" dirty="0" err="1"/>
              <a:t>E</a:t>
            </a:r>
            <a:r>
              <a:rPr lang="en-US" dirty="0"/>
              <a:t> = 0; </a:t>
            </a:r>
            <a:r>
              <a:rPr lang="en-US" dirty="0" err="1"/>
              <a:t>t</a:t>
            </a:r>
            <a:r>
              <a:rPr lang="en-US" baseline="-25000" dirty="0" err="1"/>
              <a:t>L</a:t>
            </a:r>
            <a:r>
              <a:rPr lang="en-US" dirty="0"/>
              <a:t> = 1;</a:t>
            </a:r>
          </a:p>
          <a:p>
            <a:r>
              <a:rPr lang="en-US" dirty="0"/>
              <a:t>visible = false;</a:t>
            </a:r>
          </a:p>
          <a:p>
            <a:r>
              <a:rPr lang="en-US" b="1" dirty="0"/>
              <a:t>if</a:t>
            </a:r>
            <a:r>
              <a:rPr lang="en-US" dirty="0"/>
              <a:t> </a:t>
            </a:r>
            <a:r>
              <a:rPr lang="en-US" b="1" dirty="0"/>
              <a:t>visible(</a:t>
            </a:r>
            <a:r>
              <a:rPr lang="en-US" dirty="0"/>
              <a:t>d</a:t>
            </a:r>
            <a:r>
              <a:rPr lang="en-US" baseline="-25000" dirty="0"/>
              <a:t>x</a:t>
            </a:r>
            <a:r>
              <a:rPr lang="en-US" dirty="0"/>
              <a:t>, </a:t>
            </a:r>
            <a:r>
              <a:rPr lang="en-US" dirty="0" err="1"/>
              <a:t>x</a:t>
            </a:r>
            <a:r>
              <a:rPr lang="en-US" baseline="-25000" dirty="0" err="1"/>
              <a:t>min</a:t>
            </a:r>
            <a:r>
              <a:rPr lang="en-US" dirty="0"/>
              <a:t> – x</a:t>
            </a:r>
            <a:r>
              <a:rPr lang="en-US" baseline="-25000" dirty="0"/>
              <a:t>0</a:t>
            </a:r>
            <a:r>
              <a:rPr lang="en-US" dirty="0"/>
              <a:t>,</a:t>
            </a:r>
            <a:r>
              <a:rPr lang="en-US" baseline="-25000" dirty="0"/>
              <a:t> </a:t>
            </a:r>
            <a:r>
              <a:rPr lang="en-US" dirty="0" err="1"/>
              <a:t>t</a:t>
            </a:r>
            <a:r>
              <a:rPr lang="en-US" baseline="-25000" dirty="0" err="1"/>
              <a:t>E</a:t>
            </a:r>
            <a:r>
              <a:rPr lang="en-US" dirty="0"/>
              <a:t>,</a:t>
            </a:r>
            <a:r>
              <a:rPr lang="en-US" baseline="-25000" dirty="0"/>
              <a:t> </a:t>
            </a:r>
            <a:r>
              <a:rPr lang="en-US" dirty="0" err="1"/>
              <a:t>t</a:t>
            </a:r>
            <a:r>
              <a:rPr lang="en-US" baseline="-25000" dirty="0" err="1"/>
              <a:t>L</a:t>
            </a:r>
            <a:r>
              <a:rPr lang="en-US" dirty="0"/>
              <a:t>):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// left</a:t>
            </a:r>
          </a:p>
          <a:p>
            <a:r>
              <a:rPr lang="en-US" dirty="0"/>
              <a:t>    </a:t>
            </a:r>
            <a:r>
              <a:rPr lang="en-US" b="1" dirty="0"/>
              <a:t>if</a:t>
            </a:r>
            <a:r>
              <a:rPr lang="en-US" dirty="0"/>
              <a:t> </a:t>
            </a:r>
            <a:r>
              <a:rPr lang="en-US" b="1" dirty="0"/>
              <a:t>visible</a:t>
            </a:r>
            <a:r>
              <a:rPr lang="en-US" dirty="0"/>
              <a:t> (-d</a:t>
            </a:r>
            <a:r>
              <a:rPr lang="en-US" baseline="-25000" dirty="0"/>
              <a:t>x</a:t>
            </a:r>
            <a:r>
              <a:rPr lang="en-US" dirty="0"/>
              <a:t>, x</a:t>
            </a:r>
            <a:r>
              <a:rPr lang="en-US" baseline="-25000" dirty="0"/>
              <a:t>0</a:t>
            </a:r>
            <a:r>
              <a:rPr lang="en-US" dirty="0"/>
              <a:t> – </a:t>
            </a:r>
            <a:r>
              <a:rPr lang="en-US" dirty="0" err="1"/>
              <a:t>x</a:t>
            </a:r>
            <a:r>
              <a:rPr lang="en-US" baseline="-25000" dirty="0" err="1"/>
              <a:t>max</a:t>
            </a:r>
            <a:r>
              <a:rPr lang="en-US" dirty="0"/>
              <a:t>,</a:t>
            </a:r>
            <a:r>
              <a:rPr lang="en-US" baseline="-25000" dirty="0"/>
              <a:t> </a:t>
            </a:r>
            <a:r>
              <a:rPr lang="en-US" dirty="0" err="1"/>
              <a:t>t</a:t>
            </a:r>
            <a:r>
              <a:rPr lang="en-US" baseline="-25000" dirty="0" err="1"/>
              <a:t>E</a:t>
            </a:r>
            <a:r>
              <a:rPr lang="en-US" dirty="0"/>
              <a:t>,</a:t>
            </a:r>
            <a:r>
              <a:rPr lang="en-US" baseline="-25000" dirty="0"/>
              <a:t> </a:t>
            </a:r>
            <a:r>
              <a:rPr lang="en-US" dirty="0" err="1"/>
              <a:t>t</a:t>
            </a:r>
            <a:r>
              <a:rPr lang="en-US" baseline="-25000" dirty="0" err="1"/>
              <a:t>L</a:t>
            </a:r>
            <a:r>
              <a:rPr lang="en-US" dirty="0"/>
              <a:t>):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// right</a:t>
            </a:r>
          </a:p>
          <a:p>
            <a:r>
              <a:rPr lang="en-US" dirty="0"/>
              <a:t>        </a:t>
            </a:r>
            <a:r>
              <a:rPr lang="en-US" b="1" dirty="0"/>
              <a:t>if</a:t>
            </a:r>
            <a:r>
              <a:rPr lang="en-US" dirty="0"/>
              <a:t> </a:t>
            </a:r>
            <a:r>
              <a:rPr lang="en-US" b="1" dirty="0"/>
              <a:t>visible</a:t>
            </a:r>
            <a:r>
              <a:rPr lang="en-US" dirty="0"/>
              <a:t> (</a:t>
            </a:r>
            <a:r>
              <a:rPr lang="en-US" dirty="0" err="1"/>
              <a:t>d</a:t>
            </a:r>
            <a:r>
              <a:rPr lang="en-US" baseline="-25000" dirty="0" err="1"/>
              <a:t>y</a:t>
            </a:r>
            <a:r>
              <a:rPr lang="en-US" dirty="0"/>
              <a:t>, </a:t>
            </a:r>
            <a:r>
              <a:rPr lang="en-US" dirty="0" err="1"/>
              <a:t>y</a:t>
            </a:r>
            <a:r>
              <a:rPr lang="en-US" baseline="-25000" dirty="0" err="1"/>
              <a:t>min</a:t>
            </a:r>
            <a:r>
              <a:rPr lang="en-US" dirty="0"/>
              <a:t> – y</a:t>
            </a:r>
            <a:r>
              <a:rPr lang="en-US" baseline="-25000" dirty="0"/>
              <a:t>0</a:t>
            </a:r>
            <a:r>
              <a:rPr lang="en-US" dirty="0"/>
              <a:t>,</a:t>
            </a:r>
            <a:r>
              <a:rPr lang="en-US" baseline="-25000" dirty="0"/>
              <a:t> </a:t>
            </a:r>
            <a:r>
              <a:rPr lang="en-US" dirty="0" err="1"/>
              <a:t>t</a:t>
            </a:r>
            <a:r>
              <a:rPr lang="en-US" baseline="-25000" dirty="0" err="1"/>
              <a:t>E</a:t>
            </a:r>
            <a:r>
              <a:rPr lang="en-US" dirty="0"/>
              <a:t>,</a:t>
            </a:r>
            <a:r>
              <a:rPr lang="en-US" baseline="-25000" dirty="0"/>
              <a:t> </a:t>
            </a:r>
            <a:r>
              <a:rPr lang="en-US" dirty="0" err="1"/>
              <a:t>t</a:t>
            </a:r>
            <a:r>
              <a:rPr lang="en-US" baseline="-25000" dirty="0" err="1"/>
              <a:t>L</a:t>
            </a:r>
            <a:r>
              <a:rPr lang="en-US" dirty="0"/>
              <a:t>):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// bottom</a:t>
            </a:r>
          </a:p>
          <a:p>
            <a:r>
              <a:rPr lang="en-US" dirty="0"/>
              <a:t>            </a:t>
            </a:r>
            <a:r>
              <a:rPr lang="en-US" b="1" dirty="0"/>
              <a:t>if</a:t>
            </a:r>
            <a:r>
              <a:rPr lang="en-US" dirty="0"/>
              <a:t> </a:t>
            </a:r>
            <a:r>
              <a:rPr lang="en-US" b="1" dirty="0"/>
              <a:t>visible </a:t>
            </a:r>
            <a:r>
              <a:rPr lang="en-US" dirty="0"/>
              <a:t>(-</a:t>
            </a:r>
            <a:r>
              <a:rPr lang="en-US" dirty="0" err="1"/>
              <a:t>d</a:t>
            </a:r>
            <a:r>
              <a:rPr lang="en-US" baseline="-25000" dirty="0" err="1"/>
              <a:t>y</a:t>
            </a:r>
            <a:r>
              <a:rPr lang="en-US" dirty="0"/>
              <a:t>, y</a:t>
            </a:r>
            <a:r>
              <a:rPr lang="en-US" baseline="-25000" dirty="0"/>
              <a:t>0</a:t>
            </a:r>
            <a:r>
              <a:rPr lang="en-US" dirty="0"/>
              <a:t> – </a:t>
            </a:r>
            <a:r>
              <a:rPr lang="en-US" dirty="0" err="1"/>
              <a:t>y</a:t>
            </a:r>
            <a:r>
              <a:rPr lang="en-US" baseline="-25000" dirty="0" err="1"/>
              <a:t>max</a:t>
            </a:r>
            <a:r>
              <a:rPr lang="en-US" dirty="0"/>
              <a:t>,</a:t>
            </a:r>
            <a:r>
              <a:rPr lang="en-US" baseline="-25000" dirty="0"/>
              <a:t> </a:t>
            </a:r>
            <a:r>
              <a:rPr lang="en-US" dirty="0" err="1"/>
              <a:t>t</a:t>
            </a:r>
            <a:r>
              <a:rPr lang="en-US" baseline="-25000" dirty="0" err="1"/>
              <a:t>E</a:t>
            </a:r>
            <a:r>
              <a:rPr lang="en-US" dirty="0"/>
              <a:t>,</a:t>
            </a:r>
            <a:r>
              <a:rPr lang="en-US" baseline="-25000" dirty="0"/>
              <a:t> </a:t>
            </a:r>
            <a:r>
              <a:rPr lang="en-US" dirty="0" err="1"/>
              <a:t>t</a:t>
            </a:r>
            <a:r>
              <a:rPr lang="en-US" baseline="-25000" dirty="0" err="1"/>
              <a:t>L</a:t>
            </a:r>
            <a:r>
              <a:rPr lang="en-US" dirty="0"/>
              <a:t>):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// top</a:t>
            </a:r>
          </a:p>
          <a:p>
            <a:r>
              <a:rPr lang="en-US" dirty="0"/>
              <a:t>                visible = true;</a:t>
            </a:r>
          </a:p>
          <a:p>
            <a:r>
              <a:rPr lang="en-US" dirty="0"/>
              <a:t>                </a:t>
            </a:r>
            <a:r>
              <a:rPr lang="en-US" b="1" dirty="0"/>
              <a:t>if</a:t>
            </a:r>
            <a:r>
              <a:rPr lang="en-US" dirty="0"/>
              <a:t> (</a:t>
            </a:r>
            <a:r>
              <a:rPr lang="en-US" dirty="0" err="1"/>
              <a:t>t</a:t>
            </a:r>
            <a:r>
              <a:rPr lang="en-US" baseline="-25000" dirty="0" err="1"/>
              <a:t>L</a:t>
            </a:r>
            <a:r>
              <a:rPr lang="en-US" dirty="0"/>
              <a:t> &lt; 1):</a:t>
            </a:r>
          </a:p>
          <a:p>
            <a:r>
              <a:rPr lang="en-US" dirty="0"/>
              <a:t>                    x</a:t>
            </a:r>
            <a:r>
              <a:rPr lang="en-US" baseline="-25000" dirty="0"/>
              <a:t>1</a:t>
            </a:r>
            <a:r>
              <a:rPr lang="en-US" dirty="0"/>
              <a:t> = x</a:t>
            </a:r>
            <a:r>
              <a:rPr lang="en-US" baseline="-25000" dirty="0"/>
              <a:t>0</a:t>
            </a:r>
            <a:r>
              <a:rPr lang="en-US" dirty="0"/>
              <a:t> + </a:t>
            </a:r>
            <a:r>
              <a:rPr lang="en-US" dirty="0" err="1"/>
              <a:t>d</a:t>
            </a:r>
            <a:r>
              <a:rPr lang="en-US" baseline="-25000" dirty="0" err="1"/>
              <a:t>x</a:t>
            </a:r>
            <a:r>
              <a:rPr lang="en-US" dirty="0" err="1"/>
              <a:t>t</a:t>
            </a:r>
            <a:r>
              <a:rPr lang="en-US" baseline="-25000" dirty="0" err="1"/>
              <a:t>L</a:t>
            </a:r>
            <a:r>
              <a:rPr lang="en-US" dirty="0"/>
              <a:t>;</a:t>
            </a:r>
          </a:p>
          <a:p>
            <a:r>
              <a:rPr lang="en-US" dirty="0"/>
              <a:t>                    y</a:t>
            </a:r>
            <a:r>
              <a:rPr lang="en-US" baseline="-25000" dirty="0"/>
              <a:t>1</a:t>
            </a:r>
            <a:r>
              <a:rPr lang="en-US" dirty="0"/>
              <a:t> = y</a:t>
            </a:r>
            <a:r>
              <a:rPr lang="en-US" baseline="-25000" dirty="0"/>
              <a:t>0</a:t>
            </a:r>
            <a:r>
              <a:rPr lang="en-US" dirty="0"/>
              <a:t> + </a:t>
            </a:r>
            <a:r>
              <a:rPr lang="en-US" dirty="0" err="1"/>
              <a:t>d</a:t>
            </a:r>
            <a:r>
              <a:rPr lang="en-US" baseline="-25000" dirty="0" err="1"/>
              <a:t>y</a:t>
            </a:r>
            <a:r>
              <a:rPr lang="en-US" dirty="0" err="1"/>
              <a:t>t</a:t>
            </a:r>
            <a:r>
              <a:rPr lang="en-US" baseline="-25000" dirty="0" err="1"/>
              <a:t>L</a:t>
            </a:r>
            <a:r>
              <a:rPr lang="en-US" dirty="0"/>
              <a:t>;</a:t>
            </a:r>
          </a:p>
          <a:p>
            <a:r>
              <a:rPr lang="en-US" dirty="0"/>
              <a:t>                </a:t>
            </a:r>
            <a:r>
              <a:rPr lang="en-US" b="1" dirty="0"/>
              <a:t>if</a:t>
            </a:r>
            <a:r>
              <a:rPr lang="en-US" dirty="0"/>
              <a:t> (</a:t>
            </a:r>
            <a:r>
              <a:rPr lang="en-US" dirty="0" err="1"/>
              <a:t>t</a:t>
            </a:r>
            <a:r>
              <a:rPr lang="en-US" baseline="-25000" dirty="0" err="1"/>
              <a:t>E</a:t>
            </a:r>
            <a:r>
              <a:rPr lang="en-US" dirty="0"/>
              <a:t> &gt; 0):</a:t>
            </a:r>
          </a:p>
          <a:p>
            <a:r>
              <a:rPr lang="en-US" dirty="0"/>
              <a:t>                    x</a:t>
            </a:r>
            <a:r>
              <a:rPr lang="en-US" baseline="-25000" dirty="0"/>
              <a:t>0</a:t>
            </a:r>
            <a:r>
              <a:rPr lang="en-US" dirty="0"/>
              <a:t> = x</a:t>
            </a:r>
            <a:r>
              <a:rPr lang="en-US" baseline="-25000" dirty="0"/>
              <a:t>0</a:t>
            </a:r>
            <a:r>
              <a:rPr lang="en-US" dirty="0"/>
              <a:t> + </a:t>
            </a:r>
            <a:r>
              <a:rPr lang="en-US" dirty="0" err="1"/>
              <a:t>d</a:t>
            </a:r>
            <a:r>
              <a:rPr lang="en-US" baseline="-25000" dirty="0" err="1"/>
              <a:t>x</a:t>
            </a:r>
            <a:r>
              <a:rPr lang="en-US" dirty="0" err="1"/>
              <a:t>t</a:t>
            </a:r>
            <a:r>
              <a:rPr lang="en-US" baseline="-25000" dirty="0" err="1"/>
              <a:t>E</a:t>
            </a:r>
            <a:r>
              <a:rPr lang="en-US" dirty="0"/>
              <a:t>;</a:t>
            </a:r>
          </a:p>
          <a:p>
            <a:r>
              <a:rPr lang="en-US" dirty="0"/>
              <a:t>                    y</a:t>
            </a:r>
            <a:r>
              <a:rPr lang="en-US" baseline="-25000" dirty="0"/>
              <a:t>0</a:t>
            </a:r>
            <a:r>
              <a:rPr lang="en-US" dirty="0"/>
              <a:t> = y</a:t>
            </a:r>
            <a:r>
              <a:rPr lang="en-US" baseline="-25000" dirty="0"/>
              <a:t>0</a:t>
            </a:r>
            <a:r>
              <a:rPr lang="en-US" dirty="0"/>
              <a:t> + </a:t>
            </a:r>
            <a:r>
              <a:rPr lang="en-US" dirty="0" err="1"/>
              <a:t>d</a:t>
            </a:r>
            <a:r>
              <a:rPr lang="en-US" baseline="-25000" dirty="0" err="1"/>
              <a:t>y</a:t>
            </a:r>
            <a:r>
              <a:rPr lang="en-US" dirty="0" err="1"/>
              <a:t>t</a:t>
            </a:r>
            <a:r>
              <a:rPr lang="en-US" baseline="-25000" dirty="0" err="1"/>
              <a:t>E</a:t>
            </a:r>
            <a:r>
              <a:rPr lang="en-US" dirty="0"/>
              <a:t>;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49</a:t>
            </a:fld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9FA4DEE-5203-8C4E-B021-8B7882422255}"/>
              </a:ext>
            </a:extLst>
          </p:cNvPr>
          <p:cNvSpPr/>
          <p:nvPr/>
        </p:nvSpPr>
        <p:spPr>
          <a:xfrm>
            <a:off x="4876800" y="2097881"/>
            <a:ext cx="3581400" cy="1635919"/>
          </a:xfrm>
          <a:prstGeom prst="roundRect">
            <a:avLst/>
          </a:prstGeom>
          <a:solidFill>
            <a:srgbClr val="92D050">
              <a:alpha val="1451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CA729F9-63C0-D04F-B669-D04D9D70C9CD}"/>
              </a:ext>
            </a:extLst>
          </p:cNvPr>
          <p:cNvSpPr/>
          <p:nvPr/>
        </p:nvSpPr>
        <p:spPr>
          <a:xfrm>
            <a:off x="4876800" y="3754748"/>
            <a:ext cx="3581400" cy="1635919"/>
          </a:xfrm>
          <a:prstGeom prst="roundRect">
            <a:avLst/>
          </a:prstGeom>
          <a:solidFill>
            <a:srgbClr val="C00000">
              <a:alpha val="1451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B3B953B-D870-C247-8BF5-6EF128C523BF}"/>
              </a:ext>
            </a:extLst>
          </p:cNvPr>
          <p:cNvSpPr/>
          <p:nvPr/>
        </p:nvSpPr>
        <p:spPr>
          <a:xfrm>
            <a:off x="4876800" y="5401577"/>
            <a:ext cx="3581400" cy="923023"/>
          </a:xfrm>
          <a:prstGeom prst="roundRect">
            <a:avLst/>
          </a:prstGeom>
          <a:solidFill>
            <a:srgbClr val="0070C0">
              <a:alpha val="1451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0598C8-5F5D-4EB7-82F2-71BD9E5C7FA5}"/>
              </a:ext>
            </a:extLst>
          </p:cNvPr>
          <p:cNvSpPr txBox="1"/>
          <p:nvPr/>
        </p:nvSpPr>
        <p:spPr>
          <a:xfrm rot="5400000">
            <a:off x="8096434" y="2731174"/>
            <a:ext cx="1116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Update </a:t>
            </a:r>
            <a:r>
              <a:rPr lang="en-US" dirty="0" err="1"/>
              <a:t>t</a:t>
            </a:r>
            <a:r>
              <a:rPr lang="en-US" baseline="-25000" dirty="0" err="1"/>
              <a:t>E</a:t>
            </a:r>
            <a:endParaRPr lang="en-US" baseline="-25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2EF8E3-72FA-42C7-98BF-3C87095BD243}"/>
              </a:ext>
            </a:extLst>
          </p:cNvPr>
          <p:cNvSpPr txBox="1"/>
          <p:nvPr/>
        </p:nvSpPr>
        <p:spPr>
          <a:xfrm rot="5400000">
            <a:off x="8110318" y="4383113"/>
            <a:ext cx="1068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Update </a:t>
            </a:r>
            <a:r>
              <a:rPr lang="en-US" dirty="0" err="1"/>
              <a:t>t</a:t>
            </a:r>
            <a:r>
              <a:rPr lang="en-US" baseline="-25000" dirty="0" err="1"/>
              <a:t>L</a:t>
            </a:r>
            <a:endParaRPr lang="en-US" baseline="-25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Liang-</a:t>
            </a:r>
            <a:r>
              <a:rPr lang="en-US" dirty="0" err="1"/>
              <a:t>Barsky</a:t>
            </a:r>
            <a:r>
              <a:rPr lang="en-US" dirty="0"/>
              <a:t>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3D extension is straightforward: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50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57200" y="2160394"/>
            <a:ext cx="70104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</a:t>
            </a:r>
            <a:r>
              <a:rPr lang="en-US" baseline="-25000" dirty="0" err="1"/>
              <a:t>E</a:t>
            </a:r>
            <a:r>
              <a:rPr lang="en-US" dirty="0"/>
              <a:t> = 0; </a:t>
            </a:r>
            <a:r>
              <a:rPr lang="en-US" dirty="0" err="1"/>
              <a:t>t</a:t>
            </a:r>
            <a:r>
              <a:rPr lang="en-US" baseline="-25000" dirty="0" err="1"/>
              <a:t>L</a:t>
            </a:r>
            <a:r>
              <a:rPr lang="en-US" dirty="0"/>
              <a:t> = 1;</a:t>
            </a:r>
          </a:p>
          <a:p>
            <a:r>
              <a:rPr lang="en-US" dirty="0"/>
              <a:t>visible = false;</a:t>
            </a:r>
          </a:p>
          <a:p>
            <a:r>
              <a:rPr lang="en-US" b="1" dirty="0"/>
              <a:t>if</a:t>
            </a:r>
            <a:r>
              <a:rPr lang="en-US" dirty="0"/>
              <a:t> visible(d</a:t>
            </a:r>
            <a:r>
              <a:rPr lang="en-US" baseline="-25000" dirty="0"/>
              <a:t>x</a:t>
            </a:r>
            <a:r>
              <a:rPr lang="en-US" dirty="0"/>
              <a:t>, </a:t>
            </a:r>
            <a:r>
              <a:rPr lang="en-US" dirty="0" err="1"/>
              <a:t>x</a:t>
            </a:r>
            <a:r>
              <a:rPr lang="en-US" baseline="-25000" dirty="0" err="1"/>
              <a:t>min</a:t>
            </a:r>
            <a:r>
              <a:rPr lang="en-US" dirty="0"/>
              <a:t> – x</a:t>
            </a:r>
            <a:r>
              <a:rPr lang="en-US" baseline="-25000" dirty="0"/>
              <a:t>0</a:t>
            </a:r>
            <a:r>
              <a:rPr lang="en-US" dirty="0"/>
              <a:t>,</a:t>
            </a:r>
            <a:r>
              <a:rPr lang="en-US" baseline="-25000" dirty="0"/>
              <a:t> </a:t>
            </a:r>
            <a:r>
              <a:rPr lang="en-US" dirty="0" err="1"/>
              <a:t>t</a:t>
            </a:r>
            <a:r>
              <a:rPr lang="en-US" baseline="-25000" dirty="0" err="1"/>
              <a:t>E</a:t>
            </a:r>
            <a:r>
              <a:rPr lang="en-US" baseline="-25000" dirty="0"/>
              <a:t>, </a:t>
            </a:r>
            <a:r>
              <a:rPr lang="en-US" dirty="0" err="1"/>
              <a:t>t</a:t>
            </a:r>
            <a:r>
              <a:rPr lang="en-US" baseline="-25000" dirty="0" err="1"/>
              <a:t>L</a:t>
            </a:r>
            <a:r>
              <a:rPr lang="en-US" dirty="0"/>
              <a:t>):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// left</a:t>
            </a:r>
          </a:p>
          <a:p>
            <a:r>
              <a:rPr lang="en-US" dirty="0"/>
              <a:t>    </a:t>
            </a:r>
            <a:r>
              <a:rPr lang="en-US" b="1" dirty="0"/>
              <a:t>if</a:t>
            </a:r>
            <a:r>
              <a:rPr lang="en-US" dirty="0"/>
              <a:t> visible (-d</a:t>
            </a:r>
            <a:r>
              <a:rPr lang="en-US" baseline="-25000" dirty="0"/>
              <a:t>x</a:t>
            </a:r>
            <a:r>
              <a:rPr lang="en-US" dirty="0"/>
              <a:t>, x</a:t>
            </a:r>
            <a:r>
              <a:rPr lang="en-US" baseline="-25000" dirty="0"/>
              <a:t>0</a:t>
            </a:r>
            <a:r>
              <a:rPr lang="en-US" dirty="0"/>
              <a:t> – </a:t>
            </a:r>
            <a:r>
              <a:rPr lang="en-US" dirty="0" err="1"/>
              <a:t>x</a:t>
            </a:r>
            <a:r>
              <a:rPr lang="en-US" baseline="-25000" dirty="0" err="1"/>
              <a:t>max</a:t>
            </a:r>
            <a:r>
              <a:rPr lang="en-US" dirty="0"/>
              <a:t>,</a:t>
            </a:r>
            <a:r>
              <a:rPr lang="en-US" baseline="-25000" dirty="0"/>
              <a:t> </a:t>
            </a:r>
            <a:r>
              <a:rPr lang="en-US" dirty="0" err="1"/>
              <a:t>t</a:t>
            </a:r>
            <a:r>
              <a:rPr lang="en-US" baseline="-25000" dirty="0" err="1"/>
              <a:t>E</a:t>
            </a:r>
            <a:r>
              <a:rPr lang="en-US" dirty="0"/>
              <a:t>,</a:t>
            </a:r>
            <a:r>
              <a:rPr lang="en-US" baseline="-25000" dirty="0"/>
              <a:t> </a:t>
            </a:r>
            <a:r>
              <a:rPr lang="en-US" dirty="0" err="1"/>
              <a:t>t</a:t>
            </a:r>
            <a:r>
              <a:rPr lang="en-US" baseline="-25000" dirty="0" err="1"/>
              <a:t>L</a:t>
            </a:r>
            <a:r>
              <a:rPr lang="en-US" dirty="0"/>
              <a:t>):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// right</a:t>
            </a:r>
          </a:p>
          <a:p>
            <a:r>
              <a:rPr lang="en-US" dirty="0"/>
              <a:t>        </a:t>
            </a:r>
            <a:r>
              <a:rPr lang="en-US" b="1" dirty="0"/>
              <a:t>if</a:t>
            </a:r>
            <a:r>
              <a:rPr lang="en-US" dirty="0"/>
              <a:t> visible (</a:t>
            </a:r>
            <a:r>
              <a:rPr lang="en-US" dirty="0" err="1"/>
              <a:t>d</a:t>
            </a:r>
            <a:r>
              <a:rPr lang="en-US" baseline="-25000" dirty="0" err="1"/>
              <a:t>y</a:t>
            </a:r>
            <a:r>
              <a:rPr lang="en-US" dirty="0"/>
              <a:t>, </a:t>
            </a:r>
            <a:r>
              <a:rPr lang="en-US" dirty="0" err="1"/>
              <a:t>y</a:t>
            </a:r>
            <a:r>
              <a:rPr lang="en-US" baseline="-25000" dirty="0" err="1"/>
              <a:t>min</a:t>
            </a:r>
            <a:r>
              <a:rPr lang="en-US" dirty="0"/>
              <a:t> – y</a:t>
            </a:r>
            <a:r>
              <a:rPr lang="en-US" baseline="-25000" dirty="0"/>
              <a:t>0</a:t>
            </a:r>
            <a:r>
              <a:rPr lang="en-US" dirty="0"/>
              <a:t>,</a:t>
            </a:r>
            <a:r>
              <a:rPr lang="en-US" baseline="-25000" dirty="0"/>
              <a:t> </a:t>
            </a:r>
            <a:r>
              <a:rPr lang="en-US" dirty="0" err="1"/>
              <a:t>t</a:t>
            </a:r>
            <a:r>
              <a:rPr lang="en-US" baseline="-25000" dirty="0" err="1"/>
              <a:t>E</a:t>
            </a:r>
            <a:r>
              <a:rPr lang="en-US" dirty="0"/>
              <a:t>,</a:t>
            </a:r>
            <a:r>
              <a:rPr lang="en-US" baseline="-25000" dirty="0"/>
              <a:t> </a:t>
            </a:r>
            <a:r>
              <a:rPr lang="en-US" dirty="0" err="1"/>
              <a:t>t</a:t>
            </a:r>
            <a:r>
              <a:rPr lang="en-US" baseline="-25000" dirty="0" err="1"/>
              <a:t>L</a:t>
            </a:r>
            <a:r>
              <a:rPr lang="en-US" dirty="0"/>
              <a:t>):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// bottom</a:t>
            </a:r>
          </a:p>
          <a:p>
            <a:r>
              <a:rPr lang="en-US" dirty="0"/>
              <a:t>            </a:t>
            </a:r>
            <a:r>
              <a:rPr lang="en-US" b="1" dirty="0"/>
              <a:t>if</a:t>
            </a:r>
            <a:r>
              <a:rPr lang="en-US" dirty="0"/>
              <a:t> visible (-</a:t>
            </a:r>
            <a:r>
              <a:rPr lang="en-US" dirty="0" err="1"/>
              <a:t>d</a:t>
            </a:r>
            <a:r>
              <a:rPr lang="en-US" baseline="-25000" dirty="0" err="1"/>
              <a:t>y</a:t>
            </a:r>
            <a:r>
              <a:rPr lang="en-US" dirty="0"/>
              <a:t>, y</a:t>
            </a:r>
            <a:r>
              <a:rPr lang="en-US" baseline="-25000" dirty="0"/>
              <a:t>0</a:t>
            </a:r>
            <a:r>
              <a:rPr lang="en-US" dirty="0"/>
              <a:t> – </a:t>
            </a:r>
            <a:r>
              <a:rPr lang="en-US" dirty="0" err="1"/>
              <a:t>y</a:t>
            </a:r>
            <a:r>
              <a:rPr lang="en-US" baseline="-25000" dirty="0" err="1"/>
              <a:t>max</a:t>
            </a:r>
            <a:r>
              <a:rPr lang="en-US" dirty="0"/>
              <a:t>,</a:t>
            </a:r>
            <a:r>
              <a:rPr lang="en-US" baseline="-25000" dirty="0"/>
              <a:t> </a:t>
            </a:r>
            <a:r>
              <a:rPr lang="en-US" dirty="0" err="1"/>
              <a:t>t</a:t>
            </a:r>
            <a:r>
              <a:rPr lang="en-US" baseline="-25000" dirty="0" err="1"/>
              <a:t>E</a:t>
            </a:r>
            <a:r>
              <a:rPr lang="en-US" dirty="0"/>
              <a:t>,</a:t>
            </a:r>
            <a:r>
              <a:rPr lang="en-US" baseline="-25000" dirty="0"/>
              <a:t> </a:t>
            </a:r>
            <a:r>
              <a:rPr lang="en-US" dirty="0" err="1"/>
              <a:t>t</a:t>
            </a:r>
            <a:r>
              <a:rPr lang="en-US" baseline="-25000" dirty="0" err="1"/>
              <a:t>L</a:t>
            </a:r>
            <a:r>
              <a:rPr lang="en-US" dirty="0"/>
              <a:t>):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// top</a:t>
            </a:r>
          </a:p>
          <a:p>
            <a:r>
              <a:rPr lang="en-US" dirty="0">
                <a:solidFill>
                  <a:srgbClr val="C00000"/>
                </a:solidFill>
              </a:rPr>
              <a:t>                </a:t>
            </a:r>
            <a:r>
              <a:rPr lang="en-US" b="1" dirty="0">
                <a:solidFill>
                  <a:srgbClr val="C00000"/>
                </a:solidFill>
              </a:rPr>
              <a:t>if</a:t>
            </a:r>
            <a:r>
              <a:rPr lang="en-US" dirty="0">
                <a:solidFill>
                  <a:srgbClr val="C00000"/>
                </a:solidFill>
              </a:rPr>
              <a:t> visible (</a:t>
            </a:r>
            <a:r>
              <a:rPr lang="en-US" dirty="0" err="1">
                <a:solidFill>
                  <a:srgbClr val="C00000"/>
                </a:solidFill>
              </a:rPr>
              <a:t>d</a:t>
            </a:r>
            <a:r>
              <a:rPr lang="en-US" baseline="-25000" dirty="0" err="1">
                <a:solidFill>
                  <a:srgbClr val="C00000"/>
                </a:solidFill>
              </a:rPr>
              <a:t>z</a:t>
            </a:r>
            <a:r>
              <a:rPr lang="en-US" dirty="0">
                <a:solidFill>
                  <a:srgbClr val="C00000"/>
                </a:solidFill>
              </a:rPr>
              <a:t>, </a:t>
            </a:r>
            <a:r>
              <a:rPr lang="en-US" dirty="0" err="1">
                <a:solidFill>
                  <a:srgbClr val="C00000"/>
                </a:solidFill>
              </a:rPr>
              <a:t>z</a:t>
            </a:r>
            <a:r>
              <a:rPr lang="en-US" baseline="-25000" dirty="0" err="1">
                <a:solidFill>
                  <a:srgbClr val="C00000"/>
                </a:solidFill>
              </a:rPr>
              <a:t>min</a:t>
            </a:r>
            <a:r>
              <a:rPr lang="en-US" dirty="0">
                <a:solidFill>
                  <a:srgbClr val="C00000"/>
                </a:solidFill>
              </a:rPr>
              <a:t> – z</a:t>
            </a:r>
            <a:r>
              <a:rPr lang="en-US" baseline="-25000" dirty="0">
                <a:solidFill>
                  <a:srgbClr val="C00000"/>
                </a:solidFill>
              </a:rPr>
              <a:t>0</a:t>
            </a:r>
            <a:r>
              <a:rPr lang="en-US" dirty="0">
                <a:solidFill>
                  <a:srgbClr val="C00000"/>
                </a:solidFill>
              </a:rPr>
              <a:t>,</a:t>
            </a:r>
            <a:r>
              <a:rPr lang="en-US" baseline="-25000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t</a:t>
            </a:r>
            <a:r>
              <a:rPr lang="en-US" baseline="-25000" dirty="0" err="1">
                <a:solidFill>
                  <a:srgbClr val="C00000"/>
                </a:solidFill>
              </a:rPr>
              <a:t>E</a:t>
            </a:r>
            <a:r>
              <a:rPr lang="en-US" dirty="0">
                <a:solidFill>
                  <a:srgbClr val="C00000"/>
                </a:solidFill>
              </a:rPr>
              <a:t>,</a:t>
            </a:r>
            <a:r>
              <a:rPr lang="en-US" baseline="-25000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t</a:t>
            </a:r>
            <a:r>
              <a:rPr lang="en-US" baseline="-25000" dirty="0" err="1">
                <a:solidFill>
                  <a:srgbClr val="C00000"/>
                </a:solidFill>
              </a:rPr>
              <a:t>L</a:t>
            </a:r>
            <a:r>
              <a:rPr lang="en-US" dirty="0">
                <a:solidFill>
                  <a:srgbClr val="C00000"/>
                </a:solidFill>
              </a:rPr>
              <a:t>): // front</a:t>
            </a:r>
          </a:p>
          <a:p>
            <a:r>
              <a:rPr lang="en-US" dirty="0">
                <a:solidFill>
                  <a:srgbClr val="C00000"/>
                </a:solidFill>
              </a:rPr>
              <a:t>                    </a:t>
            </a:r>
            <a:r>
              <a:rPr lang="en-US" b="1" dirty="0">
                <a:solidFill>
                  <a:srgbClr val="C00000"/>
                </a:solidFill>
              </a:rPr>
              <a:t>if</a:t>
            </a:r>
            <a:r>
              <a:rPr lang="en-US" dirty="0">
                <a:solidFill>
                  <a:srgbClr val="C00000"/>
                </a:solidFill>
              </a:rPr>
              <a:t> visible (-</a:t>
            </a:r>
            <a:r>
              <a:rPr lang="en-US" dirty="0" err="1">
                <a:solidFill>
                  <a:srgbClr val="C00000"/>
                </a:solidFill>
              </a:rPr>
              <a:t>d</a:t>
            </a:r>
            <a:r>
              <a:rPr lang="en-US" baseline="-25000" dirty="0" err="1">
                <a:solidFill>
                  <a:srgbClr val="C00000"/>
                </a:solidFill>
              </a:rPr>
              <a:t>z</a:t>
            </a:r>
            <a:r>
              <a:rPr lang="en-US" dirty="0">
                <a:solidFill>
                  <a:srgbClr val="C00000"/>
                </a:solidFill>
              </a:rPr>
              <a:t>, z</a:t>
            </a:r>
            <a:r>
              <a:rPr lang="en-US" baseline="-25000" dirty="0">
                <a:solidFill>
                  <a:srgbClr val="C00000"/>
                </a:solidFill>
              </a:rPr>
              <a:t>0 </a:t>
            </a:r>
            <a:r>
              <a:rPr lang="en-US" dirty="0">
                <a:solidFill>
                  <a:srgbClr val="C00000"/>
                </a:solidFill>
              </a:rPr>
              <a:t>– </a:t>
            </a:r>
            <a:r>
              <a:rPr lang="en-US" dirty="0" err="1">
                <a:solidFill>
                  <a:srgbClr val="C00000"/>
                </a:solidFill>
              </a:rPr>
              <a:t>z</a:t>
            </a:r>
            <a:r>
              <a:rPr lang="en-US" baseline="-25000" dirty="0" err="1">
                <a:solidFill>
                  <a:srgbClr val="C00000"/>
                </a:solidFill>
              </a:rPr>
              <a:t>max</a:t>
            </a:r>
            <a:r>
              <a:rPr lang="en-US" dirty="0">
                <a:solidFill>
                  <a:srgbClr val="C00000"/>
                </a:solidFill>
              </a:rPr>
              <a:t>,</a:t>
            </a:r>
            <a:r>
              <a:rPr lang="en-US" baseline="-25000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t</a:t>
            </a:r>
            <a:r>
              <a:rPr lang="en-US" baseline="-25000" dirty="0" err="1">
                <a:solidFill>
                  <a:srgbClr val="C00000"/>
                </a:solidFill>
              </a:rPr>
              <a:t>E</a:t>
            </a:r>
            <a:r>
              <a:rPr lang="en-US" dirty="0">
                <a:solidFill>
                  <a:srgbClr val="C00000"/>
                </a:solidFill>
              </a:rPr>
              <a:t>,</a:t>
            </a:r>
            <a:r>
              <a:rPr lang="en-US" baseline="-25000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t</a:t>
            </a:r>
            <a:r>
              <a:rPr lang="en-US" baseline="-25000" dirty="0" err="1">
                <a:solidFill>
                  <a:srgbClr val="C00000"/>
                </a:solidFill>
              </a:rPr>
              <a:t>L</a:t>
            </a:r>
            <a:r>
              <a:rPr lang="en-US" dirty="0">
                <a:solidFill>
                  <a:srgbClr val="C00000"/>
                </a:solidFill>
              </a:rPr>
              <a:t>): // back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dirty="0"/>
              <a:t>                        visible = true;</a:t>
            </a:r>
          </a:p>
          <a:p>
            <a:r>
              <a:rPr lang="en-US" dirty="0"/>
              <a:t>                        </a:t>
            </a:r>
            <a:r>
              <a:rPr lang="en-US" b="1" dirty="0"/>
              <a:t>if</a:t>
            </a:r>
            <a:r>
              <a:rPr lang="en-US" dirty="0"/>
              <a:t> (</a:t>
            </a:r>
            <a:r>
              <a:rPr lang="en-US" dirty="0" err="1"/>
              <a:t>t</a:t>
            </a:r>
            <a:r>
              <a:rPr lang="en-US" baseline="-25000" dirty="0" err="1"/>
              <a:t>L</a:t>
            </a:r>
            <a:r>
              <a:rPr lang="en-US" dirty="0"/>
              <a:t> &lt; 1):</a:t>
            </a:r>
          </a:p>
          <a:p>
            <a:r>
              <a:rPr lang="en-US" dirty="0"/>
              <a:t>                            x</a:t>
            </a:r>
            <a:r>
              <a:rPr lang="en-US" baseline="-25000" dirty="0"/>
              <a:t>1</a:t>
            </a:r>
            <a:r>
              <a:rPr lang="en-US" dirty="0"/>
              <a:t> = x</a:t>
            </a:r>
            <a:r>
              <a:rPr lang="en-US" baseline="-25000" dirty="0"/>
              <a:t>0</a:t>
            </a:r>
            <a:r>
              <a:rPr lang="en-US" dirty="0"/>
              <a:t> + </a:t>
            </a:r>
            <a:r>
              <a:rPr lang="en-US" dirty="0" err="1"/>
              <a:t>d</a:t>
            </a:r>
            <a:r>
              <a:rPr lang="en-US" baseline="-25000" dirty="0" err="1"/>
              <a:t>x</a:t>
            </a:r>
            <a:r>
              <a:rPr lang="en-US" dirty="0" err="1"/>
              <a:t>t</a:t>
            </a:r>
            <a:r>
              <a:rPr lang="en-US" baseline="-25000" dirty="0" err="1"/>
              <a:t>L</a:t>
            </a:r>
            <a:r>
              <a:rPr lang="en-US" dirty="0"/>
              <a:t>; y</a:t>
            </a:r>
            <a:r>
              <a:rPr lang="en-US" baseline="-25000" dirty="0"/>
              <a:t>1</a:t>
            </a:r>
            <a:r>
              <a:rPr lang="en-US" dirty="0"/>
              <a:t> = y</a:t>
            </a:r>
            <a:r>
              <a:rPr lang="en-US" baseline="-25000" dirty="0"/>
              <a:t>0</a:t>
            </a:r>
            <a:r>
              <a:rPr lang="en-US" dirty="0"/>
              <a:t> + </a:t>
            </a:r>
            <a:r>
              <a:rPr lang="en-US" dirty="0" err="1"/>
              <a:t>d</a:t>
            </a:r>
            <a:r>
              <a:rPr lang="en-US" baseline="-25000" dirty="0" err="1"/>
              <a:t>y</a:t>
            </a:r>
            <a:r>
              <a:rPr lang="en-US" dirty="0" err="1"/>
              <a:t>t</a:t>
            </a:r>
            <a:r>
              <a:rPr lang="en-US" baseline="-25000" dirty="0" err="1"/>
              <a:t>L</a:t>
            </a:r>
            <a:r>
              <a:rPr lang="en-US" dirty="0"/>
              <a:t>; </a:t>
            </a:r>
            <a:r>
              <a:rPr lang="en-US" dirty="0">
                <a:solidFill>
                  <a:srgbClr val="C00000"/>
                </a:solidFill>
              </a:rPr>
              <a:t>z</a:t>
            </a:r>
            <a:r>
              <a:rPr lang="en-US" baseline="-25000" dirty="0">
                <a:solidFill>
                  <a:srgbClr val="C00000"/>
                </a:solidFill>
              </a:rPr>
              <a:t>1</a:t>
            </a:r>
            <a:r>
              <a:rPr lang="en-US" dirty="0">
                <a:solidFill>
                  <a:srgbClr val="C00000"/>
                </a:solidFill>
              </a:rPr>
              <a:t> = z</a:t>
            </a:r>
            <a:r>
              <a:rPr lang="en-US" baseline="-25000" dirty="0">
                <a:solidFill>
                  <a:srgbClr val="C00000"/>
                </a:solidFill>
              </a:rPr>
              <a:t>0</a:t>
            </a:r>
            <a:r>
              <a:rPr lang="en-US" dirty="0">
                <a:solidFill>
                  <a:srgbClr val="C00000"/>
                </a:solidFill>
              </a:rPr>
              <a:t> + </a:t>
            </a:r>
            <a:r>
              <a:rPr lang="en-US" dirty="0" err="1">
                <a:solidFill>
                  <a:srgbClr val="C00000"/>
                </a:solidFill>
              </a:rPr>
              <a:t>d</a:t>
            </a:r>
            <a:r>
              <a:rPr lang="en-US" baseline="-25000" dirty="0" err="1">
                <a:solidFill>
                  <a:srgbClr val="C00000"/>
                </a:solidFill>
              </a:rPr>
              <a:t>z</a:t>
            </a:r>
            <a:r>
              <a:rPr lang="en-US" dirty="0" err="1">
                <a:solidFill>
                  <a:srgbClr val="C00000"/>
                </a:solidFill>
              </a:rPr>
              <a:t>t</a:t>
            </a:r>
            <a:r>
              <a:rPr lang="en-US" baseline="-25000" dirty="0" err="1">
                <a:solidFill>
                  <a:srgbClr val="C00000"/>
                </a:solidFill>
              </a:rPr>
              <a:t>L</a:t>
            </a:r>
            <a:r>
              <a:rPr lang="en-US" dirty="0">
                <a:solidFill>
                  <a:srgbClr val="C00000"/>
                </a:solidFill>
              </a:rPr>
              <a:t>;</a:t>
            </a:r>
          </a:p>
          <a:p>
            <a:r>
              <a:rPr lang="en-US" dirty="0"/>
              <a:t>                        </a:t>
            </a:r>
            <a:r>
              <a:rPr lang="en-US" b="1" dirty="0"/>
              <a:t>if</a:t>
            </a:r>
            <a:r>
              <a:rPr lang="en-US" dirty="0"/>
              <a:t> (</a:t>
            </a:r>
            <a:r>
              <a:rPr lang="en-US" dirty="0" err="1"/>
              <a:t>t</a:t>
            </a:r>
            <a:r>
              <a:rPr lang="en-US" baseline="-25000" dirty="0" err="1"/>
              <a:t>E</a:t>
            </a:r>
            <a:r>
              <a:rPr lang="en-US" dirty="0"/>
              <a:t> &gt; 0):</a:t>
            </a:r>
          </a:p>
          <a:p>
            <a:r>
              <a:rPr lang="en-US" dirty="0"/>
              <a:t>                            x</a:t>
            </a:r>
            <a:r>
              <a:rPr lang="en-US" baseline="-25000" dirty="0"/>
              <a:t>0</a:t>
            </a:r>
            <a:r>
              <a:rPr lang="en-US" dirty="0"/>
              <a:t> = x</a:t>
            </a:r>
            <a:r>
              <a:rPr lang="en-US" baseline="-25000" dirty="0"/>
              <a:t>0</a:t>
            </a:r>
            <a:r>
              <a:rPr lang="en-US" dirty="0"/>
              <a:t> + </a:t>
            </a:r>
            <a:r>
              <a:rPr lang="en-US" dirty="0" err="1"/>
              <a:t>d</a:t>
            </a:r>
            <a:r>
              <a:rPr lang="en-US" baseline="-25000" dirty="0" err="1"/>
              <a:t>x</a:t>
            </a:r>
            <a:r>
              <a:rPr lang="en-US" dirty="0" err="1"/>
              <a:t>t</a:t>
            </a:r>
            <a:r>
              <a:rPr lang="en-US" baseline="-25000" dirty="0" err="1"/>
              <a:t>E</a:t>
            </a:r>
            <a:r>
              <a:rPr lang="en-US" dirty="0"/>
              <a:t>; y</a:t>
            </a:r>
            <a:r>
              <a:rPr lang="en-US" baseline="-25000" dirty="0"/>
              <a:t>0</a:t>
            </a:r>
            <a:r>
              <a:rPr lang="en-US" dirty="0"/>
              <a:t> = y</a:t>
            </a:r>
            <a:r>
              <a:rPr lang="en-US" baseline="-25000" dirty="0"/>
              <a:t>0</a:t>
            </a:r>
            <a:r>
              <a:rPr lang="en-US" dirty="0"/>
              <a:t> + </a:t>
            </a:r>
            <a:r>
              <a:rPr lang="en-US" dirty="0" err="1"/>
              <a:t>d</a:t>
            </a:r>
            <a:r>
              <a:rPr lang="en-US" baseline="-25000" dirty="0" err="1"/>
              <a:t>y</a:t>
            </a:r>
            <a:r>
              <a:rPr lang="en-US" dirty="0" err="1"/>
              <a:t>t</a:t>
            </a:r>
            <a:r>
              <a:rPr lang="en-US" baseline="-25000" dirty="0" err="1"/>
              <a:t>E</a:t>
            </a:r>
            <a:r>
              <a:rPr lang="en-US" dirty="0"/>
              <a:t>; </a:t>
            </a:r>
            <a:r>
              <a:rPr lang="en-US" dirty="0">
                <a:solidFill>
                  <a:srgbClr val="C00000"/>
                </a:solidFill>
              </a:rPr>
              <a:t>z</a:t>
            </a:r>
            <a:r>
              <a:rPr lang="en-US" baseline="-25000" dirty="0">
                <a:solidFill>
                  <a:srgbClr val="C00000"/>
                </a:solidFill>
              </a:rPr>
              <a:t>0</a:t>
            </a:r>
            <a:r>
              <a:rPr lang="en-US" dirty="0">
                <a:solidFill>
                  <a:srgbClr val="C00000"/>
                </a:solidFill>
              </a:rPr>
              <a:t> = z</a:t>
            </a:r>
            <a:r>
              <a:rPr lang="en-US" baseline="-25000" dirty="0">
                <a:solidFill>
                  <a:srgbClr val="C00000"/>
                </a:solidFill>
              </a:rPr>
              <a:t>0</a:t>
            </a:r>
            <a:r>
              <a:rPr lang="en-US" dirty="0">
                <a:solidFill>
                  <a:srgbClr val="C00000"/>
                </a:solidFill>
              </a:rPr>
              <a:t> + </a:t>
            </a:r>
            <a:r>
              <a:rPr lang="en-US" dirty="0" err="1">
                <a:solidFill>
                  <a:srgbClr val="C00000"/>
                </a:solidFill>
              </a:rPr>
              <a:t>d</a:t>
            </a:r>
            <a:r>
              <a:rPr lang="en-US" baseline="-25000" dirty="0" err="1">
                <a:solidFill>
                  <a:srgbClr val="C00000"/>
                </a:solidFill>
              </a:rPr>
              <a:t>y</a:t>
            </a:r>
            <a:r>
              <a:rPr lang="en-US" dirty="0" err="1">
                <a:solidFill>
                  <a:srgbClr val="C00000"/>
                </a:solidFill>
              </a:rPr>
              <a:t>t</a:t>
            </a:r>
            <a:r>
              <a:rPr lang="en-US" baseline="-25000" dirty="0" err="1">
                <a:solidFill>
                  <a:srgbClr val="C00000"/>
                </a:solidFill>
              </a:rPr>
              <a:t>E</a:t>
            </a:r>
            <a:r>
              <a:rPr lang="en-US" dirty="0">
                <a:solidFill>
                  <a:srgbClr val="C00000"/>
                </a:solidFill>
              </a:rPr>
              <a:t>;</a:t>
            </a:r>
          </a:p>
        </p:txBody>
      </p:sp>
      <p:sp>
        <p:nvSpPr>
          <p:cNvPr id="7" name="Right Brace 6"/>
          <p:cNvSpPr/>
          <p:nvPr/>
        </p:nvSpPr>
        <p:spPr>
          <a:xfrm>
            <a:off x="5410200" y="2160394"/>
            <a:ext cx="457200" cy="241160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019800" y="2514600"/>
            <a:ext cx="253146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part is used for </a:t>
            </a:r>
          </a:p>
          <a:p>
            <a:r>
              <a:rPr lang="en-US" dirty="0"/>
              <a:t>efficient ray-bounding</a:t>
            </a:r>
          </a:p>
          <a:p>
            <a:r>
              <a:rPr lang="en-US" dirty="0"/>
              <a:t>volume intersections in</a:t>
            </a:r>
          </a:p>
          <a:p>
            <a:r>
              <a:rPr lang="en-US" dirty="0"/>
              <a:t>acceleration structures</a:t>
            </a:r>
          </a:p>
          <a:p>
            <a:r>
              <a:rPr lang="en-US" dirty="0"/>
              <a:t>we learned earlier!</a:t>
            </a:r>
          </a:p>
        </p:txBody>
      </p:sp>
    </p:spTree>
    <p:extLst>
      <p:ext uri="{BB962C8B-B14F-4D97-AF65-F5344CB8AC3E}">
        <p14:creationId xmlns:p14="http://schemas.microsoft.com/office/powerpoint/2010/main" val="2120501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19899"/>
            <a:ext cx="1828800" cy="11943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 flipV="1">
            <a:off x="685800" y="2096099"/>
            <a:ext cx="2286000" cy="990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914400" y="1334099"/>
            <a:ext cx="0" cy="25146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2743200" y="1359758"/>
            <a:ext cx="0" cy="25146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152400" y="3214217"/>
            <a:ext cx="32766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190500" y="2020723"/>
            <a:ext cx="32766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647700" y="3047175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2895600" y="2085082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371150" y="2735705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</a:t>
            </a:r>
            <a:r>
              <a:rPr lang="en-US" baseline="-25000" dirty="0"/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33700" y="2031741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</a:t>
            </a:r>
            <a:r>
              <a:rPr lang="en-US" baseline="-25000" dirty="0"/>
              <a:t>1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4495799" y="1345941"/>
            <a:ext cx="3904723" cy="2540259"/>
            <a:chOff x="4495799" y="1345941"/>
            <a:chExt cx="3904723" cy="2540259"/>
          </a:xfrm>
        </p:grpSpPr>
        <p:sp>
          <p:nvSpPr>
            <p:cNvPr id="36" name="TextBox 35"/>
            <p:cNvSpPr txBox="1"/>
            <p:nvPr/>
          </p:nvSpPr>
          <p:spPr>
            <a:xfrm>
              <a:off x="5647856" y="1390694"/>
              <a:ext cx="10486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Left Edge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5257799" y="2031741"/>
              <a:ext cx="1828800" cy="119431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3" name="Straight Connector 42"/>
            <p:cNvCxnSpPr/>
            <p:nvPr/>
          </p:nvCxnSpPr>
          <p:spPr>
            <a:xfrm flipV="1">
              <a:off x="5029199" y="2107941"/>
              <a:ext cx="2286000" cy="990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>
              <a:off x="5257799" y="1345941"/>
              <a:ext cx="0" cy="25146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>
              <a:off x="7086599" y="1371600"/>
              <a:ext cx="0" cy="25146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>
              <a:off x="4495799" y="3226059"/>
              <a:ext cx="3276600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>
              <a:off x="4533899" y="2032565"/>
              <a:ext cx="3276600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Oval 47"/>
            <p:cNvSpPr/>
            <p:nvPr/>
          </p:nvSpPr>
          <p:spPr>
            <a:xfrm>
              <a:off x="4991099" y="3059017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/>
            <p:cNvSpPr/>
            <p:nvPr/>
          </p:nvSpPr>
          <p:spPr>
            <a:xfrm>
              <a:off x="7238999" y="2096924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4714549" y="2747547"/>
              <a:ext cx="3626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</a:t>
              </a:r>
              <a:r>
                <a:rPr lang="en-US" baseline="-25000" dirty="0"/>
                <a:t>0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7277099" y="2043583"/>
              <a:ext cx="3626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</a:t>
              </a:r>
              <a:r>
                <a:rPr lang="en-US" baseline="-25000" dirty="0"/>
                <a:t>1</a:t>
              </a:r>
            </a:p>
          </p:txBody>
        </p:sp>
        <p:sp>
          <p:nvSpPr>
            <p:cNvPr id="52" name="Oval 51"/>
            <p:cNvSpPr/>
            <p:nvPr/>
          </p:nvSpPr>
          <p:spPr>
            <a:xfrm>
              <a:off x="5181598" y="2931440"/>
              <a:ext cx="152400" cy="1524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5309419" y="2899174"/>
              <a:ext cx="30911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PE with small positive t (</a:t>
              </a:r>
              <a:r>
                <a:rPr lang="en-US" dirty="0" err="1"/>
                <a:t>t</a:t>
              </a:r>
              <a:r>
                <a:rPr lang="en-US" baseline="-25000" dirty="0" err="1"/>
                <a:t>E</a:t>
              </a:r>
              <a:r>
                <a:rPr lang="en-US" dirty="0"/>
                <a:t> = t)</a:t>
              </a: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2286000" y="4012941"/>
            <a:ext cx="5564841" cy="2540259"/>
            <a:chOff x="2286000" y="4012941"/>
            <a:chExt cx="5564841" cy="2540259"/>
          </a:xfrm>
        </p:grpSpPr>
        <p:sp>
          <p:nvSpPr>
            <p:cNvPr id="54" name="TextBox 53"/>
            <p:cNvSpPr txBox="1"/>
            <p:nvPr/>
          </p:nvSpPr>
          <p:spPr>
            <a:xfrm>
              <a:off x="3448193" y="4195736"/>
              <a:ext cx="11705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Right Edge</a:t>
              </a: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3048000" y="4698741"/>
              <a:ext cx="1828800" cy="119431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6" name="Straight Connector 55"/>
            <p:cNvCxnSpPr/>
            <p:nvPr/>
          </p:nvCxnSpPr>
          <p:spPr>
            <a:xfrm flipV="1">
              <a:off x="2819400" y="4774941"/>
              <a:ext cx="2286000" cy="990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>
              <a:off x="3048000" y="4012941"/>
              <a:ext cx="0" cy="25146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>
              <a:off x="4876800" y="4038600"/>
              <a:ext cx="0" cy="25146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>
              <a:off x="2286000" y="5893059"/>
              <a:ext cx="3276600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>
              <a:off x="2324100" y="4699565"/>
              <a:ext cx="3276600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Oval 60"/>
            <p:cNvSpPr/>
            <p:nvPr/>
          </p:nvSpPr>
          <p:spPr>
            <a:xfrm>
              <a:off x="2781300" y="5726017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/>
            <p:cNvSpPr/>
            <p:nvPr/>
          </p:nvSpPr>
          <p:spPr>
            <a:xfrm>
              <a:off x="5029200" y="4763924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2504750" y="5414547"/>
              <a:ext cx="3626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</a:t>
              </a:r>
              <a:r>
                <a:rPr lang="en-US" baseline="-25000" dirty="0"/>
                <a:t>0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5067300" y="4710583"/>
              <a:ext cx="3626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</a:t>
              </a:r>
              <a:r>
                <a:rPr lang="en-US" baseline="-25000" dirty="0"/>
                <a:t>1</a:t>
              </a:r>
            </a:p>
          </p:txBody>
        </p:sp>
        <p:sp>
          <p:nvSpPr>
            <p:cNvPr id="65" name="Oval 64"/>
            <p:cNvSpPr/>
            <p:nvPr/>
          </p:nvSpPr>
          <p:spPr>
            <a:xfrm>
              <a:off x="4800600" y="4802024"/>
              <a:ext cx="152400" cy="1524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4817446" y="4930966"/>
              <a:ext cx="30333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PL with large positive t (</a:t>
              </a:r>
              <a:r>
                <a:rPr lang="en-US" dirty="0" err="1"/>
                <a:t>t</a:t>
              </a:r>
              <a:r>
                <a:rPr lang="en-US" baseline="-25000" dirty="0" err="1"/>
                <a:t>L</a:t>
              </a:r>
              <a:r>
                <a:rPr lang="en-US" dirty="0"/>
                <a:t> = t)</a:t>
              </a:r>
            </a:p>
          </p:txBody>
        </p:sp>
      </p:grp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710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19899"/>
            <a:ext cx="1828800" cy="11943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 flipV="1">
            <a:off x="685800" y="2096099"/>
            <a:ext cx="2286000" cy="990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914400" y="1334099"/>
            <a:ext cx="0" cy="25146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2743200" y="1359758"/>
            <a:ext cx="0" cy="25146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152400" y="3214217"/>
            <a:ext cx="32766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190500" y="2020723"/>
            <a:ext cx="32766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484342" y="1510672"/>
            <a:ext cx="1404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Bottom Edge</a:t>
            </a:r>
          </a:p>
        </p:txBody>
      </p:sp>
      <p:sp>
        <p:nvSpPr>
          <p:cNvPr id="37" name="Oval 36"/>
          <p:cNvSpPr/>
          <p:nvPr/>
        </p:nvSpPr>
        <p:spPr>
          <a:xfrm>
            <a:off x="647700" y="3047175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2895600" y="2085082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371150" y="2735705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</a:t>
            </a:r>
            <a:r>
              <a:rPr lang="en-US" baseline="-25000" dirty="0"/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33700" y="2031741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</a:t>
            </a:r>
            <a:r>
              <a:rPr lang="en-US" baseline="-25000" dirty="0"/>
              <a:t>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57799" y="2031741"/>
            <a:ext cx="1828800" cy="11943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/>
          <p:cNvCxnSpPr/>
          <p:nvPr/>
        </p:nvCxnSpPr>
        <p:spPr>
          <a:xfrm flipV="1">
            <a:off x="5029199" y="2107941"/>
            <a:ext cx="2286000" cy="990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5257799" y="1345941"/>
            <a:ext cx="0" cy="25146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7086599" y="1371600"/>
            <a:ext cx="0" cy="25146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4495799" y="3226059"/>
            <a:ext cx="32766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4533899" y="2032565"/>
            <a:ext cx="32766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4991099" y="3059017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7238999" y="2096924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4714549" y="2747547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</a:t>
            </a:r>
            <a:r>
              <a:rPr lang="en-US" baseline="-25000" dirty="0"/>
              <a:t>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77099" y="2043583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</a:t>
            </a:r>
            <a:r>
              <a:rPr lang="en-US" baseline="-25000" dirty="0"/>
              <a:t>1</a:t>
            </a:r>
          </a:p>
        </p:txBody>
      </p:sp>
      <p:sp>
        <p:nvSpPr>
          <p:cNvPr id="52" name="Oval 51"/>
          <p:cNvSpPr/>
          <p:nvPr/>
        </p:nvSpPr>
        <p:spPr>
          <a:xfrm>
            <a:off x="4729113" y="3159723"/>
            <a:ext cx="152400" cy="1524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/>
          <p:nvPr/>
        </p:nvSpPr>
        <p:spPr>
          <a:xfrm>
            <a:off x="4817446" y="3250769"/>
            <a:ext cx="3419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 with negative t (</a:t>
            </a:r>
            <a:r>
              <a:rPr lang="en-US" dirty="0" err="1"/>
              <a:t>t</a:t>
            </a:r>
            <a:r>
              <a:rPr lang="en-US" baseline="-25000" dirty="0" err="1"/>
              <a:t>E</a:t>
            </a:r>
            <a:r>
              <a:rPr lang="en-US" dirty="0"/>
              <a:t> not updated)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48193" y="4195736"/>
            <a:ext cx="1036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Top Edge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48000" y="4698741"/>
            <a:ext cx="1828800" cy="11943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6" name="Straight Connector 55"/>
          <p:cNvCxnSpPr/>
          <p:nvPr/>
        </p:nvCxnSpPr>
        <p:spPr>
          <a:xfrm flipV="1">
            <a:off x="2819400" y="4774941"/>
            <a:ext cx="2286000" cy="990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>
            <a:off x="3048000" y="4012941"/>
            <a:ext cx="0" cy="25146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>
            <a:off x="4876800" y="4038600"/>
            <a:ext cx="0" cy="25146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>
            <a:off x="2286000" y="5893059"/>
            <a:ext cx="32766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>
            <a:off x="2324100" y="4699565"/>
            <a:ext cx="32766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2781300" y="5726017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/>
          <p:cNvSpPr/>
          <p:nvPr/>
        </p:nvSpPr>
        <p:spPr>
          <a:xfrm>
            <a:off x="5029200" y="4763924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/>
          <p:cNvSpPr txBox="1"/>
          <p:nvPr/>
        </p:nvSpPr>
        <p:spPr>
          <a:xfrm>
            <a:off x="2504750" y="5414547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</a:t>
            </a:r>
            <a:r>
              <a:rPr lang="en-US" baseline="-25000" dirty="0"/>
              <a:t>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67300" y="4710583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</a:t>
            </a:r>
            <a:r>
              <a:rPr lang="en-US" baseline="-25000" dirty="0"/>
              <a:t>1</a:t>
            </a:r>
          </a:p>
        </p:txBody>
      </p:sp>
      <p:sp>
        <p:nvSpPr>
          <p:cNvPr id="65" name="Oval 64"/>
          <p:cNvSpPr/>
          <p:nvPr/>
        </p:nvSpPr>
        <p:spPr>
          <a:xfrm>
            <a:off x="5181599" y="4604109"/>
            <a:ext cx="152400" cy="1524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/>
          <p:cNvSpPr txBox="1"/>
          <p:nvPr/>
        </p:nvSpPr>
        <p:spPr>
          <a:xfrm>
            <a:off x="5248600" y="4324725"/>
            <a:ext cx="2973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 with t &gt; 1 (</a:t>
            </a:r>
            <a:r>
              <a:rPr lang="en-US" dirty="0" err="1"/>
              <a:t>t</a:t>
            </a:r>
            <a:r>
              <a:rPr lang="en-US" baseline="-25000" dirty="0" err="1"/>
              <a:t>L</a:t>
            </a:r>
            <a:r>
              <a:rPr lang="en-US" dirty="0"/>
              <a:t> not updated)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96660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1353499" y="3048000"/>
            <a:ext cx="1828800" cy="11943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 flipV="1">
            <a:off x="1124899" y="3124200"/>
            <a:ext cx="2286000" cy="990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1353499" y="2362200"/>
            <a:ext cx="0" cy="25146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3182299" y="2387859"/>
            <a:ext cx="0" cy="25146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591499" y="4242318"/>
            <a:ext cx="32766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629599" y="3048824"/>
            <a:ext cx="32766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1086799" y="4075276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3334699" y="3113183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810249" y="3763806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</a:t>
            </a:r>
            <a:r>
              <a:rPr lang="en-US" baseline="-25000" dirty="0"/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62300" y="2984711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</a:t>
            </a:r>
            <a:r>
              <a:rPr lang="en-US" baseline="-25000" dirty="0"/>
              <a:t>1</a:t>
            </a:r>
          </a:p>
        </p:txBody>
      </p:sp>
      <p:sp>
        <p:nvSpPr>
          <p:cNvPr id="52" name="Oval 51"/>
          <p:cNvSpPr/>
          <p:nvPr/>
        </p:nvSpPr>
        <p:spPr>
          <a:xfrm>
            <a:off x="1279572" y="3936284"/>
            <a:ext cx="152400" cy="1524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/>
          <p:cNvSpPr/>
          <p:nvPr/>
        </p:nvSpPr>
        <p:spPr>
          <a:xfrm>
            <a:off x="3101427" y="3152849"/>
            <a:ext cx="152400" cy="1524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361901" y="3927275"/>
            <a:ext cx="1112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Largest </a:t>
            </a:r>
            <a:r>
              <a:rPr lang="en-US" dirty="0" err="1"/>
              <a:t>t</a:t>
            </a:r>
            <a:r>
              <a:rPr lang="en-US" baseline="-25000" dirty="0" err="1"/>
              <a:t>E</a:t>
            </a:r>
            <a:endParaRPr lang="en-US" baseline="-25000" dirty="0"/>
          </a:p>
        </p:txBody>
      </p:sp>
      <p:sp>
        <p:nvSpPr>
          <p:cNvPr id="41" name="TextBox 40"/>
          <p:cNvSpPr txBox="1"/>
          <p:nvPr/>
        </p:nvSpPr>
        <p:spPr>
          <a:xfrm>
            <a:off x="3125149" y="3249735"/>
            <a:ext cx="1162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Smallest </a:t>
            </a:r>
            <a:r>
              <a:rPr lang="en-US" dirty="0" err="1"/>
              <a:t>t</a:t>
            </a:r>
            <a:r>
              <a:rPr lang="en-US" baseline="-25000" dirty="0" err="1"/>
              <a:t>L</a:t>
            </a:r>
            <a:endParaRPr lang="en-US" baseline="-25000" dirty="0"/>
          </a:p>
        </p:txBody>
      </p:sp>
      <p:sp>
        <p:nvSpPr>
          <p:cNvPr id="67" name="Rectangle 66"/>
          <p:cNvSpPr/>
          <p:nvPr/>
        </p:nvSpPr>
        <p:spPr>
          <a:xfrm>
            <a:off x="5524052" y="3021908"/>
            <a:ext cx="1828800" cy="11943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9" name="Straight Connector 68"/>
          <p:cNvCxnSpPr/>
          <p:nvPr/>
        </p:nvCxnSpPr>
        <p:spPr>
          <a:xfrm>
            <a:off x="5524052" y="2336108"/>
            <a:ext cx="0" cy="25146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7352852" y="2361767"/>
            <a:ext cx="0" cy="25146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>
            <a:off x="4762052" y="4216226"/>
            <a:ext cx="32766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>
            <a:off x="4800152" y="3022732"/>
            <a:ext cx="32766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5524051" y="3189383"/>
            <a:ext cx="1827503" cy="78102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6033246" y="2407971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Result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55822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Polygon Clipping – Sutherland Hodgeman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D</a:t>
            </a:r>
            <a:r>
              <a:rPr lang="en-US" dirty="0" err="1"/>
              <a:t>ifficult</a:t>
            </a:r>
            <a:r>
              <a:rPr lang="en-US" dirty="0"/>
              <a:t> problem as we need to deal with many cases:</a:t>
            </a:r>
          </a:p>
        </p:txBody>
      </p:sp>
      <p:grpSp>
        <p:nvGrpSpPr>
          <p:cNvPr id="40" name="Group 39"/>
          <p:cNvGrpSpPr/>
          <p:nvPr/>
        </p:nvGrpSpPr>
        <p:grpSpPr>
          <a:xfrm>
            <a:off x="609600" y="2533650"/>
            <a:ext cx="3600450" cy="2362200"/>
            <a:chOff x="666750" y="2819400"/>
            <a:chExt cx="3600450" cy="2362200"/>
          </a:xfrm>
        </p:grpSpPr>
        <p:sp>
          <p:nvSpPr>
            <p:cNvPr id="4" name="Rectangle 3"/>
            <p:cNvSpPr/>
            <p:nvPr/>
          </p:nvSpPr>
          <p:spPr>
            <a:xfrm>
              <a:off x="971550" y="3429000"/>
              <a:ext cx="1066800" cy="1066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666750" y="2933700"/>
              <a:ext cx="676275" cy="1943100"/>
            </a:xfrm>
            <a:custGeom>
              <a:avLst/>
              <a:gdLst>
                <a:gd name="connsiteX0" fmla="*/ 0 w 676275"/>
                <a:gd name="connsiteY0" fmla="*/ 0 h 1943100"/>
                <a:gd name="connsiteX1" fmla="*/ 0 w 676275"/>
                <a:gd name="connsiteY1" fmla="*/ 1943100 h 1943100"/>
                <a:gd name="connsiteX2" fmla="*/ 0 w 676275"/>
                <a:gd name="connsiteY2" fmla="*/ 1943100 h 1943100"/>
                <a:gd name="connsiteX3" fmla="*/ 466725 w 676275"/>
                <a:gd name="connsiteY3" fmla="*/ 1943100 h 1943100"/>
                <a:gd name="connsiteX4" fmla="*/ 466725 w 676275"/>
                <a:gd name="connsiteY4" fmla="*/ 1390650 h 1943100"/>
                <a:gd name="connsiteX5" fmla="*/ 95250 w 676275"/>
                <a:gd name="connsiteY5" fmla="*/ 1390650 h 1943100"/>
                <a:gd name="connsiteX6" fmla="*/ 95250 w 676275"/>
                <a:gd name="connsiteY6" fmla="*/ 133350 h 1943100"/>
                <a:gd name="connsiteX7" fmla="*/ 676275 w 676275"/>
                <a:gd name="connsiteY7" fmla="*/ 723900 h 1943100"/>
                <a:gd name="connsiteX8" fmla="*/ 676275 w 676275"/>
                <a:gd name="connsiteY8" fmla="*/ 19050 h 1943100"/>
                <a:gd name="connsiteX9" fmla="*/ 0 w 676275"/>
                <a:gd name="connsiteY9" fmla="*/ 0 h 1943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6275" h="1943100">
                  <a:moveTo>
                    <a:pt x="0" y="0"/>
                  </a:moveTo>
                  <a:lnTo>
                    <a:pt x="0" y="1943100"/>
                  </a:lnTo>
                  <a:lnTo>
                    <a:pt x="0" y="1943100"/>
                  </a:lnTo>
                  <a:lnTo>
                    <a:pt x="466725" y="1943100"/>
                  </a:lnTo>
                  <a:lnTo>
                    <a:pt x="466725" y="1390650"/>
                  </a:lnTo>
                  <a:lnTo>
                    <a:pt x="95250" y="1390650"/>
                  </a:lnTo>
                  <a:lnTo>
                    <a:pt x="95250" y="133350"/>
                  </a:lnTo>
                  <a:lnTo>
                    <a:pt x="676275" y="723900"/>
                  </a:lnTo>
                  <a:lnTo>
                    <a:pt x="676275" y="1905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3200400" y="3429000"/>
              <a:ext cx="1066800" cy="1066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2895600" y="2933700"/>
              <a:ext cx="676275" cy="1943100"/>
            </a:xfrm>
            <a:custGeom>
              <a:avLst/>
              <a:gdLst>
                <a:gd name="connsiteX0" fmla="*/ 0 w 676275"/>
                <a:gd name="connsiteY0" fmla="*/ 0 h 1943100"/>
                <a:gd name="connsiteX1" fmla="*/ 0 w 676275"/>
                <a:gd name="connsiteY1" fmla="*/ 1943100 h 1943100"/>
                <a:gd name="connsiteX2" fmla="*/ 0 w 676275"/>
                <a:gd name="connsiteY2" fmla="*/ 1943100 h 1943100"/>
                <a:gd name="connsiteX3" fmla="*/ 466725 w 676275"/>
                <a:gd name="connsiteY3" fmla="*/ 1943100 h 1943100"/>
                <a:gd name="connsiteX4" fmla="*/ 466725 w 676275"/>
                <a:gd name="connsiteY4" fmla="*/ 1390650 h 1943100"/>
                <a:gd name="connsiteX5" fmla="*/ 95250 w 676275"/>
                <a:gd name="connsiteY5" fmla="*/ 1390650 h 1943100"/>
                <a:gd name="connsiteX6" fmla="*/ 95250 w 676275"/>
                <a:gd name="connsiteY6" fmla="*/ 133350 h 1943100"/>
                <a:gd name="connsiteX7" fmla="*/ 676275 w 676275"/>
                <a:gd name="connsiteY7" fmla="*/ 723900 h 1943100"/>
                <a:gd name="connsiteX8" fmla="*/ 676275 w 676275"/>
                <a:gd name="connsiteY8" fmla="*/ 19050 h 1943100"/>
                <a:gd name="connsiteX9" fmla="*/ 0 w 676275"/>
                <a:gd name="connsiteY9" fmla="*/ 0 h 1943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6275" h="1943100">
                  <a:moveTo>
                    <a:pt x="0" y="0"/>
                  </a:moveTo>
                  <a:lnTo>
                    <a:pt x="0" y="1943100"/>
                  </a:lnTo>
                  <a:lnTo>
                    <a:pt x="0" y="1943100"/>
                  </a:lnTo>
                  <a:lnTo>
                    <a:pt x="466725" y="1943100"/>
                  </a:lnTo>
                  <a:lnTo>
                    <a:pt x="466725" y="1390650"/>
                  </a:lnTo>
                  <a:lnTo>
                    <a:pt x="95250" y="1390650"/>
                  </a:lnTo>
                  <a:lnTo>
                    <a:pt x="95250" y="133350"/>
                  </a:lnTo>
                  <a:lnTo>
                    <a:pt x="676275" y="723900"/>
                  </a:lnTo>
                  <a:lnTo>
                    <a:pt x="676275" y="1905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2724150" y="2819400"/>
              <a:ext cx="457200" cy="2362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ight Arrow 24"/>
            <p:cNvSpPr/>
            <p:nvPr/>
          </p:nvSpPr>
          <p:spPr>
            <a:xfrm>
              <a:off x="2314575" y="3857625"/>
              <a:ext cx="609600" cy="1524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4914900" y="2514600"/>
            <a:ext cx="3962400" cy="2457450"/>
            <a:chOff x="5029200" y="2800350"/>
            <a:chExt cx="3962400" cy="2457450"/>
          </a:xfrm>
        </p:grpSpPr>
        <p:sp>
          <p:nvSpPr>
            <p:cNvPr id="31" name="Rectangle 30"/>
            <p:cNvSpPr/>
            <p:nvPr/>
          </p:nvSpPr>
          <p:spPr>
            <a:xfrm>
              <a:off x="5029200" y="3429000"/>
              <a:ext cx="1066800" cy="1066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ight Arrow 31"/>
            <p:cNvSpPr/>
            <p:nvPr/>
          </p:nvSpPr>
          <p:spPr>
            <a:xfrm>
              <a:off x="6372225" y="3857625"/>
              <a:ext cx="609600" cy="1524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Isosceles Triangle 33"/>
            <p:cNvSpPr/>
            <p:nvPr/>
          </p:nvSpPr>
          <p:spPr>
            <a:xfrm>
              <a:off x="5638800" y="3048000"/>
              <a:ext cx="914400" cy="609600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7239000" y="3429000"/>
              <a:ext cx="1066800" cy="1066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Isosceles Triangle 35"/>
            <p:cNvSpPr/>
            <p:nvPr/>
          </p:nvSpPr>
          <p:spPr>
            <a:xfrm>
              <a:off x="7848600" y="3048000"/>
              <a:ext cx="914400" cy="609600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/>
            <p:cNvSpPr/>
            <p:nvPr/>
          </p:nvSpPr>
          <p:spPr>
            <a:xfrm rot="16200000">
              <a:off x="7962899" y="2381250"/>
              <a:ext cx="609601" cy="144780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8324850" y="2895600"/>
              <a:ext cx="457200" cy="2362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Rectangle 27"/>
          <p:cNvSpPr/>
          <p:nvPr/>
        </p:nvSpPr>
        <p:spPr>
          <a:xfrm rot="16200000">
            <a:off x="3505199" y="1638301"/>
            <a:ext cx="609601" cy="2362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 rot="16200000">
            <a:off x="3505200" y="3276600"/>
            <a:ext cx="457200" cy="2362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Sutherland Hodgeman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Divide and conquer approach makes it manageable:</a:t>
            </a:r>
          </a:p>
          <a:p>
            <a:pPr lvl="1"/>
            <a:r>
              <a:rPr lang="en-US" dirty="0"/>
              <a:t>Solve a series of simple and identical problems</a:t>
            </a:r>
          </a:p>
          <a:p>
            <a:pPr lvl="1"/>
            <a:r>
              <a:rPr lang="en-US" dirty="0"/>
              <a:t>When combined, the overall problem is solved</a:t>
            </a:r>
          </a:p>
          <a:p>
            <a:r>
              <a:rPr lang="en-US" dirty="0"/>
              <a:t>Here, the simple problem is to clip a polygon against a single clip edge:</a:t>
            </a:r>
          </a:p>
        </p:txBody>
      </p:sp>
      <p:grpSp>
        <p:nvGrpSpPr>
          <p:cNvPr id="46" name="Group 45"/>
          <p:cNvGrpSpPr/>
          <p:nvPr/>
        </p:nvGrpSpPr>
        <p:grpSpPr>
          <a:xfrm>
            <a:off x="1828800" y="4124325"/>
            <a:ext cx="5953125" cy="2200275"/>
            <a:chOff x="1371600" y="3657600"/>
            <a:chExt cx="5953125" cy="2200275"/>
          </a:xfrm>
        </p:grpSpPr>
        <p:grpSp>
          <p:nvGrpSpPr>
            <p:cNvPr id="33" name="Group 32"/>
            <p:cNvGrpSpPr/>
            <p:nvPr/>
          </p:nvGrpSpPr>
          <p:grpSpPr>
            <a:xfrm>
              <a:off x="1371600" y="3714750"/>
              <a:ext cx="2066925" cy="1866900"/>
              <a:chOff x="1371600" y="3714750"/>
              <a:chExt cx="2066925" cy="1866900"/>
            </a:xfrm>
          </p:grpSpPr>
          <p:sp>
            <p:nvSpPr>
              <p:cNvPr id="31" name="Rectangle 30"/>
              <p:cNvSpPr/>
              <p:nvPr/>
            </p:nvSpPr>
            <p:spPr>
              <a:xfrm>
                <a:off x="1819275" y="4191000"/>
                <a:ext cx="1066800" cy="10668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Freeform 28"/>
              <p:cNvSpPr/>
              <p:nvPr/>
            </p:nvSpPr>
            <p:spPr>
              <a:xfrm>
                <a:off x="1371600" y="3714750"/>
                <a:ext cx="2066925" cy="1866900"/>
              </a:xfrm>
              <a:custGeom>
                <a:avLst/>
                <a:gdLst>
                  <a:gd name="connsiteX0" fmla="*/ 0 w 2066925"/>
                  <a:gd name="connsiteY0" fmla="*/ 1038225 h 1866900"/>
                  <a:gd name="connsiteX1" fmla="*/ 2066925 w 2066925"/>
                  <a:gd name="connsiteY1" fmla="*/ 0 h 1866900"/>
                  <a:gd name="connsiteX2" fmla="*/ 1285875 w 2066925"/>
                  <a:gd name="connsiteY2" fmla="*/ 914400 h 1866900"/>
                  <a:gd name="connsiteX3" fmla="*/ 1857375 w 2066925"/>
                  <a:gd name="connsiteY3" fmla="*/ 1866900 h 1866900"/>
                  <a:gd name="connsiteX4" fmla="*/ 0 w 2066925"/>
                  <a:gd name="connsiteY4" fmla="*/ 1038225 h 1866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66925" h="1866900">
                    <a:moveTo>
                      <a:pt x="0" y="1038225"/>
                    </a:moveTo>
                    <a:lnTo>
                      <a:pt x="2066925" y="0"/>
                    </a:lnTo>
                    <a:lnTo>
                      <a:pt x="1285875" y="914400"/>
                    </a:lnTo>
                    <a:lnTo>
                      <a:pt x="1857375" y="1866900"/>
                    </a:lnTo>
                    <a:lnTo>
                      <a:pt x="0" y="1038225"/>
                    </a:lnTo>
                    <a:close/>
                  </a:path>
                </a:pathLst>
              </a:cu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0" name="Right Arrow 29"/>
            <p:cNvSpPr/>
            <p:nvPr/>
          </p:nvSpPr>
          <p:spPr>
            <a:xfrm>
              <a:off x="3429000" y="4648200"/>
              <a:ext cx="609600" cy="1524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9" name="Group 38"/>
            <p:cNvGrpSpPr/>
            <p:nvPr/>
          </p:nvGrpSpPr>
          <p:grpSpPr>
            <a:xfrm>
              <a:off x="4343400" y="3714750"/>
              <a:ext cx="2066925" cy="1866900"/>
              <a:chOff x="1371600" y="3714750"/>
              <a:chExt cx="2066925" cy="1866900"/>
            </a:xfrm>
          </p:grpSpPr>
          <p:sp>
            <p:nvSpPr>
              <p:cNvPr id="40" name="Rectangle 39"/>
              <p:cNvSpPr/>
              <p:nvPr/>
            </p:nvSpPr>
            <p:spPr>
              <a:xfrm>
                <a:off x="1819275" y="4191000"/>
                <a:ext cx="1066800" cy="10668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Freeform 40"/>
              <p:cNvSpPr/>
              <p:nvPr/>
            </p:nvSpPr>
            <p:spPr>
              <a:xfrm>
                <a:off x="1371600" y="3714750"/>
                <a:ext cx="2066925" cy="1866900"/>
              </a:xfrm>
              <a:custGeom>
                <a:avLst/>
                <a:gdLst>
                  <a:gd name="connsiteX0" fmla="*/ 0 w 2066925"/>
                  <a:gd name="connsiteY0" fmla="*/ 1038225 h 1866900"/>
                  <a:gd name="connsiteX1" fmla="*/ 2066925 w 2066925"/>
                  <a:gd name="connsiteY1" fmla="*/ 0 h 1866900"/>
                  <a:gd name="connsiteX2" fmla="*/ 1285875 w 2066925"/>
                  <a:gd name="connsiteY2" fmla="*/ 914400 h 1866900"/>
                  <a:gd name="connsiteX3" fmla="*/ 1857375 w 2066925"/>
                  <a:gd name="connsiteY3" fmla="*/ 1866900 h 1866900"/>
                  <a:gd name="connsiteX4" fmla="*/ 0 w 2066925"/>
                  <a:gd name="connsiteY4" fmla="*/ 1038225 h 1866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66925" h="1866900">
                    <a:moveTo>
                      <a:pt x="0" y="1038225"/>
                    </a:moveTo>
                    <a:lnTo>
                      <a:pt x="2066925" y="0"/>
                    </a:lnTo>
                    <a:lnTo>
                      <a:pt x="1285875" y="914400"/>
                    </a:lnTo>
                    <a:lnTo>
                      <a:pt x="1857375" y="1866900"/>
                    </a:lnTo>
                    <a:lnTo>
                      <a:pt x="0" y="1038225"/>
                    </a:lnTo>
                    <a:close/>
                  </a:path>
                </a:pathLst>
              </a:cu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8" name="Rectangle 37"/>
            <p:cNvSpPr/>
            <p:nvPr/>
          </p:nvSpPr>
          <p:spPr>
            <a:xfrm>
              <a:off x="5876925" y="3657600"/>
              <a:ext cx="1447800" cy="1981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Connector 43"/>
            <p:cNvCxnSpPr/>
            <p:nvPr/>
          </p:nvCxnSpPr>
          <p:spPr>
            <a:xfrm>
              <a:off x="5848350" y="3724275"/>
              <a:ext cx="4762" cy="21336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TextBox 46"/>
          <p:cNvSpPr txBox="1"/>
          <p:nvPr/>
        </p:nvSpPr>
        <p:spPr>
          <a:xfrm>
            <a:off x="3371850" y="3629025"/>
            <a:ext cx="2252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Clip against right edge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Sutherland Hodgeman Algorithm</a:t>
            </a:r>
          </a:p>
        </p:txBody>
      </p:sp>
      <p:grpSp>
        <p:nvGrpSpPr>
          <p:cNvPr id="5" name="Group 32"/>
          <p:cNvGrpSpPr/>
          <p:nvPr/>
        </p:nvGrpSpPr>
        <p:grpSpPr>
          <a:xfrm>
            <a:off x="1371600" y="1679408"/>
            <a:ext cx="2066925" cy="1866900"/>
            <a:chOff x="1371600" y="3714750"/>
            <a:chExt cx="2066925" cy="1866900"/>
          </a:xfrm>
        </p:grpSpPr>
        <p:sp>
          <p:nvSpPr>
            <p:cNvPr id="31" name="Rectangle 30"/>
            <p:cNvSpPr/>
            <p:nvPr/>
          </p:nvSpPr>
          <p:spPr>
            <a:xfrm>
              <a:off x="1819275" y="4191000"/>
              <a:ext cx="1066800" cy="1066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/>
            <p:cNvSpPr/>
            <p:nvPr/>
          </p:nvSpPr>
          <p:spPr>
            <a:xfrm>
              <a:off x="1371600" y="3714750"/>
              <a:ext cx="2066925" cy="1866900"/>
            </a:xfrm>
            <a:custGeom>
              <a:avLst/>
              <a:gdLst>
                <a:gd name="connsiteX0" fmla="*/ 0 w 2066925"/>
                <a:gd name="connsiteY0" fmla="*/ 1038225 h 1866900"/>
                <a:gd name="connsiteX1" fmla="*/ 2066925 w 2066925"/>
                <a:gd name="connsiteY1" fmla="*/ 0 h 1866900"/>
                <a:gd name="connsiteX2" fmla="*/ 1285875 w 2066925"/>
                <a:gd name="connsiteY2" fmla="*/ 914400 h 1866900"/>
                <a:gd name="connsiteX3" fmla="*/ 1857375 w 2066925"/>
                <a:gd name="connsiteY3" fmla="*/ 1866900 h 1866900"/>
                <a:gd name="connsiteX4" fmla="*/ 0 w 2066925"/>
                <a:gd name="connsiteY4" fmla="*/ 1038225 h 1866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6925" h="1866900">
                  <a:moveTo>
                    <a:pt x="0" y="1038225"/>
                  </a:moveTo>
                  <a:lnTo>
                    <a:pt x="2066925" y="0"/>
                  </a:lnTo>
                  <a:lnTo>
                    <a:pt x="1285875" y="914400"/>
                  </a:lnTo>
                  <a:lnTo>
                    <a:pt x="1857375" y="1866900"/>
                  </a:lnTo>
                  <a:lnTo>
                    <a:pt x="0" y="1038225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ight Arrow 29"/>
          <p:cNvSpPr/>
          <p:nvPr/>
        </p:nvSpPr>
        <p:spPr>
          <a:xfrm>
            <a:off x="3429000" y="2612858"/>
            <a:ext cx="6096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38"/>
          <p:cNvGrpSpPr/>
          <p:nvPr/>
        </p:nvGrpSpPr>
        <p:grpSpPr>
          <a:xfrm>
            <a:off x="4343400" y="1679408"/>
            <a:ext cx="2066925" cy="1866900"/>
            <a:chOff x="1371600" y="3714750"/>
            <a:chExt cx="2066925" cy="1866900"/>
          </a:xfrm>
        </p:grpSpPr>
        <p:sp>
          <p:nvSpPr>
            <p:cNvPr id="40" name="Rectangle 39"/>
            <p:cNvSpPr/>
            <p:nvPr/>
          </p:nvSpPr>
          <p:spPr>
            <a:xfrm>
              <a:off x="1819275" y="4191000"/>
              <a:ext cx="1066800" cy="1066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 40"/>
            <p:cNvSpPr/>
            <p:nvPr/>
          </p:nvSpPr>
          <p:spPr>
            <a:xfrm>
              <a:off x="1371600" y="3714750"/>
              <a:ext cx="2066925" cy="1866900"/>
            </a:xfrm>
            <a:custGeom>
              <a:avLst/>
              <a:gdLst>
                <a:gd name="connsiteX0" fmla="*/ 0 w 2066925"/>
                <a:gd name="connsiteY0" fmla="*/ 1038225 h 1866900"/>
                <a:gd name="connsiteX1" fmla="*/ 2066925 w 2066925"/>
                <a:gd name="connsiteY1" fmla="*/ 0 h 1866900"/>
                <a:gd name="connsiteX2" fmla="*/ 1285875 w 2066925"/>
                <a:gd name="connsiteY2" fmla="*/ 914400 h 1866900"/>
                <a:gd name="connsiteX3" fmla="*/ 1857375 w 2066925"/>
                <a:gd name="connsiteY3" fmla="*/ 1866900 h 1866900"/>
                <a:gd name="connsiteX4" fmla="*/ 0 w 2066925"/>
                <a:gd name="connsiteY4" fmla="*/ 1038225 h 1866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6925" h="1866900">
                  <a:moveTo>
                    <a:pt x="0" y="1038225"/>
                  </a:moveTo>
                  <a:lnTo>
                    <a:pt x="2066925" y="0"/>
                  </a:lnTo>
                  <a:lnTo>
                    <a:pt x="1285875" y="914400"/>
                  </a:lnTo>
                  <a:lnTo>
                    <a:pt x="1857375" y="1866900"/>
                  </a:lnTo>
                  <a:lnTo>
                    <a:pt x="0" y="1038225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Rectangle 37"/>
          <p:cNvSpPr/>
          <p:nvPr/>
        </p:nvSpPr>
        <p:spPr>
          <a:xfrm>
            <a:off x="5876925" y="1622258"/>
            <a:ext cx="1447800" cy="1981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/>
          <p:cNvSpPr txBox="1"/>
          <p:nvPr/>
        </p:nvSpPr>
        <p:spPr>
          <a:xfrm>
            <a:off x="6157033" y="2395926"/>
            <a:ext cx="2520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Clip against bottom edge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24400" y="3241508"/>
            <a:ext cx="1447800" cy="5048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Connector 43"/>
          <p:cNvCxnSpPr/>
          <p:nvPr/>
        </p:nvCxnSpPr>
        <p:spPr>
          <a:xfrm flipH="1">
            <a:off x="4343400" y="3237377"/>
            <a:ext cx="187049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32"/>
          <p:cNvGrpSpPr/>
          <p:nvPr/>
        </p:nvGrpSpPr>
        <p:grpSpPr>
          <a:xfrm>
            <a:off x="1371600" y="4165433"/>
            <a:ext cx="2066925" cy="1866900"/>
            <a:chOff x="1371600" y="3714750"/>
            <a:chExt cx="2066925" cy="1866900"/>
          </a:xfrm>
        </p:grpSpPr>
        <p:sp>
          <p:nvSpPr>
            <p:cNvPr id="35" name="Rectangle 34"/>
            <p:cNvSpPr/>
            <p:nvPr/>
          </p:nvSpPr>
          <p:spPr>
            <a:xfrm>
              <a:off x="1819275" y="4191000"/>
              <a:ext cx="1066800" cy="1066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 35"/>
            <p:cNvSpPr/>
            <p:nvPr/>
          </p:nvSpPr>
          <p:spPr>
            <a:xfrm>
              <a:off x="1371600" y="3714750"/>
              <a:ext cx="2066925" cy="1866900"/>
            </a:xfrm>
            <a:custGeom>
              <a:avLst/>
              <a:gdLst>
                <a:gd name="connsiteX0" fmla="*/ 0 w 2066925"/>
                <a:gd name="connsiteY0" fmla="*/ 1038225 h 1866900"/>
                <a:gd name="connsiteX1" fmla="*/ 2066925 w 2066925"/>
                <a:gd name="connsiteY1" fmla="*/ 0 h 1866900"/>
                <a:gd name="connsiteX2" fmla="*/ 1285875 w 2066925"/>
                <a:gd name="connsiteY2" fmla="*/ 914400 h 1866900"/>
                <a:gd name="connsiteX3" fmla="*/ 1857375 w 2066925"/>
                <a:gd name="connsiteY3" fmla="*/ 1866900 h 1866900"/>
                <a:gd name="connsiteX4" fmla="*/ 0 w 2066925"/>
                <a:gd name="connsiteY4" fmla="*/ 1038225 h 1866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6925" h="1866900">
                  <a:moveTo>
                    <a:pt x="0" y="1038225"/>
                  </a:moveTo>
                  <a:lnTo>
                    <a:pt x="2066925" y="0"/>
                  </a:lnTo>
                  <a:lnTo>
                    <a:pt x="1285875" y="914400"/>
                  </a:lnTo>
                  <a:lnTo>
                    <a:pt x="1857375" y="1866900"/>
                  </a:lnTo>
                  <a:lnTo>
                    <a:pt x="0" y="1038225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38"/>
          <p:cNvGrpSpPr/>
          <p:nvPr/>
        </p:nvGrpSpPr>
        <p:grpSpPr>
          <a:xfrm>
            <a:off x="4343400" y="4165433"/>
            <a:ext cx="2066925" cy="1866900"/>
            <a:chOff x="1371600" y="3714750"/>
            <a:chExt cx="2066925" cy="1866900"/>
          </a:xfrm>
        </p:grpSpPr>
        <p:sp>
          <p:nvSpPr>
            <p:cNvPr id="33" name="Rectangle 32"/>
            <p:cNvSpPr/>
            <p:nvPr/>
          </p:nvSpPr>
          <p:spPr>
            <a:xfrm>
              <a:off x="1819275" y="4191000"/>
              <a:ext cx="1066800" cy="1066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 33"/>
            <p:cNvSpPr/>
            <p:nvPr/>
          </p:nvSpPr>
          <p:spPr>
            <a:xfrm>
              <a:off x="1371600" y="3714750"/>
              <a:ext cx="2066925" cy="1866900"/>
            </a:xfrm>
            <a:custGeom>
              <a:avLst/>
              <a:gdLst>
                <a:gd name="connsiteX0" fmla="*/ 0 w 2066925"/>
                <a:gd name="connsiteY0" fmla="*/ 1038225 h 1866900"/>
                <a:gd name="connsiteX1" fmla="*/ 2066925 w 2066925"/>
                <a:gd name="connsiteY1" fmla="*/ 0 h 1866900"/>
                <a:gd name="connsiteX2" fmla="*/ 1285875 w 2066925"/>
                <a:gd name="connsiteY2" fmla="*/ 914400 h 1866900"/>
                <a:gd name="connsiteX3" fmla="*/ 1857375 w 2066925"/>
                <a:gd name="connsiteY3" fmla="*/ 1866900 h 1866900"/>
                <a:gd name="connsiteX4" fmla="*/ 0 w 2066925"/>
                <a:gd name="connsiteY4" fmla="*/ 1038225 h 1866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6925" h="1866900">
                  <a:moveTo>
                    <a:pt x="0" y="1038225"/>
                  </a:moveTo>
                  <a:lnTo>
                    <a:pt x="2066925" y="0"/>
                  </a:lnTo>
                  <a:lnTo>
                    <a:pt x="1285875" y="914400"/>
                  </a:lnTo>
                  <a:lnTo>
                    <a:pt x="1857375" y="1866900"/>
                  </a:lnTo>
                  <a:lnTo>
                    <a:pt x="0" y="1038225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Rectangle 25"/>
          <p:cNvSpPr/>
          <p:nvPr/>
        </p:nvSpPr>
        <p:spPr>
          <a:xfrm>
            <a:off x="5876925" y="4108283"/>
            <a:ext cx="1447800" cy="1981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6213896" y="4849407"/>
            <a:ext cx="2116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Clip against left edge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24400" y="5727533"/>
            <a:ext cx="1447800" cy="5048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4014156" y="4394932"/>
            <a:ext cx="752475" cy="1295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/>
          <p:cNvCxnSpPr/>
          <p:nvPr/>
        </p:nvCxnSpPr>
        <p:spPr>
          <a:xfrm>
            <a:off x="4776156" y="4245400"/>
            <a:ext cx="0" cy="177704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ight Arrow 23"/>
          <p:cNvSpPr/>
          <p:nvPr/>
        </p:nvSpPr>
        <p:spPr>
          <a:xfrm>
            <a:off x="3429000" y="5098883"/>
            <a:ext cx="6096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Sutherland Hodgeman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7" name="Rectangle 36"/>
          <p:cNvSpPr/>
          <p:nvPr/>
        </p:nvSpPr>
        <p:spPr>
          <a:xfrm>
            <a:off x="4471356" y="4410974"/>
            <a:ext cx="752475" cy="1295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32"/>
          <p:cNvGrpSpPr/>
          <p:nvPr/>
        </p:nvGrpSpPr>
        <p:grpSpPr>
          <a:xfrm>
            <a:off x="1828800" y="2581275"/>
            <a:ext cx="2066925" cy="1866900"/>
            <a:chOff x="1371600" y="3714750"/>
            <a:chExt cx="2066925" cy="1866900"/>
          </a:xfrm>
        </p:grpSpPr>
        <p:sp>
          <p:nvSpPr>
            <p:cNvPr id="59" name="Rectangle 58"/>
            <p:cNvSpPr/>
            <p:nvPr/>
          </p:nvSpPr>
          <p:spPr>
            <a:xfrm>
              <a:off x="1819275" y="4191000"/>
              <a:ext cx="1066800" cy="1066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Freeform 59"/>
            <p:cNvSpPr/>
            <p:nvPr/>
          </p:nvSpPr>
          <p:spPr>
            <a:xfrm>
              <a:off x="1371600" y="3714750"/>
              <a:ext cx="2066925" cy="1866900"/>
            </a:xfrm>
            <a:custGeom>
              <a:avLst/>
              <a:gdLst>
                <a:gd name="connsiteX0" fmla="*/ 0 w 2066925"/>
                <a:gd name="connsiteY0" fmla="*/ 1038225 h 1866900"/>
                <a:gd name="connsiteX1" fmla="*/ 2066925 w 2066925"/>
                <a:gd name="connsiteY1" fmla="*/ 0 h 1866900"/>
                <a:gd name="connsiteX2" fmla="*/ 1285875 w 2066925"/>
                <a:gd name="connsiteY2" fmla="*/ 914400 h 1866900"/>
                <a:gd name="connsiteX3" fmla="*/ 1857375 w 2066925"/>
                <a:gd name="connsiteY3" fmla="*/ 1866900 h 1866900"/>
                <a:gd name="connsiteX4" fmla="*/ 0 w 2066925"/>
                <a:gd name="connsiteY4" fmla="*/ 1038225 h 1866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6925" h="1866900">
                  <a:moveTo>
                    <a:pt x="0" y="1038225"/>
                  </a:moveTo>
                  <a:lnTo>
                    <a:pt x="2066925" y="0"/>
                  </a:lnTo>
                  <a:lnTo>
                    <a:pt x="1285875" y="914400"/>
                  </a:lnTo>
                  <a:lnTo>
                    <a:pt x="1857375" y="1866900"/>
                  </a:lnTo>
                  <a:lnTo>
                    <a:pt x="0" y="1038225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0" name="Group 38"/>
          <p:cNvGrpSpPr/>
          <p:nvPr/>
        </p:nvGrpSpPr>
        <p:grpSpPr>
          <a:xfrm>
            <a:off x="4800600" y="2581275"/>
            <a:ext cx="2066925" cy="1866900"/>
            <a:chOff x="1371600" y="3714750"/>
            <a:chExt cx="2066925" cy="1866900"/>
          </a:xfrm>
        </p:grpSpPr>
        <p:sp>
          <p:nvSpPr>
            <p:cNvPr id="57" name="Rectangle 56"/>
            <p:cNvSpPr/>
            <p:nvPr/>
          </p:nvSpPr>
          <p:spPr>
            <a:xfrm>
              <a:off x="1819275" y="4191000"/>
              <a:ext cx="1066800" cy="1066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>
              <a:off x="1371600" y="3714750"/>
              <a:ext cx="2066925" cy="1866900"/>
            </a:xfrm>
            <a:custGeom>
              <a:avLst/>
              <a:gdLst>
                <a:gd name="connsiteX0" fmla="*/ 0 w 2066925"/>
                <a:gd name="connsiteY0" fmla="*/ 1038225 h 1866900"/>
                <a:gd name="connsiteX1" fmla="*/ 2066925 w 2066925"/>
                <a:gd name="connsiteY1" fmla="*/ 0 h 1866900"/>
                <a:gd name="connsiteX2" fmla="*/ 1285875 w 2066925"/>
                <a:gd name="connsiteY2" fmla="*/ 914400 h 1866900"/>
                <a:gd name="connsiteX3" fmla="*/ 1857375 w 2066925"/>
                <a:gd name="connsiteY3" fmla="*/ 1866900 h 1866900"/>
                <a:gd name="connsiteX4" fmla="*/ 0 w 2066925"/>
                <a:gd name="connsiteY4" fmla="*/ 1038225 h 1866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6925" h="1866900">
                  <a:moveTo>
                    <a:pt x="0" y="1038225"/>
                  </a:moveTo>
                  <a:lnTo>
                    <a:pt x="2066925" y="0"/>
                  </a:lnTo>
                  <a:lnTo>
                    <a:pt x="1285875" y="914400"/>
                  </a:lnTo>
                  <a:lnTo>
                    <a:pt x="1857375" y="1866900"/>
                  </a:lnTo>
                  <a:lnTo>
                    <a:pt x="0" y="1038225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1" name="Rectangle 50"/>
          <p:cNvSpPr/>
          <p:nvPr/>
        </p:nvSpPr>
        <p:spPr>
          <a:xfrm>
            <a:off x="6334125" y="2524125"/>
            <a:ext cx="1447800" cy="1981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3522515" y="2209800"/>
            <a:ext cx="2138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Clip against top edge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181600" y="4143375"/>
            <a:ext cx="1447800" cy="5048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4477706" y="2836174"/>
            <a:ext cx="752475" cy="1295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ight Arrow 55"/>
          <p:cNvSpPr/>
          <p:nvPr/>
        </p:nvSpPr>
        <p:spPr>
          <a:xfrm>
            <a:off x="3886200" y="3514725"/>
            <a:ext cx="6096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5249174" y="2582174"/>
            <a:ext cx="175260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2" name="Straight Connector 61"/>
          <p:cNvCxnSpPr/>
          <p:nvPr/>
        </p:nvCxnSpPr>
        <p:spPr>
          <a:xfrm flipH="1">
            <a:off x="4838700" y="3048000"/>
            <a:ext cx="187049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Sutherland Hodgeman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accomplished by visiting the input vertices from v</a:t>
            </a:r>
            <a:r>
              <a:rPr lang="en-US" baseline="-25000" dirty="0"/>
              <a:t>0</a:t>
            </a:r>
            <a:r>
              <a:rPr lang="en-US" dirty="0"/>
              <a:t> to </a:t>
            </a:r>
            <a:r>
              <a:rPr lang="en-US" dirty="0" err="1"/>
              <a:t>v</a:t>
            </a:r>
            <a:r>
              <a:rPr lang="en-US" baseline="-25000" dirty="0" err="1"/>
              <a:t>N</a:t>
            </a:r>
            <a:r>
              <a:rPr lang="en-US" dirty="0"/>
              <a:t> and then back to v</a:t>
            </a:r>
            <a:r>
              <a:rPr lang="en-US" baseline="-25000" dirty="0"/>
              <a:t>0</a:t>
            </a:r>
            <a:r>
              <a:rPr lang="en-US" dirty="0"/>
              <a:t> for each clip boundary</a:t>
            </a:r>
          </a:p>
          <a:p>
            <a:r>
              <a:rPr lang="en-US" dirty="0"/>
              <a:t>At every step we add 0, 1, or 2 vertices to the output:</a:t>
            </a:r>
          </a:p>
          <a:p>
            <a:endParaRPr lang="en-US" baseline="-25000" dirty="0"/>
          </a:p>
        </p:txBody>
      </p:sp>
      <p:grpSp>
        <p:nvGrpSpPr>
          <p:cNvPr id="9" name="Group 8"/>
          <p:cNvGrpSpPr/>
          <p:nvPr/>
        </p:nvGrpSpPr>
        <p:grpSpPr>
          <a:xfrm>
            <a:off x="304800" y="3048000"/>
            <a:ext cx="1828005" cy="2856131"/>
            <a:chOff x="304800" y="3048000"/>
            <a:chExt cx="1828005" cy="2856131"/>
          </a:xfrm>
        </p:grpSpPr>
        <p:grpSp>
          <p:nvGrpSpPr>
            <p:cNvPr id="24" name="Group 23"/>
            <p:cNvGrpSpPr/>
            <p:nvPr/>
          </p:nvGrpSpPr>
          <p:grpSpPr>
            <a:xfrm>
              <a:off x="381000" y="3048000"/>
              <a:ext cx="1751805" cy="2209800"/>
              <a:chOff x="304800" y="3429000"/>
              <a:chExt cx="1751805" cy="2209800"/>
            </a:xfrm>
          </p:grpSpPr>
          <p:cxnSp>
            <p:nvCxnSpPr>
              <p:cNvPr id="21" name="Straight Connector 20"/>
              <p:cNvCxnSpPr/>
              <p:nvPr/>
            </p:nvCxnSpPr>
            <p:spPr>
              <a:xfrm>
                <a:off x="1066800" y="3581400"/>
                <a:ext cx="0" cy="20574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TextBox 21"/>
              <p:cNvSpPr txBox="1"/>
              <p:nvPr/>
            </p:nvSpPr>
            <p:spPr>
              <a:xfrm>
                <a:off x="304800" y="3429000"/>
                <a:ext cx="7248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Inside</a:t>
                </a: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1121734" y="3429000"/>
                <a:ext cx="93487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Outside</a:t>
                </a:r>
              </a:p>
            </p:txBody>
          </p:sp>
        </p:grpSp>
        <p:cxnSp>
          <p:nvCxnSpPr>
            <p:cNvPr id="41" name="Straight Connector 40"/>
            <p:cNvCxnSpPr/>
            <p:nvPr/>
          </p:nvCxnSpPr>
          <p:spPr>
            <a:xfrm>
              <a:off x="609600" y="3962400"/>
              <a:ext cx="228600" cy="76200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/>
            <p:cNvSpPr txBox="1"/>
            <p:nvPr/>
          </p:nvSpPr>
          <p:spPr>
            <a:xfrm>
              <a:off x="304800" y="3657600"/>
              <a:ext cx="31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</a:t>
              </a:r>
              <a:r>
                <a:rPr lang="en-US" baseline="-25000" dirty="0"/>
                <a:t>i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56970" y="4659868"/>
              <a:ext cx="4860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</a:t>
              </a:r>
              <a:r>
                <a:rPr lang="en-US" baseline="-25000" dirty="0"/>
                <a:t>i+1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533400" y="5257800"/>
              <a:ext cx="130991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Add v</a:t>
              </a:r>
              <a:r>
                <a:rPr lang="en-US" baseline="-25000" dirty="0"/>
                <a:t>i+1</a:t>
              </a:r>
              <a:r>
                <a:rPr lang="en-US" dirty="0"/>
                <a:t> to output</a:t>
              </a:r>
              <a:endParaRPr lang="en-US" baseline="-25000" dirty="0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2583976" y="3048000"/>
            <a:ext cx="1751805" cy="2856131"/>
            <a:chOff x="2583976" y="3048000"/>
            <a:chExt cx="1751805" cy="2856131"/>
          </a:xfrm>
        </p:grpSpPr>
        <p:grpSp>
          <p:nvGrpSpPr>
            <p:cNvPr id="25" name="Group 24"/>
            <p:cNvGrpSpPr/>
            <p:nvPr/>
          </p:nvGrpSpPr>
          <p:grpSpPr>
            <a:xfrm>
              <a:off x="2583976" y="3048000"/>
              <a:ext cx="1751805" cy="2209800"/>
              <a:chOff x="304800" y="3429000"/>
              <a:chExt cx="1751805" cy="2209800"/>
            </a:xfrm>
          </p:grpSpPr>
          <p:cxnSp>
            <p:nvCxnSpPr>
              <p:cNvPr id="26" name="Straight Connector 25"/>
              <p:cNvCxnSpPr/>
              <p:nvPr/>
            </p:nvCxnSpPr>
            <p:spPr>
              <a:xfrm>
                <a:off x="1066800" y="3581400"/>
                <a:ext cx="0" cy="20574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TextBox 26"/>
              <p:cNvSpPr txBox="1"/>
              <p:nvPr/>
            </p:nvSpPr>
            <p:spPr>
              <a:xfrm>
                <a:off x="304800" y="3429000"/>
                <a:ext cx="7248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Inside</a:t>
                </a:r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1121734" y="3429000"/>
                <a:ext cx="93487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Outside</a:t>
                </a:r>
              </a:p>
            </p:txBody>
          </p:sp>
        </p:grpSp>
        <p:cxnSp>
          <p:nvCxnSpPr>
            <p:cNvPr id="45" name="Straight Connector 44"/>
            <p:cNvCxnSpPr>
              <a:endCxn id="47" idx="1"/>
            </p:cNvCxnSpPr>
            <p:nvPr/>
          </p:nvCxnSpPr>
          <p:spPr>
            <a:xfrm flipV="1">
              <a:off x="2942970" y="4299466"/>
              <a:ext cx="685800" cy="19633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/>
            <p:cNvSpPr txBox="1"/>
            <p:nvPr/>
          </p:nvSpPr>
          <p:spPr>
            <a:xfrm>
              <a:off x="2667000" y="4191000"/>
              <a:ext cx="31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</a:t>
              </a:r>
              <a:r>
                <a:rPr lang="en-US" baseline="-25000" dirty="0"/>
                <a:t>i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3628770" y="4114800"/>
              <a:ext cx="4860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</a:t>
              </a:r>
              <a:r>
                <a:rPr lang="en-US" baseline="-25000" dirty="0"/>
                <a:t>i+1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3320901" y="4270004"/>
              <a:ext cx="5293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v'</a:t>
              </a:r>
              <a:r>
                <a:rPr lang="en-US" baseline="-25000" dirty="0"/>
                <a:t>i+1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2881082" y="5257800"/>
              <a:ext cx="130991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Add v’</a:t>
              </a:r>
              <a:r>
                <a:rPr lang="en-US" baseline="-25000" dirty="0"/>
                <a:t>i+1</a:t>
              </a:r>
              <a:r>
                <a:rPr lang="en-US" dirty="0"/>
                <a:t> to output</a:t>
              </a:r>
              <a:endParaRPr lang="en-US" baseline="-25000" dirty="0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4547556" y="3048000"/>
            <a:ext cx="1991201" cy="2856131"/>
            <a:chOff x="4547556" y="3048000"/>
            <a:chExt cx="1991201" cy="2856131"/>
          </a:xfrm>
        </p:grpSpPr>
        <p:sp>
          <p:nvSpPr>
            <p:cNvPr id="37" name="Rectangle 36"/>
            <p:cNvSpPr/>
            <p:nvPr/>
          </p:nvSpPr>
          <p:spPr>
            <a:xfrm>
              <a:off x="4547556" y="4029974"/>
              <a:ext cx="752475" cy="1295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9" name="Group 28"/>
            <p:cNvGrpSpPr/>
            <p:nvPr/>
          </p:nvGrpSpPr>
          <p:grpSpPr>
            <a:xfrm>
              <a:off x="4786952" y="3048000"/>
              <a:ext cx="1751805" cy="2209800"/>
              <a:chOff x="304800" y="3429000"/>
              <a:chExt cx="1751805" cy="2209800"/>
            </a:xfrm>
          </p:grpSpPr>
          <p:cxnSp>
            <p:nvCxnSpPr>
              <p:cNvPr id="30" name="Straight Connector 29"/>
              <p:cNvCxnSpPr/>
              <p:nvPr/>
            </p:nvCxnSpPr>
            <p:spPr>
              <a:xfrm>
                <a:off x="1066800" y="3581400"/>
                <a:ext cx="0" cy="20574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/>
              <p:cNvSpPr txBox="1"/>
              <p:nvPr/>
            </p:nvSpPr>
            <p:spPr>
              <a:xfrm>
                <a:off x="304800" y="3429000"/>
                <a:ext cx="7248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Inside</a:t>
                </a:r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1121734" y="3429000"/>
                <a:ext cx="93487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Outside</a:t>
                </a:r>
              </a:p>
            </p:txBody>
          </p:sp>
        </p:grpSp>
        <p:cxnSp>
          <p:nvCxnSpPr>
            <p:cNvPr id="55" name="Straight Connector 54"/>
            <p:cNvCxnSpPr/>
            <p:nvPr/>
          </p:nvCxnSpPr>
          <p:spPr>
            <a:xfrm>
              <a:off x="5943600" y="4036831"/>
              <a:ext cx="228600" cy="76200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/>
            <p:cNvSpPr txBox="1"/>
            <p:nvPr/>
          </p:nvSpPr>
          <p:spPr>
            <a:xfrm>
              <a:off x="5638800" y="3732031"/>
              <a:ext cx="31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</a:t>
              </a:r>
              <a:r>
                <a:rPr lang="en-US" baseline="-25000" dirty="0"/>
                <a:t>i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5990970" y="4734299"/>
              <a:ext cx="4860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</a:t>
              </a:r>
              <a:r>
                <a:rPr lang="en-US" baseline="-25000" dirty="0"/>
                <a:t>i+1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4953000" y="5257800"/>
              <a:ext cx="146231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Add nothing to output</a:t>
              </a:r>
              <a:endParaRPr lang="en-US" baseline="-25000" dirty="0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6989929" y="3048000"/>
            <a:ext cx="1773071" cy="2856131"/>
            <a:chOff x="6989929" y="3048000"/>
            <a:chExt cx="1773071" cy="2856131"/>
          </a:xfrm>
        </p:grpSpPr>
        <p:grpSp>
          <p:nvGrpSpPr>
            <p:cNvPr id="33" name="Group 32"/>
            <p:cNvGrpSpPr/>
            <p:nvPr/>
          </p:nvGrpSpPr>
          <p:grpSpPr>
            <a:xfrm>
              <a:off x="6989929" y="3048000"/>
              <a:ext cx="1751805" cy="2209800"/>
              <a:chOff x="304800" y="3429000"/>
              <a:chExt cx="1751805" cy="2209800"/>
            </a:xfrm>
          </p:grpSpPr>
          <p:cxnSp>
            <p:nvCxnSpPr>
              <p:cNvPr id="34" name="Straight Connector 33"/>
              <p:cNvCxnSpPr/>
              <p:nvPr/>
            </p:nvCxnSpPr>
            <p:spPr>
              <a:xfrm>
                <a:off x="1066800" y="3581400"/>
                <a:ext cx="0" cy="20574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/>
              <p:cNvSpPr txBox="1"/>
              <p:nvPr/>
            </p:nvSpPr>
            <p:spPr>
              <a:xfrm>
                <a:off x="304800" y="3429000"/>
                <a:ext cx="7248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Inside</a:t>
                </a:r>
              </a:p>
            </p:txBody>
          </p:sp>
          <p:sp>
            <p:nvSpPr>
              <p:cNvPr id="36" name="TextBox 35"/>
              <p:cNvSpPr txBox="1"/>
              <p:nvPr/>
            </p:nvSpPr>
            <p:spPr>
              <a:xfrm>
                <a:off x="1121734" y="3429000"/>
                <a:ext cx="93487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Outside</a:t>
                </a:r>
              </a:p>
            </p:txBody>
          </p:sp>
        </p:grpSp>
        <p:cxnSp>
          <p:nvCxnSpPr>
            <p:cNvPr id="66" name="Straight Connector 65"/>
            <p:cNvCxnSpPr>
              <a:endCxn id="68" idx="1"/>
            </p:cNvCxnSpPr>
            <p:nvPr/>
          </p:nvCxnSpPr>
          <p:spPr>
            <a:xfrm flipV="1">
              <a:off x="7438770" y="4299466"/>
              <a:ext cx="685800" cy="19633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Box 66"/>
            <p:cNvSpPr txBox="1"/>
            <p:nvPr/>
          </p:nvSpPr>
          <p:spPr>
            <a:xfrm>
              <a:off x="7086600" y="4136066"/>
              <a:ext cx="4860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</a:t>
              </a:r>
              <a:r>
                <a:rPr lang="en-US" baseline="-25000" dirty="0"/>
                <a:t>i+1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8124570" y="4114800"/>
              <a:ext cx="31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</a:t>
              </a:r>
              <a:r>
                <a:rPr lang="en-US" baseline="-25000" dirty="0"/>
                <a:t>i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7717466" y="4323169"/>
              <a:ext cx="5293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v'</a:t>
              </a:r>
              <a:r>
                <a:rPr lang="en-US" baseline="-25000" dirty="0"/>
                <a:t>i+1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7224482" y="5257800"/>
              <a:ext cx="153851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Add v’</a:t>
              </a:r>
              <a:r>
                <a:rPr lang="en-US" baseline="-25000" dirty="0"/>
                <a:t>i+1</a:t>
              </a:r>
              <a:r>
                <a:rPr lang="en-US" dirty="0"/>
                <a:t> and v</a:t>
              </a:r>
              <a:r>
                <a:rPr lang="en-US" baseline="-25000" dirty="0"/>
                <a:t>i+1</a:t>
              </a:r>
              <a:r>
                <a:rPr lang="en-US" dirty="0"/>
                <a:t>to output</a:t>
              </a:r>
              <a:endParaRPr lang="en-US" baseline="-25000" dirty="0"/>
            </a:p>
          </p:txBody>
        </p:sp>
      </p:grp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58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</a:t>
            </a:r>
          </a:p>
        </p:txBody>
      </p:sp>
      <p:grpSp>
        <p:nvGrpSpPr>
          <p:cNvPr id="33" name="Group 32"/>
          <p:cNvGrpSpPr/>
          <p:nvPr/>
        </p:nvGrpSpPr>
        <p:grpSpPr>
          <a:xfrm>
            <a:off x="944485" y="1676400"/>
            <a:ext cx="2066925" cy="1866900"/>
            <a:chOff x="1371600" y="3714750"/>
            <a:chExt cx="2066925" cy="1866900"/>
          </a:xfrm>
        </p:grpSpPr>
        <p:sp>
          <p:nvSpPr>
            <p:cNvPr id="31" name="Rectangle 30"/>
            <p:cNvSpPr/>
            <p:nvPr/>
          </p:nvSpPr>
          <p:spPr>
            <a:xfrm>
              <a:off x="1819275" y="4191000"/>
              <a:ext cx="1066800" cy="1066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/>
            <p:cNvSpPr/>
            <p:nvPr/>
          </p:nvSpPr>
          <p:spPr>
            <a:xfrm>
              <a:off x="1371600" y="3714750"/>
              <a:ext cx="2066925" cy="1866900"/>
            </a:xfrm>
            <a:custGeom>
              <a:avLst/>
              <a:gdLst>
                <a:gd name="connsiteX0" fmla="*/ 0 w 2066925"/>
                <a:gd name="connsiteY0" fmla="*/ 1038225 h 1866900"/>
                <a:gd name="connsiteX1" fmla="*/ 2066925 w 2066925"/>
                <a:gd name="connsiteY1" fmla="*/ 0 h 1866900"/>
                <a:gd name="connsiteX2" fmla="*/ 1285875 w 2066925"/>
                <a:gd name="connsiteY2" fmla="*/ 914400 h 1866900"/>
                <a:gd name="connsiteX3" fmla="*/ 1857375 w 2066925"/>
                <a:gd name="connsiteY3" fmla="*/ 1866900 h 1866900"/>
                <a:gd name="connsiteX4" fmla="*/ 0 w 2066925"/>
                <a:gd name="connsiteY4" fmla="*/ 1038225 h 1866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6925" h="1866900">
                  <a:moveTo>
                    <a:pt x="0" y="1038225"/>
                  </a:moveTo>
                  <a:lnTo>
                    <a:pt x="2066925" y="0"/>
                  </a:lnTo>
                  <a:lnTo>
                    <a:pt x="1285875" y="914400"/>
                  </a:lnTo>
                  <a:lnTo>
                    <a:pt x="1857375" y="1866900"/>
                  </a:lnTo>
                  <a:lnTo>
                    <a:pt x="0" y="1038225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741874" y="6441841"/>
            <a:ext cx="2895600" cy="365125"/>
          </a:xfrm>
        </p:spPr>
        <p:txBody>
          <a:bodyPr/>
          <a:lstStyle/>
          <a:p>
            <a:r>
              <a:rPr lang="en-US" dirty="0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59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E4037C-3550-B14F-8C0F-50957CC06ED0}"/>
              </a:ext>
            </a:extLst>
          </p:cNvPr>
          <p:cNvSpPr txBox="1"/>
          <p:nvPr/>
        </p:nvSpPr>
        <p:spPr>
          <a:xfrm>
            <a:off x="559503" y="2558676"/>
            <a:ext cx="405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v0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D519E9-D34A-ED4A-9EE8-575BC197E68F}"/>
              </a:ext>
            </a:extLst>
          </p:cNvPr>
          <p:cNvSpPr txBox="1"/>
          <p:nvPr/>
        </p:nvSpPr>
        <p:spPr>
          <a:xfrm>
            <a:off x="2719925" y="3495198"/>
            <a:ext cx="405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v1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2AC97F-1770-874A-99DB-5BFB20F2B61F}"/>
              </a:ext>
            </a:extLst>
          </p:cNvPr>
          <p:cNvSpPr txBox="1"/>
          <p:nvPr/>
        </p:nvSpPr>
        <p:spPr>
          <a:xfrm>
            <a:off x="2220930" y="2425184"/>
            <a:ext cx="405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v2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AEE3E8-117D-1641-B812-3B7EB679CAB3}"/>
              </a:ext>
            </a:extLst>
          </p:cNvPr>
          <p:cNvSpPr txBox="1"/>
          <p:nvPr/>
        </p:nvSpPr>
        <p:spPr>
          <a:xfrm>
            <a:off x="2967851" y="1430830"/>
            <a:ext cx="405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v3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9CBD90-E47B-614D-9284-8B1DF78687EE}"/>
              </a:ext>
            </a:extLst>
          </p:cNvPr>
          <p:cNvSpPr txBox="1"/>
          <p:nvPr/>
        </p:nvSpPr>
        <p:spPr>
          <a:xfrm>
            <a:off x="4761194" y="1739152"/>
            <a:ext cx="3145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Initial vertex list: {v0, v1, v2, v3}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E16565-8382-D045-844D-ECA744BDF5C6}"/>
              </a:ext>
            </a:extLst>
          </p:cNvPr>
          <p:cNvSpPr txBox="1"/>
          <p:nvPr/>
        </p:nvSpPr>
        <p:spPr>
          <a:xfrm>
            <a:off x="4761194" y="2178597"/>
            <a:ext cx="242406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b="1" dirty="0"/>
              <a:t>Step 1: Right Edge</a:t>
            </a:r>
          </a:p>
          <a:p>
            <a:r>
              <a:rPr lang="en-TR" dirty="0"/>
              <a:t>v0 -&gt; v1: Add v1’ </a:t>
            </a:r>
          </a:p>
          <a:p>
            <a:r>
              <a:rPr lang="en-TR" dirty="0"/>
              <a:t>v1 -&gt; v2: Add v2’ and v2</a:t>
            </a:r>
          </a:p>
          <a:p>
            <a:r>
              <a:rPr lang="en-TR" dirty="0"/>
              <a:t>v2 -&gt; v3: Add v3’</a:t>
            </a:r>
          </a:p>
          <a:p>
            <a:r>
              <a:rPr lang="en-TR" dirty="0"/>
              <a:t>v3 -&gt; v0: Add v0’ and v0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1E4D1AF-FFCA-8348-AD43-47C195DED368}"/>
              </a:ext>
            </a:extLst>
          </p:cNvPr>
          <p:cNvGrpSpPr/>
          <p:nvPr/>
        </p:nvGrpSpPr>
        <p:grpSpPr>
          <a:xfrm>
            <a:off x="713982" y="4095066"/>
            <a:ext cx="2423156" cy="2143125"/>
            <a:chOff x="3758569" y="4124325"/>
            <a:chExt cx="2423156" cy="2143125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0E91AD6-17BF-6B4F-BA96-D14AFDE2A75C}"/>
                </a:ext>
              </a:extLst>
            </p:cNvPr>
            <p:cNvSpPr txBox="1"/>
            <p:nvPr/>
          </p:nvSpPr>
          <p:spPr>
            <a:xfrm>
              <a:off x="3758569" y="4979148"/>
              <a:ext cx="4058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dirty="0"/>
                <a:t>v0</a:t>
              </a: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6D38413-1C46-384D-8A00-832B4BF5EA73}"/>
                </a:ext>
              </a:extLst>
            </p:cNvPr>
            <p:cNvGrpSpPr/>
            <p:nvPr/>
          </p:nvGrpSpPr>
          <p:grpSpPr>
            <a:xfrm>
              <a:off x="4051694" y="4124325"/>
              <a:ext cx="2130031" cy="2143125"/>
              <a:chOff x="4051694" y="4124325"/>
              <a:chExt cx="2130031" cy="2143125"/>
            </a:xfrm>
          </p:grpSpPr>
          <p:grpSp>
            <p:nvGrpSpPr>
              <p:cNvPr id="39" name="Group 38"/>
              <p:cNvGrpSpPr/>
              <p:nvPr/>
            </p:nvGrpSpPr>
            <p:grpSpPr>
              <a:xfrm>
                <a:off x="4114800" y="4124325"/>
                <a:ext cx="2066925" cy="1866900"/>
                <a:chOff x="1371600" y="3714750"/>
                <a:chExt cx="2066925" cy="1866900"/>
              </a:xfrm>
            </p:grpSpPr>
            <p:sp>
              <p:nvSpPr>
                <p:cNvPr id="40" name="Rectangle 39"/>
                <p:cNvSpPr/>
                <p:nvPr/>
              </p:nvSpPr>
              <p:spPr>
                <a:xfrm>
                  <a:off x="1819275" y="4191000"/>
                  <a:ext cx="1066800" cy="106680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1" name="Freeform 40"/>
                <p:cNvSpPr/>
                <p:nvPr/>
              </p:nvSpPr>
              <p:spPr>
                <a:xfrm>
                  <a:off x="1371600" y="3714750"/>
                  <a:ext cx="2066925" cy="1866900"/>
                </a:xfrm>
                <a:custGeom>
                  <a:avLst/>
                  <a:gdLst>
                    <a:gd name="connsiteX0" fmla="*/ 0 w 2066925"/>
                    <a:gd name="connsiteY0" fmla="*/ 1038225 h 1866900"/>
                    <a:gd name="connsiteX1" fmla="*/ 2066925 w 2066925"/>
                    <a:gd name="connsiteY1" fmla="*/ 0 h 1866900"/>
                    <a:gd name="connsiteX2" fmla="*/ 1285875 w 2066925"/>
                    <a:gd name="connsiteY2" fmla="*/ 914400 h 1866900"/>
                    <a:gd name="connsiteX3" fmla="*/ 1857375 w 2066925"/>
                    <a:gd name="connsiteY3" fmla="*/ 1866900 h 1866900"/>
                    <a:gd name="connsiteX4" fmla="*/ 0 w 2066925"/>
                    <a:gd name="connsiteY4" fmla="*/ 1038225 h 18669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66925" h="1866900">
                      <a:moveTo>
                        <a:pt x="0" y="1038225"/>
                      </a:moveTo>
                      <a:lnTo>
                        <a:pt x="2066925" y="0"/>
                      </a:lnTo>
                      <a:lnTo>
                        <a:pt x="1285875" y="914400"/>
                      </a:lnTo>
                      <a:lnTo>
                        <a:pt x="1857375" y="1866900"/>
                      </a:lnTo>
                      <a:lnTo>
                        <a:pt x="0" y="1038225"/>
                      </a:lnTo>
                      <a:close/>
                    </a:path>
                  </a:pathLst>
                </a:cu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44" name="Straight Connector 43"/>
              <p:cNvCxnSpPr/>
              <p:nvPr/>
            </p:nvCxnSpPr>
            <p:spPr>
              <a:xfrm>
                <a:off x="5619750" y="4133850"/>
                <a:ext cx="4762" cy="21336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A98EAC2-C731-7841-AF18-2E33AE07C638}"/>
                  </a:ext>
                </a:extLst>
              </p:cNvPr>
              <p:cNvSpPr txBox="1"/>
              <p:nvPr/>
            </p:nvSpPr>
            <p:spPr>
              <a:xfrm>
                <a:off x="5235617" y="5750995"/>
                <a:ext cx="4571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TR" dirty="0"/>
                  <a:t>v1'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07E11F8-57D3-D943-A36B-998F06BD7C82}"/>
                  </a:ext>
                </a:extLst>
              </p:cNvPr>
              <p:cNvSpPr txBox="1"/>
              <p:nvPr/>
            </p:nvSpPr>
            <p:spPr>
              <a:xfrm>
                <a:off x="5578664" y="5133975"/>
                <a:ext cx="4571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TR" dirty="0"/>
                  <a:t>v2'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20CA309-B62B-7D4D-8943-3D071AF42CEF}"/>
                  </a:ext>
                </a:extLst>
              </p:cNvPr>
              <p:cNvSpPr txBox="1"/>
              <p:nvPr/>
            </p:nvSpPr>
            <p:spPr>
              <a:xfrm>
                <a:off x="5374469" y="4862114"/>
                <a:ext cx="4058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TR" dirty="0"/>
                  <a:t>v2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2A95D33-11FC-DD4E-B7C1-A69E9BC8F4E6}"/>
                  </a:ext>
                </a:extLst>
              </p:cNvPr>
              <p:cNvSpPr txBox="1"/>
              <p:nvPr/>
            </p:nvSpPr>
            <p:spPr>
              <a:xfrm>
                <a:off x="5594389" y="4603886"/>
                <a:ext cx="4908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V</a:t>
                </a:r>
                <a:r>
                  <a:rPr lang="en-TR" dirty="0"/>
                  <a:t>3’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5EB8593-DE3D-2147-B54B-A6F4B13A261C}"/>
                  </a:ext>
                </a:extLst>
              </p:cNvPr>
              <p:cNvSpPr txBox="1"/>
              <p:nvPr/>
            </p:nvSpPr>
            <p:spPr>
              <a:xfrm>
                <a:off x="5181600" y="4137897"/>
                <a:ext cx="4571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TR" dirty="0"/>
                  <a:t>v0'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C70E52C1-C5ED-7249-9437-57F150A0E223}"/>
                  </a:ext>
                </a:extLst>
              </p:cNvPr>
              <p:cNvSpPr/>
              <p:nvPr/>
            </p:nvSpPr>
            <p:spPr>
              <a:xfrm>
                <a:off x="4051694" y="5101901"/>
                <a:ext cx="123825" cy="123825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R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531BB777-89C3-E046-AE94-D56CBE365B53}"/>
                  </a:ext>
                </a:extLst>
              </p:cNvPr>
              <p:cNvSpPr/>
              <p:nvPr/>
            </p:nvSpPr>
            <p:spPr>
              <a:xfrm>
                <a:off x="5575561" y="5791238"/>
                <a:ext cx="123825" cy="123825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R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DCB2080C-1889-C94F-9D74-DA9DA3D1B65D}"/>
                  </a:ext>
                </a:extLst>
              </p:cNvPr>
              <p:cNvSpPr/>
              <p:nvPr/>
            </p:nvSpPr>
            <p:spPr>
              <a:xfrm>
                <a:off x="5567362" y="5325643"/>
                <a:ext cx="123825" cy="123825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R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ECA35B2-E4A6-5947-9429-EE525CFA2529}"/>
                  </a:ext>
                </a:extLst>
              </p:cNvPr>
              <p:cNvSpPr/>
              <p:nvPr/>
            </p:nvSpPr>
            <p:spPr>
              <a:xfrm>
                <a:off x="5340494" y="4967448"/>
                <a:ext cx="123825" cy="123825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R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313C739E-8D81-E647-A351-A3891BA500F5}"/>
                  </a:ext>
                </a:extLst>
              </p:cNvPr>
              <p:cNvSpPr/>
              <p:nvPr/>
            </p:nvSpPr>
            <p:spPr>
              <a:xfrm>
                <a:off x="5553698" y="4705092"/>
                <a:ext cx="123825" cy="123825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R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89DB63E2-4F02-EA4F-9126-7A4569FE1E42}"/>
                  </a:ext>
                </a:extLst>
              </p:cNvPr>
              <p:cNvSpPr/>
              <p:nvPr/>
            </p:nvSpPr>
            <p:spPr>
              <a:xfrm>
                <a:off x="5567361" y="4340819"/>
                <a:ext cx="123825" cy="123825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R"/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45C69A0-56C4-8F47-9119-23B7B243E231}"/>
              </a:ext>
            </a:extLst>
          </p:cNvPr>
          <p:cNvGrpSpPr/>
          <p:nvPr/>
        </p:nvGrpSpPr>
        <p:grpSpPr>
          <a:xfrm>
            <a:off x="3886200" y="4102500"/>
            <a:ext cx="4124325" cy="2200275"/>
            <a:chOff x="3886200" y="4102500"/>
            <a:chExt cx="4124325" cy="2200275"/>
          </a:xfrm>
        </p:grpSpPr>
        <p:sp>
          <p:nvSpPr>
            <p:cNvPr id="51" name="Right Arrow 50">
              <a:extLst>
                <a:ext uri="{FF2B5EF4-FFF2-40B4-BE49-F238E27FC236}">
                  <a16:creationId xmlns:a16="http://schemas.microsoft.com/office/drawing/2014/main" id="{EE463CBF-20CE-1345-A795-9AD7867BA5A5}"/>
                </a:ext>
              </a:extLst>
            </p:cNvPr>
            <p:cNvSpPr/>
            <p:nvPr/>
          </p:nvSpPr>
          <p:spPr>
            <a:xfrm>
              <a:off x="3886200" y="5093100"/>
              <a:ext cx="609600" cy="1524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6EDB6CFA-2611-B349-9A1A-1FEDF04D5DBA}"/>
                </a:ext>
              </a:extLst>
            </p:cNvPr>
            <p:cNvGrpSpPr/>
            <p:nvPr/>
          </p:nvGrpSpPr>
          <p:grpSpPr>
            <a:xfrm>
              <a:off x="5029200" y="4159650"/>
              <a:ext cx="2066925" cy="1866900"/>
              <a:chOff x="1371600" y="3714750"/>
              <a:chExt cx="2066925" cy="1866900"/>
            </a:xfrm>
          </p:grpSpPr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673B2694-B5A6-1B48-A7E5-EB42FB9A08DC}"/>
                  </a:ext>
                </a:extLst>
              </p:cNvPr>
              <p:cNvSpPr/>
              <p:nvPr/>
            </p:nvSpPr>
            <p:spPr>
              <a:xfrm>
                <a:off x="1819275" y="4191000"/>
                <a:ext cx="1066800" cy="10668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0EE75281-E46F-054A-9802-F69F317A57E4}"/>
                  </a:ext>
                </a:extLst>
              </p:cNvPr>
              <p:cNvSpPr/>
              <p:nvPr/>
            </p:nvSpPr>
            <p:spPr>
              <a:xfrm>
                <a:off x="1371600" y="3714750"/>
                <a:ext cx="2066925" cy="1866900"/>
              </a:xfrm>
              <a:custGeom>
                <a:avLst/>
                <a:gdLst>
                  <a:gd name="connsiteX0" fmla="*/ 0 w 2066925"/>
                  <a:gd name="connsiteY0" fmla="*/ 1038225 h 1866900"/>
                  <a:gd name="connsiteX1" fmla="*/ 2066925 w 2066925"/>
                  <a:gd name="connsiteY1" fmla="*/ 0 h 1866900"/>
                  <a:gd name="connsiteX2" fmla="*/ 1285875 w 2066925"/>
                  <a:gd name="connsiteY2" fmla="*/ 914400 h 1866900"/>
                  <a:gd name="connsiteX3" fmla="*/ 1857375 w 2066925"/>
                  <a:gd name="connsiteY3" fmla="*/ 1866900 h 1866900"/>
                  <a:gd name="connsiteX4" fmla="*/ 0 w 2066925"/>
                  <a:gd name="connsiteY4" fmla="*/ 1038225 h 1866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66925" h="1866900">
                    <a:moveTo>
                      <a:pt x="0" y="1038225"/>
                    </a:moveTo>
                    <a:lnTo>
                      <a:pt x="2066925" y="0"/>
                    </a:lnTo>
                    <a:lnTo>
                      <a:pt x="1285875" y="914400"/>
                    </a:lnTo>
                    <a:lnTo>
                      <a:pt x="1857375" y="1866900"/>
                    </a:lnTo>
                    <a:lnTo>
                      <a:pt x="0" y="1038225"/>
                    </a:lnTo>
                    <a:close/>
                  </a:path>
                </a:pathLst>
              </a:cu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CFF5CFBF-CAB1-5A4C-B432-B83FD0A2A7E4}"/>
                </a:ext>
              </a:extLst>
            </p:cNvPr>
            <p:cNvSpPr/>
            <p:nvPr/>
          </p:nvSpPr>
          <p:spPr>
            <a:xfrm>
              <a:off x="6562725" y="4102500"/>
              <a:ext cx="1447800" cy="1981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AFAF880-040E-3A48-BC2C-747FA3797078}"/>
                </a:ext>
              </a:extLst>
            </p:cNvPr>
            <p:cNvCxnSpPr/>
            <p:nvPr/>
          </p:nvCxnSpPr>
          <p:spPr>
            <a:xfrm>
              <a:off x="6534150" y="4169175"/>
              <a:ext cx="4762" cy="21336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07917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741874" y="6441841"/>
            <a:ext cx="2895600" cy="365125"/>
          </a:xfrm>
        </p:spPr>
        <p:txBody>
          <a:bodyPr/>
          <a:lstStyle/>
          <a:p>
            <a:r>
              <a:rPr lang="en-US" dirty="0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60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9CBD90-E47B-614D-9284-8B1DF78687EE}"/>
              </a:ext>
            </a:extLst>
          </p:cNvPr>
          <p:cNvSpPr txBox="1"/>
          <p:nvPr/>
        </p:nvSpPr>
        <p:spPr>
          <a:xfrm>
            <a:off x="4038600" y="1739152"/>
            <a:ext cx="4155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Current vertex list: {v0, v1’, v2’, v2, v3’, v0’}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E16565-8382-D045-844D-ECA744BDF5C6}"/>
              </a:ext>
            </a:extLst>
          </p:cNvPr>
          <p:cNvSpPr txBox="1"/>
          <p:nvPr/>
        </p:nvSpPr>
        <p:spPr>
          <a:xfrm>
            <a:off x="4761194" y="2178597"/>
            <a:ext cx="265489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b="1" dirty="0"/>
              <a:t>Step 2: Bottom Edge</a:t>
            </a:r>
          </a:p>
          <a:p>
            <a:r>
              <a:rPr lang="en-TR" dirty="0"/>
              <a:t>v0 -&gt; v1’: Add v1’’ </a:t>
            </a:r>
          </a:p>
          <a:p>
            <a:r>
              <a:rPr lang="en-US" dirty="0"/>
              <a:t>v</a:t>
            </a:r>
            <a:r>
              <a:rPr lang="en-TR" dirty="0"/>
              <a:t>1’ -&gt; v2’: Add v2’’ and v2’</a:t>
            </a:r>
          </a:p>
          <a:p>
            <a:r>
              <a:rPr lang="en-US" dirty="0"/>
              <a:t>v</a:t>
            </a:r>
            <a:r>
              <a:rPr lang="en-TR" dirty="0"/>
              <a:t>2’ -&gt; v2: Add v2</a:t>
            </a:r>
          </a:p>
          <a:p>
            <a:r>
              <a:rPr lang="en-TR" dirty="0"/>
              <a:t>v2 -&gt; v3’: Add v3’</a:t>
            </a:r>
          </a:p>
          <a:p>
            <a:r>
              <a:rPr lang="en-TR" dirty="0"/>
              <a:t>v3’ -&gt; v0’: Add v0’</a:t>
            </a:r>
          </a:p>
          <a:p>
            <a:r>
              <a:rPr lang="en-US" dirty="0"/>
              <a:t>v0’ -&gt; v0: Add v0</a:t>
            </a:r>
            <a:endParaRPr lang="en-TR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D26F665-124C-AB4C-9A69-89528920EFB3}"/>
              </a:ext>
            </a:extLst>
          </p:cNvPr>
          <p:cNvGrpSpPr/>
          <p:nvPr/>
        </p:nvGrpSpPr>
        <p:grpSpPr>
          <a:xfrm>
            <a:off x="671399" y="1592633"/>
            <a:ext cx="3367201" cy="2063292"/>
            <a:chOff x="740269" y="4161694"/>
            <a:chExt cx="3367201" cy="2063292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45C69A0-56C4-8F47-9119-23B7B243E231}"/>
                </a:ext>
              </a:extLst>
            </p:cNvPr>
            <p:cNvGrpSpPr/>
            <p:nvPr/>
          </p:nvGrpSpPr>
          <p:grpSpPr>
            <a:xfrm>
              <a:off x="1126145" y="4161694"/>
              <a:ext cx="2981325" cy="1981200"/>
              <a:chOff x="5029200" y="4102500"/>
              <a:chExt cx="2981325" cy="1981200"/>
            </a:xfrm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6EDB6CFA-2611-B349-9A1A-1FEDF04D5DBA}"/>
                  </a:ext>
                </a:extLst>
              </p:cNvPr>
              <p:cNvGrpSpPr/>
              <p:nvPr/>
            </p:nvGrpSpPr>
            <p:grpSpPr>
              <a:xfrm>
                <a:off x="5029200" y="4159650"/>
                <a:ext cx="2066925" cy="1866900"/>
                <a:chOff x="1371600" y="3714750"/>
                <a:chExt cx="2066925" cy="1866900"/>
              </a:xfrm>
            </p:grpSpPr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673B2694-B5A6-1B48-A7E5-EB42FB9A08DC}"/>
                    </a:ext>
                  </a:extLst>
                </p:cNvPr>
                <p:cNvSpPr/>
                <p:nvPr/>
              </p:nvSpPr>
              <p:spPr>
                <a:xfrm>
                  <a:off x="1819275" y="4191000"/>
                  <a:ext cx="1066800" cy="106680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Freeform 55">
                  <a:extLst>
                    <a:ext uri="{FF2B5EF4-FFF2-40B4-BE49-F238E27FC236}">
                      <a16:creationId xmlns:a16="http://schemas.microsoft.com/office/drawing/2014/main" id="{0EE75281-E46F-054A-9802-F69F317A57E4}"/>
                    </a:ext>
                  </a:extLst>
                </p:cNvPr>
                <p:cNvSpPr/>
                <p:nvPr/>
              </p:nvSpPr>
              <p:spPr>
                <a:xfrm>
                  <a:off x="1371600" y="3714750"/>
                  <a:ext cx="2066925" cy="1866900"/>
                </a:xfrm>
                <a:custGeom>
                  <a:avLst/>
                  <a:gdLst>
                    <a:gd name="connsiteX0" fmla="*/ 0 w 2066925"/>
                    <a:gd name="connsiteY0" fmla="*/ 1038225 h 1866900"/>
                    <a:gd name="connsiteX1" fmla="*/ 2066925 w 2066925"/>
                    <a:gd name="connsiteY1" fmla="*/ 0 h 1866900"/>
                    <a:gd name="connsiteX2" fmla="*/ 1285875 w 2066925"/>
                    <a:gd name="connsiteY2" fmla="*/ 914400 h 1866900"/>
                    <a:gd name="connsiteX3" fmla="*/ 1857375 w 2066925"/>
                    <a:gd name="connsiteY3" fmla="*/ 1866900 h 1866900"/>
                    <a:gd name="connsiteX4" fmla="*/ 0 w 2066925"/>
                    <a:gd name="connsiteY4" fmla="*/ 1038225 h 18669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66925" h="1866900">
                      <a:moveTo>
                        <a:pt x="0" y="1038225"/>
                      </a:moveTo>
                      <a:lnTo>
                        <a:pt x="2066925" y="0"/>
                      </a:lnTo>
                      <a:lnTo>
                        <a:pt x="1285875" y="914400"/>
                      </a:lnTo>
                      <a:lnTo>
                        <a:pt x="1857375" y="1866900"/>
                      </a:lnTo>
                      <a:lnTo>
                        <a:pt x="0" y="1038225"/>
                      </a:lnTo>
                      <a:close/>
                    </a:path>
                  </a:pathLst>
                </a:cu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CFF5CFBF-CAB1-5A4C-B432-B83FD0A2A7E4}"/>
                  </a:ext>
                </a:extLst>
              </p:cNvPr>
              <p:cNvSpPr/>
              <p:nvPr/>
            </p:nvSpPr>
            <p:spPr>
              <a:xfrm>
                <a:off x="6562725" y="4102500"/>
                <a:ext cx="1447800" cy="1981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0E91AD6-17BF-6B4F-BA96-D14AFDE2A75C}"/>
                </a:ext>
              </a:extLst>
            </p:cNvPr>
            <p:cNvSpPr txBox="1"/>
            <p:nvPr/>
          </p:nvSpPr>
          <p:spPr>
            <a:xfrm>
              <a:off x="740269" y="5060327"/>
              <a:ext cx="4058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dirty="0"/>
                <a:t>v0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A98EAC2-C731-7841-AF18-2E33AE07C638}"/>
                </a:ext>
              </a:extLst>
            </p:cNvPr>
            <p:cNvSpPr txBox="1"/>
            <p:nvPr/>
          </p:nvSpPr>
          <p:spPr>
            <a:xfrm>
              <a:off x="2162199" y="5855654"/>
              <a:ext cx="4571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dirty="0"/>
                <a:t>v1'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07E11F8-57D3-D943-A36B-998F06BD7C82}"/>
                </a:ext>
              </a:extLst>
            </p:cNvPr>
            <p:cNvSpPr txBox="1"/>
            <p:nvPr/>
          </p:nvSpPr>
          <p:spPr>
            <a:xfrm>
              <a:off x="2667024" y="5215154"/>
              <a:ext cx="4571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dirty="0"/>
                <a:t>v2'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20CA309-B62B-7D4D-8943-3D071AF42CEF}"/>
                </a:ext>
              </a:extLst>
            </p:cNvPr>
            <p:cNvSpPr txBox="1"/>
            <p:nvPr/>
          </p:nvSpPr>
          <p:spPr>
            <a:xfrm>
              <a:off x="2413520" y="4943293"/>
              <a:ext cx="4058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dirty="0"/>
                <a:t>v2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2A95D33-11FC-DD4E-B7C1-A69E9BC8F4E6}"/>
                </a:ext>
              </a:extLst>
            </p:cNvPr>
            <p:cNvSpPr txBox="1"/>
            <p:nvPr/>
          </p:nvSpPr>
          <p:spPr>
            <a:xfrm>
              <a:off x="2633360" y="4685065"/>
              <a:ext cx="4635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</a:t>
              </a:r>
              <a:r>
                <a:rPr lang="en-TR" dirty="0"/>
                <a:t>3’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5EB8593-DE3D-2147-B54B-A6F4B13A261C}"/>
                </a:ext>
              </a:extLst>
            </p:cNvPr>
            <p:cNvSpPr txBox="1"/>
            <p:nvPr/>
          </p:nvSpPr>
          <p:spPr>
            <a:xfrm>
              <a:off x="2163300" y="4219076"/>
              <a:ext cx="4571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dirty="0"/>
                <a:t>v0'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70E52C1-C5ED-7249-9437-57F150A0E223}"/>
                </a:ext>
              </a:extLst>
            </p:cNvPr>
            <p:cNvSpPr/>
            <p:nvPr/>
          </p:nvSpPr>
          <p:spPr>
            <a:xfrm>
              <a:off x="1033394" y="5183080"/>
              <a:ext cx="123825" cy="1238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531BB777-89C3-E046-AE94-D56CBE365B53}"/>
                </a:ext>
              </a:extLst>
            </p:cNvPr>
            <p:cNvSpPr/>
            <p:nvPr/>
          </p:nvSpPr>
          <p:spPr>
            <a:xfrm>
              <a:off x="2584603" y="5893475"/>
              <a:ext cx="123825" cy="1238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CB2080C-1889-C94F-9D74-DA9DA3D1B65D}"/>
                </a:ext>
              </a:extLst>
            </p:cNvPr>
            <p:cNvSpPr/>
            <p:nvPr/>
          </p:nvSpPr>
          <p:spPr>
            <a:xfrm>
              <a:off x="2580898" y="5422632"/>
              <a:ext cx="123825" cy="1238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0ECA35B2-E4A6-5947-9429-EE525CFA2529}"/>
                </a:ext>
              </a:extLst>
            </p:cNvPr>
            <p:cNvSpPr/>
            <p:nvPr/>
          </p:nvSpPr>
          <p:spPr>
            <a:xfrm>
              <a:off x="2379545" y="5048627"/>
              <a:ext cx="123825" cy="1238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313C739E-8D81-E647-A351-A3891BA500F5}"/>
                </a:ext>
              </a:extLst>
            </p:cNvPr>
            <p:cNvSpPr/>
            <p:nvPr/>
          </p:nvSpPr>
          <p:spPr>
            <a:xfrm>
              <a:off x="2592669" y="4786271"/>
              <a:ext cx="123825" cy="1238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89DB63E2-4F02-EA4F-9126-7A4569FE1E42}"/>
                </a:ext>
              </a:extLst>
            </p:cNvPr>
            <p:cNvSpPr/>
            <p:nvPr/>
          </p:nvSpPr>
          <p:spPr>
            <a:xfrm>
              <a:off x="2571447" y="4421714"/>
              <a:ext cx="123825" cy="1238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FB59C5A6-189C-2E49-8A24-2C689A6FF83C}"/>
              </a:ext>
            </a:extLst>
          </p:cNvPr>
          <p:cNvGrpSpPr/>
          <p:nvPr/>
        </p:nvGrpSpPr>
        <p:grpSpPr>
          <a:xfrm>
            <a:off x="3161637" y="4247950"/>
            <a:ext cx="3498933" cy="2125882"/>
            <a:chOff x="584720" y="4172695"/>
            <a:chExt cx="3498933" cy="2125882"/>
          </a:xfrm>
        </p:grpSpPr>
        <p:grpSp>
          <p:nvGrpSpPr>
            <p:cNvPr id="70" name="Group 38">
              <a:extLst>
                <a:ext uri="{FF2B5EF4-FFF2-40B4-BE49-F238E27FC236}">
                  <a16:creationId xmlns:a16="http://schemas.microsoft.com/office/drawing/2014/main" id="{BECAE539-C5F5-9A48-B1CD-2AB88972FC9F}"/>
                </a:ext>
              </a:extLst>
            </p:cNvPr>
            <p:cNvGrpSpPr/>
            <p:nvPr/>
          </p:nvGrpSpPr>
          <p:grpSpPr>
            <a:xfrm>
              <a:off x="1088349" y="4231652"/>
              <a:ext cx="2066925" cy="1866900"/>
              <a:chOff x="1371600" y="3714750"/>
              <a:chExt cx="2066925" cy="1866900"/>
            </a:xfrm>
          </p:grpSpPr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006F07AD-B4C3-7342-AF05-A6F3630ED1BF}"/>
                  </a:ext>
                </a:extLst>
              </p:cNvPr>
              <p:cNvSpPr/>
              <p:nvPr/>
            </p:nvSpPr>
            <p:spPr>
              <a:xfrm>
                <a:off x="1819275" y="4191000"/>
                <a:ext cx="1066800" cy="10668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Freeform 71">
                <a:extLst>
                  <a:ext uri="{FF2B5EF4-FFF2-40B4-BE49-F238E27FC236}">
                    <a16:creationId xmlns:a16="http://schemas.microsoft.com/office/drawing/2014/main" id="{355910D9-CB33-C848-82A5-0E841BD636BD}"/>
                  </a:ext>
                </a:extLst>
              </p:cNvPr>
              <p:cNvSpPr/>
              <p:nvPr/>
            </p:nvSpPr>
            <p:spPr>
              <a:xfrm>
                <a:off x="1371600" y="3714750"/>
                <a:ext cx="2066925" cy="1866900"/>
              </a:xfrm>
              <a:custGeom>
                <a:avLst/>
                <a:gdLst>
                  <a:gd name="connsiteX0" fmla="*/ 0 w 2066925"/>
                  <a:gd name="connsiteY0" fmla="*/ 1038225 h 1866900"/>
                  <a:gd name="connsiteX1" fmla="*/ 2066925 w 2066925"/>
                  <a:gd name="connsiteY1" fmla="*/ 0 h 1866900"/>
                  <a:gd name="connsiteX2" fmla="*/ 1285875 w 2066925"/>
                  <a:gd name="connsiteY2" fmla="*/ 914400 h 1866900"/>
                  <a:gd name="connsiteX3" fmla="*/ 1857375 w 2066925"/>
                  <a:gd name="connsiteY3" fmla="*/ 1866900 h 1866900"/>
                  <a:gd name="connsiteX4" fmla="*/ 0 w 2066925"/>
                  <a:gd name="connsiteY4" fmla="*/ 1038225 h 1866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66925" h="1866900">
                    <a:moveTo>
                      <a:pt x="0" y="1038225"/>
                    </a:moveTo>
                    <a:lnTo>
                      <a:pt x="2066925" y="0"/>
                    </a:lnTo>
                    <a:lnTo>
                      <a:pt x="1285875" y="914400"/>
                    </a:lnTo>
                    <a:lnTo>
                      <a:pt x="1857375" y="1866900"/>
                    </a:lnTo>
                    <a:lnTo>
                      <a:pt x="0" y="1038225"/>
                    </a:lnTo>
                    <a:close/>
                  </a:path>
                </a:pathLst>
              </a:cu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478084D0-7D34-3948-9174-B6C92C62AC9F}"/>
                </a:ext>
              </a:extLst>
            </p:cNvPr>
            <p:cNvSpPr/>
            <p:nvPr/>
          </p:nvSpPr>
          <p:spPr>
            <a:xfrm>
              <a:off x="1469349" y="5793752"/>
              <a:ext cx="1447800" cy="5048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9EDDDE90-52A4-7D4C-A107-CB51294B1FBE}"/>
                </a:ext>
              </a:extLst>
            </p:cNvPr>
            <p:cNvCxnSpPr/>
            <p:nvPr/>
          </p:nvCxnSpPr>
          <p:spPr>
            <a:xfrm flipH="1">
              <a:off x="1088349" y="5789621"/>
              <a:ext cx="187049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680DB9C2-ED9C-894D-B132-07521CAA8931}"/>
                </a:ext>
              </a:extLst>
            </p:cNvPr>
            <p:cNvSpPr txBox="1"/>
            <p:nvPr/>
          </p:nvSpPr>
          <p:spPr>
            <a:xfrm>
              <a:off x="584720" y="5091380"/>
              <a:ext cx="4058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dirty="0"/>
                <a:t>v0</a:t>
              </a: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6B2CCE40-D84A-4942-B98B-C533D2166CF3}"/>
                </a:ext>
              </a:extLst>
            </p:cNvPr>
            <p:cNvSpPr/>
            <p:nvPr/>
          </p:nvSpPr>
          <p:spPr>
            <a:xfrm>
              <a:off x="1015366" y="5214133"/>
              <a:ext cx="123825" cy="1238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1BA0BD01-4F28-CD4B-A59D-B77229BD35F5}"/>
                </a:ext>
              </a:extLst>
            </p:cNvPr>
            <p:cNvSpPr txBox="1"/>
            <p:nvPr/>
          </p:nvSpPr>
          <p:spPr>
            <a:xfrm>
              <a:off x="1764703" y="5879068"/>
              <a:ext cx="5212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dirty="0"/>
                <a:t>v1’’</a:t>
              </a:r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7F3F82CA-0C9F-354A-96E2-0C807D5A7713}"/>
                </a:ext>
              </a:extLst>
            </p:cNvPr>
            <p:cNvSpPr/>
            <p:nvPr/>
          </p:nvSpPr>
          <p:spPr>
            <a:xfrm>
              <a:off x="2155609" y="5722508"/>
              <a:ext cx="123825" cy="1238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11ED9338-97C9-2143-B24E-1C28748E4789}"/>
                </a:ext>
              </a:extLst>
            </p:cNvPr>
            <p:cNvSpPr/>
            <p:nvPr/>
          </p:nvSpPr>
          <p:spPr>
            <a:xfrm>
              <a:off x="2635853" y="4172695"/>
              <a:ext cx="1447800" cy="1981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CF45BF31-C723-484F-A2CA-AE01FB3D7B7B}"/>
                </a:ext>
              </a:extLst>
            </p:cNvPr>
            <p:cNvSpPr txBox="1"/>
            <p:nvPr/>
          </p:nvSpPr>
          <p:spPr>
            <a:xfrm>
              <a:off x="2651624" y="5264296"/>
              <a:ext cx="4571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dirty="0"/>
                <a:t>v2'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F4A82AF6-704C-0247-9DEA-860DC5770529}"/>
                </a:ext>
              </a:extLst>
            </p:cNvPr>
            <p:cNvSpPr txBox="1"/>
            <p:nvPr/>
          </p:nvSpPr>
          <p:spPr>
            <a:xfrm>
              <a:off x="2635853" y="5607021"/>
              <a:ext cx="5212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dirty="0"/>
                <a:t>v2’’</a:t>
              </a:r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14BEE303-F45F-6141-94F8-1A1ACA3C5512}"/>
                </a:ext>
              </a:extLst>
            </p:cNvPr>
            <p:cNvSpPr/>
            <p:nvPr/>
          </p:nvSpPr>
          <p:spPr>
            <a:xfrm>
              <a:off x="2532671" y="5714688"/>
              <a:ext cx="123825" cy="1238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31285B74-95C2-AE41-9B8E-3840917BE7FA}"/>
                </a:ext>
              </a:extLst>
            </p:cNvPr>
            <p:cNvSpPr/>
            <p:nvPr/>
          </p:nvSpPr>
          <p:spPr>
            <a:xfrm>
              <a:off x="2523799" y="5405758"/>
              <a:ext cx="123825" cy="1238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8C839FA7-B9E1-AB4D-8351-F2AB22137A1B}"/>
                </a:ext>
              </a:extLst>
            </p:cNvPr>
            <p:cNvSpPr/>
            <p:nvPr/>
          </p:nvSpPr>
          <p:spPr>
            <a:xfrm>
              <a:off x="2314575" y="5105400"/>
              <a:ext cx="123825" cy="1238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BD7E42D7-9F96-EB47-B13A-87F57976DB5F}"/>
                </a:ext>
              </a:extLst>
            </p:cNvPr>
            <p:cNvSpPr txBox="1"/>
            <p:nvPr/>
          </p:nvSpPr>
          <p:spPr>
            <a:xfrm>
              <a:off x="2384167" y="4958430"/>
              <a:ext cx="4058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dirty="0"/>
                <a:t>v2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20A7E456-DB80-D34B-A23A-AD3DBBF444D1}"/>
                </a:ext>
              </a:extLst>
            </p:cNvPr>
            <p:cNvSpPr txBox="1"/>
            <p:nvPr/>
          </p:nvSpPr>
          <p:spPr>
            <a:xfrm>
              <a:off x="2649128" y="4697902"/>
              <a:ext cx="4635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</a:t>
              </a:r>
              <a:r>
                <a:rPr lang="en-TR" dirty="0"/>
                <a:t>3’</a:t>
              </a:r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64A6C72E-0815-4B45-AD1A-81BF5E0D19E1}"/>
                </a:ext>
              </a:extLst>
            </p:cNvPr>
            <p:cNvSpPr/>
            <p:nvPr/>
          </p:nvSpPr>
          <p:spPr>
            <a:xfrm>
              <a:off x="2521853" y="4827145"/>
              <a:ext cx="123825" cy="1238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E39906C9-D146-404F-ABE8-3B9A8B472A12}"/>
                </a:ext>
              </a:extLst>
            </p:cNvPr>
            <p:cNvSpPr txBox="1"/>
            <p:nvPr/>
          </p:nvSpPr>
          <p:spPr>
            <a:xfrm>
              <a:off x="2155918" y="4232852"/>
              <a:ext cx="4571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dirty="0"/>
                <a:t>v0'</a:t>
              </a:r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B494791A-D24C-2C40-A3D8-077E3349B315}"/>
                </a:ext>
              </a:extLst>
            </p:cNvPr>
            <p:cNvSpPr/>
            <p:nvPr/>
          </p:nvSpPr>
          <p:spPr>
            <a:xfrm>
              <a:off x="2503369" y="4463634"/>
              <a:ext cx="123825" cy="1238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</p:grpSp>
    </p:spTree>
    <p:extLst>
      <p:ext uri="{BB962C8B-B14F-4D97-AF65-F5344CB8AC3E}">
        <p14:creationId xmlns:p14="http://schemas.microsoft.com/office/powerpoint/2010/main" val="3101339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741874" y="6441841"/>
            <a:ext cx="2895600" cy="365125"/>
          </a:xfrm>
        </p:spPr>
        <p:txBody>
          <a:bodyPr/>
          <a:lstStyle/>
          <a:p>
            <a:r>
              <a:rPr lang="en-US" dirty="0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61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9CBD90-E47B-614D-9284-8B1DF78687EE}"/>
              </a:ext>
            </a:extLst>
          </p:cNvPr>
          <p:cNvSpPr txBox="1"/>
          <p:nvPr/>
        </p:nvSpPr>
        <p:spPr>
          <a:xfrm>
            <a:off x="4118139" y="1739152"/>
            <a:ext cx="4644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Current vertex list: {v0, v1’’, v2’’, v2’, v2, v3’, v0’}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E16565-8382-D045-844D-ECA744BDF5C6}"/>
              </a:ext>
            </a:extLst>
          </p:cNvPr>
          <p:cNvSpPr txBox="1"/>
          <p:nvPr/>
        </p:nvSpPr>
        <p:spPr>
          <a:xfrm>
            <a:off x="4761194" y="2178597"/>
            <a:ext cx="282320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b="1" dirty="0"/>
              <a:t>Step 3: Left Edge</a:t>
            </a:r>
          </a:p>
          <a:p>
            <a:r>
              <a:rPr lang="en-TR" dirty="0"/>
              <a:t>v0 -&gt; v1’’: Add v1’’’ and v1’’ </a:t>
            </a:r>
          </a:p>
          <a:p>
            <a:r>
              <a:rPr lang="en-US" dirty="0"/>
              <a:t>v</a:t>
            </a:r>
            <a:r>
              <a:rPr lang="en-TR" dirty="0"/>
              <a:t>1’’ -&gt; v2’’: Add v2’’</a:t>
            </a:r>
          </a:p>
          <a:p>
            <a:r>
              <a:rPr lang="en-US" dirty="0"/>
              <a:t>v</a:t>
            </a:r>
            <a:r>
              <a:rPr lang="en-TR" dirty="0"/>
              <a:t>2’’ -&gt; v2’: Add v2’</a:t>
            </a:r>
          </a:p>
          <a:p>
            <a:r>
              <a:rPr lang="en-US" dirty="0"/>
              <a:t>v</a:t>
            </a:r>
            <a:r>
              <a:rPr lang="en-TR" dirty="0"/>
              <a:t>2’ -&gt; v2: Add v2</a:t>
            </a:r>
          </a:p>
          <a:p>
            <a:r>
              <a:rPr lang="en-TR" dirty="0"/>
              <a:t>v2 -&gt; v3’: Add v3’</a:t>
            </a:r>
          </a:p>
          <a:p>
            <a:r>
              <a:rPr lang="en-TR" dirty="0"/>
              <a:t>v3’ -&gt; v0’: Add v0’</a:t>
            </a:r>
          </a:p>
          <a:p>
            <a:r>
              <a:rPr lang="en-US" dirty="0"/>
              <a:t>v0’ -&gt; v0’’: Add v0’’</a:t>
            </a:r>
            <a:endParaRPr lang="en-TR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B59C5A6-189C-2E49-8A24-2C689A6FF83C}"/>
              </a:ext>
            </a:extLst>
          </p:cNvPr>
          <p:cNvGrpSpPr/>
          <p:nvPr/>
        </p:nvGrpSpPr>
        <p:grpSpPr>
          <a:xfrm>
            <a:off x="405161" y="1676400"/>
            <a:ext cx="3498933" cy="2125882"/>
            <a:chOff x="584720" y="4172695"/>
            <a:chExt cx="3498933" cy="2125882"/>
          </a:xfrm>
        </p:grpSpPr>
        <p:grpSp>
          <p:nvGrpSpPr>
            <p:cNvPr id="70" name="Group 38">
              <a:extLst>
                <a:ext uri="{FF2B5EF4-FFF2-40B4-BE49-F238E27FC236}">
                  <a16:creationId xmlns:a16="http://schemas.microsoft.com/office/drawing/2014/main" id="{BECAE539-C5F5-9A48-B1CD-2AB88972FC9F}"/>
                </a:ext>
              </a:extLst>
            </p:cNvPr>
            <p:cNvGrpSpPr/>
            <p:nvPr/>
          </p:nvGrpSpPr>
          <p:grpSpPr>
            <a:xfrm>
              <a:off x="1088349" y="4231652"/>
              <a:ext cx="2066925" cy="1866900"/>
              <a:chOff x="1371600" y="3714750"/>
              <a:chExt cx="2066925" cy="1866900"/>
            </a:xfrm>
          </p:grpSpPr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006F07AD-B4C3-7342-AF05-A6F3630ED1BF}"/>
                  </a:ext>
                </a:extLst>
              </p:cNvPr>
              <p:cNvSpPr/>
              <p:nvPr/>
            </p:nvSpPr>
            <p:spPr>
              <a:xfrm>
                <a:off x="1819275" y="4191000"/>
                <a:ext cx="1066800" cy="10668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Freeform 71">
                <a:extLst>
                  <a:ext uri="{FF2B5EF4-FFF2-40B4-BE49-F238E27FC236}">
                    <a16:creationId xmlns:a16="http://schemas.microsoft.com/office/drawing/2014/main" id="{355910D9-CB33-C848-82A5-0E841BD636BD}"/>
                  </a:ext>
                </a:extLst>
              </p:cNvPr>
              <p:cNvSpPr/>
              <p:nvPr/>
            </p:nvSpPr>
            <p:spPr>
              <a:xfrm>
                <a:off x="1371600" y="3714750"/>
                <a:ext cx="2066925" cy="1866900"/>
              </a:xfrm>
              <a:custGeom>
                <a:avLst/>
                <a:gdLst>
                  <a:gd name="connsiteX0" fmla="*/ 0 w 2066925"/>
                  <a:gd name="connsiteY0" fmla="*/ 1038225 h 1866900"/>
                  <a:gd name="connsiteX1" fmla="*/ 2066925 w 2066925"/>
                  <a:gd name="connsiteY1" fmla="*/ 0 h 1866900"/>
                  <a:gd name="connsiteX2" fmla="*/ 1285875 w 2066925"/>
                  <a:gd name="connsiteY2" fmla="*/ 914400 h 1866900"/>
                  <a:gd name="connsiteX3" fmla="*/ 1857375 w 2066925"/>
                  <a:gd name="connsiteY3" fmla="*/ 1866900 h 1866900"/>
                  <a:gd name="connsiteX4" fmla="*/ 0 w 2066925"/>
                  <a:gd name="connsiteY4" fmla="*/ 1038225 h 1866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66925" h="1866900">
                    <a:moveTo>
                      <a:pt x="0" y="1038225"/>
                    </a:moveTo>
                    <a:lnTo>
                      <a:pt x="2066925" y="0"/>
                    </a:lnTo>
                    <a:lnTo>
                      <a:pt x="1285875" y="914400"/>
                    </a:lnTo>
                    <a:lnTo>
                      <a:pt x="1857375" y="1866900"/>
                    </a:lnTo>
                    <a:lnTo>
                      <a:pt x="0" y="1038225"/>
                    </a:lnTo>
                    <a:close/>
                  </a:path>
                </a:pathLst>
              </a:cu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478084D0-7D34-3948-9174-B6C92C62AC9F}"/>
                </a:ext>
              </a:extLst>
            </p:cNvPr>
            <p:cNvSpPr/>
            <p:nvPr/>
          </p:nvSpPr>
          <p:spPr>
            <a:xfrm>
              <a:off x="1469349" y="5793752"/>
              <a:ext cx="1447800" cy="5048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680DB9C2-ED9C-894D-B132-07521CAA8931}"/>
                </a:ext>
              </a:extLst>
            </p:cNvPr>
            <p:cNvSpPr txBox="1"/>
            <p:nvPr/>
          </p:nvSpPr>
          <p:spPr>
            <a:xfrm>
              <a:off x="584720" y="5091380"/>
              <a:ext cx="4058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dirty="0"/>
                <a:t>v0</a:t>
              </a: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6B2CCE40-D84A-4942-B98B-C533D2166CF3}"/>
                </a:ext>
              </a:extLst>
            </p:cNvPr>
            <p:cNvSpPr/>
            <p:nvPr/>
          </p:nvSpPr>
          <p:spPr>
            <a:xfrm>
              <a:off x="1015366" y="5214133"/>
              <a:ext cx="123825" cy="1238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1BA0BD01-4F28-CD4B-A59D-B77229BD35F5}"/>
                </a:ext>
              </a:extLst>
            </p:cNvPr>
            <p:cNvSpPr txBox="1"/>
            <p:nvPr/>
          </p:nvSpPr>
          <p:spPr>
            <a:xfrm>
              <a:off x="1764703" y="5879068"/>
              <a:ext cx="5212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dirty="0"/>
                <a:t>v1’’</a:t>
              </a:r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7F3F82CA-0C9F-354A-96E2-0C807D5A7713}"/>
                </a:ext>
              </a:extLst>
            </p:cNvPr>
            <p:cNvSpPr/>
            <p:nvPr/>
          </p:nvSpPr>
          <p:spPr>
            <a:xfrm>
              <a:off x="2155609" y="5722508"/>
              <a:ext cx="123825" cy="1238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11ED9338-97C9-2143-B24E-1C28748E4789}"/>
                </a:ext>
              </a:extLst>
            </p:cNvPr>
            <p:cNvSpPr/>
            <p:nvPr/>
          </p:nvSpPr>
          <p:spPr>
            <a:xfrm>
              <a:off x="2635853" y="4172695"/>
              <a:ext cx="1447800" cy="1981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CF45BF31-C723-484F-A2CA-AE01FB3D7B7B}"/>
                </a:ext>
              </a:extLst>
            </p:cNvPr>
            <p:cNvSpPr txBox="1"/>
            <p:nvPr/>
          </p:nvSpPr>
          <p:spPr>
            <a:xfrm>
              <a:off x="2651624" y="5264296"/>
              <a:ext cx="4571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dirty="0"/>
                <a:t>v2'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F4A82AF6-704C-0247-9DEA-860DC5770529}"/>
                </a:ext>
              </a:extLst>
            </p:cNvPr>
            <p:cNvSpPr txBox="1"/>
            <p:nvPr/>
          </p:nvSpPr>
          <p:spPr>
            <a:xfrm>
              <a:off x="2635853" y="5607021"/>
              <a:ext cx="5212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dirty="0"/>
                <a:t>v2’’</a:t>
              </a:r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14BEE303-F45F-6141-94F8-1A1ACA3C5512}"/>
                </a:ext>
              </a:extLst>
            </p:cNvPr>
            <p:cNvSpPr/>
            <p:nvPr/>
          </p:nvSpPr>
          <p:spPr>
            <a:xfrm>
              <a:off x="2532671" y="5714688"/>
              <a:ext cx="123825" cy="1238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31285B74-95C2-AE41-9B8E-3840917BE7FA}"/>
                </a:ext>
              </a:extLst>
            </p:cNvPr>
            <p:cNvSpPr/>
            <p:nvPr/>
          </p:nvSpPr>
          <p:spPr>
            <a:xfrm>
              <a:off x="2523799" y="5405758"/>
              <a:ext cx="123825" cy="1238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8C839FA7-B9E1-AB4D-8351-F2AB22137A1B}"/>
                </a:ext>
              </a:extLst>
            </p:cNvPr>
            <p:cNvSpPr/>
            <p:nvPr/>
          </p:nvSpPr>
          <p:spPr>
            <a:xfrm>
              <a:off x="2314575" y="5105400"/>
              <a:ext cx="123825" cy="1238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BD7E42D7-9F96-EB47-B13A-87F57976DB5F}"/>
                </a:ext>
              </a:extLst>
            </p:cNvPr>
            <p:cNvSpPr txBox="1"/>
            <p:nvPr/>
          </p:nvSpPr>
          <p:spPr>
            <a:xfrm>
              <a:off x="2384167" y="4958430"/>
              <a:ext cx="4058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dirty="0"/>
                <a:t>v2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20A7E456-DB80-D34B-A23A-AD3DBBF444D1}"/>
                </a:ext>
              </a:extLst>
            </p:cNvPr>
            <p:cNvSpPr txBox="1"/>
            <p:nvPr/>
          </p:nvSpPr>
          <p:spPr>
            <a:xfrm>
              <a:off x="2649128" y="4697902"/>
              <a:ext cx="4635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</a:t>
              </a:r>
              <a:r>
                <a:rPr lang="en-TR" dirty="0"/>
                <a:t>3’</a:t>
              </a:r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64A6C72E-0815-4B45-AD1A-81BF5E0D19E1}"/>
                </a:ext>
              </a:extLst>
            </p:cNvPr>
            <p:cNvSpPr/>
            <p:nvPr/>
          </p:nvSpPr>
          <p:spPr>
            <a:xfrm>
              <a:off x="2521853" y="4827145"/>
              <a:ext cx="123825" cy="1238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E39906C9-D146-404F-ABE8-3B9A8B472A12}"/>
                </a:ext>
              </a:extLst>
            </p:cNvPr>
            <p:cNvSpPr txBox="1"/>
            <p:nvPr/>
          </p:nvSpPr>
          <p:spPr>
            <a:xfrm>
              <a:off x="2155918" y="4232852"/>
              <a:ext cx="4571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dirty="0"/>
                <a:t>v0'</a:t>
              </a:r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B494791A-D24C-2C40-A3D8-077E3349B315}"/>
                </a:ext>
              </a:extLst>
            </p:cNvPr>
            <p:cNvSpPr/>
            <p:nvPr/>
          </p:nvSpPr>
          <p:spPr>
            <a:xfrm>
              <a:off x="2503369" y="4463634"/>
              <a:ext cx="123825" cy="1238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F5C271F-BDB5-1A4C-81D6-F92303C55865}"/>
              </a:ext>
            </a:extLst>
          </p:cNvPr>
          <p:cNvGrpSpPr/>
          <p:nvPr/>
        </p:nvGrpSpPr>
        <p:grpSpPr>
          <a:xfrm>
            <a:off x="1295400" y="4191000"/>
            <a:ext cx="3328313" cy="2124075"/>
            <a:chOff x="1295400" y="4191000"/>
            <a:chExt cx="3328313" cy="212407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D391BFF5-196A-C24F-B40D-CDDE5550E500}"/>
                </a:ext>
              </a:extLst>
            </p:cNvPr>
            <p:cNvGrpSpPr/>
            <p:nvPr/>
          </p:nvGrpSpPr>
          <p:grpSpPr>
            <a:xfrm>
              <a:off x="2329494" y="4191000"/>
              <a:ext cx="2294219" cy="2124075"/>
              <a:chOff x="4343400" y="4108283"/>
              <a:chExt cx="2294219" cy="2124075"/>
            </a:xfrm>
          </p:grpSpPr>
          <p:grpSp>
            <p:nvGrpSpPr>
              <p:cNvPr id="46" name="Group 38">
                <a:extLst>
                  <a:ext uri="{FF2B5EF4-FFF2-40B4-BE49-F238E27FC236}">
                    <a16:creationId xmlns:a16="http://schemas.microsoft.com/office/drawing/2014/main" id="{3DD53509-0897-4B48-A35D-BB7730AED865}"/>
                  </a:ext>
                </a:extLst>
              </p:cNvPr>
              <p:cNvGrpSpPr/>
              <p:nvPr/>
            </p:nvGrpSpPr>
            <p:grpSpPr>
              <a:xfrm>
                <a:off x="4343400" y="4165433"/>
                <a:ext cx="2066925" cy="1866900"/>
                <a:chOff x="1371600" y="3714750"/>
                <a:chExt cx="2066925" cy="1866900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03BB502A-8ECB-0D4F-9D55-67B354D838AB}"/>
                    </a:ext>
                  </a:extLst>
                </p:cNvPr>
                <p:cNvSpPr/>
                <p:nvPr/>
              </p:nvSpPr>
              <p:spPr>
                <a:xfrm>
                  <a:off x="1819275" y="4191000"/>
                  <a:ext cx="1066800" cy="106680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8" name="Freeform 47">
                  <a:extLst>
                    <a:ext uri="{FF2B5EF4-FFF2-40B4-BE49-F238E27FC236}">
                      <a16:creationId xmlns:a16="http://schemas.microsoft.com/office/drawing/2014/main" id="{144495E6-D771-8943-873A-825127DDA614}"/>
                    </a:ext>
                  </a:extLst>
                </p:cNvPr>
                <p:cNvSpPr/>
                <p:nvPr/>
              </p:nvSpPr>
              <p:spPr>
                <a:xfrm>
                  <a:off x="1371600" y="3714750"/>
                  <a:ext cx="2066925" cy="1866900"/>
                </a:xfrm>
                <a:custGeom>
                  <a:avLst/>
                  <a:gdLst>
                    <a:gd name="connsiteX0" fmla="*/ 0 w 2066925"/>
                    <a:gd name="connsiteY0" fmla="*/ 1038225 h 1866900"/>
                    <a:gd name="connsiteX1" fmla="*/ 2066925 w 2066925"/>
                    <a:gd name="connsiteY1" fmla="*/ 0 h 1866900"/>
                    <a:gd name="connsiteX2" fmla="*/ 1285875 w 2066925"/>
                    <a:gd name="connsiteY2" fmla="*/ 914400 h 1866900"/>
                    <a:gd name="connsiteX3" fmla="*/ 1857375 w 2066925"/>
                    <a:gd name="connsiteY3" fmla="*/ 1866900 h 1866900"/>
                    <a:gd name="connsiteX4" fmla="*/ 0 w 2066925"/>
                    <a:gd name="connsiteY4" fmla="*/ 1038225 h 18669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66925" h="1866900">
                      <a:moveTo>
                        <a:pt x="0" y="1038225"/>
                      </a:moveTo>
                      <a:lnTo>
                        <a:pt x="2066925" y="0"/>
                      </a:lnTo>
                      <a:lnTo>
                        <a:pt x="1285875" y="914400"/>
                      </a:lnTo>
                      <a:lnTo>
                        <a:pt x="1857375" y="1866900"/>
                      </a:lnTo>
                      <a:lnTo>
                        <a:pt x="0" y="1038225"/>
                      </a:lnTo>
                      <a:close/>
                    </a:path>
                  </a:pathLst>
                </a:cu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1D4203A7-5DD2-E54F-BE51-CAE6342C918F}"/>
                  </a:ext>
                </a:extLst>
              </p:cNvPr>
              <p:cNvSpPr/>
              <p:nvPr/>
            </p:nvSpPr>
            <p:spPr>
              <a:xfrm>
                <a:off x="5876925" y="4108283"/>
                <a:ext cx="760694" cy="1981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31FC5461-D899-9344-B1F2-311C66E111B1}"/>
                  </a:ext>
                </a:extLst>
              </p:cNvPr>
              <p:cNvSpPr/>
              <p:nvPr/>
            </p:nvSpPr>
            <p:spPr>
              <a:xfrm>
                <a:off x="4724400" y="5727533"/>
                <a:ext cx="1447800" cy="50482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79F5D528-7C2C-644A-9A0D-E5774C8F09FD}"/>
                  </a:ext>
                </a:extLst>
              </p:cNvPr>
              <p:cNvCxnSpPr/>
              <p:nvPr/>
            </p:nvCxnSpPr>
            <p:spPr>
              <a:xfrm>
                <a:off x="4776156" y="4245400"/>
                <a:ext cx="0" cy="177704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E252ECEE-CBB8-9841-8885-FA0A1D4D9F9D}"/>
                </a:ext>
              </a:extLst>
            </p:cNvPr>
            <p:cNvSpPr/>
            <p:nvPr/>
          </p:nvSpPr>
          <p:spPr>
            <a:xfrm>
              <a:off x="1295400" y="4248150"/>
              <a:ext cx="1447800" cy="1981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EBB8FD9D-89A6-D44D-A0BB-8B598CC167B9}"/>
                </a:ext>
              </a:extLst>
            </p:cNvPr>
            <p:cNvSpPr txBox="1"/>
            <p:nvPr/>
          </p:nvSpPr>
          <p:spPr>
            <a:xfrm>
              <a:off x="2185565" y="5348505"/>
              <a:ext cx="5790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dirty="0"/>
                <a:t>v1’’’</a:t>
              </a:r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0CEAAC94-C814-CC48-B6EE-70232C5A7934}"/>
                </a:ext>
              </a:extLst>
            </p:cNvPr>
            <p:cNvSpPr/>
            <p:nvPr/>
          </p:nvSpPr>
          <p:spPr>
            <a:xfrm>
              <a:off x="2700337" y="5410200"/>
              <a:ext cx="123825" cy="1238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A399BA4B-89D2-B448-B0FE-4C26B55601C8}"/>
                </a:ext>
              </a:extLst>
            </p:cNvPr>
            <p:cNvSpPr txBox="1"/>
            <p:nvPr/>
          </p:nvSpPr>
          <p:spPr>
            <a:xfrm>
              <a:off x="3140286" y="5778347"/>
              <a:ext cx="5212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dirty="0"/>
                <a:t>v1’’</a:t>
              </a: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E91E0B03-CC2A-774F-A72A-E68F1F2CA62D}"/>
                </a:ext>
              </a:extLst>
            </p:cNvPr>
            <p:cNvSpPr/>
            <p:nvPr/>
          </p:nvSpPr>
          <p:spPr>
            <a:xfrm>
              <a:off x="3396294" y="5728647"/>
              <a:ext cx="123825" cy="1238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15674536-9679-8A44-8F75-1E55758C3953}"/>
                </a:ext>
              </a:extLst>
            </p:cNvPr>
            <p:cNvSpPr txBox="1"/>
            <p:nvPr/>
          </p:nvSpPr>
          <p:spPr>
            <a:xfrm>
              <a:off x="3716670" y="5762033"/>
              <a:ext cx="5212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dirty="0"/>
                <a:t>v2’’</a:t>
              </a: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6AE19070-30DE-184F-9E34-3493626044C1}"/>
                </a:ext>
              </a:extLst>
            </p:cNvPr>
            <p:cNvSpPr/>
            <p:nvPr/>
          </p:nvSpPr>
          <p:spPr>
            <a:xfrm>
              <a:off x="3782055" y="5715000"/>
              <a:ext cx="123825" cy="1238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10F70253-5F26-6646-9CD6-9247C8DDC9FB}"/>
                </a:ext>
              </a:extLst>
            </p:cNvPr>
            <p:cNvSpPr txBox="1"/>
            <p:nvPr/>
          </p:nvSpPr>
          <p:spPr>
            <a:xfrm>
              <a:off x="3940341" y="5335551"/>
              <a:ext cx="4635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dirty="0"/>
                <a:t>v2’</a:t>
              </a: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68B12979-20A0-BD48-8B28-4C66B827B27D}"/>
                </a:ext>
              </a:extLst>
            </p:cNvPr>
            <p:cNvSpPr/>
            <p:nvPr/>
          </p:nvSpPr>
          <p:spPr>
            <a:xfrm>
              <a:off x="3776034" y="5453062"/>
              <a:ext cx="123825" cy="1238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B646AEB8-7E72-7844-BC81-4752CB3C1CAA}"/>
                </a:ext>
              </a:extLst>
            </p:cNvPr>
            <p:cNvSpPr txBox="1"/>
            <p:nvPr/>
          </p:nvSpPr>
          <p:spPr>
            <a:xfrm>
              <a:off x="3613713" y="5008010"/>
              <a:ext cx="4058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dirty="0"/>
                <a:t>v2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231B8683-08F5-F94A-8807-A11F4BE91643}"/>
                </a:ext>
              </a:extLst>
            </p:cNvPr>
            <p:cNvSpPr/>
            <p:nvPr/>
          </p:nvSpPr>
          <p:spPr>
            <a:xfrm>
              <a:off x="3551800" y="5092814"/>
              <a:ext cx="123825" cy="1238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0CC73A7C-C555-A148-AE92-20D2513520B8}"/>
                </a:ext>
              </a:extLst>
            </p:cNvPr>
            <p:cNvSpPr txBox="1"/>
            <p:nvPr/>
          </p:nvSpPr>
          <p:spPr>
            <a:xfrm>
              <a:off x="3842465" y="4724400"/>
              <a:ext cx="4571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dirty="0"/>
                <a:t>v3'</a:t>
              </a:r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C898613C-3A34-AE48-8479-93C2B66DE6C2}"/>
                </a:ext>
              </a:extLst>
            </p:cNvPr>
            <p:cNvSpPr/>
            <p:nvPr/>
          </p:nvSpPr>
          <p:spPr>
            <a:xfrm>
              <a:off x="3785812" y="4843350"/>
              <a:ext cx="123825" cy="1238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B2A21389-A612-CB40-BE26-780B63EDABF4}"/>
                </a:ext>
              </a:extLst>
            </p:cNvPr>
            <p:cNvSpPr txBox="1"/>
            <p:nvPr/>
          </p:nvSpPr>
          <p:spPr>
            <a:xfrm>
              <a:off x="3838600" y="4273034"/>
              <a:ext cx="4571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dirty="0"/>
                <a:t>v0'</a:t>
              </a:r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A8B19C33-D58B-9F47-A66E-CE9ABA8566EF}"/>
                </a:ext>
              </a:extLst>
            </p:cNvPr>
            <p:cNvSpPr/>
            <p:nvPr/>
          </p:nvSpPr>
          <p:spPr>
            <a:xfrm>
              <a:off x="3760625" y="4462462"/>
              <a:ext cx="123825" cy="1238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C40E4981-835F-C44A-887E-C17DAF14CC8D}"/>
                </a:ext>
              </a:extLst>
            </p:cNvPr>
            <p:cNvSpPr txBox="1"/>
            <p:nvPr/>
          </p:nvSpPr>
          <p:spPr>
            <a:xfrm>
              <a:off x="2118391" y="4873211"/>
              <a:ext cx="5212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dirty="0"/>
                <a:t>v0’’</a:t>
              </a:r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8D54956F-7296-D347-AFD8-215BDE63BF85}"/>
                </a:ext>
              </a:extLst>
            </p:cNvPr>
            <p:cNvSpPr/>
            <p:nvPr/>
          </p:nvSpPr>
          <p:spPr>
            <a:xfrm>
              <a:off x="2697486" y="5005114"/>
              <a:ext cx="123825" cy="1238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</p:grpSp>
    </p:spTree>
    <p:extLst>
      <p:ext uri="{BB962C8B-B14F-4D97-AF65-F5344CB8AC3E}">
        <p14:creationId xmlns:p14="http://schemas.microsoft.com/office/powerpoint/2010/main" val="2478585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741874" y="6441841"/>
            <a:ext cx="2895600" cy="365125"/>
          </a:xfrm>
        </p:spPr>
        <p:txBody>
          <a:bodyPr/>
          <a:lstStyle/>
          <a:p>
            <a:r>
              <a:rPr lang="en-US" dirty="0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62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9CBD90-E47B-614D-9284-8B1DF78687EE}"/>
              </a:ext>
            </a:extLst>
          </p:cNvPr>
          <p:cNvSpPr txBox="1"/>
          <p:nvPr/>
        </p:nvSpPr>
        <p:spPr>
          <a:xfrm>
            <a:off x="3429000" y="1739152"/>
            <a:ext cx="5220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Current vertex list: {v0’’, v1’’’, v1’’, v2’’, v2’, v2, v3’, v0’}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E16565-8382-D045-844D-ECA744BDF5C6}"/>
              </a:ext>
            </a:extLst>
          </p:cNvPr>
          <p:cNvSpPr txBox="1"/>
          <p:nvPr/>
        </p:nvSpPr>
        <p:spPr>
          <a:xfrm>
            <a:off x="4761194" y="2178597"/>
            <a:ext cx="2879314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b="1" dirty="0"/>
              <a:t>Step 4: Top Edge</a:t>
            </a:r>
          </a:p>
          <a:p>
            <a:r>
              <a:rPr lang="en-US" dirty="0"/>
              <a:t>v</a:t>
            </a:r>
            <a:r>
              <a:rPr lang="en-TR" dirty="0"/>
              <a:t>0’’ -&gt; v1’’’: Add v1’’’</a:t>
            </a:r>
          </a:p>
          <a:p>
            <a:r>
              <a:rPr lang="en-US" dirty="0"/>
              <a:t>v</a:t>
            </a:r>
            <a:r>
              <a:rPr lang="en-TR" dirty="0"/>
              <a:t>1’’’ -&gt; v1’’: Add v1’’ </a:t>
            </a:r>
            <a:endParaRPr lang="en-US" dirty="0"/>
          </a:p>
          <a:p>
            <a:r>
              <a:rPr lang="en-US" dirty="0"/>
              <a:t>v</a:t>
            </a:r>
            <a:r>
              <a:rPr lang="en-TR" dirty="0"/>
              <a:t>1’’ -&gt; v2’’: Add v2’’</a:t>
            </a:r>
          </a:p>
          <a:p>
            <a:r>
              <a:rPr lang="en-US" dirty="0"/>
              <a:t>v</a:t>
            </a:r>
            <a:r>
              <a:rPr lang="en-TR" dirty="0"/>
              <a:t>2’’ -&gt; v2’: Add v2’</a:t>
            </a:r>
          </a:p>
          <a:p>
            <a:r>
              <a:rPr lang="en-US" dirty="0"/>
              <a:t>v</a:t>
            </a:r>
            <a:r>
              <a:rPr lang="en-TR" dirty="0"/>
              <a:t>2’ -&gt; v2: Add v2</a:t>
            </a:r>
          </a:p>
          <a:p>
            <a:r>
              <a:rPr lang="en-TR" dirty="0"/>
              <a:t>v2 -&gt; v3’: Add v3’</a:t>
            </a:r>
          </a:p>
          <a:p>
            <a:r>
              <a:rPr lang="en-TR" dirty="0"/>
              <a:t>v3’ -&gt; v0’: Add v0’’’</a:t>
            </a:r>
          </a:p>
          <a:p>
            <a:r>
              <a:rPr lang="en-US" dirty="0"/>
              <a:t>v0’ -&gt; v0’’: Add v0’’’’ and v0’’</a:t>
            </a:r>
            <a:endParaRPr lang="en-TR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F5C271F-BDB5-1A4C-81D6-F92303C55865}"/>
              </a:ext>
            </a:extLst>
          </p:cNvPr>
          <p:cNvGrpSpPr/>
          <p:nvPr/>
        </p:nvGrpSpPr>
        <p:grpSpPr>
          <a:xfrm>
            <a:off x="416312" y="1600200"/>
            <a:ext cx="2718629" cy="2124075"/>
            <a:chOff x="1905084" y="4191000"/>
            <a:chExt cx="2718629" cy="212407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D391BFF5-196A-C24F-B40D-CDDE5550E500}"/>
                </a:ext>
              </a:extLst>
            </p:cNvPr>
            <p:cNvGrpSpPr/>
            <p:nvPr/>
          </p:nvGrpSpPr>
          <p:grpSpPr>
            <a:xfrm>
              <a:off x="2329494" y="4191000"/>
              <a:ext cx="2294219" cy="2124075"/>
              <a:chOff x="4343400" y="4108283"/>
              <a:chExt cx="2294219" cy="2124075"/>
            </a:xfrm>
          </p:grpSpPr>
          <p:grpSp>
            <p:nvGrpSpPr>
              <p:cNvPr id="46" name="Group 38">
                <a:extLst>
                  <a:ext uri="{FF2B5EF4-FFF2-40B4-BE49-F238E27FC236}">
                    <a16:creationId xmlns:a16="http://schemas.microsoft.com/office/drawing/2014/main" id="{3DD53509-0897-4B48-A35D-BB7730AED865}"/>
                  </a:ext>
                </a:extLst>
              </p:cNvPr>
              <p:cNvGrpSpPr/>
              <p:nvPr/>
            </p:nvGrpSpPr>
            <p:grpSpPr>
              <a:xfrm>
                <a:off x="4343400" y="4165433"/>
                <a:ext cx="2066925" cy="1866900"/>
                <a:chOff x="1371600" y="3714750"/>
                <a:chExt cx="2066925" cy="1866900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03BB502A-8ECB-0D4F-9D55-67B354D838AB}"/>
                    </a:ext>
                  </a:extLst>
                </p:cNvPr>
                <p:cNvSpPr/>
                <p:nvPr/>
              </p:nvSpPr>
              <p:spPr>
                <a:xfrm>
                  <a:off x="1819275" y="4191000"/>
                  <a:ext cx="1066800" cy="106680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8" name="Freeform 47">
                  <a:extLst>
                    <a:ext uri="{FF2B5EF4-FFF2-40B4-BE49-F238E27FC236}">
                      <a16:creationId xmlns:a16="http://schemas.microsoft.com/office/drawing/2014/main" id="{144495E6-D771-8943-873A-825127DDA614}"/>
                    </a:ext>
                  </a:extLst>
                </p:cNvPr>
                <p:cNvSpPr/>
                <p:nvPr/>
              </p:nvSpPr>
              <p:spPr>
                <a:xfrm>
                  <a:off x="1371600" y="3714750"/>
                  <a:ext cx="2066925" cy="1866900"/>
                </a:xfrm>
                <a:custGeom>
                  <a:avLst/>
                  <a:gdLst>
                    <a:gd name="connsiteX0" fmla="*/ 0 w 2066925"/>
                    <a:gd name="connsiteY0" fmla="*/ 1038225 h 1866900"/>
                    <a:gd name="connsiteX1" fmla="*/ 2066925 w 2066925"/>
                    <a:gd name="connsiteY1" fmla="*/ 0 h 1866900"/>
                    <a:gd name="connsiteX2" fmla="*/ 1285875 w 2066925"/>
                    <a:gd name="connsiteY2" fmla="*/ 914400 h 1866900"/>
                    <a:gd name="connsiteX3" fmla="*/ 1857375 w 2066925"/>
                    <a:gd name="connsiteY3" fmla="*/ 1866900 h 1866900"/>
                    <a:gd name="connsiteX4" fmla="*/ 0 w 2066925"/>
                    <a:gd name="connsiteY4" fmla="*/ 1038225 h 18669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66925" h="1866900">
                      <a:moveTo>
                        <a:pt x="0" y="1038225"/>
                      </a:moveTo>
                      <a:lnTo>
                        <a:pt x="2066925" y="0"/>
                      </a:lnTo>
                      <a:lnTo>
                        <a:pt x="1285875" y="914400"/>
                      </a:lnTo>
                      <a:lnTo>
                        <a:pt x="1857375" y="1866900"/>
                      </a:lnTo>
                      <a:lnTo>
                        <a:pt x="0" y="1038225"/>
                      </a:lnTo>
                      <a:close/>
                    </a:path>
                  </a:pathLst>
                </a:cu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1D4203A7-5DD2-E54F-BE51-CAE6342C918F}"/>
                  </a:ext>
                </a:extLst>
              </p:cNvPr>
              <p:cNvSpPr/>
              <p:nvPr/>
            </p:nvSpPr>
            <p:spPr>
              <a:xfrm>
                <a:off x="5876925" y="4108283"/>
                <a:ext cx="760694" cy="1981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31FC5461-D899-9344-B1F2-311C66E111B1}"/>
                  </a:ext>
                </a:extLst>
              </p:cNvPr>
              <p:cNvSpPr/>
              <p:nvPr/>
            </p:nvSpPr>
            <p:spPr>
              <a:xfrm>
                <a:off x="4724400" y="5727533"/>
                <a:ext cx="1447800" cy="50482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E252ECEE-CBB8-9841-8885-FA0A1D4D9F9D}"/>
                </a:ext>
              </a:extLst>
            </p:cNvPr>
            <p:cNvSpPr/>
            <p:nvPr/>
          </p:nvSpPr>
          <p:spPr>
            <a:xfrm>
              <a:off x="1905084" y="4248150"/>
              <a:ext cx="838116" cy="1981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EBB8FD9D-89A6-D44D-A0BB-8B598CC167B9}"/>
                </a:ext>
              </a:extLst>
            </p:cNvPr>
            <p:cNvSpPr txBox="1"/>
            <p:nvPr/>
          </p:nvSpPr>
          <p:spPr>
            <a:xfrm>
              <a:off x="2185565" y="5348505"/>
              <a:ext cx="5790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dirty="0"/>
                <a:t>v1’’’</a:t>
              </a:r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0CEAAC94-C814-CC48-B6EE-70232C5A7934}"/>
                </a:ext>
              </a:extLst>
            </p:cNvPr>
            <p:cNvSpPr/>
            <p:nvPr/>
          </p:nvSpPr>
          <p:spPr>
            <a:xfrm>
              <a:off x="2700337" y="5410200"/>
              <a:ext cx="123825" cy="1238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A399BA4B-89D2-B448-B0FE-4C26B55601C8}"/>
                </a:ext>
              </a:extLst>
            </p:cNvPr>
            <p:cNvSpPr txBox="1"/>
            <p:nvPr/>
          </p:nvSpPr>
          <p:spPr>
            <a:xfrm>
              <a:off x="3140286" y="5778347"/>
              <a:ext cx="5212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dirty="0"/>
                <a:t>v1’’</a:t>
              </a: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E91E0B03-CC2A-774F-A72A-E68F1F2CA62D}"/>
                </a:ext>
              </a:extLst>
            </p:cNvPr>
            <p:cNvSpPr/>
            <p:nvPr/>
          </p:nvSpPr>
          <p:spPr>
            <a:xfrm>
              <a:off x="3396294" y="5728647"/>
              <a:ext cx="123825" cy="1238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15674536-9679-8A44-8F75-1E55758C3953}"/>
                </a:ext>
              </a:extLst>
            </p:cNvPr>
            <p:cNvSpPr txBox="1"/>
            <p:nvPr/>
          </p:nvSpPr>
          <p:spPr>
            <a:xfrm>
              <a:off x="3716670" y="5762033"/>
              <a:ext cx="5212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dirty="0"/>
                <a:t>v2’’</a:t>
              </a: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6AE19070-30DE-184F-9E34-3493626044C1}"/>
                </a:ext>
              </a:extLst>
            </p:cNvPr>
            <p:cNvSpPr/>
            <p:nvPr/>
          </p:nvSpPr>
          <p:spPr>
            <a:xfrm>
              <a:off x="3782055" y="5715000"/>
              <a:ext cx="123825" cy="1238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10F70253-5F26-6646-9CD6-9247C8DDC9FB}"/>
                </a:ext>
              </a:extLst>
            </p:cNvPr>
            <p:cNvSpPr txBox="1"/>
            <p:nvPr/>
          </p:nvSpPr>
          <p:spPr>
            <a:xfrm>
              <a:off x="3940341" y="5335551"/>
              <a:ext cx="4635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dirty="0"/>
                <a:t>v2’</a:t>
              </a: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68B12979-20A0-BD48-8B28-4C66B827B27D}"/>
                </a:ext>
              </a:extLst>
            </p:cNvPr>
            <p:cNvSpPr/>
            <p:nvPr/>
          </p:nvSpPr>
          <p:spPr>
            <a:xfrm>
              <a:off x="3776034" y="5453062"/>
              <a:ext cx="123825" cy="1238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B646AEB8-7E72-7844-BC81-4752CB3C1CAA}"/>
                </a:ext>
              </a:extLst>
            </p:cNvPr>
            <p:cNvSpPr txBox="1"/>
            <p:nvPr/>
          </p:nvSpPr>
          <p:spPr>
            <a:xfrm>
              <a:off x="3613713" y="5008010"/>
              <a:ext cx="4058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dirty="0"/>
                <a:t>v2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231B8683-08F5-F94A-8807-A11F4BE91643}"/>
                </a:ext>
              </a:extLst>
            </p:cNvPr>
            <p:cNvSpPr/>
            <p:nvPr/>
          </p:nvSpPr>
          <p:spPr>
            <a:xfrm>
              <a:off x="3551800" y="5092814"/>
              <a:ext cx="123825" cy="1238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0CC73A7C-C555-A148-AE92-20D2513520B8}"/>
                </a:ext>
              </a:extLst>
            </p:cNvPr>
            <p:cNvSpPr txBox="1"/>
            <p:nvPr/>
          </p:nvSpPr>
          <p:spPr>
            <a:xfrm>
              <a:off x="3842465" y="4724400"/>
              <a:ext cx="4571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dirty="0"/>
                <a:t>v3'</a:t>
              </a:r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C898613C-3A34-AE48-8479-93C2B66DE6C2}"/>
                </a:ext>
              </a:extLst>
            </p:cNvPr>
            <p:cNvSpPr/>
            <p:nvPr/>
          </p:nvSpPr>
          <p:spPr>
            <a:xfrm>
              <a:off x="3785812" y="4843350"/>
              <a:ext cx="123825" cy="1238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B2A21389-A612-CB40-BE26-780B63EDABF4}"/>
                </a:ext>
              </a:extLst>
            </p:cNvPr>
            <p:cNvSpPr txBox="1"/>
            <p:nvPr/>
          </p:nvSpPr>
          <p:spPr>
            <a:xfrm>
              <a:off x="3838600" y="4273034"/>
              <a:ext cx="4571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dirty="0"/>
                <a:t>v0'</a:t>
              </a:r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A8B19C33-D58B-9F47-A66E-CE9ABA8566EF}"/>
                </a:ext>
              </a:extLst>
            </p:cNvPr>
            <p:cNvSpPr/>
            <p:nvPr/>
          </p:nvSpPr>
          <p:spPr>
            <a:xfrm>
              <a:off x="3760625" y="4462462"/>
              <a:ext cx="123825" cy="1238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C40E4981-835F-C44A-887E-C17DAF14CC8D}"/>
                </a:ext>
              </a:extLst>
            </p:cNvPr>
            <p:cNvSpPr txBox="1"/>
            <p:nvPr/>
          </p:nvSpPr>
          <p:spPr>
            <a:xfrm>
              <a:off x="2118391" y="4873211"/>
              <a:ext cx="5212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dirty="0"/>
                <a:t>v0’’</a:t>
              </a:r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8D54956F-7296-D347-AFD8-215BDE63BF85}"/>
                </a:ext>
              </a:extLst>
            </p:cNvPr>
            <p:cNvSpPr/>
            <p:nvPr/>
          </p:nvSpPr>
          <p:spPr>
            <a:xfrm>
              <a:off x="2697486" y="5005114"/>
              <a:ext cx="123825" cy="1238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32BF911-9E0E-3241-B285-03B0C3B41094}"/>
              </a:ext>
            </a:extLst>
          </p:cNvPr>
          <p:cNvGrpSpPr/>
          <p:nvPr/>
        </p:nvGrpSpPr>
        <p:grpSpPr>
          <a:xfrm>
            <a:off x="1058738" y="4114800"/>
            <a:ext cx="3304219" cy="2124075"/>
            <a:chOff x="1058738" y="4114800"/>
            <a:chExt cx="3304219" cy="2124075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BB6C01AD-92E4-0F40-99D3-82057B744DE7}"/>
                </a:ext>
              </a:extLst>
            </p:cNvPr>
            <p:cNvGrpSpPr/>
            <p:nvPr/>
          </p:nvGrpSpPr>
          <p:grpSpPr>
            <a:xfrm>
              <a:off x="1058738" y="4114800"/>
              <a:ext cx="3304219" cy="2124075"/>
              <a:chOff x="1058738" y="4114800"/>
              <a:chExt cx="3304219" cy="2124075"/>
            </a:xfrm>
          </p:grpSpPr>
          <p:grpSp>
            <p:nvGrpSpPr>
              <p:cNvPr id="52" name="Group 38">
                <a:extLst>
                  <a:ext uri="{FF2B5EF4-FFF2-40B4-BE49-F238E27FC236}">
                    <a16:creationId xmlns:a16="http://schemas.microsoft.com/office/drawing/2014/main" id="{9C04FA47-DBAB-C849-91DD-39AFECAEDDE2}"/>
                  </a:ext>
                </a:extLst>
              </p:cNvPr>
              <p:cNvGrpSpPr/>
              <p:nvPr/>
            </p:nvGrpSpPr>
            <p:grpSpPr>
              <a:xfrm>
                <a:off x="1381632" y="4171950"/>
                <a:ext cx="2066925" cy="1866900"/>
                <a:chOff x="1371600" y="3714750"/>
                <a:chExt cx="2066925" cy="1866900"/>
              </a:xfrm>
            </p:grpSpPr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2799EFB3-93E1-1A45-A9B3-93C9277A2571}"/>
                    </a:ext>
                  </a:extLst>
                </p:cNvPr>
                <p:cNvSpPr/>
                <p:nvPr/>
              </p:nvSpPr>
              <p:spPr>
                <a:xfrm>
                  <a:off x="1819275" y="4191000"/>
                  <a:ext cx="1066800" cy="106680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Freeform 54">
                  <a:extLst>
                    <a:ext uri="{FF2B5EF4-FFF2-40B4-BE49-F238E27FC236}">
                      <a16:creationId xmlns:a16="http://schemas.microsoft.com/office/drawing/2014/main" id="{FBDA0052-92D7-CD4B-8DE8-42CFBF038987}"/>
                    </a:ext>
                  </a:extLst>
                </p:cNvPr>
                <p:cNvSpPr/>
                <p:nvPr/>
              </p:nvSpPr>
              <p:spPr>
                <a:xfrm>
                  <a:off x="1371600" y="3714750"/>
                  <a:ext cx="2066925" cy="1866900"/>
                </a:xfrm>
                <a:custGeom>
                  <a:avLst/>
                  <a:gdLst>
                    <a:gd name="connsiteX0" fmla="*/ 0 w 2066925"/>
                    <a:gd name="connsiteY0" fmla="*/ 1038225 h 1866900"/>
                    <a:gd name="connsiteX1" fmla="*/ 2066925 w 2066925"/>
                    <a:gd name="connsiteY1" fmla="*/ 0 h 1866900"/>
                    <a:gd name="connsiteX2" fmla="*/ 1285875 w 2066925"/>
                    <a:gd name="connsiteY2" fmla="*/ 914400 h 1866900"/>
                    <a:gd name="connsiteX3" fmla="*/ 1857375 w 2066925"/>
                    <a:gd name="connsiteY3" fmla="*/ 1866900 h 1866900"/>
                    <a:gd name="connsiteX4" fmla="*/ 0 w 2066925"/>
                    <a:gd name="connsiteY4" fmla="*/ 1038225 h 18669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66925" h="1866900">
                      <a:moveTo>
                        <a:pt x="0" y="1038225"/>
                      </a:moveTo>
                      <a:lnTo>
                        <a:pt x="2066925" y="0"/>
                      </a:lnTo>
                      <a:lnTo>
                        <a:pt x="1285875" y="914400"/>
                      </a:lnTo>
                      <a:lnTo>
                        <a:pt x="1857375" y="1866900"/>
                      </a:lnTo>
                      <a:lnTo>
                        <a:pt x="0" y="1038225"/>
                      </a:lnTo>
                      <a:close/>
                    </a:path>
                  </a:pathLst>
                </a:cu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848B3B34-BA2D-0741-AF0B-16297CD69404}"/>
                  </a:ext>
                </a:extLst>
              </p:cNvPr>
              <p:cNvSpPr/>
              <p:nvPr/>
            </p:nvSpPr>
            <p:spPr>
              <a:xfrm>
                <a:off x="2915157" y="4114800"/>
                <a:ext cx="1447800" cy="1981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E5D37C3A-37B5-934C-A4FB-B046A2F8BBA4}"/>
                  </a:ext>
                </a:extLst>
              </p:cNvPr>
              <p:cNvSpPr/>
              <p:nvPr/>
            </p:nvSpPr>
            <p:spPr>
              <a:xfrm>
                <a:off x="1762632" y="5734050"/>
                <a:ext cx="1447800" cy="50482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5C2DEC1F-1808-1346-9EED-A22F372A7AA2}"/>
                  </a:ext>
                </a:extLst>
              </p:cNvPr>
              <p:cNvSpPr/>
              <p:nvPr/>
            </p:nvSpPr>
            <p:spPr>
              <a:xfrm>
                <a:off x="1058738" y="4426849"/>
                <a:ext cx="752475" cy="1295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5479E12C-A67D-8741-B388-F911409B4614}"/>
                  </a:ext>
                </a:extLst>
              </p:cNvPr>
              <p:cNvSpPr/>
              <p:nvPr/>
            </p:nvSpPr>
            <p:spPr>
              <a:xfrm>
                <a:off x="1830206" y="4172849"/>
                <a:ext cx="17526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211D2014-EFCB-234D-B15D-78CFF02CCBFB}"/>
                  </a:ext>
                </a:extLst>
              </p:cNvPr>
              <p:cNvCxnSpPr/>
              <p:nvPr/>
            </p:nvCxnSpPr>
            <p:spPr>
              <a:xfrm flipH="1">
                <a:off x="1419732" y="4638675"/>
                <a:ext cx="1870496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3265C825-F7DF-8A4C-A116-7E209525D28A}"/>
                </a:ext>
              </a:extLst>
            </p:cNvPr>
            <p:cNvSpPr txBox="1"/>
            <p:nvPr/>
          </p:nvSpPr>
          <p:spPr>
            <a:xfrm>
              <a:off x="1217445" y="5273222"/>
              <a:ext cx="5790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dirty="0"/>
                <a:t>v1’’’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DDB5EA83-FF62-C94A-8141-54AD03BBAAE0}"/>
                </a:ext>
              </a:extLst>
            </p:cNvPr>
            <p:cNvSpPr txBox="1"/>
            <p:nvPr/>
          </p:nvSpPr>
          <p:spPr>
            <a:xfrm>
              <a:off x="2172166" y="5703064"/>
              <a:ext cx="5212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dirty="0"/>
                <a:t>v1’’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C19F513B-0FA1-4441-BAA2-8BD4ED20B864}"/>
                </a:ext>
              </a:extLst>
            </p:cNvPr>
            <p:cNvSpPr txBox="1"/>
            <p:nvPr/>
          </p:nvSpPr>
          <p:spPr>
            <a:xfrm>
              <a:off x="2748550" y="5686750"/>
              <a:ext cx="5212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dirty="0"/>
                <a:t>v2’’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594F6B80-02B5-9B43-9005-5B0E791684D3}"/>
                </a:ext>
              </a:extLst>
            </p:cNvPr>
            <p:cNvSpPr txBox="1"/>
            <p:nvPr/>
          </p:nvSpPr>
          <p:spPr>
            <a:xfrm>
              <a:off x="2972221" y="5260268"/>
              <a:ext cx="4635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dirty="0"/>
                <a:t>v2’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153BA4F2-CDA5-594B-ABDA-62D507506403}"/>
                </a:ext>
              </a:extLst>
            </p:cNvPr>
            <p:cNvSpPr txBox="1"/>
            <p:nvPr/>
          </p:nvSpPr>
          <p:spPr>
            <a:xfrm>
              <a:off x="2645593" y="4932727"/>
              <a:ext cx="4058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dirty="0"/>
                <a:t>v2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46138701-752E-004D-B8B0-74260EA3CF4E}"/>
                </a:ext>
              </a:extLst>
            </p:cNvPr>
            <p:cNvSpPr txBox="1"/>
            <p:nvPr/>
          </p:nvSpPr>
          <p:spPr>
            <a:xfrm>
              <a:off x="2874345" y="4649117"/>
              <a:ext cx="4571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dirty="0"/>
                <a:t>v3'</a:t>
              </a:r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B92CA123-9ACA-9F44-BAD4-08CEA79FFDD0}"/>
                </a:ext>
              </a:extLst>
            </p:cNvPr>
            <p:cNvSpPr/>
            <p:nvPr/>
          </p:nvSpPr>
          <p:spPr>
            <a:xfrm>
              <a:off x="1755612" y="5343828"/>
              <a:ext cx="123825" cy="1238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F040174E-792D-E342-A45B-736DE953D34B}"/>
                </a:ext>
              </a:extLst>
            </p:cNvPr>
            <p:cNvSpPr/>
            <p:nvPr/>
          </p:nvSpPr>
          <p:spPr>
            <a:xfrm>
              <a:off x="2451569" y="5662275"/>
              <a:ext cx="123825" cy="1238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90F3FB25-1FDC-BA4D-9549-656C8ED1B689}"/>
                </a:ext>
              </a:extLst>
            </p:cNvPr>
            <p:cNvSpPr/>
            <p:nvPr/>
          </p:nvSpPr>
          <p:spPr>
            <a:xfrm>
              <a:off x="2837330" y="5648628"/>
              <a:ext cx="123825" cy="1238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80041060-8725-CE46-873B-818CB512F234}"/>
                </a:ext>
              </a:extLst>
            </p:cNvPr>
            <p:cNvSpPr/>
            <p:nvPr/>
          </p:nvSpPr>
          <p:spPr>
            <a:xfrm>
              <a:off x="2827731" y="5388209"/>
              <a:ext cx="123825" cy="1238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F79F8709-9100-DA42-831A-1C0DC6F1CE57}"/>
                </a:ext>
              </a:extLst>
            </p:cNvPr>
            <p:cNvSpPr/>
            <p:nvPr/>
          </p:nvSpPr>
          <p:spPr>
            <a:xfrm>
              <a:off x="2603497" y="5027961"/>
              <a:ext cx="123825" cy="1238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1F0DBD2D-8B12-D543-BADA-99C7FEB6AE31}"/>
                </a:ext>
              </a:extLst>
            </p:cNvPr>
            <p:cNvSpPr/>
            <p:nvPr/>
          </p:nvSpPr>
          <p:spPr>
            <a:xfrm>
              <a:off x="2837509" y="4778497"/>
              <a:ext cx="123825" cy="1238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712E5926-4D05-B948-A321-50F6C62FB8AF}"/>
                </a:ext>
              </a:extLst>
            </p:cNvPr>
            <p:cNvSpPr txBox="1"/>
            <p:nvPr/>
          </p:nvSpPr>
          <p:spPr>
            <a:xfrm>
              <a:off x="2858365" y="4276553"/>
              <a:ext cx="5790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dirty="0"/>
                <a:t>v0’’’</a:t>
              </a:r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66DCA1D4-630C-5B41-BC05-9EE4616DC5B4}"/>
                </a:ext>
              </a:extLst>
            </p:cNvPr>
            <p:cNvSpPr/>
            <p:nvPr/>
          </p:nvSpPr>
          <p:spPr>
            <a:xfrm>
              <a:off x="2837330" y="4583972"/>
              <a:ext cx="123825" cy="1238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71E31F8C-944E-D343-B1CA-B0B1FBA3D288}"/>
                </a:ext>
              </a:extLst>
            </p:cNvPr>
            <p:cNvSpPr/>
            <p:nvPr/>
          </p:nvSpPr>
          <p:spPr>
            <a:xfrm>
              <a:off x="1754005" y="4939130"/>
              <a:ext cx="123825" cy="1238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56C905BF-BE7D-6943-86ED-1D2D8F981737}"/>
                </a:ext>
              </a:extLst>
            </p:cNvPr>
            <p:cNvSpPr txBox="1"/>
            <p:nvPr/>
          </p:nvSpPr>
          <p:spPr>
            <a:xfrm>
              <a:off x="1227810" y="4857289"/>
              <a:ext cx="5212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dirty="0"/>
                <a:t>v0’’</a:t>
              </a:r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E273BBCC-71C3-3A47-94CA-50118D40336D}"/>
                </a:ext>
              </a:extLst>
            </p:cNvPr>
            <p:cNvSpPr/>
            <p:nvPr/>
          </p:nvSpPr>
          <p:spPr>
            <a:xfrm>
              <a:off x="2424619" y="4583971"/>
              <a:ext cx="123825" cy="1238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4D63A8B2-4F21-F348-B469-5C048EB6CE5C}"/>
                </a:ext>
              </a:extLst>
            </p:cNvPr>
            <p:cNvSpPr txBox="1"/>
            <p:nvPr/>
          </p:nvSpPr>
          <p:spPr>
            <a:xfrm>
              <a:off x="2186853" y="4260729"/>
              <a:ext cx="6367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dirty="0"/>
                <a:t>v0’’’’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37161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741874" y="6441841"/>
            <a:ext cx="2895600" cy="365125"/>
          </a:xfrm>
        </p:spPr>
        <p:txBody>
          <a:bodyPr/>
          <a:lstStyle/>
          <a:p>
            <a:r>
              <a:rPr lang="en-US" dirty="0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63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9CBD90-E47B-614D-9284-8B1DF78687EE}"/>
              </a:ext>
            </a:extLst>
          </p:cNvPr>
          <p:cNvSpPr txBox="1"/>
          <p:nvPr/>
        </p:nvSpPr>
        <p:spPr>
          <a:xfrm>
            <a:off x="2019054" y="1524000"/>
            <a:ext cx="5605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Final vertex list: {v0’’, v1’’’, v1’’, v2’’, v2’, v2, v3’, v0’’’, v0’’’’}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32BF911-9E0E-3241-B285-03B0C3B41094}"/>
              </a:ext>
            </a:extLst>
          </p:cNvPr>
          <p:cNvGrpSpPr/>
          <p:nvPr/>
        </p:nvGrpSpPr>
        <p:grpSpPr>
          <a:xfrm>
            <a:off x="3248981" y="1837107"/>
            <a:ext cx="3304219" cy="2124075"/>
            <a:chOff x="1058738" y="4114800"/>
            <a:chExt cx="3304219" cy="2124075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BB6C01AD-92E4-0F40-99D3-82057B744DE7}"/>
                </a:ext>
              </a:extLst>
            </p:cNvPr>
            <p:cNvGrpSpPr/>
            <p:nvPr/>
          </p:nvGrpSpPr>
          <p:grpSpPr>
            <a:xfrm>
              <a:off x="1058738" y="4114800"/>
              <a:ext cx="3304219" cy="2124075"/>
              <a:chOff x="1058738" y="4114800"/>
              <a:chExt cx="3304219" cy="2124075"/>
            </a:xfrm>
          </p:grpSpPr>
          <p:grpSp>
            <p:nvGrpSpPr>
              <p:cNvPr id="52" name="Group 38">
                <a:extLst>
                  <a:ext uri="{FF2B5EF4-FFF2-40B4-BE49-F238E27FC236}">
                    <a16:creationId xmlns:a16="http://schemas.microsoft.com/office/drawing/2014/main" id="{9C04FA47-DBAB-C849-91DD-39AFECAEDDE2}"/>
                  </a:ext>
                </a:extLst>
              </p:cNvPr>
              <p:cNvGrpSpPr/>
              <p:nvPr/>
            </p:nvGrpSpPr>
            <p:grpSpPr>
              <a:xfrm>
                <a:off x="1381632" y="4171950"/>
                <a:ext cx="2066925" cy="1866900"/>
                <a:chOff x="1371600" y="3714750"/>
                <a:chExt cx="2066925" cy="1866900"/>
              </a:xfrm>
            </p:grpSpPr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2799EFB3-93E1-1A45-A9B3-93C9277A2571}"/>
                    </a:ext>
                  </a:extLst>
                </p:cNvPr>
                <p:cNvSpPr/>
                <p:nvPr/>
              </p:nvSpPr>
              <p:spPr>
                <a:xfrm>
                  <a:off x="1819275" y="4191000"/>
                  <a:ext cx="1066800" cy="106680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Freeform 54">
                  <a:extLst>
                    <a:ext uri="{FF2B5EF4-FFF2-40B4-BE49-F238E27FC236}">
                      <a16:creationId xmlns:a16="http://schemas.microsoft.com/office/drawing/2014/main" id="{FBDA0052-92D7-CD4B-8DE8-42CFBF038987}"/>
                    </a:ext>
                  </a:extLst>
                </p:cNvPr>
                <p:cNvSpPr/>
                <p:nvPr/>
              </p:nvSpPr>
              <p:spPr>
                <a:xfrm>
                  <a:off x="1371600" y="3714750"/>
                  <a:ext cx="2066925" cy="1866900"/>
                </a:xfrm>
                <a:custGeom>
                  <a:avLst/>
                  <a:gdLst>
                    <a:gd name="connsiteX0" fmla="*/ 0 w 2066925"/>
                    <a:gd name="connsiteY0" fmla="*/ 1038225 h 1866900"/>
                    <a:gd name="connsiteX1" fmla="*/ 2066925 w 2066925"/>
                    <a:gd name="connsiteY1" fmla="*/ 0 h 1866900"/>
                    <a:gd name="connsiteX2" fmla="*/ 1285875 w 2066925"/>
                    <a:gd name="connsiteY2" fmla="*/ 914400 h 1866900"/>
                    <a:gd name="connsiteX3" fmla="*/ 1857375 w 2066925"/>
                    <a:gd name="connsiteY3" fmla="*/ 1866900 h 1866900"/>
                    <a:gd name="connsiteX4" fmla="*/ 0 w 2066925"/>
                    <a:gd name="connsiteY4" fmla="*/ 1038225 h 18669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66925" h="1866900">
                      <a:moveTo>
                        <a:pt x="0" y="1038225"/>
                      </a:moveTo>
                      <a:lnTo>
                        <a:pt x="2066925" y="0"/>
                      </a:lnTo>
                      <a:lnTo>
                        <a:pt x="1285875" y="914400"/>
                      </a:lnTo>
                      <a:lnTo>
                        <a:pt x="1857375" y="1866900"/>
                      </a:lnTo>
                      <a:lnTo>
                        <a:pt x="0" y="1038225"/>
                      </a:lnTo>
                      <a:close/>
                    </a:path>
                  </a:pathLst>
                </a:cu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848B3B34-BA2D-0741-AF0B-16297CD69404}"/>
                  </a:ext>
                </a:extLst>
              </p:cNvPr>
              <p:cNvSpPr/>
              <p:nvPr/>
            </p:nvSpPr>
            <p:spPr>
              <a:xfrm>
                <a:off x="2915157" y="4114800"/>
                <a:ext cx="1447800" cy="1981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E5D37C3A-37B5-934C-A4FB-B046A2F8BBA4}"/>
                  </a:ext>
                </a:extLst>
              </p:cNvPr>
              <p:cNvSpPr/>
              <p:nvPr/>
            </p:nvSpPr>
            <p:spPr>
              <a:xfrm>
                <a:off x="1762632" y="5734050"/>
                <a:ext cx="1447800" cy="50482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5C2DEC1F-1808-1346-9EED-A22F372A7AA2}"/>
                  </a:ext>
                </a:extLst>
              </p:cNvPr>
              <p:cNvSpPr/>
              <p:nvPr/>
            </p:nvSpPr>
            <p:spPr>
              <a:xfrm>
                <a:off x="1058738" y="4426849"/>
                <a:ext cx="752475" cy="1295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5479E12C-A67D-8741-B388-F911409B4614}"/>
                  </a:ext>
                </a:extLst>
              </p:cNvPr>
              <p:cNvSpPr/>
              <p:nvPr/>
            </p:nvSpPr>
            <p:spPr>
              <a:xfrm>
                <a:off x="1830206" y="4172849"/>
                <a:ext cx="17526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3265C825-F7DF-8A4C-A116-7E209525D28A}"/>
                </a:ext>
              </a:extLst>
            </p:cNvPr>
            <p:cNvSpPr txBox="1"/>
            <p:nvPr/>
          </p:nvSpPr>
          <p:spPr>
            <a:xfrm>
              <a:off x="1217445" y="5273222"/>
              <a:ext cx="5790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dirty="0"/>
                <a:t>v1’’’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DDB5EA83-FF62-C94A-8141-54AD03BBAAE0}"/>
                </a:ext>
              </a:extLst>
            </p:cNvPr>
            <p:cNvSpPr txBox="1"/>
            <p:nvPr/>
          </p:nvSpPr>
          <p:spPr>
            <a:xfrm>
              <a:off x="2172166" y="5703064"/>
              <a:ext cx="5212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dirty="0"/>
                <a:t>v1’’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C19F513B-0FA1-4441-BAA2-8BD4ED20B864}"/>
                </a:ext>
              </a:extLst>
            </p:cNvPr>
            <p:cNvSpPr txBox="1"/>
            <p:nvPr/>
          </p:nvSpPr>
          <p:spPr>
            <a:xfrm>
              <a:off x="2748550" y="5686750"/>
              <a:ext cx="5212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dirty="0"/>
                <a:t>v2’’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594F6B80-02B5-9B43-9005-5B0E791684D3}"/>
                </a:ext>
              </a:extLst>
            </p:cNvPr>
            <p:cNvSpPr txBox="1"/>
            <p:nvPr/>
          </p:nvSpPr>
          <p:spPr>
            <a:xfrm>
              <a:off x="2972221" y="5260268"/>
              <a:ext cx="4635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dirty="0"/>
                <a:t>v2’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153BA4F2-CDA5-594B-ABDA-62D507506403}"/>
                </a:ext>
              </a:extLst>
            </p:cNvPr>
            <p:cNvSpPr txBox="1"/>
            <p:nvPr/>
          </p:nvSpPr>
          <p:spPr>
            <a:xfrm>
              <a:off x="2645593" y="4932727"/>
              <a:ext cx="4058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dirty="0"/>
                <a:t>v2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46138701-752E-004D-B8B0-74260EA3CF4E}"/>
                </a:ext>
              </a:extLst>
            </p:cNvPr>
            <p:cNvSpPr txBox="1"/>
            <p:nvPr/>
          </p:nvSpPr>
          <p:spPr>
            <a:xfrm>
              <a:off x="2874345" y="4649117"/>
              <a:ext cx="4571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dirty="0"/>
                <a:t>v3'</a:t>
              </a:r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B92CA123-9ACA-9F44-BAD4-08CEA79FFDD0}"/>
                </a:ext>
              </a:extLst>
            </p:cNvPr>
            <p:cNvSpPr/>
            <p:nvPr/>
          </p:nvSpPr>
          <p:spPr>
            <a:xfrm>
              <a:off x="1755612" y="5343828"/>
              <a:ext cx="123825" cy="1238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F040174E-792D-E342-A45B-736DE953D34B}"/>
                </a:ext>
              </a:extLst>
            </p:cNvPr>
            <p:cNvSpPr/>
            <p:nvPr/>
          </p:nvSpPr>
          <p:spPr>
            <a:xfrm>
              <a:off x="2451569" y="5662275"/>
              <a:ext cx="123825" cy="1238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90F3FB25-1FDC-BA4D-9549-656C8ED1B689}"/>
                </a:ext>
              </a:extLst>
            </p:cNvPr>
            <p:cNvSpPr/>
            <p:nvPr/>
          </p:nvSpPr>
          <p:spPr>
            <a:xfrm>
              <a:off x="2837330" y="5648628"/>
              <a:ext cx="123825" cy="1238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80041060-8725-CE46-873B-818CB512F234}"/>
                </a:ext>
              </a:extLst>
            </p:cNvPr>
            <p:cNvSpPr/>
            <p:nvPr/>
          </p:nvSpPr>
          <p:spPr>
            <a:xfrm>
              <a:off x="2827731" y="5388209"/>
              <a:ext cx="123825" cy="1238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F79F8709-9100-DA42-831A-1C0DC6F1CE57}"/>
                </a:ext>
              </a:extLst>
            </p:cNvPr>
            <p:cNvSpPr/>
            <p:nvPr/>
          </p:nvSpPr>
          <p:spPr>
            <a:xfrm>
              <a:off x="2603497" y="5027961"/>
              <a:ext cx="123825" cy="1238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1F0DBD2D-8B12-D543-BADA-99C7FEB6AE31}"/>
                </a:ext>
              </a:extLst>
            </p:cNvPr>
            <p:cNvSpPr/>
            <p:nvPr/>
          </p:nvSpPr>
          <p:spPr>
            <a:xfrm>
              <a:off x="2837509" y="4778497"/>
              <a:ext cx="123825" cy="1238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712E5926-4D05-B948-A321-50F6C62FB8AF}"/>
                </a:ext>
              </a:extLst>
            </p:cNvPr>
            <p:cNvSpPr txBox="1"/>
            <p:nvPr/>
          </p:nvSpPr>
          <p:spPr>
            <a:xfrm>
              <a:off x="2858365" y="4276553"/>
              <a:ext cx="5790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dirty="0"/>
                <a:t>v0’’’</a:t>
              </a:r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66DCA1D4-630C-5B41-BC05-9EE4616DC5B4}"/>
                </a:ext>
              </a:extLst>
            </p:cNvPr>
            <p:cNvSpPr/>
            <p:nvPr/>
          </p:nvSpPr>
          <p:spPr>
            <a:xfrm>
              <a:off x="2837330" y="4583972"/>
              <a:ext cx="123825" cy="1238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71E31F8C-944E-D343-B1CA-B0B1FBA3D288}"/>
                </a:ext>
              </a:extLst>
            </p:cNvPr>
            <p:cNvSpPr/>
            <p:nvPr/>
          </p:nvSpPr>
          <p:spPr>
            <a:xfrm>
              <a:off x="1754005" y="4939130"/>
              <a:ext cx="123825" cy="1238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56C905BF-BE7D-6943-86ED-1D2D8F981737}"/>
                </a:ext>
              </a:extLst>
            </p:cNvPr>
            <p:cNvSpPr txBox="1"/>
            <p:nvPr/>
          </p:nvSpPr>
          <p:spPr>
            <a:xfrm>
              <a:off x="1227810" y="4857289"/>
              <a:ext cx="5212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dirty="0"/>
                <a:t>v0’’</a:t>
              </a:r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E273BBCC-71C3-3A47-94CA-50118D40336D}"/>
                </a:ext>
              </a:extLst>
            </p:cNvPr>
            <p:cNvSpPr/>
            <p:nvPr/>
          </p:nvSpPr>
          <p:spPr>
            <a:xfrm>
              <a:off x="2424619" y="4583971"/>
              <a:ext cx="123825" cy="1238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4D63A8B2-4F21-F348-B469-5C048EB6CE5C}"/>
                </a:ext>
              </a:extLst>
            </p:cNvPr>
            <p:cNvSpPr txBox="1"/>
            <p:nvPr/>
          </p:nvSpPr>
          <p:spPr>
            <a:xfrm>
              <a:off x="2186853" y="4260729"/>
              <a:ext cx="6367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dirty="0"/>
                <a:t>v0’’’’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177A7F6-1604-0E40-8ED5-87BB2CA4CF01}"/>
              </a:ext>
            </a:extLst>
          </p:cNvPr>
          <p:cNvGrpSpPr/>
          <p:nvPr/>
        </p:nvGrpSpPr>
        <p:grpSpPr>
          <a:xfrm>
            <a:off x="3286683" y="4200525"/>
            <a:ext cx="3304219" cy="2124075"/>
            <a:chOff x="3286683" y="4200525"/>
            <a:chExt cx="3304219" cy="2124075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79CBBE42-F98C-0C40-98A6-57F6726DFE0E}"/>
                </a:ext>
              </a:extLst>
            </p:cNvPr>
            <p:cNvGrpSpPr/>
            <p:nvPr/>
          </p:nvGrpSpPr>
          <p:grpSpPr>
            <a:xfrm>
              <a:off x="3286683" y="4200525"/>
              <a:ext cx="3304219" cy="2124075"/>
              <a:chOff x="1058738" y="4114800"/>
              <a:chExt cx="3304219" cy="2124075"/>
            </a:xfrm>
          </p:grpSpPr>
          <p:grpSp>
            <p:nvGrpSpPr>
              <p:cNvPr id="71" name="Group 70">
                <a:extLst>
                  <a:ext uri="{FF2B5EF4-FFF2-40B4-BE49-F238E27FC236}">
                    <a16:creationId xmlns:a16="http://schemas.microsoft.com/office/drawing/2014/main" id="{2540BF87-CBA6-624C-AB02-771A08CBE8F5}"/>
                  </a:ext>
                </a:extLst>
              </p:cNvPr>
              <p:cNvGrpSpPr/>
              <p:nvPr/>
            </p:nvGrpSpPr>
            <p:grpSpPr>
              <a:xfrm>
                <a:off x="1058738" y="4114800"/>
                <a:ext cx="3304219" cy="2124075"/>
                <a:chOff x="1058738" y="4114800"/>
                <a:chExt cx="3304219" cy="2124075"/>
              </a:xfrm>
            </p:grpSpPr>
            <p:grpSp>
              <p:nvGrpSpPr>
                <p:cNvPr id="116" name="Group 38">
                  <a:extLst>
                    <a:ext uri="{FF2B5EF4-FFF2-40B4-BE49-F238E27FC236}">
                      <a16:creationId xmlns:a16="http://schemas.microsoft.com/office/drawing/2014/main" id="{D6E31871-05BC-2C4F-A7E2-E159729BAA0D}"/>
                    </a:ext>
                  </a:extLst>
                </p:cNvPr>
                <p:cNvGrpSpPr/>
                <p:nvPr/>
              </p:nvGrpSpPr>
              <p:grpSpPr>
                <a:xfrm>
                  <a:off x="1381632" y="4171950"/>
                  <a:ext cx="2066925" cy="1866900"/>
                  <a:chOff x="1371600" y="3714750"/>
                  <a:chExt cx="2066925" cy="1866900"/>
                </a:xfrm>
              </p:grpSpPr>
              <p:sp>
                <p:nvSpPr>
                  <p:cNvPr id="121" name="Rectangle 120">
                    <a:extLst>
                      <a:ext uri="{FF2B5EF4-FFF2-40B4-BE49-F238E27FC236}">
                        <a16:creationId xmlns:a16="http://schemas.microsoft.com/office/drawing/2014/main" id="{75E66A81-0187-AE47-88CE-788EB0730DF5}"/>
                      </a:ext>
                    </a:extLst>
                  </p:cNvPr>
                  <p:cNvSpPr/>
                  <p:nvPr/>
                </p:nvSpPr>
                <p:spPr>
                  <a:xfrm>
                    <a:off x="1819275" y="4191000"/>
                    <a:ext cx="1066800" cy="1066800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2" name="Freeform 121">
                    <a:extLst>
                      <a:ext uri="{FF2B5EF4-FFF2-40B4-BE49-F238E27FC236}">
                        <a16:creationId xmlns:a16="http://schemas.microsoft.com/office/drawing/2014/main" id="{446F58D2-2D34-E744-A768-8DD1827DA855}"/>
                      </a:ext>
                    </a:extLst>
                  </p:cNvPr>
                  <p:cNvSpPr/>
                  <p:nvPr/>
                </p:nvSpPr>
                <p:spPr>
                  <a:xfrm>
                    <a:off x="1371600" y="3714750"/>
                    <a:ext cx="2066925" cy="1866900"/>
                  </a:xfrm>
                  <a:custGeom>
                    <a:avLst/>
                    <a:gdLst>
                      <a:gd name="connsiteX0" fmla="*/ 0 w 2066925"/>
                      <a:gd name="connsiteY0" fmla="*/ 1038225 h 1866900"/>
                      <a:gd name="connsiteX1" fmla="*/ 2066925 w 2066925"/>
                      <a:gd name="connsiteY1" fmla="*/ 0 h 1866900"/>
                      <a:gd name="connsiteX2" fmla="*/ 1285875 w 2066925"/>
                      <a:gd name="connsiteY2" fmla="*/ 914400 h 1866900"/>
                      <a:gd name="connsiteX3" fmla="*/ 1857375 w 2066925"/>
                      <a:gd name="connsiteY3" fmla="*/ 1866900 h 1866900"/>
                      <a:gd name="connsiteX4" fmla="*/ 0 w 2066925"/>
                      <a:gd name="connsiteY4" fmla="*/ 1038225 h 18669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066925" h="1866900">
                        <a:moveTo>
                          <a:pt x="0" y="1038225"/>
                        </a:moveTo>
                        <a:lnTo>
                          <a:pt x="2066925" y="0"/>
                        </a:lnTo>
                        <a:lnTo>
                          <a:pt x="1285875" y="914400"/>
                        </a:lnTo>
                        <a:lnTo>
                          <a:pt x="1857375" y="1866900"/>
                        </a:lnTo>
                        <a:lnTo>
                          <a:pt x="0" y="1038225"/>
                        </a:lnTo>
                        <a:close/>
                      </a:path>
                    </a:pathLst>
                  </a:cu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117" name="Rectangle 116">
                  <a:extLst>
                    <a:ext uri="{FF2B5EF4-FFF2-40B4-BE49-F238E27FC236}">
                      <a16:creationId xmlns:a16="http://schemas.microsoft.com/office/drawing/2014/main" id="{B5A1A9FD-E384-7144-AD07-8CC185E5DC2D}"/>
                    </a:ext>
                  </a:extLst>
                </p:cNvPr>
                <p:cNvSpPr/>
                <p:nvPr/>
              </p:nvSpPr>
              <p:spPr>
                <a:xfrm>
                  <a:off x="2915157" y="4114800"/>
                  <a:ext cx="1447800" cy="19812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8" name="Rectangle 117">
                  <a:extLst>
                    <a:ext uri="{FF2B5EF4-FFF2-40B4-BE49-F238E27FC236}">
                      <a16:creationId xmlns:a16="http://schemas.microsoft.com/office/drawing/2014/main" id="{C02C8C48-4D20-E542-A328-ECF37A6033BE}"/>
                    </a:ext>
                  </a:extLst>
                </p:cNvPr>
                <p:cNvSpPr/>
                <p:nvPr/>
              </p:nvSpPr>
              <p:spPr>
                <a:xfrm>
                  <a:off x="1762632" y="5734050"/>
                  <a:ext cx="1447800" cy="504825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" name="Rectangle 118">
                  <a:extLst>
                    <a:ext uri="{FF2B5EF4-FFF2-40B4-BE49-F238E27FC236}">
                      <a16:creationId xmlns:a16="http://schemas.microsoft.com/office/drawing/2014/main" id="{C07D5A41-7E70-0947-A6CE-8EBB3B8E80B1}"/>
                    </a:ext>
                  </a:extLst>
                </p:cNvPr>
                <p:cNvSpPr/>
                <p:nvPr/>
              </p:nvSpPr>
              <p:spPr>
                <a:xfrm>
                  <a:off x="1058738" y="4426849"/>
                  <a:ext cx="752475" cy="1295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0" name="Rectangle 119">
                  <a:extLst>
                    <a:ext uri="{FF2B5EF4-FFF2-40B4-BE49-F238E27FC236}">
                      <a16:creationId xmlns:a16="http://schemas.microsoft.com/office/drawing/2014/main" id="{31EC4077-6A1F-7946-BC7C-7AB6606B3456}"/>
                    </a:ext>
                  </a:extLst>
                </p:cNvPr>
                <p:cNvSpPr/>
                <p:nvPr/>
              </p:nvSpPr>
              <p:spPr>
                <a:xfrm>
                  <a:off x="1830206" y="4172849"/>
                  <a:ext cx="1752600" cy="4572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2C08EDC4-4114-B345-AB5B-EDF67A3B2FC2}"/>
                  </a:ext>
                </a:extLst>
              </p:cNvPr>
              <p:cNvSpPr txBox="1"/>
              <p:nvPr/>
            </p:nvSpPr>
            <p:spPr>
              <a:xfrm>
                <a:off x="1217445" y="5273222"/>
                <a:ext cx="5790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TR" dirty="0"/>
                  <a:t>v1’’’</a:t>
                </a: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79C0189A-3E60-3541-BE0B-7CE3A2A749F3}"/>
                  </a:ext>
                </a:extLst>
              </p:cNvPr>
              <p:cNvSpPr txBox="1"/>
              <p:nvPr/>
            </p:nvSpPr>
            <p:spPr>
              <a:xfrm>
                <a:off x="2172166" y="5703064"/>
                <a:ext cx="5212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TR" dirty="0"/>
                  <a:t>v1’’</a:t>
                </a: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0AF0B14E-D0F1-5849-BC12-20E9009B6FA8}"/>
                  </a:ext>
                </a:extLst>
              </p:cNvPr>
              <p:cNvSpPr txBox="1"/>
              <p:nvPr/>
            </p:nvSpPr>
            <p:spPr>
              <a:xfrm>
                <a:off x="2748550" y="5686750"/>
                <a:ext cx="5212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TR" dirty="0"/>
                  <a:t>v2’’</a:t>
                </a: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20C324DA-7FC2-504C-9F61-66F93AC781C1}"/>
                  </a:ext>
                </a:extLst>
              </p:cNvPr>
              <p:cNvSpPr txBox="1"/>
              <p:nvPr/>
            </p:nvSpPr>
            <p:spPr>
              <a:xfrm>
                <a:off x="2972221" y="5260268"/>
                <a:ext cx="4635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TR" dirty="0"/>
                  <a:t>v2’</a:t>
                </a: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F4A736D0-BCF1-7D46-93A2-370BBD9AB389}"/>
                  </a:ext>
                </a:extLst>
              </p:cNvPr>
              <p:cNvSpPr txBox="1"/>
              <p:nvPr/>
            </p:nvSpPr>
            <p:spPr>
              <a:xfrm>
                <a:off x="2645593" y="4932727"/>
                <a:ext cx="4058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TR" dirty="0"/>
                  <a:t>v2</a:t>
                </a: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E3AED6DE-4356-3546-BF1E-C098A3628AC6}"/>
                  </a:ext>
                </a:extLst>
              </p:cNvPr>
              <p:cNvSpPr txBox="1"/>
              <p:nvPr/>
            </p:nvSpPr>
            <p:spPr>
              <a:xfrm>
                <a:off x="2874345" y="4649117"/>
                <a:ext cx="4571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TR" dirty="0"/>
                  <a:t>v3'</a:t>
                </a:r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BA472BD4-D1C2-2E4B-9276-85F78528DB3B}"/>
                  </a:ext>
                </a:extLst>
              </p:cNvPr>
              <p:cNvSpPr/>
              <p:nvPr/>
            </p:nvSpPr>
            <p:spPr>
              <a:xfrm>
                <a:off x="1755612" y="5343828"/>
                <a:ext cx="123825" cy="123825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R"/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5A983842-436F-9249-8710-4B8F3452D472}"/>
                  </a:ext>
                </a:extLst>
              </p:cNvPr>
              <p:cNvSpPr/>
              <p:nvPr/>
            </p:nvSpPr>
            <p:spPr>
              <a:xfrm>
                <a:off x="2451569" y="5662275"/>
                <a:ext cx="123825" cy="123825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R"/>
              </a:p>
            </p:txBody>
          </p: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A902C357-6E0C-F548-835E-B227CEACF6A0}"/>
                  </a:ext>
                </a:extLst>
              </p:cNvPr>
              <p:cNvSpPr/>
              <p:nvPr/>
            </p:nvSpPr>
            <p:spPr>
              <a:xfrm>
                <a:off x="2837330" y="5648628"/>
                <a:ext cx="123825" cy="123825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R"/>
              </a:p>
            </p:txBody>
          </p:sp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2E4B8509-1041-6C4E-96F8-2E561699B6B8}"/>
                  </a:ext>
                </a:extLst>
              </p:cNvPr>
              <p:cNvSpPr/>
              <p:nvPr/>
            </p:nvSpPr>
            <p:spPr>
              <a:xfrm>
                <a:off x="2827731" y="5388209"/>
                <a:ext cx="123825" cy="123825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R"/>
              </a:p>
            </p:txBody>
          </p: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E3447D01-5238-FD41-BDAC-3A8163CC4A10}"/>
                  </a:ext>
                </a:extLst>
              </p:cNvPr>
              <p:cNvSpPr/>
              <p:nvPr/>
            </p:nvSpPr>
            <p:spPr>
              <a:xfrm>
                <a:off x="2603497" y="5027961"/>
                <a:ext cx="123825" cy="123825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R"/>
              </a:p>
            </p:txBody>
          </p: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C93122F7-F8D2-4842-AEAF-B92C3C089998}"/>
                  </a:ext>
                </a:extLst>
              </p:cNvPr>
              <p:cNvSpPr/>
              <p:nvPr/>
            </p:nvSpPr>
            <p:spPr>
              <a:xfrm>
                <a:off x="2837509" y="4778497"/>
                <a:ext cx="123825" cy="123825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R"/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6AFC0C8A-8AB1-4948-B888-996544A2BAB9}"/>
                  </a:ext>
                </a:extLst>
              </p:cNvPr>
              <p:cNvSpPr txBox="1"/>
              <p:nvPr/>
            </p:nvSpPr>
            <p:spPr>
              <a:xfrm>
                <a:off x="2858365" y="4276553"/>
                <a:ext cx="5790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TR" dirty="0"/>
                  <a:t>v0’’’</a:t>
                </a:r>
              </a:p>
            </p:txBody>
          </p:sp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F256D50E-F75C-3547-9330-CEFF5AFF3A47}"/>
                  </a:ext>
                </a:extLst>
              </p:cNvPr>
              <p:cNvSpPr/>
              <p:nvPr/>
            </p:nvSpPr>
            <p:spPr>
              <a:xfrm>
                <a:off x="2837330" y="4583972"/>
                <a:ext cx="123825" cy="123825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R"/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C085D712-EDFF-0942-8A3C-E776C9BD56AF}"/>
                  </a:ext>
                </a:extLst>
              </p:cNvPr>
              <p:cNvSpPr/>
              <p:nvPr/>
            </p:nvSpPr>
            <p:spPr>
              <a:xfrm>
                <a:off x="1754005" y="4939130"/>
                <a:ext cx="123825" cy="123825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R"/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2D0812BB-B5BB-7844-85F3-85C39DA8EE5E}"/>
                  </a:ext>
                </a:extLst>
              </p:cNvPr>
              <p:cNvSpPr txBox="1"/>
              <p:nvPr/>
            </p:nvSpPr>
            <p:spPr>
              <a:xfrm>
                <a:off x="1227810" y="4857289"/>
                <a:ext cx="5212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TR" dirty="0"/>
                  <a:t>v0’’</a:t>
                </a:r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1C1C77BB-3072-2141-9A3F-FF0FECBF585B}"/>
                  </a:ext>
                </a:extLst>
              </p:cNvPr>
              <p:cNvSpPr/>
              <p:nvPr/>
            </p:nvSpPr>
            <p:spPr>
              <a:xfrm>
                <a:off x="2424619" y="4583971"/>
                <a:ext cx="123825" cy="123825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R"/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89143F84-2DCB-464B-81B4-31F5221D555D}"/>
                  </a:ext>
                </a:extLst>
              </p:cNvPr>
              <p:cNvSpPr txBox="1"/>
              <p:nvPr/>
            </p:nvSpPr>
            <p:spPr>
              <a:xfrm>
                <a:off x="2186853" y="4260729"/>
                <a:ext cx="63671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TR" dirty="0"/>
                  <a:t>v0’’’’</a:t>
                </a:r>
              </a:p>
            </p:txBody>
          </p:sp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0E6FEBD-D06C-694A-B263-1667F8CFEB71}"/>
                </a:ext>
              </a:extLst>
            </p:cNvPr>
            <p:cNvCxnSpPr>
              <a:cxnSpLocks/>
            </p:cNvCxnSpPr>
            <p:nvPr/>
          </p:nvCxnSpPr>
          <p:spPr>
            <a:xfrm>
              <a:off x="4056308" y="5102602"/>
              <a:ext cx="688583" cy="71036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F1305147-8EAD-9E45-A431-30E399D38B3D}"/>
                </a:ext>
              </a:extLst>
            </p:cNvPr>
            <p:cNvCxnSpPr>
              <a:cxnSpLocks/>
            </p:cNvCxnSpPr>
            <p:nvPr/>
          </p:nvCxnSpPr>
          <p:spPr>
            <a:xfrm>
              <a:off x="4041802" y="5086830"/>
              <a:ext cx="1099997" cy="71389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9E226921-4571-354D-A084-BA1F39F3D541}"/>
                </a:ext>
              </a:extLst>
            </p:cNvPr>
            <p:cNvCxnSpPr>
              <a:cxnSpLocks/>
            </p:cNvCxnSpPr>
            <p:nvPr/>
          </p:nvCxnSpPr>
          <p:spPr>
            <a:xfrm>
              <a:off x="4040464" y="5077131"/>
              <a:ext cx="1088628" cy="46689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0C9283AE-4612-B74F-ACCC-14097B72A55E}"/>
                </a:ext>
              </a:extLst>
            </p:cNvPr>
            <p:cNvCxnSpPr>
              <a:cxnSpLocks/>
            </p:cNvCxnSpPr>
            <p:nvPr/>
          </p:nvCxnSpPr>
          <p:spPr>
            <a:xfrm>
              <a:off x="4045644" y="5075304"/>
              <a:ext cx="856769" cy="9989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D0E198CA-EC85-AD43-8B87-76C8BBB6E6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49486" y="4917782"/>
              <a:ext cx="1071922" cy="16904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7955913-609A-7E48-88DE-5115CA9053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49486" y="4737207"/>
              <a:ext cx="1087290" cy="34962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0" name="TextBox 129">
            <a:extLst>
              <a:ext uri="{FF2B5EF4-FFF2-40B4-BE49-F238E27FC236}">
                <a16:creationId xmlns:a16="http://schemas.microsoft.com/office/drawing/2014/main" id="{B32BB489-5D98-3542-B173-8D6B54987907}"/>
              </a:ext>
            </a:extLst>
          </p:cNvPr>
          <p:cNvSpPr txBox="1"/>
          <p:nvPr/>
        </p:nvSpPr>
        <p:spPr>
          <a:xfrm>
            <a:off x="1894360" y="3920344"/>
            <a:ext cx="6211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This object can be tessellated and rendered as multiple triangles</a:t>
            </a:r>
          </a:p>
        </p:txBody>
      </p:sp>
    </p:spTree>
    <p:extLst>
      <p:ext uri="{BB962C8B-B14F-4D97-AF65-F5344CB8AC3E}">
        <p14:creationId xmlns:p14="http://schemas.microsoft.com/office/powerpoint/2010/main" val="1566056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Complex scenes contains many objects</a:t>
            </a:r>
          </a:p>
          <a:p>
            <a:r>
              <a:rPr lang="en-US" dirty="0"/>
              <a:t>Objects closer to the camera occlude objects further away</a:t>
            </a:r>
          </a:p>
          <a:p>
            <a:r>
              <a:rPr lang="en-US" dirty="0"/>
              <a:t>Rendering time can be saved if these invisible objects are </a:t>
            </a:r>
            <a:r>
              <a:rPr lang="en-US" dirty="0">
                <a:solidFill>
                  <a:srgbClr val="C00000"/>
                </a:solidFill>
              </a:rPr>
              <a:t>culled</a:t>
            </a:r>
            <a:r>
              <a:rPr lang="en-US" dirty="0"/>
              <a:t> (i.e. eliminated, discarded, thrown away)</a:t>
            </a:r>
          </a:p>
          <a:p>
            <a:r>
              <a:rPr lang="en-US" dirty="0"/>
              <a:t>Three common culling strategies are:</a:t>
            </a:r>
          </a:p>
          <a:p>
            <a:pPr lvl="1"/>
            <a:r>
              <a:rPr lang="en-US" dirty="0"/>
              <a:t>View volume (frustum) culling</a:t>
            </a:r>
          </a:p>
          <a:p>
            <a:pPr lvl="1"/>
            <a:r>
              <a:rPr lang="en-US" dirty="0" err="1"/>
              <a:t>Backface</a:t>
            </a:r>
            <a:r>
              <a:rPr lang="en-US" dirty="0"/>
              <a:t> culling</a:t>
            </a:r>
          </a:p>
          <a:p>
            <a:pPr lvl="1"/>
            <a:r>
              <a:rPr lang="en-US" dirty="0"/>
              <a:t>Occlusion culling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 Volume (Frustum) Culling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removal of geometry </a:t>
            </a:r>
            <a:r>
              <a:rPr lang="en-US" dirty="0">
                <a:solidFill>
                  <a:srgbClr val="C00000"/>
                </a:solidFill>
              </a:rPr>
              <a:t>outside</a:t>
            </a:r>
            <a:r>
              <a:rPr lang="en-US" dirty="0"/>
              <a:t> the viewing volume</a:t>
            </a:r>
          </a:p>
          <a:p>
            <a:r>
              <a:rPr lang="en-US" b="1" dirty="0"/>
              <a:t>No OpenGL support</a:t>
            </a:r>
            <a:r>
              <a:rPr lang="en-US" dirty="0"/>
              <a:t>: it is the programmer’s responsibility to cull what is outside.</a:t>
            </a:r>
          </a:p>
          <a:p>
            <a:endParaRPr 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3400425"/>
            <a:ext cx="3857625" cy="193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76825" y="3352800"/>
            <a:ext cx="3314700" cy="195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3681194" y="5305425"/>
            <a:ext cx="23862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From lighthouse3d.com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 Volume (Frustum) Culling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4164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First determine the equations of the planes that make up the boundary of the view volume (6 planes):</a:t>
            </a:r>
          </a:p>
          <a:p>
            <a:endParaRPr lang="en-US" dirty="0"/>
          </a:p>
          <a:p>
            <a:r>
              <a:rPr lang="en-US" dirty="0"/>
              <a:t>Here, </a:t>
            </a:r>
            <a:r>
              <a:rPr lang="en-US" i="1" dirty="0"/>
              <a:t>a</a:t>
            </a:r>
            <a:r>
              <a:rPr lang="en-US" dirty="0"/>
              <a:t> is a point on the plane and </a:t>
            </a:r>
            <a:r>
              <a:rPr lang="en-US" b="1" i="1" dirty="0"/>
              <a:t>n</a:t>
            </a:r>
            <a:r>
              <a:rPr lang="en-US" dirty="0"/>
              <a:t> is the normal (pointing outside from the face)</a:t>
            </a:r>
          </a:p>
          <a:p>
            <a:r>
              <a:rPr lang="en-US" dirty="0"/>
              <a:t>Plug the </a:t>
            </a:r>
            <a:r>
              <a:rPr lang="en-US" dirty="0">
                <a:solidFill>
                  <a:srgbClr val="C00000"/>
                </a:solidFill>
              </a:rPr>
              <a:t>vertices</a:t>
            </a:r>
            <a:r>
              <a:rPr lang="en-US" dirty="0"/>
              <a:t> of each primitive for </a:t>
            </a:r>
            <a:r>
              <a:rPr lang="en-US" i="1" dirty="0"/>
              <a:t>p. </a:t>
            </a:r>
            <a:r>
              <a:rPr lang="en-US" dirty="0"/>
              <a:t>If we get: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i="1" dirty="0"/>
              <a:t>    </a:t>
            </a:r>
            <a:r>
              <a:rPr lang="en-US" dirty="0"/>
              <a:t>for </a:t>
            </a:r>
            <a:r>
              <a:rPr lang="en-US" dirty="0">
                <a:solidFill>
                  <a:srgbClr val="C00000"/>
                </a:solidFill>
              </a:rPr>
              <a:t>any</a:t>
            </a:r>
            <a:r>
              <a:rPr lang="en-US" dirty="0"/>
              <a:t> plane, the vertex is outside </a:t>
            </a:r>
          </a:p>
          <a:p>
            <a:r>
              <a:rPr lang="en-US" dirty="0"/>
              <a:t>If all vertices are outside </a:t>
            </a:r>
            <a:r>
              <a:rPr lang="en-US" dirty="0" err="1"/>
              <a:t>w.r.t</a:t>
            </a:r>
            <a:r>
              <a:rPr lang="en-US" dirty="0"/>
              <a:t>. the </a:t>
            </a:r>
            <a:r>
              <a:rPr lang="en-US" dirty="0">
                <a:solidFill>
                  <a:schemeClr val="accent1"/>
                </a:solidFill>
              </a:rPr>
              <a:t>same</a:t>
            </a:r>
            <a:r>
              <a:rPr lang="en-US" dirty="0"/>
              <a:t> plane, then the primitive is outside and can be culled</a:t>
            </a:r>
          </a:p>
          <a:p>
            <a:r>
              <a:rPr lang="en-US" dirty="0"/>
              <a:t>Using a </a:t>
            </a:r>
            <a:r>
              <a:rPr lang="en-US" dirty="0">
                <a:solidFill>
                  <a:srgbClr val="C00000"/>
                </a:solidFill>
              </a:rPr>
              <a:t>bounding box </a:t>
            </a:r>
            <a:r>
              <a:rPr lang="en-US" dirty="0"/>
              <a:t>or </a:t>
            </a:r>
            <a:r>
              <a:rPr lang="en-US" dirty="0">
                <a:solidFill>
                  <a:srgbClr val="C00000"/>
                </a:solidFill>
              </a:rPr>
              <a:t>bounding sphere</a:t>
            </a:r>
            <a:r>
              <a:rPr lang="en-US" dirty="0"/>
              <a:t> for complex models (i.e. meshes) is a better solution</a:t>
            </a:r>
          </a:p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048000" y="2390274"/>
            <a:ext cx="2800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Plane equation: </a:t>
            </a:r>
            <a:r>
              <a:rPr lang="en-US" i="1" dirty="0"/>
              <a:t>(p – a).</a:t>
            </a:r>
            <a:r>
              <a:rPr lang="en-US" b="1" i="1" dirty="0"/>
              <a:t>n</a:t>
            </a:r>
            <a:r>
              <a:rPr lang="en-US" i="1" dirty="0"/>
              <a:t> =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87166" y="3909900"/>
            <a:ext cx="1342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(p – a).</a:t>
            </a:r>
            <a:r>
              <a:rPr lang="en-US" b="1" i="1" dirty="0"/>
              <a:t>n</a:t>
            </a:r>
            <a:r>
              <a:rPr lang="en-US" i="1" dirty="0"/>
              <a:t> &gt; 0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Backface</a:t>
            </a:r>
            <a:r>
              <a:rPr lang="en-US" dirty="0"/>
              <a:t> Culling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</a:t>
            </a:r>
            <a:r>
              <a:rPr lang="en-US" b="1" dirty="0"/>
              <a:t>closed</a:t>
            </a:r>
            <a:r>
              <a:rPr lang="en-US" dirty="0"/>
              <a:t> polygon models, back facing polygons are </a:t>
            </a:r>
            <a:r>
              <a:rPr lang="en-US" dirty="0">
                <a:solidFill>
                  <a:srgbClr val="C00000"/>
                </a:solidFill>
              </a:rPr>
              <a:t>guaranteed</a:t>
            </a:r>
            <a:r>
              <a:rPr lang="en-US" dirty="0"/>
              <a:t> to be occluded by front facing polygons (so they don’t need to be rendered)</a:t>
            </a:r>
          </a:p>
          <a:p>
            <a:r>
              <a:rPr lang="en-US" dirty="0"/>
              <a:t>OpenGL </a:t>
            </a:r>
            <a:r>
              <a:rPr lang="en-US" dirty="0">
                <a:solidFill>
                  <a:srgbClr val="C00000"/>
                </a:solidFill>
              </a:rPr>
              <a:t>supports</a:t>
            </a:r>
            <a:r>
              <a:rPr lang="en-US" dirty="0"/>
              <a:t> </a:t>
            </a:r>
            <a:r>
              <a:rPr lang="en-US" dirty="0" err="1"/>
              <a:t>backface</a:t>
            </a:r>
            <a:r>
              <a:rPr lang="en-US" dirty="0"/>
              <a:t> culling: </a:t>
            </a:r>
            <a:r>
              <a:rPr lang="en-US" dirty="0" err="1"/>
              <a:t>glCullFace</a:t>
            </a:r>
            <a:r>
              <a:rPr lang="en-US" dirty="0"/>
              <a:t>(GL_BACK) and </a:t>
            </a:r>
            <a:r>
              <a:rPr lang="en-US" dirty="0" err="1"/>
              <a:t>glEnable</a:t>
            </a:r>
            <a:r>
              <a:rPr lang="en-US" dirty="0"/>
              <a:t>(GL_CULL_FACE)</a:t>
            </a:r>
          </a:p>
          <a:p>
            <a:endParaRPr lang="en-US" dirty="0"/>
          </a:p>
        </p:txBody>
      </p:sp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33800" y="3810000"/>
            <a:ext cx="1905000" cy="23327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88726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Backface</a:t>
            </a:r>
            <a:r>
              <a:rPr lang="en-US" dirty="0"/>
              <a:t> Culling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Polygons whose </a:t>
            </a:r>
            <a:r>
              <a:rPr lang="en-US" dirty="0" err="1"/>
              <a:t>normals</a:t>
            </a:r>
            <a:r>
              <a:rPr lang="en-US" dirty="0"/>
              <a:t> face </a:t>
            </a:r>
            <a:r>
              <a:rPr lang="en-US" dirty="0">
                <a:solidFill>
                  <a:srgbClr val="C00000"/>
                </a:solidFill>
              </a:rPr>
              <a:t>away</a:t>
            </a:r>
            <a:r>
              <a:rPr lang="en-US" dirty="0"/>
              <a:t> from the eye are called </a:t>
            </a:r>
            <a:r>
              <a:rPr lang="en-US" dirty="0">
                <a:solidFill>
                  <a:srgbClr val="C00000"/>
                </a:solidFill>
              </a:rPr>
              <a:t>back facing </a:t>
            </a:r>
            <a:r>
              <a:rPr lang="en-US" dirty="0"/>
              <a:t>polygons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endParaRPr lang="en-US" dirty="0"/>
          </a:p>
        </p:txBody>
      </p:sp>
      <p:grpSp>
        <p:nvGrpSpPr>
          <p:cNvPr id="10" name="Group 9"/>
          <p:cNvGrpSpPr/>
          <p:nvPr/>
        </p:nvGrpSpPr>
        <p:grpSpPr>
          <a:xfrm>
            <a:off x="685800" y="3011269"/>
            <a:ext cx="3124200" cy="2779931"/>
            <a:chOff x="685800" y="2133600"/>
            <a:chExt cx="3124200" cy="2779931"/>
          </a:xfrm>
        </p:grpSpPr>
        <p:sp>
          <p:nvSpPr>
            <p:cNvPr id="6" name="Isosceles Triangle 5"/>
            <p:cNvSpPr/>
            <p:nvPr/>
          </p:nvSpPr>
          <p:spPr>
            <a:xfrm>
              <a:off x="1371600" y="2362200"/>
              <a:ext cx="1295400" cy="1676400"/>
            </a:xfrm>
            <a:prstGeom prst="triangle">
              <a:avLst/>
            </a:prstGeom>
            <a:scene3d>
              <a:camera prst="isometricRightU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390000" y="4038600"/>
              <a:ext cx="3626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</a:t>
              </a:r>
              <a:r>
                <a:rPr lang="en-US" baseline="-25000" dirty="0"/>
                <a:t>0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456800" y="3429000"/>
              <a:ext cx="3626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</a:t>
              </a:r>
              <a:r>
                <a:rPr lang="en-US" baseline="-25000" dirty="0"/>
                <a:t>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847200" y="2133600"/>
              <a:ext cx="3626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</a:t>
              </a:r>
              <a:r>
                <a:rPr lang="en-US" baseline="-25000" dirty="0"/>
                <a:t>2</a:t>
              </a:r>
            </a:p>
          </p:txBody>
        </p:sp>
        <p:cxnSp>
          <p:nvCxnSpPr>
            <p:cNvPr id="11" name="Straight Arrow Connector 10"/>
            <p:cNvCxnSpPr/>
            <p:nvPr/>
          </p:nvCxnSpPr>
          <p:spPr>
            <a:xfrm>
              <a:off x="2057400" y="3276600"/>
              <a:ext cx="762000" cy="15240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2576282" y="3048000"/>
              <a:ext cx="31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n</a:t>
              </a:r>
              <a:endParaRPr lang="en-US" b="1" baseline="-25000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770018" y="4267200"/>
              <a:ext cx="203998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Front facing triangle</a:t>
              </a:r>
            </a:p>
            <a:p>
              <a:pPr algn="ctr"/>
              <a:r>
                <a:rPr lang="en-US" b="1" dirty="0" err="1"/>
                <a:t>n</a:t>
              </a:r>
              <a:r>
                <a:rPr lang="en-US" dirty="0" err="1"/>
                <a:t>.</a:t>
              </a:r>
              <a:r>
                <a:rPr lang="en-US" b="1" dirty="0" err="1"/>
                <a:t>v</a:t>
              </a:r>
              <a:r>
                <a:rPr lang="en-US" b="1" dirty="0"/>
                <a:t> </a:t>
              </a:r>
              <a:r>
                <a:rPr lang="en-US" dirty="0"/>
                <a:t>&lt; 0</a:t>
              </a:r>
            </a:p>
          </p:txBody>
        </p:sp>
        <p:cxnSp>
          <p:nvCxnSpPr>
            <p:cNvPr id="16" name="Straight Arrow Connector 15"/>
            <p:cNvCxnSpPr/>
            <p:nvPr/>
          </p:nvCxnSpPr>
          <p:spPr>
            <a:xfrm flipH="1">
              <a:off x="2068033" y="2870790"/>
              <a:ext cx="1440712" cy="39517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2726817" y="270953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v</a:t>
              </a:r>
              <a:endParaRPr lang="en-US" b="1" baseline="-25000" dirty="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200400" y="2895600"/>
              <a:ext cx="4987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eye</a:t>
              </a:r>
            </a:p>
          </p:txBody>
        </p:sp>
        <p:cxnSp>
          <p:nvCxnSpPr>
            <p:cNvPr id="52" name="Straight Arrow Connector 51"/>
            <p:cNvCxnSpPr/>
            <p:nvPr/>
          </p:nvCxnSpPr>
          <p:spPr>
            <a:xfrm flipH="1">
              <a:off x="685800" y="3251790"/>
              <a:ext cx="1440712" cy="395177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53"/>
            <p:cNvSpPr txBox="1"/>
            <p:nvPr/>
          </p:nvSpPr>
          <p:spPr>
            <a:xfrm>
              <a:off x="762000" y="32766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v</a:t>
              </a:r>
              <a:endParaRPr lang="en-US" b="1" baseline="-25000" dirty="0"/>
            </a:p>
          </p:txBody>
        </p:sp>
        <p:cxnSp>
          <p:nvCxnSpPr>
            <p:cNvPr id="58" name="Straight Arrow Connector 57"/>
            <p:cNvCxnSpPr/>
            <p:nvPr/>
          </p:nvCxnSpPr>
          <p:spPr>
            <a:xfrm flipH="1" flipV="1">
              <a:off x="3037367" y="2567765"/>
              <a:ext cx="457200" cy="30480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33"/>
            <p:cNvSpPr/>
            <p:nvPr/>
          </p:nvSpPr>
          <p:spPr>
            <a:xfrm>
              <a:off x="3429000" y="2819400"/>
              <a:ext cx="152400" cy="1524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3051114" y="2286000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-w</a:t>
              </a:r>
              <a:endParaRPr lang="en-US" b="1" baseline="-25000" dirty="0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4960088" y="3011269"/>
            <a:ext cx="3118933" cy="2779931"/>
            <a:chOff x="4960088" y="2133600"/>
            <a:chExt cx="3118933" cy="2779931"/>
          </a:xfrm>
        </p:grpSpPr>
        <p:cxnSp>
          <p:nvCxnSpPr>
            <p:cNvPr id="53" name="Straight Arrow Connector 52"/>
            <p:cNvCxnSpPr/>
            <p:nvPr/>
          </p:nvCxnSpPr>
          <p:spPr>
            <a:xfrm flipH="1">
              <a:off x="4960088" y="3276600"/>
              <a:ext cx="1440712" cy="395177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/>
            <p:cNvSpPr txBox="1"/>
            <p:nvPr/>
          </p:nvSpPr>
          <p:spPr>
            <a:xfrm>
              <a:off x="5733400" y="4038600"/>
              <a:ext cx="3626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</a:t>
              </a:r>
              <a:r>
                <a:rPr lang="en-US" baseline="-25000" dirty="0"/>
                <a:t>2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800200" y="3429000"/>
              <a:ext cx="3626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</a:t>
              </a:r>
              <a:r>
                <a:rPr lang="en-US" baseline="-25000" dirty="0"/>
                <a:t>1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190600" y="2133600"/>
              <a:ext cx="3626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</a:t>
              </a:r>
              <a:r>
                <a:rPr lang="en-US" baseline="-25000" dirty="0"/>
                <a:t>0</a:t>
              </a:r>
            </a:p>
          </p:txBody>
        </p:sp>
        <p:cxnSp>
          <p:nvCxnSpPr>
            <p:cNvPr id="44" name="Straight Arrow Connector 43"/>
            <p:cNvCxnSpPr/>
            <p:nvPr/>
          </p:nvCxnSpPr>
          <p:spPr>
            <a:xfrm flipH="1" flipV="1">
              <a:off x="5791200" y="3048000"/>
              <a:ext cx="609600" cy="22860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/>
            <p:cNvSpPr txBox="1"/>
            <p:nvPr/>
          </p:nvSpPr>
          <p:spPr>
            <a:xfrm>
              <a:off x="5715000" y="2667000"/>
              <a:ext cx="31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n</a:t>
              </a:r>
              <a:endParaRPr lang="en-US" b="1" baseline="-25000" dirty="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6113418" y="4267200"/>
              <a:ext cx="196560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Back facing triangle</a:t>
              </a:r>
            </a:p>
            <a:p>
              <a:pPr algn="ctr"/>
              <a:r>
                <a:rPr lang="en-US" b="1" dirty="0" err="1"/>
                <a:t>n</a:t>
              </a:r>
              <a:r>
                <a:rPr lang="en-US" dirty="0" err="1"/>
                <a:t>.</a:t>
              </a:r>
              <a:r>
                <a:rPr lang="en-US" b="1" dirty="0" err="1"/>
                <a:t>v</a:t>
              </a:r>
              <a:r>
                <a:rPr lang="en-US" b="1" dirty="0"/>
                <a:t> </a:t>
              </a:r>
              <a:r>
                <a:rPr lang="en-US" dirty="0"/>
                <a:t>&gt; 0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7070217" y="270953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v</a:t>
              </a:r>
              <a:endParaRPr lang="en-US" b="1" baseline="-25000" dirty="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7543800" y="2971800"/>
              <a:ext cx="4987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eye</a:t>
              </a:r>
            </a:p>
          </p:txBody>
        </p:sp>
        <p:sp>
          <p:nvSpPr>
            <p:cNvPr id="40" name="Isosceles Triangle 39"/>
            <p:cNvSpPr/>
            <p:nvPr/>
          </p:nvSpPr>
          <p:spPr>
            <a:xfrm>
              <a:off x="5715000" y="2362200"/>
              <a:ext cx="1295400" cy="1676400"/>
            </a:xfrm>
            <a:prstGeom prst="triangle">
              <a:avLst/>
            </a:prstGeom>
            <a:scene3d>
              <a:camera prst="isometricRightU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7" name="Straight Arrow Connector 46"/>
            <p:cNvCxnSpPr/>
            <p:nvPr/>
          </p:nvCxnSpPr>
          <p:spPr>
            <a:xfrm flipH="1">
              <a:off x="6411433" y="2870790"/>
              <a:ext cx="1440712" cy="39517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/>
            <p:cNvSpPr txBox="1"/>
            <p:nvPr/>
          </p:nvSpPr>
          <p:spPr>
            <a:xfrm>
              <a:off x="5184714" y="3212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v</a:t>
              </a:r>
              <a:endParaRPr lang="en-US" b="1" baseline="-25000" dirty="0"/>
            </a:p>
          </p:txBody>
        </p:sp>
        <p:cxnSp>
          <p:nvCxnSpPr>
            <p:cNvPr id="62" name="Straight Arrow Connector 61"/>
            <p:cNvCxnSpPr/>
            <p:nvPr/>
          </p:nvCxnSpPr>
          <p:spPr>
            <a:xfrm flipH="1" flipV="1">
              <a:off x="7391400" y="2567765"/>
              <a:ext cx="457200" cy="30480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/>
            <p:cNvSpPr txBox="1"/>
            <p:nvPr/>
          </p:nvSpPr>
          <p:spPr>
            <a:xfrm>
              <a:off x="7405147" y="2286000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-w</a:t>
              </a:r>
              <a:endParaRPr lang="en-US" b="1" baseline="-25000" dirty="0"/>
            </a:p>
          </p:txBody>
        </p:sp>
        <p:sp>
          <p:nvSpPr>
            <p:cNvPr id="49" name="Oval 48"/>
            <p:cNvSpPr/>
            <p:nvPr/>
          </p:nvSpPr>
          <p:spPr>
            <a:xfrm>
              <a:off x="7772400" y="2819400"/>
              <a:ext cx="152400" cy="1524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Backface</a:t>
            </a:r>
            <a:r>
              <a:rPr lang="en-US" dirty="0"/>
              <a:t> Culling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Note the </a:t>
            </a:r>
            <a:r>
              <a:rPr lang="en-US" b="1" dirty="0"/>
              <a:t>v</a:t>
            </a:r>
            <a:r>
              <a:rPr lang="en-US" dirty="0"/>
              <a:t> is the vector </a:t>
            </a:r>
            <a:r>
              <a:rPr lang="en-US" dirty="0">
                <a:solidFill>
                  <a:srgbClr val="C00000"/>
                </a:solidFill>
              </a:rPr>
              <a:t>from the eye to any point on the polygon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(you can take the polygon center). </a:t>
            </a:r>
            <a:r>
              <a:rPr lang="en-US" b="1" dirty="0"/>
              <a:t>You cannot use the view (gaze) vector</a:t>
            </a:r>
            <a:r>
              <a:rPr lang="en-US" dirty="0"/>
              <a:t>!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endParaRPr lang="en-U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09900" y="3088243"/>
            <a:ext cx="3124200" cy="195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" name="TextBox 35"/>
          <p:cNvSpPr txBox="1"/>
          <p:nvPr/>
        </p:nvSpPr>
        <p:spPr>
          <a:xfrm>
            <a:off x="3388797" y="5146866"/>
            <a:ext cx="2822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From http://omega.di.unipi.it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9898" y="3678515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-w</a:t>
            </a:r>
            <a:endParaRPr lang="en-US" b="1" baseline="-25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69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419600" y="2973012"/>
            <a:ext cx="2274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Should not be culled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57543" y="4549587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Can be culled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6832" y="1311442"/>
            <a:ext cx="8686800" cy="5181600"/>
          </a:xfrm>
        </p:spPr>
        <p:txBody>
          <a:bodyPr>
            <a:normAutofit/>
          </a:bodyPr>
          <a:lstStyle/>
          <a:p>
            <a:r>
              <a:rPr lang="en-US" dirty="0"/>
              <a:t>The removal of geometry that is </a:t>
            </a:r>
            <a:r>
              <a:rPr lang="en-US" dirty="0">
                <a:solidFill>
                  <a:srgbClr val="C00000"/>
                </a:solidFill>
              </a:rPr>
              <a:t>within</a:t>
            </a:r>
            <a:r>
              <a:rPr lang="en-US" dirty="0"/>
              <a:t> the view volume but is </a:t>
            </a:r>
            <a:r>
              <a:rPr lang="en-US" dirty="0">
                <a:solidFill>
                  <a:srgbClr val="C00000"/>
                </a:solidFill>
              </a:rPr>
              <a:t>occluded</a:t>
            </a:r>
            <a:r>
              <a:rPr lang="en-US" dirty="0"/>
              <a:t> by other geometry closer to the camera: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OpenGL </a:t>
            </a:r>
            <a:r>
              <a:rPr lang="en-US" dirty="0">
                <a:solidFill>
                  <a:srgbClr val="C00000"/>
                </a:solidFill>
              </a:rPr>
              <a:t>supports</a:t>
            </a:r>
            <a:r>
              <a:rPr lang="en-US" dirty="0"/>
              <a:t> occlusion queries to assist the user in occlusion culling</a:t>
            </a:r>
          </a:p>
          <a:p>
            <a:r>
              <a:rPr lang="en-US" dirty="0"/>
              <a:t>By a fast rendering pass, it counts how many pixels of the tested object will be rendered</a:t>
            </a:r>
          </a:p>
          <a:p>
            <a:r>
              <a:rPr lang="en-US" dirty="0"/>
              <a:t>This is commonly used in games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Occlusion Culling</a:t>
            </a:r>
          </a:p>
        </p:txBody>
      </p:sp>
      <p:sp>
        <p:nvSpPr>
          <p:cNvPr id="4" name="Isosceles Triangle 3"/>
          <p:cNvSpPr/>
          <p:nvPr/>
        </p:nvSpPr>
        <p:spPr>
          <a:xfrm>
            <a:off x="3226855" y="2294965"/>
            <a:ext cx="1295400" cy="1676400"/>
          </a:xfrm>
          <a:prstGeom prst="triangle">
            <a:avLst/>
          </a:prstGeom>
          <a:solidFill>
            <a:srgbClr val="00B0F0"/>
          </a:solidFill>
          <a:ln>
            <a:solidFill>
              <a:srgbClr val="00B0F0"/>
            </a:solidFill>
          </a:ln>
          <a:scene3d>
            <a:camera prst="isometricRight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/>
          <p:cNvCxnSpPr/>
          <p:nvPr/>
        </p:nvCxnSpPr>
        <p:spPr>
          <a:xfrm flipH="1" flipV="1">
            <a:off x="4648200" y="3429000"/>
            <a:ext cx="598967" cy="12936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5181600" y="3505200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495800" y="304800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</a:t>
            </a:r>
            <a:endParaRPr lang="en-US" b="1" baseline="-25000" dirty="0"/>
          </a:p>
        </p:txBody>
      </p:sp>
      <p:sp>
        <p:nvSpPr>
          <p:cNvPr id="8" name="TextBox 7"/>
          <p:cNvSpPr txBox="1"/>
          <p:nvPr/>
        </p:nvSpPr>
        <p:spPr>
          <a:xfrm>
            <a:off x="5029200" y="3593068"/>
            <a:ext cx="4987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eye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89754" y="2971800"/>
            <a:ext cx="20141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Bunny is occluded</a:t>
            </a:r>
          </a:p>
          <a:p>
            <a:r>
              <a:rPr lang="en-US" dirty="0"/>
              <a:t>by the blue triangle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70</a:t>
            </a:fld>
            <a:endParaRPr lang="en-US"/>
          </a:p>
        </p:txBody>
      </p:sp>
      <p:pic>
        <p:nvPicPr>
          <p:cNvPr id="13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57003" y="2350097"/>
            <a:ext cx="1035500" cy="12680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Occlusion Culling in OpenGL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572000"/>
          </a:xfrm>
        </p:spPr>
        <p:txBody>
          <a:bodyPr>
            <a:normAutofit fontScale="850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Create a query.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Disable rendering to screen (set the color mask of all channels to False).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Disable writing to depth buffer (just test against, but don't update, the depth buffer).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Issue query begin (which resets the counter of visible pixels).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"Render" the object's bounding box (it'll only do depth testing; pixels that pass depth testing will not be rendered on-screen because rendering and depth writing were disabled).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End query (stop counting visible pixels).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Enable rendering to screen.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Enable depth writing (if required).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Get query result (the number of "visible" pixels).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If the number of visible pixels is greater than 0 (or some threshold), </a:t>
            </a:r>
          </a:p>
          <a:p>
            <a:pPr marL="731520" lvl="1" indent="-457200"/>
            <a:r>
              <a:rPr lang="en-US" dirty="0"/>
              <a:t>Render the complete object. 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37049" y="5955268"/>
            <a:ext cx="7544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details see: http://http.developer.nvidia.com/GPUGems/gpugems_ch29.html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8B623-5845-4856-8461-8F67AB967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EF191-5E26-40BB-86CB-DC372CEF31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Clipping and culling stages take a set of vertices defined in clip space and connectivity information</a:t>
            </a:r>
          </a:p>
          <a:p>
            <a:r>
              <a:rPr lang="en-US" dirty="0"/>
              <a:t>They output a potentially modified set of vertices also in clip space</a:t>
            </a:r>
          </a:p>
          <a:p>
            <a:r>
              <a:rPr lang="en-US" dirty="0"/>
              <a:t>In case of polygon clipping, these vertices can be triangulated to create new primitives</a:t>
            </a:r>
          </a:p>
          <a:p>
            <a:r>
              <a:rPr lang="en-US" dirty="0"/>
              <a:t>The ensuing perspective divide brings everything to [-1, 1] range known as the canonical viewing volume or normalized device coordinates</a:t>
            </a:r>
          </a:p>
          <a:p>
            <a:r>
              <a:rPr lang="en-US" dirty="0"/>
              <a:t>The viewport transform brings everything to the screen coordinates while transforming z to [0, 1] range</a:t>
            </a:r>
          </a:p>
          <a:p>
            <a:r>
              <a:rPr lang="en-US" dirty="0"/>
              <a:t>The next stage, known as rasterization, actually determines which pixels belong to the primitive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E4667B-8636-484F-B167-640EB0484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5B1E3C-A4B6-4295-AFEC-6BC14C5E6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14502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6832" y="1311442"/>
            <a:ext cx="8686800" cy="5181600"/>
          </a:xfrm>
        </p:spPr>
        <p:txBody>
          <a:bodyPr>
            <a:normAutofit/>
          </a:bodyPr>
          <a:lstStyle/>
          <a:p>
            <a:r>
              <a:rPr lang="en-US" dirty="0"/>
              <a:t>In practice clipping is done by comparing each of the x, y, z coordinates with the w coordinate of the point</a:t>
            </a:r>
          </a:p>
          <a:p>
            <a:r>
              <a:rPr lang="en-US" dirty="0"/>
              <a:t>Let’s visualize in 1D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Clipping Details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73</a:t>
            </a:fld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817026A-7C7A-41F0-9DCC-F11430CE8A44}"/>
              </a:ext>
            </a:extLst>
          </p:cNvPr>
          <p:cNvSpPr txBox="1"/>
          <p:nvPr/>
        </p:nvSpPr>
        <p:spPr>
          <a:xfrm>
            <a:off x="4152232" y="5572513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F93584B-4497-46F0-B095-AB9232500D2A}"/>
              </a:ext>
            </a:extLst>
          </p:cNvPr>
          <p:cNvSpPr txBox="1"/>
          <p:nvPr/>
        </p:nvSpPr>
        <p:spPr>
          <a:xfrm>
            <a:off x="2380892" y="3583515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BF7AF97-30FB-4BD8-8792-AE0202EC66F3}"/>
              </a:ext>
            </a:extLst>
          </p:cNvPr>
          <p:cNvSpPr txBox="1"/>
          <p:nvPr/>
        </p:nvSpPr>
        <p:spPr>
          <a:xfrm>
            <a:off x="3685653" y="3839435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 = w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E299360-E82C-4CFE-977F-99417A645AD6}"/>
              </a:ext>
            </a:extLst>
          </p:cNvPr>
          <p:cNvSpPr txBox="1"/>
          <p:nvPr/>
        </p:nvSpPr>
        <p:spPr>
          <a:xfrm>
            <a:off x="1002622" y="3956542"/>
            <a:ext cx="740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 = -w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41D7B8C-803B-4161-836E-F0FA7F6247C8}"/>
              </a:ext>
            </a:extLst>
          </p:cNvPr>
          <p:cNvCxnSpPr>
            <a:cxnSpLocks/>
          </p:cNvCxnSpPr>
          <p:nvPr/>
        </p:nvCxnSpPr>
        <p:spPr>
          <a:xfrm>
            <a:off x="2545309" y="5604989"/>
            <a:ext cx="17531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3F1687E-A302-4866-88B1-832ED9CCCA9A}"/>
              </a:ext>
            </a:extLst>
          </p:cNvPr>
          <p:cNvCxnSpPr/>
          <p:nvPr/>
        </p:nvCxnSpPr>
        <p:spPr>
          <a:xfrm flipV="1">
            <a:off x="2545309" y="3885897"/>
            <a:ext cx="0" cy="17190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6F89367-1468-4BF2-B3AE-1C4531461B2D}"/>
              </a:ext>
            </a:extLst>
          </p:cNvPr>
          <p:cNvCxnSpPr/>
          <p:nvPr/>
        </p:nvCxnSpPr>
        <p:spPr>
          <a:xfrm flipV="1">
            <a:off x="2545309" y="4141208"/>
            <a:ext cx="1395701" cy="14637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D2B08D9-C186-459F-B6C0-7FE1F6B17F21}"/>
              </a:ext>
            </a:extLst>
          </p:cNvPr>
          <p:cNvCxnSpPr>
            <a:cxnSpLocks/>
          </p:cNvCxnSpPr>
          <p:nvPr/>
        </p:nvCxnSpPr>
        <p:spPr>
          <a:xfrm flipH="1" flipV="1">
            <a:off x="1296672" y="4225904"/>
            <a:ext cx="1259108" cy="13790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B661F9E-2C7E-4494-97F0-84F961EC020E}"/>
              </a:ext>
            </a:extLst>
          </p:cNvPr>
          <p:cNvCxnSpPr/>
          <p:nvPr/>
        </p:nvCxnSpPr>
        <p:spPr>
          <a:xfrm flipV="1">
            <a:off x="650336" y="4745443"/>
            <a:ext cx="4019216" cy="4340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831A7D6C-DFF4-4CC8-A061-78E5A7316F8B}"/>
              </a:ext>
            </a:extLst>
          </p:cNvPr>
          <p:cNvSpPr/>
          <p:nvPr/>
        </p:nvSpPr>
        <p:spPr>
          <a:xfrm>
            <a:off x="576580" y="5110023"/>
            <a:ext cx="188593" cy="188593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49097095-1A29-43AF-9AC0-63741DBCF661}"/>
              </a:ext>
            </a:extLst>
          </p:cNvPr>
          <p:cNvSpPr/>
          <p:nvPr/>
        </p:nvSpPr>
        <p:spPr>
          <a:xfrm>
            <a:off x="4576447" y="4684506"/>
            <a:ext cx="188593" cy="188593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74879068-D0F5-403A-A2E7-3C6430FE6598}"/>
              </a:ext>
            </a:extLst>
          </p:cNvPr>
          <p:cNvSpPr/>
          <p:nvPr/>
        </p:nvSpPr>
        <p:spPr>
          <a:xfrm>
            <a:off x="1955258" y="4939816"/>
            <a:ext cx="188593" cy="188593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9F16A5A0-B56B-4A6D-A654-B7EB19CDE418}"/>
              </a:ext>
            </a:extLst>
          </p:cNvPr>
          <p:cNvSpPr/>
          <p:nvPr/>
        </p:nvSpPr>
        <p:spPr>
          <a:xfrm>
            <a:off x="3120069" y="4821149"/>
            <a:ext cx="188593" cy="188593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C9F3D0D-A2E8-4882-A74A-3DC114847F84}"/>
              </a:ext>
            </a:extLst>
          </p:cNvPr>
          <p:cNvSpPr txBox="1"/>
          <p:nvPr/>
        </p:nvSpPr>
        <p:spPr>
          <a:xfrm>
            <a:off x="64832" y="5270913"/>
            <a:ext cx="1343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= (x</a:t>
            </a:r>
            <a:r>
              <a:rPr lang="en-US" baseline="-25000" dirty="0"/>
              <a:t>0c</a:t>
            </a:r>
            <a:r>
              <a:rPr lang="en-US" dirty="0"/>
              <a:t>, w</a:t>
            </a:r>
            <a:r>
              <a:rPr lang="en-US" baseline="-25000" dirty="0"/>
              <a:t>0c</a:t>
            </a:r>
            <a:r>
              <a:rPr lang="en-US" dirty="0"/>
              <a:t>)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2710AB1-B7BB-41C8-9F5C-1C24DB9202D9}"/>
              </a:ext>
            </a:extLst>
          </p:cNvPr>
          <p:cNvSpPr txBox="1"/>
          <p:nvPr/>
        </p:nvSpPr>
        <p:spPr>
          <a:xfrm>
            <a:off x="4271557" y="4866101"/>
            <a:ext cx="1343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 = (x</a:t>
            </a:r>
            <a:r>
              <a:rPr lang="en-US" baseline="-25000" dirty="0"/>
              <a:t>1c</a:t>
            </a:r>
            <a:r>
              <a:rPr lang="en-US" dirty="0"/>
              <a:t>, w</a:t>
            </a:r>
            <a:r>
              <a:rPr lang="en-US" baseline="-25000" dirty="0"/>
              <a:t>1c</a:t>
            </a:r>
            <a:r>
              <a:rPr lang="en-US" dirty="0"/>
              <a:t>)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D74CC86-4ADA-41A0-9495-D7C33AFF0C94}"/>
              </a:ext>
            </a:extLst>
          </p:cNvPr>
          <p:cNvSpPr txBox="1"/>
          <p:nvPr/>
        </p:nvSpPr>
        <p:spPr>
          <a:xfrm>
            <a:off x="5211107" y="3296664"/>
            <a:ext cx="397951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Find the t values by intersecting the AB line with x = -w and x = w lines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Repeat for y and z updating </a:t>
            </a:r>
            <a:r>
              <a:rPr lang="en-US" sz="1600" dirty="0" err="1"/>
              <a:t>t</a:t>
            </a:r>
            <a:r>
              <a:rPr lang="en-US" sz="1600" baseline="-25000" dirty="0" err="1"/>
              <a:t>Lmin</a:t>
            </a:r>
            <a:r>
              <a:rPr lang="en-US" sz="1600" dirty="0"/>
              <a:t> and </a:t>
            </a:r>
            <a:r>
              <a:rPr lang="en-US" sz="1600" dirty="0" err="1"/>
              <a:t>t</a:t>
            </a:r>
            <a:r>
              <a:rPr lang="en-US" sz="1600" baseline="-25000" dirty="0" err="1"/>
              <a:t>Emax</a:t>
            </a:r>
            <a:endParaRPr lang="en-US" sz="1600" baseline="-25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Once the line (or the edge) is determined to be crossing the boundary, (</a:t>
            </a:r>
            <a:r>
              <a:rPr lang="en-US" sz="1600" dirty="0" err="1"/>
              <a:t>t</a:t>
            </a:r>
            <a:r>
              <a:rPr lang="en-US" sz="1600" baseline="-25000" dirty="0" err="1"/>
              <a:t>Emax</a:t>
            </a:r>
            <a:r>
              <a:rPr lang="en-US" sz="1600" dirty="0"/>
              <a:t> &lt; </a:t>
            </a:r>
            <a:r>
              <a:rPr lang="en-US" sz="1600" dirty="0" err="1"/>
              <a:t>t</a:t>
            </a:r>
            <a:r>
              <a:rPr lang="en-US" sz="1600" baseline="-25000" dirty="0" err="1"/>
              <a:t>Lmin</a:t>
            </a:r>
            <a:r>
              <a:rPr lang="en-US" sz="1600" dirty="0"/>
              <a:t>), compute A’ and B’ by interpolating all of the homogeneous coordinates</a:t>
            </a:r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70E1CC73-AD3D-4754-B051-7E4EFCB41720}"/>
              </a:ext>
            </a:extLst>
          </p:cNvPr>
          <p:cNvSpPr/>
          <p:nvPr/>
        </p:nvSpPr>
        <p:spPr>
          <a:xfrm rot="19124017">
            <a:off x="-43241" y="475083"/>
            <a:ext cx="1626310" cy="463825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For the curious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A6C152C-9849-4C94-983F-A3DB0A52D880}"/>
              </a:ext>
            </a:extLst>
          </p:cNvPr>
          <p:cNvSpPr txBox="1"/>
          <p:nvPr/>
        </p:nvSpPr>
        <p:spPr>
          <a:xfrm>
            <a:off x="1843949" y="5138116"/>
            <a:ext cx="366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A’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EB8BD99-93C8-418B-9CD2-7D090B8A8225}"/>
              </a:ext>
            </a:extLst>
          </p:cNvPr>
          <p:cNvSpPr txBox="1"/>
          <p:nvPr/>
        </p:nvSpPr>
        <p:spPr>
          <a:xfrm>
            <a:off x="3238725" y="4914405"/>
            <a:ext cx="366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metu">
  <a:themeElements>
    <a:clrScheme name="NewsPrint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Benton">
      <a:majorFont>
        <a:latin typeface="BentonSansTRUMed"/>
        <a:ea typeface=""/>
        <a:cs typeface=""/>
      </a:majorFont>
      <a:minorFont>
        <a:latin typeface="BentonSansTRUReg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</TotalTime>
  <Words>5540</Words>
  <Application>Microsoft Office PowerPoint</Application>
  <PresentationFormat>On-screen Show (4:3)</PresentationFormat>
  <Paragraphs>1344</Paragraphs>
  <Slides>73</Slides>
  <Notes>11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79" baseType="lpstr">
      <vt:lpstr>Arial</vt:lpstr>
      <vt:lpstr>BentonSansTRUMed</vt:lpstr>
      <vt:lpstr>BentonSansTRUReg</vt:lpstr>
      <vt:lpstr>Calibri</vt:lpstr>
      <vt:lpstr>Cambria Math</vt:lpstr>
      <vt:lpstr>1_metu</vt:lpstr>
      <vt:lpstr>CENG 477 Introduction to Computer Graphics</vt:lpstr>
      <vt:lpstr>Rendering Pipeline</vt:lpstr>
      <vt:lpstr>Rendering Pipeline</vt:lpstr>
      <vt:lpstr>Rendering Pipeline – Overview</vt:lpstr>
      <vt:lpstr>Rendering Pipeline – Overview</vt:lpstr>
      <vt:lpstr>Rendering Pipeline – Overview</vt:lpstr>
      <vt:lpstr>Rendering Pipeline – Overview</vt:lpstr>
      <vt:lpstr>Rendering Pipeline – Overview</vt:lpstr>
      <vt:lpstr>Rendering Pipeline – Overview</vt:lpstr>
      <vt:lpstr>Rendering Pipeline – Overview</vt:lpstr>
      <vt:lpstr>Until Now</vt:lpstr>
      <vt:lpstr>Clipping</vt:lpstr>
      <vt:lpstr>Clipping</vt:lpstr>
      <vt:lpstr>Clipping Location</vt:lpstr>
      <vt:lpstr>Clipping Location</vt:lpstr>
      <vt:lpstr>Clipping Location</vt:lpstr>
      <vt:lpstr>Clipping Location</vt:lpstr>
      <vt:lpstr>Clipping</vt:lpstr>
      <vt:lpstr>Cohen-Sutherland Algorithm</vt:lpstr>
      <vt:lpstr>Cohen-Sutherland Algorithm</vt:lpstr>
      <vt:lpstr>Cohen-Sutherland Algorithm</vt:lpstr>
      <vt:lpstr>Cohen-Sutherland Algorithm</vt:lpstr>
      <vt:lpstr>Cohen-Sutherland Algorithm</vt:lpstr>
      <vt:lpstr>Cohen-Sutherland Algorithm</vt:lpstr>
      <vt:lpstr>Cohen-Sutherland Algorithm</vt:lpstr>
      <vt:lpstr>Cohen-Sutherland Algorithm</vt:lpstr>
      <vt:lpstr>Cohen-Sutherland Algorithm</vt:lpstr>
      <vt:lpstr>Cohen-Sutherland Algorithm</vt:lpstr>
      <vt:lpstr>Cohen-Sutherland Algorithm</vt:lpstr>
      <vt:lpstr>Cohen-Sutherland Algorithm</vt:lpstr>
      <vt:lpstr>Cohen-Sutherland Algorithm</vt:lpstr>
      <vt:lpstr>Cohen-Sutherland Algorithm</vt:lpstr>
      <vt:lpstr>Cohen-Sutherland Algorithm</vt:lpstr>
      <vt:lpstr>Cohen-Sutherland Algorithm</vt:lpstr>
      <vt:lpstr>Line Intersections</vt:lpstr>
      <vt:lpstr>Line Intersections</vt:lpstr>
      <vt:lpstr>Cohen-Sutherland Algorithm</vt:lpstr>
      <vt:lpstr>Liang-Barsky Algorithm</vt:lpstr>
      <vt:lpstr>Liang-Barsky Algorithm</vt:lpstr>
      <vt:lpstr>Liang-Barsky Algorithm</vt:lpstr>
      <vt:lpstr>Liang-Barsky Algorithm</vt:lpstr>
      <vt:lpstr>Liang-Barsky Algorithm</vt:lpstr>
      <vt:lpstr>Liang-Barsky Algorithm</vt:lpstr>
      <vt:lpstr>Liang-Barsky Algorithm</vt:lpstr>
      <vt:lpstr>Liang-Barsky Algorithm</vt:lpstr>
      <vt:lpstr>Liang-Barsky Algorithm</vt:lpstr>
      <vt:lpstr>Liang-Barsky Algorithm</vt:lpstr>
      <vt:lpstr>Liang-Barsky Algorithm</vt:lpstr>
      <vt:lpstr>Liang-Barsky Algorithm</vt:lpstr>
      <vt:lpstr>Liang-Barsky Algorithm</vt:lpstr>
      <vt:lpstr>Example</vt:lpstr>
      <vt:lpstr>Example</vt:lpstr>
      <vt:lpstr>Example</vt:lpstr>
      <vt:lpstr>Polygon Clipping – Sutherland Hodgeman Algorithm</vt:lpstr>
      <vt:lpstr>Sutherland Hodgeman Algorithm</vt:lpstr>
      <vt:lpstr>Sutherland Hodgeman Algorithm</vt:lpstr>
      <vt:lpstr>Sutherland Hodgeman Algorithm</vt:lpstr>
      <vt:lpstr>Sutherland Hodgeman Algorithm</vt:lpstr>
      <vt:lpstr>Example</vt:lpstr>
      <vt:lpstr>Example</vt:lpstr>
      <vt:lpstr>Example</vt:lpstr>
      <vt:lpstr>Example</vt:lpstr>
      <vt:lpstr>Example</vt:lpstr>
      <vt:lpstr>Culling</vt:lpstr>
      <vt:lpstr>View Volume (Frustum) Culling</vt:lpstr>
      <vt:lpstr>View Volume (Frustum) Culling</vt:lpstr>
      <vt:lpstr>Backface Culling</vt:lpstr>
      <vt:lpstr>Backface Culling</vt:lpstr>
      <vt:lpstr>Backface Culling</vt:lpstr>
      <vt:lpstr>Occlusion Culling</vt:lpstr>
      <vt:lpstr>Occlusion Culling in OpenGL</vt:lpstr>
      <vt:lpstr>Summary</vt:lpstr>
      <vt:lpstr>Clipping Details</vt:lpstr>
    </vt:vector>
  </TitlesOfParts>
  <Company>AMD,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oguz</dc:creator>
  <cp:lastModifiedBy>Oguz Akyuz</cp:lastModifiedBy>
  <cp:revision>720</cp:revision>
  <dcterms:created xsi:type="dcterms:W3CDTF">2011-10-08T08:51:54Z</dcterms:created>
  <dcterms:modified xsi:type="dcterms:W3CDTF">2025-11-17T16:18:35Z</dcterms:modified>
</cp:coreProperties>
</file>