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86" r:id="rId4"/>
    <p:sldId id="287" r:id="rId5"/>
    <p:sldId id="288" r:id="rId6"/>
    <p:sldId id="299" r:id="rId7"/>
    <p:sldId id="306" r:id="rId8"/>
    <p:sldId id="300" r:id="rId9"/>
    <p:sldId id="301" r:id="rId10"/>
    <p:sldId id="302" r:id="rId11"/>
    <p:sldId id="305" r:id="rId12"/>
    <p:sldId id="307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8" r:id="rId21"/>
    <p:sldId id="296" r:id="rId22"/>
    <p:sldId id="403" r:id="rId23"/>
    <p:sldId id="297" r:id="rId24"/>
    <p:sldId id="353" r:id="rId25"/>
    <p:sldId id="354" r:id="rId26"/>
    <p:sldId id="303" r:id="rId27"/>
    <p:sldId id="404" r:id="rId28"/>
    <p:sldId id="304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D000"/>
    <a:srgbClr val="C00000"/>
    <a:srgbClr val="849B46"/>
    <a:srgbClr val="7F8000"/>
    <a:srgbClr val="5FA000"/>
    <a:srgbClr val="887700"/>
    <a:srgbClr val="C33C00"/>
    <a:srgbClr val="00FF00"/>
    <a:srgbClr val="FF0000"/>
    <a:srgbClr val="AA89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08"/>
    <p:restoredTop sz="94704"/>
  </p:normalViewPr>
  <p:slideViewPr>
    <p:cSldViewPr>
      <p:cViewPr varScale="1">
        <p:scale>
          <a:sx n="131" d="100"/>
          <a:sy n="131" d="100"/>
        </p:scale>
        <p:origin x="10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5BBA5-28D6-4FEC-BDCF-A471F1B098DC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59093-AD9B-4038-95B1-74A0CCD24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5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AF9377-E336-4DD4-AA45-76AA9E35D108}" type="datetime1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CENG 477 -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4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044487C-19BE-41BA-9A5D-B6175BD5FAF1}" type="datetime1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98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17EACA9-B4E0-4A03-8FA0-42A385EC7AD3}" type="datetime1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1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A39B7A-A6D5-4A19-B6CF-970B0208EB3E}" type="datetime1">
              <a:rPr lang="en-US" smtClean="0"/>
              <a:t>12/25/21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16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BD27E44-5C3C-4884-92DC-6D27A59EE568}" type="datetime1">
              <a:rPr lang="en-US" smtClean="0"/>
              <a:t>12/25/21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1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D9DE8E6-8141-44AF-9EA0-3D69C0625515}" type="datetime1">
              <a:rPr lang="en-US" smtClean="0"/>
              <a:t>12/25/21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17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8733EC0-FAC4-475A-B6C9-06664E16831E}" type="datetime1">
              <a:rPr lang="en-US" smtClean="0"/>
              <a:t>12/25/21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21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418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CENG 477 -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418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85F22-8D96-4CC0-8AEC-D5DD4505838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470779"/>
            <a:ext cx="762000" cy="316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0" y="6391656"/>
            <a:ext cx="9144000" cy="91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6830568"/>
            <a:ext cx="91440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6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ww.bluesnews.com/abrash/chap64.s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CENG – 477</a:t>
            </a:r>
            <a:br>
              <a:rPr lang="en-US" dirty="0"/>
            </a:br>
            <a:r>
              <a:rPr lang="en-US" dirty="0"/>
              <a:t>Introduction to Computer Graphics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Fragment Processing</a:t>
            </a:r>
          </a:p>
        </p:txBody>
      </p:sp>
    </p:spTree>
    <p:extLst>
      <p:ext uri="{BB962C8B-B14F-4D97-AF65-F5344CB8AC3E}">
        <p14:creationId xmlns:p14="http://schemas.microsoft.com/office/powerpoint/2010/main" val="408313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previous stages of the pipeline (up to rasterization) is generally known as the </a:t>
            </a:r>
            <a:r>
              <a:rPr lang="en-US" dirty="0">
                <a:solidFill>
                  <a:srgbClr val="C00000"/>
                </a:solidFill>
              </a:rPr>
              <a:t>vertex pipeline</a:t>
            </a: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Rasterization</a:t>
            </a:r>
            <a:r>
              <a:rPr lang="en-US" dirty="0"/>
              <a:t> creates a set of </a:t>
            </a:r>
            <a:r>
              <a:rPr lang="en-US" dirty="0">
                <a:solidFill>
                  <a:srgbClr val="C00000"/>
                </a:solidFill>
              </a:rPr>
              <a:t>fragments</a:t>
            </a:r>
            <a:r>
              <a:rPr lang="en-US" dirty="0"/>
              <a:t> that make up the interior region of the primitive</a:t>
            </a:r>
          </a:p>
          <a:p>
            <a:r>
              <a:rPr lang="en-US" dirty="0"/>
              <a:t>The rest of the pipeline which operates on these fragments is called the </a:t>
            </a:r>
            <a:r>
              <a:rPr lang="en-US" dirty="0">
                <a:solidFill>
                  <a:srgbClr val="C00000"/>
                </a:solidFill>
              </a:rPr>
              <a:t>fragment pipeline</a:t>
            </a:r>
            <a:endParaRPr lang="en-US" dirty="0"/>
          </a:p>
          <a:p>
            <a:r>
              <a:rPr lang="en-US" dirty="0"/>
              <a:t>Fragment pipeline is comprised of several operations</a:t>
            </a:r>
          </a:p>
          <a:p>
            <a:r>
              <a:rPr lang="en-US" dirty="0"/>
              <a:t>The end result of fragment processing is the update of corresponding locations in the </a:t>
            </a:r>
            <a:r>
              <a:rPr lang="en-US" dirty="0">
                <a:solidFill>
                  <a:srgbClr val="C00000"/>
                </a:solidFill>
              </a:rPr>
              <a:t>framebuffer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45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19200" y="3017365"/>
            <a:ext cx="1676400" cy="603504"/>
          </a:xfrm>
          <a:prstGeom prst="rect">
            <a:avLst/>
          </a:prstGeom>
          <a:solidFill>
            <a:srgbClr val="92D050"/>
          </a:solidFill>
          <a:ln>
            <a:solidFill>
              <a:srgbClr val="727C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Vertex</a:t>
            </a:r>
          </a:p>
          <a:p>
            <a:pPr algn="ctr"/>
            <a:r>
              <a:rPr lang="en-US" dirty="0"/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9580" y="2263196"/>
            <a:ext cx="935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1102" y="3017365"/>
            <a:ext cx="1676400" cy="60350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Fragment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0675" y="3936548"/>
            <a:ext cx="1437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Framebuffer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3017365"/>
            <a:ext cx="1676400" cy="603504"/>
          </a:xfrm>
          <a:prstGeom prst="rect">
            <a:avLst/>
          </a:prstGeom>
          <a:solidFill>
            <a:srgbClr val="92D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Rasterization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2057400" y="2601449"/>
            <a:ext cx="1" cy="384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938347" y="331911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181600" y="3318845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6499301" y="3652849"/>
            <a:ext cx="1" cy="384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15375" y="4687669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Color </a:t>
            </a:r>
          </a:p>
          <a:p>
            <a:r>
              <a:rPr lang="en-US" dirty="0"/>
              <a:t>Buffer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3268" y="4687669"/>
            <a:ext cx="864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Depth </a:t>
            </a:r>
          </a:p>
          <a:p>
            <a:r>
              <a:rPr lang="en-US" dirty="0"/>
              <a:t>Buffer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5282" y="4687669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Stencil </a:t>
            </a:r>
          </a:p>
          <a:p>
            <a:r>
              <a:rPr lang="en-US" dirty="0"/>
              <a:t>Buffer</a:t>
            </a:r>
          </a:p>
        </p:txBody>
      </p:sp>
      <p:cxnSp>
        <p:nvCxnSpPr>
          <p:cNvPr id="23" name="Straight Arrow Connector 22"/>
          <p:cNvCxnSpPr>
            <a:endCxn id="19" idx="0"/>
          </p:cNvCxnSpPr>
          <p:nvPr/>
        </p:nvCxnSpPr>
        <p:spPr>
          <a:xfrm flipH="1">
            <a:off x="5515485" y="4305880"/>
            <a:ext cx="983816" cy="381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9" idx="2"/>
          </p:cNvCxnSpPr>
          <p:nvPr/>
        </p:nvCxnSpPr>
        <p:spPr>
          <a:xfrm flipH="1">
            <a:off x="6499301" y="4305880"/>
            <a:ext cx="1" cy="472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1" idx="0"/>
          </p:cNvCxnSpPr>
          <p:nvPr/>
        </p:nvCxnSpPr>
        <p:spPr>
          <a:xfrm>
            <a:off x="6499301" y="4305880"/>
            <a:ext cx="1206623" cy="381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09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Fragment pipeline is comprised of many stages:</a:t>
            </a:r>
          </a:p>
          <a:p>
            <a:pPr lvl="1"/>
            <a:r>
              <a:rPr lang="en-US" dirty="0"/>
              <a:t>Following is OpenGL’s handling of the fragment pipeline</a:t>
            </a:r>
          </a:p>
          <a:p>
            <a:pPr lvl="1"/>
            <a:r>
              <a:rPr lang="en-US" dirty="0"/>
              <a:t>Different renderers may implement a different set of stages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895600"/>
            <a:ext cx="5650706" cy="3131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EABFEBF-6F5F-B74D-AA5B-4C06276EE952}"/>
              </a:ext>
            </a:extLst>
          </p:cNvPr>
          <p:cNvSpPr/>
          <p:nvPr/>
        </p:nvSpPr>
        <p:spPr>
          <a:xfrm>
            <a:off x="1981200" y="6126163"/>
            <a:ext cx="5105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TR" sz="1400" dirty="0"/>
              <a:t>See: https://www.khronos.org/opengl/wiki/Per-Sample_Processing</a:t>
            </a:r>
          </a:p>
        </p:txBody>
      </p:sp>
    </p:spTree>
    <p:extLst>
      <p:ext uri="{BB962C8B-B14F-4D97-AF65-F5344CB8AC3E}">
        <p14:creationId xmlns:p14="http://schemas.microsoft.com/office/powerpoint/2010/main" val="1706713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 Ownership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the renderer (e.g. OpenGL) has the ownership of the current framebuffer pixel?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0BA7E5-0991-DE4C-97D5-A7B499F4D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514600"/>
            <a:ext cx="32512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indows XP - Making text larger | My Computer My Way">
            <a:extLst>
              <a:ext uri="{FF2B5EF4-FFF2-40B4-BE49-F238E27FC236}">
                <a16:creationId xmlns:a16="http://schemas.microsoft.com/office/drawing/2014/main" id="{0EF0A33A-7D97-C747-993F-448A92DC3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318" y="3581400"/>
            <a:ext cx="2430082" cy="273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BD6827-D122-1945-820E-7AAFE786F8F5}"/>
              </a:ext>
            </a:extLst>
          </p:cNvPr>
          <p:cNvSpPr txBox="1"/>
          <p:nvPr/>
        </p:nvSpPr>
        <p:spPr>
          <a:xfrm>
            <a:off x="271409" y="433447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These pixels are owned</a:t>
            </a:r>
          </a:p>
          <a:p>
            <a:r>
              <a:rPr lang="en-US" dirty="0"/>
              <a:t>by OpenGL</a:t>
            </a:r>
            <a:endParaRPr lang="en-TR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A9C55C-02F4-E045-A167-F9996E719B66}"/>
              </a:ext>
            </a:extLst>
          </p:cNvPr>
          <p:cNvCxnSpPr/>
          <p:nvPr/>
        </p:nvCxnSpPr>
        <p:spPr>
          <a:xfrm flipV="1">
            <a:off x="1600200" y="4648200"/>
            <a:ext cx="205740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A1E6336-6DE5-FC4C-8896-789AC8A017D6}"/>
              </a:ext>
            </a:extLst>
          </p:cNvPr>
          <p:cNvSpPr txBox="1"/>
          <p:nvPr/>
        </p:nvSpPr>
        <p:spPr>
          <a:xfrm>
            <a:off x="6375400" y="2342391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These pixels are owned</a:t>
            </a:r>
          </a:p>
          <a:p>
            <a:r>
              <a:rPr lang="en-US" dirty="0"/>
              <a:t>by other windows</a:t>
            </a:r>
            <a:endParaRPr lang="en-TR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FF9C9F-CFDE-0041-9E2D-F18268D6F668}"/>
              </a:ext>
            </a:extLst>
          </p:cNvPr>
          <p:cNvCxnSpPr>
            <a:cxnSpLocks/>
          </p:cNvCxnSpPr>
          <p:nvPr/>
        </p:nvCxnSpPr>
        <p:spPr>
          <a:xfrm flipH="1">
            <a:off x="5029200" y="2971301"/>
            <a:ext cx="1379306" cy="1295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55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Scissor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Scissor test is a per-fragment operation that discards fragments outside a certain rectangular region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29400" y="3054379"/>
            <a:ext cx="2161600" cy="13652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angle 6"/>
          <p:cNvSpPr/>
          <p:nvPr/>
        </p:nvSpPr>
        <p:spPr>
          <a:xfrm>
            <a:off x="3096200" y="3473479"/>
            <a:ext cx="1080800" cy="739495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315132" y="2685047"/>
            <a:ext cx="1618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scissor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1600" y="3054379"/>
            <a:ext cx="2161600" cy="13652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iangle 9"/>
          <p:cNvSpPr/>
          <p:nvPr/>
        </p:nvSpPr>
        <p:spPr>
          <a:xfrm>
            <a:off x="6248400" y="3473479"/>
            <a:ext cx="1080800" cy="739495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456292" y="2665302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Scissor rectangle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516604" y="3384427"/>
            <a:ext cx="455074" cy="478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657600" y="4732163"/>
            <a:ext cx="2161600" cy="13652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/>
          <p:cNvSpPr/>
          <p:nvPr/>
        </p:nvSpPr>
        <p:spPr>
          <a:xfrm>
            <a:off x="4992604" y="5151263"/>
            <a:ext cx="455074" cy="389702"/>
          </a:xfrm>
          <a:custGeom>
            <a:avLst/>
            <a:gdLst>
              <a:gd name="connsiteX0" fmla="*/ 272196 w 455074"/>
              <a:gd name="connsiteY0" fmla="*/ 0 h 389702"/>
              <a:gd name="connsiteX1" fmla="*/ 455074 w 455074"/>
              <a:gd name="connsiteY1" fmla="*/ 250254 h 389702"/>
              <a:gd name="connsiteX2" fmla="*/ 455074 w 455074"/>
              <a:gd name="connsiteY2" fmla="*/ 389702 h 389702"/>
              <a:gd name="connsiteX3" fmla="*/ 0 w 455074"/>
              <a:gd name="connsiteY3" fmla="*/ 389702 h 389702"/>
              <a:gd name="connsiteX4" fmla="*/ 0 w 455074"/>
              <a:gd name="connsiteY4" fmla="*/ 372479 h 389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74" h="389702">
                <a:moveTo>
                  <a:pt x="272196" y="0"/>
                </a:moveTo>
                <a:lnTo>
                  <a:pt x="455074" y="250254"/>
                </a:lnTo>
                <a:lnTo>
                  <a:pt x="455074" y="389702"/>
                </a:lnTo>
                <a:lnTo>
                  <a:pt x="0" y="389702"/>
                </a:lnTo>
                <a:lnTo>
                  <a:pt x="0" y="372479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287253" y="4362831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Result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4284" y="4897450"/>
            <a:ext cx="25058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OpenGL, </a:t>
            </a:r>
            <a:r>
              <a:rPr lang="en-US" dirty="0" err="1"/>
              <a:t>glScissor</a:t>
            </a:r>
            <a:endParaRPr lang="en-US" dirty="0"/>
          </a:p>
          <a:p>
            <a:r>
              <a:rPr lang="en-US" dirty="0"/>
              <a:t>command is used for this</a:t>
            </a:r>
          </a:p>
          <a:p>
            <a:r>
              <a:rPr lang="en-US" dirty="0"/>
              <a:t>purpose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6091" y="4992469"/>
            <a:ext cx="2508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that this operation</a:t>
            </a:r>
          </a:p>
          <a:p>
            <a:r>
              <a:rPr lang="en-US" dirty="0"/>
              <a:t>is different from clipping</a:t>
            </a:r>
          </a:p>
        </p:txBody>
      </p:sp>
    </p:spTree>
    <p:extLst>
      <p:ext uri="{BB962C8B-B14F-4D97-AF65-F5344CB8AC3E}">
        <p14:creationId xmlns:p14="http://schemas.microsoft.com/office/powerpoint/2010/main" val="425676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Multi-Sample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framebuffer pixel may contain multiple samples. This allows a smoother border of primitives at the cost of extra processing and memory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7</a:t>
            </a:fld>
            <a:endParaRPr lang="en-US"/>
          </a:p>
        </p:txBody>
      </p:sp>
      <p:pic>
        <p:nvPicPr>
          <p:cNvPr id="2050" name="Picture 2" descr="LearnOpenGL - Anti Aliasing">
            <a:extLst>
              <a:ext uri="{FF2B5EF4-FFF2-40B4-BE49-F238E27FC236}">
                <a16:creationId xmlns:a16="http://schemas.microsoft.com/office/drawing/2014/main" id="{8554F61E-58B8-1E46-988B-5726DB774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200" y="2819400"/>
            <a:ext cx="3149600" cy="319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27AB0D7-20E2-4C46-8FAD-E43F22742BE5}"/>
              </a:ext>
            </a:extLst>
          </p:cNvPr>
          <p:cNvSpPr/>
          <p:nvPr/>
        </p:nvSpPr>
        <p:spPr>
          <a:xfrm>
            <a:off x="1752600" y="6072510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TR" dirty="0"/>
              <a:t>https://learnopengl.com/Advanced-OpenGL/Anti-Aliasing</a:t>
            </a:r>
          </a:p>
        </p:txBody>
      </p:sp>
    </p:spTree>
    <p:extLst>
      <p:ext uri="{BB962C8B-B14F-4D97-AF65-F5344CB8AC3E}">
        <p14:creationId xmlns:p14="http://schemas.microsoft.com/office/powerpoint/2010/main" val="4239636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Stencil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scissor test can be used to mask out rectangles, stencil test can be used to mask arbitrary fragments</a:t>
            </a:r>
          </a:p>
          <a:p>
            <a:r>
              <a:rPr lang="en-US" dirty="0"/>
              <a:t>Requires a different buffer known as the stencil buffer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550523"/>
            <a:ext cx="7620000" cy="18249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7800" y="322350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3223502"/>
            <a:ext cx="1482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Stencil Buffer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3029" y="322350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8515" y="5387808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research.ncl.ac.uk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961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Stencil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 depth and stencil buffers are combined to produce single buffer made of 24-bit depth and 8-bit </a:t>
            </a:r>
            <a:r>
              <a:rPr lang="en-US"/>
              <a:t>stencil information for each pixel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9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90600" y="3581400"/>
            <a:ext cx="7533979" cy="609600"/>
            <a:chOff x="990600" y="3200400"/>
            <a:chExt cx="7533979" cy="609600"/>
          </a:xfrm>
        </p:grpSpPr>
        <p:sp>
          <p:nvSpPr>
            <p:cNvPr id="6" name="Rectangle 5"/>
            <p:cNvSpPr/>
            <p:nvPr/>
          </p:nvSpPr>
          <p:spPr>
            <a:xfrm>
              <a:off x="990600" y="3200400"/>
              <a:ext cx="1676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664996" y="3200400"/>
              <a:ext cx="6858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352800" y="3200400"/>
              <a:ext cx="1676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027196" y="3200400"/>
              <a:ext cx="6858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715000" y="3200400"/>
              <a:ext cx="1676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89396" y="3200400"/>
              <a:ext cx="6858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109081" y="32485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/>
                <a:t>…</a:t>
              </a:r>
              <a:endParaRPr lang="en-US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90600" y="4191000"/>
            <a:ext cx="7533979" cy="609600"/>
            <a:chOff x="990600" y="3200400"/>
            <a:chExt cx="7533979" cy="609600"/>
          </a:xfrm>
        </p:grpSpPr>
        <p:sp>
          <p:nvSpPr>
            <p:cNvPr id="22" name="Rectangle 21"/>
            <p:cNvSpPr/>
            <p:nvPr/>
          </p:nvSpPr>
          <p:spPr>
            <a:xfrm>
              <a:off x="990600" y="3200400"/>
              <a:ext cx="1676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64996" y="3200400"/>
              <a:ext cx="6858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352800" y="3200400"/>
              <a:ext cx="1676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027196" y="3200400"/>
              <a:ext cx="6858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15000" y="3200400"/>
              <a:ext cx="1676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389396" y="3200400"/>
              <a:ext cx="6858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109081" y="32485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/>
                <a:t>…</a:t>
              </a:r>
              <a:endParaRPr lang="en-US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990600" y="4800600"/>
            <a:ext cx="7533979" cy="609600"/>
            <a:chOff x="990600" y="3200400"/>
            <a:chExt cx="7533979" cy="609600"/>
          </a:xfrm>
        </p:grpSpPr>
        <p:sp>
          <p:nvSpPr>
            <p:cNvPr id="30" name="Rectangle 29"/>
            <p:cNvSpPr/>
            <p:nvPr/>
          </p:nvSpPr>
          <p:spPr>
            <a:xfrm>
              <a:off x="990600" y="3200400"/>
              <a:ext cx="1676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664996" y="3200400"/>
              <a:ext cx="6858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352800" y="3200400"/>
              <a:ext cx="1676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027196" y="3200400"/>
              <a:ext cx="6858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715000" y="3200400"/>
              <a:ext cx="1676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389396" y="3200400"/>
              <a:ext cx="6858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09081" y="32485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/>
                <a:t>…</a:t>
              </a:r>
              <a:endParaRPr lang="en-US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990600" y="5410200"/>
            <a:ext cx="7533979" cy="609600"/>
            <a:chOff x="990600" y="3200400"/>
            <a:chExt cx="7533979" cy="609600"/>
          </a:xfrm>
        </p:grpSpPr>
        <p:sp>
          <p:nvSpPr>
            <p:cNvPr id="38" name="Rectangle 37"/>
            <p:cNvSpPr/>
            <p:nvPr/>
          </p:nvSpPr>
          <p:spPr>
            <a:xfrm>
              <a:off x="990600" y="3200400"/>
              <a:ext cx="1676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664996" y="3200400"/>
              <a:ext cx="6858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352800" y="3200400"/>
              <a:ext cx="1676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027196" y="3200400"/>
              <a:ext cx="6858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715000" y="3200400"/>
              <a:ext cx="16764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389396" y="3200400"/>
              <a:ext cx="685800" cy="6096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109081" y="32485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/>
                <a:t>…</a:t>
              </a:r>
              <a:endParaRPr lang="en-US" dirty="0"/>
            </a:p>
          </p:txBody>
        </p:sp>
      </p:grpSp>
      <p:sp>
        <p:nvSpPr>
          <p:cNvPr id="45" name="TextBox 44"/>
          <p:cNvSpPr txBox="1"/>
          <p:nvPr/>
        </p:nvSpPr>
        <p:spPr>
          <a:xfrm rot="5400000">
            <a:off x="4646813" y="608458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/>
              <a:t>…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1752600" y="2831068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Pixel 0</a:t>
            </a:r>
          </a:p>
        </p:txBody>
      </p:sp>
      <p:sp>
        <p:nvSpPr>
          <p:cNvPr id="47" name="Left Brace 46"/>
          <p:cNvSpPr/>
          <p:nvPr/>
        </p:nvSpPr>
        <p:spPr>
          <a:xfrm rot="5400000">
            <a:off x="1996801" y="2155214"/>
            <a:ext cx="324072" cy="23839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116804" y="2819400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</a:p>
        </p:txBody>
      </p:sp>
      <p:sp>
        <p:nvSpPr>
          <p:cNvPr id="49" name="Left Brace 48"/>
          <p:cNvSpPr/>
          <p:nvPr/>
        </p:nvSpPr>
        <p:spPr>
          <a:xfrm rot="5400000">
            <a:off x="4361005" y="2143546"/>
            <a:ext cx="324072" cy="23839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54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Stencil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Stencil buffer and stencil test can also be used to implement one type of shadowing algorithms (we’ll learn this later)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0" y="2622968"/>
            <a:ext cx="4635500" cy="3467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94484" y="6043933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Doom 3</a:t>
            </a:r>
          </a:p>
        </p:txBody>
      </p:sp>
    </p:spTree>
    <p:extLst>
      <p:ext uri="{BB962C8B-B14F-4D97-AF65-F5344CB8AC3E}">
        <p14:creationId xmlns:p14="http://schemas.microsoft.com/office/powerpoint/2010/main" val="4001372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Buffer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Among these, the </a:t>
            </a:r>
            <a:r>
              <a:rPr lang="en-US" dirty="0">
                <a:solidFill>
                  <a:srgbClr val="C00000"/>
                </a:solidFill>
              </a:rPr>
              <a:t>depth buffer test</a:t>
            </a:r>
            <a:r>
              <a:rPr lang="en-US" dirty="0"/>
              <a:t> is very important to render primitives in correct order</a:t>
            </a:r>
          </a:p>
          <a:p>
            <a:r>
              <a:rPr lang="en-US" dirty="0"/>
              <a:t>Without depth buffer, the programmer must ensure to render primitives in a back to front order</a:t>
            </a:r>
          </a:p>
          <a:p>
            <a:pPr lvl="1"/>
            <a:r>
              <a:rPr lang="en-US" dirty="0"/>
              <a:t>Known as painter’s algorithm: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5450" y="4088368"/>
            <a:ext cx="57531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581400" y="5574268"/>
            <a:ext cx="2076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wikipedia.com</a:t>
            </a:r>
          </a:p>
        </p:txBody>
      </p:sp>
    </p:spTree>
    <p:extLst>
      <p:ext uri="{BB962C8B-B14F-4D97-AF65-F5344CB8AC3E}">
        <p14:creationId xmlns:p14="http://schemas.microsoft.com/office/powerpoint/2010/main" val="3168079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Buffer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space partitioning (BSP) trees may be used for this purpose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12</a:t>
            </a:fld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EE55702-0E6C-1540-8298-7E94F11F1DCE}"/>
              </a:ext>
            </a:extLst>
          </p:cNvPr>
          <p:cNvSpPr/>
          <p:nvPr/>
        </p:nvSpPr>
        <p:spPr>
          <a:xfrm>
            <a:off x="228600" y="4076700"/>
            <a:ext cx="304800" cy="304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9402AB0-A6BB-2A4E-AD9B-65FF494D3C44}"/>
              </a:ext>
            </a:extLst>
          </p:cNvPr>
          <p:cNvSpPr/>
          <p:nvPr/>
        </p:nvSpPr>
        <p:spPr>
          <a:xfrm>
            <a:off x="1447800" y="3595687"/>
            <a:ext cx="304800" cy="3048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C8C6A06-27DB-774A-8A92-D9B653291C61}"/>
              </a:ext>
            </a:extLst>
          </p:cNvPr>
          <p:cNvSpPr/>
          <p:nvPr/>
        </p:nvSpPr>
        <p:spPr>
          <a:xfrm>
            <a:off x="3886200" y="4229100"/>
            <a:ext cx="304800" cy="3048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0A18E9D-E79B-4543-BD12-B9C064048215}"/>
              </a:ext>
            </a:extLst>
          </p:cNvPr>
          <p:cNvSpPr/>
          <p:nvPr/>
        </p:nvSpPr>
        <p:spPr>
          <a:xfrm>
            <a:off x="3252787" y="5219700"/>
            <a:ext cx="304800" cy="3048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FD743BD-F9AA-694D-91DB-52A16414E7BC}"/>
              </a:ext>
            </a:extLst>
          </p:cNvPr>
          <p:cNvCxnSpPr/>
          <p:nvPr/>
        </p:nvCxnSpPr>
        <p:spPr>
          <a:xfrm flipV="1">
            <a:off x="685800" y="3200400"/>
            <a:ext cx="2971800" cy="2438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DC333BE-558F-7844-9F8E-C8EC4BC1B2DB}"/>
              </a:ext>
            </a:extLst>
          </p:cNvPr>
          <p:cNvGrpSpPr/>
          <p:nvPr/>
        </p:nvGrpSpPr>
        <p:grpSpPr>
          <a:xfrm>
            <a:off x="914400" y="3276600"/>
            <a:ext cx="4038600" cy="2247900"/>
            <a:chOff x="3352800" y="3505200"/>
            <a:chExt cx="4038600" cy="22479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CCEBC91-01C3-5546-AF23-22E82A4981C0}"/>
                </a:ext>
              </a:extLst>
            </p:cNvPr>
            <p:cNvCxnSpPr/>
            <p:nvPr/>
          </p:nvCxnSpPr>
          <p:spPr>
            <a:xfrm>
              <a:off x="3352800" y="3505200"/>
              <a:ext cx="0" cy="1828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FF42454-3FDA-F745-8FB7-58757B81E815}"/>
                </a:ext>
              </a:extLst>
            </p:cNvPr>
            <p:cNvCxnSpPr/>
            <p:nvPr/>
          </p:nvCxnSpPr>
          <p:spPr>
            <a:xfrm>
              <a:off x="5410200" y="4762500"/>
              <a:ext cx="1981200" cy="990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A23678A-91AE-CA4A-9FBB-0F641B5DD83E}"/>
              </a:ext>
            </a:extLst>
          </p:cNvPr>
          <p:cNvCxnSpPr/>
          <p:nvPr/>
        </p:nvCxnSpPr>
        <p:spPr>
          <a:xfrm>
            <a:off x="2590800" y="4800600"/>
            <a:ext cx="0" cy="121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25E2A3A7-BB5B-9B41-A720-B347F057B79C}"/>
              </a:ext>
            </a:extLst>
          </p:cNvPr>
          <p:cNvSpPr/>
          <p:nvPr/>
        </p:nvSpPr>
        <p:spPr>
          <a:xfrm>
            <a:off x="1876425" y="5486400"/>
            <a:ext cx="304800" cy="3048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D2EFCAC-CE0B-2A46-96BF-36D1F3A1AB29}"/>
              </a:ext>
            </a:extLst>
          </p:cNvPr>
          <p:cNvGrpSpPr/>
          <p:nvPr/>
        </p:nvGrpSpPr>
        <p:grpSpPr>
          <a:xfrm>
            <a:off x="5424487" y="3155156"/>
            <a:ext cx="3414713" cy="2740819"/>
            <a:chOff x="5424487" y="3155156"/>
            <a:chExt cx="3414713" cy="2740819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549B4C66-C4AB-8847-B147-DB751F4A59B3}"/>
                </a:ext>
              </a:extLst>
            </p:cNvPr>
            <p:cNvSpPr/>
            <p:nvPr/>
          </p:nvSpPr>
          <p:spPr>
            <a:xfrm>
              <a:off x="6705600" y="3155156"/>
              <a:ext cx="533400" cy="54768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8B162F2-E85E-9046-90E9-8FAF24C1E5D6}"/>
                </a:ext>
              </a:extLst>
            </p:cNvPr>
            <p:cNvCxnSpPr/>
            <p:nvPr/>
          </p:nvCxnSpPr>
          <p:spPr>
            <a:xfrm flipV="1">
              <a:off x="6751142" y="3262312"/>
              <a:ext cx="420810" cy="3452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95B495DC-3224-B84D-9B63-8E159B4DD0DB}"/>
                </a:ext>
              </a:extLst>
            </p:cNvPr>
            <p:cNvSpPr/>
            <p:nvPr/>
          </p:nvSpPr>
          <p:spPr>
            <a:xfrm>
              <a:off x="5791200" y="3824287"/>
              <a:ext cx="533400" cy="54768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4D5E833C-11C8-9D42-AB19-85F65F0576DE}"/>
                </a:ext>
              </a:extLst>
            </p:cNvPr>
            <p:cNvSpPr/>
            <p:nvPr/>
          </p:nvSpPr>
          <p:spPr>
            <a:xfrm>
              <a:off x="7772400" y="3823492"/>
              <a:ext cx="533400" cy="54768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35AA709-98C8-034A-9FE1-D279F3E48607}"/>
                </a:ext>
              </a:extLst>
            </p:cNvPr>
            <p:cNvCxnSpPr/>
            <p:nvPr/>
          </p:nvCxnSpPr>
          <p:spPr>
            <a:xfrm>
              <a:off x="6036171" y="3852864"/>
              <a:ext cx="0" cy="4810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FA9C79C-ED41-794A-98C0-7D2DA0AB052A}"/>
                </a:ext>
              </a:extLst>
            </p:cNvPr>
            <p:cNvCxnSpPr/>
            <p:nvPr/>
          </p:nvCxnSpPr>
          <p:spPr>
            <a:xfrm>
              <a:off x="7815263" y="4010024"/>
              <a:ext cx="433385" cy="2166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69531F19-0170-6243-A234-F0BAD10EBF74}"/>
                </a:ext>
              </a:extLst>
            </p:cNvPr>
            <p:cNvSpPr/>
            <p:nvPr/>
          </p:nvSpPr>
          <p:spPr>
            <a:xfrm>
              <a:off x="7239000" y="4800202"/>
              <a:ext cx="533400" cy="54768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25F119-198D-9243-A4A6-5C344057099D}"/>
                </a:ext>
              </a:extLst>
            </p:cNvPr>
            <p:cNvCxnSpPr/>
            <p:nvPr/>
          </p:nvCxnSpPr>
          <p:spPr>
            <a:xfrm>
              <a:off x="7505700" y="4905376"/>
              <a:ext cx="0" cy="3357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4886011-FCC5-224C-84D7-40805D0EB847}"/>
                </a:ext>
              </a:extLst>
            </p:cNvPr>
            <p:cNvCxnSpPr>
              <a:stCxn id="54" idx="1"/>
              <a:endCxn id="56" idx="0"/>
            </p:cNvCxnSpPr>
            <p:nvPr/>
          </p:nvCxnSpPr>
          <p:spPr>
            <a:xfrm flipH="1">
              <a:off x="6057900" y="3429000"/>
              <a:ext cx="647700" cy="3952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69263BE-9C21-834A-B22B-E6D86D55A3CC}"/>
                </a:ext>
              </a:extLst>
            </p:cNvPr>
            <p:cNvCxnSpPr>
              <a:stCxn id="54" idx="3"/>
              <a:endCxn id="57" idx="0"/>
            </p:cNvCxnSpPr>
            <p:nvPr/>
          </p:nvCxnSpPr>
          <p:spPr>
            <a:xfrm>
              <a:off x="7239000" y="3429000"/>
              <a:ext cx="800100" cy="3944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3866A6F-BDAB-0145-8F2C-BE9E07B3996C}"/>
                </a:ext>
              </a:extLst>
            </p:cNvPr>
            <p:cNvCxnSpPr>
              <a:stCxn id="56" idx="1"/>
            </p:cNvCxnSpPr>
            <p:nvPr/>
          </p:nvCxnSpPr>
          <p:spPr>
            <a:xfrm flipH="1">
              <a:off x="5586414" y="4098131"/>
              <a:ext cx="204786" cy="65960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9E2007E-23A2-B44D-978B-520DE7EEB0BB}"/>
                </a:ext>
              </a:extLst>
            </p:cNvPr>
            <p:cNvCxnSpPr>
              <a:stCxn id="56" idx="3"/>
            </p:cNvCxnSpPr>
            <p:nvPr/>
          </p:nvCxnSpPr>
          <p:spPr>
            <a:xfrm>
              <a:off x="6324600" y="4098131"/>
              <a:ext cx="257176" cy="6405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165A275-5F3B-484F-AC19-12A509010AB1}"/>
                </a:ext>
              </a:extLst>
            </p:cNvPr>
            <p:cNvCxnSpPr/>
            <p:nvPr/>
          </p:nvCxnSpPr>
          <p:spPr>
            <a:xfrm>
              <a:off x="8305800" y="4093370"/>
              <a:ext cx="366713" cy="6500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BEFDD53-3CCC-304B-9DA3-CA04A0374937}"/>
                </a:ext>
              </a:extLst>
            </p:cNvPr>
            <p:cNvCxnSpPr>
              <a:stCxn id="57" idx="1"/>
              <a:endCxn id="60" idx="0"/>
            </p:cNvCxnSpPr>
            <p:nvPr/>
          </p:nvCxnSpPr>
          <p:spPr>
            <a:xfrm flipH="1">
              <a:off x="7505700" y="4097336"/>
              <a:ext cx="266700" cy="7028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1C53CE4-AB2D-8E44-B9A1-8DCB42EF23D8}"/>
                </a:ext>
              </a:extLst>
            </p:cNvPr>
            <p:cNvCxnSpPr>
              <a:stCxn id="60" idx="3"/>
            </p:cNvCxnSpPr>
            <p:nvPr/>
          </p:nvCxnSpPr>
          <p:spPr>
            <a:xfrm>
              <a:off x="7772400" y="5074046"/>
              <a:ext cx="257175" cy="6695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58F8AA0-155E-0F4A-8FEB-375F2F0B382E}"/>
                </a:ext>
              </a:extLst>
            </p:cNvPr>
            <p:cNvCxnSpPr>
              <a:stCxn id="60" idx="1"/>
            </p:cNvCxnSpPr>
            <p:nvPr/>
          </p:nvCxnSpPr>
          <p:spPr>
            <a:xfrm flipH="1">
              <a:off x="7043738" y="5074046"/>
              <a:ext cx="195262" cy="6695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196EDAD-E60B-2A42-A7B5-E547884B55A4}"/>
                </a:ext>
              </a:extLst>
            </p:cNvPr>
            <p:cNvSpPr/>
            <p:nvPr/>
          </p:nvSpPr>
          <p:spPr>
            <a:xfrm>
              <a:off x="6890964" y="5591175"/>
              <a:ext cx="304800" cy="3048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95B205C-DE9B-CB4E-919E-0208D3A57605}"/>
                </a:ext>
              </a:extLst>
            </p:cNvPr>
            <p:cNvSpPr/>
            <p:nvPr/>
          </p:nvSpPr>
          <p:spPr>
            <a:xfrm>
              <a:off x="5424487" y="4600576"/>
              <a:ext cx="304800" cy="3048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3D93576-7088-A74D-9760-937B729A15E3}"/>
                </a:ext>
              </a:extLst>
            </p:cNvPr>
            <p:cNvSpPr/>
            <p:nvPr/>
          </p:nvSpPr>
          <p:spPr>
            <a:xfrm>
              <a:off x="6446342" y="4605338"/>
              <a:ext cx="304800" cy="3048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DE02D56-C3D0-9446-8BBA-6DD196C23900}"/>
                </a:ext>
              </a:extLst>
            </p:cNvPr>
            <p:cNvSpPr/>
            <p:nvPr/>
          </p:nvSpPr>
          <p:spPr>
            <a:xfrm>
              <a:off x="8534400" y="4600576"/>
              <a:ext cx="304800" cy="3048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8D74ABA-B720-0540-9A16-B546F1C63B39}"/>
                </a:ext>
              </a:extLst>
            </p:cNvPr>
            <p:cNvSpPr/>
            <p:nvPr/>
          </p:nvSpPr>
          <p:spPr>
            <a:xfrm>
              <a:off x="7879555" y="5591175"/>
              <a:ext cx="304800" cy="3048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CCC127FE-4895-5643-8A55-C3EABC6769B7}"/>
              </a:ext>
            </a:extLst>
          </p:cNvPr>
          <p:cNvSpPr txBox="1"/>
          <p:nvPr/>
        </p:nvSpPr>
        <p:spPr>
          <a:xfrm>
            <a:off x="5918794" y="6019800"/>
            <a:ext cx="24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Corresponding BSP tree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970B574-447E-584B-9C35-2D011F83F81E}"/>
              </a:ext>
            </a:extLst>
          </p:cNvPr>
          <p:cNvSpPr txBox="1"/>
          <p:nvPr/>
        </p:nvSpPr>
        <p:spPr>
          <a:xfrm>
            <a:off x="1109246" y="55245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</a:t>
            </a:r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B66D732-16E9-C94F-96F9-20340452FB3F}"/>
              </a:ext>
            </a:extLst>
          </p:cNvPr>
          <p:cNvSpPr txBox="1"/>
          <p:nvPr/>
        </p:nvSpPr>
        <p:spPr>
          <a:xfrm>
            <a:off x="128542" y="37480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5A183F7-90F8-4C4F-98F1-EECB77E8268F}"/>
              </a:ext>
            </a:extLst>
          </p:cNvPr>
          <p:cNvSpPr txBox="1"/>
          <p:nvPr/>
        </p:nvSpPr>
        <p:spPr>
          <a:xfrm>
            <a:off x="1445397" y="32133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5694565-755F-304A-8B88-2C0DB3A12EF8}"/>
              </a:ext>
            </a:extLst>
          </p:cNvPr>
          <p:cNvSpPr txBox="1"/>
          <p:nvPr/>
        </p:nvSpPr>
        <p:spPr>
          <a:xfrm>
            <a:off x="3967118" y="3810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C22D97-880F-8049-A8E5-92EF42FBC382}"/>
              </a:ext>
            </a:extLst>
          </p:cNvPr>
          <p:cNvSpPr txBox="1"/>
          <p:nvPr/>
        </p:nvSpPr>
        <p:spPr>
          <a:xfrm>
            <a:off x="3574167" y="54102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5708911-2765-6944-BFEE-86C36BB4A939}"/>
              </a:ext>
            </a:extLst>
          </p:cNvPr>
          <p:cNvSpPr txBox="1"/>
          <p:nvPr/>
        </p:nvSpPr>
        <p:spPr>
          <a:xfrm>
            <a:off x="2181344" y="56735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622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/>
      <p:bldP spid="79" grpId="0"/>
      <p:bldP spid="80" grpId="0"/>
      <p:bldP spid="8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Buffer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However, they are costly to generate and may require splitting primitives due to impossible ordering cases: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13</a:t>
            </a:fld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2682253"/>
            <a:ext cx="2981110" cy="3337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3581400" y="6019800"/>
            <a:ext cx="2076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wikipedia.com</a:t>
            </a:r>
          </a:p>
        </p:txBody>
      </p:sp>
    </p:spTree>
    <p:extLst>
      <p:ext uri="{BB962C8B-B14F-4D97-AF65-F5344CB8AC3E}">
        <p14:creationId xmlns:p14="http://schemas.microsoft.com/office/powerpoint/2010/main" val="2140390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Buffer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164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memory was a very valuable resource, such algorithms were implemented</a:t>
            </a:r>
          </a:p>
          <a:p>
            <a:r>
              <a:rPr lang="en-US" dirty="0"/>
              <a:t>Quake3 was one of the main games that used painter’s algorithm using BSP trees</a:t>
            </a:r>
          </a:p>
          <a:p>
            <a:r>
              <a:rPr lang="en-US" dirty="0"/>
              <a:t>Each game level was stored as a huge BSP tree</a:t>
            </a:r>
          </a:p>
          <a:p>
            <a:pPr lvl="1"/>
            <a:r>
              <a:rPr lang="en-US" dirty="0"/>
              <a:t>Read more at: </a:t>
            </a:r>
            <a:r>
              <a:rPr lang="en-US" dirty="0">
                <a:hlinkClick r:id="rId2"/>
              </a:rPr>
              <a:t>https://www.bluesnews.com/abrash/chap64.shtml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 descr="Image result for Quake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45919"/>
            <a:ext cx="3352800" cy="201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529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Buffer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Main Idea:</a:t>
            </a:r>
          </a:p>
          <a:p>
            <a:pPr lvl="1"/>
            <a:r>
              <a:rPr lang="en-US" dirty="0"/>
              <a:t>At each pixel, keep track of the distance to the closest fragment that has been drawn in a separate buffer</a:t>
            </a:r>
          </a:p>
          <a:p>
            <a:pPr lvl="1"/>
            <a:r>
              <a:rPr lang="en-US" dirty="0"/>
              <a:t>Discard fragments that are further away than that distance</a:t>
            </a:r>
          </a:p>
          <a:p>
            <a:pPr lvl="1"/>
            <a:r>
              <a:rPr lang="en-US" dirty="0"/>
              <a:t>Otherwise, </a:t>
            </a:r>
            <a:r>
              <a:rPr lang="en-US" b="1" dirty="0"/>
              <a:t>draw</a:t>
            </a:r>
            <a:r>
              <a:rPr lang="en-US" dirty="0"/>
              <a:t> the fragment and </a:t>
            </a:r>
            <a:r>
              <a:rPr lang="en-US" b="1" dirty="0"/>
              <a:t>update</a:t>
            </a:r>
            <a:r>
              <a:rPr lang="en-US" dirty="0"/>
              <a:t> the z-buffer value with the z value of that fragment</a:t>
            </a:r>
          </a:p>
          <a:p>
            <a:r>
              <a:rPr lang="en-US" dirty="0"/>
              <a:t>Requires an extra memory region, called the </a:t>
            </a:r>
            <a:r>
              <a:rPr lang="en-US" dirty="0">
                <a:solidFill>
                  <a:srgbClr val="C00000"/>
                </a:solidFill>
              </a:rPr>
              <a:t>depth buffer</a:t>
            </a:r>
            <a:r>
              <a:rPr lang="en-US" dirty="0"/>
              <a:t>, to implement this solution</a:t>
            </a:r>
          </a:p>
          <a:p>
            <a:r>
              <a:rPr lang="en-US" dirty="0"/>
              <a:t>At the beginning of every frame, the depth buffer is reset to </a:t>
            </a:r>
            <a:r>
              <a:rPr lang="en-US" dirty="0">
                <a:solidFill>
                  <a:srgbClr val="C00000"/>
                </a:solidFill>
              </a:rPr>
              <a:t>infinity</a:t>
            </a:r>
            <a:r>
              <a:rPr lang="en-US" dirty="0"/>
              <a:t> (1.0f in practice if the depth range is [0.0f,1.0f])</a:t>
            </a:r>
          </a:p>
          <a:p>
            <a:r>
              <a:rPr lang="en-US" dirty="0"/>
              <a:t>Depth buffer is also known as </a:t>
            </a:r>
            <a:r>
              <a:rPr lang="en-US" dirty="0">
                <a:solidFill>
                  <a:srgbClr val="C00000"/>
                </a:solidFill>
              </a:rPr>
              <a:t>z-buffer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5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327148"/>
            <a:ext cx="8077200" cy="3311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132515" y="1752600"/>
            <a:ext cx="1668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state</a:t>
            </a:r>
          </a:p>
          <a:p>
            <a:r>
              <a:rPr lang="en-US" dirty="0"/>
              <a:t>of depth buffer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0212" y="1752600"/>
            <a:ext cx="1411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Resulting</a:t>
            </a:r>
          </a:p>
          <a:p>
            <a:r>
              <a:rPr lang="en-US" dirty="0"/>
              <a:t>depth buffer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5564714"/>
            <a:ext cx="1749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z-values of the</a:t>
            </a:r>
          </a:p>
          <a:p>
            <a:r>
              <a:rPr lang="en-US" dirty="0"/>
              <a:t>second triangle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0212" y="5564714"/>
            <a:ext cx="1411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Resulting</a:t>
            </a:r>
          </a:p>
          <a:p>
            <a:r>
              <a:rPr lang="en-US" dirty="0"/>
              <a:t>depth buffer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819" y="5181600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wikipedia.com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52600"/>
            <a:ext cx="168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z-values of the</a:t>
            </a:r>
          </a:p>
          <a:p>
            <a:r>
              <a:rPr lang="en-US" dirty="0"/>
              <a:t>first triangle</a:t>
            </a:r>
          </a:p>
        </p:txBody>
      </p:sp>
    </p:spTree>
    <p:extLst>
      <p:ext uri="{BB962C8B-B14F-4D97-AF65-F5344CB8AC3E}">
        <p14:creationId xmlns:p14="http://schemas.microsoft.com/office/powerpoint/2010/main" val="50346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range of values written to the depth buffer can generally be controlled by the programmer</a:t>
            </a:r>
          </a:p>
          <a:p>
            <a:r>
              <a:rPr lang="en-US" dirty="0"/>
              <a:t>In OpenGL, the command </a:t>
            </a:r>
            <a:r>
              <a:rPr lang="en-US" b="1" dirty="0" err="1">
                <a:latin typeface="Courier" charset="0"/>
                <a:ea typeface="Courier" charset="0"/>
                <a:cs typeface="Courier" charset="0"/>
              </a:rPr>
              <a:t>glDepthRange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b="1" dirty="0" err="1">
                <a:latin typeface="Courier" charset="0"/>
                <a:ea typeface="Courier" charset="0"/>
                <a:cs typeface="Courier" charset="0"/>
              </a:rPr>
              <a:t>zMin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b="1" dirty="0" err="1">
                <a:latin typeface="Courier" charset="0"/>
                <a:ea typeface="Courier" charset="0"/>
                <a:cs typeface="Courier" charset="0"/>
              </a:rPr>
              <a:t>zMax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dirty="0"/>
              <a:t>is used</a:t>
            </a:r>
          </a:p>
          <a:p>
            <a:r>
              <a:rPr lang="en-US" dirty="0"/>
              <a:t>The default depth range is [0, 1]</a:t>
            </a:r>
          </a:p>
          <a:p>
            <a:r>
              <a:rPr lang="en-US" dirty="0"/>
              <a:t>The z-value in the canonical viewing volume (CVV), which is in range [-1, 1] is scaled to this range during the viewport transform</a:t>
            </a:r>
          </a:p>
          <a:p>
            <a:r>
              <a:rPr lang="en-US" b="1" dirty="0" err="1">
                <a:latin typeface="Courier" charset="0"/>
                <a:ea typeface="Courier" charset="0"/>
                <a:cs typeface="Courier" charset="0"/>
              </a:rPr>
              <a:t>glDepthRange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dirty="0"/>
              <a:t>is to the z-values what </a:t>
            </a:r>
            <a:r>
              <a:rPr lang="en-US" b="1" dirty="0" err="1">
                <a:latin typeface="Courier" charset="0"/>
                <a:ea typeface="Courier" charset="0"/>
                <a:cs typeface="Courier" charset="0"/>
              </a:rPr>
              <a:t>glViewport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(x, y, width, height)</a:t>
            </a:r>
            <a:r>
              <a:rPr lang="en-US" dirty="0"/>
              <a:t> is to the x- and y-values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83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Z-Fighting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that the z-values get compressed to [0, 1] range from the [-n:-f] range after projection and viewport transforms</a:t>
            </a:r>
          </a:p>
          <a:p>
            <a:r>
              <a:rPr lang="en-US" dirty="0"/>
              <a:t>Observe how it looks for n = 10 and f = 50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898276"/>
            <a:ext cx="5181600" cy="345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94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Z-Fighting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that the z-values get compressed to [0, 1] range from the [-n:-f] range after projection and viewport transforms</a:t>
            </a:r>
          </a:p>
          <a:p>
            <a:r>
              <a:rPr lang="en-US" dirty="0"/>
              <a:t>Observe the same for n = 10 and f = 200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2" y="2898276"/>
            <a:ext cx="5181596" cy="345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88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Z-Fighting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a limited precision depth buffer, fragments that are </a:t>
            </a:r>
            <a:r>
              <a:rPr lang="en-US"/>
              <a:t>close in depth may get mapped to the same z-value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2" y="2898276"/>
            <a:ext cx="5181596" cy="345439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2768600" y="3216302"/>
            <a:ext cx="1955800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2768600" y="3373155"/>
            <a:ext cx="1270000" cy="8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68600" y="3527864"/>
            <a:ext cx="812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768600" y="3686203"/>
            <a:ext cx="584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774950" y="3822520"/>
            <a:ext cx="4691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768600" y="3978302"/>
            <a:ext cx="37465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768600" y="4124763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755900" y="4283102"/>
            <a:ext cx="25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2763395" y="4430971"/>
            <a:ext cx="204657" cy="1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2763395" y="4584700"/>
            <a:ext cx="15968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763395" y="4731162"/>
            <a:ext cx="129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2763395" y="4889501"/>
            <a:ext cx="997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2762250" y="5025818"/>
            <a:ext cx="933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763395" y="5181600"/>
            <a:ext cx="697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2763395" y="5328061"/>
            <a:ext cx="472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2750695" y="5486400"/>
            <a:ext cx="52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ight Brace 54"/>
          <p:cNvSpPr/>
          <p:nvPr/>
        </p:nvSpPr>
        <p:spPr>
          <a:xfrm rot="5400000">
            <a:off x="5657849" y="2327717"/>
            <a:ext cx="266701" cy="213359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eft Brace 55"/>
          <p:cNvSpPr/>
          <p:nvPr/>
        </p:nvSpPr>
        <p:spPr>
          <a:xfrm>
            <a:off x="2658978" y="3071621"/>
            <a:ext cx="76200" cy="15685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Brace 56"/>
          <p:cNvSpPr/>
          <p:nvPr/>
        </p:nvSpPr>
        <p:spPr>
          <a:xfrm rot="5400000">
            <a:off x="4233125" y="3219156"/>
            <a:ext cx="296753" cy="6857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Left Brace 57"/>
          <p:cNvSpPr/>
          <p:nvPr/>
        </p:nvSpPr>
        <p:spPr>
          <a:xfrm>
            <a:off x="2662990" y="3240063"/>
            <a:ext cx="76200" cy="15685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6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Z-Fighting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compression is more severe for with larger depth range</a:t>
            </a:r>
          </a:p>
          <a:p>
            <a:r>
              <a:rPr lang="en-US" dirty="0"/>
              <a:t>This may cause a problem known as </a:t>
            </a:r>
            <a:r>
              <a:rPr lang="en-US" dirty="0">
                <a:solidFill>
                  <a:srgbClr val="C00000"/>
                </a:solidFill>
              </a:rPr>
              <a:t>z-fighting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Objects with originally different (but close) z-values get mapped to the same final z-value (due to limited precision) making it impossible to distinguish which one is in front and which one is behind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2" descr="Image result for z-figh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934081"/>
            <a:ext cx="4343400" cy="220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071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Z-Fighting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BA4A50-3C9F-A243-BAC2-6B4A13803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2057400"/>
            <a:ext cx="6477000" cy="364285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60D9A5-8A0A-784B-9DC2-1A86772DC024}"/>
              </a:ext>
            </a:extLst>
          </p:cNvPr>
          <p:cNvSpPr/>
          <p:nvPr/>
        </p:nvSpPr>
        <p:spPr>
          <a:xfrm>
            <a:off x="3322448" y="5723294"/>
            <a:ext cx="270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TR" dirty="0"/>
              <a:t>http://wiki.reflexfiles.com/</a:t>
            </a:r>
          </a:p>
        </p:txBody>
      </p:sp>
    </p:spTree>
    <p:extLst>
      <p:ext uri="{BB962C8B-B14F-4D97-AF65-F5344CB8AC3E}">
        <p14:creationId xmlns:p14="http://schemas.microsoft.com/office/powerpoint/2010/main" val="1732995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Z-Fighting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avoid z-fighting, the separation of the far and near planes should be kept as small as possible for keeping the compression less severe</a:t>
            </a:r>
          </a:p>
          <a:p>
            <a:r>
              <a:rPr lang="en-US" dirty="0"/>
              <a:t>Alternatively, a floating point depth buffer can used</a:t>
            </a:r>
          </a:p>
          <a:p>
            <a:pPr lvl="1"/>
            <a:r>
              <a:rPr lang="en-US" dirty="0"/>
              <a:t>Unavailable in older hardware</a:t>
            </a:r>
          </a:p>
          <a:p>
            <a:pPr lvl="1"/>
            <a:r>
              <a:rPr lang="en-US" dirty="0"/>
              <a:t>Supported in all modern GPUs</a:t>
            </a:r>
          </a:p>
          <a:p>
            <a:r>
              <a:rPr lang="en-US" dirty="0"/>
              <a:t>Finally, the command </a:t>
            </a:r>
            <a:r>
              <a:rPr lang="en-US" b="1" dirty="0" err="1">
                <a:latin typeface="Courier" charset="0"/>
                <a:ea typeface="Courier" charset="0"/>
                <a:cs typeface="Courier" charset="0"/>
              </a:rPr>
              <a:t>glPolygonOffset</a:t>
            </a:r>
            <a:r>
              <a:rPr lang="en-US" dirty="0"/>
              <a:t> can be used to push and pull polygons a little to avoid z-fighting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79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832" y="1311442"/>
            <a:ext cx="8686800" cy="5181600"/>
          </a:xfrm>
        </p:spPr>
        <p:txBody>
          <a:bodyPr>
            <a:normAutofit/>
          </a:bodyPr>
          <a:lstStyle/>
          <a:p>
            <a:r>
              <a:rPr lang="en-US" dirty="0"/>
              <a:t>The removal of geometry that is </a:t>
            </a:r>
            <a:r>
              <a:rPr lang="en-US" dirty="0">
                <a:solidFill>
                  <a:srgbClr val="C00000"/>
                </a:solidFill>
              </a:rPr>
              <a:t>within</a:t>
            </a:r>
            <a:r>
              <a:rPr lang="en-US" dirty="0"/>
              <a:t> the view volume but is </a:t>
            </a:r>
            <a:r>
              <a:rPr lang="en-US" dirty="0">
                <a:solidFill>
                  <a:srgbClr val="C00000"/>
                </a:solidFill>
              </a:rPr>
              <a:t>occluded</a:t>
            </a:r>
            <a:r>
              <a:rPr lang="en-US" dirty="0"/>
              <a:t> by other geometry closer to the camera: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OpenGL </a:t>
            </a:r>
            <a:r>
              <a:rPr lang="en-US" dirty="0">
                <a:solidFill>
                  <a:srgbClr val="C00000"/>
                </a:solidFill>
              </a:rPr>
              <a:t>supports</a:t>
            </a:r>
            <a:r>
              <a:rPr lang="en-US" dirty="0"/>
              <a:t> occlusion queries to assist the user in occlusion culling</a:t>
            </a:r>
          </a:p>
          <a:p>
            <a:r>
              <a:rPr lang="en-US" dirty="0"/>
              <a:t>By a fast rendering pass, it counts how many pixels of the tested object will be rendered</a:t>
            </a:r>
          </a:p>
          <a:p>
            <a:r>
              <a:rPr lang="en-US" dirty="0"/>
              <a:t>This is commonly used in games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Occlusion Culling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226855" y="2294965"/>
            <a:ext cx="1295400" cy="1676400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4648200" y="3429000"/>
            <a:ext cx="598967" cy="1293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181600" y="35052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495800" y="304800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</a:t>
            </a:r>
            <a:endParaRPr lang="en-US" b="1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5029200" y="3593068"/>
            <a:ext cx="498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eye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9754" y="2971800"/>
            <a:ext cx="2014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Bunny is occluded</a:t>
            </a:r>
          </a:p>
          <a:p>
            <a:r>
              <a:rPr lang="en-US" dirty="0"/>
              <a:t>by the blue triangle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24</a:t>
            </a:fld>
            <a:endParaRPr lang="en-US"/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7003" y="2350097"/>
            <a:ext cx="1035500" cy="1268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Occlusion Culling in OpenGL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72000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a query.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Disable rendering to screen (set the color mask of all channels to False).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Disable writing to depth buffer (just test against, but don't update, the depth buffer).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Issue query begin (which resets the counter of visible pixels).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"Render" the object's bounding box (it'll only do depth testing; pixels that pass depth testing will not be rendered on-screen because rendering and depth writing were disabled).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End query (stop counting visible pixels).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Enable rendering to screen.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Enable depth writing (if required).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Get query result (the number of "visible" pixels).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the number of visible pixels is greater than 0 (or some threshold), </a:t>
            </a:r>
          </a:p>
          <a:p>
            <a:pPr marL="731520" lvl="1" indent="-457200"/>
            <a:r>
              <a:rPr lang="en-US" dirty="0"/>
              <a:t>Render the complete object.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7049" y="5955268"/>
            <a:ext cx="7544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details see: http://http.developer.nvidia.com/GPUGems/gpugems_ch29.html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Blending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Alpha blending is another fragment operation in which new objects can be blended with the existing contents of the color buffer for a variety of effects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0" y="3136900"/>
            <a:ext cx="5346700" cy="280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38400" y="5848113"/>
            <a:ext cx="1797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Without blending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5851546"/>
            <a:ext cx="1502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With </a:t>
            </a:r>
            <a:r>
              <a:rPr lang="en-US" dirty="0"/>
              <a:t>blending</a:t>
            </a:r>
          </a:p>
        </p:txBody>
      </p:sp>
    </p:spTree>
    <p:extLst>
      <p:ext uri="{BB962C8B-B14F-4D97-AF65-F5344CB8AC3E}">
        <p14:creationId xmlns:p14="http://schemas.microsoft.com/office/powerpoint/2010/main" val="921922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sRGB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fragment values are converted to the sRGB color space before being written to the framebuffer. Serves the purpose of gamma correction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27</a:t>
            </a:fld>
            <a:endParaRPr lang="en-US"/>
          </a:p>
        </p:txBody>
      </p:sp>
      <p:pic>
        <p:nvPicPr>
          <p:cNvPr id="3074" name="Picture 2" descr="LearnOpenGL - Gamma Correction">
            <a:extLst>
              <a:ext uri="{FF2B5EF4-FFF2-40B4-BE49-F238E27FC236}">
                <a16:creationId xmlns:a16="http://schemas.microsoft.com/office/drawing/2014/main" id="{75C67860-83A1-D247-992E-F16F4CB1C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048000"/>
            <a:ext cx="7010400" cy="280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353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end of the pipeline, input vertices with connectivity information </a:t>
            </a:r>
            <a:r>
              <a:rPr lang="en-US"/>
              <a:t>end up populating </a:t>
            </a:r>
            <a:r>
              <a:rPr lang="en-US" dirty="0"/>
              <a:t>certain regions of the framebuffer</a:t>
            </a:r>
          </a:p>
          <a:p>
            <a:r>
              <a:rPr lang="en-US" dirty="0"/>
              <a:t>This pipeline can be implemented on the software (CPU), hardware (GPU) or both (CPU + GPU)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477 -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51284" y="4024007"/>
            <a:ext cx="1676400" cy="603504"/>
          </a:xfrm>
          <a:prstGeom prst="rect">
            <a:avLst/>
          </a:prstGeom>
          <a:solidFill>
            <a:srgbClr val="92D050"/>
          </a:solidFill>
          <a:ln>
            <a:solidFill>
              <a:srgbClr val="727C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Vertex</a:t>
            </a:r>
          </a:p>
          <a:p>
            <a:pPr algn="ctr"/>
            <a:r>
              <a:rPr lang="en-US" dirty="0"/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1663" y="5590310"/>
            <a:ext cx="935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93186" y="4024007"/>
            <a:ext cx="1676400" cy="603504"/>
          </a:xfrm>
          <a:prstGeom prst="rect">
            <a:avLst/>
          </a:prstGeom>
          <a:solidFill>
            <a:srgbClr val="92D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Fragment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2759" y="4943190"/>
            <a:ext cx="1437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Framebuffer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61084" y="4024007"/>
            <a:ext cx="1676400" cy="603504"/>
          </a:xfrm>
          <a:prstGeom prst="rect">
            <a:avLst/>
          </a:prstGeom>
          <a:solidFill>
            <a:srgbClr val="92D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Rasterization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089483" y="4644435"/>
            <a:ext cx="2" cy="858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970431" y="4325759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213684" y="432548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6531385" y="4659491"/>
            <a:ext cx="1" cy="384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47459" y="5694311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Color </a:t>
            </a:r>
          </a:p>
          <a:p>
            <a:r>
              <a:rPr lang="en-US" dirty="0"/>
              <a:t>Buffer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5352" y="5694311"/>
            <a:ext cx="864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Depth </a:t>
            </a:r>
          </a:p>
          <a:p>
            <a:r>
              <a:rPr lang="en-US" dirty="0"/>
              <a:t>Buffer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7366" y="5694311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Stencil </a:t>
            </a:r>
          </a:p>
          <a:p>
            <a:r>
              <a:rPr lang="en-US" dirty="0"/>
              <a:t>Buffer</a:t>
            </a:r>
          </a:p>
        </p:txBody>
      </p:sp>
      <p:cxnSp>
        <p:nvCxnSpPr>
          <p:cNvPr id="23" name="Straight Arrow Connector 22"/>
          <p:cNvCxnSpPr>
            <a:endCxn id="19" idx="0"/>
          </p:cNvCxnSpPr>
          <p:nvPr/>
        </p:nvCxnSpPr>
        <p:spPr>
          <a:xfrm flipH="1">
            <a:off x="5547569" y="5312522"/>
            <a:ext cx="983816" cy="381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9" idx="2"/>
          </p:cNvCxnSpPr>
          <p:nvPr/>
        </p:nvCxnSpPr>
        <p:spPr>
          <a:xfrm flipH="1">
            <a:off x="6531385" y="5312522"/>
            <a:ext cx="1" cy="472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1" idx="0"/>
          </p:cNvCxnSpPr>
          <p:nvPr/>
        </p:nvCxnSpPr>
        <p:spPr>
          <a:xfrm>
            <a:off x="6531385" y="5312522"/>
            <a:ext cx="1206623" cy="381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565999"/>
      </p:ext>
    </p:extLst>
  </p:cSld>
  <p:clrMapOvr>
    <a:masterClrMapping/>
  </p:clrMapOvr>
</p:sld>
</file>

<file path=ppt/theme/theme1.xml><?xml version="1.0" encoding="utf-8"?>
<a:theme xmlns:a="http://schemas.openxmlformats.org/drawingml/2006/main" name="1_metu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Benton">
      <a:majorFont>
        <a:latin typeface="BentonSansTRUMed"/>
        <a:ea typeface=""/>
        <a:cs typeface=""/>
      </a:majorFont>
      <a:minorFont>
        <a:latin typeface="BentonSansTRURe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770</TotalTime>
  <Words>1471</Words>
  <Application>Microsoft Macintosh PowerPoint</Application>
  <PresentationFormat>On-screen Show (4:3)</PresentationFormat>
  <Paragraphs>263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BentonSansTRUMed</vt:lpstr>
      <vt:lpstr>BentonSansTRUReg</vt:lpstr>
      <vt:lpstr>Calibri</vt:lpstr>
      <vt:lpstr>Courier</vt:lpstr>
      <vt:lpstr>1_metu</vt:lpstr>
      <vt:lpstr>CENG – 477 Introduction to Computer Graphics</vt:lpstr>
      <vt:lpstr>Fragment Processing</vt:lpstr>
      <vt:lpstr>Fragment Processing</vt:lpstr>
      <vt:lpstr>Fragment Processing</vt:lpstr>
      <vt:lpstr>Pixel Ownership Test</vt:lpstr>
      <vt:lpstr>Scissor Test</vt:lpstr>
      <vt:lpstr>Multi-Sample Operations</vt:lpstr>
      <vt:lpstr>Stencil Test</vt:lpstr>
      <vt:lpstr>Stencil Test</vt:lpstr>
      <vt:lpstr>Stencil Test</vt:lpstr>
      <vt:lpstr>Depth Buffer Test</vt:lpstr>
      <vt:lpstr>Depth Buffer Test</vt:lpstr>
      <vt:lpstr>Depth Buffer Test</vt:lpstr>
      <vt:lpstr>Depth Buffer Test</vt:lpstr>
      <vt:lpstr>Depth Buffer Test</vt:lpstr>
      <vt:lpstr>Example</vt:lpstr>
      <vt:lpstr>Depth Range</vt:lpstr>
      <vt:lpstr>Z-Fighting</vt:lpstr>
      <vt:lpstr>Z-Fighting</vt:lpstr>
      <vt:lpstr>Z-Fighting</vt:lpstr>
      <vt:lpstr>Z-Fighting</vt:lpstr>
      <vt:lpstr>Z-Fighting</vt:lpstr>
      <vt:lpstr>Z-Fighting</vt:lpstr>
      <vt:lpstr>Occlusion Culling</vt:lpstr>
      <vt:lpstr>Occlusion Culling in OpenGL</vt:lpstr>
      <vt:lpstr>Alpha Blending</vt:lpstr>
      <vt:lpstr>sRGB Conversion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CENG - 477</dc:title>
  <dc:creator>akyuz</dc:creator>
  <cp:lastModifiedBy>Microsoft Office User</cp:lastModifiedBy>
  <cp:revision>132</cp:revision>
  <dcterms:created xsi:type="dcterms:W3CDTF">2012-11-20T10:00:08Z</dcterms:created>
  <dcterms:modified xsi:type="dcterms:W3CDTF">2021-12-25T04:50:30Z</dcterms:modified>
</cp:coreProperties>
</file>