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54"/>
  </p:notesMasterIdLst>
  <p:sldIdLst>
    <p:sldId id="256" r:id="rId2"/>
    <p:sldId id="283" r:id="rId3"/>
    <p:sldId id="284" r:id="rId4"/>
    <p:sldId id="285" r:id="rId5"/>
    <p:sldId id="294" r:id="rId6"/>
    <p:sldId id="286" r:id="rId7"/>
    <p:sldId id="309" r:id="rId8"/>
    <p:sldId id="288" r:id="rId9"/>
    <p:sldId id="290" r:id="rId10"/>
    <p:sldId id="289" r:id="rId11"/>
    <p:sldId id="291" r:id="rId12"/>
    <p:sldId id="292" r:id="rId13"/>
    <p:sldId id="293" r:id="rId14"/>
    <p:sldId id="257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95" r:id="rId26"/>
    <p:sldId id="296" r:id="rId27"/>
    <p:sldId id="297" r:id="rId28"/>
    <p:sldId id="298" r:id="rId29"/>
    <p:sldId id="307" r:id="rId30"/>
    <p:sldId id="308" r:id="rId31"/>
    <p:sldId id="310" r:id="rId32"/>
    <p:sldId id="299" r:id="rId33"/>
    <p:sldId id="300" r:id="rId34"/>
    <p:sldId id="301" r:id="rId35"/>
    <p:sldId id="302" r:id="rId36"/>
    <p:sldId id="303" r:id="rId37"/>
    <p:sldId id="305" r:id="rId38"/>
    <p:sldId id="306" r:id="rId39"/>
    <p:sldId id="270" r:id="rId40"/>
    <p:sldId id="271" r:id="rId41"/>
    <p:sldId id="272" r:id="rId42"/>
    <p:sldId id="273" r:id="rId43"/>
    <p:sldId id="274" r:id="rId44"/>
    <p:sldId id="275" r:id="rId45"/>
    <p:sldId id="311" r:id="rId46"/>
    <p:sldId id="276" r:id="rId47"/>
    <p:sldId id="277" r:id="rId48"/>
    <p:sldId id="278" r:id="rId49"/>
    <p:sldId id="279" r:id="rId50"/>
    <p:sldId id="280" r:id="rId51"/>
    <p:sldId id="281" r:id="rId52"/>
    <p:sldId id="282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5153" autoAdjust="0"/>
  </p:normalViewPr>
  <p:slideViewPr>
    <p:cSldViewPr>
      <p:cViewPr varScale="1">
        <p:scale>
          <a:sx n="96" d="100"/>
          <a:sy n="96" d="100"/>
        </p:scale>
        <p:origin x="1984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5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80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38A040-50D4-4750-9FB9-B59A1EEBBFD8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22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4D147E-3B55-435A-810F-100AD41B1D2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0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329DE-4FDD-42A0-BBA7-E160B4F6039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10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FCBDA-624B-4DD0-8863-D6BABA98B5A0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101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4500F-CD41-492E-81DC-D2308915781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60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F6A55-EA03-46DA-87B7-748F1BCB86A0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88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E440C-6F1D-4F32-9E0A-356136ED581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97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8DD83-3BD3-488E-8E3C-953B908A025B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228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D003-230B-442B-B422-607E2A6D7F5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22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08A93-69A5-49CB-99B3-B8B20537DF01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01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258F27-91DA-482E-8921-DE38A5431BA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10/19/25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65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93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10.png"/><Relationship Id="rId5" Type="http://schemas.openxmlformats.org/officeDocument/2006/relationships/image" Target="../media/image32.png"/><Relationship Id="rId10" Type="http://schemas.openxmlformats.org/officeDocument/2006/relationships/image" Target="../media/image400.png"/><Relationship Id="rId4" Type="http://schemas.openxmlformats.org/officeDocument/2006/relationships/image" Target="../media/image31.png"/><Relationship Id="rId9" Type="http://schemas.openxmlformats.org/officeDocument/2006/relationships/image" Target="../media/image39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10.png"/><Relationship Id="rId5" Type="http://schemas.openxmlformats.org/officeDocument/2006/relationships/image" Target="../media/image32.png"/><Relationship Id="rId10" Type="http://schemas.openxmlformats.org/officeDocument/2006/relationships/image" Target="../media/image400.png"/><Relationship Id="rId4" Type="http://schemas.openxmlformats.org/officeDocument/2006/relationships/image" Target="../media/image31.png"/><Relationship Id="rId9" Type="http://schemas.openxmlformats.org/officeDocument/2006/relationships/image" Target="../media/image39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 Tracing</a:t>
            </a:r>
            <a:r>
              <a:rPr lang="en-US"/>
              <a:t>: Geometry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ray tracing, we model the propagation of light and its interaction with materials to create realistic images</a:t>
            </a:r>
          </a:p>
          <a:p>
            <a:r>
              <a:rPr lang="en-US" dirty="0"/>
              <a:t>Different from reality, we assume that the rays originate from the eye (or the camera)</a:t>
            </a:r>
          </a:p>
          <a:p>
            <a:r>
              <a:rPr lang="en-US" dirty="0"/>
              <a:t>This allows us to avoid processing rays that will not be visible to the eye (or the camera) </a:t>
            </a:r>
          </a:p>
        </p:txBody>
      </p:sp>
      <p:pic>
        <p:nvPicPr>
          <p:cNvPr id="6146" name="Picture 2" descr="http://upload.wikimedia.org/wikipedia/commons/thumb/8/83/Ray_trace_diagram.svg/2000px-Ray_trace_diagram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114800"/>
            <a:ext cx="3200400" cy="212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 rot="5400000">
            <a:off x="5734143" y="4895945"/>
            <a:ext cx="1330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wikipedia.com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59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RT, we have the following components:</a:t>
            </a:r>
          </a:p>
          <a:p>
            <a:pPr lvl="1"/>
            <a:r>
              <a:rPr lang="en-US" dirty="0"/>
              <a:t>Camera (or eye)</a:t>
            </a:r>
          </a:p>
          <a:p>
            <a:pPr lvl="1"/>
            <a:r>
              <a:rPr lang="en-US" dirty="0"/>
              <a:t>Image plane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Light sources</a:t>
            </a:r>
          </a:p>
          <a:p>
            <a:pPr lvl="1"/>
            <a:r>
              <a:rPr lang="en-US" dirty="0"/>
              <a:t>and lots of rays!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6" name="Picture 2" descr="http://upload.wikimedia.org/wikipedia/commons/thumb/8/83/Ray_trace_diagram.svg/2000px-Ray_trace_diagram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667000"/>
            <a:ext cx="3200400" cy="212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/>
          <p:cNvSpPr/>
          <p:nvPr/>
        </p:nvSpPr>
        <p:spPr>
          <a:xfrm>
            <a:off x="4267200" y="2667000"/>
            <a:ext cx="6858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953000" y="2484438"/>
            <a:ext cx="914400" cy="18589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943600" y="3362050"/>
            <a:ext cx="990600" cy="1133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00800" y="2667000"/>
            <a:ext cx="13716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7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Camera represents the origin of the rays that we will trace</a:t>
            </a:r>
          </a:p>
          <a:p>
            <a:r>
              <a:rPr lang="en-US" dirty="0"/>
              <a:t>It is represented by a position (</a:t>
            </a:r>
            <a:r>
              <a:rPr lang="en-US" b="1" dirty="0"/>
              <a:t>e</a:t>
            </a:r>
            <a:r>
              <a:rPr lang="en-US" dirty="0"/>
              <a:t>) and orientation (</a:t>
            </a:r>
            <a:r>
              <a:rPr lang="en-US" b="1" dirty="0"/>
              <a:t>u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dirty="0"/>
              <a:t>, </a:t>
            </a:r>
            <a:r>
              <a:rPr lang="en-US" b="1" dirty="0"/>
              <a:t>w</a:t>
            </a:r>
            <a:r>
              <a:rPr lang="en-US" dirty="0"/>
              <a:t>)</a:t>
            </a:r>
          </a:p>
          <a:p>
            <a:r>
              <a:rPr lang="en-US" dirty="0"/>
              <a:t>These vectors are orthogonal to each other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62000" y="4038600"/>
            <a:ext cx="1973722" cy="1676400"/>
            <a:chOff x="3574961" y="3429000"/>
            <a:chExt cx="1177506" cy="100012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4140368" y="4124326"/>
              <a:ext cx="533400" cy="28721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140368" y="3514726"/>
              <a:ext cx="0" cy="621792"/>
            </a:xfrm>
            <a:prstGeom prst="line">
              <a:avLst/>
            </a:prstGeom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683168" y="4124326"/>
              <a:ext cx="457200" cy="3048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463605" y="408904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u</a:t>
              </a:r>
              <a:endParaRPr 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0" y="3429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v</a:t>
              </a:r>
              <a:endParaRPr lang="en-US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74961" y="4086067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w</a:t>
              </a:r>
              <a:endParaRPr 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77347" y="3970438"/>
              <a:ext cx="169463" cy="18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</a:t>
              </a:r>
              <a:endParaRPr lang="en-US" b="1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114800" y="4100430"/>
              <a:ext cx="45720" cy="4572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505200" y="41910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position and the orientation are defined with respect to a global (or world) coordinate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global system has origin at (0, 0, 0) and its three axis are: (1, 0, 0), (0, 1, 0), (0, 0, 1)</a:t>
            </a:r>
          </a:p>
        </p:txBody>
      </p:sp>
    </p:spTree>
    <p:extLst>
      <p:ext uri="{BB962C8B-B14F-4D97-AF65-F5344CB8AC3E}">
        <p14:creationId xmlns:p14="http://schemas.microsoft.com/office/powerpoint/2010/main" val="208150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u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dirty="0"/>
              <a:t>, </a:t>
            </a:r>
            <a:r>
              <a:rPr lang="en-US" b="1" dirty="0"/>
              <a:t>w</a:t>
            </a:r>
            <a:r>
              <a:rPr lang="en-US" dirty="0"/>
              <a:t> vectors of the camera have the following meaning:</a:t>
            </a:r>
          </a:p>
          <a:p>
            <a:pPr lvl="1"/>
            <a:r>
              <a:rPr lang="en-US" b="1" dirty="0"/>
              <a:t>v</a:t>
            </a:r>
            <a:r>
              <a:rPr lang="en-US" dirty="0"/>
              <a:t>: up vector</a:t>
            </a:r>
          </a:p>
          <a:p>
            <a:pPr lvl="1"/>
            <a:r>
              <a:rPr lang="en-US" b="1" dirty="0"/>
              <a:t>w</a:t>
            </a:r>
            <a:r>
              <a:rPr lang="en-US" dirty="0"/>
              <a:t>: opposite of gaze vector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: </a:t>
            </a:r>
            <a:r>
              <a:rPr lang="en-US" b="1" dirty="0"/>
              <a:t>v</a:t>
            </a:r>
            <a:r>
              <a:rPr lang="en-US" dirty="0"/>
              <a:t> x </a:t>
            </a:r>
            <a:r>
              <a:rPr lang="en-US" b="1" dirty="0"/>
              <a:t>w </a:t>
            </a:r>
            <a:r>
              <a:rPr lang="en-US" dirty="0"/>
              <a:t>with x representing cross-product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505200" y="4038600"/>
            <a:ext cx="1973722" cy="1676400"/>
            <a:chOff x="3574961" y="3429000"/>
            <a:chExt cx="1177506" cy="100012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4140368" y="4124326"/>
              <a:ext cx="533400" cy="28721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140368" y="3514726"/>
              <a:ext cx="0" cy="621792"/>
            </a:xfrm>
            <a:prstGeom prst="line">
              <a:avLst/>
            </a:prstGeom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683168" y="4124326"/>
              <a:ext cx="457200" cy="3048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463605" y="408904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u</a:t>
              </a:r>
              <a:endParaRPr 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0" y="3429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v</a:t>
              </a:r>
              <a:endParaRPr lang="en-US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74961" y="4086067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w</a:t>
              </a:r>
              <a:endParaRPr 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77347" y="3970438"/>
              <a:ext cx="169463" cy="18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</a:t>
              </a:r>
              <a:endParaRPr lang="en-US" b="1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114800" y="4100430"/>
              <a:ext cx="45720" cy="4572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16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plane is a surface on which the final image is formed</a:t>
            </a:r>
          </a:p>
          <a:p>
            <a:r>
              <a:rPr lang="en-US" dirty="0"/>
              <a:t>It is divided into pixels through which rays will be cast</a:t>
            </a:r>
          </a:p>
          <a:p>
            <a:r>
              <a:rPr lang="en-US" dirty="0"/>
              <a:t>It is represented by its:</a:t>
            </a:r>
          </a:p>
          <a:p>
            <a:pPr lvl="1"/>
            <a:r>
              <a:rPr lang="en-US" dirty="0"/>
              <a:t>Resolution (</a:t>
            </a:r>
            <a:r>
              <a:rPr lang="en-US" dirty="0" err="1"/>
              <a:t>n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n-US" dirty="0" err="1"/>
              <a:t>n</a:t>
            </a:r>
            <a:r>
              <a:rPr lang="en-US" baseline="-25000" dirty="0" err="1"/>
              <a:t>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to the camera</a:t>
            </a:r>
          </a:p>
          <a:p>
            <a:pPr lvl="1"/>
            <a:r>
              <a:rPr lang="en-US" dirty="0"/>
              <a:t>Left, right, top, bottom coordinates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99218" y="5940158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873965" y="3895726"/>
            <a:ext cx="990600" cy="6858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137407" y="5800726"/>
            <a:ext cx="533400" cy="28721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37407" y="5191126"/>
            <a:ext cx="0" cy="6217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680207" y="5800726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98005" y="3657600"/>
            <a:ext cx="2770632" cy="1709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isometricLeftDown">
              <a:rot lat="1950000" lon="27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5137407" y="4581526"/>
            <a:ext cx="1736558" cy="12192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88128" y="3243263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888128" y="4552952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869328" y="43100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88128" y="34718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888128" y="37004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888128" y="39290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88128" y="41576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88128" y="436261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88128" y="32432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040528" y="33194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192928" y="3400426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345328" y="3481389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97728" y="356921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650128" y="3652841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02528" y="373380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954928" y="381952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107328" y="3907345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259728" y="3988308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412128" y="406717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564528" y="4152900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16928" y="42338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888128" y="4705352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60644" y="5765444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u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111839" y="5105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v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572000" y="5762467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w</a:t>
            </a:r>
            <a:endParaRPr lang="en-US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5666175" y="6085952"/>
            <a:ext cx="407330" cy="2193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5300" y="5710184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distance</a:t>
            </a:r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6019800" y="591764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6629400" y="548640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26485" y="558731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</a:t>
            </a:r>
            <a:endParaRPr lang="en-US" b="1" dirty="0"/>
          </a:p>
        </p:txBody>
      </p:sp>
      <p:sp>
        <p:nvSpPr>
          <p:cNvPr id="42" name="Oval 41"/>
          <p:cNvSpPr/>
          <p:nvPr/>
        </p:nvSpPr>
        <p:spPr>
          <a:xfrm>
            <a:off x="5111839" y="5776830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7855039" y="4876800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709799" y="3810000"/>
            <a:ext cx="224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l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788239" y="35052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t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559639" y="5086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b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 flipH="1" flipV="1">
            <a:off x="5670807" y="3243263"/>
            <a:ext cx="294584" cy="15320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89683" y="2968284"/>
            <a:ext cx="499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(0, 0)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790197" y="5687759"/>
            <a:ext cx="320040" cy="2667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007439" y="5954523"/>
            <a:ext cx="1018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n</a:t>
            </a:r>
            <a:r>
              <a:rPr lang="en-US" sz="1200" baseline="-25000" dirty="0" err="1"/>
              <a:t>x</a:t>
            </a:r>
            <a:r>
              <a:rPr lang="en-US" sz="1200" dirty="0"/>
              <a:t> - 1, </a:t>
            </a:r>
            <a:r>
              <a:rPr lang="en-US" sz="1200" dirty="0" err="1"/>
              <a:t>n</a:t>
            </a:r>
            <a:r>
              <a:rPr lang="en-US" sz="1200" baseline="-25000" dirty="0" err="1"/>
              <a:t>y</a:t>
            </a:r>
            <a:r>
              <a:rPr lang="en-US" sz="1200" dirty="0"/>
              <a:t> - 1)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600" y="494407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image plane is typically centered and orthogonal with respect to the camera</a:t>
            </a:r>
          </a:p>
        </p:txBody>
      </p:sp>
    </p:spTree>
    <p:extLst>
      <p:ext uri="{BB962C8B-B14F-4D97-AF65-F5344CB8AC3E}">
        <p14:creationId xmlns:p14="http://schemas.microsoft.com/office/powerpoint/2010/main" val="191097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plane is a surface on which the final image is formed</a:t>
            </a:r>
          </a:p>
          <a:p>
            <a:r>
              <a:rPr lang="en-US" dirty="0"/>
              <a:t>It is divided into pixels through which rays will be cast</a:t>
            </a:r>
          </a:p>
          <a:p>
            <a:r>
              <a:rPr lang="en-US" dirty="0"/>
              <a:t>It is represented by its:</a:t>
            </a:r>
          </a:p>
          <a:p>
            <a:pPr lvl="1"/>
            <a:r>
              <a:rPr lang="en-US" dirty="0"/>
              <a:t>Resolution (</a:t>
            </a:r>
            <a:r>
              <a:rPr lang="en-US" dirty="0" err="1"/>
              <a:t>n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n-US" dirty="0" err="1"/>
              <a:t>n</a:t>
            </a:r>
            <a:r>
              <a:rPr lang="en-US" baseline="-25000" dirty="0" err="1"/>
              <a:t>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to the camera</a:t>
            </a:r>
          </a:p>
          <a:p>
            <a:pPr lvl="1"/>
            <a:r>
              <a:rPr lang="en-US" dirty="0"/>
              <a:t>Left, right, top, bottom coordinates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99218" y="5940158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873965" y="3895726"/>
            <a:ext cx="990600" cy="6858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137407" y="5800726"/>
            <a:ext cx="533400" cy="28721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37407" y="5191126"/>
            <a:ext cx="0" cy="6217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680207" y="5800726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98005" y="3657600"/>
            <a:ext cx="2770632" cy="1709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isometricLeftDown">
              <a:rot lat="1950000" lon="27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5137407" y="4581526"/>
            <a:ext cx="1736558" cy="12192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88128" y="3243263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888128" y="4552952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869328" y="43100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88128" y="34718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888128" y="37004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888128" y="39290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88128" y="41576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88128" y="436261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88128" y="32432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040528" y="33194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192928" y="3400426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345328" y="3481389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97728" y="356921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650128" y="3652841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02528" y="373380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954928" y="381952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107328" y="3907345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259728" y="3988308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412128" y="406717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564528" y="4152900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16928" y="42338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888128" y="4705352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60644" y="5765444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u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111839" y="5105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v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572000" y="5762467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w</a:t>
            </a:r>
            <a:endParaRPr lang="en-US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5666175" y="6085952"/>
            <a:ext cx="407330" cy="2193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5300" y="5710184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distance</a:t>
            </a:r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6019800" y="591764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6629400" y="548640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26485" y="558731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</a:t>
            </a:r>
            <a:endParaRPr lang="en-US" b="1" dirty="0"/>
          </a:p>
        </p:txBody>
      </p:sp>
      <p:sp>
        <p:nvSpPr>
          <p:cNvPr id="42" name="Oval 41"/>
          <p:cNvSpPr/>
          <p:nvPr/>
        </p:nvSpPr>
        <p:spPr>
          <a:xfrm>
            <a:off x="5111839" y="5776830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7855039" y="4876800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709799" y="3810000"/>
            <a:ext cx="224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l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788239" y="35052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t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559639" y="5086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b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 flipH="1" flipV="1">
            <a:off x="5670807" y="3243263"/>
            <a:ext cx="294584" cy="15320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89683" y="2968284"/>
            <a:ext cx="499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(0, 0)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790197" y="5687759"/>
            <a:ext cx="320040" cy="2667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007439" y="5954523"/>
            <a:ext cx="1018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n</a:t>
            </a:r>
            <a:r>
              <a:rPr lang="en-US" sz="1200" baseline="-25000" dirty="0" err="1"/>
              <a:t>x</a:t>
            </a:r>
            <a:r>
              <a:rPr lang="en-US" sz="1200" dirty="0"/>
              <a:t> - 1, </a:t>
            </a:r>
            <a:r>
              <a:rPr lang="en-US" sz="1200" dirty="0" err="1"/>
              <a:t>n</a:t>
            </a:r>
            <a:r>
              <a:rPr lang="en-US" sz="1200" baseline="-25000" dirty="0" err="1"/>
              <a:t>y</a:t>
            </a:r>
            <a:r>
              <a:rPr lang="en-US" sz="1200" dirty="0"/>
              <a:t> - 1)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982" y="4871531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l, r, t, b are with coordinates with respect to the camera coordinate system (not the world coordinate system)</a:t>
            </a:r>
          </a:p>
        </p:txBody>
      </p:sp>
    </p:spTree>
    <p:extLst>
      <p:ext uri="{BB962C8B-B14F-4D97-AF65-F5344CB8AC3E}">
        <p14:creationId xmlns:p14="http://schemas.microsoft.com/office/powerpoint/2010/main" val="312727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Objects consist of mathematically defined geometrical shapes or meshes made up of triangles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8508" y="2133600"/>
            <a:ext cx="1447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 descr="Image result for cu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353" y="2057400"/>
            <a:ext cx="250031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mvp.visual-navigation.com/img/RigReg/Bunny_Mode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92" y="1845487"/>
            <a:ext cx="1689100" cy="177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29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possible to model complex shapes using a large number of small triangles or quadrilaterals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8194" name="Picture 2" descr="Image result for glutSolidSp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1828800"/>
            <a:ext cx="4057650" cy="210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27990" y="3989390"/>
            <a:ext cx="982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gamedev.ru</a:t>
            </a:r>
          </a:p>
        </p:txBody>
      </p:sp>
      <p:pic>
        <p:nvPicPr>
          <p:cNvPr id="8196" name="Picture 4" descr="Image result for bunny tessellation 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613971"/>
            <a:ext cx="1977068" cy="232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39504" y="3982601"/>
            <a:ext cx="1548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cr4.globalspec.com/</a:t>
            </a:r>
          </a:p>
        </p:txBody>
      </p:sp>
    </p:spTree>
    <p:extLst>
      <p:ext uri="{BB962C8B-B14F-4D97-AF65-F5344CB8AC3E}">
        <p14:creationId xmlns:p14="http://schemas.microsoft.com/office/powerpoint/2010/main" val="182038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Objects may have different materials that affect their appearance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7170" name="Picture 2" descr="Image result for shiny sphere ray trac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7" y="1831340"/>
            <a:ext cx="3425825" cy="274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684078" y="4560065"/>
            <a:ext cx="3775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James P. O’Shea</a:t>
            </a:r>
          </a:p>
          <a:p>
            <a:pPr algn="ctr"/>
            <a:r>
              <a:rPr lang="en-US" sz="1200" dirty="0"/>
              <a:t>Left to right: High-gloss, diffuse, mirrored, semi-gloss</a:t>
            </a:r>
          </a:p>
        </p:txBody>
      </p:sp>
    </p:spTree>
    <p:extLst>
      <p:ext uri="{BB962C8B-B14F-4D97-AF65-F5344CB8AC3E}">
        <p14:creationId xmlns:p14="http://schemas.microsoft.com/office/powerpoint/2010/main" val="352754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r>
              <a:rPr lang="en-US" dirty="0"/>
              <a:t>Light sources provide the illumination in the scene</a:t>
            </a:r>
          </a:p>
          <a:p>
            <a:r>
              <a:rPr lang="en-US" dirty="0"/>
              <a:t>The geometrical relationship between objects and light sources may produce shadows</a:t>
            </a:r>
          </a:p>
          <a:p>
            <a:r>
              <a:rPr lang="en-US" dirty="0"/>
              <a:t>Typically, three types of light sources are used:</a:t>
            </a:r>
          </a:p>
          <a:p>
            <a:pPr lvl="1"/>
            <a:r>
              <a:rPr lang="en-US" dirty="0"/>
              <a:t>Ambient</a:t>
            </a:r>
          </a:p>
          <a:p>
            <a:pPr lvl="1"/>
            <a:r>
              <a:rPr lang="en-US" dirty="0"/>
              <a:t>Directional</a:t>
            </a:r>
          </a:p>
          <a:p>
            <a:pPr lvl="1"/>
            <a:r>
              <a:rPr lang="en-US" dirty="0"/>
              <a:t>Positional (Point)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pic>
        <p:nvPicPr>
          <p:cNvPr id="9220" name="Picture 4" descr="Image result for point area directional light sour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00200"/>
            <a:ext cx="2589906" cy="444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67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ray, or half-line, is a 3D parametric line with a half-open interval, usually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Both </a:t>
                </a:r>
                <a:r>
                  <a:rPr lang="en-US" b="1" dirty="0"/>
                  <a:t>o</a:t>
                </a:r>
                <a:r>
                  <a:rPr lang="en-US" dirty="0"/>
                  <a:t> and </a:t>
                </a:r>
                <a:r>
                  <a:rPr lang="en-US" b="1" dirty="0"/>
                  <a:t>d</a:t>
                </a:r>
                <a:r>
                  <a:rPr lang="en-US" dirty="0"/>
                  <a:t> are elements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and t is in range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a fixed t, </a:t>
                </a:r>
                <a:r>
                  <a:rPr lang="en-US" b="1" dirty="0"/>
                  <a:t>r(</a:t>
                </a:r>
                <a:r>
                  <a:rPr lang="en-US" dirty="0"/>
                  <a:t>t</a:t>
                </a:r>
                <a:r>
                  <a:rPr lang="en-US" b="1" dirty="0"/>
                  <a:t>)</a:t>
                </a:r>
                <a:r>
                  <a:rPr lang="en-US" dirty="0"/>
                  <a:t> represents a point on this line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9000" y="2819400"/>
                <a:ext cx="18996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819400"/>
                <a:ext cx="189962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08" r="-289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629888" y="375963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8623" y="381733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1790" y="4159843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</a:t>
            </a:r>
          </a:p>
        </p:txBody>
      </p:sp>
      <p:cxnSp>
        <p:nvCxnSpPr>
          <p:cNvPr id="11" name="Straight Arrow Connector 10"/>
          <p:cNvCxnSpPr>
            <a:endCxn id="7" idx="0"/>
          </p:cNvCxnSpPr>
          <p:nvPr/>
        </p:nvCxnSpPr>
        <p:spPr>
          <a:xfrm flipH="1">
            <a:off x="4004350" y="3188732"/>
            <a:ext cx="491450" cy="570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9" idx="0"/>
          </p:cNvCxnSpPr>
          <p:nvPr/>
        </p:nvCxnSpPr>
        <p:spPr>
          <a:xfrm flipH="1">
            <a:off x="4889908" y="3188732"/>
            <a:ext cx="139292" cy="971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8" idx="0"/>
          </p:cNvCxnSpPr>
          <p:nvPr/>
        </p:nvCxnSpPr>
        <p:spPr>
          <a:xfrm>
            <a:off x="5307503" y="3188732"/>
            <a:ext cx="549470" cy="628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31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algorithm: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913" y="2895600"/>
            <a:ext cx="743504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for</a:t>
            </a:r>
            <a:r>
              <a:rPr lang="en-US" sz="2200" dirty="0"/>
              <a:t> each pixel </a:t>
            </a:r>
            <a:r>
              <a:rPr lang="en-US" sz="2200" b="1" dirty="0"/>
              <a:t>do</a:t>
            </a:r>
          </a:p>
          <a:p>
            <a:r>
              <a:rPr lang="en-US" sz="2200" dirty="0"/>
              <a:t>      compute viewing (eye, primary) rays</a:t>
            </a:r>
          </a:p>
          <a:p>
            <a:r>
              <a:rPr lang="en-US" sz="2200" dirty="0"/>
              <a:t>      find the first object hit by ray and its surface normal </a:t>
            </a:r>
            <a:r>
              <a:rPr lang="en-US" sz="2200" b="1" dirty="0"/>
              <a:t>n</a:t>
            </a:r>
          </a:p>
          <a:p>
            <a:r>
              <a:rPr lang="en-US" sz="2200" b="1" dirty="0"/>
              <a:t>      </a:t>
            </a:r>
            <a:r>
              <a:rPr lang="en-US" sz="2200" dirty="0"/>
              <a:t>set pixel color to value computed from hit point, light, and </a:t>
            </a:r>
            <a:r>
              <a:rPr lang="en-US" sz="22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66682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/>
          <p:cNvCxnSpPr/>
          <p:nvPr/>
        </p:nvCxnSpPr>
        <p:spPr>
          <a:xfrm flipH="1">
            <a:off x="5876926" y="2219326"/>
            <a:ext cx="990600" cy="6858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Computing Eye Rays</a:t>
            </a:r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140368" y="4124326"/>
            <a:ext cx="533400" cy="28721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40368" y="3514726"/>
            <a:ext cx="0" cy="62179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3683168" y="4124326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500966" y="1981200"/>
            <a:ext cx="2770632" cy="1709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isometricLeftDown">
              <a:rot lat="1950000" lon="27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/>
          <p:nvPr/>
        </p:nvCxnSpPr>
        <p:spPr>
          <a:xfrm flipH="1">
            <a:off x="4140368" y="2905126"/>
            <a:ext cx="1736558" cy="121920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891089" y="1566863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891089" y="2876552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72289" y="26336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891089" y="17954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891089" y="20240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891089" y="22526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891089" y="248126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891089" y="2686213"/>
            <a:ext cx="1981200" cy="1066800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891089" y="1566863"/>
            <a:ext cx="0" cy="145389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043489" y="16430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5195889" y="1724026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348289" y="1804989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500689" y="189281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5653089" y="1976441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5805489" y="205740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5957889" y="2143122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110289" y="2230945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262689" y="2311908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6415089" y="2390774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567489" y="2476500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6719889" y="2557463"/>
            <a:ext cx="0" cy="1453896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4891089" y="3028952"/>
            <a:ext cx="1981200" cy="10668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463605" y="4089044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u</a:t>
            </a:r>
            <a:endParaRPr lang="en-US" b="1" dirty="0"/>
          </a:p>
        </p:txBody>
      </p:sp>
      <p:sp>
        <p:nvSpPr>
          <p:cNvPr id="96" name="TextBox 95"/>
          <p:cNvSpPr txBox="1"/>
          <p:nvPr/>
        </p:nvSpPr>
        <p:spPr>
          <a:xfrm>
            <a:off x="4114800" y="3429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v</a:t>
            </a:r>
            <a:endParaRPr lang="en-US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3574961" y="4086067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w</a:t>
            </a:r>
            <a:endParaRPr lang="en-US" b="1" dirty="0"/>
          </a:p>
        </p:txBody>
      </p:sp>
      <p:cxnSp>
        <p:nvCxnSpPr>
          <p:cNvPr id="98" name="Straight Connector 97"/>
          <p:cNvCxnSpPr/>
          <p:nvPr/>
        </p:nvCxnSpPr>
        <p:spPr>
          <a:xfrm>
            <a:off x="4669136" y="4409552"/>
            <a:ext cx="1858349" cy="100064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948100" y="4288344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distance</a:t>
            </a:r>
            <a:endParaRPr lang="en-US" dirty="0"/>
          </a:p>
        </p:txBody>
      </p:sp>
      <p:cxnSp>
        <p:nvCxnSpPr>
          <p:cNvPr id="101" name="Straight Connector 100"/>
          <p:cNvCxnSpPr/>
          <p:nvPr/>
        </p:nvCxnSpPr>
        <p:spPr>
          <a:xfrm flipH="1">
            <a:off x="5562600" y="449580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6172200" y="4064560"/>
            <a:ext cx="457200" cy="3048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929446" y="391091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</a:t>
            </a:r>
            <a:endParaRPr lang="en-US" b="1" dirty="0"/>
          </a:p>
        </p:txBody>
      </p:sp>
      <p:sp>
        <p:nvSpPr>
          <p:cNvPr id="105" name="Oval 104"/>
          <p:cNvSpPr/>
          <p:nvPr/>
        </p:nvSpPr>
        <p:spPr>
          <a:xfrm>
            <a:off x="4114800" y="4100430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5862234" y="2865894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5734728" y="2633027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</a:t>
            </a:r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1143000" y="2133600"/>
            <a:ext cx="1651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</a:t>
            </a:r>
            <a:r>
              <a:rPr lang="en-US" sz="1400" dirty="0"/>
              <a:t> = </a:t>
            </a:r>
            <a:r>
              <a:rPr lang="en-US" sz="1400" b="1" dirty="0"/>
              <a:t>e</a:t>
            </a:r>
            <a:r>
              <a:rPr lang="en-US" sz="1400" dirty="0"/>
              <a:t> + -</a:t>
            </a:r>
            <a:r>
              <a:rPr lang="en-US" sz="1400" b="1" dirty="0" err="1"/>
              <a:t>w</a:t>
            </a:r>
            <a:r>
              <a:rPr lang="en-US" sz="1400" dirty="0" err="1"/>
              <a:t>distance</a:t>
            </a:r>
            <a:endParaRPr lang="en-US" dirty="0"/>
          </a:p>
        </p:txBody>
      </p:sp>
      <p:sp>
        <p:nvSpPr>
          <p:cNvPr id="109" name="TextBox 108"/>
          <p:cNvSpPr txBox="1"/>
          <p:nvPr/>
        </p:nvSpPr>
        <p:spPr>
          <a:xfrm>
            <a:off x="5389056" y="2220372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s(</a:t>
            </a:r>
            <a:r>
              <a:rPr lang="en-US" sz="1400" dirty="0" err="1"/>
              <a:t>i,j</a:t>
            </a:r>
            <a:r>
              <a:rPr lang="en-US" sz="1400" dirty="0"/>
              <a:t>)</a:t>
            </a:r>
            <a:endParaRPr lang="en-US" dirty="0"/>
          </a:p>
        </p:txBody>
      </p:sp>
      <p:sp>
        <p:nvSpPr>
          <p:cNvPr id="123" name="Right Brace 122"/>
          <p:cNvSpPr/>
          <p:nvPr/>
        </p:nvSpPr>
        <p:spPr>
          <a:xfrm>
            <a:off x="2667000" y="2057400"/>
            <a:ext cx="152400" cy="762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2803902" y="2280834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</a:t>
            </a:r>
            <a:r>
              <a:rPr lang="en-US" sz="1400" dirty="0"/>
              <a:t> = </a:t>
            </a:r>
            <a:r>
              <a:rPr lang="en-US" sz="1400" b="1" dirty="0"/>
              <a:t>q</a:t>
            </a:r>
            <a:r>
              <a:rPr lang="en-US" sz="1400" dirty="0"/>
              <a:t> + </a:t>
            </a:r>
            <a:r>
              <a:rPr lang="en-US" sz="1400" dirty="0" err="1"/>
              <a:t>s</a:t>
            </a:r>
            <a:r>
              <a:rPr lang="en-US" sz="1400" baseline="-25000" dirty="0" err="1"/>
              <a:t>u</a:t>
            </a:r>
            <a:r>
              <a:rPr lang="en-US" sz="1400" b="1" dirty="0" err="1"/>
              <a:t>u</a:t>
            </a:r>
            <a:r>
              <a:rPr lang="en-US" sz="1400" b="1" dirty="0"/>
              <a:t> </a:t>
            </a:r>
            <a:r>
              <a:rPr lang="en-US" sz="1400" dirty="0"/>
              <a:t>- </a:t>
            </a:r>
            <a:r>
              <a:rPr lang="en-US" sz="1400" dirty="0" err="1"/>
              <a:t>s</a:t>
            </a:r>
            <a:r>
              <a:rPr lang="en-US" sz="1400" baseline="-25000" dirty="0" err="1"/>
              <a:t>v</a:t>
            </a:r>
            <a:r>
              <a:rPr lang="en-US" sz="1400" b="1" dirty="0" err="1"/>
              <a:t>v</a:t>
            </a:r>
            <a:endParaRPr lang="en-US" b="1" baseline="-25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858000" y="3200400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</a:t>
            </a:r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4712760" y="2133600"/>
            <a:ext cx="224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l</a:t>
            </a:r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5791200" y="18288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t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5562600" y="34096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b</a:t>
            </a:r>
            <a:endParaRPr lang="en-US" dirty="0"/>
          </a:p>
        </p:txBody>
      </p:sp>
      <p:cxnSp>
        <p:nvCxnSpPr>
          <p:cNvPr id="136" name="Straight Connector 135"/>
          <p:cNvCxnSpPr/>
          <p:nvPr/>
        </p:nvCxnSpPr>
        <p:spPr>
          <a:xfrm flipH="1" flipV="1">
            <a:off x="4673768" y="1566863"/>
            <a:ext cx="294584" cy="15320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292644" y="1291884"/>
            <a:ext cx="499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(0, 0)</a:t>
            </a:r>
          </a:p>
        </p:txBody>
      </p:sp>
      <p:cxnSp>
        <p:nvCxnSpPr>
          <p:cNvPr id="142" name="Straight Connector 141"/>
          <p:cNvCxnSpPr/>
          <p:nvPr/>
        </p:nvCxnSpPr>
        <p:spPr>
          <a:xfrm>
            <a:off x="6793158" y="4011359"/>
            <a:ext cx="320040" cy="2667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7010400" y="4278123"/>
            <a:ext cx="1018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n</a:t>
            </a:r>
            <a:r>
              <a:rPr lang="en-US" sz="1200" baseline="-25000" dirty="0" err="1"/>
              <a:t>x</a:t>
            </a:r>
            <a:r>
              <a:rPr lang="en-US" sz="1200" dirty="0"/>
              <a:t> - 1, </a:t>
            </a:r>
            <a:r>
              <a:rPr lang="en-US" sz="1200" dirty="0" err="1"/>
              <a:t>n</a:t>
            </a:r>
            <a:r>
              <a:rPr lang="en-US" sz="1200" baseline="-25000" dirty="0" err="1"/>
              <a:t>y</a:t>
            </a:r>
            <a:r>
              <a:rPr lang="en-US" sz="1200" dirty="0"/>
              <a:t> - 1)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43000" y="3048000"/>
            <a:ext cx="1840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How to find </a:t>
            </a:r>
            <a:r>
              <a:rPr lang="en-US" sz="1400" dirty="0" err="1">
                <a:solidFill>
                  <a:srgbClr val="FF0000"/>
                </a:solidFill>
              </a:rPr>
              <a:t>s</a:t>
            </a:r>
            <a:r>
              <a:rPr lang="en-US" sz="1400" baseline="-25000" dirty="0" err="1">
                <a:solidFill>
                  <a:srgbClr val="FF0000"/>
                </a:solidFill>
              </a:rPr>
              <a:t>u</a:t>
            </a:r>
            <a:r>
              <a:rPr lang="en-US" sz="1400" dirty="0">
                <a:solidFill>
                  <a:srgbClr val="FF0000"/>
                </a:solidFill>
              </a:rPr>
              <a:t> and </a:t>
            </a:r>
            <a:r>
              <a:rPr lang="en-US" sz="1400" dirty="0" err="1">
                <a:solidFill>
                  <a:srgbClr val="FF0000"/>
                </a:solidFill>
              </a:rPr>
              <a:t>s</a:t>
            </a:r>
            <a:r>
              <a:rPr lang="en-US" sz="1400" baseline="-25000" dirty="0" err="1">
                <a:solidFill>
                  <a:srgbClr val="FF0000"/>
                </a:solidFill>
              </a:rPr>
              <a:t>v</a:t>
            </a:r>
            <a:r>
              <a:rPr lang="en-US" sz="14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143000" y="4721423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r(</a:t>
            </a:r>
            <a:r>
              <a:rPr lang="en-US" sz="1400" dirty="0"/>
              <a:t>t</a:t>
            </a:r>
            <a:r>
              <a:rPr lang="en-US" sz="1400" b="1" dirty="0"/>
              <a:t>)</a:t>
            </a:r>
            <a:r>
              <a:rPr lang="en-US" sz="1400" dirty="0"/>
              <a:t> = </a:t>
            </a:r>
            <a:r>
              <a:rPr lang="en-US" sz="1400" b="1" dirty="0"/>
              <a:t>e</a:t>
            </a:r>
            <a:r>
              <a:rPr lang="en-US" sz="1400" dirty="0"/>
              <a:t> + (</a:t>
            </a:r>
            <a:r>
              <a:rPr lang="en-US" sz="1400" b="1" dirty="0"/>
              <a:t>s</a:t>
            </a:r>
            <a:r>
              <a:rPr lang="en-US" sz="1400" dirty="0"/>
              <a:t> – </a:t>
            </a:r>
            <a:r>
              <a:rPr lang="en-US" sz="1400" b="1" dirty="0"/>
              <a:t>e</a:t>
            </a:r>
            <a:r>
              <a:rPr lang="en-US" sz="1400" dirty="0"/>
              <a:t>)t = </a:t>
            </a:r>
            <a:r>
              <a:rPr lang="en-US" sz="1400" b="1" dirty="0"/>
              <a:t>e</a:t>
            </a:r>
            <a:r>
              <a:rPr lang="en-US" sz="1400" dirty="0"/>
              <a:t> + </a:t>
            </a:r>
            <a:r>
              <a:rPr lang="en-US" sz="1400" b="1" dirty="0" err="1"/>
              <a:t>d</a:t>
            </a:r>
            <a:r>
              <a:rPr lang="en-US" sz="1400" dirty="0" err="1"/>
              <a:t>t</a:t>
            </a:r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1143000" y="4416623"/>
            <a:ext cx="3118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How to write the final eye ray equation?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143000" y="5257800"/>
            <a:ext cx="3399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What information did we use to derive this?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071160" y="4841518"/>
            <a:ext cx="3996572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e</a:t>
            </a:r>
            <a:r>
              <a:rPr lang="en-US" sz="1400" dirty="0"/>
              <a:t>: location of the camera</a:t>
            </a:r>
          </a:p>
          <a:p>
            <a:r>
              <a:rPr lang="en-US" sz="1400" dirty="0"/>
              <a:t>distance: camera-image plane distance</a:t>
            </a:r>
          </a:p>
          <a:p>
            <a:r>
              <a:rPr lang="en-US" sz="1400" dirty="0" err="1"/>
              <a:t>n</a:t>
            </a:r>
            <a:r>
              <a:rPr lang="en-US" sz="1400" baseline="-25000" dirty="0" err="1"/>
              <a:t>x</a:t>
            </a:r>
            <a:r>
              <a:rPr lang="en-US" sz="1400" dirty="0"/>
              <a:t>: image width</a:t>
            </a:r>
          </a:p>
          <a:p>
            <a:r>
              <a:rPr lang="en-US" sz="1400" dirty="0" err="1"/>
              <a:t>n</a:t>
            </a:r>
            <a:r>
              <a:rPr lang="en-US" sz="1400" baseline="-25000" dirty="0" err="1"/>
              <a:t>y</a:t>
            </a:r>
            <a:r>
              <a:rPr lang="en-US" sz="1400" dirty="0"/>
              <a:t>: image height</a:t>
            </a:r>
          </a:p>
          <a:p>
            <a:r>
              <a:rPr lang="en-US" sz="1400" b="1" dirty="0"/>
              <a:t>u</a:t>
            </a:r>
            <a:r>
              <a:rPr lang="en-US" sz="1400" dirty="0"/>
              <a:t>, </a:t>
            </a:r>
            <a:r>
              <a:rPr lang="en-US" sz="1400" b="1" dirty="0"/>
              <a:t>v</a:t>
            </a:r>
            <a:r>
              <a:rPr lang="en-US" sz="1400" dirty="0"/>
              <a:t>,</a:t>
            </a:r>
            <a:r>
              <a:rPr lang="en-US" sz="1400" b="1" dirty="0"/>
              <a:t> w</a:t>
            </a:r>
            <a:r>
              <a:rPr lang="en-US" sz="1400" dirty="0"/>
              <a:t>: camera vectors</a:t>
            </a:r>
          </a:p>
          <a:p>
            <a:r>
              <a:rPr lang="en-US" sz="1400" dirty="0"/>
              <a:t>r, l, t, b: image plane borders (in </a:t>
            </a:r>
            <a:r>
              <a:rPr lang="en-US" sz="1400" b="1" dirty="0" err="1"/>
              <a:t>uvw</a:t>
            </a:r>
            <a:r>
              <a:rPr lang="en-US" sz="1400" b="1" dirty="0"/>
              <a:t> </a:t>
            </a:r>
            <a:r>
              <a:rPr lang="en-US" sz="1400" dirty="0"/>
              <a:t>space)</a:t>
            </a:r>
            <a:endParaRPr lang="en-US" dirty="0"/>
          </a:p>
        </p:txBody>
      </p:sp>
      <p:cxnSp>
        <p:nvCxnSpPr>
          <p:cNvPr id="153" name="Straight Connector 152"/>
          <p:cNvCxnSpPr>
            <a:stCxn id="110" idx="3"/>
            <a:endCxn id="105" idx="7"/>
          </p:cNvCxnSpPr>
          <p:nvPr/>
        </p:nvCxnSpPr>
        <p:spPr>
          <a:xfrm flipH="1">
            <a:off x="4153824" y="2457541"/>
            <a:ext cx="1263072" cy="164958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782442" y="131322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q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1143000" y="2435423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q</a:t>
            </a:r>
            <a:r>
              <a:rPr lang="en-US" sz="1400" dirty="0"/>
              <a:t> = </a:t>
            </a:r>
            <a:r>
              <a:rPr lang="en-US" sz="1400" b="1" dirty="0"/>
              <a:t>m</a:t>
            </a:r>
            <a:r>
              <a:rPr lang="en-US" sz="1400" dirty="0"/>
              <a:t> + </a:t>
            </a:r>
            <a:r>
              <a:rPr lang="en-US" sz="1400" dirty="0" err="1"/>
              <a:t>l</a:t>
            </a:r>
            <a:r>
              <a:rPr lang="en-US" sz="1400" b="1" dirty="0" err="1"/>
              <a:t>u</a:t>
            </a:r>
            <a:r>
              <a:rPr lang="en-US" sz="1400" b="1" dirty="0"/>
              <a:t> </a:t>
            </a:r>
            <a:r>
              <a:rPr lang="en-US" sz="1400" dirty="0"/>
              <a:t>+ </a:t>
            </a:r>
            <a:r>
              <a:rPr lang="en-US" sz="1400" dirty="0" err="1"/>
              <a:t>t</a:t>
            </a:r>
            <a:r>
              <a:rPr lang="en-US" sz="1400" b="1" dirty="0" err="1"/>
              <a:t>v</a:t>
            </a:r>
            <a:endParaRPr lang="en-US" b="1" dirty="0"/>
          </a:p>
        </p:txBody>
      </p:sp>
      <p:cxnSp>
        <p:nvCxnSpPr>
          <p:cNvPr id="103" name="Straight Connector 102"/>
          <p:cNvCxnSpPr>
            <a:endCxn id="110" idx="1"/>
          </p:cNvCxnSpPr>
          <p:nvPr/>
        </p:nvCxnSpPr>
        <p:spPr>
          <a:xfrm>
            <a:off x="4906764" y="2151876"/>
            <a:ext cx="510132" cy="2733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5433060" y="1892812"/>
            <a:ext cx="0" cy="54261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5410200" y="2418517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5005123" y="2004131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</a:t>
            </a:r>
            <a:r>
              <a:rPr lang="en-US" sz="1400" baseline="-25000" dirty="0" err="1"/>
              <a:t>u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5372513" y="1978223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</a:t>
            </a:r>
            <a:r>
              <a:rPr lang="en-US" sz="1400" baseline="-25000" dirty="0" err="1"/>
              <a:t>v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4873939" y="1552578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68112" y="3347066"/>
                <a:ext cx="1543948" cy="445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𝑢</m:t>
                          </m:r>
                        </m:sub>
                      </m:sSub>
                      <m:r>
                        <a:rPr lang="en-US" sz="1400" b="0" i="1" smtClean="0">
                          <a:latin typeface="Cambria Math" charset="0"/>
                        </a:rPr>
                        <m:t>=(</m:t>
                      </m:r>
                      <m:r>
                        <a:rPr lang="en-US" sz="1400" b="0" i="1" smtClean="0">
                          <a:latin typeface="Cambria Math" charset="0"/>
                        </a:rPr>
                        <m:t>𝑖</m:t>
                      </m:r>
                      <m:r>
                        <a:rPr lang="en-US" sz="1400" b="0" i="1" smtClean="0">
                          <a:latin typeface="Cambria Math" charset="0"/>
                        </a:rPr>
                        <m:t>+0.5)</m:t>
                      </m:r>
                      <m:f>
                        <m:fPr>
                          <m:ctrlPr>
                            <a:rPr lang="mr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sz="1400" b="0" i="1" smtClean="0">
                              <a:latin typeface="Cambria Math" charset="0"/>
                            </a:rPr>
                            <m:t> −</m:t>
                          </m:r>
                          <m:r>
                            <a:rPr lang="en-US" sz="1400" b="0" i="1" smtClean="0">
                              <a:latin typeface="Cambria Math" charset="0"/>
                            </a:rPr>
                            <m:t>𝑙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112" y="3347066"/>
                <a:ext cx="1543948" cy="445378"/>
              </a:xfrm>
              <a:prstGeom prst="rect">
                <a:avLst/>
              </a:prstGeom>
              <a:blipFill rotWithShape="0">
                <a:blip r:embed="rId2"/>
                <a:stretch>
                  <a:fillRect l="-791" t="-71233" r="-1976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255895" y="3873976"/>
                <a:ext cx="1563505" cy="469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𝑣</m:t>
                          </m:r>
                        </m:sub>
                      </m:sSub>
                      <m:r>
                        <a:rPr lang="en-US" sz="1400" b="0" i="1" smtClean="0">
                          <a:latin typeface="Cambria Math" charset="0"/>
                        </a:rPr>
                        <m:t>=(</m:t>
                      </m:r>
                      <m:r>
                        <a:rPr lang="en-US" sz="1400" b="0" i="1" smtClean="0">
                          <a:latin typeface="Cambria Math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charset="0"/>
                        </a:rPr>
                        <m:t>+0.5)</m:t>
                      </m:r>
                      <m:f>
                        <m:fPr>
                          <m:ctrlPr>
                            <a:rPr lang="mr-I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charset="0"/>
                            </a:rPr>
                            <m:t> −</m:t>
                          </m:r>
                          <m:r>
                            <a:rPr lang="en-US" sz="1400" b="0" i="1" smtClean="0">
                              <a:latin typeface="Cambria Math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895" y="3873976"/>
                <a:ext cx="1563505" cy="469424"/>
              </a:xfrm>
              <a:prstGeom prst="rect">
                <a:avLst/>
              </a:prstGeom>
              <a:blipFill rotWithShape="0">
                <a:blip r:embed="rId3"/>
                <a:stretch>
                  <a:fillRect l="-778" t="-66667" r="-19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1"/>
      <p:bldP spid="108" grpId="0"/>
      <p:bldP spid="109" grpId="0"/>
      <p:bldP spid="123" grpId="0" animBg="1"/>
      <p:bldP spid="124" grpId="0"/>
      <p:bldP spid="139" grpId="0"/>
      <p:bldP spid="143" grpId="0"/>
      <p:bldP spid="148" grpId="0"/>
      <p:bldP spid="149" grpId="0"/>
      <p:bldP spid="150" grpId="0"/>
      <p:bldP spid="151" grpId="0"/>
      <p:bldP spid="152" grpId="0" animBg="1"/>
      <p:bldP spid="93" grpId="0"/>
      <p:bldP spid="94" grpId="0"/>
      <p:bldP spid="115" grpId="0"/>
      <p:bldP spid="116" grpId="0"/>
      <p:bldP spid="111" grpId="0" animBg="1"/>
      <p:bldP spid="5" grpId="0"/>
      <p:bldP spid="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</a:t>
            </a:r>
            <a:r>
              <a:rPr lang="en-US" dirty="0"/>
              <a:t> = (1, 0, 0)</a:t>
            </a:r>
          </a:p>
          <a:p>
            <a:r>
              <a:rPr lang="en-US" b="1" dirty="0"/>
              <a:t>v</a:t>
            </a:r>
            <a:r>
              <a:rPr lang="en-US" dirty="0"/>
              <a:t> = (0, 1, 0)</a:t>
            </a:r>
          </a:p>
          <a:p>
            <a:r>
              <a:rPr lang="en-US" b="1" dirty="0"/>
              <a:t>e</a:t>
            </a:r>
            <a:r>
              <a:rPr lang="en-US" dirty="0"/>
              <a:t> = (0, 0, 0)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x</a:t>
            </a:r>
            <a:r>
              <a:rPr lang="en-US" dirty="0"/>
              <a:t> = 1024</a:t>
            </a:r>
          </a:p>
          <a:p>
            <a:r>
              <a:rPr lang="en-US" dirty="0" err="1"/>
              <a:t>n</a:t>
            </a:r>
            <a:r>
              <a:rPr lang="en-US" baseline="-25000" dirty="0" err="1"/>
              <a:t>y</a:t>
            </a:r>
            <a:r>
              <a:rPr lang="en-US" dirty="0"/>
              <a:t> = 768</a:t>
            </a:r>
          </a:p>
          <a:p>
            <a:r>
              <a:rPr lang="en-US" dirty="0"/>
              <a:t>l = -1, r = 1</a:t>
            </a:r>
          </a:p>
          <a:p>
            <a:r>
              <a:rPr lang="en-US" dirty="0"/>
              <a:t>b = -1, t = 1</a:t>
            </a:r>
          </a:p>
          <a:p>
            <a:r>
              <a:rPr lang="en-US"/>
              <a:t>distance </a:t>
            </a:r>
            <a:r>
              <a:rPr lang="en-US" dirty="0"/>
              <a:t>=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5200" y="1683603"/>
            <a:ext cx="4876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the ray equation passing</a:t>
            </a:r>
          </a:p>
          <a:p>
            <a:r>
              <a:rPr lang="en-US" sz="2400" dirty="0"/>
              <a:t>through the pixel (256, 192):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91000" y="2590800"/>
                <a:ext cx="4308552" cy="998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0.5+1/1024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0.5−1/768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590800"/>
                <a:ext cx="4308552" cy="9987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505200" y="3888223"/>
            <a:ext cx="5232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Where is this ray at t = 0, t = 1, t = 2?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Ray-Object Intersections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To decide at what point, if any, a 3D line (ray) intersects a 3D surface</a:t>
            </a:r>
          </a:p>
        </p:txBody>
      </p:sp>
      <p:sp>
        <p:nvSpPr>
          <p:cNvPr id="5" name="Line 1"/>
          <p:cNvSpPr>
            <a:spLocks noChangeShapeType="1"/>
          </p:cNvSpPr>
          <p:nvPr/>
        </p:nvSpPr>
        <p:spPr bwMode="auto">
          <a:xfrm flipH="1">
            <a:off x="990600" y="2336800"/>
            <a:ext cx="6502400" cy="3097213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Rectangle 2"/>
          <p:cNvSpPr>
            <a:spLocks/>
          </p:cNvSpPr>
          <p:nvPr/>
        </p:nvSpPr>
        <p:spPr bwMode="auto">
          <a:xfrm>
            <a:off x="2743200" y="3898900"/>
            <a:ext cx="1270000" cy="1270000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val 3"/>
          <p:cNvSpPr>
            <a:spLocks/>
          </p:cNvSpPr>
          <p:nvPr/>
        </p:nvSpPr>
        <p:spPr bwMode="auto">
          <a:xfrm>
            <a:off x="5181600" y="2146300"/>
            <a:ext cx="1270000" cy="1270000"/>
          </a:xfrm>
          <a:prstGeom prst="ellipse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val 8"/>
          <p:cNvSpPr>
            <a:spLocks/>
          </p:cNvSpPr>
          <p:nvPr/>
        </p:nvSpPr>
        <p:spPr bwMode="auto">
          <a:xfrm flipH="1">
            <a:off x="3975100" y="3949700"/>
            <a:ext cx="101600" cy="101600"/>
          </a:xfrm>
          <a:prstGeom prst="ellipse">
            <a:avLst/>
          </a:prstGeom>
          <a:solidFill>
            <a:srgbClr val="000000"/>
          </a:solidFill>
          <a:ln w="12700" cap="flat">
            <a:noFill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val 9"/>
          <p:cNvSpPr>
            <a:spLocks/>
          </p:cNvSpPr>
          <p:nvPr/>
        </p:nvSpPr>
        <p:spPr bwMode="auto">
          <a:xfrm flipH="1">
            <a:off x="5422900" y="3251200"/>
            <a:ext cx="101600" cy="101600"/>
          </a:xfrm>
          <a:prstGeom prst="ellipse">
            <a:avLst/>
          </a:prstGeom>
          <a:solidFill>
            <a:srgbClr val="000000"/>
          </a:solidFill>
          <a:ln w="12700" cap="flat">
            <a:noFill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Oval 10"/>
          <p:cNvSpPr>
            <a:spLocks/>
          </p:cNvSpPr>
          <p:nvPr/>
        </p:nvSpPr>
        <p:spPr bwMode="auto">
          <a:xfrm flipH="1">
            <a:off x="6400800" y="2794000"/>
            <a:ext cx="101600" cy="101600"/>
          </a:xfrm>
          <a:prstGeom prst="ellipse">
            <a:avLst/>
          </a:prstGeom>
          <a:solidFill>
            <a:srgbClr val="000000"/>
          </a:solidFill>
          <a:ln w="12700" cap="flat">
            <a:noFill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val 11"/>
          <p:cNvSpPr>
            <a:spLocks/>
          </p:cNvSpPr>
          <p:nvPr/>
        </p:nvSpPr>
        <p:spPr bwMode="auto">
          <a:xfrm flipH="1">
            <a:off x="2692400" y="4546600"/>
            <a:ext cx="101600" cy="101600"/>
          </a:xfrm>
          <a:prstGeom prst="ellipse">
            <a:avLst/>
          </a:prstGeom>
          <a:solidFill>
            <a:srgbClr val="000000"/>
          </a:solidFill>
          <a:ln w="12700" cap="flat">
            <a:noFill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H="1">
            <a:off x="990600" y="2336800"/>
            <a:ext cx="6502400" cy="3097213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2D line can be represented as: </a:t>
            </a:r>
            <a:r>
              <a:rPr lang="en-US" i="1" dirty="0"/>
              <a:t>y – </a:t>
            </a:r>
            <a:r>
              <a:rPr lang="en-US" i="1" dirty="0" err="1"/>
              <a:t>mx</a:t>
            </a:r>
            <a:r>
              <a:rPr lang="en-US" i="1" dirty="0"/>
              <a:t> – b = 0. </a:t>
            </a:r>
            <a:r>
              <a:rPr lang="en-US" dirty="0"/>
              <a:t>This is called the </a:t>
            </a:r>
            <a:r>
              <a:rPr lang="en-US" dirty="0">
                <a:solidFill>
                  <a:schemeClr val="accent1"/>
                </a:solidFill>
              </a:rPr>
              <a:t>implicit form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parametric </a:t>
            </a:r>
            <a:r>
              <a:rPr lang="en-US" dirty="0"/>
              <a:t>2D line can be represented 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3D </a:t>
            </a:r>
            <a:r>
              <a:rPr lang="en-US" dirty="0">
                <a:solidFill>
                  <a:schemeClr val="accent1"/>
                </a:solidFill>
              </a:rPr>
              <a:t>parametric </a:t>
            </a:r>
            <a:r>
              <a:rPr lang="en-US" dirty="0"/>
              <a:t>line (ray) can be written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Alternatively, in vector form, we can write </a:t>
            </a:r>
            <a:r>
              <a:rPr lang="en-US" b="1" i="1" dirty="0"/>
              <a:t>r(</a:t>
            </a:r>
            <a:r>
              <a:rPr lang="en-US" i="1" dirty="0"/>
              <a:t>t</a:t>
            </a:r>
            <a:r>
              <a:rPr lang="en-US" b="1" i="1" dirty="0"/>
              <a:t>)</a:t>
            </a:r>
            <a:r>
              <a:rPr lang="en-US" i="1" dirty="0"/>
              <a:t> = 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dirty="0"/>
              <a:t> where </a:t>
            </a:r>
            <a:r>
              <a:rPr lang="en-US" b="1" i="1" dirty="0"/>
              <a:t>o</a:t>
            </a:r>
            <a:r>
              <a:rPr lang="en-US" i="1" dirty="0"/>
              <a:t> = (2, 1, 3)</a:t>
            </a:r>
            <a:r>
              <a:rPr lang="en-US" dirty="0"/>
              <a:t> and </a:t>
            </a:r>
            <a:r>
              <a:rPr lang="en-US" b="1" i="1" dirty="0"/>
              <a:t>d</a:t>
            </a:r>
            <a:r>
              <a:rPr lang="en-US" i="1" dirty="0"/>
              <a:t> = (7, 2, -5)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3800" y="2782669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x(t) = 2 + 7t</a:t>
            </a:r>
          </a:p>
          <a:p>
            <a:r>
              <a:rPr lang="en-US" dirty="0"/>
              <a:t>y(t) = 1 + 2t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3800" y="4038600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x(t) = 2 + 7t</a:t>
            </a:r>
          </a:p>
          <a:p>
            <a:r>
              <a:rPr lang="en-US" dirty="0"/>
              <a:t>y(t) = 1 + 2t</a:t>
            </a:r>
          </a:p>
          <a:p>
            <a:r>
              <a:rPr lang="en-US" dirty="0"/>
              <a:t>z(t) = 3 – 5t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(Reminder)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ray is a half-line represented by </a:t>
            </a:r>
            <a:r>
              <a:rPr lang="en-US" b="1" i="1" dirty="0"/>
              <a:t>r(</a:t>
            </a:r>
            <a:r>
              <a:rPr lang="en-US" i="1" dirty="0"/>
              <a:t>t</a:t>
            </a:r>
            <a:r>
              <a:rPr lang="en-US" b="1" i="1" dirty="0"/>
              <a:t>)</a:t>
            </a:r>
            <a:r>
              <a:rPr lang="en-US" i="1" dirty="0"/>
              <a:t> = 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i="1" dirty="0"/>
              <a:t> </a:t>
            </a:r>
            <a:r>
              <a:rPr lang="en-US" dirty="0"/>
              <a:t>with </a:t>
            </a:r>
            <a:r>
              <a:rPr lang="en-US" i="1" dirty="0"/>
              <a:t>t ≥ 0</a:t>
            </a:r>
            <a:r>
              <a:rPr lang="en-US" dirty="0"/>
              <a:t>.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>
              <a:buNone/>
            </a:pPr>
            <a:endParaRPr lang="en-US" i="1" dirty="0"/>
          </a:p>
          <a:p>
            <a:r>
              <a:rPr lang="en-US" dirty="0"/>
              <a:t>We want to know if a ray intersects an object with </a:t>
            </a:r>
            <a:r>
              <a:rPr lang="en-US" i="1" dirty="0"/>
              <a:t>t</a:t>
            </a:r>
            <a:r>
              <a:rPr lang="en-US" dirty="0"/>
              <a:t> in the interval </a:t>
            </a:r>
            <a:r>
              <a:rPr lang="en-US" i="1" dirty="0"/>
              <a:t>[</a:t>
            </a:r>
            <a:r>
              <a:rPr lang="en-US" i="1" dirty="0" err="1"/>
              <a:t>t</a:t>
            </a:r>
            <a:r>
              <a:rPr lang="en-US" i="1" baseline="-25000" dirty="0" err="1"/>
              <a:t>min</a:t>
            </a:r>
            <a:r>
              <a:rPr lang="en-US" i="1" dirty="0"/>
              <a:t>, </a:t>
            </a:r>
            <a:r>
              <a:rPr lang="en-US" i="1" dirty="0" err="1"/>
              <a:t>t</a:t>
            </a:r>
            <a:r>
              <a:rPr lang="en-US" i="1" baseline="-25000" dirty="0" err="1"/>
              <a:t>max</a:t>
            </a:r>
            <a:r>
              <a:rPr lang="en-US" i="1" dirty="0"/>
              <a:t>]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/>
              <a:t>t &lt; </a:t>
            </a:r>
            <a:r>
              <a:rPr lang="en-US" i="1" dirty="0" err="1"/>
              <a:t>t</a:t>
            </a:r>
            <a:r>
              <a:rPr lang="en-US" i="1" baseline="-25000" dirty="0" err="1"/>
              <a:t>min</a:t>
            </a:r>
            <a:r>
              <a:rPr lang="en-US" dirty="0"/>
              <a:t>, the object is too close (maybe in front of the image plane).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t &gt; </a:t>
            </a:r>
            <a:r>
              <a:rPr lang="en-US" i="1" dirty="0" err="1"/>
              <a:t>t</a:t>
            </a:r>
            <a:r>
              <a:rPr lang="en-US" i="1" baseline="-25000" dirty="0" err="1"/>
              <a:t>max</a:t>
            </a:r>
            <a:r>
              <a:rPr lang="en-US" dirty="0"/>
              <a:t>, the object is too far (outside the range we want to consider).</a:t>
            </a:r>
          </a:p>
        </p:txBody>
      </p:sp>
      <p:pic>
        <p:nvPicPr>
          <p:cNvPr id="4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084387"/>
            <a:ext cx="8589963" cy="1649413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Rays will intersect surfaces, so we need to know how to represent surfaces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implicit form</a:t>
            </a:r>
            <a:r>
              <a:rPr lang="en-US" dirty="0"/>
              <a:t> a surface can be written as </a:t>
            </a:r>
            <a:r>
              <a:rPr lang="en-US" i="1" dirty="0"/>
              <a:t>f(x, y, z) = 0</a:t>
            </a:r>
            <a:endParaRPr lang="en-US" dirty="0"/>
          </a:p>
          <a:p>
            <a:r>
              <a:rPr lang="en-US" dirty="0"/>
              <a:t>Why is it called implicit?</a:t>
            </a:r>
          </a:p>
          <a:p>
            <a:pPr lvl="1"/>
            <a:r>
              <a:rPr lang="en-US" dirty="0"/>
              <a:t>You can test whether a point is on the surface, but you cannot generate points on the surface</a:t>
            </a:r>
          </a:p>
          <a:p>
            <a:r>
              <a:rPr lang="en-US" dirty="0"/>
              <a:t>Another way to write: </a:t>
            </a:r>
            <a:r>
              <a:rPr lang="en-US" i="1" dirty="0"/>
              <a:t>f(</a:t>
            </a:r>
            <a:r>
              <a:rPr lang="en-US" b="1" i="1" dirty="0"/>
              <a:t>p</a:t>
            </a:r>
            <a:r>
              <a:rPr lang="en-US" i="1" dirty="0"/>
              <a:t>) = 0</a:t>
            </a:r>
            <a:r>
              <a:rPr lang="en-US" dirty="0"/>
              <a:t> where </a:t>
            </a:r>
            <a:r>
              <a:rPr lang="en-US" b="1" i="1" dirty="0"/>
              <a:t>p</a:t>
            </a:r>
            <a:r>
              <a:rPr lang="en-US" i="1" dirty="0"/>
              <a:t> = (x, y, z)</a:t>
            </a:r>
            <a:endParaRPr lang="en-US" dirty="0"/>
          </a:p>
          <a:p>
            <a:r>
              <a:rPr lang="en-US" dirty="0"/>
              <a:t>A ray will intersect this surface if: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5229" y="502920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f(</a:t>
            </a:r>
            <a:r>
              <a:rPr lang="en-US" sz="2400" b="1" i="1" dirty="0"/>
              <a:t>r(</a:t>
            </a:r>
            <a:r>
              <a:rPr lang="en-US" sz="2400" i="1" dirty="0"/>
              <a:t>t</a:t>
            </a:r>
            <a:r>
              <a:rPr lang="en-US" sz="2400" b="1" i="1" dirty="0"/>
              <a:t>)</a:t>
            </a:r>
            <a:r>
              <a:rPr lang="en-US" sz="2400" i="1" dirty="0"/>
              <a:t>) = f(</a:t>
            </a:r>
            <a:r>
              <a:rPr lang="en-US" sz="2400" b="1" i="1" dirty="0"/>
              <a:t>o</a:t>
            </a:r>
            <a:r>
              <a:rPr lang="en-US" sz="2400" i="1" dirty="0"/>
              <a:t> + t</a:t>
            </a:r>
            <a:r>
              <a:rPr lang="en-US" sz="2400" b="1" i="1" dirty="0"/>
              <a:t>d</a:t>
            </a:r>
            <a:r>
              <a:rPr lang="en-US" sz="2400" i="1" dirty="0"/>
              <a:t>) = 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Ray-Plane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plane equation written in vector form 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</a:t>
            </a:r>
            <a:r>
              <a:rPr lang="en-US" b="1" i="1" dirty="0"/>
              <a:t>a</a:t>
            </a:r>
            <a:r>
              <a:rPr lang="en-US" dirty="0"/>
              <a:t> is a point on the plane, </a:t>
            </a:r>
            <a:r>
              <a:rPr lang="en-US" b="1" i="1" dirty="0"/>
              <a:t>n</a:t>
            </a:r>
            <a:r>
              <a:rPr lang="en-US" dirty="0"/>
              <a:t> is the normal vector of the plane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a</a:t>
            </a:r>
            <a:r>
              <a:rPr lang="en-US" dirty="0"/>
              <a:t> and </a:t>
            </a:r>
            <a:r>
              <a:rPr lang="en-US" b="1" i="1" dirty="0"/>
              <a:t>n</a:t>
            </a:r>
            <a:r>
              <a:rPr lang="en-US" i="1" dirty="0"/>
              <a:t>, </a:t>
            </a:r>
            <a:r>
              <a:rPr lang="en-US" dirty="0"/>
              <a:t>are known quantities and </a:t>
            </a:r>
            <a:r>
              <a:rPr lang="en-US" b="1" dirty="0"/>
              <a:t>p</a:t>
            </a:r>
            <a:r>
              <a:rPr lang="en-US" dirty="0"/>
              <a:t> is the variable.</a:t>
            </a:r>
            <a:endParaRPr lang="en-US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18288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p</a:t>
            </a:r>
            <a:r>
              <a:rPr lang="en-US" i="1" dirty="0"/>
              <a:t> – </a:t>
            </a:r>
            <a:r>
              <a:rPr lang="en-US" b="1" i="1" dirty="0"/>
              <a:t>a</a:t>
            </a:r>
            <a:r>
              <a:rPr lang="en-US" i="1" dirty="0"/>
              <a:t>)</a:t>
            </a:r>
            <a:r>
              <a:rPr lang="en-US" sz="3600" dirty="0"/>
              <a:t>.</a:t>
            </a:r>
            <a:r>
              <a:rPr lang="en-US" b="1" i="1" dirty="0"/>
              <a:t>n </a:t>
            </a:r>
            <a:r>
              <a:rPr lang="en-US" i="1" dirty="0"/>
              <a:t>= 0</a:t>
            </a:r>
            <a:endParaRPr lang="en-US" b="1" i="1" dirty="0"/>
          </a:p>
        </p:txBody>
      </p:sp>
      <p:sp>
        <p:nvSpPr>
          <p:cNvPr id="8" name="Rectangle 7"/>
          <p:cNvSpPr/>
          <p:nvPr/>
        </p:nvSpPr>
        <p:spPr>
          <a:xfrm>
            <a:off x="3352800" y="3733800"/>
            <a:ext cx="2114399" cy="13049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scene3d>
            <a:camera prst="isometricLeftDown">
              <a:rot lat="1950000" lon="27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3429000" y="4429126"/>
            <a:ext cx="898358" cy="630718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52800" y="4669394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</a:t>
            </a:r>
          </a:p>
        </p:txBody>
      </p:sp>
      <p:sp>
        <p:nvSpPr>
          <p:cNvPr id="11" name="Oval 10"/>
          <p:cNvSpPr/>
          <p:nvPr/>
        </p:nvSpPr>
        <p:spPr>
          <a:xfrm>
            <a:off x="4297985" y="4404666"/>
            <a:ext cx="45720" cy="457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114800" y="412432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4384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expand this, you’ll get the familiar </a:t>
            </a:r>
            <a:r>
              <a:rPr lang="en-US" i="1" dirty="0"/>
              <a:t>Ax + By + </a:t>
            </a:r>
            <a:r>
              <a:rPr lang="en-US" i="1" dirty="0" err="1"/>
              <a:t>Cz</a:t>
            </a:r>
            <a:r>
              <a:rPr lang="en-US" i="1" dirty="0"/>
              <a:t> + D = 0</a:t>
            </a:r>
            <a:r>
              <a:rPr lang="en-US" dirty="0"/>
              <a:t> equation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Ray-Plane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Simply plug </a:t>
            </a:r>
            <a:r>
              <a:rPr lang="en-US" b="1" i="1" dirty="0"/>
              <a:t>r(</a:t>
            </a:r>
            <a:r>
              <a:rPr lang="en-US" i="1" dirty="0"/>
              <a:t>t</a:t>
            </a:r>
            <a:r>
              <a:rPr lang="en-US" b="1" i="1" dirty="0"/>
              <a:t>)</a:t>
            </a:r>
            <a:r>
              <a:rPr lang="en-US" i="1" dirty="0"/>
              <a:t> = 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dirty="0"/>
              <a:t> into the previous equation: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Solving for </a:t>
            </a:r>
            <a:r>
              <a:rPr lang="en-US" i="1" dirty="0"/>
              <a:t>t</a:t>
            </a:r>
            <a:r>
              <a:rPr lang="en-US" dirty="0"/>
              <a:t>, we get: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i="1" dirty="0"/>
              <a:t>t</a:t>
            </a:r>
            <a:r>
              <a:rPr lang="en-US" dirty="0"/>
              <a:t> is in </a:t>
            </a:r>
            <a:r>
              <a:rPr lang="en-US" i="1" dirty="0"/>
              <a:t>[</a:t>
            </a:r>
            <a:r>
              <a:rPr lang="en-US" i="1" dirty="0" err="1"/>
              <a:t>tmin</a:t>
            </a:r>
            <a:r>
              <a:rPr lang="en-US" i="1" dirty="0"/>
              <a:t>, </a:t>
            </a:r>
            <a:r>
              <a:rPr lang="en-US" i="1" dirty="0" err="1"/>
              <a:t>tmax</a:t>
            </a:r>
            <a:r>
              <a:rPr lang="en-US" i="1" dirty="0"/>
              <a:t>]</a:t>
            </a:r>
            <a:r>
              <a:rPr lang="en-US" dirty="0"/>
              <a:t>, the ray hits the plane and it is within the limits of our desired viewing range</a:t>
            </a:r>
          </a:p>
          <a:p>
            <a:r>
              <a:rPr lang="en-US" dirty="0"/>
              <a:t>What if </a:t>
            </a:r>
            <a:r>
              <a:rPr lang="en-US" b="1" i="1" dirty="0" err="1"/>
              <a:t>d.n</a:t>
            </a:r>
            <a:r>
              <a:rPr lang="en-US" i="1" dirty="0"/>
              <a:t> = 0</a:t>
            </a:r>
            <a:r>
              <a:rPr lang="en-US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22214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i="1" dirty="0"/>
              <a:t> – </a:t>
            </a:r>
            <a:r>
              <a:rPr lang="en-US" b="1" i="1" dirty="0"/>
              <a:t>a</a:t>
            </a:r>
            <a:r>
              <a:rPr lang="en-US" i="1" dirty="0"/>
              <a:t>)</a:t>
            </a:r>
            <a:r>
              <a:rPr lang="en-US" b="1" i="1" dirty="0"/>
              <a:t>.n </a:t>
            </a:r>
            <a:r>
              <a:rPr lang="en-US" i="1" dirty="0"/>
              <a:t>= 0</a:t>
            </a:r>
            <a:endParaRPr lang="en-US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3352800" y="351686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 = (</a:t>
            </a:r>
            <a:r>
              <a:rPr lang="en-US" b="1" i="1" dirty="0"/>
              <a:t>a</a:t>
            </a:r>
            <a:r>
              <a:rPr lang="en-US" i="1" dirty="0"/>
              <a:t> – </a:t>
            </a:r>
            <a:r>
              <a:rPr lang="en-US" b="1" i="1" dirty="0"/>
              <a:t>o</a:t>
            </a:r>
            <a:r>
              <a:rPr lang="en-US" i="1" dirty="0"/>
              <a:t>)</a:t>
            </a:r>
            <a:r>
              <a:rPr lang="en-US" b="1" i="1" dirty="0"/>
              <a:t>.n</a:t>
            </a:r>
            <a:r>
              <a:rPr lang="en-US" i="1" dirty="0"/>
              <a:t> / (</a:t>
            </a:r>
            <a:r>
              <a:rPr lang="en-US" b="1" i="1" dirty="0" err="1"/>
              <a:t>d.n</a:t>
            </a:r>
            <a:r>
              <a:rPr lang="en-US" i="1" dirty="0"/>
              <a:t>)</a:t>
            </a:r>
            <a:endParaRPr lang="en-US" b="1" i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Ray-Sphere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6096000" cy="4937760"/>
          </a:xfrm>
        </p:spPr>
        <p:txBody>
          <a:bodyPr/>
          <a:lstStyle/>
          <a:p>
            <a:r>
              <a:rPr lang="en-US" dirty="0"/>
              <a:t>A sphere can be represented 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b="1" i="1" dirty="0"/>
              <a:t>c</a:t>
            </a:r>
            <a:r>
              <a:rPr lang="en-US" i="1" dirty="0"/>
              <a:t> = (c</a:t>
            </a:r>
            <a:r>
              <a:rPr lang="en-US" i="1" baseline="-25000" dirty="0"/>
              <a:t>x</a:t>
            </a:r>
            <a:r>
              <a:rPr lang="en-US" i="1" dirty="0"/>
              <a:t>, c</a:t>
            </a:r>
            <a:r>
              <a:rPr lang="en-US" i="1" baseline="-25000" dirty="0"/>
              <a:t>y</a:t>
            </a:r>
            <a:r>
              <a:rPr lang="en-US" i="1" dirty="0"/>
              <a:t>, </a:t>
            </a:r>
            <a:r>
              <a:rPr lang="en-US" i="1" dirty="0" err="1"/>
              <a:t>c</a:t>
            </a:r>
            <a:r>
              <a:rPr lang="en-US" i="1" baseline="-25000" dirty="0" err="1"/>
              <a:t>z</a:t>
            </a:r>
            <a:r>
              <a:rPr lang="en-US" i="1" dirty="0"/>
              <a:t>)</a:t>
            </a:r>
            <a:r>
              <a:rPr lang="en-US" dirty="0"/>
              <a:t> is the center and </a:t>
            </a:r>
            <a:r>
              <a:rPr lang="en-US" i="1" dirty="0"/>
              <a:t>R</a:t>
            </a:r>
            <a:r>
              <a:rPr lang="en-US" dirty="0"/>
              <a:t> is the radius</a:t>
            </a:r>
          </a:p>
          <a:p>
            <a:r>
              <a:rPr lang="en-US" dirty="0"/>
              <a:t>In vector form, we can rewrite this 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Again, plug in the ray equation to find </a:t>
            </a:r>
            <a:r>
              <a:rPr lang="en-US" i="1" dirty="0"/>
              <a:t>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1992868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(x – </a:t>
            </a:r>
            <a:r>
              <a:rPr lang="en-US" i="1" dirty="0" err="1"/>
              <a:t>c</a:t>
            </a:r>
            <a:r>
              <a:rPr lang="en-US" i="1" baseline="-25000" dirty="0" err="1"/>
              <a:t>x</a:t>
            </a:r>
            <a:r>
              <a:rPr lang="en-US" i="1" dirty="0"/>
              <a:t>)</a:t>
            </a:r>
            <a:r>
              <a:rPr lang="en-US" i="1" baseline="30000" dirty="0"/>
              <a:t>2</a:t>
            </a:r>
            <a:r>
              <a:rPr lang="en-US" i="1" dirty="0"/>
              <a:t> + (y – c</a:t>
            </a:r>
            <a:r>
              <a:rPr lang="en-US" i="1" baseline="-25000" dirty="0"/>
              <a:t>y</a:t>
            </a:r>
            <a:r>
              <a:rPr lang="en-US" i="1" dirty="0"/>
              <a:t>)</a:t>
            </a:r>
            <a:r>
              <a:rPr lang="en-US" i="1" baseline="30000" dirty="0"/>
              <a:t>2</a:t>
            </a:r>
            <a:r>
              <a:rPr lang="en-US" i="1" dirty="0"/>
              <a:t> + (z – </a:t>
            </a:r>
            <a:r>
              <a:rPr lang="en-US" i="1" dirty="0" err="1"/>
              <a:t>c</a:t>
            </a:r>
            <a:r>
              <a:rPr lang="en-US" i="1" baseline="-25000" dirty="0" err="1"/>
              <a:t>z</a:t>
            </a:r>
            <a:r>
              <a:rPr lang="en-US" i="1" dirty="0"/>
              <a:t>)</a:t>
            </a:r>
            <a:r>
              <a:rPr lang="en-US" i="1" baseline="30000" dirty="0"/>
              <a:t>2</a:t>
            </a:r>
            <a:r>
              <a:rPr lang="en-US" i="1" dirty="0"/>
              <a:t> – R</a:t>
            </a:r>
            <a:r>
              <a:rPr lang="en-US" i="1" baseline="30000" dirty="0"/>
              <a:t>2</a:t>
            </a:r>
            <a:r>
              <a:rPr lang="en-US" i="1" dirty="0"/>
              <a:t> = 0</a:t>
            </a:r>
            <a:endParaRPr lang="en-US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2133600" y="40386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p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</a:t>
            </a:r>
            <a:r>
              <a:rPr lang="en-US" b="1" i="1" dirty="0"/>
              <a:t>.</a:t>
            </a:r>
            <a:r>
              <a:rPr lang="en-US" i="1" dirty="0"/>
              <a:t>(</a:t>
            </a:r>
            <a:r>
              <a:rPr lang="en-US" b="1" i="1" dirty="0"/>
              <a:t>p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 – R</a:t>
            </a:r>
            <a:r>
              <a:rPr lang="en-US" i="1" baseline="30000" dirty="0"/>
              <a:t>2</a:t>
            </a:r>
            <a:r>
              <a:rPr lang="en-US" i="1" dirty="0"/>
              <a:t> = 0 </a:t>
            </a:r>
            <a:endParaRPr lang="en-US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371600"/>
            <a:ext cx="2143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752600" y="5486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</a:t>
            </a:r>
            <a:r>
              <a:rPr lang="en-US" b="1" i="1" dirty="0"/>
              <a:t>.</a:t>
            </a:r>
            <a:r>
              <a:rPr lang="en-US" i="1" dirty="0"/>
              <a:t>(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 – R</a:t>
            </a:r>
            <a:r>
              <a:rPr lang="en-US" i="1" baseline="30000" dirty="0"/>
              <a:t>2</a:t>
            </a:r>
            <a:r>
              <a:rPr lang="en-US" i="1" dirty="0"/>
              <a:t> = 0 </a:t>
            </a:r>
            <a:endParaRPr lang="en-US" b="1" i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Ray-Sphere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gives: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that, this is a quadratic equation in </a:t>
            </a:r>
            <a:r>
              <a:rPr lang="en-US" i="1" dirty="0"/>
              <a:t>t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The solution is: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</a:t>
            </a:r>
            <a:r>
              <a:rPr lang="en-US"/>
              <a:t>the discriminant </a:t>
            </a:r>
            <a:r>
              <a:rPr lang="en-US" dirty="0"/>
              <a:t>is less than zero?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145268"/>
            <a:ext cx="509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 err="1"/>
              <a:t>d.d</a:t>
            </a:r>
            <a:r>
              <a:rPr lang="en-US" i="1" dirty="0"/>
              <a:t>)t</a:t>
            </a:r>
            <a:r>
              <a:rPr lang="en-US" i="1" baseline="30000" dirty="0"/>
              <a:t>2</a:t>
            </a:r>
            <a:r>
              <a:rPr lang="en-US" i="1" dirty="0"/>
              <a:t> + 2</a:t>
            </a:r>
            <a:r>
              <a:rPr lang="en-US" b="1" i="1" dirty="0"/>
              <a:t>d.</a:t>
            </a:r>
            <a:r>
              <a:rPr lang="en-US" i="1" dirty="0"/>
              <a:t>(</a:t>
            </a:r>
            <a:r>
              <a:rPr lang="en-US" b="1" i="1" dirty="0"/>
              <a:t>o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)t + (</a:t>
            </a:r>
            <a:r>
              <a:rPr lang="en-US" b="1" i="1" dirty="0"/>
              <a:t>o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).(</a:t>
            </a:r>
            <a:r>
              <a:rPr lang="en-US" b="1" i="1" dirty="0"/>
              <a:t>o</a:t>
            </a:r>
            <a:r>
              <a:rPr lang="en-US" i="1" dirty="0"/>
              <a:t> – </a:t>
            </a:r>
            <a:r>
              <a:rPr lang="en-US" b="1" i="1" dirty="0"/>
              <a:t>c</a:t>
            </a:r>
            <a:r>
              <a:rPr lang="en-US" i="1" dirty="0"/>
              <a:t>) – R</a:t>
            </a:r>
            <a:r>
              <a:rPr lang="en-US" i="1" baseline="30000" dirty="0"/>
              <a:t>2</a:t>
            </a:r>
            <a:r>
              <a:rPr lang="en-US" i="1" dirty="0"/>
              <a:t> = 0</a:t>
            </a:r>
            <a:endParaRPr lang="en-US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3276600" y="34290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At</a:t>
            </a:r>
            <a:r>
              <a:rPr lang="en-US" i="1" baseline="30000" dirty="0"/>
              <a:t>2</a:t>
            </a:r>
            <a:r>
              <a:rPr lang="en-US" i="1" dirty="0"/>
              <a:t> + Bt + C = 0</a:t>
            </a:r>
            <a:endParaRPr lang="en-US" b="1" i="1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045251"/>
              </p:ext>
            </p:extLst>
          </p:nvPr>
        </p:nvGraphicFramePr>
        <p:xfrm>
          <a:off x="524933" y="4800600"/>
          <a:ext cx="579966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9760" imgH="457200" progId="Equation.3">
                  <p:embed/>
                </p:oleObj>
              </mc:Choice>
              <mc:Fallback>
                <p:oleObj name="Equation" r:id="rId2" imgW="347976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33" y="4800600"/>
                        <a:ext cx="5799667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6553200" y="3733800"/>
            <a:ext cx="2133600" cy="1848882"/>
            <a:chOff x="6477000" y="4018518"/>
            <a:chExt cx="2133600" cy="1848882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6477000" y="4114800"/>
              <a:ext cx="2133600" cy="16002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7010400" y="4267200"/>
              <a:ext cx="1600200" cy="1600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7010400" y="4397375"/>
              <a:ext cx="1219200" cy="9144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769100" y="49911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</a:t>
              </a:r>
              <a:r>
                <a:rPr lang="en-US" i="1" baseline="-25000" dirty="0"/>
                <a:t>1</a:t>
              </a:r>
              <a:endParaRPr lang="en-US" b="1" i="1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58150" y="4018518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</a:t>
              </a:r>
              <a:r>
                <a:rPr lang="en-US" i="1" baseline="-25000" dirty="0"/>
                <a:t>2</a:t>
              </a:r>
              <a:endParaRPr lang="en-US" b="1" i="1" baseline="-25000" dirty="0"/>
            </a:p>
          </p:txBody>
        </p:sp>
      </p:grp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been using implicit equations to represent surfaces: </a:t>
            </a:r>
            <a:r>
              <a:rPr lang="en-US" i="1" dirty="0"/>
              <a:t>f(x, y, z) = 0</a:t>
            </a:r>
            <a:endParaRPr lang="en-US" dirty="0"/>
          </a:p>
          <a:p>
            <a:r>
              <a:rPr lang="en-US" dirty="0"/>
              <a:t>Ray-triangle intersection is more efficient if the triangle is represented using a </a:t>
            </a:r>
            <a:r>
              <a:rPr lang="en-US" dirty="0">
                <a:solidFill>
                  <a:schemeClr val="accent1"/>
                </a:solidFill>
              </a:rPr>
              <a:t>parametric form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380107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x = f(u, v)</a:t>
            </a:r>
          </a:p>
          <a:p>
            <a:r>
              <a:rPr lang="en-US" i="1" dirty="0"/>
              <a:t>y = g(u, v)</a:t>
            </a:r>
          </a:p>
          <a:p>
            <a:r>
              <a:rPr lang="en-US" i="1" dirty="0"/>
              <a:t>z = h(u, v)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techniques are possible:</a:t>
            </a:r>
          </a:p>
          <a:p>
            <a:pPr lvl="1"/>
            <a:r>
              <a:rPr lang="en-US" dirty="0"/>
              <a:t>Lengthy but simple</a:t>
            </a:r>
          </a:p>
          <a:p>
            <a:pPr lvl="1"/>
            <a:r>
              <a:rPr lang="en-US" dirty="0"/>
              <a:t>Shorter but somewhat more complex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283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Lengthy But Simple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intersect the ray with the </a:t>
            </a:r>
            <a:r>
              <a:rPr lang="en-US" i="1" dirty="0"/>
              <a:t>plane</a:t>
            </a:r>
            <a:r>
              <a:rPr lang="en-US" dirty="0"/>
              <a:t> of the triangle:</a:t>
            </a:r>
          </a:p>
          <a:p>
            <a:pPr lvl="1"/>
            <a:r>
              <a:rPr lang="en-US" dirty="0"/>
              <a:t>The plane normal can be found by cross product</a:t>
            </a:r>
          </a:p>
          <a:p>
            <a:pPr lvl="1"/>
            <a:r>
              <a:rPr lang="en-US" dirty="0"/>
              <a:t>The plane equation can be found from the normal and a point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737853" y="3831900"/>
            <a:ext cx="15240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204453" y="3831900"/>
            <a:ext cx="533400" cy="213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204453" y="5203500"/>
            <a:ext cx="20574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81400" y="34829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1547" y="587906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1853" y="51831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742234" y="3686052"/>
            <a:ext cx="1300419" cy="1365048"/>
            <a:chOff x="2742234" y="3686052"/>
            <a:chExt cx="1300419" cy="1365048"/>
          </a:xfrm>
        </p:grpSpPr>
        <p:cxnSp>
          <p:nvCxnSpPr>
            <p:cNvPr id="20" name="Straight Arrow Connector 19"/>
            <p:cNvCxnSpPr/>
            <p:nvPr/>
          </p:nvCxnSpPr>
          <p:spPr>
            <a:xfrm flipH="1" flipV="1">
              <a:off x="3054412" y="3984300"/>
              <a:ext cx="988241" cy="1066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742234" y="3686052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01656" y="3778385"/>
                <a:ext cx="2289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656" y="3778385"/>
                <a:ext cx="2289922" cy="276999"/>
              </a:xfrm>
              <a:prstGeom prst="rect">
                <a:avLst/>
              </a:prstGeom>
              <a:blipFill>
                <a:blip r:embed="rId2"/>
                <a:stretch>
                  <a:fillRect l="-798" r="-292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76203" y="4342242"/>
                <a:ext cx="22301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203" y="4342242"/>
                <a:ext cx="2230162" cy="276999"/>
              </a:xfrm>
              <a:prstGeom prst="rect">
                <a:avLst/>
              </a:prstGeom>
              <a:blipFill>
                <a:blip r:embed="rId3"/>
                <a:stretch>
                  <a:fillRect l="-3552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43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Lengthy But Simple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ray intersects triangle’s plane, we need to determine if it is inside the triangle</a:t>
            </a:r>
          </a:p>
          <a:p>
            <a:pPr lvl="1"/>
            <a:r>
              <a:rPr lang="en-US" dirty="0"/>
              <a:t>How to make an inside check?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139715" y="3549332"/>
            <a:ext cx="2057400" cy="2133600"/>
            <a:chOff x="1139715" y="3549332"/>
            <a:chExt cx="2057400" cy="2133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673115" y="3549332"/>
              <a:ext cx="1524000" cy="1371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139715" y="3549332"/>
              <a:ext cx="533400" cy="213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139715" y="4920932"/>
              <a:ext cx="2057400" cy="7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516662" y="3200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9" y="55965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7115" y="49005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2092215" y="4682132"/>
            <a:ext cx="152400" cy="1524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7368" y="4148732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51506" y="465032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768" y="4118132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p'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67199" y="3491291"/>
                <a:ext cx="4499853" cy="1766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is on the same side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𝒂𝒃</m:t>
                        </m:r>
                      </m:e>
                    </m:acc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is on the same side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𝒃𝒄</m:t>
                        </m:r>
                      </m:e>
                    </m:acc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/>
                  <a:t> 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is on the same side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𝒂𝒄</m:t>
                        </m:r>
                      </m:e>
                    </m:acc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is inside the triangle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Otherwise, it is outside the triangle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199" y="3491291"/>
                <a:ext cx="4499853" cy="1766509"/>
              </a:xfrm>
              <a:prstGeom prst="rect">
                <a:avLst/>
              </a:prstGeom>
              <a:blipFill>
                <a:blip r:embed="rId2"/>
                <a:stretch>
                  <a:fillRect l="-813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53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Lengthy But Simple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check this, we use cross and dot products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26809" y="3200400"/>
            <a:ext cx="2983191" cy="2765432"/>
            <a:chOff x="3260388" y="3200400"/>
            <a:chExt cx="2983191" cy="2765432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4106694" y="3549332"/>
              <a:ext cx="1524000" cy="1371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3573294" y="3549332"/>
              <a:ext cx="533400" cy="213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3573294" y="4920932"/>
              <a:ext cx="2057400" cy="7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950241" y="32004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60388" y="559650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30694" y="49005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525794" y="4682132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0947" y="4148732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85085" y="4650323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63347" y="411813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p'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29309" y="2743200"/>
                <a:ext cx="2377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09" y="2743200"/>
                <a:ext cx="2377702" cy="276999"/>
              </a:xfrm>
              <a:prstGeom prst="rect">
                <a:avLst/>
              </a:prstGeom>
              <a:blipFill>
                <a:blip r:embed="rId2"/>
                <a:stretch>
                  <a:fillRect l="-1026" r="-333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229309" y="3197378"/>
                <a:ext cx="23526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09" y="3197378"/>
                <a:ext cx="2352632" cy="276999"/>
              </a:xfrm>
              <a:prstGeom prst="rect">
                <a:avLst/>
              </a:prstGeom>
              <a:blipFill>
                <a:blip r:embed="rId3"/>
                <a:stretch>
                  <a:fillRect l="-777" t="-2222" r="-310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435115" y="3523765"/>
            <a:ext cx="768892" cy="1386968"/>
            <a:chOff x="2435115" y="3523765"/>
            <a:chExt cx="768892" cy="1386968"/>
          </a:xfrm>
        </p:grpSpPr>
        <p:cxnSp>
          <p:nvCxnSpPr>
            <p:cNvPr id="28" name="Straight Arrow Connector 27"/>
            <p:cNvCxnSpPr/>
            <p:nvPr/>
          </p:nvCxnSpPr>
          <p:spPr>
            <a:xfrm flipH="1" flipV="1">
              <a:off x="2477268" y="3832652"/>
              <a:ext cx="726739" cy="1078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435115" y="3523765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v</a:t>
              </a:r>
              <a:r>
                <a:rPr lang="en-US" b="1" baseline="-25000" dirty="0" err="1"/>
                <a:t>c</a:t>
              </a:r>
              <a:endParaRPr lang="en-US" b="1" baseline="-250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032764" y="3323510"/>
            <a:ext cx="1081769" cy="1380940"/>
            <a:chOff x="1032764" y="3323510"/>
            <a:chExt cx="1081769" cy="1380940"/>
          </a:xfrm>
        </p:grpSpPr>
        <p:cxnSp>
          <p:nvCxnSpPr>
            <p:cNvPr id="10" name="Straight Arrow Connector 9"/>
            <p:cNvCxnSpPr>
              <a:stCxn id="12" idx="1"/>
            </p:cNvCxnSpPr>
            <p:nvPr/>
          </p:nvCxnSpPr>
          <p:spPr>
            <a:xfrm flipH="1" flipV="1">
              <a:off x="1406416" y="3668507"/>
              <a:ext cx="708117" cy="103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032764" y="3323510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v</a:t>
              </a:r>
              <a:r>
                <a:rPr lang="en-US" b="1" baseline="-25000" dirty="0" err="1"/>
                <a:t>p</a:t>
              </a:r>
              <a:endParaRPr lang="en-US" b="1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229309" y="3794966"/>
                <a:ext cx="44074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baseline="-2500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are on the same</a:t>
                </a:r>
              </a:p>
              <a:p>
                <a:r>
                  <a:rPr lang="en-US" dirty="0"/>
                  <a:t>side of the line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𝒂𝒃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09" y="3794966"/>
                <a:ext cx="4407489" cy="646331"/>
              </a:xfrm>
              <a:prstGeom prst="rect">
                <a:avLst/>
              </a:prstGeom>
              <a:blipFill>
                <a:blip r:embed="rId4"/>
                <a:stretch>
                  <a:fillRect l="-1245" t="-5660" r="-692" b="-16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4201975" y="4612524"/>
            <a:ext cx="4160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 this process for all sides of the </a:t>
            </a:r>
          </a:p>
          <a:p>
            <a:r>
              <a:rPr lang="en-US" dirty="0"/>
              <a:t>triangle!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14209" y="5252651"/>
            <a:ext cx="3909001" cy="114147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Pay attention to the order of the terms in cross-products!</a:t>
            </a:r>
          </a:p>
        </p:txBody>
      </p:sp>
    </p:spTree>
    <p:extLst>
      <p:ext uri="{BB962C8B-B14F-4D97-AF65-F5344CB8AC3E}">
        <p14:creationId xmlns:p14="http://schemas.microsoft.com/office/powerpoint/2010/main" val="37559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4" grpId="0"/>
      <p:bldP spid="35" grpId="0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alternative method uses barycentric coordinates</a:t>
            </a:r>
          </a:p>
          <a:p>
            <a:r>
              <a:rPr lang="en-US" dirty="0"/>
              <a:t>Any point inside the triangle plane can be parametrized by these three coordinates with the following conditions: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221481" y="3207452"/>
            <a:ext cx="2828260" cy="2934586"/>
          </a:xfrm>
          <a:custGeom>
            <a:avLst/>
            <a:gdLst>
              <a:gd name="connsiteX0" fmla="*/ 723014 w 2828260"/>
              <a:gd name="connsiteY0" fmla="*/ 0 h 2934586"/>
              <a:gd name="connsiteX1" fmla="*/ 0 w 2828260"/>
              <a:gd name="connsiteY1" fmla="*/ 2934586 h 2934586"/>
              <a:gd name="connsiteX2" fmla="*/ 2828260 w 2828260"/>
              <a:gd name="connsiteY2" fmla="*/ 1892595 h 2934586"/>
              <a:gd name="connsiteX3" fmla="*/ 723014 w 2828260"/>
              <a:gd name="connsiteY3" fmla="*/ 0 h 29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260" h="2934586">
                <a:moveTo>
                  <a:pt x="723014" y="0"/>
                </a:moveTo>
                <a:lnTo>
                  <a:pt x="0" y="2934586"/>
                </a:lnTo>
                <a:lnTo>
                  <a:pt x="2828260" y="1892595"/>
                </a:lnTo>
                <a:lnTo>
                  <a:pt x="723014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32749" y="29338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5526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9741" y="50025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77737" y="4753876"/>
            <a:ext cx="1266808" cy="396158"/>
            <a:chOff x="2092215" y="4438374"/>
            <a:chExt cx="1266808" cy="396158"/>
          </a:xfrm>
        </p:grpSpPr>
        <p:sp>
          <p:nvSpPr>
            <p:cNvPr id="10" name="Oval 9"/>
            <p:cNvSpPr/>
            <p:nvPr/>
          </p:nvSpPr>
          <p:spPr>
            <a:xfrm>
              <a:off x="2092215" y="4682132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44615" y="4438374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p(</a:t>
              </a:r>
              <a:r>
                <a:rPr lang="en-GB" i="1" dirty="0"/>
                <a:t>α, β, γ</a:t>
              </a:r>
              <a:r>
                <a:rPr lang="en-US" b="1" dirty="0"/>
                <a:t>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814022" y="3302675"/>
            <a:ext cx="312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</a:t>
            </a:r>
            <a:r>
              <a:rPr lang="en-US" i="1" dirty="0"/>
              <a:t>(</a:t>
            </a:r>
            <a:r>
              <a:rPr lang="en-GB" i="1" dirty="0"/>
              <a:t>α, β, γ) = </a:t>
            </a:r>
            <a:r>
              <a:rPr lang="en-GB" i="1" dirty="0" err="1"/>
              <a:t>α</a:t>
            </a:r>
            <a:r>
              <a:rPr lang="en-GB" b="1" i="1" dirty="0" err="1"/>
              <a:t>a</a:t>
            </a:r>
            <a:r>
              <a:rPr lang="en-GB" i="1" dirty="0"/>
              <a:t> + </a:t>
            </a:r>
            <a:r>
              <a:rPr lang="en-GB" i="1" dirty="0" err="1"/>
              <a:t>β</a:t>
            </a:r>
            <a:r>
              <a:rPr lang="en-GB" b="1" i="1" dirty="0" err="1"/>
              <a:t>b</a:t>
            </a:r>
            <a:r>
              <a:rPr lang="en-GB" i="1" dirty="0"/>
              <a:t> + </a:t>
            </a:r>
            <a:r>
              <a:rPr lang="en-GB" i="1" dirty="0" err="1"/>
              <a:t>γ</a:t>
            </a:r>
            <a:r>
              <a:rPr lang="en-GB" b="1" i="1" dirty="0" err="1"/>
              <a:t>c</a:t>
            </a:r>
            <a:endParaRPr lang="en-GB" b="1" i="1" dirty="0"/>
          </a:p>
          <a:p>
            <a:pPr algn="ctr"/>
            <a:endParaRPr lang="en-GB" b="1" i="1" dirty="0"/>
          </a:p>
          <a:p>
            <a:pPr algn="ctr"/>
            <a:r>
              <a:rPr lang="en-GB" dirty="0"/>
              <a:t>with the constraints</a:t>
            </a:r>
          </a:p>
          <a:p>
            <a:pPr algn="ctr"/>
            <a:endParaRPr lang="en-GB" b="1" i="1" dirty="0"/>
          </a:p>
          <a:p>
            <a:pPr algn="ctr"/>
            <a:r>
              <a:rPr lang="en-GB" i="1" dirty="0"/>
              <a:t>0 &lt; α &lt; 1</a:t>
            </a:r>
          </a:p>
          <a:p>
            <a:pPr algn="ctr"/>
            <a:r>
              <a:rPr lang="en-GB" i="1" dirty="0"/>
              <a:t>0 &lt; β &lt; 1</a:t>
            </a:r>
          </a:p>
          <a:p>
            <a:pPr algn="ctr"/>
            <a:r>
              <a:rPr lang="en-GB" i="1" dirty="0"/>
              <a:t>0 &lt; γ &lt; 1</a:t>
            </a:r>
          </a:p>
        </p:txBody>
      </p:sp>
    </p:spTree>
    <p:extLst>
      <p:ext uri="{BB962C8B-B14F-4D97-AF65-F5344CB8AC3E}">
        <p14:creationId xmlns:p14="http://schemas.microsoft.com/office/powerpoint/2010/main" val="273541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coordinates can be computed from area ratios: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221481" y="2700670"/>
            <a:ext cx="2828260" cy="2934586"/>
          </a:xfrm>
          <a:custGeom>
            <a:avLst/>
            <a:gdLst>
              <a:gd name="connsiteX0" fmla="*/ 723014 w 2828260"/>
              <a:gd name="connsiteY0" fmla="*/ 0 h 2934586"/>
              <a:gd name="connsiteX1" fmla="*/ 0 w 2828260"/>
              <a:gd name="connsiteY1" fmla="*/ 2934586 h 2934586"/>
              <a:gd name="connsiteX2" fmla="*/ 2828260 w 2828260"/>
              <a:gd name="connsiteY2" fmla="*/ 1892595 h 2934586"/>
              <a:gd name="connsiteX3" fmla="*/ 723014 w 2828260"/>
              <a:gd name="connsiteY3" fmla="*/ 0 h 29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260" h="2934586">
                <a:moveTo>
                  <a:pt x="723014" y="0"/>
                </a:moveTo>
                <a:lnTo>
                  <a:pt x="0" y="2934586"/>
                </a:lnTo>
                <a:lnTo>
                  <a:pt x="2828260" y="1892595"/>
                </a:lnTo>
                <a:lnTo>
                  <a:pt x="723014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32749" y="2427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848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9741" y="44958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34355" y="4263043"/>
            <a:ext cx="1266808" cy="396158"/>
            <a:chOff x="2092215" y="4438374"/>
            <a:chExt cx="1266808" cy="396158"/>
          </a:xfrm>
        </p:grpSpPr>
        <p:sp>
          <p:nvSpPr>
            <p:cNvPr id="10" name="Oval 9"/>
            <p:cNvSpPr/>
            <p:nvPr/>
          </p:nvSpPr>
          <p:spPr>
            <a:xfrm>
              <a:off x="2092215" y="4682132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44615" y="4438374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p(</a:t>
              </a:r>
              <a:r>
                <a:rPr lang="en-GB" i="1" dirty="0"/>
                <a:t>α, β, γ</a:t>
              </a:r>
              <a:r>
                <a:rPr lang="en-US" b="1" dirty="0"/>
                <a:t>)</a:t>
              </a:r>
            </a:p>
          </p:txBody>
        </p:sp>
      </p:grpSp>
      <p:cxnSp>
        <p:nvCxnSpPr>
          <p:cNvPr id="15" name="Straight Connector 14"/>
          <p:cNvCxnSpPr>
            <a:stCxn id="6" idx="0"/>
            <a:endCxn id="10" idx="0"/>
          </p:cNvCxnSpPr>
          <p:nvPr/>
        </p:nvCxnSpPr>
        <p:spPr>
          <a:xfrm>
            <a:off x="1944495" y="2700670"/>
            <a:ext cx="166060" cy="1806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3"/>
            <a:endCxn id="10" idx="3"/>
          </p:cNvCxnSpPr>
          <p:nvPr/>
        </p:nvCxnSpPr>
        <p:spPr>
          <a:xfrm flipV="1">
            <a:off x="1240130" y="4636883"/>
            <a:ext cx="816543" cy="996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2"/>
            <a:endCxn id="10" idx="6"/>
          </p:cNvCxnSpPr>
          <p:nvPr/>
        </p:nvCxnSpPr>
        <p:spPr>
          <a:xfrm flipH="1" flipV="1">
            <a:off x="2186755" y="4583001"/>
            <a:ext cx="1862986" cy="10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57400" y="47360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a</a:t>
            </a:r>
            <a:endParaRPr lang="en-US" baseline="-25000" dirty="0"/>
          </a:p>
        </p:txBody>
      </p:sp>
      <p:sp>
        <p:nvSpPr>
          <p:cNvPr id="22" name="TextBox 21"/>
          <p:cNvSpPr txBox="1"/>
          <p:nvPr/>
        </p:nvSpPr>
        <p:spPr>
          <a:xfrm>
            <a:off x="2362200" y="3733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26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7185" y="3110805"/>
            <a:ext cx="304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α = </a:t>
            </a:r>
            <a:r>
              <a:rPr lang="en-GB" i="1" dirty="0" err="1"/>
              <a:t>A</a:t>
            </a:r>
            <a:r>
              <a:rPr lang="en-GB" i="1" baseline="-25000" dirty="0" err="1"/>
              <a:t>a</a:t>
            </a:r>
            <a:r>
              <a:rPr lang="en-GB" i="1" dirty="0"/>
              <a:t> / A</a:t>
            </a:r>
          </a:p>
          <a:p>
            <a:pPr algn="ctr"/>
            <a:r>
              <a:rPr lang="en-GB" i="1" dirty="0"/>
              <a:t>β = </a:t>
            </a:r>
            <a:r>
              <a:rPr lang="en-GB" i="1" dirty="0" err="1"/>
              <a:t>A</a:t>
            </a:r>
            <a:r>
              <a:rPr lang="en-GB" i="1" baseline="-25000" dirty="0" err="1"/>
              <a:t>b</a:t>
            </a:r>
            <a:r>
              <a:rPr lang="en-GB" i="1" dirty="0"/>
              <a:t> / A</a:t>
            </a:r>
          </a:p>
          <a:p>
            <a:pPr algn="ctr"/>
            <a:r>
              <a:rPr lang="en-GB" i="1" dirty="0"/>
              <a:t>γ = A</a:t>
            </a:r>
            <a:r>
              <a:rPr lang="en-GB" i="1" baseline="-25000" dirty="0"/>
              <a:t>c</a:t>
            </a:r>
            <a:r>
              <a:rPr lang="en-GB" i="1" dirty="0"/>
              <a:t> / A</a:t>
            </a:r>
          </a:p>
          <a:p>
            <a:pPr algn="ctr"/>
            <a:endParaRPr lang="en-GB" i="1" dirty="0"/>
          </a:p>
          <a:p>
            <a:pPr algn="ctr"/>
            <a:r>
              <a:rPr lang="en-GB" dirty="0"/>
              <a:t>where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 =</a:t>
            </a:r>
            <a:r>
              <a:rPr lang="en-GB" i="1" dirty="0"/>
              <a:t> A</a:t>
            </a:r>
            <a:r>
              <a:rPr lang="en-GB" i="1" baseline="-25000" dirty="0"/>
              <a:t>a</a:t>
            </a:r>
            <a:r>
              <a:rPr lang="en-GB" dirty="0"/>
              <a:t> +</a:t>
            </a:r>
            <a:r>
              <a:rPr lang="en-GB" i="1" dirty="0"/>
              <a:t> A</a:t>
            </a:r>
            <a:r>
              <a:rPr lang="en-GB" i="1" baseline="-25000" dirty="0"/>
              <a:t>b</a:t>
            </a:r>
            <a:r>
              <a:rPr lang="en-US" dirty="0"/>
              <a:t> +</a:t>
            </a:r>
            <a:r>
              <a:rPr lang="en-GB" i="1" dirty="0"/>
              <a:t> A</a:t>
            </a:r>
            <a:r>
              <a:rPr lang="en-GB" i="1" baseline="-25000" dirty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94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Outside points also have barycentric coordinates but they can be negative (an outside area is considered to be a negative area):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735634" y="3093005"/>
            <a:ext cx="2828260" cy="2934586"/>
          </a:xfrm>
          <a:custGeom>
            <a:avLst/>
            <a:gdLst>
              <a:gd name="connsiteX0" fmla="*/ 723014 w 2828260"/>
              <a:gd name="connsiteY0" fmla="*/ 0 h 2934586"/>
              <a:gd name="connsiteX1" fmla="*/ 0 w 2828260"/>
              <a:gd name="connsiteY1" fmla="*/ 2934586 h 2934586"/>
              <a:gd name="connsiteX2" fmla="*/ 2828260 w 2828260"/>
              <a:gd name="connsiteY2" fmla="*/ 1892595 h 2934586"/>
              <a:gd name="connsiteX3" fmla="*/ 723014 w 2828260"/>
              <a:gd name="connsiteY3" fmla="*/ 0 h 29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260" h="2934586">
                <a:moveTo>
                  <a:pt x="723014" y="0"/>
                </a:moveTo>
                <a:lnTo>
                  <a:pt x="0" y="2934586"/>
                </a:lnTo>
                <a:lnTo>
                  <a:pt x="2828260" y="1892595"/>
                </a:lnTo>
                <a:lnTo>
                  <a:pt x="723014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46902" y="2819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553" y="584082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3894" y="48881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018190" y="3985843"/>
            <a:ext cx="1266808" cy="396158"/>
            <a:chOff x="2092215" y="4438374"/>
            <a:chExt cx="1266808" cy="396158"/>
          </a:xfrm>
        </p:grpSpPr>
        <p:sp>
          <p:nvSpPr>
            <p:cNvPr id="10" name="Oval 9"/>
            <p:cNvSpPr/>
            <p:nvPr/>
          </p:nvSpPr>
          <p:spPr>
            <a:xfrm>
              <a:off x="2092215" y="4682132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44615" y="4438374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p(</a:t>
              </a:r>
              <a:r>
                <a:rPr lang="en-GB" i="1" dirty="0"/>
                <a:t>α, β, γ</a:t>
              </a:r>
              <a:r>
                <a:rPr lang="en-US" b="1" dirty="0"/>
                <a:t>)</a:t>
              </a:r>
            </a:p>
          </p:txBody>
        </p:sp>
      </p:grpSp>
      <p:cxnSp>
        <p:nvCxnSpPr>
          <p:cNvPr id="15" name="Straight Connector 14"/>
          <p:cNvCxnSpPr>
            <a:stCxn id="6" idx="0"/>
            <a:endCxn id="10" idx="0"/>
          </p:cNvCxnSpPr>
          <p:nvPr/>
        </p:nvCxnSpPr>
        <p:spPr>
          <a:xfrm flipH="1">
            <a:off x="1094390" y="3093005"/>
            <a:ext cx="1364258" cy="1136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3"/>
            <a:endCxn id="10" idx="3"/>
          </p:cNvCxnSpPr>
          <p:nvPr/>
        </p:nvCxnSpPr>
        <p:spPr>
          <a:xfrm flipH="1" flipV="1">
            <a:off x="1040508" y="4359683"/>
            <a:ext cx="713775" cy="1665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2"/>
            <a:endCxn id="10" idx="6"/>
          </p:cNvCxnSpPr>
          <p:nvPr/>
        </p:nvCxnSpPr>
        <p:spPr>
          <a:xfrm flipH="1" flipV="1">
            <a:off x="1170590" y="4305801"/>
            <a:ext cx="3393304" cy="679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4283" y="50110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a</a:t>
            </a:r>
            <a:endParaRPr lang="en-US" baseline="-25000" dirty="0"/>
          </a:p>
        </p:txBody>
      </p:sp>
      <p:sp>
        <p:nvSpPr>
          <p:cNvPr id="22" name="TextBox 21"/>
          <p:cNvSpPr txBox="1"/>
          <p:nvPr/>
        </p:nvSpPr>
        <p:spPr>
          <a:xfrm>
            <a:off x="2055727" y="37010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0941" y="421407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7185" y="3110805"/>
            <a:ext cx="304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α = </a:t>
            </a:r>
            <a:r>
              <a:rPr lang="en-GB" i="1" dirty="0" err="1"/>
              <a:t>A</a:t>
            </a:r>
            <a:r>
              <a:rPr lang="en-GB" i="1" baseline="-25000" dirty="0" err="1"/>
              <a:t>a</a:t>
            </a:r>
            <a:r>
              <a:rPr lang="en-GB" i="1" dirty="0"/>
              <a:t> / A</a:t>
            </a:r>
          </a:p>
          <a:p>
            <a:pPr algn="ctr"/>
            <a:r>
              <a:rPr lang="en-GB" i="1" dirty="0"/>
              <a:t>β = </a:t>
            </a:r>
            <a:r>
              <a:rPr lang="en-GB" i="1" dirty="0" err="1"/>
              <a:t>A</a:t>
            </a:r>
            <a:r>
              <a:rPr lang="en-GB" i="1" baseline="-25000" dirty="0" err="1"/>
              <a:t>b</a:t>
            </a:r>
            <a:r>
              <a:rPr lang="en-GB" i="1" dirty="0"/>
              <a:t> / A</a:t>
            </a:r>
          </a:p>
          <a:p>
            <a:pPr algn="ctr"/>
            <a:r>
              <a:rPr lang="en-GB" i="1" dirty="0">
                <a:solidFill>
                  <a:srgbClr val="FF0000"/>
                </a:solidFill>
              </a:rPr>
              <a:t>γ</a:t>
            </a:r>
            <a:r>
              <a:rPr lang="en-GB" i="1" dirty="0"/>
              <a:t> = </a:t>
            </a:r>
            <a:r>
              <a:rPr lang="en-GB" i="1" dirty="0">
                <a:solidFill>
                  <a:srgbClr val="FF0000"/>
                </a:solidFill>
              </a:rPr>
              <a:t>A</a:t>
            </a:r>
            <a:r>
              <a:rPr lang="en-GB" i="1" baseline="-25000" dirty="0">
                <a:solidFill>
                  <a:srgbClr val="FF0000"/>
                </a:solidFill>
              </a:rPr>
              <a:t>c</a:t>
            </a:r>
            <a:r>
              <a:rPr lang="en-GB" i="1" dirty="0"/>
              <a:t> / A</a:t>
            </a:r>
          </a:p>
          <a:p>
            <a:pPr algn="ctr"/>
            <a:endParaRPr lang="en-GB" i="1" dirty="0"/>
          </a:p>
          <a:p>
            <a:pPr algn="ctr"/>
            <a:r>
              <a:rPr lang="en-GB" dirty="0"/>
              <a:t>where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 =</a:t>
            </a:r>
            <a:r>
              <a:rPr lang="en-GB" i="1" dirty="0"/>
              <a:t> A</a:t>
            </a:r>
            <a:r>
              <a:rPr lang="en-GB" i="1" baseline="-25000" dirty="0"/>
              <a:t>a</a:t>
            </a:r>
            <a:r>
              <a:rPr lang="en-GB" dirty="0"/>
              <a:t> +</a:t>
            </a:r>
            <a:r>
              <a:rPr lang="en-GB" i="1" dirty="0"/>
              <a:t> A</a:t>
            </a:r>
            <a:r>
              <a:rPr lang="en-GB" i="1" baseline="-25000" dirty="0"/>
              <a:t>b</a:t>
            </a:r>
            <a:r>
              <a:rPr lang="en-US" dirty="0"/>
              <a:t> +</a:t>
            </a:r>
            <a:r>
              <a:rPr lang="en-GB" i="1" dirty="0"/>
              <a:t> A</a:t>
            </a:r>
            <a:r>
              <a:rPr lang="en-GB" i="1" baseline="-25000" dirty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021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 flipV="1">
            <a:off x="2395180" y="3962095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167762" y="3231636"/>
            <a:ext cx="2999663" cy="269969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Barycentric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Barycentric coordinates can be shown on a grid that is aligned with the edges of the triangles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882915" y="4038600"/>
            <a:ext cx="765285" cy="793629"/>
            <a:chOff x="3882915" y="4038600"/>
            <a:chExt cx="765285" cy="79362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/>
          <p:cNvCxnSpPr/>
          <p:nvPr/>
        </p:nvCxnSpPr>
        <p:spPr>
          <a:xfrm>
            <a:off x="2439692" y="3541048"/>
            <a:ext cx="2895116" cy="260560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05829" y="2613618"/>
            <a:ext cx="3180116" cy="286210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844255" y="2982876"/>
            <a:ext cx="3073216" cy="2765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937980" y="3963268"/>
            <a:ext cx="2753972" cy="247857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962070" y="3408511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167762" y="4998506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734652" y="4444922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1700966" y="2859395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38152" y="37349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595" y="47792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4439" y="436815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59145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 flipV="1">
            <a:off x="2395180" y="3962095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167762" y="3231636"/>
            <a:ext cx="2999663" cy="269969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point on this grid is characterized by two coordinates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882915" y="4038600"/>
            <a:ext cx="765285" cy="793629"/>
            <a:chOff x="3882915" y="4038600"/>
            <a:chExt cx="765285" cy="79362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/>
          <p:cNvCxnSpPr/>
          <p:nvPr/>
        </p:nvCxnSpPr>
        <p:spPr>
          <a:xfrm>
            <a:off x="2439692" y="3541048"/>
            <a:ext cx="2895116" cy="260560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05829" y="2613618"/>
            <a:ext cx="3180116" cy="286210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844255" y="2982876"/>
            <a:ext cx="3073216" cy="27658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937980" y="3963268"/>
            <a:ext cx="2753972" cy="247857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962070" y="3408511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167762" y="4998506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734652" y="4444922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1700966" y="2859395"/>
            <a:ext cx="3841690" cy="1422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38152" y="37349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595" y="47792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4439" y="436815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80840" y="319548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840" y="3195486"/>
                <a:ext cx="638573" cy="276999"/>
              </a:xfrm>
              <a:prstGeom prst="rect">
                <a:avLst/>
              </a:prstGeom>
              <a:blipFill>
                <a:blip r:embed="rId2"/>
                <a:stretch>
                  <a:fillRect l="-3846" r="-769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288383" y="3761601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383" y="3761601"/>
                <a:ext cx="638573" cy="276999"/>
              </a:xfrm>
              <a:prstGeom prst="rect">
                <a:avLst/>
              </a:prstGeom>
              <a:blipFill>
                <a:blip r:embed="rId3"/>
                <a:stretch>
                  <a:fillRect l="-3846" r="-769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639019" y="4241553"/>
                <a:ext cx="811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19" y="4241553"/>
                <a:ext cx="811697" cy="276999"/>
              </a:xfrm>
              <a:prstGeom prst="rect">
                <a:avLst/>
              </a:prstGeom>
              <a:blipFill>
                <a:blip r:embed="rId4"/>
                <a:stretch>
                  <a:fillRect l="-3008" r="-601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165329" y="4743070"/>
                <a:ext cx="811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329" y="4743070"/>
                <a:ext cx="811697" cy="276999"/>
              </a:xfrm>
              <a:prstGeom prst="rect">
                <a:avLst/>
              </a:prstGeom>
              <a:blipFill>
                <a:blip r:embed="rId5"/>
                <a:stretch>
                  <a:fillRect l="-2985" r="-522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542656" y="263245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56" y="2632456"/>
                <a:ext cx="638573" cy="276999"/>
              </a:xfrm>
              <a:prstGeom prst="rect">
                <a:avLst/>
              </a:prstGeom>
              <a:blipFill>
                <a:blip r:embed="rId6"/>
                <a:stretch>
                  <a:fillRect l="-3810" r="-76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225513" y="3225665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13" y="3225665"/>
                <a:ext cx="640175" cy="276999"/>
              </a:xfrm>
              <a:prstGeom prst="rect">
                <a:avLst/>
              </a:prstGeom>
              <a:blipFill>
                <a:blip r:embed="rId7"/>
                <a:stretch>
                  <a:fillRect l="-11429" r="-761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818163" y="2961709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163" y="2961709"/>
                <a:ext cx="640175" cy="276999"/>
              </a:xfrm>
              <a:prstGeom prst="rect">
                <a:avLst/>
              </a:prstGeom>
              <a:blipFill>
                <a:blip r:embed="rId8"/>
                <a:stretch>
                  <a:fillRect l="-11429" r="-761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459948" y="2706026"/>
                <a:ext cx="813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948" y="2706026"/>
                <a:ext cx="813300" cy="276999"/>
              </a:xfrm>
              <a:prstGeom prst="rect">
                <a:avLst/>
              </a:prstGeom>
              <a:blipFill>
                <a:blip r:embed="rId9"/>
                <a:stretch>
                  <a:fillRect l="-9023" r="-6015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221713" y="2383838"/>
                <a:ext cx="813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713" y="2383838"/>
                <a:ext cx="813300" cy="276999"/>
              </a:xfrm>
              <a:prstGeom prst="rect">
                <a:avLst/>
              </a:prstGeom>
              <a:blipFill>
                <a:blip r:embed="rId10"/>
                <a:stretch>
                  <a:fillRect l="-9023" r="-6015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607075" y="3638722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075" y="3638722"/>
                <a:ext cx="640175" cy="276999"/>
              </a:xfrm>
              <a:prstGeom prst="rect">
                <a:avLst/>
              </a:prstGeom>
              <a:blipFill>
                <a:blip r:embed="rId11"/>
                <a:stretch>
                  <a:fillRect l="-11429" r="-66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905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Zooming into our triangle: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5054" y="2703012"/>
            <a:ext cx="2830946" cy="2935788"/>
            <a:chOff x="3882915" y="4038600"/>
            <a:chExt cx="765285" cy="793629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3686096" y="2427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1335" y="55484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0" y="45258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500742" y="2244503"/>
            <a:ext cx="3876208" cy="3488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67664" y="3362359"/>
            <a:ext cx="3270936" cy="29438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280958" y="2760054"/>
            <a:ext cx="3597459" cy="32377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blipFill>
                <a:blip r:embed="rId2"/>
                <a:stretch>
                  <a:fillRect l="-11429" r="-66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blipFill>
                <a:blip r:embed="rId3"/>
                <a:stretch>
                  <a:fillRect l="-11429" r="-666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blipFill>
                <a:blip r:embed="rId4"/>
                <a:stretch>
                  <a:fillRect l="-8955" t="-2222" r="-671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 flipV="1">
            <a:off x="767664" y="2244503"/>
            <a:ext cx="4510862" cy="167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658702" y="4203350"/>
            <a:ext cx="5504098" cy="2038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66800" y="3114731"/>
            <a:ext cx="5029200" cy="18626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blipFill>
                <a:blip r:embed="rId5"/>
                <a:stretch>
                  <a:fillRect l="-3810" r="-76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blipFill>
                <a:blip r:embed="rId6"/>
                <a:stretch>
                  <a:fillRect l="-2985" r="-597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blipFill>
                <a:blip r:embed="rId7"/>
                <a:stretch>
                  <a:fillRect l="-3810" r="-761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780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then we are in this region: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5054" y="2703012"/>
            <a:ext cx="2830946" cy="2935788"/>
            <a:chOff x="3882915" y="4038600"/>
            <a:chExt cx="765285" cy="793629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3686096" y="2427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1335" y="55484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0" y="45258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500742" y="2244503"/>
            <a:ext cx="3876208" cy="3488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67664" y="3362359"/>
            <a:ext cx="3270936" cy="29438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280958" y="2760054"/>
            <a:ext cx="3597459" cy="32377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blipFill>
                <a:blip r:embed="rId3"/>
                <a:stretch>
                  <a:fillRect l="-11429" r="-66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blipFill>
                <a:blip r:embed="rId4"/>
                <a:stretch>
                  <a:fillRect l="-11429" r="-666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blipFill>
                <a:blip r:embed="rId5"/>
                <a:stretch>
                  <a:fillRect l="-8955" t="-2222" r="-671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 flipV="1">
            <a:off x="767664" y="2244503"/>
            <a:ext cx="4510862" cy="167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658702" y="4203350"/>
            <a:ext cx="5504098" cy="2038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66800" y="3114731"/>
            <a:ext cx="5029200" cy="18626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blipFill>
                <a:blip r:embed="rId6"/>
                <a:stretch>
                  <a:fillRect l="-3810" r="-76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blipFill>
                <a:blip r:embed="rId7"/>
                <a:stretch>
                  <a:fillRect l="-2985" r="-597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blipFill>
                <a:blip r:embed="rId8"/>
                <a:stretch>
                  <a:fillRect l="-3810" r="-761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 23"/>
          <p:cNvSpPr/>
          <p:nvPr/>
        </p:nvSpPr>
        <p:spPr>
          <a:xfrm>
            <a:off x="1233889" y="2710149"/>
            <a:ext cx="4880472" cy="2930487"/>
          </a:xfrm>
          <a:custGeom>
            <a:avLst/>
            <a:gdLst>
              <a:gd name="connsiteX0" fmla="*/ 2776251 w 4880472"/>
              <a:gd name="connsiteY0" fmla="*/ 0 h 2930487"/>
              <a:gd name="connsiteX1" fmla="*/ 0 w 4880472"/>
              <a:gd name="connsiteY1" fmla="*/ 1046603 h 2930487"/>
              <a:gd name="connsiteX2" fmla="*/ 2060154 w 4880472"/>
              <a:gd name="connsiteY2" fmla="*/ 2930487 h 2930487"/>
              <a:gd name="connsiteX3" fmla="*/ 4880472 w 4880472"/>
              <a:gd name="connsiteY3" fmla="*/ 1883885 h 2930487"/>
              <a:gd name="connsiteX4" fmla="*/ 2776251 w 4880472"/>
              <a:gd name="connsiteY4" fmla="*/ 0 h 293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0472" h="2930487">
                <a:moveTo>
                  <a:pt x="2776251" y="0"/>
                </a:moveTo>
                <a:lnTo>
                  <a:pt x="0" y="1046603"/>
                </a:lnTo>
                <a:lnTo>
                  <a:pt x="2060154" y="2930487"/>
                </a:lnTo>
                <a:lnTo>
                  <a:pt x="4880472" y="1883885"/>
                </a:lnTo>
                <a:lnTo>
                  <a:pt x="2776251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39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Furthermore, if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we are inside the triangle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301860-49BF-5740-93BB-E79CC94219C1}"/>
              </a:ext>
            </a:extLst>
          </p:cNvPr>
          <p:cNvGrpSpPr/>
          <p:nvPr/>
        </p:nvGrpSpPr>
        <p:grpSpPr>
          <a:xfrm>
            <a:off x="1066800" y="2596696"/>
            <a:ext cx="6324599" cy="3709505"/>
            <a:chOff x="517932" y="1961924"/>
            <a:chExt cx="7406867" cy="4344277"/>
          </a:xfrm>
        </p:grpSpPr>
        <p:grpSp>
          <p:nvGrpSpPr>
            <p:cNvPr id="37" name="Group 36"/>
            <p:cNvGrpSpPr/>
            <p:nvPr/>
          </p:nvGrpSpPr>
          <p:grpSpPr>
            <a:xfrm>
              <a:off x="3265054" y="2703012"/>
              <a:ext cx="2830946" cy="2935788"/>
              <a:chOff x="3882915" y="4038600"/>
              <a:chExt cx="765285" cy="793629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4081322" y="4038600"/>
                <a:ext cx="566878" cy="5101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3882915" y="4038600"/>
                <a:ext cx="198407" cy="7936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3882915" y="4548790"/>
                <a:ext cx="765285" cy="28343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3686096" y="242706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61335" y="554842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096000" y="45258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3500742" y="2244503"/>
              <a:ext cx="3876208" cy="348858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767664" y="3362359"/>
              <a:ext cx="3270936" cy="2943842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2280958" y="2760054"/>
              <a:ext cx="3597459" cy="3237712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517932" y="3022803"/>
                  <a:ext cx="6401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32" y="3022803"/>
                  <a:ext cx="64017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455" t="-5263" r="-18182" b="-57895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3632028" y="2110334"/>
                  <a:ext cx="6401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028" y="2110334"/>
                  <a:ext cx="64017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455" r="-18182" b="-55000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1926694" y="2466201"/>
                  <a:ext cx="816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694" y="2466201"/>
                  <a:ext cx="8165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6071" r="-19643" b="-63158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/>
            <p:cNvCxnSpPr/>
            <p:nvPr/>
          </p:nvCxnSpPr>
          <p:spPr>
            <a:xfrm flipV="1">
              <a:off x="767664" y="2244503"/>
              <a:ext cx="4510862" cy="167068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1658702" y="4203350"/>
              <a:ext cx="5504098" cy="2038552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066800" y="3114731"/>
              <a:ext cx="5029200" cy="186266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5257287" y="1961924"/>
                  <a:ext cx="6385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287" y="1961924"/>
                  <a:ext cx="63857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1364" r="-18182" b="-20000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6132761" y="2884303"/>
                  <a:ext cx="8149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2761" y="2884303"/>
                  <a:ext cx="81490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929" r="-17857" b="-25000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286226" y="4032406"/>
                  <a:ext cx="6385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226" y="4032406"/>
                  <a:ext cx="63857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1628" r="-18605" b="-20000"/>
                  </a:stretch>
                </a:blipFill>
              </p:spPr>
              <p:txBody>
                <a:bodyPr/>
                <a:lstStyle/>
                <a:p>
                  <a:r>
                    <a:rPr lang="en-T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Freeform 5"/>
            <p:cNvSpPr/>
            <p:nvPr/>
          </p:nvSpPr>
          <p:spPr>
            <a:xfrm>
              <a:off x="3274828" y="2700670"/>
              <a:ext cx="2828260" cy="2934586"/>
            </a:xfrm>
            <a:custGeom>
              <a:avLst/>
              <a:gdLst>
                <a:gd name="connsiteX0" fmla="*/ 723014 w 2828260"/>
                <a:gd name="connsiteY0" fmla="*/ 0 h 2934586"/>
                <a:gd name="connsiteX1" fmla="*/ 0 w 2828260"/>
                <a:gd name="connsiteY1" fmla="*/ 2934586 h 2934586"/>
                <a:gd name="connsiteX2" fmla="*/ 2828260 w 2828260"/>
                <a:gd name="connsiteY2" fmla="*/ 1892595 h 2934586"/>
                <a:gd name="connsiteX3" fmla="*/ 723014 w 2828260"/>
                <a:gd name="connsiteY3" fmla="*/ 0 h 293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8260" h="2934586">
                  <a:moveTo>
                    <a:pt x="723014" y="0"/>
                  </a:moveTo>
                  <a:lnTo>
                    <a:pt x="0" y="2934586"/>
                  </a:lnTo>
                  <a:lnTo>
                    <a:pt x="2828260" y="1892595"/>
                  </a:lnTo>
                  <a:lnTo>
                    <a:pt x="723014" y="0"/>
                  </a:lnTo>
                  <a:close/>
                </a:path>
              </a:pathLst>
            </a:custGeom>
            <a:solidFill>
              <a:srgbClr val="AD0101">
                <a:alpha val="1882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5900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3274828" y="2700670"/>
            <a:ext cx="2828260" cy="2934586"/>
          </a:xfrm>
          <a:custGeom>
            <a:avLst/>
            <a:gdLst>
              <a:gd name="connsiteX0" fmla="*/ 723014 w 2828260"/>
              <a:gd name="connsiteY0" fmla="*/ 0 h 2934586"/>
              <a:gd name="connsiteX1" fmla="*/ 0 w 2828260"/>
              <a:gd name="connsiteY1" fmla="*/ 2934586 h 2934586"/>
              <a:gd name="connsiteX2" fmla="*/ 2828260 w 2828260"/>
              <a:gd name="connsiteY2" fmla="*/ 1892595 h 2934586"/>
              <a:gd name="connsiteX3" fmla="*/ 723014 w 2828260"/>
              <a:gd name="connsiteY3" fmla="*/ 0 h 29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260" h="2934586">
                <a:moveTo>
                  <a:pt x="723014" y="0"/>
                </a:moveTo>
                <a:lnTo>
                  <a:pt x="0" y="2934586"/>
                </a:lnTo>
                <a:lnTo>
                  <a:pt x="2828260" y="1892595"/>
                </a:lnTo>
                <a:lnTo>
                  <a:pt x="723014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there is also a third coordinate,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5054" y="2703012"/>
            <a:ext cx="2830946" cy="2935788"/>
            <a:chOff x="3882915" y="4038600"/>
            <a:chExt cx="765285" cy="793629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3686096" y="2427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1335" y="55484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0" y="45258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500742" y="2244503"/>
            <a:ext cx="3876208" cy="3488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67664" y="3362359"/>
            <a:ext cx="3270936" cy="29438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280958" y="2760054"/>
            <a:ext cx="3597459" cy="32377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blipFill>
                <a:blip r:embed="rId3"/>
                <a:stretch>
                  <a:fillRect l="-11429" r="-66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blipFill>
                <a:blip r:embed="rId4"/>
                <a:stretch>
                  <a:fillRect l="-11429" r="-666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blipFill>
                <a:blip r:embed="rId5"/>
                <a:stretch>
                  <a:fillRect l="-8955" t="-2222" r="-671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 flipV="1">
            <a:off x="767664" y="2244503"/>
            <a:ext cx="4510862" cy="167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658702" y="4203350"/>
            <a:ext cx="5504098" cy="2038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66800" y="3114731"/>
            <a:ext cx="5029200" cy="18626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blipFill>
                <a:blip r:embed="rId6"/>
                <a:stretch>
                  <a:fillRect l="-3810" r="-76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blipFill>
                <a:blip r:embed="rId7"/>
                <a:stretch>
                  <a:fillRect l="-2985" r="-597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blipFill>
                <a:blip r:embed="rId8"/>
                <a:stretch>
                  <a:fillRect l="-3810" r="-761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H="1">
            <a:off x="3084179" y="2061941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682465" y="1977740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644238" y="1705797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20905" y="6120002"/>
                <a:ext cx="621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905" y="6120002"/>
                <a:ext cx="621773" cy="276999"/>
              </a:xfrm>
              <a:prstGeom prst="rect">
                <a:avLst/>
              </a:prstGeom>
              <a:blipFill>
                <a:blip r:embed="rId9"/>
                <a:stretch>
                  <a:fillRect l="-6863" r="-7843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064323" y="6156619"/>
                <a:ext cx="621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323" y="6156619"/>
                <a:ext cx="621773" cy="276999"/>
              </a:xfrm>
              <a:prstGeom prst="rect">
                <a:avLst/>
              </a:prstGeom>
              <a:blipFill>
                <a:blip r:embed="rId10"/>
                <a:stretch>
                  <a:fillRect l="-7843" r="-6863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07741" y="6000654"/>
                <a:ext cx="794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1" y="6000654"/>
                <a:ext cx="794898" cy="276999"/>
              </a:xfrm>
              <a:prstGeom prst="rect">
                <a:avLst/>
              </a:prstGeom>
              <a:blipFill>
                <a:blip r:embed="rId11"/>
                <a:stretch>
                  <a:fillRect l="-6154" r="-615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573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3274828" y="2700670"/>
            <a:ext cx="2828260" cy="2934586"/>
          </a:xfrm>
          <a:custGeom>
            <a:avLst/>
            <a:gdLst>
              <a:gd name="connsiteX0" fmla="*/ 723014 w 2828260"/>
              <a:gd name="connsiteY0" fmla="*/ 0 h 2934586"/>
              <a:gd name="connsiteX1" fmla="*/ 0 w 2828260"/>
              <a:gd name="connsiteY1" fmla="*/ 2934586 h 2934586"/>
              <a:gd name="connsiteX2" fmla="*/ 2828260 w 2828260"/>
              <a:gd name="connsiteY2" fmla="*/ 1892595 h 2934586"/>
              <a:gd name="connsiteX3" fmla="*/ 723014 w 2828260"/>
              <a:gd name="connsiteY3" fmla="*/ 0 h 29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8260" h="2934586">
                <a:moveTo>
                  <a:pt x="723014" y="0"/>
                </a:moveTo>
                <a:lnTo>
                  <a:pt x="0" y="2934586"/>
                </a:lnTo>
                <a:lnTo>
                  <a:pt x="2828260" y="1892595"/>
                </a:lnTo>
                <a:lnTo>
                  <a:pt x="723014" y="0"/>
                </a:lnTo>
                <a:close/>
              </a:path>
            </a:pathLst>
          </a:custGeom>
          <a:solidFill>
            <a:srgbClr val="AD0101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Barycentric</a:t>
            </a:r>
            <a:r>
              <a:rPr lang="en-US" dirty="0"/>
              <a:t>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a rule,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5054" y="2703012"/>
            <a:ext cx="2830946" cy="2935788"/>
            <a:chOff x="3882915" y="4038600"/>
            <a:chExt cx="765285" cy="793629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4081322" y="4038600"/>
              <a:ext cx="566878" cy="5101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882915" y="4038600"/>
              <a:ext cx="198407" cy="7936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3882915" y="4548790"/>
              <a:ext cx="765285" cy="2834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3686096" y="2427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1335" y="55484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0" y="45258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500742" y="2244503"/>
            <a:ext cx="3876208" cy="3488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67664" y="3362359"/>
            <a:ext cx="3270936" cy="29438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280958" y="2760054"/>
            <a:ext cx="3597459" cy="32377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2" y="3022803"/>
                <a:ext cx="640175" cy="276999"/>
              </a:xfrm>
              <a:prstGeom prst="rect">
                <a:avLst/>
              </a:prstGeom>
              <a:blipFill>
                <a:blip r:embed="rId3"/>
                <a:stretch>
                  <a:fillRect l="-11429" r="-66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28" y="2110334"/>
                <a:ext cx="640175" cy="276999"/>
              </a:xfrm>
              <a:prstGeom prst="rect">
                <a:avLst/>
              </a:prstGeom>
              <a:blipFill>
                <a:blip r:embed="rId4"/>
                <a:stretch>
                  <a:fillRect l="-11429" r="-666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4" y="2466201"/>
                <a:ext cx="816506" cy="276999"/>
              </a:xfrm>
              <a:prstGeom prst="rect">
                <a:avLst/>
              </a:prstGeom>
              <a:blipFill>
                <a:blip r:embed="rId5"/>
                <a:stretch>
                  <a:fillRect l="-8955" t="-2222" r="-671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 flipV="1">
            <a:off x="767664" y="2244503"/>
            <a:ext cx="4510862" cy="16706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658702" y="4203350"/>
            <a:ext cx="5504098" cy="2038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66800" y="3114731"/>
            <a:ext cx="5029200" cy="18626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287" y="1961924"/>
                <a:ext cx="638573" cy="276999"/>
              </a:xfrm>
              <a:prstGeom prst="rect">
                <a:avLst/>
              </a:prstGeom>
              <a:blipFill>
                <a:blip r:embed="rId6"/>
                <a:stretch>
                  <a:fillRect l="-3810" r="-761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61" y="2884303"/>
                <a:ext cx="814903" cy="276999"/>
              </a:xfrm>
              <a:prstGeom prst="rect">
                <a:avLst/>
              </a:prstGeom>
              <a:blipFill>
                <a:blip r:embed="rId7"/>
                <a:stretch>
                  <a:fillRect l="-2985" r="-597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226" y="4032406"/>
                <a:ext cx="638573" cy="276999"/>
              </a:xfrm>
              <a:prstGeom prst="rect">
                <a:avLst/>
              </a:prstGeom>
              <a:blipFill>
                <a:blip r:embed="rId8"/>
                <a:stretch>
                  <a:fillRect l="-3810" r="-761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H="1">
            <a:off x="3084179" y="2061941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682465" y="1977740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644238" y="1705797"/>
            <a:ext cx="1086990" cy="426416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20905" y="6120002"/>
                <a:ext cx="621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905" y="6120002"/>
                <a:ext cx="621773" cy="276999"/>
              </a:xfrm>
              <a:prstGeom prst="rect">
                <a:avLst/>
              </a:prstGeom>
              <a:blipFill>
                <a:blip r:embed="rId9"/>
                <a:stretch>
                  <a:fillRect l="-6863" r="-7843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064323" y="6156619"/>
                <a:ext cx="621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323" y="6156619"/>
                <a:ext cx="621773" cy="276999"/>
              </a:xfrm>
              <a:prstGeom prst="rect">
                <a:avLst/>
              </a:prstGeom>
              <a:blipFill>
                <a:blip r:embed="rId10"/>
                <a:stretch>
                  <a:fillRect l="-7843" r="-6863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07741" y="6000654"/>
                <a:ext cx="794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1" y="6000654"/>
                <a:ext cx="794898" cy="276999"/>
              </a:xfrm>
              <a:prstGeom prst="rect">
                <a:avLst/>
              </a:prstGeom>
              <a:blipFill>
                <a:blip r:embed="rId11"/>
                <a:stretch>
                  <a:fillRect l="-6154" r="-615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693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we can eliminate one of the parameters: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point </a:t>
            </a:r>
            <a:r>
              <a:rPr lang="en-US" b="1" i="1" dirty="0"/>
              <a:t>p</a:t>
            </a:r>
            <a:r>
              <a:rPr lang="en-US" dirty="0"/>
              <a:t> is inside (or on) the triangle if and only if: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Plug the ray equation </a:t>
            </a:r>
            <a:r>
              <a:rPr lang="en-US" b="1" i="1" dirty="0"/>
              <a:t>r</a:t>
            </a:r>
            <a:r>
              <a:rPr lang="en-US" i="1" dirty="0"/>
              <a:t>(t) = </a:t>
            </a:r>
            <a:r>
              <a:rPr lang="en-US" b="1" i="1" dirty="0"/>
              <a:t>o</a:t>
            </a:r>
            <a:r>
              <a:rPr lang="en-US" i="1" dirty="0"/>
              <a:t> + t</a:t>
            </a:r>
            <a:r>
              <a:rPr lang="en-US" b="1" i="1" dirty="0"/>
              <a:t>d</a:t>
            </a:r>
            <a:r>
              <a:rPr lang="en-US" dirty="0"/>
              <a:t> into </a:t>
            </a:r>
            <a:r>
              <a:rPr lang="en-US" b="1" dirty="0"/>
              <a:t>p</a:t>
            </a:r>
            <a:r>
              <a:rPr lang="en-US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0800" y="2076271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α = 1 – β – γ </a:t>
            </a:r>
          </a:p>
          <a:p>
            <a:pPr algn="ctr"/>
            <a:endParaRPr lang="en-GB" b="1" i="1" dirty="0"/>
          </a:p>
          <a:p>
            <a:pPr algn="ctr"/>
            <a:r>
              <a:rPr lang="en-GB" b="1" i="1" dirty="0"/>
              <a:t>p</a:t>
            </a:r>
            <a:r>
              <a:rPr lang="en-GB" i="1" dirty="0"/>
              <a:t>(β, γ) = </a:t>
            </a:r>
            <a:r>
              <a:rPr lang="en-GB" b="1" i="1" dirty="0"/>
              <a:t>a</a:t>
            </a:r>
            <a:r>
              <a:rPr lang="en-GB" i="1" dirty="0"/>
              <a:t> + β(</a:t>
            </a:r>
            <a:r>
              <a:rPr lang="en-GB" b="1" i="1" dirty="0"/>
              <a:t>b</a:t>
            </a:r>
            <a:r>
              <a:rPr lang="en-GB" i="1" dirty="0"/>
              <a:t> – </a:t>
            </a:r>
            <a:r>
              <a:rPr lang="en-GB" b="1" i="1" dirty="0"/>
              <a:t>a</a:t>
            </a:r>
            <a:r>
              <a:rPr lang="en-GB" i="1" dirty="0"/>
              <a:t>) + γ(</a:t>
            </a:r>
            <a:r>
              <a:rPr lang="en-GB" b="1" i="1" dirty="0"/>
              <a:t>c</a:t>
            </a:r>
            <a:r>
              <a:rPr lang="en-GB" i="1" dirty="0"/>
              <a:t> – </a:t>
            </a:r>
            <a:r>
              <a:rPr lang="en-GB" b="1" i="1" dirty="0"/>
              <a:t>a</a:t>
            </a:r>
            <a:r>
              <a:rPr lang="en-GB" i="1" dirty="0"/>
              <a:t>)</a:t>
            </a:r>
            <a:endParaRPr lang="en-GB" dirty="0"/>
          </a:p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90800" y="38100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β + γ ≤ 1</a:t>
            </a:r>
          </a:p>
          <a:p>
            <a:pPr algn="ctr"/>
            <a:r>
              <a:rPr lang="en-GB" i="1" dirty="0"/>
              <a:t>0 ≤ β</a:t>
            </a:r>
          </a:p>
          <a:p>
            <a:pPr algn="ctr"/>
            <a:r>
              <a:rPr lang="en-GB" i="1" dirty="0"/>
              <a:t>0 ≤ 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547747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b="1" i="1" dirty="0"/>
          </a:p>
          <a:p>
            <a:pPr algn="ctr"/>
            <a:r>
              <a:rPr lang="en-GB" b="1" i="1" dirty="0"/>
              <a:t>o</a:t>
            </a:r>
            <a:r>
              <a:rPr lang="en-GB" i="1" dirty="0"/>
              <a:t> + t</a:t>
            </a:r>
            <a:r>
              <a:rPr lang="en-GB" b="1" i="1" dirty="0"/>
              <a:t>d</a:t>
            </a:r>
            <a:r>
              <a:rPr lang="en-GB" i="1" dirty="0"/>
              <a:t> = </a:t>
            </a:r>
            <a:r>
              <a:rPr lang="en-GB" b="1" i="1" dirty="0"/>
              <a:t>a</a:t>
            </a:r>
            <a:r>
              <a:rPr lang="en-GB" i="1" dirty="0"/>
              <a:t> + β(</a:t>
            </a:r>
            <a:r>
              <a:rPr lang="en-GB" b="1" i="1" dirty="0"/>
              <a:t>b</a:t>
            </a:r>
            <a:r>
              <a:rPr lang="en-GB" i="1" dirty="0"/>
              <a:t> – </a:t>
            </a:r>
            <a:r>
              <a:rPr lang="en-GB" b="1" i="1" dirty="0"/>
              <a:t>a</a:t>
            </a:r>
            <a:r>
              <a:rPr lang="en-GB" i="1" dirty="0"/>
              <a:t>) + γ(</a:t>
            </a:r>
            <a:r>
              <a:rPr lang="en-GB" b="1" i="1" dirty="0"/>
              <a:t>c</a:t>
            </a:r>
            <a:r>
              <a:rPr lang="en-GB" i="1" dirty="0"/>
              <a:t> – </a:t>
            </a:r>
            <a:r>
              <a:rPr lang="en-GB" b="1" i="1" dirty="0"/>
              <a:t>a</a:t>
            </a:r>
            <a:r>
              <a:rPr lang="en-GB" i="1" dirty="0"/>
              <a:t>)</a:t>
            </a:r>
            <a:endParaRPr lang="en-GB" dirty="0"/>
          </a:p>
          <a:p>
            <a:pPr algn="ctr"/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solve for t?</a:t>
            </a:r>
          </a:p>
          <a:p>
            <a:r>
              <a:rPr lang="en-US" dirty="0"/>
              <a:t>Expand from the vector form into individual coordinates: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unknowns</a:t>
            </a:r>
            <a:r>
              <a:rPr lang="en-US" dirty="0"/>
              <a:t> here are 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GB" i="1" dirty="0"/>
              <a:t>β, </a:t>
            </a:r>
            <a:r>
              <a:rPr lang="en-GB" dirty="0"/>
              <a:t>and </a:t>
            </a:r>
            <a:r>
              <a:rPr lang="en-GB" i="1" dirty="0"/>
              <a:t>γ</a:t>
            </a:r>
          </a:p>
          <a:p>
            <a:r>
              <a:rPr lang="en-GB" dirty="0"/>
              <a:t>We have 3 equations and 3 unknowns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57400" y="2514600"/>
            <a:ext cx="533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b="1" i="1" dirty="0"/>
          </a:p>
          <a:p>
            <a:pPr algn="ctr"/>
            <a:r>
              <a:rPr lang="en-GB" i="1" dirty="0"/>
              <a:t>o</a:t>
            </a:r>
            <a:r>
              <a:rPr lang="en-GB" i="1" baseline="-25000" dirty="0"/>
              <a:t>x</a:t>
            </a:r>
            <a:r>
              <a:rPr lang="en-GB" i="1" dirty="0"/>
              <a:t> + </a:t>
            </a:r>
            <a:r>
              <a:rPr lang="en-GB" i="1" dirty="0" err="1"/>
              <a:t>td</a:t>
            </a:r>
            <a:r>
              <a:rPr lang="en-GB" i="1" baseline="-25000" dirty="0" err="1"/>
              <a:t>x</a:t>
            </a:r>
            <a:r>
              <a:rPr lang="en-GB" i="1" dirty="0"/>
              <a:t> = </a:t>
            </a:r>
            <a:r>
              <a:rPr lang="en-GB" i="1" dirty="0" err="1"/>
              <a:t>a</a:t>
            </a:r>
            <a:r>
              <a:rPr lang="en-GB" i="1" baseline="-25000" dirty="0" err="1"/>
              <a:t>x</a:t>
            </a:r>
            <a:r>
              <a:rPr lang="en-GB" i="1" dirty="0"/>
              <a:t> + β(</a:t>
            </a:r>
            <a:r>
              <a:rPr lang="en-GB" i="1" dirty="0" err="1"/>
              <a:t>b</a:t>
            </a:r>
            <a:r>
              <a:rPr lang="en-GB" i="1" baseline="-25000" dirty="0" err="1"/>
              <a:t>x</a:t>
            </a:r>
            <a:r>
              <a:rPr lang="en-GB" i="1" dirty="0"/>
              <a:t> – </a:t>
            </a:r>
            <a:r>
              <a:rPr lang="en-GB" i="1" dirty="0" err="1"/>
              <a:t>a</a:t>
            </a:r>
            <a:r>
              <a:rPr lang="en-GB" i="1" baseline="-25000" dirty="0" err="1"/>
              <a:t>x</a:t>
            </a:r>
            <a:r>
              <a:rPr lang="en-GB" i="1" dirty="0"/>
              <a:t>) + γ(</a:t>
            </a:r>
            <a:r>
              <a:rPr lang="en-GB" i="1" dirty="0" err="1"/>
              <a:t>c</a:t>
            </a:r>
            <a:r>
              <a:rPr lang="en-GB" i="1" baseline="-25000" dirty="0" err="1"/>
              <a:t>x</a:t>
            </a:r>
            <a:r>
              <a:rPr lang="en-GB" i="1" dirty="0"/>
              <a:t> – </a:t>
            </a:r>
            <a:r>
              <a:rPr lang="en-GB" i="1" dirty="0" err="1"/>
              <a:t>a</a:t>
            </a:r>
            <a:r>
              <a:rPr lang="en-GB" i="1" baseline="-25000" dirty="0" err="1"/>
              <a:t>x</a:t>
            </a:r>
            <a:r>
              <a:rPr lang="en-GB" i="1" dirty="0"/>
              <a:t>)</a:t>
            </a:r>
          </a:p>
          <a:p>
            <a:pPr algn="ctr"/>
            <a:r>
              <a:rPr lang="en-GB" i="1" dirty="0" err="1"/>
              <a:t>o</a:t>
            </a:r>
            <a:r>
              <a:rPr lang="en-GB" i="1" baseline="-25000" dirty="0" err="1"/>
              <a:t>y</a:t>
            </a:r>
            <a:r>
              <a:rPr lang="en-GB" i="1" dirty="0"/>
              <a:t> + </a:t>
            </a:r>
            <a:r>
              <a:rPr lang="en-GB" i="1" dirty="0" err="1"/>
              <a:t>td</a:t>
            </a:r>
            <a:r>
              <a:rPr lang="en-GB" i="1" baseline="-25000" dirty="0" err="1"/>
              <a:t>y</a:t>
            </a:r>
            <a:r>
              <a:rPr lang="en-GB" i="1" dirty="0"/>
              <a:t> = a</a:t>
            </a:r>
            <a:r>
              <a:rPr lang="en-GB" i="1" baseline="-25000" dirty="0"/>
              <a:t>y</a:t>
            </a:r>
            <a:r>
              <a:rPr lang="en-GB" i="1" dirty="0"/>
              <a:t> + β(b</a:t>
            </a:r>
            <a:r>
              <a:rPr lang="en-GB" i="1" baseline="-25000" dirty="0"/>
              <a:t>y</a:t>
            </a:r>
            <a:r>
              <a:rPr lang="en-GB" i="1" dirty="0"/>
              <a:t> – a</a:t>
            </a:r>
            <a:r>
              <a:rPr lang="en-GB" i="1" baseline="-25000" dirty="0"/>
              <a:t>y</a:t>
            </a:r>
            <a:r>
              <a:rPr lang="en-GB" i="1" dirty="0"/>
              <a:t>) + γ(c</a:t>
            </a:r>
            <a:r>
              <a:rPr lang="en-GB" i="1" baseline="-25000" dirty="0"/>
              <a:t>y</a:t>
            </a:r>
            <a:r>
              <a:rPr lang="en-GB" i="1" dirty="0"/>
              <a:t> – a</a:t>
            </a:r>
            <a:r>
              <a:rPr lang="en-GB" i="1" baseline="-25000" dirty="0"/>
              <a:t>y</a:t>
            </a:r>
            <a:r>
              <a:rPr lang="en-GB" i="1" dirty="0"/>
              <a:t>)</a:t>
            </a:r>
            <a:endParaRPr lang="en-GB" dirty="0"/>
          </a:p>
          <a:p>
            <a:pPr algn="ctr"/>
            <a:r>
              <a:rPr lang="en-GB" i="1" dirty="0"/>
              <a:t>o</a:t>
            </a:r>
            <a:r>
              <a:rPr lang="en-GB" i="1" baseline="-25000" dirty="0"/>
              <a:t>z</a:t>
            </a:r>
            <a:r>
              <a:rPr lang="en-GB" i="1" dirty="0"/>
              <a:t> + </a:t>
            </a:r>
            <a:r>
              <a:rPr lang="en-GB" i="1" dirty="0" err="1"/>
              <a:t>td</a:t>
            </a:r>
            <a:r>
              <a:rPr lang="en-GB" i="1" baseline="-25000" dirty="0" err="1"/>
              <a:t>z</a:t>
            </a:r>
            <a:r>
              <a:rPr lang="en-GB" i="1" dirty="0"/>
              <a:t> = </a:t>
            </a:r>
            <a:r>
              <a:rPr lang="en-GB" i="1" dirty="0" err="1"/>
              <a:t>a</a:t>
            </a:r>
            <a:r>
              <a:rPr lang="en-GB" i="1" baseline="-25000" dirty="0" err="1"/>
              <a:t>z</a:t>
            </a:r>
            <a:r>
              <a:rPr lang="en-GB" i="1" dirty="0"/>
              <a:t> + β(</a:t>
            </a:r>
            <a:r>
              <a:rPr lang="en-GB" i="1" dirty="0" err="1"/>
              <a:t>b</a:t>
            </a:r>
            <a:r>
              <a:rPr lang="en-GB" i="1" baseline="-25000" dirty="0" err="1"/>
              <a:t>z</a:t>
            </a:r>
            <a:r>
              <a:rPr lang="en-GB" i="1" dirty="0"/>
              <a:t> – </a:t>
            </a:r>
            <a:r>
              <a:rPr lang="en-GB" i="1" dirty="0" err="1"/>
              <a:t>a</a:t>
            </a:r>
            <a:r>
              <a:rPr lang="en-GB" i="1" baseline="-25000" dirty="0" err="1"/>
              <a:t>z</a:t>
            </a:r>
            <a:r>
              <a:rPr lang="en-GB" i="1" dirty="0"/>
              <a:t>) + γ(</a:t>
            </a:r>
            <a:r>
              <a:rPr lang="en-GB" i="1" dirty="0" err="1"/>
              <a:t>c</a:t>
            </a:r>
            <a:r>
              <a:rPr lang="en-GB" i="1" baseline="-25000" dirty="0" err="1"/>
              <a:t>z</a:t>
            </a:r>
            <a:r>
              <a:rPr lang="en-GB" i="1" dirty="0"/>
              <a:t> – </a:t>
            </a:r>
            <a:r>
              <a:rPr lang="en-GB" i="1" dirty="0" err="1"/>
              <a:t>a</a:t>
            </a:r>
            <a:r>
              <a:rPr lang="en-GB" i="1" baseline="-25000" dirty="0" err="1"/>
              <a:t>z</a:t>
            </a:r>
            <a:r>
              <a:rPr lang="en-GB" i="1" dirty="0"/>
              <a:t>)</a:t>
            </a:r>
            <a:endParaRPr lang="en-GB" dirty="0"/>
          </a:p>
          <a:p>
            <a:pPr algn="ctr"/>
            <a:endParaRPr lang="en-GB" dirty="0"/>
          </a:p>
          <a:p>
            <a:pPr algn="ctr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Rewrite this system in matrix form: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solve for 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GB" i="1" dirty="0"/>
              <a:t>β, </a:t>
            </a:r>
            <a:r>
              <a:rPr lang="en-GB" dirty="0"/>
              <a:t>and </a:t>
            </a:r>
            <a:r>
              <a:rPr lang="en-GB" i="1" dirty="0"/>
              <a:t>γ </a:t>
            </a:r>
            <a:r>
              <a:rPr lang="en-GB" dirty="0"/>
              <a:t>using </a:t>
            </a:r>
            <a:r>
              <a:rPr lang="en-GB" dirty="0">
                <a:solidFill>
                  <a:srgbClr val="C00000"/>
                </a:solidFill>
              </a:rPr>
              <a:t>Cramer’s rule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330493"/>
              </p:ext>
            </p:extLst>
          </p:nvPr>
        </p:nvGraphicFramePr>
        <p:xfrm>
          <a:off x="1952625" y="2133600"/>
          <a:ext cx="52387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711000" progId="Equation.3">
                  <p:embed/>
                </p:oleObj>
              </mc:Choice>
              <mc:Fallback>
                <p:oleObj name="Equation" r:id="rId2" imgW="2222280" imgH="711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2133600"/>
                        <a:ext cx="5238750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154939"/>
              </p:ext>
            </p:extLst>
          </p:nvPr>
        </p:nvGraphicFramePr>
        <p:xfrm>
          <a:off x="3319463" y="3886200"/>
          <a:ext cx="2484437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711000" progId="Equation.3">
                  <p:embed/>
                </p:oleObj>
              </mc:Choice>
              <mc:Fallback>
                <p:oleObj name="Equation" r:id="rId4" imgW="105408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3886200"/>
                        <a:ext cx="2484437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Cramer’s rule: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54716"/>
              </p:ext>
            </p:extLst>
          </p:nvPr>
        </p:nvGraphicFramePr>
        <p:xfrm>
          <a:off x="369887" y="2006600"/>
          <a:ext cx="3592513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927000" progId="Equation.3">
                  <p:embed/>
                </p:oleObj>
              </mc:Choice>
              <mc:Fallback>
                <p:oleObj name="Equation" r:id="rId2" imgW="152388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" y="2006600"/>
                        <a:ext cx="3592513" cy="218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738748"/>
              </p:ext>
            </p:extLst>
          </p:nvPr>
        </p:nvGraphicFramePr>
        <p:xfrm>
          <a:off x="4803775" y="2006600"/>
          <a:ext cx="356235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927000" progId="Equation.3">
                  <p:embed/>
                </p:oleObj>
              </mc:Choice>
              <mc:Fallback>
                <p:oleObj name="Equation" r:id="rId4" imgW="1511280" imgH="927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2006600"/>
                        <a:ext cx="3562350" cy="218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2"/>
          <p:cNvGraphicFramePr>
            <a:graphicFrameLocks noChangeAspect="1"/>
          </p:cNvGraphicFramePr>
          <p:nvPr/>
        </p:nvGraphicFramePr>
        <p:xfrm>
          <a:off x="454025" y="4216400"/>
          <a:ext cx="4041775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14320" imgH="927000" progId="Equation.3">
                  <p:embed/>
                </p:oleObj>
              </mc:Choice>
              <mc:Fallback>
                <p:oleObj name="Equation" r:id="rId6" imgW="1714320" imgH="927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" y="4216400"/>
                        <a:ext cx="4041775" cy="218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0" y="4763869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|.| denotes the determinant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Determinant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is equal 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|A| is given by: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3349625" y="2133600"/>
          <a:ext cx="23653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711000" progId="Equation.3">
                  <p:embed/>
                </p:oleObj>
              </mc:Choice>
              <mc:Fallback>
                <p:oleObj name="Equation" r:id="rId2" imgW="1002960" imgH="7110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2133600"/>
                        <a:ext cx="2365375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1728788" y="5267325"/>
          <a:ext cx="5718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5680" imgH="253800" progId="Equation.3">
                  <p:embed/>
                </p:oleObj>
              </mc:Choice>
              <mc:Fallback>
                <p:oleObj name="Equation" r:id="rId4" imgW="2425680" imgH="253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5267325"/>
                        <a:ext cx="57181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Ray-triangle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to find the determinants of the other terms and compute </a:t>
            </a:r>
            <a:r>
              <a:rPr lang="en-US" i="1" dirty="0"/>
              <a:t>t</a:t>
            </a:r>
            <a:r>
              <a:rPr lang="en-US" dirty="0"/>
              <a:t>, </a:t>
            </a:r>
            <a:r>
              <a:rPr lang="en-GB" i="1" dirty="0"/>
              <a:t>β, </a:t>
            </a:r>
            <a:r>
              <a:rPr lang="en-GB" dirty="0"/>
              <a:t>and </a:t>
            </a:r>
            <a:r>
              <a:rPr lang="en-GB" i="1" dirty="0"/>
              <a:t>γ.</a:t>
            </a:r>
          </a:p>
          <a:p>
            <a:r>
              <a:rPr lang="en-GB" dirty="0"/>
              <a:t>The ray will intersect the triangle if: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Ray-triangle intersection is the most important as any complex object can be represented using a set of triangles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2949476"/>
            <a:ext cx="335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b="1" i="1" dirty="0"/>
          </a:p>
          <a:p>
            <a:pPr algn="ctr"/>
            <a:r>
              <a:rPr lang="en-GB" i="1" dirty="0" err="1"/>
              <a:t>t</a:t>
            </a:r>
            <a:r>
              <a:rPr lang="en-GB" i="1" baseline="-25000" dirty="0" err="1"/>
              <a:t>min</a:t>
            </a:r>
            <a:r>
              <a:rPr lang="en-GB" i="1" dirty="0"/>
              <a:t> ≤ t ≤ </a:t>
            </a:r>
            <a:r>
              <a:rPr lang="en-GB" i="1" dirty="0" err="1"/>
              <a:t>t</a:t>
            </a:r>
            <a:r>
              <a:rPr lang="en-GB" i="1" baseline="-25000" dirty="0" err="1"/>
              <a:t>max</a:t>
            </a:r>
            <a:endParaRPr lang="en-GB" i="1" baseline="-25000" dirty="0"/>
          </a:p>
          <a:p>
            <a:pPr algn="ctr"/>
            <a:r>
              <a:rPr lang="en-GB" i="1" dirty="0"/>
              <a:t>β + γ ≤ 1</a:t>
            </a:r>
          </a:p>
          <a:p>
            <a:pPr algn="ctr"/>
            <a:r>
              <a:rPr lang="en-GB" i="1" dirty="0"/>
              <a:t>0 ≤ β</a:t>
            </a:r>
          </a:p>
          <a:p>
            <a:pPr algn="ctr"/>
            <a:r>
              <a:rPr lang="en-GB" i="1" dirty="0"/>
              <a:t>0 ≤ γ</a:t>
            </a:r>
          </a:p>
          <a:p>
            <a:pPr algn="ctr"/>
            <a:endParaRPr lang="en-GB" i="1" dirty="0"/>
          </a:p>
          <a:p>
            <a:pPr algn="ctr"/>
            <a:endParaRPr lang="en-GB" dirty="0"/>
          </a:p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Tracing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algorithm (reminder):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913" y="2895600"/>
            <a:ext cx="743504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for</a:t>
            </a:r>
            <a:r>
              <a:rPr lang="en-US" sz="2200" dirty="0"/>
              <a:t> each pixel </a:t>
            </a:r>
            <a:r>
              <a:rPr lang="en-US" sz="2200" b="1" dirty="0"/>
              <a:t>do</a:t>
            </a:r>
          </a:p>
          <a:p>
            <a:r>
              <a:rPr lang="en-US" sz="2200" dirty="0"/>
              <a:t>      </a:t>
            </a:r>
            <a:r>
              <a:rPr lang="en-US" sz="2200" dirty="0">
                <a:solidFill>
                  <a:srgbClr val="00B050"/>
                </a:solidFill>
              </a:rPr>
              <a:t>compute viewing (eye, primary) rays</a:t>
            </a:r>
          </a:p>
          <a:p>
            <a:r>
              <a:rPr lang="en-US" sz="2200" dirty="0">
                <a:solidFill>
                  <a:srgbClr val="00B050"/>
                </a:solidFill>
              </a:rPr>
              <a:t>      find the first object hit by ray</a:t>
            </a:r>
            <a:r>
              <a:rPr lang="en-US" sz="2200" dirty="0"/>
              <a:t> and </a:t>
            </a:r>
            <a:r>
              <a:rPr lang="en-US" sz="2200" dirty="0">
                <a:solidFill>
                  <a:schemeClr val="accent1"/>
                </a:solidFill>
              </a:rPr>
              <a:t>its surface normal </a:t>
            </a:r>
            <a:r>
              <a:rPr lang="en-US" sz="2200" b="1" dirty="0">
                <a:solidFill>
                  <a:schemeClr val="accent1"/>
                </a:solidFill>
              </a:rPr>
              <a:t>n</a:t>
            </a:r>
          </a:p>
          <a:p>
            <a:r>
              <a:rPr lang="en-US" sz="2200" b="1" dirty="0">
                <a:solidFill>
                  <a:schemeClr val="accent1"/>
                </a:solidFill>
              </a:rPr>
              <a:t>      </a:t>
            </a:r>
            <a:r>
              <a:rPr lang="en-US" sz="2200" dirty="0">
                <a:solidFill>
                  <a:schemeClr val="accent1"/>
                </a:solidFill>
              </a:rPr>
              <a:t>set pixel color to value computed from hit point, light, and </a:t>
            </a:r>
            <a:r>
              <a:rPr lang="en-US" sz="2200" b="1" dirty="0">
                <a:solidFill>
                  <a:schemeClr val="accent1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653092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Bunny model composed of 725,000 triangles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4826" y="2250188"/>
            <a:ext cx="3908374" cy="369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328505" y="600289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Stanford University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Buddha model composed of 9,200,000 triangles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505" y="600289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Stanford University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1939" y="2209800"/>
            <a:ext cx="1512061" cy="380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Dragon model composed of 5,500,000 triangles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505" y="600289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Stanford University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2" y="2286000"/>
            <a:ext cx="4419598" cy="365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Armadillo model composed of 7,500,000 triangles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505" y="600289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Stanford University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2" y="2279660"/>
            <a:ext cx="3352798" cy="374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Lucy model composed of 116,000,000 triangles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505" y="600289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Stanford University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3936" y="2286000"/>
            <a:ext cx="2423464" cy="368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9240"/>
            <a:ext cx="8382000" cy="4937760"/>
          </a:xfrm>
        </p:spPr>
        <p:txBody>
          <a:bodyPr/>
          <a:lstStyle/>
          <a:p>
            <a:r>
              <a:rPr lang="en-US" dirty="0"/>
              <a:t>Let’s compute how many intersection tests we need to perform to render a model composed of 1,000,000 triangles with an image size of 1024x1024</a:t>
            </a:r>
          </a:p>
          <a:p>
            <a:r>
              <a:rPr lang="en-US" dirty="0"/>
              <a:t>1,000,000 * 1024 * 1024 ≈ 1,000,000,000,000 (one trillion)</a:t>
            </a:r>
          </a:p>
          <a:p>
            <a:r>
              <a:rPr lang="en-US" dirty="0"/>
              <a:t>And this is just the intersection – realistic shading is generally more costly (next week)</a:t>
            </a:r>
          </a:p>
          <a:p>
            <a:r>
              <a:rPr lang="en-US" dirty="0"/>
              <a:t>That’s why ray tracing is very slow</a:t>
            </a:r>
          </a:p>
          <a:p>
            <a:r>
              <a:rPr lang="en-US" dirty="0"/>
              <a:t>However, ray tracing can be accelerated by using:</a:t>
            </a:r>
          </a:p>
          <a:p>
            <a:pPr lvl="1"/>
            <a:r>
              <a:rPr lang="en-US" dirty="0"/>
              <a:t>Multiple computers</a:t>
            </a:r>
          </a:p>
          <a:p>
            <a:pPr lvl="1"/>
            <a:r>
              <a:rPr lang="en-US" dirty="0"/>
              <a:t>GPUs</a:t>
            </a:r>
          </a:p>
          <a:p>
            <a:pPr lvl="1"/>
            <a:r>
              <a:rPr lang="en-US" dirty="0"/>
              <a:t>Acceleration structures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91640"/>
            <a:ext cx="3962400" cy="4937760"/>
          </a:xfrm>
        </p:spPr>
        <p:txBody>
          <a:bodyPr/>
          <a:lstStyle/>
          <a:p>
            <a:r>
              <a:rPr lang="en-US" dirty="0"/>
              <a:t>Intersection tests give us the surface position that is hit by a ray</a:t>
            </a:r>
          </a:p>
          <a:p>
            <a:r>
              <a:rPr lang="en-US" dirty="0"/>
              <a:t>To create realistic images, we need to compute realistic models of </a:t>
            </a:r>
            <a:r>
              <a:rPr lang="en-US" dirty="0">
                <a:solidFill>
                  <a:srgbClr val="C00000"/>
                </a:solidFill>
              </a:rPr>
              <a:t>light-surface interaction </a:t>
            </a:r>
            <a:r>
              <a:rPr lang="en-US" dirty="0"/>
              <a:t>at that point on the surface</a:t>
            </a:r>
          </a:p>
          <a:p>
            <a:r>
              <a:rPr lang="en-US" dirty="0"/>
              <a:t>This will be the topic of the next week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133600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682051" y="594360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ACM </a:t>
            </a:r>
            <a:r>
              <a:rPr lang="en-US" dirty="0" err="1"/>
              <a:t>Siggraph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85F22-8D96-4CC0-8AEC-D5DD450583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entonSansTRUReg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entonSansTRUReg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3124</Words>
  <Application>Microsoft Macintosh PowerPoint</Application>
  <PresentationFormat>On-screen Show (4:3)</PresentationFormat>
  <Paragraphs>656</Paragraphs>
  <Slides>52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BentonSansTRUMed</vt:lpstr>
      <vt:lpstr>BentonSansTRUReg</vt:lpstr>
      <vt:lpstr>Calibri</vt:lpstr>
      <vt:lpstr>Cambria Math</vt:lpstr>
      <vt:lpstr>metu</vt:lpstr>
      <vt:lpstr>Equation</vt:lpstr>
      <vt:lpstr>CENG 477 Introduction to Computer Graphics</vt:lpstr>
      <vt:lpstr>Ray Tracing</vt:lpstr>
      <vt:lpstr>Components</vt:lpstr>
      <vt:lpstr>Camera</vt:lpstr>
      <vt:lpstr>Camera</vt:lpstr>
      <vt:lpstr>Image Plane</vt:lpstr>
      <vt:lpstr>Image Plane</vt:lpstr>
      <vt:lpstr>Objects</vt:lpstr>
      <vt:lpstr>Objects</vt:lpstr>
      <vt:lpstr>Objects</vt:lpstr>
      <vt:lpstr>Light Sources</vt:lpstr>
      <vt:lpstr>Rays</vt:lpstr>
      <vt:lpstr>Ray Tracing</vt:lpstr>
      <vt:lpstr>Computing Eye Rays</vt:lpstr>
      <vt:lpstr>Some Example Values</vt:lpstr>
      <vt:lpstr>Ray-Object Intersections</vt:lpstr>
      <vt:lpstr>Parametric Lines</vt:lpstr>
      <vt:lpstr>Ray (Reminder)</vt:lpstr>
      <vt:lpstr>Implicit Surfaces</vt:lpstr>
      <vt:lpstr>Ray-Plane Intersection</vt:lpstr>
      <vt:lpstr>Ray-Plane Intersection</vt:lpstr>
      <vt:lpstr>Ray-Sphere Intersection</vt:lpstr>
      <vt:lpstr>Ray-Sphere Intersection</vt:lpstr>
      <vt:lpstr>Ray-Triangle Intersection</vt:lpstr>
      <vt:lpstr>Ray-Triangle Intersection</vt:lpstr>
      <vt:lpstr>Lengthy But Simple Method</vt:lpstr>
      <vt:lpstr>Lengthy But Simple Method</vt:lpstr>
      <vt:lpstr>Lengthy But Simple Method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Barycentric Coordinates</vt:lpstr>
      <vt:lpstr>Back to Intersection</vt:lpstr>
      <vt:lpstr>Ray-Triangle Intersection</vt:lpstr>
      <vt:lpstr>Ray-Triangle Intersection</vt:lpstr>
      <vt:lpstr>Ray-Triangle Intersection</vt:lpstr>
      <vt:lpstr>Finding the Determinant</vt:lpstr>
      <vt:lpstr>Ray-triangle Intersection</vt:lpstr>
      <vt:lpstr>Ray Tracing Algorithm</vt:lpstr>
      <vt:lpstr>Complex Models</vt:lpstr>
      <vt:lpstr>Complex Models</vt:lpstr>
      <vt:lpstr>Complex Models</vt:lpstr>
      <vt:lpstr>Complex Models</vt:lpstr>
      <vt:lpstr>Complex Models</vt:lpstr>
      <vt:lpstr>Intersection Cost</vt:lpstr>
      <vt:lpstr>Realism</vt:lpstr>
    </vt:vector>
  </TitlesOfParts>
  <Company>AMD,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Yarkın ÖZCAN</cp:lastModifiedBy>
  <cp:revision>248</cp:revision>
  <dcterms:created xsi:type="dcterms:W3CDTF">2011-10-08T08:51:54Z</dcterms:created>
  <dcterms:modified xsi:type="dcterms:W3CDTF">2025-10-19T10:16:57Z</dcterms:modified>
</cp:coreProperties>
</file>