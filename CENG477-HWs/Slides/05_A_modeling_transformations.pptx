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62"/>
  </p:notesMasterIdLst>
  <p:handoutMasterIdLst>
    <p:handoutMasterId r:id="rId63"/>
  </p:handoutMasterIdLst>
  <p:sldIdLst>
    <p:sldId id="256" r:id="rId2"/>
    <p:sldId id="305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69" r:id="rId11"/>
    <p:sldId id="370" r:id="rId12"/>
    <p:sldId id="371" r:id="rId13"/>
    <p:sldId id="372" r:id="rId14"/>
    <p:sldId id="314" r:id="rId15"/>
    <p:sldId id="315" r:id="rId16"/>
    <p:sldId id="352" r:id="rId17"/>
    <p:sldId id="316" r:id="rId18"/>
    <p:sldId id="317" r:id="rId19"/>
    <p:sldId id="318" r:id="rId20"/>
    <p:sldId id="319" r:id="rId21"/>
    <p:sldId id="343" r:id="rId22"/>
    <p:sldId id="344" r:id="rId23"/>
    <p:sldId id="345" r:id="rId24"/>
    <p:sldId id="320" r:id="rId25"/>
    <p:sldId id="321" r:id="rId26"/>
    <p:sldId id="322" r:id="rId27"/>
    <p:sldId id="323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47" r:id="rId37"/>
    <p:sldId id="348" r:id="rId38"/>
    <p:sldId id="349" r:id="rId39"/>
    <p:sldId id="375" r:id="rId40"/>
    <p:sldId id="376" r:id="rId41"/>
    <p:sldId id="351" r:id="rId42"/>
    <p:sldId id="360" r:id="rId43"/>
    <p:sldId id="361" r:id="rId44"/>
    <p:sldId id="362" r:id="rId45"/>
    <p:sldId id="363" r:id="rId46"/>
    <p:sldId id="338" r:id="rId47"/>
    <p:sldId id="339" r:id="rId48"/>
    <p:sldId id="359" r:id="rId49"/>
    <p:sldId id="353" r:id="rId50"/>
    <p:sldId id="354" r:id="rId51"/>
    <p:sldId id="355" r:id="rId52"/>
    <p:sldId id="356" r:id="rId53"/>
    <p:sldId id="357" r:id="rId54"/>
    <p:sldId id="373" r:id="rId55"/>
    <p:sldId id="374" r:id="rId56"/>
    <p:sldId id="364" r:id="rId57"/>
    <p:sldId id="365" r:id="rId58"/>
    <p:sldId id="366" r:id="rId59"/>
    <p:sldId id="367" r:id="rId60"/>
    <p:sldId id="368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2" autoAdjust="0"/>
    <p:restoredTop sz="85697" autoAdjust="0"/>
  </p:normalViewPr>
  <p:slideViewPr>
    <p:cSldViewPr>
      <p:cViewPr varScale="1">
        <p:scale>
          <a:sx n="138" d="100"/>
          <a:sy n="138" d="100"/>
        </p:scale>
        <p:origin x="189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326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4" Type="http://schemas.openxmlformats.org/officeDocument/2006/relationships/image" Target="../media/image4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AE555-3BD8-44AE-81B8-CEBC11108DA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0FF40-7AE5-4172-A97C-1AA3AC2F7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48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2274-0A50-4573-AC5E-2BA910662B6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9FC4-FF40-4120-8672-25457C595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1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89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7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46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52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7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61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81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70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69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27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31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92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18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89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88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87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97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94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41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99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3479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687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46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93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3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86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965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541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50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346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531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670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29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94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492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53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04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702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493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56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8263" y="914400"/>
            <a:ext cx="4179887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02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350" y="4352637"/>
            <a:ext cx="4770904" cy="3479512"/>
          </a:xfrm>
          <a:noFill/>
          <a:ln/>
        </p:spPr>
        <p:txBody>
          <a:bodyPr wrap="none" anchor="ctr"/>
          <a:lstStyle/>
          <a:p>
            <a:r>
              <a:rPr lang="en-US" dirty="0"/>
              <a:t>Step</a:t>
            </a:r>
            <a:r>
              <a:rPr lang="en-US" baseline="0" dirty="0"/>
              <a:t> 1: Translate a point that is on the plane to the origin</a:t>
            </a:r>
          </a:p>
          <a:p>
            <a:r>
              <a:rPr lang="en-US" baseline="0" dirty="0"/>
              <a:t>Step 2: Rotate the plane normal such that it coincides with a major axis (e.g. z-axis)</a:t>
            </a:r>
          </a:p>
          <a:p>
            <a:r>
              <a:rPr lang="en-US" baseline="0" dirty="0"/>
              <a:t>Step 3: Reflect the object over the </a:t>
            </a:r>
            <a:r>
              <a:rPr lang="en-US" baseline="0" dirty="0" err="1"/>
              <a:t>xy</a:t>
            </a:r>
            <a:r>
              <a:rPr lang="en-US" baseline="0" dirty="0"/>
              <a:t>-plane</a:t>
            </a:r>
          </a:p>
          <a:p>
            <a:r>
              <a:rPr lang="en-US" baseline="0" dirty="0"/>
              <a:t>Step 4: Undo step 2</a:t>
            </a:r>
          </a:p>
          <a:p>
            <a:r>
              <a:rPr lang="en-US" baseline="0" dirty="0"/>
              <a:t>Step 5: Undo step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1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6172D9E-D40C-4921-A5D6-20234A38FD0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1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DA0ECC-0B9E-44D9-8B45-8B8EFAF49D6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9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1E4E0F4-2DF6-4691-9C74-0F2D9863AED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0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FADABD2-FC94-43B4-B5D2-AD8E6A5AC720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1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C38A4BA-4B5A-4157-8538-B6927C280FAE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1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6C5F59-0154-4E3D-8618-2BDD310D5A33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7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41A3D-3BA6-4C14-83AA-4AD2B237B2E3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6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2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8.wmf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7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3.wmf"/><Relationship Id="rId5" Type="http://schemas.openxmlformats.org/officeDocument/2006/relationships/image" Target="../media/image46.png"/><Relationship Id="rId10" Type="http://schemas.openxmlformats.org/officeDocument/2006/relationships/oleObject" Target="../embeddings/oleObject40.bin"/><Relationship Id="rId4" Type="http://schemas.openxmlformats.org/officeDocument/2006/relationships/image" Target="../media/image45.png"/><Relationship Id="rId9" Type="http://schemas.openxmlformats.org/officeDocument/2006/relationships/image" Target="../media/image4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4.wmf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4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45.png"/><Relationship Id="rId9" Type="http://schemas.openxmlformats.org/officeDocument/2006/relationships/image" Target="../media/image5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4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1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72.png"/><Relationship Id="rId5" Type="http://schemas.openxmlformats.org/officeDocument/2006/relationships/image" Target="../media/image68.wmf"/><Relationship Id="rId10" Type="http://schemas.openxmlformats.org/officeDocument/2006/relationships/image" Target="../media/image71.png"/><Relationship Id="rId4" Type="http://schemas.openxmlformats.org/officeDocument/2006/relationships/oleObject" Target="../embeddings/oleObject55.bin"/><Relationship Id="rId9" Type="http://schemas.openxmlformats.org/officeDocument/2006/relationships/image" Target="../media/image7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68.wmf"/><Relationship Id="rId10" Type="http://schemas.openxmlformats.org/officeDocument/2006/relationships/image" Target="../media/image73.png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0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7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7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79.png"/><Relationship Id="rId12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5.png"/><Relationship Id="rId11" Type="http://schemas.openxmlformats.org/officeDocument/2006/relationships/image" Target="../media/image43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8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notesSlide" Target="../notesSlides/notesSlide38.xml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2.png"/><Relationship Id="rId5" Type="http://schemas.openxmlformats.org/officeDocument/2006/relationships/image" Target="../media/image45.png"/><Relationship Id="rId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85.wmf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88.png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7.png"/><Relationship Id="rId11" Type="http://schemas.openxmlformats.org/officeDocument/2006/relationships/image" Target="../media/image84.wmf"/><Relationship Id="rId5" Type="http://schemas.openxmlformats.org/officeDocument/2006/relationships/image" Target="../media/image45.png"/><Relationship Id="rId10" Type="http://schemas.openxmlformats.org/officeDocument/2006/relationships/oleObject" Target="../embeddings/oleObject67.bin"/><Relationship Id="rId4" Type="http://schemas.openxmlformats.org/officeDocument/2006/relationships/image" Target="../media/image86.png"/><Relationship Id="rId9" Type="http://schemas.openxmlformats.org/officeDocument/2006/relationships/image" Target="../media/image8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89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89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CENG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Modeling Transformations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2"/>
          <p:cNvSpPr>
            <a:spLocks noChangeShapeType="1"/>
          </p:cNvSpPr>
          <p:nvPr/>
        </p:nvSpPr>
        <p:spPr bwMode="auto">
          <a:xfrm>
            <a:off x="5557758" y="4635013"/>
            <a:ext cx="1199520" cy="14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Modeling Transformations</a:t>
            </a:r>
          </a:p>
        </p:txBody>
      </p:sp>
      <p:sp>
        <p:nvSpPr>
          <p:cNvPr id="58372" name="Rectangle 4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Model</a:t>
            </a:r>
            <a:r>
              <a:rPr lang="en-GB" dirty="0"/>
              <a:t> coordinates to </a:t>
            </a:r>
            <a:r>
              <a:rPr lang="en-GB" dirty="0">
                <a:solidFill>
                  <a:srgbClr val="C00000"/>
                </a:solidFill>
              </a:rPr>
              <a:t>World</a:t>
            </a:r>
            <a:r>
              <a:rPr lang="en-GB" dirty="0"/>
              <a:t> coordinates:</a:t>
            </a:r>
            <a:br>
              <a:rPr lang="en-GB" dirty="0"/>
            </a:br>
            <a:endParaRPr lang="en-GB" dirty="0"/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6564372" y="2533204"/>
            <a:ext cx="2311200" cy="125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b="1" dirty="0">
                <a:solidFill>
                  <a:srgbClr val="000000"/>
                </a:solidFill>
                <a:latin typeface="Verdana" pitchFamily="34" charset="0"/>
              </a:rPr>
              <a:t>World coordinates: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solidFill>
                  <a:srgbClr val="000000"/>
                </a:solidFill>
                <a:latin typeface="Verdana" pitchFamily="34" charset="0"/>
              </a:rPr>
              <a:t>All shapes with their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solidFill>
                  <a:srgbClr val="000000"/>
                </a:solidFill>
                <a:latin typeface="Verdana" pitchFamily="34" charset="0"/>
              </a:rPr>
              <a:t>absolute coordinates 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solidFill>
                  <a:srgbClr val="000000"/>
                </a:solidFill>
                <a:latin typeface="Verdana" pitchFamily="34" charset="0"/>
              </a:rPr>
              <a:t>and sizes.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endParaRPr lang="en-GB" sz="1600" dirty="0">
              <a:solidFill>
                <a:srgbClr val="000000"/>
              </a:solidFill>
              <a:latin typeface="Verdana" pitchFamily="34" charset="0"/>
            </a:endParaRPr>
          </a:p>
        </p:txBody>
      </p:sp>
      <p:cxnSp>
        <p:nvCxnSpPr>
          <p:cNvPr id="58375" name="AutoShape 7"/>
          <p:cNvCxnSpPr>
            <a:cxnSpLocks noChangeShapeType="1"/>
          </p:cNvCxnSpPr>
          <p:nvPr/>
        </p:nvCxnSpPr>
        <p:spPr bwMode="auto">
          <a:xfrm>
            <a:off x="3586559" y="2678545"/>
            <a:ext cx="1427680" cy="13327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</p:spPr>
      </p:cxnSp>
      <p:pic>
        <p:nvPicPr>
          <p:cNvPr id="5837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21277" y="4014308"/>
            <a:ext cx="904320" cy="904415"/>
          </a:xfrm>
          <a:prstGeom prst="rect">
            <a:avLst/>
          </a:prstGeom>
          <a:noFill/>
        </p:spPr>
      </p:pic>
      <p:pic>
        <p:nvPicPr>
          <p:cNvPr id="58377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07517" y="3822768"/>
            <a:ext cx="1041120" cy="650948"/>
          </a:xfrm>
          <a:prstGeom prst="rect">
            <a:avLst/>
          </a:prstGeom>
          <a:noFill/>
        </p:spPr>
      </p:pic>
      <p:pic>
        <p:nvPicPr>
          <p:cNvPr id="58378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79678" y="3325916"/>
            <a:ext cx="632160" cy="802164"/>
          </a:xfrm>
          <a:prstGeom prst="rect">
            <a:avLst/>
          </a:prstGeom>
          <a:noFill/>
        </p:spPr>
      </p:pic>
      <p:pic>
        <p:nvPicPr>
          <p:cNvPr id="5837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15837" y="4467955"/>
            <a:ext cx="227520" cy="247706"/>
          </a:xfrm>
          <a:prstGeom prst="rect">
            <a:avLst/>
          </a:prstGeom>
          <a:noFill/>
        </p:spPr>
      </p:pic>
      <p:pic>
        <p:nvPicPr>
          <p:cNvPr id="5838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42398" y="4411790"/>
            <a:ext cx="105120" cy="102250"/>
          </a:xfrm>
          <a:prstGeom prst="rect">
            <a:avLst/>
          </a:prstGeom>
          <a:noFill/>
        </p:spPr>
      </p:pic>
      <p:pic>
        <p:nvPicPr>
          <p:cNvPr id="58381" name="Picture 1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04478" y="4411790"/>
            <a:ext cx="105120" cy="102250"/>
          </a:xfrm>
          <a:prstGeom prst="rect">
            <a:avLst/>
          </a:prstGeom>
          <a:noFill/>
        </p:spPr>
      </p:pic>
      <p:sp>
        <p:nvSpPr>
          <p:cNvPr id="58382" name="Line 14"/>
          <p:cNvSpPr>
            <a:spLocks noChangeShapeType="1"/>
          </p:cNvSpPr>
          <p:nvPr/>
        </p:nvSpPr>
        <p:spPr bwMode="auto">
          <a:xfrm flipV="1">
            <a:off x="5557758" y="3547699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 flipH="1">
            <a:off x="4934237" y="4635014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4747037" y="5280201"/>
            <a:ext cx="4982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 err="1">
                <a:solidFill>
                  <a:srgbClr val="000000"/>
                </a:solidFill>
                <a:latin typeface="Nimbus Roman No9 L" pitchFamily="16" charset="0"/>
              </a:rPr>
              <a:t>z</a:t>
            </a:r>
            <a:r>
              <a:rPr lang="en-GB" i="1" baseline="-33000" dirty="0" err="1">
                <a:solidFill>
                  <a:srgbClr val="000000"/>
                </a:solidFill>
                <a:latin typeface="Nimbus Roman No9 L" pitchFamily="16" charset="0"/>
              </a:rPr>
              <a:t>world</a:t>
            </a:r>
            <a:endParaRPr lang="en-GB" i="1" baseline="-33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6587357" y="4669576"/>
            <a:ext cx="4982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 err="1">
                <a:solidFill>
                  <a:srgbClr val="000000"/>
                </a:solidFill>
                <a:latin typeface="Nimbus Roman No9 L" pitchFamily="16" charset="0"/>
              </a:rPr>
              <a:t>x</a:t>
            </a:r>
            <a:r>
              <a:rPr lang="en-GB" i="1" baseline="-33000" dirty="0" err="1">
                <a:solidFill>
                  <a:srgbClr val="000000"/>
                </a:solidFill>
                <a:latin typeface="Nimbus Roman No9 L" pitchFamily="16" charset="0"/>
              </a:rPr>
              <a:t>world</a:t>
            </a:r>
            <a:endParaRPr lang="en-GB" i="1" baseline="-33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5334557" y="3121414"/>
            <a:ext cx="4982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 err="1">
                <a:solidFill>
                  <a:srgbClr val="000000"/>
                </a:solidFill>
                <a:latin typeface="Nimbus Roman No9 L" pitchFamily="16" charset="0"/>
              </a:rPr>
              <a:t>y</a:t>
            </a:r>
            <a:r>
              <a:rPr lang="en-GB" i="1" baseline="-33000" dirty="0" err="1">
                <a:solidFill>
                  <a:srgbClr val="000000"/>
                </a:solidFill>
                <a:latin typeface="Nimbus Roman No9 L" pitchFamily="16" charset="0"/>
              </a:rPr>
              <a:t>world</a:t>
            </a:r>
            <a:endParaRPr lang="en-GB" i="1" baseline="-33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pic>
        <p:nvPicPr>
          <p:cNvPr id="58387" name="Picture 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10718" y="2271726"/>
            <a:ext cx="632160" cy="802164"/>
          </a:xfrm>
          <a:prstGeom prst="rect">
            <a:avLst/>
          </a:prstGeom>
          <a:noFill/>
        </p:spPr>
      </p:pic>
      <p:pic>
        <p:nvPicPr>
          <p:cNvPr id="58388" name="Picture 2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6958" y="2469026"/>
            <a:ext cx="1041120" cy="650948"/>
          </a:xfrm>
          <a:prstGeom prst="rect">
            <a:avLst/>
          </a:prstGeom>
          <a:noFill/>
        </p:spPr>
      </p:pic>
      <p:pic>
        <p:nvPicPr>
          <p:cNvPr id="58389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7597" y="2271725"/>
            <a:ext cx="904320" cy="904415"/>
          </a:xfrm>
          <a:prstGeom prst="rect">
            <a:avLst/>
          </a:prstGeom>
          <a:noFill/>
        </p:spPr>
      </p:pic>
      <p:pic>
        <p:nvPicPr>
          <p:cNvPr id="58390" name="Picture 2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85757" y="2794500"/>
            <a:ext cx="227520" cy="247706"/>
          </a:xfrm>
          <a:prstGeom prst="rect">
            <a:avLst/>
          </a:prstGeom>
          <a:noFill/>
        </p:spPr>
      </p:pic>
      <p:pic>
        <p:nvPicPr>
          <p:cNvPr id="58391" name="Picture 2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112638" y="2860747"/>
            <a:ext cx="105120" cy="102251"/>
          </a:xfrm>
          <a:prstGeom prst="rect">
            <a:avLst/>
          </a:prstGeom>
          <a:noFill/>
        </p:spPr>
      </p:pic>
      <p:pic>
        <p:nvPicPr>
          <p:cNvPr id="58392" name="Picture 2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43677" y="2860747"/>
            <a:ext cx="105120" cy="102251"/>
          </a:xfrm>
          <a:prstGeom prst="rect">
            <a:avLst/>
          </a:prstGeom>
          <a:noFill/>
        </p:spPr>
      </p:pic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759028" y="3336015"/>
            <a:ext cx="2311200" cy="125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b="1" dirty="0">
                <a:solidFill>
                  <a:srgbClr val="000000"/>
                </a:solidFill>
                <a:latin typeface="Verdana" pitchFamily="34" charset="0"/>
              </a:rPr>
              <a:t>Model coordinates: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solidFill>
                  <a:srgbClr val="000000"/>
                </a:solidFill>
                <a:latin typeface="Verdana" pitchFamily="34" charset="0"/>
              </a:rPr>
              <a:t>All shapes with their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solidFill>
                  <a:srgbClr val="000000"/>
                </a:solidFill>
                <a:latin typeface="Verdana" pitchFamily="34" charset="0"/>
              </a:rPr>
              <a:t>local coordinates 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solidFill>
                  <a:srgbClr val="000000"/>
                </a:solidFill>
                <a:latin typeface="Verdana" pitchFamily="34" charset="0"/>
              </a:rPr>
              <a:t>and sizes.</a:t>
            </a:r>
          </a:p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endParaRPr lang="en-GB" sz="16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7146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Basic Geometric Transformations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Used for </a:t>
            </a:r>
            <a:r>
              <a:rPr lang="en-GB" dirty="0" err="1"/>
              <a:t>modeling</a:t>
            </a:r>
            <a:r>
              <a:rPr lang="en-GB" dirty="0"/>
              <a:t>, animation as well as viewing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What to transform?</a:t>
            </a:r>
          </a:p>
          <a:p>
            <a:pPr lvl="1"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We typically transform the </a:t>
            </a:r>
            <a:r>
              <a:rPr lang="en-GB" dirty="0">
                <a:solidFill>
                  <a:srgbClr val="C00000"/>
                </a:solidFill>
              </a:rPr>
              <a:t>vertices </a:t>
            </a:r>
            <a:r>
              <a:rPr lang="en-GB" dirty="0"/>
              <a:t>(points) and </a:t>
            </a:r>
            <a:r>
              <a:rPr lang="en-GB" dirty="0">
                <a:solidFill>
                  <a:srgbClr val="C00000"/>
                </a:solidFill>
              </a:rPr>
              <a:t>vectors</a:t>
            </a:r>
            <a:r>
              <a:rPr lang="en-GB" dirty="0"/>
              <a:t> describing the shape (such as the surface normal)</a:t>
            </a:r>
          </a:p>
          <a:p>
            <a:pPr marL="457200" lvl="1" indent="0"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 marL="457200" lvl="1" indent="0"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 marL="457200" lvl="1" indent="0"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 marL="457200" lvl="1" indent="0"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This works due to the linearity of transformations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Some, but not all, transformations may preserve attributes like sizes, angles, ratios of the shape</a:t>
            </a:r>
            <a:endParaRPr lang="en-GB" sz="2200" dirty="0"/>
          </a:p>
        </p:txBody>
      </p:sp>
      <p:sp>
        <p:nvSpPr>
          <p:cNvPr id="2" name="Oval 1"/>
          <p:cNvSpPr/>
          <p:nvPr/>
        </p:nvSpPr>
        <p:spPr>
          <a:xfrm>
            <a:off x="2590800" y="3276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057400" y="3962400"/>
            <a:ext cx="152400" cy="1524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403860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2137272" y="3349128"/>
            <a:ext cx="528810" cy="70507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2126255" y="4043190"/>
            <a:ext cx="1002535" cy="6610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666082" y="3349128"/>
            <a:ext cx="462708" cy="7601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638800" y="3276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105400" y="3962400"/>
            <a:ext cx="152400" cy="1524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556872" y="346664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5185272" y="3349128"/>
            <a:ext cx="528810" cy="70507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177928" y="3547431"/>
            <a:ext cx="1454226" cy="4957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714082" y="3349128"/>
            <a:ext cx="918072" cy="19830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3657600" y="3542841"/>
            <a:ext cx="1066800" cy="2524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7510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Translation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Simply </a:t>
            </a:r>
            <a:r>
              <a:rPr lang="en-GB" dirty="0">
                <a:solidFill>
                  <a:srgbClr val="C00000"/>
                </a:solidFill>
              </a:rPr>
              <a:t>move</a:t>
            </a:r>
            <a:r>
              <a:rPr lang="en-GB" dirty="0"/>
              <a:t> the object to a relative position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616227"/>
              </p:ext>
            </p:extLst>
          </p:nvPr>
        </p:nvGraphicFramePr>
        <p:xfrm>
          <a:off x="990600" y="2438400"/>
          <a:ext cx="3631680" cy="279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Equation" r:id="rId4" imgW="1815840" imgH="1396800" progId="Equation.3">
                  <p:embed/>
                </p:oleObj>
              </mc:Choice>
              <mc:Fallback>
                <p:oleObj name="Equation" r:id="rId4" imgW="1815840" imgH="139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438400"/>
                        <a:ext cx="3631680" cy="279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Freeform 4"/>
          <p:cNvSpPr>
            <a:spLocks/>
          </p:cNvSpPr>
          <p:nvPr/>
        </p:nvSpPr>
        <p:spPr bwMode="auto">
          <a:xfrm>
            <a:off x="5983080" y="2141729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334441" y="2491686"/>
            <a:ext cx="624960" cy="403242"/>
            <a:chOff x="4491" y="1973"/>
            <a:chExt cx="434" cy="280"/>
          </a:xfrm>
        </p:grpSpPr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 flipV="1">
              <a:off x="4574" y="2025"/>
              <a:ext cx="351" cy="228"/>
            </a:xfrm>
            <a:prstGeom prst="line">
              <a:avLst/>
            </a:prstGeom>
            <a:noFill/>
            <a:ln w="18360">
              <a:solidFill>
                <a:srgbClr val="8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Text Box 8"/>
            <p:cNvSpPr txBox="1">
              <a:spLocks noChangeArrowheads="1"/>
            </p:cNvSpPr>
            <p:nvPr/>
          </p:nvSpPr>
          <p:spPr bwMode="auto">
            <a:xfrm rot="19620000">
              <a:off x="4491" y="1973"/>
              <a:ext cx="419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 anchorCtr="1">
              <a:spAutoFit/>
            </a:bodyPr>
            <a:lstStyle/>
            <a:p>
              <a:pPr algn="ctr" eaLnBrk="1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b="1" dirty="0">
                  <a:solidFill>
                    <a:srgbClr val="000000"/>
                  </a:solidFill>
                </a:rPr>
                <a:t>T</a:t>
              </a:r>
            </a:p>
          </p:txBody>
        </p:sp>
      </p:grpSp>
      <p:sp>
        <p:nvSpPr>
          <p:cNvPr id="10250" name="Freeform 10"/>
          <p:cNvSpPr>
            <a:spLocks/>
          </p:cNvSpPr>
          <p:nvPr/>
        </p:nvSpPr>
        <p:spPr bwMode="auto">
          <a:xfrm>
            <a:off x="5754120" y="4231389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251" name="Freeform 11"/>
          <p:cNvSpPr>
            <a:spLocks noChangeArrowheads="1"/>
          </p:cNvSpPr>
          <p:nvPr/>
        </p:nvSpPr>
        <p:spPr bwMode="auto">
          <a:xfrm>
            <a:off x="6027720" y="4867936"/>
            <a:ext cx="393120" cy="381640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0252" name="Freeform 12"/>
          <p:cNvSpPr>
            <a:spLocks noChangeArrowheads="1"/>
          </p:cNvSpPr>
          <p:nvPr/>
        </p:nvSpPr>
        <p:spPr bwMode="auto">
          <a:xfrm>
            <a:off x="6550441" y="4411407"/>
            <a:ext cx="393120" cy="381641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99CC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0254" name="Oval 14"/>
          <p:cNvSpPr>
            <a:spLocks noChangeArrowheads="1"/>
          </p:cNvSpPr>
          <p:nvPr/>
        </p:nvSpPr>
        <p:spPr bwMode="auto">
          <a:xfrm>
            <a:off x="6399240" y="2883407"/>
            <a:ext cx="64800" cy="66247"/>
          </a:xfrm>
          <a:prstGeom prst="ellipse">
            <a:avLst/>
          </a:prstGeom>
          <a:solidFill>
            <a:srgbClr val="00B8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0255" name="Oval 15"/>
          <p:cNvSpPr>
            <a:spLocks noChangeArrowheads="1"/>
          </p:cNvSpPr>
          <p:nvPr/>
        </p:nvSpPr>
        <p:spPr bwMode="auto">
          <a:xfrm>
            <a:off x="6921961" y="2530570"/>
            <a:ext cx="64800" cy="66247"/>
          </a:xfrm>
          <a:prstGeom prst="ellipse">
            <a:avLst/>
          </a:prstGeom>
          <a:solidFill>
            <a:srgbClr val="00B8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6184681" y="2880527"/>
            <a:ext cx="290942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b="1" dirty="0"/>
              <a:t>P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921961" y="2295826"/>
            <a:ext cx="345444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b="1" dirty="0"/>
              <a:t>P</a:t>
            </a:r>
            <a:r>
              <a:rPr lang="en-US" b="1" dirty="0">
                <a:cs typeface="Times New Roman" pitchFamily="18" charset="0"/>
              </a:rPr>
              <a:t>'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97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Rotation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A rotation is defined by a rotation </a:t>
            </a:r>
            <a:r>
              <a:rPr lang="en-GB" dirty="0">
                <a:solidFill>
                  <a:srgbClr val="C00000"/>
                </a:solidFill>
              </a:rPr>
              <a:t>axis</a:t>
            </a:r>
            <a:r>
              <a:rPr lang="en-GB" dirty="0"/>
              <a:t> and a rotation </a:t>
            </a:r>
            <a:r>
              <a:rPr lang="en-GB" dirty="0">
                <a:solidFill>
                  <a:srgbClr val="C00000"/>
                </a:solidFill>
              </a:rPr>
              <a:t>angle</a:t>
            </a:r>
            <a:r>
              <a:rPr lang="en-GB" dirty="0"/>
              <a:t> 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For 2D rotation, the parameters are rotation angle </a:t>
            </a:r>
            <a:r>
              <a:rPr lang="en-GB" dirty="0">
                <a:latin typeface="Times New Roman" pitchFamily="18" charset="0"/>
              </a:rPr>
              <a:t>(</a:t>
            </a:r>
            <a:r>
              <a:rPr lang="el-GR" i="1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GB" dirty="0">
                <a:latin typeface="Times New Roman" pitchFamily="18" charset="0"/>
              </a:rPr>
              <a:t>) </a:t>
            </a:r>
            <a:r>
              <a:rPr lang="en-GB" dirty="0"/>
              <a:t>and the rotation point </a:t>
            </a:r>
            <a:r>
              <a:rPr lang="en-GB" dirty="0">
                <a:latin typeface="Times New Roman" pitchFamily="18" charset="0"/>
              </a:rPr>
              <a:t>(</a:t>
            </a:r>
            <a:r>
              <a:rPr lang="en-GB" i="1" dirty="0" err="1">
                <a:latin typeface="Times New Roman" pitchFamily="18" charset="0"/>
              </a:rPr>
              <a:t>x</a:t>
            </a:r>
            <a:r>
              <a:rPr lang="en-GB" i="1" baseline="-25000" dirty="0" err="1">
                <a:latin typeface="Times New Roman" pitchFamily="18" charset="0"/>
              </a:rPr>
              <a:t>r</a:t>
            </a:r>
            <a:r>
              <a:rPr lang="en-GB" i="1" dirty="0">
                <a:latin typeface="Times New Roman" pitchFamily="18" charset="0"/>
              </a:rPr>
              <a:t>, </a:t>
            </a:r>
            <a:r>
              <a:rPr lang="en-GB" i="1" dirty="0" err="1">
                <a:latin typeface="Times New Roman" pitchFamily="18" charset="0"/>
              </a:rPr>
              <a:t>y</a:t>
            </a:r>
            <a:r>
              <a:rPr lang="en-GB" i="1" baseline="-25000" dirty="0" err="1">
                <a:latin typeface="Times New Roman" pitchFamily="18" charset="0"/>
              </a:rPr>
              <a:t>r</a:t>
            </a:r>
            <a:r>
              <a:rPr lang="en-GB" dirty="0">
                <a:latin typeface="Times New Roman" pitchFamily="18" charset="0"/>
              </a:rPr>
              <a:t>)</a:t>
            </a:r>
            <a:r>
              <a:rPr lang="en-GB" dirty="0"/>
              <a:t> 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We reposition the object in a circular path around the rotation point (pivot point)</a:t>
            </a:r>
            <a:br>
              <a:rPr lang="en-GB" dirty="0"/>
            </a:br>
            <a:endParaRPr lang="en-GB" dirty="0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2956320" y="4114800"/>
            <a:ext cx="2809440" cy="2001810"/>
            <a:chOff x="1542" y="3243"/>
            <a:chExt cx="1951" cy="1390"/>
          </a:xfrm>
        </p:grpSpPr>
        <p:sp>
          <p:nvSpPr>
            <p:cNvPr id="11284" name="Line 20"/>
            <p:cNvSpPr>
              <a:spLocks noChangeShapeType="1"/>
            </p:cNvSpPr>
            <p:nvPr/>
          </p:nvSpPr>
          <p:spPr bwMode="auto">
            <a:xfrm>
              <a:off x="1814" y="3243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Line 21"/>
            <p:cNvSpPr>
              <a:spLocks noChangeShapeType="1"/>
            </p:cNvSpPr>
            <p:nvPr/>
          </p:nvSpPr>
          <p:spPr bwMode="auto">
            <a:xfrm>
              <a:off x="1724" y="4377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Line 22"/>
            <p:cNvSpPr>
              <a:spLocks noChangeShapeType="1"/>
            </p:cNvSpPr>
            <p:nvPr/>
          </p:nvSpPr>
          <p:spPr bwMode="auto">
            <a:xfrm>
              <a:off x="2177" y="4331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24"/>
            <p:cNvSpPr>
              <a:spLocks noChangeShapeType="1"/>
            </p:cNvSpPr>
            <p:nvPr/>
          </p:nvSpPr>
          <p:spPr bwMode="auto">
            <a:xfrm>
              <a:off x="1769" y="4059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Oval 25"/>
            <p:cNvSpPr>
              <a:spLocks noChangeArrowheads="1"/>
            </p:cNvSpPr>
            <p:nvPr/>
          </p:nvSpPr>
          <p:spPr bwMode="auto">
            <a:xfrm>
              <a:off x="2145" y="4053"/>
              <a:ext cx="46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AutoShape 26"/>
            <p:cNvSpPr>
              <a:spLocks noChangeArrowheads="1"/>
            </p:cNvSpPr>
            <p:nvPr/>
          </p:nvSpPr>
          <p:spPr bwMode="auto">
            <a:xfrm rot="9519789">
              <a:off x="2585" y="3969"/>
              <a:ext cx="454" cy="137"/>
            </a:xfrm>
            <a:prstGeom prst="rtTriangl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>
              <a:off x="2177" y="405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Line 28"/>
            <p:cNvSpPr>
              <a:spLocks noChangeShapeType="1"/>
            </p:cNvSpPr>
            <p:nvPr/>
          </p:nvSpPr>
          <p:spPr bwMode="auto">
            <a:xfrm flipV="1">
              <a:off x="2177" y="3696"/>
              <a:ext cx="227" cy="3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Arc 29"/>
            <p:cNvSpPr>
              <a:spLocks/>
            </p:cNvSpPr>
            <p:nvPr/>
          </p:nvSpPr>
          <p:spPr bwMode="auto">
            <a:xfrm>
              <a:off x="2268" y="3923"/>
              <a:ext cx="91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Text Box 30"/>
            <p:cNvSpPr txBox="1">
              <a:spLocks noChangeArrowheads="1"/>
            </p:cNvSpPr>
            <p:nvPr/>
          </p:nvSpPr>
          <p:spPr bwMode="auto">
            <a:xfrm>
              <a:off x="2313" y="3833"/>
              <a:ext cx="211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>
                  <a:cs typeface="Times New Roman" pitchFamily="18" charset="0"/>
                </a:rPr>
                <a:t>a</a:t>
              </a:r>
              <a:endParaRPr lang="el-GR" i="1" dirty="0">
                <a:cs typeface="Times New Roman" pitchFamily="18" charset="0"/>
              </a:endParaRPr>
            </a:p>
          </p:txBody>
        </p:sp>
        <p:sp>
          <p:nvSpPr>
            <p:cNvPr id="11295" name="AutoShape 31"/>
            <p:cNvSpPr>
              <a:spLocks noChangeArrowheads="1"/>
            </p:cNvSpPr>
            <p:nvPr/>
          </p:nvSpPr>
          <p:spPr bwMode="auto">
            <a:xfrm rot="6240195">
              <a:off x="2291" y="3446"/>
              <a:ext cx="454" cy="137"/>
            </a:xfrm>
            <a:prstGeom prst="rtTriangl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7" name="Text Box 33"/>
            <p:cNvSpPr txBox="1">
              <a:spLocks noChangeArrowheads="1"/>
            </p:cNvSpPr>
            <p:nvPr/>
          </p:nvSpPr>
          <p:spPr bwMode="auto">
            <a:xfrm>
              <a:off x="2086" y="4377"/>
              <a:ext cx="238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 err="1">
                  <a:cs typeface="Times New Roman" pitchFamily="18" charset="0"/>
                </a:rPr>
                <a:t>x</a:t>
              </a:r>
              <a:r>
                <a:rPr lang="en-US" i="1" baseline="-25000" dirty="0" err="1">
                  <a:cs typeface="Times New Roman" pitchFamily="18" charset="0"/>
                </a:rPr>
                <a:t>r</a:t>
              </a:r>
              <a:endParaRPr lang="el-GR" i="1" baseline="-25000" dirty="0">
                <a:cs typeface="Times New Roman" pitchFamily="18" charset="0"/>
              </a:endParaRPr>
            </a:p>
          </p:txBody>
        </p:sp>
        <p:sp>
          <p:nvSpPr>
            <p:cNvPr id="11298" name="Text Box 34"/>
            <p:cNvSpPr txBox="1">
              <a:spLocks noChangeArrowheads="1"/>
            </p:cNvSpPr>
            <p:nvPr/>
          </p:nvSpPr>
          <p:spPr bwMode="auto">
            <a:xfrm>
              <a:off x="1542" y="3923"/>
              <a:ext cx="241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 dirty="0">
                  <a:cs typeface="Times New Roman" pitchFamily="18" charset="0"/>
                </a:rPr>
                <a:t>y</a:t>
              </a:r>
              <a:r>
                <a:rPr lang="en-US" i="1" baseline="-25000" dirty="0">
                  <a:cs typeface="Times New Roman" pitchFamily="18" charset="0"/>
                </a:rPr>
                <a:t>r</a:t>
              </a:r>
              <a:endParaRPr lang="el-GR" i="1" baseline="-25000" dirty="0">
                <a:cs typeface="Times New Roman" pitchFamily="18" charset="0"/>
              </a:endParaRPr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10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GB" dirty="0">
                <a:latin typeface="Times New Roman" pitchFamily="18" charset="0"/>
              </a:rPr>
              <a:t>(</a:t>
            </a:r>
            <a:r>
              <a:rPr lang="en-GB" i="1" dirty="0" err="1">
                <a:latin typeface="Times New Roman" pitchFamily="18" charset="0"/>
              </a:rPr>
              <a:t>x</a:t>
            </a:r>
            <a:r>
              <a:rPr lang="en-GB" i="1" baseline="-25000" dirty="0" err="1">
                <a:latin typeface="Times New Roman" pitchFamily="18" charset="0"/>
              </a:rPr>
              <a:t>r</a:t>
            </a:r>
            <a:r>
              <a:rPr lang="en-GB" i="1" dirty="0">
                <a:latin typeface="Times New Roman" pitchFamily="18" charset="0"/>
              </a:rPr>
              <a:t>, </a:t>
            </a:r>
            <a:r>
              <a:rPr lang="en-GB" i="1" dirty="0" err="1">
                <a:latin typeface="Times New Roman" pitchFamily="18" charset="0"/>
              </a:rPr>
              <a:t>y</a:t>
            </a:r>
            <a:r>
              <a:rPr lang="en-GB" i="1" baseline="-25000" dirty="0" err="1">
                <a:latin typeface="Times New Roman" pitchFamily="18" charset="0"/>
              </a:rPr>
              <a:t>r</a:t>
            </a:r>
            <a:r>
              <a:rPr lang="en-GB" dirty="0">
                <a:latin typeface="Times New Roman" pitchFamily="18" charset="0"/>
              </a:rPr>
              <a:t>)</a:t>
            </a:r>
            <a:r>
              <a:rPr lang="en-GB" dirty="0"/>
              <a:t>=</a:t>
            </a:r>
            <a:r>
              <a:rPr lang="en-GB" dirty="0">
                <a:latin typeface="Times New Roman" pitchFamily="18" charset="0"/>
              </a:rPr>
              <a:t>(</a:t>
            </a:r>
            <a:r>
              <a:rPr lang="en-GB" i="1" dirty="0">
                <a:latin typeface="Times New Roman" pitchFamily="18" charset="0"/>
              </a:rPr>
              <a:t>0,0</a:t>
            </a:r>
            <a:r>
              <a:rPr lang="en-GB" dirty="0">
                <a:latin typeface="Times New Roman" pitchFamily="18" charset="0"/>
              </a:rPr>
              <a:t>) </a:t>
            </a:r>
            <a:r>
              <a:rPr lang="en-GB" dirty="0"/>
              <a:t>we have:</a:t>
            </a:r>
            <a:endParaRPr lang="en-US" dirty="0"/>
          </a:p>
          <a:p>
            <a:endParaRPr lang="en-US" dirty="0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336000" y="1452095"/>
            <a:ext cx="1558080" cy="1242851"/>
            <a:chOff x="4466" y="1854"/>
            <a:chExt cx="1082" cy="863"/>
          </a:xfrm>
        </p:grpSpPr>
        <p:sp>
          <p:nvSpPr>
            <p:cNvPr id="134148" name="Freeform 4"/>
            <p:cNvSpPr>
              <a:spLocks/>
            </p:cNvSpPr>
            <p:nvPr/>
          </p:nvSpPr>
          <p:spPr bwMode="auto">
            <a:xfrm>
              <a:off x="4488" y="1854"/>
              <a:ext cx="1060" cy="8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51" name="Line 7"/>
            <p:cNvSpPr>
              <a:spLocks noChangeShapeType="1"/>
            </p:cNvSpPr>
            <p:nvPr/>
          </p:nvSpPr>
          <p:spPr bwMode="auto">
            <a:xfrm flipV="1">
              <a:off x="4488" y="2438"/>
              <a:ext cx="701" cy="2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4466" y="1963"/>
              <a:ext cx="349" cy="711"/>
              <a:chOff x="4466" y="1963"/>
              <a:chExt cx="349" cy="711"/>
            </a:xfrm>
          </p:grpSpPr>
          <p:sp>
            <p:nvSpPr>
              <p:cNvPr id="134153" name="Line 9"/>
              <p:cNvSpPr>
                <a:spLocks noChangeShapeType="1"/>
              </p:cNvSpPr>
              <p:nvPr/>
            </p:nvSpPr>
            <p:spPr bwMode="auto">
              <a:xfrm flipV="1">
                <a:off x="4488" y="2056"/>
                <a:ext cx="327" cy="6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54" name="Text Box 10"/>
              <p:cNvSpPr txBox="1">
                <a:spLocks noChangeArrowheads="1"/>
              </p:cNvSpPr>
              <p:nvPr/>
            </p:nvSpPr>
            <p:spPr bwMode="auto">
              <a:xfrm rot="17880000">
                <a:off x="4206" y="2223"/>
                <a:ext cx="700" cy="1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b" anchorCtr="1">
                <a:spAutoFit/>
              </a:bodyPr>
              <a:lstStyle/>
              <a:p>
                <a:pPr algn="ctr" eaLnBrk="1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StarSymbol" charset="0"/>
                  <a:buNone/>
                </a:pPr>
                <a:r>
                  <a:rPr lang="en-GB" i="1">
                    <a:solidFill>
                      <a:srgbClr val="000000"/>
                    </a:solidFill>
                  </a:rPr>
                  <a:t>r</a:t>
                </a:r>
              </a:p>
            </p:txBody>
          </p:sp>
        </p:grpSp>
        <p:sp>
          <p:nvSpPr>
            <p:cNvPr id="134155" name="Freeform 11"/>
            <p:cNvSpPr>
              <a:spLocks noChangeArrowheads="1"/>
            </p:cNvSpPr>
            <p:nvPr/>
          </p:nvSpPr>
          <p:spPr bwMode="auto">
            <a:xfrm>
              <a:off x="4737" y="2600"/>
              <a:ext cx="34" cy="81"/>
            </a:xfrm>
            <a:custGeom>
              <a:avLst/>
              <a:gdLst/>
              <a:ahLst/>
              <a:cxnLst>
                <a:cxn ang="0">
                  <a:pos x="150" y="357"/>
                </a:cxn>
                <a:cxn ang="0">
                  <a:pos x="144" y="332"/>
                </a:cxn>
                <a:cxn ang="0">
                  <a:pos x="138" y="307"/>
                </a:cxn>
                <a:cxn ang="0">
                  <a:pos x="131" y="282"/>
                </a:cxn>
                <a:cxn ang="0">
                  <a:pos x="123" y="257"/>
                </a:cxn>
                <a:cxn ang="0">
                  <a:pos x="115" y="232"/>
                </a:cxn>
                <a:cxn ang="0">
                  <a:pos x="106" y="208"/>
                </a:cxn>
                <a:cxn ang="0">
                  <a:pos x="97" y="184"/>
                </a:cxn>
                <a:cxn ang="0">
                  <a:pos x="86" y="160"/>
                </a:cxn>
                <a:cxn ang="0">
                  <a:pos x="76" y="136"/>
                </a:cxn>
                <a:cxn ang="0">
                  <a:pos x="64" y="113"/>
                </a:cxn>
                <a:cxn ang="0">
                  <a:pos x="53" y="89"/>
                </a:cxn>
                <a:cxn ang="0">
                  <a:pos x="40" y="67"/>
                </a:cxn>
                <a:cxn ang="0">
                  <a:pos x="27" y="44"/>
                </a:cxn>
                <a:cxn ang="0">
                  <a:pos x="14" y="22"/>
                </a:cxn>
                <a:cxn ang="0">
                  <a:pos x="0" y="0"/>
                </a:cxn>
              </a:cxnLst>
              <a:rect l="0" t="0" r="r" b="b"/>
              <a:pathLst>
                <a:path w="151" h="358">
                  <a:moveTo>
                    <a:pt x="150" y="357"/>
                  </a:moveTo>
                  <a:lnTo>
                    <a:pt x="144" y="332"/>
                  </a:lnTo>
                  <a:lnTo>
                    <a:pt x="138" y="307"/>
                  </a:lnTo>
                  <a:lnTo>
                    <a:pt x="131" y="282"/>
                  </a:lnTo>
                  <a:lnTo>
                    <a:pt x="123" y="257"/>
                  </a:lnTo>
                  <a:lnTo>
                    <a:pt x="115" y="232"/>
                  </a:lnTo>
                  <a:lnTo>
                    <a:pt x="106" y="208"/>
                  </a:lnTo>
                  <a:lnTo>
                    <a:pt x="97" y="184"/>
                  </a:lnTo>
                  <a:lnTo>
                    <a:pt x="86" y="160"/>
                  </a:lnTo>
                  <a:lnTo>
                    <a:pt x="76" y="136"/>
                  </a:lnTo>
                  <a:lnTo>
                    <a:pt x="64" y="113"/>
                  </a:lnTo>
                  <a:lnTo>
                    <a:pt x="53" y="89"/>
                  </a:lnTo>
                  <a:lnTo>
                    <a:pt x="40" y="67"/>
                  </a:lnTo>
                  <a:lnTo>
                    <a:pt x="27" y="44"/>
                  </a:lnTo>
                  <a:lnTo>
                    <a:pt x="14" y="2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56" name="Freeform 12"/>
            <p:cNvSpPr>
              <a:spLocks/>
            </p:cNvSpPr>
            <p:nvPr/>
          </p:nvSpPr>
          <p:spPr bwMode="auto">
            <a:xfrm>
              <a:off x="4635" y="2409"/>
              <a:ext cx="125" cy="176"/>
            </a:xfrm>
            <a:custGeom>
              <a:avLst/>
              <a:gdLst/>
              <a:ahLst/>
              <a:cxnLst>
                <a:cxn ang="0">
                  <a:pos x="552" y="775"/>
                </a:cxn>
                <a:cxn ang="0">
                  <a:pos x="544" y="721"/>
                </a:cxn>
                <a:cxn ang="0">
                  <a:pos x="532" y="667"/>
                </a:cxn>
                <a:cxn ang="0">
                  <a:pos x="518" y="614"/>
                </a:cxn>
                <a:cxn ang="0">
                  <a:pos x="500" y="562"/>
                </a:cxn>
                <a:cxn ang="0">
                  <a:pos x="480" y="510"/>
                </a:cxn>
                <a:cxn ang="0">
                  <a:pos x="457" y="460"/>
                </a:cxn>
                <a:cxn ang="0">
                  <a:pos x="432" y="412"/>
                </a:cxn>
                <a:cxn ang="0">
                  <a:pos x="404" y="364"/>
                </a:cxn>
                <a:cxn ang="0">
                  <a:pos x="373" y="319"/>
                </a:cxn>
                <a:cxn ang="0">
                  <a:pos x="340" y="275"/>
                </a:cxn>
                <a:cxn ang="0">
                  <a:pos x="304" y="233"/>
                </a:cxn>
                <a:cxn ang="0">
                  <a:pos x="267" y="193"/>
                </a:cxn>
                <a:cxn ang="0">
                  <a:pos x="227" y="155"/>
                </a:cxn>
                <a:cxn ang="0">
                  <a:pos x="185" y="119"/>
                </a:cxn>
                <a:cxn ang="0">
                  <a:pos x="141" y="86"/>
                </a:cxn>
                <a:cxn ang="0">
                  <a:pos x="96" y="54"/>
                </a:cxn>
                <a:cxn ang="0">
                  <a:pos x="49" y="26"/>
                </a:cxn>
                <a:cxn ang="0">
                  <a:pos x="0" y="0"/>
                </a:cxn>
              </a:cxnLst>
              <a:rect l="0" t="0" r="r" b="b"/>
              <a:pathLst>
                <a:path w="553" h="776">
                  <a:moveTo>
                    <a:pt x="552" y="775"/>
                  </a:moveTo>
                  <a:lnTo>
                    <a:pt x="544" y="721"/>
                  </a:lnTo>
                  <a:lnTo>
                    <a:pt x="532" y="667"/>
                  </a:lnTo>
                  <a:lnTo>
                    <a:pt x="518" y="614"/>
                  </a:lnTo>
                  <a:lnTo>
                    <a:pt x="500" y="562"/>
                  </a:lnTo>
                  <a:lnTo>
                    <a:pt x="480" y="510"/>
                  </a:lnTo>
                  <a:lnTo>
                    <a:pt x="457" y="460"/>
                  </a:lnTo>
                  <a:lnTo>
                    <a:pt x="432" y="412"/>
                  </a:lnTo>
                  <a:lnTo>
                    <a:pt x="404" y="364"/>
                  </a:lnTo>
                  <a:lnTo>
                    <a:pt x="373" y="319"/>
                  </a:lnTo>
                  <a:lnTo>
                    <a:pt x="340" y="275"/>
                  </a:lnTo>
                  <a:lnTo>
                    <a:pt x="304" y="233"/>
                  </a:lnTo>
                  <a:lnTo>
                    <a:pt x="267" y="193"/>
                  </a:lnTo>
                  <a:lnTo>
                    <a:pt x="227" y="155"/>
                  </a:lnTo>
                  <a:lnTo>
                    <a:pt x="185" y="119"/>
                  </a:lnTo>
                  <a:lnTo>
                    <a:pt x="141" y="86"/>
                  </a:lnTo>
                  <a:lnTo>
                    <a:pt x="96" y="54"/>
                  </a:lnTo>
                  <a:lnTo>
                    <a:pt x="49" y="2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4157" name="Object 13"/>
            <p:cNvGraphicFramePr>
              <a:graphicFrameLocks noChangeAspect="1"/>
            </p:cNvGraphicFramePr>
            <p:nvPr/>
          </p:nvGraphicFramePr>
          <p:xfrm>
            <a:off x="4838" y="2520"/>
            <a:ext cx="16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017" r:id="rId3" imgW="257040" imgH="314280" progId="Equation.3">
                    <p:embed/>
                  </p:oleObj>
                </mc:Choice>
                <mc:Fallback>
                  <p:oleObj r:id="rId3" imgW="257040" imgH="314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8" y="2520"/>
                          <a:ext cx="162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158" name="Object 14"/>
            <p:cNvGraphicFramePr>
              <a:graphicFrameLocks noChangeAspect="1"/>
            </p:cNvGraphicFramePr>
            <p:nvPr/>
          </p:nvGraphicFramePr>
          <p:xfrm>
            <a:off x="4730" y="2310"/>
            <a:ext cx="13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018" r:id="rId5" imgW="209520" imgH="314280" progId="Equation.3">
                    <p:embed/>
                  </p:oleObj>
                </mc:Choice>
                <mc:Fallback>
                  <p:oleObj r:id="rId5" imgW="209520" imgH="314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" y="2310"/>
                          <a:ext cx="132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159" name="Oval 15"/>
            <p:cNvSpPr>
              <a:spLocks noChangeArrowheads="1"/>
            </p:cNvSpPr>
            <p:nvPr/>
          </p:nvSpPr>
          <p:spPr bwMode="auto">
            <a:xfrm>
              <a:off x="4808" y="2018"/>
              <a:ext cx="46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0" name="Oval 16"/>
            <p:cNvSpPr>
              <a:spLocks noChangeArrowheads="1"/>
            </p:cNvSpPr>
            <p:nvPr/>
          </p:nvSpPr>
          <p:spPr bwMode="auto">
            <a:xfrm>
              <a:off x="5171" y="2426"/>
              <a:ext cx="46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1" name="Text Box 17"/>
            <p:cNvSpPr txBox="1">
              <a:spLocks noChangeArrowheads="1"/>
            </p:cNvSpPr>
            <p:nvPr/>
          </p:nvSpPr>
          <p:spPr bwMode="auto">
            <a:xfrm>
              <a:off x="5171" y="2290"/>
              <a:ext cx="214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  <p:sp>
          <p:nvSpPr>
            <p:cNvPr id="134162" name="Text Box 18"/>
            <p:cNvSpPr txBox="1">
              <a:spLocks noChangeArrowheads="1"/>
            </p:cNvSpPr>
            <p:nvPr/>
          </p:nvSpPr>
          <p:spPr bwMode="auto">
            <a:xfrm>
              <a:off x="4808" y="1882"/>
              <a:ext cx="252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/>
                <a:t>P</a:t>
              </a:r>
              <a:r>
                <a:rPr lang="en-US" b="1" dirty="0">
                  <a:cs typeface="Times New Roman" pitchFamily="18" charset="0"/>
                </a:rPr>
                <a:t>'</a:t>
              </a:r>
            </a:p>
          </p:txBody>
        </p:sp>
      </p:grpSp>
      <p:graphicFrame>
        <p:nvGraphicFramePr>
          <p:cNvPr id="13416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401169"/>
              </p:ext>
            </p:extLst>
          </p:nvPr>
        </p:nvGraphicFramePr>
        <p:xfrm>
          <a:off x="904560" y="2161884"/>
          <a:ext cx="4886640" cy="787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19" name="Equation" r:id="rId7" imgW="2679480" imgH="431640" progId="Equation.3">
                  <p:embed/>
                </p:oleObj>
              </mc:Choice>
              <mc:Fallback>
                <p:oleObj name="Equation" r:id="rId7" imgW="2679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560" y="2161884"/>
                        <a:ext cx="4886640" cy="7873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826996"/>
              </p:ext>
            </p:extLst>
          </p:nvPr>
        </p:nvGraphicFramePr>
        <p:xfrm>
          <a:off x="4975034" y="3089532"/>
          <a:ext cx="1296728" cy="83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0" name="Equation" r:id="rId9" imgW="672840" imgH="431640" progId="Equation.3">
                  <p:embed/>
                </p:oleObj>
              </mc:Choice>
              <mc:Fallback>
                <p:oleObj name="Equation" r:id="rId9" imgW="672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034" y="3089532"/>
                        <a:ext cx="1296728" cy="83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6" name="Text Box 22"/>
          <p:cNvSpPr txBox="1">
            <a:spLocks noChangeArrowheads="1"/>
          </p:cNvSpPr>
          <p:nvPr/>
        </p:nvSpPr>
        <p:spPr bwMode="auto">
          <a:xfrm>
            <a:off x="706755" y="3183097"/>
            <a:ext cx="4072425" cy="4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sz="2400" dirty="0"/>
              <a:t>The original coordinates are:</a:t>
            </a:r>
          </a:p>
        </p:txBody>
      </p:sp>
      <p:graphicFrame>
        <p:nvGraphicFramePr>
          <p:cNvPr id="13416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427901"/>
              </p:ext>
            </p:extLst>
          </p:nvPr>
        </p:nvGraphicFramePr>
        <p:xfrm>
          <a:off x="4982127" y="4215383"/>
          <a:ext cx="2256873" cy="775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1" name="Equation" r:id="rId11" imgW="1257120" imgH="431640" progId="Equation.3">
                  <p:embed/>
                </p:oleObj>
              </mc:Choice>
              <mc:Fallback>
                <p:oleObj name="Equation" r:id="rId11" imgW="1257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2127" y="4215383"/>
                        <a:ext cx="2256873" cy="7750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9" name="Text Box 25"/>
          <p:cNvSpPr txBox="1">
            <a:spLocks noChangeArrowheads="1"/>
          </p:cNvSpPr>
          <p:nvPr/>
        </p:nvSpPr>
        <p:spPr bwMode="auto">
          <a:xfrm>
            <a:off x="670265" y="4193473"/>
            <a:ext cx="3469696" cy="822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sz="2400" dirty="0"/>
              <a:t>Substituting them in the </a:t>
            </a:r>
          </a:p>
          <a:p>
            <a:r>
              <a:rPr lang="en-US" sz="2400" dirty="0"/>
              <a:t>first equation we get:</a:t>
            </a:r>
          </a:p>
        </p:txBody>
      </p:sp>
      <p:sp>
        <p:nvSpPr>
          <p:cNvPr id="134170" name="Text Box 26"/>
          <p:cNvSpPr txBox="1">
            <a:spLocks noChangeArrowheads="1"/>
          </p:cNvSpPr>
          <p:nvPr/>
        </p:nvSpPr>
        <p:spPr bwMode="auto">
          <a:xfrm>
            <a:off x="627174" y="5180151"/>
            <a:ext cx="3878462" cy="4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sz="2400" dirty="0"/>
              <a:t>In the matrix form we have:</a:t>
            </a:r>
          </a:p>
        </p:txBody>
      </p:sp>
      <p:graphicFrame>
        <p:nvGraphicFramePr>
          <p:cNvPr id="1341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009394"/>
              </p:ext>
            </p:extLst>
          </p:nvPr>
        </p:nvGraphicFramePr>
        <p:xfrm>
          <a:off x="4958257" y="5173009"/>
          <a:ext cx="1437120" cy="38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2" name="Equation" r:id="rId13" imgW="622080" imgH="164880" progId="Equation.3">
                  <p:embed/>
                </p:oleObj>
              </mc:Choice>
              <mc:Fallback>
                <p:oleObj name="Equation" r:id="rId13" imgW="6220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8257" y="5173009"/>
                        <a:ext cx="1437120" cy="3816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405378"/>
              </p:ext>
            </p:extLst>
          </p:nvPr>
        </p:nvGraphicFramePr>
        <p:xfrm>
          <a:off x="4986051" y="5606341"/>
          <a:ext cx="2221920" cy="783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3" name="Equation" r:id="rId15" imgW="1295280" imgH="457200" progId="Equation.3">
                  <p:embed/>
                </p:oleObj>
              </mc:Choice>
              <mc:Fallback>
                <p:oleObj name="Equation" r:id="rId15" imgW="1295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051" y="5606341"/>
                        <a:ext cx="2221920" cy="7834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5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Rotation around an arbitrary point </a:t>
            </a:r>
            <a:r>
              <a:rPr lang="en-GB" dirty="0">
                <a:latin typeface="Times New Roman" pitchFamily="18" charset="0"/>
              </a:rPr>
              <a:t>(</a:t>
            </a:r>
            <a:r>
              <a:rPr lang="en-GB" i="1" dirty="0" err="1">
                <a:latin typeface="Times New Roman" pitchFamily="18" charset="0"/>
              </a:rPr>
              <a:t>x</a:t>
            </a:r>
            <a:r>
              <a:rPr lang="en-GB" i="1" baseline="-25000" dirty="0" err="1">
                <a:latin typeface="Times New Roman" pitchFamily="18" charset="0"/>
              </a:rPr>
              <a:t>r</a:t>
            </a:r>
            <a:r>
              <a:rPr lang="en-GB" i="1" dirty="0">
                <a:latin typeface="Times New Roman" pitchFamily="18" charset="0"/>
              </a:rPr>
              <a:t>, </a:t>
            </a:r>
            <a:r>
              <a:rPr lang="en-GB" i="1" dirty="0" err="1">
                <a:latin typeface="Times New Roman" pitchFamily="18" charset="0"/>
              </a:rPr>
              <a:t>y</a:t>
            </a:r>
            <a:r>
              <a:rPr lang="en-GB" i="1" baseline="-25000" dirty="0" err="1">
                <a:latin typeface="Times New Roman" pitchFamily="18" charset="0"/>
              </a:rPr>
              <a:t>r</a:t>
            </a:r>
            <a:r>
              <a:rPr lang="en-GB" dirty="0">
                <a:latin typeface="Times New Roman" pitchFamily="18" charset="0"/>
              </a:rPr>
              <a:t>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equations can be written as matrix operations (we will see when we discuss homogeneous coordinates)</a:t>
            </a:r>
          </a:p>
        </p:txBody>
      </p:sp>
      <p:sp>
        <p:nvSpPr>
          <p:cNvPr id="135173" name="Freeform 5"/>
          <p:cNvSpPr>
            <a:spLocks/>
          </p:cNvSpPr>
          <p:nvPr/>
        </p:nvSpPr>
        <p:spPr bwMode="auto">
          <a:xfrm>
            <a:off x="7184160" y="2318644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03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 flipV="1">
            <a:off x="7174081" y="3168333"/>
            <a:ext cx="989280" cy="3312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142401" y="2475621"/>
            <a:ext cx="502560" cy="1023948"/>
            <a:chOff x="4466" y="1963"/>
            <a:chExt cx="349" cy="711"/>
          </a:xfrm>
        </p:grpSpPr>
        <p:sp>
          <p:nvSpPr>
            <p:cNvPr id="135176" name="Line 8"/>
            <p:cNvSpPr>
              <a:spLocks noChangeShapeType="1"/>
            </p:cNvSpPr>
            <p:nvPr/>
          </p:nvSpPr>
          <p:spPr bwMode="auto">
            <a:xfrm flipV="1">
              <a:off x="4488" y="2056"/>
              <a:ext cx="327" cy="6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177" name="Text Box 9"/>
            <p:cNvSpPr txBox="1">
              <a:spLocks noChangeArrowheads="1"/>
            </p:cNvSpPr>
            <p:nvPr/>
          </p:nvSpPr>
          <p:spPr bwMode="auto">
            <a:xfrm rot="17880000">
              <a:off x="4206" y="2223"/>
              <a:ext cx="700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 anchorCtr="1">
              <a:spAutoFit/>
            </a:bodyPr>
            <a:lstStyle/>
            <a:p>
              <a:pPr algn="ctr" eaLnBrk="1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</a:rPr>
                <a:t>r</a:t>
              </a:r>
            </a:p>
          </p:txBody>
        </p:sp>
      </p:grpSp>
      <p:sp>
        <p:nvSpPr>
          <p:cNvPr id="135178" name="Freeform 10"/>
          <p:cNvSpPr>
            <a:spLocks noChangeArrowheads="1"/>
          </p:cNvSpPr>
          <p:nvPr/>
        </p:nvSpPr>
        <p:spPr bwMode="auto">
          <a:xfrm>
            <a:off x="7532641" y="3392996"/>
            <a:ext cx="48960" cy="116653"/>
          </a:xfrm>
          <a:custGeom>
            <a:avLst/>
            <a:gdLst/>
            <a:ahLst/>
            <a:cxnLst>
              <a:cxn ang="0">
                <a:pos x="150" y="357"/>
              </a:cxn>
              <a:cxn ang="0">
                <a:pos x="144" y="332"/>
              </a:cxn>
              <a:cxn ang="0">
                <a:pos x="138" y="307"/>
              </a:cxn>
              <a:cxn ang="0">
                <a:pos x="131" y="282"/>
              </a:cxn>
              <a:cxn ang="0">
                <a:pos x="123" y="257"/>
              </a:cxn>
              <a:cxn ang="0">
                <a:pos x="115" y="232"/>
              </a:cxn>
              <a:cxn ang="0">
                <a:pos x="106" y="208"/>
              </a:cxn>
              <a:cxn ang="0">
                <a:pos x="97" y="184"/>
              </a:cxn>
              <a:cxn ang="0">
                <a:pos x="86" y="160"/>
              </a:cxn>
              <a:cxn ang="0">
                <a:pos x="76" y="136"/>
              </a:cxn>
              <a:cxn ang="0">
                <a:pos x="64" y="113"/>
              </a:cxn>
              <a:cxn ang="0">
                <a:pos x="53" y="89"/>
              </a:cxn>
              <a:cxn ang="0">
                <a:pos x="40" y="67"/>
              </a:cxn>
              <a:cxn ang="0">
                <a:pos x="27" y="44"/>
              </a:cxn>
              <a:cxn ang="0">
                <a:pos x="14" y="22"/>
              </a:cxn>
              <a:cxn ang="0">
                <a:pos x="0" y="0"/>
              </a:cxn>
            </a:cxnLst>
            <a:rect l="0" t="0" r="r" b="b"/>
            <a:pathLst>
              <a:path w="151" h="358">
                <a:moveTo>
                  <a:pt x="150" y="357"/>
                </a:moveTo>
                <a:lnTo>
                  <a:pt x="144" y="332"/>
                </a:lnTo>
                <a:lnTo>
                  <a:pt x="138" y="307"/>
                </a:lnTo>
                <a:lnTo>
                  <a:pt x="131" y="282"/>
                </a:lnTo>
                <a:lnTo>
                  <a:pt x="123" y="257"/>
                </a:lnTo>
                <a:lnTo>
                  <a:pt x="115" y="232"/>
                </a:lnTo>
                <a:lnTo>
                  <a:pt x="106" y="208"/>
                </a:lnTo>
                <a:lnTo>
                  <a:pt x="97" y="184"/>
                </a:lnTo>
                <a:lnTo>
                  <a:pt x="86" y="160"/>
                </a:lnTo>
                <a:lnTo>
                  <a:pt x="76" y="136"/>
                </a:lnTo>
                <a:lnTo>
                  <a:pt x="64" y="113"/>
                </a:lnTo>
                <a:lnTo>
                  <a:pt x="53" y="89"/>
                </a:lnTo>
                <a:lnTo>
                  <a:pt x="40" y="67"/>
                </a:lnTo>
                <a:lnTo>
                  <a:pt x="27" y="44"/>
                </a:lnTo>
                <a:lnTo>
                  <a:pt x="14" y="2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35179" name="Freeform 11"/>
          <p:cNvSpPr>
            <a:spLocks/>
          </p:cNvSpPr>
          <p:nvPr/>
        </p:nvSpPr>
        <p:spPr bwMode="auto">
          <a:xfrm>
            <a:off x="7385761" y="3117928"/>
            <a:ext cx="180000" cy="253467"/>
          </a:xfrm>
          <a:custGeom>
            <a:avLst/>
            <a:gdLst/>
            <a:ahLst/>
            <a:cxnLst>
              <a:cxn ang="0">
                <a:pos x="552" y="775"/>
              </a:cxn>
              <a:cxn ang="0">
                <a:pos x="544" y="721"/>
              </a:cxn>
              <a:cxn ang="0">
                <a:pos x="532" y="667"/>
              </a:cxn>
              <a:cxn ang="0">
                <a:pos x="518" y="614"/>
              </a:cxn>
              <a:cxn ang="0">
                <a:pos x="500" y="562"/>
              </a:cxn>
              <a:cxn ang="0">
                <a:pos x="480" y="510"/>
              </a:cxn>
              <a:cxn ang="0">
                <a:pos x="457" y="460"/>
              </a:cxn>
              <a:cxn ang="0">
                <a:pos x="432" y="412"/>
              </a:cxn>
              <a:cxn ang="0">
                <a:pos x="404" y="364"/>
              </a:cxn>
              <a:cxn ang="0">
                <a:pos x="373" y="319"/>
              </a:cxn>
              <a:cxn ang="0">
                <a:pos x="340" y="275"/>
              </a:cxn>
              <a:cxn ang="0">
                <a:pos x="304" y="233"/>
              </a:cxn>
              <a:cxn ang="0">
                <a:pos x="267" y="193"/>
              </a:cxn>
              <a:cxn ang="0">
                <a:pos x="227" y="155"/>
              </a:cxn>
              <a:cxn ang="0">
                <a:pos x="185" y="119"/>
              </a:cxn>
              <a:cxn ang="0">
                <a:pos x="141" y="86"/>
              </a:cxn>
              <a:cxn ang="0">
                <a:pos x="96" y="54"/>
              </a:cxn>
              <a:cxn ang="0">
                <a:pos x="49" y="26"/>
              </a:cxn>
              <a:cxn ang="0">
                <a:pos x="0" y="0"/>
              </a:cxn>
            </a:cxnLst>
            <a:rect l="0" t="0" r="r" b="b"/>
            <a:pathLst>
              <a:path w="553" h="776">
                <a:moveTo>
                  <a:pt x="552" y="775"/>
                </a:moveTo>
                <a:lnTo>
                  <a:pt x="544" y="721"/>
                </a:lnTo>
                <a:lnTo>
                  <a:pt x="532" y="667"/>
                </a:lnTo>
                <a:lnTo>
                  <a:pt x="518" y="614"/>
                </a:lnTo>
                <a:lnTo>
                  <a:pt x="500" y="562"/>
                </a:lnTo>
                <a:lnTo>
                  <a:pt x="480" y="510"/>
                </a:lnTo>
                <a:lnTo>
                  <a:pt x="457" y="460"/>
                </a:lnTo>
                <a:lnTo>
                  <a:pt x="432" y="412"/>
                </a:lnTo>
                <a:lnTo>
                  <a:pt x="404" y="364"/>
                </a:lnTo>
                <a:lnTo>
                  <a:pt x="373" y="319"/>
                </a:lnTo>
                <a:lnTo>
                  <a:pt x="340" y="275"/>
                </a:lnTo>
                <a:lnTo>
                  <a:pt x="304" y="233"/>
                </a:lnTo>
                <a:lnTo>
                  <a:pt x="267" y="193"/>
                </a:lnTo>
                <a:lnTo>
                  <a:pt x="227" y="155"/>
                </a:lnTo>
                <a:lnTo>
                  <a:pt x="185" y="119"/>
                </a:lnTo>
                <a:lnTo>
                  <a:pt x="141" y="86"/>
                </a:lnTo>
                <a:lnTo>
                  <a:pt x="96" y="54"/>
                </a:lnTo>
                <a:lnTo>
                  <a:pt x="49" y="2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graphicFrame>
        <p:nvGraphicFramePr>
          <p:cNvPr id="135180" name="Object 12"/>
          <p:cNvGraphicFramePr>
            <a:graphicFrameLocks noChangeAspect="1"/>
          </p:cNvGraphicFramePr>
          <p:nvPr/>
        </p:nvGraphicFramePr>
        <p:xfrm>
          <a:off x="7678080" y="3277784"/>
          <a:ext cx="233280" cy="28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17" r:id="rId3" imgW="257040" imgH="314280" progId="Equation.3">
                  <p:embed/>
                </p:oleObj>
              </mc:Choice>
              <mc:Fallback>
                <p:oleObj r:id="rId3" imgW="257040" imgH="314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080" y="3277784"/>
                        <a:ext cx="233280" cy="2837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1" name="Object 13"/>
          <p:cNvGraphicFramePr>
            <a:graphicFrameLocks noChangeAspect="1"/>
          </p:cNvGraphicFramePr>
          <p:nvPr/>
        </p:nvGraphicFramePr>
        <p:xfrm>
          <a:off x="7522560" y="2975352"/>
          <a:ext cx="190080" cy="28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18" r:id="rId5" imgW="209520" imgH="314280" progId="Equation.3">
                  <p:embed/>
                </p:oleObj>
              </mc:Choice>
              <mc:Fallback>
                <p:oleObj r:id="rId5" imgW="209520" imgH="314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560" y="2975352"/>
                        <a:ext cx="190080" cy="2837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2" name="Oval 14"/>
          <p:cNvSpPr>
            <a:spLocks noChangeArrowheads="1"/>
          </p:cNvSpPr>
          <p:nvPr/>
        </p:nvSpPr>
        <p:spPr bwMode="auto">
          <a:xfrm>
            <a:off x="7634880" y="2554828"/>
            <a:ext cx="66240" cy="648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35183" name="Oval 15"/>
          <p:cNvSpPr>
            <a:spLocks noChangeArrowheads="1"/>
          </p:cNvSpPr>
          <p:nvPr/>
        </p:nvSpPr>
        <p:spPr bwMode="auto">
          <a:xfrm>
            <a:off x="8157601" y="3142410"/>
            <a:ext cx="66240" cy="648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35184" name="Text Box 16"/>
          <p:cNvSpPr txBox="1">
            <a:spLocks noChangeArrowheads="1"/>
          </p:cNvSpPr>
          <p:nvPr/>
        </p:nvSpPr>
        <p:spPr bwMode="auto">
          <a:xfrm>
            <a:off x="8228160" y="2972472"/>
            <a:ext cx="290942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b="1" dirty="0"/>
              <a:t>P</a:t>
            </a:r>
          </a:p>
        </p:txBody>
      </p:sp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7634880" y="2358968"/>
            <a:ext cx="345444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b="1" dirty="0"/>
              <a:t>P</a:t>
            </a:r>
            <a:r>
              <a:rPr lang="en-US" b="1" dirty="0">
                <a:cs typeface="Times New Roman" pitchFamily="18" charset="0"/>
              </a:rPr>
              <a:t>'</a:t>
            </a:r>
          </a:p>
        </p:txBody>
      </p:sp>
      <p:graphicFrame>
        <p:nvGraphicFramePr>
          <p:cNvPr id="1351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066788"/>
              </p:ext>
            </p:extLst>
          </p:nvPr>
        </p:nvGraphicFramePr>
        <p:xfrm>
          <a:off x="1048922" y="2624677"/>
          <a:ext cx="4512960" cy="902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19" name="Equation" r:id="rId7" imgW="2286000" imgH="457200" progId="Equation.3">
                  <p:embed/>
                </p:oleObj>
              </mc:Choice>
              <mc:Fallback>
                <p:oleObj name="Equation" r:id="rId7" imgW="2286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922" y="2624677"/>
                        <a:ext cx="4512960" cy="902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95" name="Text Box 27"/>
          <p:cNvSpPr txBox="1">
            <a:spLocks noChangeArrowheads="1"/>
          </p:cNvSpPr>
          <p:nvPr/>
        </p:nvSpPr>
        <p:spPr bwMode="auto">
          <a:xfrm>
            <a:off x="6726241" y="3429000"/>
            <a:ext cx="662517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(</a:t>
            </a:r>
            <a:r>
              <a:rPr lang="en-GB" i="1" dirty="0" err="1">
                <a:solidFill>
                  <a:srgbClr val="000000"/>
                </a:solidFill>
              </a:rPr>
              <a:t>x</a:t>
            </a:r>
            <a:r>
              <a:rPr lang="en-GB" i="1" baseline="-25000" dirty="0" err="1">
                <a:solidFill>
                  <a:srgbClr val="000000"/>
                </a:solidFill>
              </a:rPr>
              <a:t>r</a:t>
            </a:r>
            <a:r>
              <a:rPr lang="en-GB" i="1" dirty="0" err="1">
                <a:solidFill>
                  <a:srgbClr val="000000"/>
                </a:solidFill>
              </a:rPr>
              <a:t>,y</a:t>
            </a:r>
            <a:r>
              <a:rPr lang="en-GB" i="1" baseline="-25000" dirty="0" err="1">
                <a:solidFill>
                  <a:srgbClr val="000000"/>
                </a:solidFill>
              </a:rPr>
              <a:t>r</a:t>
            </a:r>
            <a:r>
              <a:rPr lang="en-GB" dirty="0">
                <a:solidFill>
                  <a:srgbClr val="000000"/>
                </a:solidFill>
              </a:rPr>
              <a:t>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5196" name="Oval 28"/>
          <p:cNvSpPr>
            <a:spLocks noChangeArrowheads="1"/>
          </p:cNvSpPr>
          <p:nvPr/>
        </p:nvSpPr>
        <p:spPr bwMode="auto">
          <a:xfrm>
            <a:off x="7117921" y="3495248"/>
            <a:ext cx="66240" cy="6480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35197" name="Freeform 29"/>
          <p:cNvSpPr>
            <a:spLocks/>
          </p:cNvSpPr>
          <p:nvPr/>
        </p:nvSpPr>
        <p:spPr bwMode="auto">
          <a:xfrm>
            <a:off x="6400801" y="2187591"/>
            <a:ext cx="2220480" cy="182899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03">
            <a:solidFill>
              <a:srgbClr val="000000"/>
            </a:solidFill>
            <a:round/>
            <a:headEnd type="arrow" w="med" len="med"/>
            <a:tailEnd type="arrow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59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Scaling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Changes the size of an object 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Input: scaling factors </a:t>
            </a:r>
            <a:r>
              <a:rPr lang="en-GB" dirty="0">
                <a:latin typeface="Times New Roman" pitchFamily="18" charset="0"/>
              </a:rPr>
              <a:t>(</a:t>
            </a:r>
            <a:r>
              <a:rPr lang="en-GB" i="1" dirty="0" err="1">
                <a:latin typeface="Times New Roman" pitchFamily="18" charset="0"/>
              </a:rPr>
              <a:t>s</a:t>
            </a:r>
            <a:r>
              <a:rPr lang="en-GB" i="1" baseline="-25000" dirty="0" err="1">
                <a:latin typeface="Times New Roman" pitchFamily="18" charset="0"/>
              </a:rPr>
              <a:t>x</a:t>
            </a:r>
            <a:r>
              <a:rPr lang="en-GB" i="1" dirty="0">
                <a:latin typeface="Times New Roman" pitchFamily="18" charset="0"/>
              </a:rPr>
              <a:t>, </a:t>
            </a:r>
            <a:r>
              <a:rPr lang="en-GB" i="1" dirty="0" err="1">
                <a:latin typeface="Times New Roman" pitchFamily="18" charset="0"/>
              </a:rPr>
              <a:t>s</a:t>
            </a:r>
            <a:r>
              <a:rPr lang="en-GB" i="1" baseline="-25000" dirty="0" err="1">
                <a:latin typeface="Times New Roman" pitchFamily="18" charset="0"/>
              </a:rPr>
              <a:t>y</a:t>
            </a:r>
            <a:r>
              <a:rPr lang="en-GB" dirty="0">
                <a:latin typeface="Times New Roman" pitchFamily="18" charset="0"/>
              </a:rPr>
              <a:t>)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1110241" y="2906225"/>
          <a:ext cx="2358720" cy="2937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" name="Equation" r:id="rId4" imgW="1130040" imgH="1409400" progId="Equation.3">
                  <p:embed/>
                </p:oleObj>
              </mc:Choice>
              <mc:Fallback>
                <p:oleObj name="Equation" r:id="rId4" imgW="1130040" imgH="140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0241" y="2906225"/>
                        <a:ext cx="2358720" cy="29379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Freeform 4"/>
          <p:cNvSpPr>
            <a:spLocks/>
          </p:cNvSpPr>
          <p:nvPr/>
        </p:nvSpPr>
        <p:spPr bwMode="auto">
          <a:xfrm>
            <a:off x="5712600" y="2133600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295" name="Freeform 7"/>
          <p:cNvSpPr>
            <a:spLocks/>
          </p:cNvSpPr>
          <p:nvPr/>
        </p:nvSpPr>
        <p:spPr bwMode="auto">
          <a:xfrm>
            <a:off x="5733600" y="4069163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296" name="Freeform 8"/>
          <p:cNvSpPr>
            <a:spLocks noChangeArrowheads="1"/>
          </p:cNvSpPr>
          <p:nvPr/>
        </p:nvSpPr>
        <p:spPr bwMode="auto">
          <a:xfrm>
            <a:off x="6007200" y="4705710"/>
            <a:ext cx="393120" cy="381640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2297" name="Freeform 9"/>
          <p:cNvSpPr>
            <a:spLocks noChangeArrowheads="1"/>
          </p:cNvSpPr>
          <p:nvPr/>
        </p:nvSpPr>
        <p:spPr bwMode="auto">
          <a:xfrm>
            <a:off x="6563040" y="4614980"/>
            <a:ext cx="924480" cy="452207"/>
          </a:xfrm>
          <a:custGeom>
            <a:avLst/>
            <a:gdLst/>
            <a:ahLst/>
            <a:cxnLst>
              <a:cxn ang="0">
                <a:pos x="1539" y="0"/>
              </a:cxn>
              <a:cxn ang="0">
                <a:pos x="0" y="386"/>
              </a:cxn>
              <a:cxn ang="0">
                <a:pos x="728" y="1314"/>
              </a:cxn>
              <a:cxn ang="0">
                <a:pos x="2347" y="1276"/>
              </a:cxn>
              <a:cxn ang="0">
                <a:pos x="2832" y="348"/>
              </a:cxn>
              <a:cxn ang="0">
                <a:pos x="1619" y="38"/>
              </a:cxn>
              <a:cxn ang="0">
                <a:pos x="1539" y="0"/>
              </a:cxn>
            </a:cxnLst>
            <a:rect l="0" t="0" r="r" b="b"/>
            <a:pathLst>
              <a:path w="2833" h="1315">
                <a:moveTo>
                  <a:pt x="1539" y="0"/>
                </a:moveTo>
                <a:lnTo>
                  <a:pt x="0" y="386"/>
                </a:lnTo>
                <a:lnTo>
                  <a:pt x="728" y="1314"/>
                </a:lnTo>
                <a:lnTo>
                  <a:pt x="2347" y="1276"/>
                </a:lnTo>
                <a:lnTo>
                  <a:pt x="2832" y="348"/>
                </a:lnTo>
                <a:lnTo>
                  <a:pt x="1619" y="38"/>
                </a:lnTo>
                <a:lnTo>
                  <a:pt x="1539" y="0"/>
                </a:lnTo>
              </a:path>
            </a:pathLst>
          </a:custGeom>
          <a:solidFill>
            <a:srgbClr val="99CC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5712600" y="2883918"/>
            <a:ext cx="1257120" cy="45220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V="1">
            <a:off x="5712601" y="3007771"/>
            <a:ext cx="470880" cy="3283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01" name="Oval 13"/>
          <p:cNvSpPr>
            <a:spLocks noChangeArrowheads="1"/>
          </p:cNvSpPr>
          <p:nvPr/>
        </p:nvSpPr>
        <p:spPr bwMode="auto">
          <a:xfrm>
            <a:off x="6926521" y="2859436"/>
            <a:ext cx="64800" cy="64806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2302" name="Oval 14"/>
          <p:cNvSpPr>
            <a:spLocks noChangeArrowheads="1"/>
          </p:cNvSpPr>
          <p:nvPr/>
        </p:nvSpPr>
        <p:spPr bwMode="auto">
          <a:xfrm>
            <a:off x="6128761" y="2986169"/>
            <a:ext cx="64800" cy="64806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6912121" y="2679416"/>
            <a:ext cx="290942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b="1" dirty="0"/>
              <a:t>P</a:t>
            </a:r>
          </a:p>
        </p:txBody>
      </p:sp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6062521" y="2613169"/>
            <a:ext cx="345444" cy="360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 b="1" dirty="0"/>
              <a:t>P</a:t>
            </a:r>
            <a:r>
              <a:rPr lang="en-US" b="1" dirty="0">
                <a:cs typeface="Times New Roman" pitchFamily="18" charset="0"/>
              </a:rPr>
              <a:t>'</a:t>
            </a: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5724961" y="5399863"/>
            <a:ext cx="2023787" cy="637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45" tIns="41473" rIns="82945" bIns="41473">
            <a:spAutoFit/>
          </a:bodyPr>
          <a:lstStyle/>
          <a:p>
            <a:r>
              <a:rPr lang="en-US">
                <a:latin typeface="Verdana" pitchFamily="34" charset="0"/>
              </a:rPr>
              <a:t>non-uniform vs.</a:t>
            </a:r>
          </a:p>
          <a:p>
            <a:r>
              <a:rPr lang="en-US">
                <a:latin typeface="Verdana" pitchFamily="34" charset="0"/>
              </a:rPr>
              <a:t>uniform scaling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188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Homogenous Coordinates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Translation is </a:t>
            </a:r>
            <a:r>
              <a:rPr lang="en-GB" dirty="0">
                <a:solidFill>
                  <a:srgbClr val="C00000"/>
                </a:solidFill>
              </a:rPr>
              <a:t>additive</a:t>
            </a:r>
            <a:r>
              <a:rPr lang="en-GB" dirty="0"/>
              <a:t>, rotation and scaling is </a:t>
            </a:r>
            <a:r>
              <a:rPr lang="en-GB" dirty="0">
                <a:solidFill>
                  <a:srgbClr val="C00000"/>
                </a:solidFill>
              </a:rPr>
              <a:t>multiplicative</a:t>
            </a:r>
            <a:r>
              <a:rPr lang="en-GB" dirty="0"/>
              <a:t> (and additive if you rotate around an arbitrary point or scale around a fixed point)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Goal:</a:t>
            </a:r>
            <a:r>
              <a:rPr lang="en-GB" dirty="0"/>
              <a:t> Make all transformations as matrix operations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Solution:</a:t>
            </a:r>
            <a:r>
              <a:rPr lang="en-GB" dirty="0"/>
              <a:t> Add a third dimension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/>
              <p:nvPr/>
            </p:nvSpPr>
            <p:spPr>
              <a:xfrm>
                <a:off x="3049929" y="4191000"/>
                <a:ext cx="3505200" cy="923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TR" sz="2400" dirty="0"/>
                  <a:t>      becomes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TR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929" y="4191000"/>
                <a:ext cx="3505200" cy="923266"/>
              </a:xfrm>
              <a:prstGeom prst="rect">
                <a:avLst/>
              </a:prstGeom>
              <a:blipFill>
                <a:blip r:embed="rId3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2365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Homogenous Coordinates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Translation then becomes a 3x3 matrix: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/>
              <p:nvPr/>
            </p:nvSpPr>
            <p:spPr>
              <a:xfrm>
                <a:off x="2619737" y="2971800"/>
                <a:ext cx="3429000" cy="1069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TR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737" y="2971800"/>
                <a:ext cx="3429000" cy="1069075"/>
              </a:xfrm>
              <a:prstGeom prst="rect">
                <a:avLst/>
              </a:prstGeom>
              <a:blipFill>
                <a:blip r:embed="rId3"/>
                <a:stretch>
                  <a:fillRect t="-1176" b="-705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9607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Homogenous Coordinates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Scaling will also be a 3x3 matrix: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/>
              <p:nvPr/>
            </p:nvSpPr>
            <p:spPr>
              <a:xfrm>
                <a:off x="2695937" y="2971800"/>
                <a:ext cx="3857263" cy="1069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TR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937" y="2971800"/>
                <a:ext cx="3857263" cy="1069075"/>
              </a:xfrm>
              <a:prstGeom prst="rect">
                <a:avLst/>
              </a:prstGeom>
              <a:blipFill>
                <a:blip r:embed="rId3"/>
                <a:stretch>
                  <a:fillRect t="-1176" b="-705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0330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Homogenous Coordinates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And the same for rotation: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/>
              <p:nvPr/>
            </p:nvSpPr>
            <p:spPr>
              <a:xfrm>
                <a:off x="1576568" y="3048000"/>
                <a:ext cx="5990863" cy="1033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240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T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T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TR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68" y="3048000"/>
                <a:ext cx="5990863" cy="1033168"/>
              </a:xfrm>
              <a:prstGeom prst="rect">
                <a:avLst/>
              </a:prstGeom>
              <a:blipFill>
                <a:blip r:embed="rId3"/>
                <a:stretch>
                  <a:fillRect t="-1220" b="-731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3945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Homogenous Coordinates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Scaling the homogeneous coordinates by the same factor does not change 2D point that they represent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 marL="0" indent="0"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In general: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/>
              <p:nvPr/>
            </p:nvSpPr>
            <p:spPr>
              <a:xfrm>
                <a:off x="1576568" y="2667000"/>
                <a:ext cx="5990863" cy="1016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T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T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TR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T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4F784-C27D-DF46-B53C-FDD410828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68" y="2667000"/>
                <a:ext cx="5990863" cy="1016497"/>
              </a:xfrm>
              <a:prstGeom prst="rect">
                <a:avLst/>
              </a:prstGeom>
              <a:blipFill>
                <a:blip r:embed="rId3"/>
                <a:stretch>
                  <a:fillRect t="-1250" b="-7500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9C8AC4-3933-A746-9993-B86DA0145F15}"/>
                  </a:ext>
                </a:extLst>
              </p:cNvPr>
              <p:cNvSpPr txBox="1"/>
              <p:nvPr/>
            </p:nvSpPr>
            <p:spPr>
              <a:xfrm>
                <a:off x="1576567" y="4876800"/>
                <a:ext cx="5990863" cy="1040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T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T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TR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TR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9C8AC4-3933-A746-9993-B86DA014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67" y="4876800"/>
                <a:ext cx="5990863" cy="1040991"/>
              </a:xfrm>
              <a:prstGeom prst="rect">
                <a:avLst/>
              </a:prstGeom>
              <a:blipFill>
                <a:blip r:embed="rId4"/>
                <a:stretch>
                  <a:fillRect t="-3614" b="-481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3231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Homogenous Coordinates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GB" dirty="0"/>
              <a:t>This is because the real 2D point is the projection of the line formed in the homogeneous space onto w = 1 plane</a:t>
            </a:r>
            <a:endParaRPr lang="en-GB" dirty="0">
              <a:solidFill>
                <a:srgbClr val="C00000"/>
              </a:solidFill>
            </a:endParaRPr>
          </a:p>
          <a:p>
            <a:r>
              <a:rPr lang="en-GB" dirty="0"/>
              <a:t>The entire line represents the same 2D point</a:t>
            </a:r>
          </a:p>
          <a:p>
            <a:r>
              <a:rPr lang="en-GB" dirty="0"/>
              <a:t>The original (non-homogeneous) point resides on the w=1 plane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667000" y="6206619"/>
            <a:ext cx="320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066800" y="4606419"/>
            <a:ext cx="1600200" cy="16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667000" y="3920619"/>
            <a:ext cx="0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1119130" y="4117554"/>
            <a:ext cx="5199962" cy="1531345"/>
          </a:xfrm>
          <a:custGeom>
            <a:avLst/>
            <a:gdLst>
              <a:gd name="connsiteX0" fmla="*/ 1542362 w 5199962"/>
              <a:gd name="connsiteY0" fmla="*/ 1531345 h 1531345"/>
              <a:gd name="connsiteX1" fmla="*/ 5199962 w 5199962"/>
              <a:gd name="connsiteY1" fmla="*/ 1531345 h 1531345"/>
              <a:gd name="connsiteX2" fmla="*/ 3668617 w 5199962"/>
              <a:gd name="connsiteY2" fmla="*/ 0 h 1531345"/>
              <a:gd name="connsiteX3" fmla="*/ 0 w 5199962"/>
              <a:gd name="connsiteY3" fmla="*/ 0 h 1531345"/>
              <a:gd name="connsiteX4" fmla="*/ 1542362 w 5199962"/>
              <a:gd name="connsiteY4" fmla="*/ 1531345 h 1531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962" h="1531345">
                <a:moveTo>
                  <a:pt x="1542362" y="1531345"/>
                </a:moveTo>
                <a:lnTo>
                  <a:pt x="5199962" y="1531345"/>
                </a:lnTo>
                <a:lnTo>
                  <a:pt x="3668617" y="0"/>
                </a:lnTo>
                <a:lnTo>
                  <a:pt x="0" y="0"/>
                </a:lnTo>
                <a:lnTo>
                  <a:pt x="1542362" y="1531345"/>
                </a:lnTo>
                <a:close/>
              </a:path>
            </a:pathLst>
          </a:custGeom>
          <a:solidFill>
            <a:srgbClr val="AD010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2667000" y="5648899"/>
            <a:ext cx="762000" cy="557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733800" y="3866467"/>
            <a:ext cx="1981200" cy="1450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84314" y="5300473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853693" y="60189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892" y="46942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6918" y="362245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2738" y="540048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 = 1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2666999" y="5648898"/>
            <a:ext cx="152400" cy="554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969304" y="3635096"/>
            <a:ext cx="368489" cy="142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939668" y="5019551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764565" y="523582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0278" y="488194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76498" y="3640290"/>
            <a:ext cx="25186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points along this line</a:t>
            </a:r>
          </a:p>
          <a:p>
            <a:r>
              <a:rPr lang="en-US" dirty="0"/>
              <a:t>in HC represent the same</a:t>
            </a:r>
          </a:p>
          <a:p>
            <a:r>
              <a:rPr lang="en-US" dirty="0"/>
              <a:t>point, p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33989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 Transformations in HC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724400"/>
          </a:xfrm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Translation:</a:t>
            </a:r>
            <a:br>
              <a:rPr lang="en-GB" sz="2200" dirty="0"/>
            </a:br>
            <a:br>
              <a:rPr lang="en-GB" sz="2200" dirty="0"/>
            </a:br>
            <a:endParaRPr lang="en-GB" sz="2200" dirty="0"/>
          </a:p>
          <a:p>
            <a:pPr marL="0" indent="0"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br>
              <a:rPr lang="en-GB" sz="2200" dirty="0"/>
            </a:br>
            <a:endParaRPr lang="en-GB" sz="22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Rotation:</a:t>
            </a:r>
            <a:endParaRPr lang="en-GB" sz="22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2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2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2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Scaling: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168148"/>
              </p:ext>
            </p:extLst>
          </p:nvPr>
        </p:nvGraphicFramePr>
        <p:xfrm>
          <a:off x="2685012" y="1828800"/>
          <a:ext cx="4321175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Equation" r:id="rId4" imgW="2819160" imgH="711000" progId="Equation.3">
                  <p:embed/>
                </p:oleObj>
              </mc:Choice>
              <mc:Fallback>
                <p:oleObj name="Equation" r:id="rId4" imgW="2819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012" y="1828800"/>
                        <a:ext cx="4321175" cy="1093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162604"/>
              </p:ext>
            </p:extLst>
          </p:nvPr>
        </p:nvGraphicFramePr>
        <p:xfrm>
          <a:off x="4334400" y="2705812"/>
          <a:ext cx="66240" cy="259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" r:id="rId6" imgW="76320" imgH="285840" progId="Equation.3">
                  <p:embed/>
                </p:oleObj>
              </mc:Choice>
              <mc:Fallback>
                <p:oleObj r:id="rId6" imgW="76320" imgH="285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400" y="2705812"/>
                        <a:ext cx="66240" cy="2592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015418"/>
              </p:ext>
            </p:extLst>
          </p:nvPr>
        </p:nvGraphicFramePr>
        <p:xfrm>
          <a:off x="2819400" y="3581400"/>
          <a:ext cx="4477788" cy="142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" name="Equation" r:id="rId8" imgW="2958840" imgH="939600" progId="Equation.3">
                  <p:embed/>
                </p:oleObj>
              </mc:Choice>
              <mc:Fallback>
                <p:oleObj name="Equation" r:id="rId8" imgW="29588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81400"/>
                        <a:ext cx="4477788" cy="1424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2311201" y="5099576"/>
          <a:ext cx="66240" cy="256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" r:id="rId10" imgW="76320" imgH="285840" progId="Equation.3">
                  <p:embed/>
                </p:oleObj>
              </mc:Choice>
              <mc:Fallback>
                <p:oleObj r:id="rId10" imgW="76320" imgH="285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201" y="5099576"/>
                        <a:ext cx="66240" cy="256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437105"/>
              </p:ext>
            </p:extLst>
          </p:nvPr>
        </p:nvGraphicFramePr>
        <p:xfrm>
          <a:off x="2711987" y="5195374"/>
          <a:ext cx="4953000" cy="156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" name="Equation" r:id="rId11" imgW="2971800" imgH="939600" progId="Equation.3">
                  <p:embed/>
                </p:oleObj>
              </mc:Choice>
              <mc:Fallback>
                <p:oleObj name="Equation" r:id="rId11" imgW="29718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987" y="5195374"/>
                        <a:ext cx="4953000" cy="15673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024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Vectors can be rotated and scaled</a:t>
            </a:r>
          </a:p>
          <a:p>
            <a:r>
              <a:rPr lang="en-US" dirty="0"/>
              <a:t>But </a:t>
            </a:r>
            <a:r>
              <a:rPr lang="en-US" dirty="0">
                <a:solidFill>
                  <a:srgbClr val="C00000"/>
                </a:solidFill>
              </a:rPr>
              <a:t>translating</a:t>
            </a:r>
            <a:r>
              <a:rPr lang="en-US" dirty="0"/>
              <a:t> a vector does not change it! Why?</a:t>
            </a:r>
          </a:p>
          <a:p>
            <a:pPr lvl="1"/>
            <a:r>
              <a:rPr lang="en-US" dirty="0"/>
              <a:t>A vector is a difference between two points</a:t>
            </a:r>
          </a:p>
          <a:p>
            <a:pPr lvl="1"/>
            <a:r>
              <a:rPr lang="en-US" dirty="0"/>
              <a:t>These two points translate the same way</a:t>
            </a:r>
          </a:p>
          <a:p>
            <a:pPr lvl="1"/>
            <a:r>
              <a:rPr lang="en-US" dirty="0"/>
              <a:t>So the vector remains the same</a:t>
            </a:r>
          </a:p>
          <a:p>
            <a:r>
              <a:rPr lang="en-US" dirty="0"/>
              <a:t>Mathematically this can be achieved by setting the last coordinate of a </a:t>
            </a:r>
            <a:r>
              <a:rPr lang="en-US" i="1" dirty="0">
                <a:solidFill>
                  <a:srgbClr val="C00000"/>
                </a:solidFill>
              </a:rPr>
              <a:t>vector</a:t>
            </a:r>
            <a:r>
              <a:rPr lang="en-US" dirty="0"/>
              <a:t> to 0 (the last coordinate of points should be 1)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" y="5141674"/>
            <a:ext cx="3880563" cy="878126"/>
            <a:chOff x="152400" y="4836874"/>
            <a:chExt cx="3880563" cy="878126"/>
          </a:xfrm>
        </p:grpSpPr>
        <p:sp>
          <p:nvSpPr>
            <p:cNvPr id="7" name="TextBox 6"/>
            <p:cNvSpPr txBox="1"/>
            <p:nvPr/>
          </p:nvSpPr>
          <p:spPr>
            <a:xfrm>
              <a:off x="152400" y="509127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2D point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272331" y="4992847"/>
                  <a:ext cx="446532" cy="566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331" y="4992847"/>
                  <a:ext cx="446532" cy="56618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1742615" y="5091271"/>
              <a:ext cx="2005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HC is equal to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567451" y="4836874"/>
                  <a:ext cx="465512" cy="8781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7451" y="4836874"/>
                  <a:ext cx="465512" cy="8781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4806237" y="5141674"/>
            <a:ext cx="3880563" cy="878126"/>
            <a:chOff x="152400" y="4836874"/>
            <a:chExt cx="3880563" cy="878126"/>
          </a:xfrm>
        </p:grpSpPr>
        <p:sp>
          <p:nvSpPr>
            <p:cNvPr id="13" name="TextBox 12"/>
            <p:cNvSpPr txBox="1"/>
            <p:nvPr/>
          </p:nvSpPr>
          <p:spPr>
            <a:xfrm>
              <a:off x="152400" y="5091271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2D vector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272331" y="4992847"/>
                  <a:ext cx="446532" cy="566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331" y="4992847"/>
                  <a:ext cx="446532" cy="5661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/>
            <p:cNvSpPr txBox="1"/>
            <p:nvPr/>
          </p:nvSpPr>
          <p:spPr>
            <a:xfrm>
              <a:off x="1742615" y="5091271"/>
              <a:ext cx="2005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HC is equal to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567451" y="4836874"/>
                  <a:ext cx="465512" cy="8781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7451" y="4836874"/>
                  <a:ext cx="465512" cy="8781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5535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Composite Transformations</a:t>
            </a:r>
            <a:endParaRPr lang="en-US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Often, objects are transformed multiple times</a:t>
            </a:r>
          </a:p>
          <a:p>
            <a:r>
              <a:rPr lang="en-US" dirty="0"/>
              <a:t>Such transformations can be combined into a single </a:t>
            </a:r>
            <a:r>
              <a:rPr lang="en-US" dirty="0">
                <a:solidFill>
                  <a:srgbClr val="C00000"/>
                </a:solidFill>
              </a:rPr>
              <a:t>composite</a:t>
            </a:r>
            <a:r>
              <a:rPr lang="en-US" dirty="0"/>
              <a:t> transformation</a:t>
            </a:r>
          </a:p>
          <a:p>
            <a:r>
              <a:rPr lang="en-US" dirty="0"/>
              <a:t>E.g. Application of a sequence of transformations to a point:</a:t>
            </a:r>
          </a:p>
        </p:txBody>
      </p:sp>
      <p:graphicFrame>
        <p:nvGraphicFramePr>
          <p:cNvPr id="136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322841"/>
              </p:ext>
            </p:extLst>
          </p:nvPr>
        </p:nvGraphicFramePr>
        <p:xfrm>
          <a:off x="3265920" y="3886200"/>
          <a:ext cx="3134880" cy="1268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9" name="Equation" r:id="rId3" imgW="1002960" imgH="406080" progId="Equation.3">
                  <p:embed/>
                </p:oleObj>
              </mc:Choice>
              <mc:Fallback>
                <p:oleObj name="Equation" r:id="rId3" imgW="1002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920" y="3886200"/>
                        <a:ext cx="3134880" cy="12687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3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Composite Transformations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Composition of the same types of transformations is simple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E.g. translation: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628735"/>
              </p:ext>
            </p:extLst>
          </p:nvPr>
        </p:nvGraphicFramePr>
        <p:xfrm>
          <a:off x="502561" y="4419600"/>
          <a:ext cx="8278560" cy="1121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5" name="Equation" r:id="rId4" imgW="5257800" imgH="711000" progId="Equation.3">
                  <p:embed/>
                </p:oleObj>
              </mc:Choice>
              <mc:Fallback>
                <p:oleObj name="Equation" r:id="rId4" imgW="52578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561" y="4419600"/>
                        <a:ext cx="8278560" cy="11218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650788"/>
              </p:ext>
            </p:extLst>
          </p:nvPr>
        </p:nvGraphicFramePr>
        <p:xfrm>
          <a:off x="2482560" y="2971800"/>
          <a:ext cx="4236480" cy="1126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6" name="Equation" r:id="rId6" imgW="1815840" imgH="482400" progId="Equation.3">
                  <p:embed/>
                </p:oleObj>
              </mc:Choice>
              <mc:Fallback>
                <p:oleObj name="Equation" r:id="rId6" imgW="18158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560" y="2971800"/>
                        <a:ext cx="4236480" cy="11261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4779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726038"/>
              </p:ext>
            </p:extLst>
          </p:nvPr>
        </p:nvGraphicFramePr>
        <p:xfrm>
          <a:off x="152400" y="4876800"/>
          <a:ext cx="8817120" cy="1077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9" name="Equation" r:id="rId4" imgW="5816520" imgH="711000" progId="Equation.3">
                  <p:embed/>
                </p:oleObj>
              </mc:Choice>
              <mc:Fallback>
                <p:oleObj name="Equation" r:id="rId4" imgW="58165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876800"/>
                        <a:ext cx="8817120" cy="10772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046358"/>
              </p:ext>
            </p:extLst>
          </p:nvPr>
        </p:nvGraphicFramePr>
        <p:xfrm>
          <a:off x="398463" y="2354263"/>
          <a:ext cx="8099425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0" name="Equation" r:id="rId6" imgW="5790960" imgH="1650960" progId="Equation.3">
                  <p:embed/>
                </p:oleObj>
              </mc:Choice>
              <mc:Fallback>
                <p:oleObj name="Equation" r:id="rId6" imgW="5790960" imgH="1650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2354263"/>
                        <a:ext cx="8099425" cy="231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Rotation and scaling are similar: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38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Rotation Around a Pivot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rotate the object around its center</a:t>
            </a:r>
          </a:p>
          <a:p>
            <a:r>
              <a:rPr lang="en-US" b="1" dirty="0"/>
              <a:t>Step 1:</a:t>
            </a:r>
            <a:r>
              <a:rPr lang="en-US" dirty="0"/>
              <a:t> </a:t>
            </a:r>
            <a:r>
              <a:rPr lang="en-GB" dirty="0"/>
              <a:t>Translate the object so that the pivot point moves to the origin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3624481" y="3572555"/>
            <a:ext cx="1861919" cy="1343661"/>
            <a:chOff x="5986441" y="1384395"/>
            <a:chExt cx="1861919" cy="1343661"/>
          </a:xfrm>
        </p:grpSpPr>
        <p:sp>
          <p:nvSpPr>
            <p:cNvPr id="18436" name="Freeform 4"/>
            <p:cNvSpPr>
              <a:spLocks/>
            </p:cNvSpPr>
            <p:nvPr/>
          </p:nvSpPr>
          <p:spPr bwMode="auto">
            <a:xfrm>
              <a:off x="6172200" y="1384395"/>
              <a:ext cx="1526400" cy="1212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8437" name="Freeform 5"/>
            <p:cNvSpPr>
              <a:spLocks noChangeArrowheads="1"/>
            </p:cNvSpPr>
            <p:nvPr/>
          </p:nvSpPr>
          <p:spPr bwMode="auto">
            <a:xfrm>
              <a:off x="6928201" y="1986378"/>
              <a:ext cx="393120" cy="381640"/>
            </a:xfrm>
            <a:custGeom>
              <a:avLst/>
              <a:gdLst/>
              <a:ahLst/>
              <a:cxnLst>
                <a:cxn ang="0">
                  <a:pos x="653" y="0"/>
                </a:cxn>
                <a:cxn ang="0">
                  <a:pos x="0" y="343"/>
                </a:cxn>
                <a:cxn ang="0">
                  <a:pos x="309" y="1168"/>
                </a:cxn>
                <a:cxn ang="0">
                  <a:pos x="996" y="1134"/>
                </a:cxn>
                <a:cxn ang="0">
                  <a:pos x="1202" y="309"/>
                </a:cxn>
                <a:cxn ang="0">
                  <a:pos x="687" y="34"/>
                </a:cxn>
                <a:cxn ang="0">
                  <a:pos x="653" y="0"/>
                </a:cxn>
              </a:cxnLst>
              <a:rect l="0" t="0" r="r" b="b"/>
              <a:pathLst>
                <a:path w="1203" h="1169">
                  <a:moveTo>
                    <a:pt x="653" y="0"/>
                  </a:moveTo>
                  <a:lnTo>
                    <a:pt x="0" y="343"/>
                  </a:lnTo>
                  <a:lnTo>
                    <a:pt x="309" y="1168"/>
                  </a:lnTo>
                  <a:lnTo>
                    <a:pt x="996" y="1134"/>
                  </a:lnTo>
                  <a:lnTo>
                    <a:pt x="1202" y="309"/>
                  </a:lnTo>
                  <a:lnTo>
                    <a:pt x="687" y="34"/>
                  </a:lnTo>
                  <a:lnTo>
                    <a:pt x="653" y="0"/>
                  </a:lnTo>
                </a:path>
              </a:pathLst>
            </a:custGeom>
            <a:solidFill>
              <a:srgbClr val="00B8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8443" name="Freeform 11"/>
            <p:cNvSpPr>
              <a:spLocks noChangeArrowheads="1"/>
            </p:cNvSpPr>
            <p:nvPr/>
          </p:nvSpPr>
          <p:spPr bwMode="auto">
            <a:xfrm>
              <a:off x="5986441" y="2346416"/>
              <a:ext cx="393120" cy="381640"/>
            </a:xfrm>
            <a:custGeom>
              <a:avLst/>
              <a:gdLst/>
              <a:ahLst/>
              <a:cxnLst>
                <a:cxn ang="0">
                  <a:pos x="653" y="0"/>
                </a:cxn>
                <a:cxn ang="0">
                  <a:pos x="0" y="343"/>
                </a:cxn>
                <a:cxn ang="0">
                  <a:pos x="309" y="1168"/>
                </a:cxn>
                <a:cxn ang="0">
                  <a:pos x="996" y="1134"/>
                </a:cxn>
                <a:cxn ang="0">
                  <a:pos x="1202" y="309"/>
                </a:cxn>
                <a:cxn ang="0">
                  <a:pos x="687" y="34"/>
                </a:cxn>
                <a:cxn ang="0">
                  <a:pos x="653" y="0"/>
                </a:cxn>
              </a:cxnLst>
              <a:rect l="0" t="0" r="r" b="b"/>
              <a:pathLst>
                <a:path w="1203" h="1169">
                  <a:moveTo>
                    <a:pt x="653" y="0"/>
                  </a:moveTo>
                  <a:lnTo>
                    <a:pt x="0" y="343"/>
                  </a:lnTo>
                  <a:lnTo>
                    <a:pt x="309" y="1168"/>
                  </a:lnTo>
                  <a:lnTo>
                    <a:pt x="996" y="1134"/>
                  </a:lnTo>
                  <a:lnTo>
                    <a:pt x="1202" y="309"/>
                  </a:lnTo>
                  <a:lnTo>
                    <a:pt x="687" y="34"/>
                  </a:lnTo>
                  <a:lnTo>
                    <a:pt x="653" y="0"/>
                  </a:lnTo>
                </a:path>
              </a:pathLst>
            </a:custGeom>
            <a:solidFill>
              <a:srgbClr val="99CC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8445" name="Oval 13"/>
            <p:cNvSpPr>
              <a:spLocks noChangeArrowheads="1"/>
            </p:cNvSpPr>
            <p:nvPr/>
          </p:nvSpPr>
          <p:spPr bwMode="auto">
            <a:xfrm>
              <a:off x="7093801" y="2140474"/>
              <a:ext cx="79200" cy="7920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 flipH="1">
              <a:off x="6198120" y="2245605"/>
              <a:ext cx="866880" cy="3139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graphicFrame>
          <p:nvGraphicFramePr>
            <p:cNvPr id="1844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457846"/>
                </p:ext>
              </p:extLst>
            </p:nvPr>
          </p:nvGraphicFramePr>
          <p:xfrm>
            <a:off x="6486120" y="1558652"/>
            <a:ext cx="1362240" cy="3859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13" name="Equation" r:id="rId4" imgW="749160" imgH="215640" progId="Equation.3">
                    <p:embed/>
                  </p:oleObj>
                </mc:Choice>
                <mc:Fallback>
                  <p:oleObj name="Equation" r:id="rId4" imgW="749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6120" y="1558652"/>
                          <a:ext cx="1362240" cy="3859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539692"/>
              </p:ext>
            </p:extLst>
          </p:nvPr>
        </p:nvGraphicFramePr>
        <p:xfrm>
          <a:off x="2895600" y="5627687"/>
          <a:ext cx="313531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14" name="Equation" r:id="rId6" imgW="1091880" imgH="215640" progId="Equation.3">
                  <p:embed/>
                </p:oleObj>
              </mc:Choice>
              <mc:Fallback>
                <p:oleObj name="Equation" r:id="rId6" imgW="109188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95600" y="5627687"/>
                        <a:ext cx="3135313" cy="620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8485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Rotation Around a Pivot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</a:t>
            </a:r>
            <a:r>
              <a:rPr lang="en-US" dirty="0"/>
              <a:t> </a:t>
            </a:r>
            <a:r>
              <a:rPr lang="en-GB" dirty="0"/>
              <a:t>Rotate around origin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534121" y="3050649"/>
            <a:ext cx="1723679" cy="1350862"/>
            <a:chOff x="5974921" y="3050649"/>
            <a:chExt cx="1723679" cy="1350862"/>
          </a:xfrm>
        </p:grpSpPr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172200" y="3050649"/>
              <a:ext cx="1526400" cy="1212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" name="Freeform 7"/>
            <p:cNvSpPr>
              <a:spLocks noChangeArrowheads="1"/>
            </p:cNvSpPr>
            <p:nvPr/>
          </p:nvSpPr>
          <p:spPr bwMode="auto">
            <a:xfrm>
              <a:off x="5974921" y="4001148"/>
              <a:ext cx="393120" cy="381641"/>
            </a:xfrm>
            <a:custGeom>
              <a:avLst/>
              <a:gdLst/>
              <a:ahLst/>
              <a:cxnLst>
                <a:cxn ang="0">
                  <a:pos x="653" y="0"/>
                </a:cxn>
                <a:cxn ang="0">
                  <a:pos x="0" y="343"/>
                </a:cxn>
                <a:cxn ang="0">
                  <a:pos x="309" y="1168"/>
                </a:cxn>
                <a:cxn ang="0">
                  <a:pos x="996" y="1134"/>
                </a:cxn>
                <a:cxn ang="0">
                  <a:pos x="1202" y="309"/>
                </a:cxn>
                <a:cxn ang="0">
                  <a:pos x="687" y="34"/>
                </a:cxn>
                <a:cxn ang="0">
                  <a:pos x="653" y="0"/>
                </a:cxn>
              </a:cxnLst>
              <a:rect l="0" t="0" r="r" b="b"/>
              <a:pathLst>
                <a:path w="1203" h="1169">
                  <a:moveTo>
                    <a:pt x="653" y="0"/>
                  </a:moveTo>
                  <a:lnTo>
                    <a:pt x="0" y="343"/>
                  </a:lnTo>
                  <a:lnTo>
                    <a:pt x="309" y="1168"/>
                  </a:lnTo>
                  <a:lnTo>
                    <a:pt x="996" y="1134"/>
                  </a:lnTo>
                  <a:lnTo>
                    <a:pt x="1202" y="309"/>
                  </a:lnTo>
                  <a:lnTo>
                    <a:pt x="687" y="34"/>
                  </a:lnTo>
                  <a:lnTo>
                    <a:pt x="653" y="0"/>
                  </a:lnTo>
                </a:path>
              </a:pathLst>
            </a:custGeom>
            <a:solidFill>
              <a:srgbClr val="00B8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ChangeArrowheads="1"/>
            </p:cNvSpPr>
            <p:nvPr/>
          </p:nvSpPr>
          <p:spPr bwMode="auto">
            <a:xfrm>
              <a:off x="5979240" y="4021311"/>
              <a:ext cx="397440" cy="380200"/>
            </a:xfrm>
            <a:custGeom>
              <a:avLst/>
              <a:gdLst/>
              <a:ahLst/>
              <a:cxnLst>
                <a:cxn ang="0">
                  <a:pos x="0" y="617"/>
                </a:cxn>
                <a:cxn ang="0">
                  <a:pos x="496" y="1164"/>
                </a:cxn>
                <a:cxn ang="0">
                  <a:pos x="1217" y="652"/>
                </a:cxn>
                <a:cxn ang="0">
                  <a:pos x="1009" y="0"/>
                </a:cxn>
                <a:cxn ang="0">
                  <a:pos x="154" y="11"/>
                </a:cxn>
                <a:cxn ang="0">
                  <a:pos x="18" y="579"/>
                </a:cxn>
                <a:cxn ang="0">
                  <a:pos x="0" y="617"/>
                </a:cxn>
              </a:cxnLst>
              <a:rect l="0" t="0" r="r" b="b"/>
              <a:pathLst>
                <a:path w="1218" h="1165">
                  <a:moveTo>
                    <a:pt x="0" y="617"/>
                  </a:moveTo>
                  <a:lnTo>
                    <a:pt x="496" y="1164"/>
                  </a:lnTo>
                  <a:lnTo>
                    <a:pt x="1217" y="652"/>
                  </a:lnTo>
                  <a:lnTo>
                    <a:pt x="1009" y="0"/>
                  </a:lnTo>
                  <a:lnTo>
                    <a:pt x="154" y="11"/>
                  </a:lnTo>
                  <a:lnTo>
                    <a:pt x="18" y="579"/>
                  </a:lnTo>
                  <a:lnTo>
                    <a:pt x="0" y="617"/>
                  </a:lnTo>
                </a:path>
              </a:pathLst>
            </a:custGeom>
            <a:solidFill>
              <a:srgbClr val="99CCFF">
                <a:alpha val="29999"/>
              </a:srgbClr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auto">
            <a:xfrm>
              <a:off x="6179400" y="3861455"/>
              <a:ext cx="367200" cy="429165"/>
            </a:xfrm>
            <a:custGeom>
              <a:avLst/>
              <a:gdLst/>
              <a:ahLst/>
              <a:cxnLst>
                <a:cxn ang="0">
                  <a:pos x="1118" y="1313"/>
                </a:cxn>
                <a:cxn ang="0">
                  <a:pos x="1123" y="1252"/>
                </a:cxn>
                <a:cxn ang="0">
                  <a:pos x="1125" y="1192"/>
                </a:cxn>
                <a:cxn ang="0">
                  <a:pos x="1124" y="1132"/>
                </a:cxn>
                <a:cxn ang="0">
                  <a:pos x="1120" y="1072"/>
                </a:cxn>
                <a:cxn ang="0">
                  <a:pos x="1113" y="1012"/>
                </a:cxn>
                <a:cxn ang="0">
                  <a:pos x="1102" y="952"/>
                </a:cxn>
                <a:cxn ang="0">
                  <a:pos x="1089" y="893"/>
                </a:cxn>
                <a:cxn ang="0">
                  <a:pos x="1073" y="835"/>
                </a:cxn>
                <a:cxn ang="0">
                  <a:pos x="1054" y="778"/>
                </a:cxn>
                <a:cxn ang="0">
                  <a:pos x="1032" y="722"/>
                </a:cxn>
                <a:cxn ang="0">
                  <a:pos x="1007" y="667"/>
                </a:cxn>
                <a:cxn ang="0">
                  <a:pos x="979" y="613"/>
                </a:cxn>
                <a:cxn ang="0">
                  <a:pos x="949" y="561"/>
                </a:cxn>
                <a:cxn ang="0">
                  <a:pos x="916" y="511"/>
                </a:cxn>
                <a:cxn ang="0">
                  <a:pos x="880" y="462"/>
                </a:cxn>
                <a:cxn ang="0">
                  <a:pos x="842" y="415"/>
                </a:cxn>
                <a:cxn ang="0">
                  <a:pos x="802" y="370"/>
                </a:cxn>
                <a:cxn ang="0">
                  <a:pos x="760" y="327"/>
                </a:cxn>
                <a:cxn ang="0">
                  <a:pos x="715" y="287"/>
                </a:cxn>
                <a:cxn ang="0">
                  <a:pos x="668" y="248"/>
                </a:cxn>
                <a:cxn ang="0">
                  <a:pos x="620" y="212"/>
                </a:cxn>
                <a:cxn ang="0">
                  <a:pos x="570" y="179"/>
                </a:cxn>
                <a:cxn ang="0">
                  <a:pos x="518" y="148"/>
                </a:cxn>
                <a:cxn ang="0">
                  <a:pos x="464" y="120"/>
                </a:cxn>
                <a:cxn ang="0">
                  <a:pos x="410" y="95"/>
                </a:cxn>
                <a:cxn ang="0">
                  <a:pos x="354" y="73"/>
                </a:cxn>
                <a:cxn ang="0">
                  <a:pos x="296" y="53"/>
                </a:cxn>
                <a:cxn ang="0">
                  <a:pos x="239" y="36"/>
                </a:cxn>
                <a:cxn ang="0">
                  <a:pos x="180" y="23"/>
                </a:cxn>
                <a:cxn ang="0">
                  <a:pos x="120" y="12"/>
                </a:cxn>
                <a:cxn ang="0">
                  <a:pos x="61" y="4"/>
                </a:cxn>
                <a:cxn ang="0">
                  <a:pos x="0" y="0"/>
                </a:cxn>
              </a:cxnLst>
              <a:rect l="0" t="0" r="r" b="b"/>
              <a:pathLst>
                <a:path w="1126" h="1314">
                  <a:moveTo>
                    <a:pt x="1118" y="1313"/>
                  </a:moveTo>
                  <a:lnTo>
                    <a:pt x="1123" y="1252"/>
                  </a:lnTo>
                  <a:lnTo>
                    <a:pt x="1125" y="1192"/>
                  </a:lnTo>
                  <a:lnTo>
                    <a:pt x="1124" y="1132"/>
                  </a:lnTo>
                  <a:lnTo>
                    <a:pt x="1120" y="1072"/>
                  </a:lnTo>
                  <a:lnTo>
                    <a:pt x="1113" y="1012"/>
                  </a:lnTo>
                  <a:lnTo>
                    <a:pt x="1102" y="952"/>
                  </a:lnTo>
                  <a:lnTo>
                    <a:pt x="1089" y="893"/>
                  </a:lnTo>
                  <a:lnTo>
                    <a:pt x="1073" y="835"/>
                  </a:lnTo>
                  <a:lnTo>
                    <a:pt x="1054" y="778"/>
                  </a:lnTo>
                  <a:lnTo>
                    <a:pt x="1032" y="722"/>
                  </a:lnTo>
                  <a:lnTo>
                    <a:pt x="1007" y="667"/>
                  </a:lnTo>
                  <a:lnTo>
                    <a:pt x="979" y="613"/>
                  </a:lnTo>
                  <a:lnTo>
                    <a:pt x="949" y="561"/>
                  </a:lnTo>
                  <a:lnTo>
                    <a:pt x="916" y="511"/>
                  </a:lnTo>
                  <a:lnTo>
                    <a:pt x="880" y="462"/>
                  </a:lnTo>
                  <a:lnTo>
                    <a:pt x="842" y="415"/>
                  </a:lnTo>
                  <a:lnTo>
                    <a:pt x="802" y="370"/>
                  </a:lnTo>
                  <a:lnTo>
                    <a:pt x="760" y="327"/>
                  </a:lnTo>
                  <a:lnTo>
                    <a:pt x="715" y="287"/>
                  </a:lnTo>
                  <a:lnTo>
                    <a:pt x="668" y="248"/>
                  </a:lnTo>
                  <a:lnTo>
                    <a:pt x="620" y="212"/>
                  </a:lnTo>
                  <a:lnTo>
                    <a:pt x="570" y="179"/>
                  </a:lnTo>
                  <a:lnTo>
                    <a:pt x="518" y="148"/>
                  </a:lnTo>
                  <a:lnTo>
                    <a:pt x="464" y="120"/>
                  </a:lnTo>
                  <a:lnTo>
                    <a:pt x="410" y="95"/>
                  </a:lnTo>
                  <a:lnTo>
                    <a:pt x="354" y="73"/>
                  </a:lnTo>
                  <a:lnTo>
                    <a:pt x="296" y="53"/>
                  </a:lnTo>
                  <a:lnTo>
                    <a:pt x="239" y="36"/>
                  </a:lnTo>
                  <a:lnTo>
                    <a:pt x="180" y="23"/>
                  </a:lnTo>
                  <a:lnTo>
                    <a:pt x="120" y="12"/>
                  </a:lnTo>
                  <a:lnTo>
                    <a:pt x="61" y="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graphicFrame>
          <p:nvGraphicFramePr>
            <p:cNvPr id="15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9080403"/>
                </p:ext>
              </p:extLst>
            </p:nvPr>
          </p:nvGraphicFramePr>
          <p:xfrm>
            <a:off x="6617160" y="3609427"/>
            <a:ext cx="593280" cy="368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55" name="Equation" r:id="rId4" imgW="342720" imgH="215640" progId="Equation.3">
                    <p:embed/>
                  </p:oleObj>
                </mc:Choice>
                <mc:Fallback>
                  <p:oleObj name="Equation" r:id="rId4" imgW="342720" imgH="215640" progId="Equation.3">
                    <p:embed/>
                    <p:pic>
                      <p:nvPicPr>
                        <p:cNvPr id="1845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7160" y="3609427"/>
                          <a:ext cx="593280" cy="3686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099395"/>
              </p:ext>
            </p:extLst>
          </p:nvPr>
        </p:nvGraphicFramePr>
        <p:xfrm>
          <a:off x="3462338" y="5180013"/>
          <a:ext cx="200501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6" name="Equation" r:id="rId6" imgW="698400" imgH="215640" progId="Equation.3">
                  <p:embed/>
                </p:oleObj>
              </mc:Choice>
              <mc:Fallback>
                <p:oleObj name="Equation" r:id="rId6" imgW="698400" imgH="21564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62338" y="5180013"/>
                        <a:ext cx="2005012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21</a:t>
            </a:fld>
            <a:endParaRPr 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FB425947-57BC-B54A-B35C-125CE8B6C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506" y="4164199"/>
            <a:ext cx="79200" cy="7920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7899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Rotation Around a Pivot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</a:t>
            </a:r>
            <a:r>
              <a:rPr lang="en-US" dirty="0"/>
              <a:t> Translate the object so that the pivot point is back to its original position</a:t>
            </a:r>
          </a:p>
          <a:p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3612960" y="3169748"/>
            <a:ext cx="1918080" cy="1386865"/>
            <a:chOff x="5980680" y="4617534"/>
            <a:chExt cx="1918080" cy="1386865"/>
          </a:xfrm>
        </p:grpSpPr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6172200" y="4617534"/>
              <a:ext cx="1526400" cy="1212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8" name="Freeform 10"/>
            <p:cNvSpPr>
              <a:spLocks noChangeArrowheads="1"/>
            </p:cNvSpPr>
            <p:nvPr/>
          </p:nvSpPr>
          <p:spPr bwMode="auto">
            <a:xfrm>
              <a:off x="6922440" y="5264162"/>
              <a:ext cx="397440" cy="381640"/>
            </a:xfrm>
            <a:custGeom>
              <a:avLst/>
              <a:gdLst/>
              <a:ahLst/>
              <a:cxnLst>
                <a:cxn ang="0">
                  <a:pos x="0" y="625"/>
                </a:cxn>
                <a:cxn ang="0">
                  <a:pos x="499" y="1167"/>
                </a:cxn>
                <a:cxn ang="0">
                  <a:pos x="1215" y="655"/>
                </a:cxn>
                <a:cxn ang="0">
                  <a:pos x="1009" y="0"/>
                </a:cxn>
                <a:cxn ang="0">
                  <a:pos x="155" y="15"/>
                </a:cxn>
                <a:cxn ang="0">
                  <a:pos x="22" y="584"/>
                </a:cxn>
                <a:cxn ang="0">
                  <a:pos x="0" y="625"/>
                </a:cxn>
              </a:cxnLst>
              <a:rect l="0" t="0" r="r" b="b"/>
              <a:pathLst>
                <a:path w="1216" h="1168">
                  <a:moveTo>
                    <a:pt x="0" y="625"/>
                  </a:moveTo>
                  <a:lnTo>
                    <a:pt x="499" y="1167"/>
                  </a:lnTo>
                  <a:lnTo>
                    <a:pt x="1215" y="655"/>
                  </a:lnTo>
                  <a:lnTo>
                    <a:pt x="1009" y="0"/>
                  </a:lnTo>
                  <a:lnTo>
                    <a:pt x="155" y="15"/>
                  </a:lnTo>
                  <a:lnTo>
                    <a:pt x="22" y="584"/>
                  </a:lnTo>
                  <a:lnTo>
                    <a:pt x="0" y="625"/>
                  </a:lnTo>
                </a:path>
              </a:pathLst>
            </a:custGeom>
            <a:solidFill>
              <a:srgbClr val="99CC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ChangeArrowheads="1"/>
            </p:cNvSpPr>
            <p:nvPr/>
          </p:nvSpPr>
          <p:spPr bwMode="auto">
            <a:xfrm>
              <a:off x="5980680" y="5624199"/>
              <a:ext cx="397440" cy="380200"/>
            </a:xfrm>
            <a:custGeom>
              <a:avLst/>
              <a:gdLst/>
              <a:ahLst/>
              <a:cxnLst>
                <a:cxn ang="0">
                  <a:pos x="0" y="619"/>
                </a:cxn>
                <a:cxn ang="0">
                  <a:pos x="500" y="1161"/>
                </a:cxn>
                <a:cxn ang="0">
                  <a:pos x="1216" y="649"/>
                </a:cxn>
                <a:cxn ang="0">
                  <a:pos x="1014" y="0"/>
                </a:cxn>
                <a:cxn ang="0">
                  <a:pos x="156" y="9"/>
                </a:cxn>
                <a:cxn ang="0">
                  <a:pos x="25" y="581"/>
                </a:cxn>
                <a:cxn ang="0">
                  <a:pos x="0" y="619"/>
                </a:cxn>
              </a:cxnLst>
              <a:rect l="0" t="0" r="r" b="b"/>
              <a:pathLst>
                <a:path w="1217" h="1162">
                  <a:moveTo>
                    <a:pt x="0" y="619"/>
                  </a:moveTo>
                  <a:lnTo>
                    <a:pt x="500" y="1161"/>
                  </a:lnTo>
                  <a:lnTo>
                    <a:pt x="1216" y="649"/>
                  </a:lnTo>
                  <a:lnTo>
                    <a:pt x="1014" y="0"/>
                  </a:lnTo>
                  <a:lnTo>
                    <a:pt x="156" y="9"/>
                  </a:lnTo>
                  <a:lnTo>
                    <a:pt x="25" y="581"/>
                  </a:lnTo>
                  <a:lnTo>
                    <a:pt x="0" y="619"/>
                  </a:lnTo>
                </a:path>
              </a:pathLst>
            </a:custGeom>
            <a:solidFill>
              <a:srgbClr val="00B8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H="1">
              <a:off x="6175080" y="5465783"/>
              <a:ext cx="866880" cy="3139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graphicFrame>
          <p:nvGraphicFramePr>
            <p:cNvPr id="2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9682851"/>
                </p:ext>
              </p:extLst>
            </p:nvPr>
          </p:nvGraphicFramePr>
          <p:xfrm>
            <a:off x="6877800" y="4784591"/>
            <a:ext cx="1020960" cy="378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75" name="Equation" r:id="rId4" imgW="571320" imgH="215640" progId="Equation.3">
                    <p:embed/>
                  </p:oleObj>
                </mc:Choice>
                <mc:Fallback>
                  <p:oleObj name="Equation" r:id="rId4" imgW="571320" imgH="215640" progId="Equation.3">
                    <p:embed/>
                    <p:pic>
                      <p:nvPicPr>
                        <p:cNvPr id="1845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7800" y="4784591"/>
                          <a:ext cx="1020960" cy="3787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200382"/>
              </p:ext>
            </p:extLst>
          </p:nvPr>
        </p:nvGraphicFramePr>
        <p:xfrm>
          <a:off x="3149600" y="5180013"/>
          <a:ext cx="26257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76" name="Equation" r:id="rId6" imgW="914400" imgH="215640" progId="Equation.3">
                  <p:embed/>
                </p:oleObj>
              </mc:Choice>
              <mc:Fallback>
                <p:oleObj name="Equation" r:id="rId6" imgW="914400" imgH="21564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49600" y="5180013"/>
                        <a:ext cx="2625725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22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EB73AA55-7B98-3149-8A33-C35CB3754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871" y="3938788"/>
            <a:ext cx="79200" cy="7920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673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Rotation Around a Pivot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composite transformation is equal to their successive application:</a:t>
            </a:r>
          </a:p>
          <a:p>
            <a:endParaRPr lang="en-US" dirty="0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030256"/>
              </p:ext>
            </p:extLst>
          </p:nvPr>
        </p:nvGraphicFramePr>
        <p:xfrm>
          <a:off x="652321" y="3552825"/>
          <a:ext cx="751363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1" name="Equation" r:id="rId4" imgW="2616120" imgH="215640" progId="Equation.3">
                  <p:embed/>
                </p:oleObj>
              </mc:Choice>
              <mc:Fallback>
                <p:oleObj name="Equation" r:id="rId4" imgW="2616120" imgH="215640" progId="Equation.3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2321" y="3552825"/>
                        <a:ext cx="7513637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880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dirty="0"/>
              <a:t>Scaling w.r.t. a Fixed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is the same:</a:t>
            </a:r>
          </a:p>
          <a:p>
            <a:pPr lvl="1"/>
            <a:r>
              <a:rPr lang="en-US" dirty="0"/>
              <a:t>Translate to origin</a:t>
            </a:r>
          </a:p>
          <a:p>
            <a:pPr lvl="1"/>
            <a:r>
              <a:rPr lang="en-US" dirty="0"/>
              <a:t>Scale</a:t>
            </a:r>
          </a:p>
          <a:p>
            <a:pPr lvl="1"/>
            <a:r>
              <a:rPr lang="en-US" dirty="0"/>
              <a:t>Translate back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229838"/>
              </p:ext>
            </p:extLst>
          </p:nvPr>
        </p:nvGraphicFramePr>
        <p:xfrm>
          <a:off x="346455" y="3429000"/>
          <a:ext cx="4638240" cy="2935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61" name="Equation" r:id="rId4" imgW="2628720" imgH="1663560" progId="Equation.3">
                  <p:embed/>
                </p:oleObj>
              </mc:Choice>
              <mc:Fallback>
                <p:oleObj name="Equation" r:id="rId4" imgW="2628720" imgH="1663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55" y="3429000"/>
                        <a:ext cx="4638240" cy="29350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5882160" y="1460155"/>
            <a:ext cx="2499840" cy="4635845"/>
            <a:chOff x="5809441" y="1225176"/>
            <a:chExt cx="2499840" cy="4635845"/>
          </a:xfrm>
        </p:grpSpPr>
        <p:sp>
          <p:nvSpPr>
            <p:cNvPr id="19460" name="Freeform 4"/>
            <p:cNvSpPr>
              <a:spLocks/>
            </p:cNvSpPr>
            <p:nvPr/>
          </p:nvSpPr>
          <p:spPr bwMode="auto">
            <a:xfrm>
              <a:off x="6096000" y="1225176"/>
              <a:ext cx="1526400" cy="1212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9461" name="Freeform 5"/>
            <p:cNvSpPr>
              <a:spLocks noChangeArrowheads="1"/>
            </p:cNvSpPr>
            <p:nvPr/>
          </p:nvSpPr>
          <p:spPr bwMode="auto">
            <a:xfrm>
              <a:off x="6852001" y="1827159"/>
              <a:ext cx="393120" cy="381640"/>
            </a:xfrm>
            <a:custGeom>
              <a:avLst/>
              <a:gdLst/>
              <a:ahLst/>
              <a:cxnLst>
                <a:cxn ang="0">
                  <a:pos x="653" y="0"/>
                </a:cxn>
                <a:cxn ang="0">
                  <a:pos x="0" y="343"/>
                </a:cxn>
                <a:cxn ang="0">
                  <a:pos x="309" y="1168"/>
                </a:cxn>
                <a:cxn ang="0">
                  <a:pos x="996" y="1134"/>
                </a:cxn>
                <a:cxn ang="0">
                  <a:pos x="1202" y="309"/>
                </a:cxn>
                <a:cxn ang="0">
                  <a:pos x="687" y="34"/>
                </a:cxn>
                <a:cxn ang="0">
                  <a:pos x="653" y="0"/>
                </a:cxn>
              </a:cxnLst>
              <a:rect l="0" t="0" r="r" b="b"/>
              <a:pathLst>
                <a:path w="1203" h="1169">
                  <a:moveTo>
                    <a:pt x="653" y="0"/>
                  </a:moveTo>
                  <a:lnTo>
                    <a:pt x="0" y="343"/>
                  </a:lnTo>
                  <a:lnTo>
                    <a:pt x="309" y="1168"/>
                  </a:lnTo>
                  <a:lnTo>
                    <a:pt x="996" y="1134"/>
                  </a:lnTo>
                  <a:lnTo>
                    <a:pt x="1202" y="309"/>
                  </a:lnTo>
                  <a:lnTo>
                    <a:pt x="687" y="34"/>
                  </a:lnTo>
                  <a:lnTo>
                    <a:pt x="653" y="0"/>
                  </a:lnTo>
                </a:path>
              </a:pathLst>
            </a:custGeom>
            <a:solidFill>
              <a:srgbClr val="00B8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62" name="Freeform 6"/>
            <p:cNvSpPr>
              <a:spLocks/>
            </p:cNvSpPr>
            <p:nvPr/>
          </p:nvSpPr>
          <p:spPr bwMode="auto">
            <a:xfrm>
              <a:off x="6096000" y="2891430"/>
              <a:ext cx="1526400" cy="1212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9463" name="Freeform 7"/>
            <p:cNvSpPr>
              <a:spLocks noChangeArrowheads="1"/>
            </p:cNvSpPr>
            <p:nvPr/>
          </p:nvSpPr>
          <p:spPr bwMode="auto">
            <a:xfrm>
              <a:off x="5898721" y="3841929"/>
              <a:ext cx="393120" cy="381641"/>
            </a:xfrm>
            <a:custGeom>
              <a:avLst/>
              <a:gdLst/>
              <a:ahLst/>
              <a:cxnLst>
                <a:cxn ang="0">
                  <a:pos x="653" y="0"/>
                </a:cxn>
                <a:cxn ang="0">
                  <a:pos x="0" y="343"/>
                </a:cxn>
                <a:cxn ang="0">
                  <a:pos x="309" y="1168"/>
                </a:cxn>
                <a:cxn ang="0">
                  <a:pos x="996" y="1134"/>
                </a:cxn>
                <a:cxn ang="0">
                  <a:pos x="1202" y="309"/>
                </a:cxn>
                <a:cxn ang="0">
                  <a:pos x="687" y="34"/>
                </a:cxn>
                <a:cxn ang="0">
                  <a:pos x="653" y="0"/>
                </a:cxn>
              </a:cxnLst>
              <a:rect l="0" t="0" r="r" b="b"/>
              <a:pathLst>
                <a:path w="1203" h="1169">
                  <a:moveTo>
                    <a:pt x="653" y="0"/>
                  </a:moveTo>
                  <a:lnTo>
                    <a:pt x="0" y="343"/>
                  </a:lnTo>
                  <a:lnTo>
                    <a:pt x="309" y="1168"/>
                  </a:lnTo>
                  <a:lnTo>
                    <a:pt x="996" y="1134"/>
                  </a:lnTo>
                  <a:lnTo>
                    <a:pt x="1202" y="309"/>
                  </a:lnTo>
                  <a:lnTo>
                    <a:pt x="687" y="34"/>
                  </a:lnTo>
                  <a:lnTo>
                    <a:pt x="653" y="0"/>
                  </a:lnTo>
                </a:path>
              </a:pathLst>
            </a:custGeom>
            <a:solidFill>
              <a:srgbClr val="00B8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64" name="Freeform 8"/>
            <p:cNvSpPr>
              <a:spLocks/>
            </p:cNvSpPr>
            <p:nvPr/>
          </p:nvSpPr>
          <p:spPr bwMode="auto">
            <a:xfrm>
              <a:off x="6096000" y="4458315"/>
              <a:ext cx="1526400" cy="1212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11"/>
                </a:cxn>
                <a:cxn ang="0">
                  <a:pos x="4674" y="3711"/>
                </a:cxn>
              </a:cxnLst>
              <a:rect l="0" t="0" r="r" b="b"/>
              <a:pathLst>
                <a:path w="4675" h="3712">
                  <a:moveTo>
                    <a:pt x="0" y="0"/>
                  </a:moveTo>
                  <a:lnTo>
                    <a:pt x="0" y="3711"/>
                  </a:lnTo>
                  <a:lnTo>
                    <a:pt x="4674" y="3711"/>
                  </a:lnTo>
                </a:path>
              </a:pathLst>
            </a:cu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9465" name="Freeform 9"/>
            <p:cNvSpPr>
              <a:spLocks noChangeArrowheads="1"/>
            </p:cNvSpPr>
            <p:nvPr/>
          </p:nvSpPr>
          <p:spPr bwMode="auto">
            <a:xfrm>
              <a:off x="5910241" y="2187197"/>
              <a:ext cx="393120" cy="381640"/>
            </a:xfrm>
            <a:custGeom>
              <a:avLst/>
              <a:gdLst/>
              <a:ahLst/>
              <a:cxnLst>
                <a:cxn ang="0">
                  <a:pos x="653" y="0"/>
                </a:cxn>
                <a:cxn ang="0">
                  <a:pos x="0" y="343"/>
                </a:cxn>
                <a:cxn ang="0">
                  <a:pos x="309" y="1168"/>
                </a:cxn>
                <a:cxn ang="0">
                  <a:pos x="996" y="1134"/>
                </a:cxn>
                <a:cxn ang="0">
                  <a:pos x="1202" y="309"/>
                </a:cxn>
                <a:cxn ang="0">
                  <a:pos x="687" y="34"/>
                </a:cxn>
                <a:cxn ang="0">
                  <a:pos x="653" y="0"/>
                </a:cxn>
              </a:cxnLst>
              <a:rect l="0" t="0" r="r" b="b"/>
              <a:pathLst>
                <a:path w="1203" h="1169">
                  <a:moveTo>
                    <a:pt x="653" y="0"/>
                  </a:moveTo>
                  <a:lnTo>
                    <a:pt x="0" y="343"/>
                  </a:lnTo>
                  <a:lnTo>
                    <a:pt x="309" y="1168"/>
                  </a:lnTo>
                  <a:lnTo>
                    <a:pt x="996" y="1134"/>
                  </a:lnTo>
                  <a:lnTo>
                    <a:pt x="1202" y="309"/>
                  </a:lnTo>
                  <a:lnTo>
                    <a:pt x="687" y="34"/>
                  </a:lnTo>
                  <a:lnTo>
                    <a:pt x="653" y="0"/>
                  </a:lnTo>
                </a:path>
              </a:pathLst>
            </a:custGeom>
            <a:solidFill>
              <a:srgbClr val="99CC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7017601" y="1981255"/>
              <a:ext cx="79200" cy="7920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67" name="Line 11"/>
            <p:cNvSpPr>
              <a:spLocks noChangeShapeType="1"/>
            </p:cNvSpPr>
            <p:nvPr/>
          </p:nvSpPr>
          <p:spPr bwMode="auto">
            <a:xfrm flipH="1">
              <a:off x="6121920" y="2086386"/>
              <a:ext cx="866880" cy="3139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9468" name="Freeform 12"/>
            <p:cNvSpPr>
              <a:spLocks noChangeArrowheads="1"/>
            </p:cNvSpPr>
            <p:nvPr/>
          </p:nvSpPr>
          <p:spPr bwMode="auto">
            <a:xfrm>
              <a:off x="5831040" y="3803046"/>
              <a:ext cx="561600" cy="465168"/>
            </a:xfrm>
            <a:custGeom>
              <a:avLst/>
              <a:gdLst/>
              <a:ahLst/>
              <a:cxnLst>
                <a:cxn ang="0">
                  <a:pos x="934" y="0"/>
                </a:cxn>
                <a:cxn ang="0">
                  <a:pos x="0" y="418"/>
                </a:cxn>
                <a:cxn ang="0">
                  <a:pos x="442" y="1424"/>
                </a:cxn>
                <a:cxn ang="0">
                  <a:pos x="1424" y="1383"/>
                </a:cxn>
                <a:cxn ang="0">
                  <a:pos x="1719" y="377"/>
                </a:cxn>
                <a:cxn ang="0">
                  <a:pos x="982" y="41"/>
                </a:cxn>
                <a:cxn ang="0">
                  <a:pos x="934" y="0"/>
                </a:cxn>
              </a:cxnLst>
              <a:rect l="0" t="0" r="r" b="b"/>
              <a:pathLst>
                <a:path w="1720" h="1425">
                  <a:moveTo>
                    <a:pt x="934" y="0"/>
                  </a:moveTo>
                  <a:lnTo>
                    <a:pt x="0" y="418"/>
                  </a:lnTo>
                  <a:lnTo>
                    <a:pt x="442" y="1424"/>
                  </a:lnTo>
                  <a:lnTo>
                    <a:pt x="1424" y="1383"/>
                  </a:lnTo>
                  <a:lnTo>
                    <a:pt x="1719" y="377"/>
                  </a:lnTo>
                  <a:lnTo>
                    <a:pt x="982" y="41"/>
                  </a:lnTo>
                  <a:lnTo>
                    <a:pt x="934" y="0"/>
                  </a:lnTo>
                </a:path>
              </a:pathLst>
            </a:custGeom>
            <a:solidFill>
              <a:srgbClr val="99CCFF">
                <a:alpha val="39999"/>
              </a:srgbClr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69" name="Freeform 13"/>
            <p:cNvSpPr>
              <a:spLocks noChangeArrowheads="1"/>
            </p:cNvSpPr>
            <p:nvPr/>
          </p:nvSpPr>
          <p:spPr bwMode="auto">
            <a:xfrm>
              <a:off x="5809441" y="5395853"/>
              <a:ext cx="561600" cy="465168"/>
            </a:xfrm>
            <a:custGeom>
              <a:avLst/>
              <a:gdLst/>
              <a:ahLst/>
              <a:cxnLst>
                <a:cxn ang="0">
                  <a:pos x="934" y="0"/>
                </a:cxn>
                <a:cxn ang="0">
                  <a:pos x="0" y="418"/>
                </a:cxn>
                <a:cxn ang="0">
                  <a:pos x="442" y="1424"/>
                </a:cxn>
                <a:cxn ang="0">
                  <a:pos x="1424" y="1383"/>
                </a:cxn>
                <a:cxn ang="0">
                  <a:pos x="1719" y="377"/>
                </a:cxn>
                <a:cxn ang="0">
                  <a:pos x="982" y="41"/>
                </a:cxn>
                <a:cxn ang="0">
                  <a:pos x="934" y="0"/>
                </a:cxn>
              </a:cxnLst>
              <a:rect l="0" t="0" r="r" b="b"/>
              <a:pathLst>
                <a:path w="1720" h="1425">
                  <a:moveTo>
                    <a:pt x="934" y="0"/>
                  </a:moveTo>
                  <a:lnTo>
                    <a:pt x="0" y="418"/>
                  </a:lnTo>
                  <a:lnTo>
                    <a:pt x="442" y="1424"/>
                  </a:lnTo>
                  <a:lnTo>
                    <a:pt x="1424" y="1383"/>
                  </a:lnTo>
                  <a:lnTo>
                    <a:pt x="1719" y="377"/>
                  </a:lnTo>
                  <a:lnTo>
                    <a:pt x="982" y="41"/>
                  </a:lnTo>
                  <a:lnTo>
                    <a:pt x="934" y="0"/>
                  </a:lnTo>
                </a:path>
              </a:pathLst>
            </a:custGeom>
            <a:solidFill>
              <a:srgbClr val="00B8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70" name="Freeform 14"/>
            <p:cNvSpPr>
              <a:spLocks noChangeArrowheads="1"/>
            </p:cNvSpPr>
            <p:nvPr/>
          </p:nvSpPr>
          <p:spPr bwMode="auto">
            <a:xfrm>
              <a:off x="6684961" y="5104943"/>
              <a:ext cx="561600" cy="465168"/>
            </a:xfrm>
            <a:custGeom>
              <a:avLst/>
              <a:gdLst/>
              <a:ahLst/>
              <a:cxnLst>
                <a:cxn ang="0">
                  <a:pos x="934" y="0"/>
                </a:cxn>
                <a:cxn ang="0">
                  <a:pos x="0" y="418"/>
                </a:cxn>
                <a:cxn ang="0">
                  <a:pos x="442" y="1424"/>
                </a:cxn>
                <a:cxn ang="0">
                  <a:pos x="1424" y="1383"/>
                </a:cxn>
                <a:cxn ang="0">
                  <a:pos x="1719" y="377"/>
                </a:cxn>
                <a:cxn ang="0">
                  <a:pos x="982" y="41"/>
                </a:cxn>
                <a:cxn ang="0">
                  <a:pos x="934" y="0"/>
                </a:cxn>
              </a:cxnLst>
              <a:rect l="0" t="0" r="r" b="b"/>
              <a:pathLst>
                <a:path w="1720" h="1425">
                  <a:moveTo>
                    <a:pt x="934" y="0"/>
                  </a:moveTo>
                  <a:lnTo>
                    <a:pt x="0" y="418"/>
                  </a:lnTo>
                  <a:lnTo>
                    <a:pt x="442" y="1424"/>
                  </a:lnTo>
                  <a:lnTo>
                    <a:pt x="1424" y="1383"/>
                  </a:lnTo>
                  <a:lnTo>
                    <a:pt x="1719" y="377"/>
                  </a:lnTo>
                  <a:lnTo>
                    <a:pt x="982" y="41"/>
                  </a:lnTo>
                  <a:lnTo>
                    <a:pt x="934" y="0"/>
                  </a:lnTo>
                </a:path>
              </a:pathLst>
            </a:custGeom>
            <a:solidFill>
              <a:srgbClr val="99CCFF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 flipH="1">
              <a:off x="6098880" y="5306564"/>
              <a:ext cx="866880" cy="3139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graphicFrame>
          <p:nvGraphicFramePr>
            <p:cNvPr id="1947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3375504"/>
                </p:ext>
              </p:extLst>
            </p:nvPr>
          </p:nvGraphicFramePr>
          <p:xfrm>
            <a:off x="6997441" y="1359109"/>
            <a:ext cx="1311840" cy="404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62" name="Equation" r:id="rId6" imgW="774360" imgH="241200" progId="Equation.3">
                    <p:embed/>
                  </p:oleObj>
                </mc:Choice>
                <mc:Fallback>
                  <p:oleObj name="Equation" r:id="rId6" imgW="7743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7441" y="1359109"/>
                          <a:ext cx="1311840" cy="4046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0970760"/>
                </p:ext>
              </p:extLst>
            </p:nvPr>
          </p:nvGraphicFramePr>
          <p:xfrm>
            <a:off x="6409920" y="3385403"/>
            <a:ext cx="1039680" cy="4738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63" name="Equation" r:id="rId8" imgW="520560" imgH="241200" progId="Equation.3">
                    <p:embed/>
                  </p:oleObj>
                </mc:Choice>
                <mc:Fallback>
                  <p:oleObj name="Equation" r:id="rId8" imgW="5205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9920" y="3385403"/>
                          <a:ext cx="1039680" cy="4738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1061746"/>
                </p:ext>
              </p:extLst>
            </p:nvPr>
          </p:nvGraphicFramePr>
          <p:xfrm>
            <a:off x="6866401" y="4717542"/>
            <a:ext cx="1176480" cy="4709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64" name="Equation" r:id="rId10" imgW="596880" imgH="241200" progId="Equation.3">
                    <p:embed/>
                  </p:oleObj>
                </mc:Choice>
                <mc:Fallback>
                  <p:oleObj name="Equation" r:id="rId10" imgW="5968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6401" y="4717542"/>
                          <a:ext cx="1176480" cy="4709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D8D3B372-0FF1-2648-A0F6-F005CA0B5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359" y="4251224"/>
            <a:ext cx="79202" cy="7920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AA19891E-AEEB-2845-904B-66E7F986B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559591"/>
            <a:ext cx="79200" cy="7920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9560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matrix compositions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Matrix composition is </a:t>
            </a:r>
            <a:r>
              <a:rPr lang="en-US" b="1" dirty="0"/>
              <a:t>not</a:t>
            </a:r>
            <a:r>
              <a:rPr lang="en-US" dirty="0"/>
              <a:t> commutative. So, be careful when applying a sequence of transformations.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92666" y="3352800"/>
            <a:ext cx="2641134" cy="2117498"/>
            <a:chOff x="492003" y="3754785"/>
            <a:chExt cx="2641134" cy="2117498"/>
          </a:xfrm>
        </p:grpSpPr>
        <p:grpSp>
          <p:nvGrpSpPr>
            <p:cNvPr id="25" name="Group 24"/>
            <p:cNvGrpSpPr/>
            <p:nvPr/>
          </p:nvGrpSpPr>
          <p:grpSpPr>
            <a:xfrm>
              <a:off x="876300" y="3754785"/>
              <a:ext cx="2256837" cy="1548078"/>
              <a:chOff x="876300" y="3754785"/>
              <a:chExt cx="2256837" cy="1548078"/>
            </a:xfrm>
          </p:grpSpPr>
          <p:sp>
            <p:nvSpPr>
              <p:cNvPr id="4" name="Isosceles Triangle 3"/>
              <p:cNvSpPr/>
              <p:nvPr/>
            </p:nvSpPr>
            <p:spPr>
              <a:xfrm rot="2808280">
                <a:off x="914400" y="4844668"/>
                <a:ext cx="381000" cy="4572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>
                <a:off x="914400" y="5257800"/>
                <a:ext cx="1752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flipV="1">
                <a:off x="914400" y="3886200"/>
                <a:ext cx="0" cy="1371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453708" y="3754785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Pivot</a:t>
                </a:r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1821276" y="4356289"/>
                <a:ext cx="304800" cy="280857"/>
                <a:chOff x="3429000" y="2895600"/>
                <a:chExt cx="304800" cy="280857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429000" y="2895600"/>
                  <a:ext cx="0" cy="28085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429000" y="2895600"/>
                  <a:ext cx="304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Arc 17"/>
              <p:cNvSpPr/>
              <p:nvPr/>
            </p:nvSpPr>
            <p:spPr>
              <a:xfrm rot="4500000">
                <a:off x="1707594" y="4330838"/>
                <a:ext cx="256529" cy="295615"/>
              </a:xfrm>
              <a:prstGeom prst="arc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820231" y="455125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2020820" y="43735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774330" y="4301819"/>
                <a:ext cx="108940" cy="108940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Isosceles Triangle 48"/>
              <p:cNvSpPr/>
              <p:nvPr/>
            </p:nvSpPr>
            <p:spPr>
              <a:xfrm rot="18900000">
                <a:off x="2347781" y="4845663"/>
                <a:ext cx="381000" cy="457200"/>
              </a:xfrm>
              <a:prstGeom prst="triangl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 flipV="1">
                <a:off x="2743199" y="4558234"/>
                <a:ext cx="0" cy="2749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Isosceles Triangle 49"/>
              <p:cNvSpPr/>
              <p:nvPr/>
            </p:nvSpPr>
            <p:spPr>
              <a:xfrm rot="18900000">
                <a:off x="2391849" y="3887847"/>
                <a:ext cx="381000" cy="457200"/>
              </a:xfrm>
              <a:prstGeom prst="triangl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492003" y="5502951"/>
              <a:ext cx="26212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Rotation and translation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922971" y="3350886"/>
            <a:ext cx="2599814" cy="2119412"/>
            <a:chOff x="4922971" y="3752871"/>
            <a:chExt cx="2599814" cy="2119412"/>
          </a:xfrm>
        </p:grpSpPr>
        <p:grpSp>
          <p:nvGrpSpPr>
            <p:cNvPr id="51" name="Group 50"/>
            <p:cNvGrpSpPr/>
            <p:nvPr/>
          </p:nvGrpSpPr>
          <p:grpSpPr>
            <a:xfrm>
              <a:off x="5029200" y="3752871"/>
              <a:ext cx="2200863" cy="1559455"/>
              <a:chOff x="466137" y="3754785"/>
              <a:chExt cx="2200863" cy="1559455"/>
            </a:xfrm>
          </p:grpSpPr>
          <p:sp>
            <p:nvSpPr>
              <p:cNvPr id="52" name="Isosceles Triangle 51"/>
              <p:cNvSpPr/>
              <p:nvPr/>
            </p:nvSpPr>
            <p:spPr>
              <a:xfrm rot="2808280">
                <a:off x="914400" y="4844668"/>
                <a:ext cx="381000" cy="4572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Arrow Connector 52"/>
              <p:cNvCxnSpPr/>
              <p:nvPr/>
            </p:nvCxnSpPr>
            <p:spPr>
              <a:xfrm>
                <a:off x="914400" y="5257800"/>
                <a:ext cx="1752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 flipV="1">
                <a:off x="914400" y="3886200"/>
                <a:ext cx="0" cy="1371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1453708" y="3754785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Pivot</a:t>
                </a:r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1821276" y="4356289"/>
                <a:ext cx="304800" cy="280857"/>
                <a:chOff x="3429000" y="2895600"/>
                <a:chExt cx="304800" cy="280857"/>
              </a:xfrm>
            </p:grpSpPr>
            <p:cxnSp>
              <p:nvCxnSpPr>
                <p:cNvPr id="66" name="Straight Connector 65"/>
                <p:cNvCxnSpPr/>
                <p:nvPr/>
              </p:nvCxnSpPr>
              <p:spPr>
                <a:xfrm>
                  <a:off x="3429000" y="2895600"/>
                  <a:ext cx="0" cy="28085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3429000" y="2895600"/>
                  <a:ext cx="304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Arc 56"/>
              <p:cNvSpPr/>
              <p:nvPr/>
            </p:nvSpPr>
            <p:spPr>
              <a:xfrm rot="4500000">
                <a:off x="1707594" y="4330838"/>
                <a:ext cx="256529" cy="295615"/>
              </a:xfrm>
              <a:prstGeom prst="arc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543169" y="455125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020820" y="43735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774330" y="4301819"/>
                <a:ext cx="108940" cy="108940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2700000">
                <a:off x="919935" y="3965961"/>
                <a:ext cx="381000" cy="457200"/>
              </a:xfrm>
              <a:prstGeom prst="triangl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/>
              <p:cNvCxnSpPr/>
              <p:nvPr/>
            </p:nvCxnSpPr>
            <p:spPr>
              <a:xfrm flipV="1">
                <a:off x="466137" y="4558234"/>
                <a:ext cx="0" cy="2749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Isosceles Triangle 64"/>
              <p:cNvSpPr/>
              <p:nvPr/>
            </p:nvSpPr>
            <p:spPr>
              <a:xfrm rot="18900000">
                <a:off x="1469315" y="4857040"/>
                <a:ext cx="381000" cy="457200"/>
              </a:xfrm>
              <a:prstGeom prst="triangl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4922971" y="5502951"/>
              <a:ext cx="2599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Translation and rotation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39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Other Transformations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Reflection:</a:t>
            </a:r>
            <a:r>
              <a:rPr lang="en-GB" dirty="0"/>
              <a:t> special case of scaling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20483" name="Freeform 3"/>
          <p:cNvSpPr>
            <a:spLocks/>
          </p:cNvSpPr>
          <p:nvPr/>
        </p:nvSpPr>
        <p:spPr bwMode="auto">
          <a:xfrm>
            <a:off x="1163752" y="2173477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84" name="Freeform 4"/>
          <p:cNvSpPr>
            <a:spLocks noChangeArrowheads="1"/>
          </p:cNvSpPr>
          <p:nvPr/>
        </p:nvSpPr>
        <p:spPr bwMode="auto">
          <a:xfrm>
            <a:off x="1516553" y="2786981"/>
            <a:ext cx="393120" cy="381640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0485" name="Freeform 5"/>
          <p:cNvSpPr>
            <a:spLocks noChangeArrowheads="1"/>
          </p:cNvSpPr>
          <p:nvPr/>
        </p:nvSpPr>
        <p:spPr bwMode="auto">
          <a:xfrm>
            <a:off x="1542473" y="3603545"/>
            <a:ext cx="393120" cy="381641"/>
          </a:xfrm>
          <a:custGeom>
            <a:avLst/>
            <a:gdLst/>
            <a:ahLst/>
            <a:cxnLst>
              <a:cxn ang="0">
                <a:pos x="549" y="1168"/>
              </a:cxn>
              <a:cxn ang="0">
                <a:pos x="1202" y="825"/>
              </a:cxn>
              <a:cxn ang="0">
                <a:pos x="893" y="0"/>
              </a:cxn>
              <a:cxn ang="0">
                <a:pos x="206" y="34"/>
              </a:cxn>
              <a:cxn ang="0">
                <a:pos x="0" y="859"/>
              </a:cxn>
              <a:cxn ang="0">
                <a:pos x="515" y="1134"/>
              </a:cxn>
              <a:cxn ang="0">
                <a:pos x="549" y="1168"/>
              </a:cxn>
            </a:cxnLst>
            <a:rect l="0" t="0" r="r" b="b"/>
            <a:pathLst>
              <a:path w="1203" h="1169">
                <a:moveTo>
                  <a:pt x="549" y="1168"/>
                </a:moveTo>
                <a:lnTo>
                  <a:pt x="1202" y="825"/>
                </a:lnTo>
                <a:lnTo>
                  <a:pt x="893" y="0"/>
                </a:lnTo>
                <a:lnTo>
                  <a:pt x="206" y="34"/>
                </a:lnTo>
                <a:lnTo>
                  <a:pt x="0" y="859"/>
                </a:lnTo>
                <a:lnTo>
                  <a:pt x="515" y="1134"/>
                </a:lnTo>
                <a:lnTo>
                  <a:pt x="549" y="1168"/>
                </a:lnTo>
              </a:path>
            </a:pathLst>
          </a:custGeom>
          <a:solidFill>
            <a:srgbClr val="99CC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0486" name="Freeform 6"/>
          <p:cNvSpPr>
            <a:spLocks/>
          </p:cNvSpPr>
          <p:nvPr/>
        </p:nvSpPr>
        <p:spPr bwMode="auto">
          <a:xfrm>
            <a:off x="1925512" y="2877710"/>
            <a:ext cx="61920" cy="966342"/>
          </a:xfrm>
          <a:custGeom>
            <a:avLst/>
            <a:gdLst/>
            <a:ahLst/>
            <a:cxnLst>
              <a:cxn ang="0">
                <a:pos x="9" y="2958"/>
              </a:cxn>
              <a:cxn ang="0">
                <a:pos x="30" y="2888"/>
              </a:cxn>
              <a:cxn ang="0">
                <a:pos x="49" y="2814"/>
              </a:cxn>
              <a:cxn ang="0">
                <a:pos x="67" y="2737"/>
              </a:cxn>
              <a:cxn ang="0">
                <a:pos x="84" y="2657"/>
              </a:cxn>
              <a:cxn ang="0">
                <a:pos x="100" y="2574"/>
              </a:cxn>
              <a:cxn ang="0">
                <a:pos x="115" y="2488"/>
              </a:cxn>
              <a:cxn ang="0">
                <a:pos x="129" y="2399"/>
              </a:cxn>
              <a:cxn ang="0">
                <a:pos x="141" y="2308"/>
              </a:cxn>
              <a:cxn ang="0">
                <a:pos x="152" y="2214"/>
              </a:cxn>
              <a:cxn ang="0">
                <a:pos x="162" y="2119"/>
              </a:cxn>
              <a:cxn ang="0">
                <a:pos x="170" y="2022"/>
              </a:cxn>
              <a:cxn ang="0">
                <a:pos x="177" y="1924"/>
              </a:cxn>
              <a:cxn ang="0">
                <a:pos x="182" y="1825"/>
              </a:cxn>
              <a:cxn ang="0">
                <a:pos x="186" y="1724"/>
              </a:cxn>
              <a:cxn ang="0">
                <a:pos x="189" y="1623"/>
              </a:cxn>
              <a:cxn ang="0">
                <a:pos x="190" y="1522"/>
              </a:cxn>
              <a:cxn ang="0">
                <a:pos x="190" y="1421"/>
              </a:cxn>
              <a:cxn ang="0">
                <a:pos x="188" y="1320"/>
              </a:cxn>
              <a:cxn ang="0">
                <a:pos x="185" y="1219"/>
              </a:cxn>
              <a:cxn ang="0">
                <a:pos x="180" y="1119"/>
              </a:cxn>
              <a:cxn ang="0">
                <a:pos x="174" y="1020"/>
              </a:cxn>
              <a:cxn ang="0">
                <a:pos x="167" y="923"/>
              </a:cxn>
              <a:cxn ang="0">
                <a:pos x="158" y="826"/>
              </a:cxn>
              <a:cxn ang="0">
                <a:pos x="148" y="732"/>
              </a:cxn>
              <a:cxn ang="0">
                <a:pos x="136" y="640"/>
              </a:cxn>
              <a:cxn ang="0">
                <a:pos x="123" y="549"/>
              </a:cxn>
              <a:cxn ang="0">
                <a:pos x="109" y="462"/>
              </a:cxn>
              <a:cxn ang="0">
                <a:pos x="94" y="377"/>
              </a:cxn>
              <a:cxn ang="0">
                <a:pos x="77" y="295"/>
              </a:cxn>
              <a:cxn ang="0">
                <a:pos x="60" y="216"/>
              </a:cxn>
              <a:cxn ang="0">
                <a:pos x="41" y="140"/>
              </a:cxn>
              <a:cxn ang="0">
                <a:pos x="21" y="68"/>
              </a:cxn>
              <a:cxn ang="0">
                <a:pos x="0" y="0"/>
              </a:cxn>
            </a:cxnLst>
            <a:rect l="0" t="0" r="r" b="b"/>
            <a:pathLst>
              <a:path w="191" h="2959">
                <a:moveTo>
                  <a:pt x="9" y="2958"/>
                </a:moveTo>
                <a:lnTo>
                  <a:pt x="30" y="2888"/>
                </a:lnTo>
                <a:lnTo>
                  <a:pt x="49" y="2814"/>
                </a:lnTo>
                <a:lnTo>
                  <a:pt x="67" y="2737"/>
                </a:lnTo>
                <a:lnTo>
                  <a:pt x="84" y="2657"/>
                </a:lnTo>
                <a:lnTo>
                  <a:pt x="100" y="2574"/>
                </a:lnTo>
                <a:lnTo>
                  <a:pt x="115" y="2488"/>
                </a:lnTo>
                <a:lnTo>
                  <a:pt x="129" y="2399"/>
                </a:lnTo>
                <a:lnTo>
                  <a:pt x="141" y="2308"/>
                </a:lnTo>
                <a:lnTo>
                  <a:pt x="152" y="2214"/>
                </a:lnTo>
                <a:lnTo>
                  <a:pt x="162" y="2119"/>
                </a:lnTo>
                <a:lnTo>
                  <a:pt x="170" y="2022"/>
                </a:lnTo>
                <a:lnTo>
                  <a:pt x="177" y="1924"/>
                </a:lnTo>
                <a:lnTo>
                  <a:pt x="182" y="1825"/>
                </a:lnTo>
                <a:lnTo>
                  <a:pt x="186" y="1724"/>
                </a:lnTo>
                <a:lnTo>
                  <a:pt x="189" y="1623"/>
                </a:lnTo>
                <a:lnTo>
                  <a:pt x="190" y="1522"/>
                </a:lnTo>
                <a:lnTo>
                  <a:pt x="190" y="1421"/>
                </a:lnTo>
                <a:lnTo>
                  <a:pt x="188" y="1320"/>
                </a:lnTo>
                <a:lnTo>
                  <a:pt x="185" y="1219"/>
                </a:lnTo>
                <a:lnTo>
                  <a:pt x="180" y="1119"/>
                </a:lnTo>
                <a:lnTo>
                  <a:pt x="174" y="1020"/>
                </a:lnTo>
                <a:lnTo>
                  <a:pt x="167" y="923"/>
                </a:lnTo>
                <a:lnTo>
                  <a:pt x="158" y="826"/>
                </a:lnTo>
                <a:lnTo>
                  <a:pt x="148" y="732"/>
                </a:lnTo>
                <a:lnTo>
                  <a:pt x="136" y="640"/>
                </a:lnTo>
                <a:lnTo>
                  <a:pt x="123" y="549"/>
                </a:lnTo>
                <a:lnTo>
                  <a:pt x="109" y="462"/>
                </a:lnTo>
                <a:lnTo>
                  <a:pt x="94" y="377"/>
                </a:lnTo>
                <a:lnTo>
                  <a:pt x="77" y="295"/>
                </a:lnTo>
                <a:lnTo>
                  <a:pt x="60" y="216"/>
                </a:lnTo>
                <a:lnTo>
                  <a:pt x="41" y="140"/>
                </a:lnTo>
                <a:lnTo>
                  <a:pt x="21" y="6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round/>
            <a:headEnd type="triangle" w="med" len="med"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87" name="Freeform 7"/>
          <p:cNvSpPr>
            <a:spLocks/>
          </p:cNvSpPr>
          <p:nvPr/>
        </p:nvSpPr>
        <p:spPr bwMode="auto">
          <a:xfrm>
            <a:off x="1460392" y="2938197"/>
            <a:ext cx="76320" cy="943299"/>
          </a:xfrm>
          <a:custGeom>
            <a:avLst/>
            <a:gdLst/>
            <a:ahLst/>
            <a:cxnLst>
              <a:cxn ang="0">
                <a:pos x="129" y="0"/>
              </a:cxn>
              <a:cxn ang="0">
                <a:pos x="112" y="80"/>
              </a:cxn>
              <a:cxn ang="0">
                <a:pos x="95" y="163"/>
              </a:cxn>
              <a:cxn ang="0">
                <a:pos x="80" y="249"/>
              </a:cxn>
              <a:cxn ang="0">
                <a:pos x="65" y="338"/>
              </a:cxn>
              <a:cxn ang="0">
                <a:pos x="53" y="430"/>
              </a:cxn>
              <a:cxn ang="0">
                <a:pos x="41" y="523"/>
              </a:cxn>
              <a:cxn ang="0">
                <a:pos x="31" y="619"/>
              </a:cxn>
              <a:cxn ang="0">
                <a:pos x="22" y="716"/>
              </a:cxn>
              <a:cxn ang="0">
                <a:pos x="15" y="815"/>
              </a:cxn>
              <a:cxn ang="0">
                <a:pos x="9" y="915"/>
              </a:cxn>
              <a:cxn ang="0">
                <a:pos x="5" y="1017"/>
              </a:cxn>
              <a:cxn ang="0">
                <a:pos x="2" y="1118"/>
              </a:cxn>
              <a:cxn ang="0">
                <a:pos x="0" y="1221"/>
              </a:cxn>
              <a:cxn ang="0">
                <a:pos x="0" y="1323"/>
              </a:cxn>
              <a:cxn ang="0">
                <a:pos x="2" y="1425"/>
              </a:cxn>
              <a:cxn ang="0">
                <a:pos x="5" y="1527"/>
              </a:cxn>
              <a:cxn ang="0">
                <a:pos x="9" y="1628"/>
              </a:cxn>
              <a:cxn ang="0">
                <a:pos x="15" y="1728"/>
              </a:cxn>
              <a:cxn ang="0">
                <a:pos x="22" y="1827"/>
              </a:cxn>
              <a:cxn ang="0">
                <a:pos x="31" y="1925"/>
              </a:cxn>
              <a:cxn ang="0">
                <a:pos x="41" y="2020"/>
              </a:cxn>
              <a:cxn ang="0">
                <a:pos x="52" y="2114"/>
              </a:cxn>
              <a:cxn ang="0">
                <a:pos x="65" y="2205"/>
              </a:cxn>
              <a:cxn ang="0">
                <a:pos x="79" y="2294"/>
              </a:cxn>
              <a:cxn ang="0">
                <a:pos x="95" y="2381"/>
              </a:cxn>
              <a:cxn ang="0">
                <a:pos x="111" y="2464"/>
              </a:cxn>
              <a:cxn ang="0">
                <a:pos x="129" y="2544"/>
              </a:cxn>
              <a:cxn ang="0">
                <a:pos x="148" y="2621"/>
              </a:cxn>
              <a:cxn ang="0">
                <a:pos x="168" y="2694"/>
              </a:cxn>
              <a:cxn ang="0">
                <a:pos x="189" y="2763"/>
              </a:cxn>
              <a:cxn ang="0">
                <a:pos x="211" y="2828"/>
              </a:cxn>
              <a:cxn ang="0">
                <a:pos x="233" y="2889"/>
              </a:cxn>
            </a:cxnLst>
            <a:rect l="0" t="0" r="r" b="b"/>
            <a:pathLst>
              <a:path w="234" h="2890">
                <a:moveTo>
                  <a:pt x="129" y="0"/>
                </a:moveTo>
                <a:lnTo>
                  <a:pt x="112" y="80"/>
                </a:lnTo>
                <a:lnTo>
                  <a:pt x="95" y="163"/>
                </a:lnTo>
                <a:lnTo>
                  <a:pt x="80" y="249"/>
                </a:lnTo>
                <a:lnTo>
                  <a:pt x="65" y="338"/>
                </a:lnTo>
                <a:lnTo>
                  <a:pt x="53" y="430"/>
                </a:lnTo>
                <a:lnTo>
                  <a:pt x="41" y="523"/>
                </a:lnTo>
                <a:lnTo>
                  <a:pt x="31" y="619"/>
                </a:lnTo>
                <a:lnTo>
                  <a:pt x="22" y="716"/>
                </a:lnTo>
                <a:lnTo>
                  <a:pt x="15" y="815"/>
                </a:lnTo>
                <a:lnTo>
                  <a:pt x="9" y="915"/>
                </a:lnTo>
                <a:lnTo>
                  <a:pt x="5" y="1017"/>
                </a:lnTo>
                <a:lnTo>
                  <a:pt x="2" y="1118"/>
                </a:lnTo>
                <a:lnTo>
                  <a:pt x="0" y="1221"/>
                </a:lnTo>
                <a:lnTo>
                  <a:pt x="0" y="1323"/>
                </a:lnTo>
                <a:lnTo>
                  <a:pt x="2" y="1425"/>
                </a:lnTo>
                <a:lnTo>
                  <a:pt x="5" y="1527"/>
                </a:lnTo>
                <a:lnTo>
                  <a:pt x="9" y="1628"/>
                </a:lnTo>
                <a:lnTo>
                  <a:pt x="15" y="1728"/>
                </a:lnTo>
                <a:lnTo>
                  <a:pt x="22" y="1827"/>
                </a:lnTo>
                <a:lnTo>
                  <a:pt x="31" y="1925"/>
                </a:lnTo>
                <a:lnTo>
                  <a:pt x="41" y="2020"/>
                </a:lnTo>
                <a:lnTo>
                  <a:pt x="52" y="2114"/>
                </a:lnTo>
                <a:lnTo>
                  <a:pt x="65" y="2205"/>
                </a:lnTo>
                <a:lnTo>
                  <a:pt x="79" y="2294"/>
                </a:lnTo>
                <a:lnTo>
                  <a:pt x="95" y="2381"/>
                </a:lnTo>
                <a:lnTo>
                  <a:pt x="111" y="2464"/>
                </a:lnTo>
                <a:lnTo>
                  <a:pt x="129" y="2544"/>
                </a:lnTo>
                <a:lnTo>
                  <a:pt x="148" y="2621"/>
                </a:lnTo>
                <a:lnTo>
                  <a:pt x="168" y="2694"/>
                </a:lnTo>
                <a:lnTo>
                  <a:pt x="189" y="2763"/>
                </a:lnTo>
                <a:lnTo>
                  <a:pt x="211" y="2828"/>
                </a:lnTo>
                <a:lnTo>
                  <a:pt x="233" y="2889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88" name="Freeform 8"/>
          <p:cNvSpPr>
            <a:spLocks/>
          </p:cNvSpPr>
          <p:nvPr/>
        </p:nvSpPr>
        <p:spPr bwMode="auto">
          <a:xfrm>
            <a:off x="4135912" y="2241163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89" name="Freeform 9"/>
          <p:cNvSpPr>
            <a:spLocks noChangeArrowheads="1"/>
          </p:cNvSpPr>
          <p:nvPr/>
        </p:nvSpPr>
        <p:spPr bwMode="auto">
          <a:xfrm>
            <a:off x="4487272" y="2854667"/>
            <a:ext cx="393120" cy="381641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3787432" y="3244949"/>
            <a:ext cx="757440" cy="9360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" y="30"/>
              </a:cxn>
              <a:cxn ang="0">
                <a:pos x="119" y="59"/>
              </a:cxn>
              <a:cxn ang="0">
                <a:pos x="183" y="86"/>
              </a:cxn>
              <a:cxn ang="0">
                <a:pos x="250" y="112"/>
              </a:cxn>
              <a:cxn ang="0">
                <a:pos x="321" y="136"/>
              </a:cxn>
              <a:cxn ang="0">
                <a:pos x="394" y="158"/>
              </a:cxn>
              <a:cxn ang="0">
                <a:pos x="469" y="179"/>
              </a:cxn>
              <a:cxn ang="0">
                <a:pos x="547" y="198"/>
              </a:cxn>
              <a:cxn ang="0">
                <a:pos x="627" y="215"/>
              </a:cxn>
              <a:cxn ang="0">
                <a:pos x="708" y="231"/>
              </a:cxn>
              <a:cxn ang="0">
                <a:pos x="792" y="244"/>
              </a:cxn>
              <a:cxn ang="0">
                <a:pos x="877" y="256"/>
              </a:cxn>
              <a:cxn ang="0">
                <a:pos x="963" y="265"/>
              </a:cxn>
              <a:cxn ang="0">
                <a:pos x="1049" y="273"/>
              </a:cxn>
              <a:cxn ang="0">
                <a:pos x="1137" y="279"/>
              </a:cxn>
              <a:cxn ang="0">
                <a:pos x="1225" y="282"/>
              </a:cxn>
              <a:cxn ang="0">
                <a:pos x="1314" y="284"/>
              </a:cxn>
              <a:cxn ang="0">
                <a:pos x="1403" y="283"/>
              </a:cxn>
              <a:cxn ang="0">
                <a:pos x="1491" y="281"/>
              </a:cxn>
              <a:cxn ang="0">
                <a:pos x="1579" y="277"/>
              </a:cxn>
              <a:cxn ang="0">
                <a:pos x="1667" y="270"/>
              </a:cxn>
              <a:cxn ang="0">
                <a:pos x="1753" y="262"/>
              </a:cxn>
              <a:cxn ang="0">
                <a:pos x="1839" y="251"/>
              </a:cxn>
              <a:cxn ang="0">
                <a:pos x="1923" y="239"/>
              </a:cxn>
              <a:cxn ang="0">
                <a:pos x="2006" y="225"/>
              </a:cxn>
              <a:cxn ang="0">
                <a:pos x="2087" y="209"/>
              </a:cxn>
              <a:cxn ang="0">
                <a:pos x="2166" y="191"/>
              </a:cxn>
              <a:cxn ang="0">
                <a:pos x="2242" y="171"/>
              </a:cxn>
              <a:cxn ang="0">
                <a:pos x="2317" y="149"/>
              </a:cxn>
            </a:cxnLst>
            <a:rect l="0" t="0" r="r" b="b"/>
            <a:pathLst>
              <a:path w="2318" h="285">
                <a:moveTo>
                  <a:pt x="0" y="0"/>
                </a:moveTo>
                <a:lnTo>
                  <a:pt x="57" y="30"/>
                </a:lnTo>
                <a:lnTo>
                  <a:pt x="119" y="59"/>
                </a:lnTo>
                <a:lnTo>
                  <a:pt x="183" y="86"/>
                </a:lnTo>
                <a:lnTo>
                  <a:pt x="250" y="112"/>
                </a:lnTo>
                <a:lnTo>
                  <a:pt x="321" y="136"/>
                </a:lnTo>
                <a:lnTo>
                  <a:pt x="394" y="158"/>
                </a:lnTo>
                <a:lnTo>
                  <a:pt x="469" y="179"/>
                </a:lnTo>
                <a:lnTo>
                  <a:pt x="547" y="198"/>
                </a:lnTo>
                <a:lnTo>
                  <a:pt x="627" y="215"/>
                </a:lnTo>
                <a:lnTo>
                  <a:pt x="708" y="231"/>
                </a:lnTo>
                <a:lnTo>
                  <a:pt x="792" y="244"/>
                </a:lnTo>
                <a:lnTo>
                  <a:pt x="877" y="256"/>
                </a:lnTo>
                <a:lnTo>
                  <a:pt x="963" y="265"/>
                </a:lnTo>
                <a:lnTo>
                  <a:pt x="1049" y="273"/>
                </a:lnTo>
                <a:lnTo>
                  <a:pt x="1137" y="279"/>
                </a:lnTo>
                <a:lnTo>
                  <a:pt x="1225" y="282"/>
                </a:lnTo>
                <a:lnTo>
                  <a:pt x="1314" y="284"/>
                </a:lnTo>
                <a:lnTo>
                  <a:pt x="1403" y="283"/>
                </a:lnTo>
                <a:lnTo>
                  <a:pt x="1491" y="281"/>
                </a:lnTo>
                <a:lnTo>
                  <a:pt x="1579" y="277"/>
                </a:lnTo>
                <a:lnTo>
                  <a:pt x="1667" y="270"/>
                </a:lnTo>
                <a:lnTo>
                  <a:pt x="1753" y="262"/>
                </a:lnTo>
                <a:lnTo>
                  <a:pt x="1839" y="251"/>
                </a:lnTo>
                <a:lnTo>
                  <a:pt x="1923" y="239"/>
                </a:lnTo>
                <a:lnTo>
                  <a:pt x="2006" y="225"/>
                </a:lnTo>
                <a:lnTo>
                  <a:pt x="2087" y="209"/>
                </a:lnTo>
                <a:lnTo>
                  <a:pt x="2166" y="191"/>
                </a:lnTo>
                <a:lnTo>
                  <a:pt x="2242" y="171"/>
                </a:lnTo>
                <a:lnTo>
                  <a:pt x="2317" y="149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round/>
            <a:headEnd type="triangle" w="med" len="med"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>
            <a:off x="3665032" y="2774019"/>
            <a:ext cx="973440" cy="60486"/>
          </a:xfrm>
          <a:custGeom>
            <a:avLst/>
            <a:gdLst/>
            <a:ahLst/>
            <a:cxnLst>
              <a:cxn ang="0">
                <a:pos x="2982" y="185"/>
              </a:cxn>
              <a:cxn ang="0">
                <a:pos x="2894" y="161"/>
              </a:cxn>
              <a:cxn ang="0">
                <a:pos x="2802" y="139"/>
              </a:cxn>
              <a:cxn ang="0">
                <a:pos x="2707" y="117"/>
              </a:cxn>
              <a:cxn ang="0">
                <a:pos x="2608" y="98"/>
              </a:cxn>
              <a:cxn ang="0">
                <a:pos x="2506" y="80"/>
              </a:cxn>
              <a:cxn ang="0">
                <a:pos x="2402" y="64"/>
              </a:cxn>
              <a:cxn ang="0">
                <a:pos x="2295" y="50"/>
              </a:cxn>
              <a:cxn ang="0">
                <a:pos x="2185" y="37"/>
              </a:cxn>
              <a:cxn ang="0">
                <a:pos x="2074" y="26"/>
              </a:cxn>
              <a:cxn ang="0">
                <a:pos x="1961" y="17"/>
              </a:cxn>
              <a:cxn ang="0">
                <a:pos x="1847" y="10"/>
              </a:cxn>
              <a:cxn ang="0">
                <a:pos x="1731" y="5"/>
              </a:cxn>
              <a:cxn ang="0">
                <a:pos x="1615" y="2"/>
              </a:cxn>
              <a:cxn ang="0">
                <a:pos x="1499" y="0"/>
              </a:cxn>
              <a:cxn ang="0">
                <a:pos x="1382" y="1"/>
              </a:cxn>
              <a:cxn ang="0">
                <a:pos x="1266" y="3"/>
              </a:cxn>
              <a:cxn ang="0">
                <a:pos x="1150" y="7"/>
              </a:cxn>
              <a:cxn ang="0">
                <a:pos x="1035" y="13"/>
              </a:cxn>
              <a:cxn ang="0">
                <a:pos x="922" y="21"/>
              </a:cxn>
              <a:cxn ang="0">
                <a:pos x="810" y="31"/>
              </a:cxn>
              <a:cxn ang="0">
                <a:pos x="699" y="43"/>
              </a:cxn>
              <a:cxn ang="0">
                <a:pos x="591" y="56"/>
              </a:cxn>
              <a:cxn ang="0">
                <a:pos x="485" y="71"/>
              </a:cxn>
              <a:cxn ang="0">
                <a:pos x="381" y="88"/>
              </a:cxn>
              <a:cxn ang="0">
                <a:pos x="281" y="107"/>
              </a:cxn>
              <a:cxn ang="0">
                <a:pos x="184" y="127"/>
              </a:cxn>
              <a:cxn ang="0">
                <a:pos x="90" y="149"/>
              </a:cxn>
              <a:cxn ang="0">
                <a:pos x="0" y="172"/>
              </a:cxn>
            </a:cxnLst>
            <a:rect l="0" t="0" r="r" b="b"/>
            <a:pathLst>
              <a:path w="2983" h="186">
                <a:moveTo>
                  <a:pt x="2982" y="185"/>
                </a:moveTo>
                <a:lnTo>
                  <a:pt x="2894" y="161"/>
                </a:lnTo>
                <a:lnTo>
                  <a:pt x="2802" y="139"/>
                </a:lnTo>
                <a:lnTo>
                  <a:pt x="2707" y="117"/>
                </a:lnTo>
                <a:lnTo>
                  <a:pt x="2608" y="98"/>
                </a:lnTo>
                <a:lnTo>
                  <a:pt x="2506" y="80"/>
                </a:lnTo>
                <a:lnTo>
                  <a:pt x="2402" y="64"/>
                </a:lnTo>
                <a:lnTo>
                  <a:pt x="2295" y="50"/>
                </a:lnTo>
                <a:lnTo>
                  <a:pt x="2185" y="37"/>
                </a:lnTo>
                <a:lnTo>
                  <a:pt x="2074" y="26"/>
                </a:lnTo>
                <a:lnTo>
                  <a:pt x="1961" y="17"/>
                </a:lnTo>
                <a:lnTo>
                  <a:pt x="1847" y="10"/>
                </a:lnTo>
                <a:lnTo>
                  <a:pt x="1731" y="5"/>
                </a:lnTo>
                <a:lnTo>
                  <a:pt x="1615" y="2"/>
                </a:lnTo>
                <a:lnTo>
                  <a:pt x="1499" y="0"/>
                </a:lnTo>
                <a:lnTo>
                  <a:pt x="1382" y="1"/>
                </a:lnTo>
                <a:lnTo>
                  <a:pt x="1266" y="3"/>
                </a:lnTo>
                <a:lnTo>
                  <a:pt x="1150" y="7"/>
                </a:lnTo>
                <a:lnTo>
                  <a:pt x="1035" y="13"/>
                </a:lnTo>
                <a:lnTo>
                  <a:pt x="922" y="21"/>
                </a:lnTo>
                <a:lnTo>
                  <a:pt x="810" y="31"/>
                </a:lnTo>
                <a:lnTo>
                  <a:pt x="699" y="43"/>
                </a:lnTo>
                <a:lnTo>
                  <a:pt x="591" y="56"/>
                </a:lnTo>
                <a:lnTo>
                  <a:pt x="485" y="71"/>
                </a:lnTo>
                <a:lnTo>
                  <a:pt x="381" y="88"/>
                </a:lnTo>
                <a:lnTo>
                  <a:pt x="281" y="107"/>
                </a:lnTo>
                <a:lnTo>
                  <a:pt x="184" y="127"/>
                </a:lnTo>
                <a:lnTo>
                  <a:pt x="90" y="149"/>
                </a:lnTo>
                <a:lnTo>
                  <a:pt x="0" y="172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92" name="Freeform 12"/>
          <p:cNvSpPr>
            <a:spLocks noChangeArrowheads="1"/>
          </p:cNvSpPr>
          <p:nvPr/>
        </p:nvSpPr>
        <p:spPr bwMode="auto">
          <a:xfrm>
            <a:off x="3421672" y="2866188"/>
            <a:ext cx="393120" cy="381641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99CC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0493" name="Freeform 13"/>
          <p:cNvSpPr>
            <a:spLocks/>
          </p:cNvSpPr>
          <p:nvPr/>
        </p:nvSpPr>
        <p:spPr bwMode="auto">
          <a:xfrm>
            <a:off x="7020232" y="1627659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94" name="Freeform 14"/>
          <p:cNvSpPr>
            <a:spLocks noChangeArrowheads="1"/>
          </p:cNvSpPr>
          <p:nvPr/>
        </p:nvSpPr>
        <p:spPr bwMode="auto">
          <a:xfrm>
            <a:off x="7371593" y="2241162"/>
            <a:ext cx="393120" cy="381641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0495" name="Freeform 15"/>
          <p:cNvSpPr>
            <a:spLocks/>
          </p:cNvSpPr>
          <p:nvPr/>
        </p:nvSpPr>
        <p:spPr bwMode="auto">
          <a:xfrm>
            <a:off x="6357833" y="2350615"/>
            <a:ext cx="1615680" cy="1569765"/>
          </a:xfrm>
          <a:custGeom>
            <a:avLst/>
            <a:gdLst/>
            <a:ahLst/>
            <a:cxnLst>
              <a:cxn ang="0">
                <a:pos x="78" y="3632"/>
              </a:cxn>
              <a:cxn ang="0">
                <a:pos x="250" y="3857"/>
              </a:cxn>
              <a:cxn ang="0">
                <a:pos x="442" y="4062"/>
              </a:cxn>
              <a:cxn ang="0">
                <a:pos x="652" y="4246"/>
              </a:cxn>
              <a:cxn ang="0">
                <a:pos x="878" y="4406"/>
              </a:cxn>
              <a:cxn ang="0">
                <a:pos x="1117" y="4540"/>
              </a:cxn>
              <a:cxn ang="0">
                <a:pos x="1367" y="4648"/>
              </a:cxn>
              <a:cxn ang="0">
                <a:pos x="1627" y="4729"/>
              </a:cxn>
              <a:cxn ang="0">
                <a:pos x="1892" y="4781"/>
              </a:cxn>
              <a:cxn ang="0">
                <a:pos x="2161" y="4805"/>
              </a:cxn>
              <a:cxn ang="0">
                <a:pos x="2430" y="4799"/>
              </a:cxn>
              <a:cxn ang="0">
                <a:pos x="2698" y="4764"/>
              </a:cxn>
              <a:cxn ang="0">
                <a:pos x="2961" y="4701"/>
              </a:cxn>
              <a:cxn ang="0">
                <a:pos x="3217" y="4609"/>
              </a:cxn>
              <a:cxn ang="0">
                <a:pos x="3463" y="4490"/>
              </a:cxn>
              <a:cxn ang="0">
                <a:pos x="3697" y="4345"/>
              </a:cxn>
              <a:cxn ang="0">
                <a:pos x="3917" y="4176"/>
              </a:cxn>
              <a:cxn ang="0">
                <a:pos x="4120" y="3984"/>
              </a:cxn>
              <a:cxn ang="0">
                <a:pos x="4305" y="3770"/>
              </a:cxn>
              <a:cxn ang="0">
                <a:pos x="4469" y="3538"/>
              </a:cxn>
              <a:cxn ang="0">
                <a:pos x="4610" y="3290"/>
              </a:cxn>
              <a:cxn ang="0">
                <a:pos x="4729" y="3027"/>
              </a:cxn>
              <a:cxn ang="0">
                <a:pos x="4822" y="2753"/>
              </a:cxn>
              <a:cxn ang="0">
                <a:pos x="4890" y="2470"/>
              </a:cxn>
              <a:cxn ang="0">
                <a:pos x="4932" y="2181"/>
              </a:cxn>
              <a:cxn ang="0">
                <a:pos x="4947" y="1889"/>
              </a:cxn>
              <a:cxn ang="0">
                <a:pos x="4935" y="1597"/>
              </a:cxn>
              <a:cxn ang="0">
                <a:pos x="4896" y="1307"/>
              </a:cxn>
              <a:cxn ang="0">
                <a:pos x="4831" y="1024"/>
              </a:cxn>
              <a:cxn ang="0">
                <a:pos x="4741" y="748"/>
              </a:cxn>
              <a:cxn ang="0">
                <a:pos x="4625" y="484"/>
              </a:cxn>
              <a:cxn ang="0">
                <a:pos x="4486" y="234"/>
              </a:cxn>
              <a:cxn ang="0">
                <a:pos x="4325" y="0"/>
              </a:cxn>
            </a:cxnLst>
            <a:rect l="0" t="0" r="r" b="b"/>
            <a:pathLst>
              <a:path w="4948" h="4806">
                <a:moveTo>
                  <a:pt x="0" y="3513"/>
                </a:moveTo>
                <a:lnTo>
                  <a:pt x="78" y="3632"/>
                </a:lnTo>
                <a:lnTo>
                  <a:pt x="161" y="3747"/>
                </a:lnTo>
                <a:lnTo>
                  <a:pt x="250" y="3857"/>
                </a:lnTo>
                <a:lnTo>
                  <a:pt x="344" y="3962"/>
                </a:lnTo>
                <a:lnTo>
                  <a:pt x="442" y="4062"/>
                </a:lnTo>
                <a:lnTo>
                  <a:pt x="545" y="4157"/>
                </a:lnTo>
                <a:lnTo>
                  <a:pt x="652" y="4246"/>
                </a:lnTo>
                <a:lnTo>
                  <a:pt x="763" y="4329"/>
                </a:lnTo>
                <a:lnTo>
                  <a:pt x="878" y="4406"/>
                </a:lnTo>
                <a:lnTo>
                  <a:pt x="996" y="4476"/>
                </a:lnTo>
                <a:lnTo>
                  <a:pt x="1117" y="4540"/>
                </a:lnTo>
                <a:lnTo>
                  <a:pt x="1241" y="4598"/>
                </a:lnTo>
                <a:lnTo>
                  <a:pt x="1367" y="4648"/>
                </a:lnTo>
                <a:lnTo>
                  <a:pt x="1496" y="4692"/>
                </a:lnTo>
                <a:lnTo>
                  <a:pt x="1627" y="4729"/>
                </a:lnTo>
                <a:lnTo>
                  <a:pt x="1759" y="4759"/>
                </a:lnTo>
                <a:lnTo>
                  <a:pt x="1892" y="4781"/>
                </a:lnTo>
                <a:lnTo>
                  <a:pt x="2026" y="4797"/>
                </a:lnTo>
                <a:lnTo>
                  <a:pt x="2161" y="4805"/>
                </a:lnTo>
                <a:lnTo>
                  <a:pt x="2295" y="4805"/>
                </a:lnTo>
                <a:lnTo>
                  <a:pt x="2430" y="4799"/>
                </a:lnTo>
                <a:lnTo>
                  <a:pt x="2564" y="4785"/>
                </a:lnTo>
                <a:lnTo>
                  <a:pt x="2698" y="4764"/>
                </a:lnTo>
                <a:lnTo>
                  <a:pt x="2830" y="4736"/>
                </a:lnTo>
                <a:lnTo>
                  <a:pt x="2961" y="4701"/>
                </a:lnTo>
                <a:lnTo>
                  <a:pt x="3090" y="4658"/>
                </a:lnTo>
                <a:lnTo>
                  <a:pt x="3217" y="4609"/>
                </a:lnTo>
                <a:lnTo>
                  <a:pt x="3341" y="4553"/>
                </a:lnTo>
                <a:lnTo>
                  <a:pt x="3463" y="4490"/>
                </a:lnTo>
                <a:lnTo>
                  <a:pt x="3582" y="4421"/>
                </a:lnTo>
                <a:lnTo>
                  <a:pt x="3697" y="4345"/>
                </a:lnTo>
                <a:lnTo>
                  <a:pt x="3809" y="4263"/>
                </a:lnTo>
                <a:lnTo>
                  <a:pt x="3917" y="4176"/>
                </a:lnTo>
                <a:lnTo>
                  <a:pt x="4021" y="4082"/>
                </a:lnTo>
                <a:lnTo>
                  <a:pt x="4120" y="3984"/>
                </a:lnTo>
                <a:lnTo>
                  <a:pt x="4215" y="3879"/>
                </a:lnTo>
                <a:lnTo>
                  <a:pt x="4305" y="3770"/>
                </a:lnTo>
                <a:lnTo>
                  <a:pt x="4389" y="3656"/>
                </a:lnTo>
                <a:lnTo>
                  <a:pt x="4469" y="3538"/>
                </a:lnTo>
                <a:lnTo>
                  <a:pt x="4542" y="3416"/>
                </a:lnTo>
                <a:lnTo>
                  <a:pt x="4610" y="3290"/>
                </a:lnTo>
                <a:lnTo>
                  <a:pt x="4673" y="3160"/>
                </a:lnTo>
                <a:lnTo>
                  <a:pt x="4729" y="3027"/>
                </a:lnTo>
                <a:lnTo>
                  <a:pt x="4779" y="2891"/>
                </a:lnTo>
                <a:lnTo>
                  <a:pt x="4822" y="2753"/>
                </a:lnTo>
                <a:lnTo>
                  <a:pt x="4860" y="2612"/>
                </a:lnTo>
                <a:lnTo>
                  <a:pt x="4890" y="2470"/>
                </a:lnTo>
                <a:lnTo>
                  <a:pt x="4914" y="2326"/>
                </a:lnTo>
                <a:lnTo>
                  <a:pt x="4932" y="2181"/>
                </a:lnTo>
                <a:lnTo>
                  <a:pt x="4943" y="2035"/>
                </a:lnTo>
                <a:lnTo>
                  <a:pt x="4947" y="1889"/>
                </a:lnTo>
                <a:lnTo>
                  <a:pt x="4944" y="1743"/>
                </a:lnTo>
                <a:lnTo>
                  <a:pt x="4935" y="1597"/>
                </a:lnTo>
                <a:lnTo>
                  <a:pt x="4919" y="1452"/>
                </a:lnTo>
                <a:lnTo>
                  <a:pt x="4896" y="1307"/>
                </a:lnTo>
                <a:lnTo>
                  <a:pt x="4867" y="1165"/>
                </a:lnTo>
                <a:lnTo>
                  <a:pt x="4831" y="1024"/>
                </a:lnTo>
                <a:lnTo>
                  <a:pt x="4789" y="885"/>
                </a:lnTo>
                <a:lnTo>
                  <a:pt x="4741" y="748"/>
                </a:lnTo>
                <a:lnTo>
                  <a:pt x="4686" y="615"/>
                </a:lnTo>
                <a:lnTo>
                  <a:pt x="4625" y="484"/>
                </a:lnTo>
                <a:lnTo>
                  <a:pt x="4558" y="357"/>
                </a:lnTo>
                <a:lnTo>
                  <a:pt x="4486" y="234"/>
                </a:lnTo>
                <a:lnTo>
                  <a:pt x="4408" y="114"/>
                </a:lnTo>
                <a:lnTo>
                  <a:pt x="4325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round/>
            <a:headEnd type="triangle" w="med" len="med"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0496" name="Freeform 16"/>
          <p:cNvSpPr>
            <a:spLocks noChangeArrowheads="1"/>
          </p:cNvSpPr>
          <p:nvPr/>
        </p:nvSpPr>
        <p:spPr bwMode="auto">
          <a:xfrm>
            <a:off x="6357833" y="3231986"/>
            <a:ext cx="393120" cy="381641"/>
          </a:xfrm>
          <a:custGeom>
            <a:avLst/>
            <a:gdLst/>
            <a:ahLst/>
            <a:cxnLst>
              <a:cxn ang="0">
                <a:pos x="549" y="1168"/>
              </a:cxn>
              <a:cxn ang="0">
                <a:pos x="1202" y="825"/>
              </a:cxn>
              <a:cxn ang="0">
                <a:pos x="893" y="0"/>
              </a:cxn>
              <a:cxn ang="0">
                <a:pos x="206" y="34"/>
              </a:cxn>
              <a:cxn ang="0">
                <a:pos x="0" y="859"/>
              </a:cxn>
              <a:cxn ang="0">
                <a:pos x="515" y="1134"/>
              </a:cxn>
              <a:cxn ang="0">
                <a:pos x="549" y="1168"/>
              </a:cxn>
            </a:cxnLst>
            <a:rect l="0" t="0" r="r" b="b"/>
            <a:pathLst>
              <a:path w="1203" h="1169">
                <a:moveTo>
                  <a:pt x="549" y="1168"/>
                </a:moveTo>
                <a:lnTo>
                  <a:pt x="1202" y="825"/>
                </a:lnTo>
                <a:lnTo>
                  <a:pt x="893" y="0"/>
                </a:lnTo>
                <a:lnTo>
                  <a:pt x="206" y="34"/>
                </a:lnTo>
                <a:lnTo>
                  <a:pt x="0" y="859"/>
                </a:lnTo>
                <a:lnTo>
                  <a:pt x="515" y="1134"/>
                </a:lnTo>
                <a:lnTo>
                  <a:pt x="549" y="1168"/>
                </a:lnTo>
              </a:path>
            </a:pathLst>
          </a:custGeom>
          <a:solidFill>
            <a:srgbClr val="99CC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 flipH="1">
            <a:off x="6776872" y="2360696"/>
            <a:ext cx="552960" cy="1110356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graphicFrame>
        <p:nvGraphicFramePr>
          <p:cNvPr id="20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378108"/>
              </p:ext>
            </p:extLst>
          </p:nvPr>
        </p:nvGraphicFramePr>
        <p:xfrm>
          <a:off x="1032712" y="4181047"/>
          <a:ext cx="1501920" cy="1424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36" name="Equation" r:id="rId4" imgW="774360" imgH="736560" progId="Equation.3">
                  <p:embed/>
                </p:oleObj>
              </mc:Choice>
              <mc:Fallback>
                <p:oleObj name="Equation" r:id="rId4" imgW="77436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712" y="4181047"/>
                        <a:ext cx="1501920" cy="14243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521791"/>
              </p:ext>
            </p:extLst>
          </p:nvPr>
        </p:nvGraphicFramePr>
        <p:xfrm>
          <a:off x="3971752" y="4114800"/>
          <a:ext cx="1494720" cy="142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37" name="Equation" r:id="rId6" imgW="774360" imgH="736560" progId="Equation.3">
                  <p:embed/>
                </p:oleObj>
              </mc:Choice>
              <mc:Fallback>
                <p:oleObj name="Equation" r:id="rId6" imgW="77436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752" y="4114800"/>
                        <a:ext cx="1494720" cy="14271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108587"/>
              </p:ext>
            </p:extLst>
          </p:nvPr>
        </p:nvGraphicFramePr>
        <p:xfrm>
          <a:off x="6585352" y="4114800"/>
          <a:ext cx="1697760" cy="147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38" name="Equation" r:id="rId8" imgW="850680" imgH="736560" progId="Equation.3">
                  <p:embed/>
                </p:oleObj>
              </mc:Choice>
              <mc:Fallback>
                <p:oleObj name="Equation" r:id="rId8" imgW="85068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5352" y="4114800"/>
                        <a:ext cx="1697760" cy="14761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8456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Other Transformations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GB" b="1" dirty="0"/>
              <a:t>Shear:</a:t>
            </a:r>
            <a:r>
              <a:rPr lang="en-GB" dirty="0"/>
              <a:t> Deform the shape like shifted slices (or deck of cards). Can be in </a:t>
            </a:r>
            <a:r>
              <a:rPr lang="en-GB" b="1" dirty="0"/>
              <a:t>x</a:t>
            </a:r>
            <a:r>
              <a:rPr lang="en-GB" dirty="0"/>
              <a:t> or </a:t>
            </a:r>
            <a:r>
              <a:rPr lang="en-GB" b="1" dirty="0"/>
              <a:t>y</a:t>
            </a:r>
            <a:r>
              <a:rPr lang="en-GB" dirty="0"/>
              <a:t> direction</a:t>
            </a:r>
          </a:p>
        </p:txBody>
      </p:sp>
      <p:sp>
        <p:nvSpPr>
          <p:cNvPr id="21507" name="Freeform 3"/>
          <p:cNvSpPr>
            <a:spLocks/>
          </p:cNvSpPr>
          <p:nvPr/>
        </p:nvSpPr>
        <p:spPr bwMode="auto">
          <a:xfrm>
            <a:off x="2857440" y="2514600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1508" name="Freeform 4"/>
          <p:cNvSpPr>
            <a:spLocks noChangeArrowheads="1"/>
          </p:cNvSpPr>
          <p:nvPr/>
        </p:nvSpPr>
        <p:spPr bwMode="auto">
          <a:xfrm>
            <a:off x="3131040" y="3071937"/>
            <a:ext cx="393120" cy="381641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1509" name="Freeform 5"/>
          <p:cNvSpPr>
            <a:spLocks noChangeArrowheads="1"/>
          </p:cNvSpPr>
          <p:nvPr/>
        </p:nvSpPr>
        <p:spPr bwMode="auto">
          <a:xfrm>
            <a:off x="3131040" y="3071937"/>
            <a:ext cx="393120" cy="381641"/>
          </a:xfrm>
          <a:custGeom>
            <a:avLst/>
            <a:gdLst/>
            <a:ahLst/>
            <a:cxnLst>
              <a:cxn ang="0">
                <a:pos x="653" y="0"/>
              </a:cxn>
              <a:cxn ang="0">
                <a:pos x="0" y="343"/>
              </a:cxn>
              <a:cxn ang="0">
                <a:pos x="309" y="1168"/>
              </a:cxn>
              <a:cxn ang="0">
                <a:pos x="996" y="1134"/>
              </a:cxn>
              <a:cxn ang="0">
                <a:pos x="1202" y="309"/>
              </a:cxn>
              <a:cxn ang="0">
                <a:pos x="687" y="34"/>
              </a:cxn>
              <a:cxn ang="0">
                <a:pos x="653" y="0"/>
              </a:cxn>
            </a:cxnLst>
            <a:rect l="0" t="0" r="r" b="b"/>
            <a:pathLst>
              <a:path w="1203" h="1169">
                <a:moveTo>
                  <a:pt x="653" y="0"/>
                </a:moveTo>
                <a:lnTo>
                  <a:pt x="0" y="343"/>
                </a:lnTo>
                <a:lnTo>
                  <a:pt x="309" y="1168"/>
                </a:lnTo>
                <a:lnTo>
                  <a:pt x="996" y="1134"/>
                </a:lnTo>
                <a:lnTo>
                  <a:pt x="1202" y="309"/>
                </a:lnTo>
                <a:lnTo>
                  <a:pt x="687" y="34"/>
                </a:lnTo>
                <a:lnTo>
                  <a:pt x="653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1510" name="Freeform 6"/>
          <p:cNvSpPr>
            <a:spLocks noChangeArrowheads="1"/>
          </p:cNvSpPr>
          <p:nvPr/>
        </p:nvSpPr>
        <p:spPr bwMode="auto">
          <a:xfrm>
            <a:off x="3658081" y="3050336"/>
            <a:ext cx="730080" cy="393161"/>
          </a:xfrm>
          <a:custGeom>
            <a:avLst/>
            <a:gdLst/>
            <a:ahLst/>
            <a:cxnLst>
              <a:cxn ang="0">
                <a:pos x="1375" y="0"/>
              </a:cxn>
              <a:cxn ang="0">
                <a:pos x="379" y="377"/>
              </a:cxn>
              <a:cxn ang="0">
                <a:pos x="0" y="1202"/>
              </a:cxn>
              <a:cxn ang="0">
                <a:pos x="928" y="1202"/>
              </a:cxn>
              <a:cxn ang="0">
                <a:pos x="2234" y="343"/>
              </a:cxn>
              <a:cxn ang="0">
                <a:pos x="1375" y="0"/>
              </a:cxn>
            </a:cxnLst>
            <a:rect l="0" t="0" r="r" b="b"/>
            <a:pathLst>
              <a:path w="2235" h="1203">
                <a:moveTo>
                  <a:pt x="1375" y="0"/>
                </a:moveTo>
                <a:lnTo>
                  <a:pt x="379" y="377"/>
                </a:lnTo>
                <a:lnTo>
                  <a:pt x="0" y="1202"/>
                </a:lnTo>
                <a:lnTo>
                  <a:pt x="928" y="1202"/>
                </a:lnTo>
                <a:lnTo>
                  <a:pt x="2234" y="343"/>
                </a:lnTo>
                <a:lnTo>
                  <a:pt x="1375" y="0"/>
                </a:lnTo>
              </a:path>
            </a:pathLst>
          </a:custGeom>
          <a:solidFill>
            <a:srgbClr val="99CCFF">
              <a:alpha val="50000"/>
            </a:srgbClr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1511" name="Freeform 7"/>
          <p:cNvSpPr>
            <a:spLocks/>
          </p:cNvSpPr>
          <p:nvPr/>
        </p:nvSpPr>
        <p:spPr bwMode="auto">
          <a:xfrm>
            <a:off x="5484000" y="2570765"/>
            <a:ext cx="1526400" cy="12126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711"/>
              </a:cxn>
              <a:cxn ang="0">
                <a:pos x="4674" y="3711"/>
              </a:cxn>
            </a:cxnLst>
            <a:rect l="0" t="0" r="r" b="b"/>
            <a:pathLst>
              <a:path w="4675" h="3712">
                <a:moveTo>
                  <a:pt x="0" y="0"/>
                </a:moveTo>
                <a:lnTo>
                  <a:pt x="0" y="3711"/>
                </a:lnTo>
                <a:lnTo>
                  <a:pt x="4674" y="3711"/>
                </a:lnTo>
              </a:path>
            </a:pathLst>
          </a:custGeom>
          <a:noFill/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21512" name="Freeform 8"/>
          <p:cNvSpPr>
            <a:spLocks noChangeArrowheads="1"/>
          </p:cNvSpPr>
          <p:nvPr/>
        </p:nvSpPr>
        <p:spPr bwMode="auto">
          <a:xfrm>
            <a:off x="5476800" y="3341246"/>
            <a:ext cx="414720" cy="46084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408"/>
              </a:cxn>
              <a:cxn ang="0">
                <a:pos x="1237" y="1374"/>
              </a:cxn>
              <a:cxn ang="0">
                <a:pos x="1271" y="34"/>
              </a:cxn>
              <a:cxn ang="0">
                <a:pos x="0" y="0"/>
              </a:cxn>
            </a:cxnLst>
            <a:rect l="0" t="0" r="r" b="b"/>
            <a:pathLst>
              <a:path w="1272" h="1409">
                <a:moveTo>
                  <a:pt x="0" y="0"/>
                </a:moveTo>
                <a:lnTo>
                  <a:pt x="0" y="1408"/>
                </a:lnTo>
                <a:lnTo>
                  <a:pt x="1237" y="1374"/>
                </a:lnTo>
                <a:lnTo>
                  <a:pt x="1271" y="34"/>
                </a:lnTo>
                <a:lnTo>
                  <a:pt x="0" y="0"/>
                </a:lnTo>
              </a:path>
            </a:pathLst>
          </a:custGeom>
          <a:solidFill>
            <a:srgbClr val="00B8FF"/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1513" name="Freeform 9"/>
          <p:cNvSpPr>
            <a:spLocks noChangeArrowheads="1"/>
          </p:cNvSpPr>
          <p:nvPr/>
        </p:nvSpPr>
        <p:spPr bwMode="auto">
          <a:xfrm>
            <a:off x="5476800" y="3331165"/>
            <a:ext cx="1156320" cy="470930"/>
          </a:xfrm>
          <a:custGeom>
            <a:avLst/>
            <a:gdLst/>
            <a:ahLst/>
            <a:cxnLst>
              <a:cxn ang="0">
                <a:pos x="2404" y="0"/>
              </a:cxn>
              <a:cxn ang="0">
                <a:pos x="0" y="1442"/>
              </a:cxn>
              <a:cxn ang="0">
                <a:pos x="1237" y="1408"/>
              </a:cxn>
              <a:cxn ang="0">
                <a:pos x="3538" y="0"/>
              </a:cxn>
              <a:cxn ang="0">
                <a:pos x="2404" y="0"/>
              </a:cxn>
            </a:cxnLst>
            <a:rect l="0" t="0" r="r" b="b"/>
            <a:pathLst>
              <a:path w="3539" h="1443">
                <a:moveTo>
                  <a:pt x="2404" y="0"/>
                </a:moveTo>
                <a:lnTo>
                  <a:pt x="0" y="1442"/>
                </a:lnTo>
                <a:lnTo>
                  <a:pt x="1237" y="1408"/>
                </a:lnTo>
                <a:lnTo>
                  <a:pt x="3538" y="0"/>
                </a:lnTo>
                <a:lnTo>
                  <a:pt x="2404" y="0"/>
                </a:lnTo>
              </a:path>
            </a:pathLst>
          </a:custGeom>
          <a:solidFill>
            <a:srgbClr val="99CCFF">
              <a:alpha val="50000"/>
            </a:srgbClr>
          </a:solidFill>
          <a:ln w="36720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5633760" y="3151146"/>
            <a:ext cx="426240" cy="20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sz="1300" dirty="0">
                <a:solidFill>
                  <a:srgbClr val="000000"/>
                </a:solidFill>
                <a:latin typeface="Verdana" pitchFamily="34" charset="0"/>
              </a:rPr>
              <a:t>(1,1)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6575520" y="3387331"/>
            <a:ext cx="426240" cy="20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sz="1300" dirty="0">
                <a:solidFill>
                  <a:srgbClr val="000000"/>
                </a:solidFill>
                <a:latin typeface="Verdana" pitchFamily="34" charset="0"/>
              </a:rPr>
              <a:t>(3,1)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6160800" y="3083459"/>
            <a:ext cx="426240" cy="20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sz="1300" dirty="0">
                <a:solidFill>
                  <a:srgbClr val="000000"/>
                </a:solidFill>
                <a:latin typeface="Verdana" pitchFamily="34" charset="0"/>
              </a:rPr>
              <a:t>(2,1)</a:t>
            </a:r>
          </a:p>
        </p:txBody>
      </p:sp>
      <p:graphicFrame>
        <p:nvGraphicFramePr>
          <p:cNvPr id="21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82055"/>
              </p:ext>
            </p:extLst>
          </p:nvPr>
        </p:nvGraphicFramePr>
        <p:xfrm>
          <a:off x="3118080" y="4260062"/>
          <a:ext cx="3168000" cy="187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4" r:id="rId4" imgW="2419200" imgH="1438200" progId="Equation.3">
                  <p:embed/>
                </p:oleObj>
              </mc:Choice>
              <mc:Fallback>
                <p:oleObj r:id="rId4" imgW="2419200" imgH="14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080" y="4260062"/>
                        <a:ext cx="3168000" cy="18707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5077920" y="3149706"/>
            <a:ext cx="426240" cy="20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sz="1300" dirty="0">
                <a:solidFill>
                  <a:srgbClr val="000000"/>
                </a:solidFill>
                <a:latin typeface="Verdana" pitchFamily="34" charset="0"/>
              </a:rPr>
              <a:t>(0,1)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2251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3D Transformations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Similar to 2D but with an extra z component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We assume a </a:t>
            </a:r>
            <a:r>
              <a:rPr lang="en-GB" dirty="0">
                <a:solidFill>
                  <a:srgbClr val="AD0101"/>
                </a:solidFill>
              </a:rPr>
              <a:t>right handed coordinate system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With homogeneous coordinates we have 4 dimensions 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Basic transformations: </a:t>
            </a:r>
            <a:r>
              <a:rPr lang="en-GB" sz="2400" dirty="0"/>
              <a:t>Translation</a:t>
            </a:r>
            <a:r>
              <a:rPr lang="en-GB" dirty="0"/>
              <a:t>, r</a:t>
            </a:r>
            <a:r>
              <a:rPr lang="en-GB" sz="2400" dirty="0"/>
              <a:t>otation</a:t>
            </a:r>
            <a:r>
              <a:rPr lang="en-GB" dirty="0"/>
              <a:t>, s</a:t>
            </a:r>
            <a:r>
              <a:rPr lang="en-GB" sz="2400" dirty="0"/>
              <a:t>caling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5800" y="3657600"/>
            <a:ext cx="2093760" cy="1951404"/>
            <a:chOff x="6532919" y="1233366"/>
            <a:chExt cx="2093760" cy="1951404"/>
          </a:xfrm>
        </p:grpSpPr>
        <p:sp>
          <p:nvSpPr>
            <p:cNvPr id="99332" name="Line 4"/>
            <p:cNvSpPr>
              <a:spLocks noChangeShapeType="1"/>
            </p:cNvSpPr>
            <p:nvPr/>
          </p:nvSpPr>
          <p:spPr bwMode="auto">
            <a:xfrm flipV="1">
              <a:off x="7263000" y="1347138"/>
              <a:ext cx="1440" cy="11089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7262999" y="2454614"/>
              <a:ext cx="12211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34" name="Line 6"/>
            <p:cNvSpPr>
              <a:spLocks noChangeShapeType="1"/>
            </p:cNvSpPr>
            <p:nvPr/>
          </p:nvSpPr>
          <p:spPr bwMode="auto">
            <a:xfrm flipH="1">
              <a:off x="6629400" y="2454614"/>
              <a:ext cx="635040" cy="730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35" name="Text Box 7"/>
            <p:cNvSpPr txBox="1">
              <a:spLocks noChangeArrowheads="1"/>
            </p:cNvSpPr>
            <p:nvPr/>
          </p:nvSpPr>
          <p:spPr bwMode="auto">
            <a:xfrm>
              <a:off x="6532919" y="2882339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99336" name="Text Box 8"/>
            <p:cNvSpPr txBox="1">
              <a:spLocks noChangeArrowheads="1"/>
            </p:cNvSpPr>
            <p:nvPr/>
          </p:nvSpPr>
          <p:spPr bwMode="auto">
            <a:xfrm>
              <a:off x="8502839" y="2365325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99337" name="Text Box 9"/>
            <p:cNvSpPr txBox="1">
              <a:spLocks noChangeArrowheads="1"/>
            </p:cNvSpPr>
            <p:nvPr/>
          </p:nvSpPr>
          <p:spPr bwMode="auto">
            <a:xfrm>
              <a:off x="7317719" y="1233366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683235" y="3690723"/>
            <a:ext cx="2111968" cy="1918281"/>
            <a:chOff x="4534712" y="3521766"/>
            <a:chExt cx="2111968" cy="1918281"/>
          </a:xfrm>
        </p:grpSpPr>
        <p:sp>
          <p:nvSpPr>
            <p:cNvPr id="99338" name="Line 10"/>
            <p:cNvSpPr>
              <a:spLocks noChangeShapeType="1"/>
            </p:cNvSpPr>
            <p:nvPr/>
          </p:nvSpPr>
          <p:spPr bwMode="auto">
            <a:xfrm flipV="1">
              <a:off x="5304600" y="3634098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39" name="Line 11"/>
            <p:cNvSpPr>
              <a:spLocks noChangeShapeType="1"/>
            </p:cNvSpPr>
            <p:nvPr/>
          </p:nvSpPr>
          <p:spPr bwMode="auto">
            <a:xfrm>
              <a:off x="5304600" y="4721412"/>
              <a:ext cx="11995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40" name="Line 12"/>
            <p:cNvSpPr>
              <a:spLocks noChangeShapeType="1"/>
            </p:cNvSpPr>
            <p:nvPr/>
          </p:nvSpPr>
          <p:spPr bwMode="auto">
            <a:xfrm flipH="1">
              <a:off x="4681079" y="4722852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41" name="Text Box 13"/>
            <p:cNvSpPr txBox="1">
              <a:spLocks noChangeArrowheads="1"/>
            </p:cNvSpPr>
            <p:nvPr/>
          </p:nvSpPr>
          <p:spPr bwMode="auto">
            <a:xfrm>
              <a:off x="4534712" y="5156095"/>
              <a:ext cx="80336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 dirty="0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99342" name="Text Box 14"/>
            <p:cNvSpPr txBox="1">
              <a:spLocks noChangeArrowheads="1"/>
            </p:cNvSpPr>
            <p:nvPr/>
          </p:nvSpPr>
          <p:spPr bwMode="auto">
            <a:xfrm>
              <a:off x="6522840" y="4635003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99343" name="Text Box 15"/>
            <p:cNvSpPr txBox="1">
              <a:spLocks noChangeArrowheads="1"/>
            </p:cNvSpPr>
            <p:nvPr/>
          </p:nvSpPr>
          <p:spPr bwMode="auto">
            <a:xfrm>
              <a:off x="5357879" y="3521766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698879" y="3692162"/>
            <a:ext cx="2067840" cy="1916842"/>
            <a:chOff x="6927479" y="3521766"/>
            <a:chExt cx="2067840" cy="1916842"/>
          </a:xfrm>
        </p:grpSpPr>
        <p:sp>
          <p:nvSpPr>
            <p:cNvPr id="99344" name="Line 16"/>
            <p:cNvSpPr>
              <a:spLocks noChangeShapeType="1"/>
            </p:cNvSpPr>
            <p:nvPr/>
          </p:nvSpPr>
          <p:spPr bwMode="auto">
            <a:xfrm flipV="1">
              <a:off x="7654680" y="3634098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45" name="Line 17"/>
            <p:cNvSpPr>
              <a:spLocks noChangeShapeType="1"/>
            </p:cNvSpPr>
            <p:nvPr/>
          </p:nvSpPr>
          <p:spPr bwMode="auto">
            <a:xfrm>
              <a:off x="7654680" y="4721412"/>
              <a:ext cx="11995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46" name="Line 18"/>
            <p:cNvSpPr>
              <a:spLocks noChangeShapeType="1"/>
            </p:cNvSpPr>
            <p:nvPr/>
          </p:nvSpPr>
          <p:spPr bwMode="auto">
            <a:xfrm flipH="1">
              <a:off x="7031159" y="4721413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9347" name="Text Box 19"/>
            <p:cNvSpPr txBox="1">
              <a:spLocks noChangeArrowheads="1"/>
            </p:cNvSpPr>
            <p:nvPr/>
          </p:nvSpPr>
          <p:spPr bwMode="auto">
            <a:xfrm>
              <a:off x="6927479" y="5143376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99348" name="Text Box 20"/>
            <p:cNvSpPr txBox="1">
              <a:spLocks noChangeArrowheads="1"/>
            </p:cNvSpPr>
            <p:nvPr/>
          </p:nvSpPr>
          <p:spPr bwMode="auto">
            <a:xfrm>
              <a:off x="8871479" y="4633563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99349" name="Text Box 21"/>
            <p:cNvSpPr txBox="1">
              <a:spLocks noChangeArrowheads="1"/>
            </p:cNvSpPr>
            <p:nvPr/>
          </p:nvSpPr>
          <p:spPr bwMode="auto">
            <a:xfrm>
              <a:off x="7706520" y="3521766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752600" y="5791200"/>
            <a:ext cx="554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Equivalent ways of thinking about a right-handed CS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0256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Translation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Move the object by some offset:</a:t>
            </a:r>
            <a:br>
              <a:rPr lang="en-GB" dirty="0"/>
            </a:br>
            <a:endParaRPr lang="en-GB" dirty="0"/>
          </a:p>
        </p:txBody>
      </p:sp>
      <p:sp>
        <p:nvSpPr>
          <p:cNvPr id="101381" name="Line 5"/>
          <p:cNvSpPr>
            <a:spLocks noChangeShapeType="1"/>
          </p:cNvSpPr>
          <p:nvPr/>
        </p:nvSpPr>
        <p:spPr bwMode="auto">
          <a:xfrm flipV="1">
            <a:off x="6518519" y="2249867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1382" name="Line 6"/>
          <p:cNvSpPr>
            <a:spLocks noChangeShapeType="1"/>
          </p:cNvSpPr>
          <p:nvPr/>
        </p:nvSpPr>
        <p:spPr bwMode="auto">
          <a:xfrm>
            <a:off x="6518519" y="3337182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1383" name="Line 7"/>
          <p:cNvSpPr>
            <a:spLocks noChangeShapeType="1"/>
          </p:cNvSpPr>
          <p:nvPr/>
        </p:nvSpPr>
        <p:spPr bwMode="auto">
          <a:xfrm flipH="1">
            <a:off x="5895000" y="3337182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5799959" y="3757706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01385" name="Text Box 9"/>
          <p:cNvSpPr txBox="1">
            <a:spLocks noChangeArrowheads="1"/>
          </p:cNvSpPr>
          <p:nvPr/>
        </p:nvSpPr>
        <p:spPr bwMode="auto">
          <a:xfrm>
            <a:off x="6571800" y="2137536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7749720" y="3282456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01389" name="Line 13"/>
          <p:cNvSpPr>
            <a:spLocks noChangeShapeType="1"/>
          </p:cNvSpPr>
          <p:nvPr/>
        </p:nvSpPr>
        <p:spPr bwMode="auto">
          <a:xfrm flipV="1">
            <a:off x="6551640" y="4280481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1390" name="Line 14"/>
          <p:cNvSpPr>
            <a:spLocks noChangeShapeType="1"/>
          </p:cNvSpPr>
          <p:nvPr/>
        </p:nvSpPr>
        <p:spPr bwMode="auto">
          <a:xfrm>
            <a:off x="6551640" y="5367795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1391" name="Line 15"/>
          <p:cNvSpPr>
            <a:spLocks noChangeShapeType="1"/>
          </p:cNvSpPr>
          <p:nvPr/>
        </p:nvSpPr>
        <p:spPr bwMode="auto">
          <a:xfrm flipH="1">
            <a:off x="5928119" y="5369235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5834519" y="5788319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01393" name="Text Box 17"/>
          <p:cNvSpPr txBox="1">
            <a:spLocks noChangeArrowheads="1"/>
          </p:cNvSpPr>
          <p:nvPr/>
        </p:nvSpPr>
        <p:spPr bwMode="auto">
          <a:xfrm>
            <a:off x="6604919" y="4168149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01394" name="Text Box 18"/>
          <p:cNvSpPr txBox="1">
            <a:spLocks noChangeArrowheads="1"/>
          </p:cNvSpPr>
          <p:nvPr/>
        </p:nvSpPr>
        <p:spPr bwMode="auto">
          <a:xfrm>
            <a:off x="7761240" y="5313070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pic>
        <p:nvPicPr>
          <p:cNvPr id="101395" name="Picture 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8199" y="5066803"/>
            <a:ext cx="455040" cy="620706"/>
          </a:xfrm>
          <a:prstGeom prst="rect">
            <a:avLst/>
          </a:prstGeom>
          <a:noFill/>
        </p:spPr>
      </p:pic>
      <p:pic>
        <p:nvPicPr>
          <p:cNvPr id="101396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16919" y="4649160"/>
            <a:ext cx="449280" cy="601983"/>
          </a:xfrm>
          <a:prstGeom prst="rect">
            <a:avLst/>
          </a:prstGeom>
          <a:noFill/>
        </p:spPr>
      </p:pic>
      <p:sp>
        <p:nvSpPr>
          <p:cNvPr id="101397" name="Line 21"/>
          <p:cNvSpPr>
            <a:spLocks noChangeShapeType="1"/>
          </p:cNvSpPr>
          <p:nvPr/>
        </p:nvSpPr>
        <p:spPr bwMode="auto">
          <a:xfrm flipV="1">
            <a:off x="6695640" y="2949781"/>
            <a:ext cx="717120" cy="4579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graphicFrame>
        <p:nvGraphicFramePr>
          <p:cNvPr id="1013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46600"/>
              </p:ext>
            </p:extLst>
          </p:nvPr>
        </p:nvGraphicFramePr>
        <p:xfrm>
          <a:off x="1143000" y="2362200"/>
          <a:ext cx="3919680" cy="2187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7" name="Equation" r:id="rId6" imgW="1638000" imgH="914400" progId="Equation.3">
                  <p:embed/>
                </p:oleObj>
              </mc:Choice>
              <mc:Fallback>
                <p:oleObj name="Equation" r:id="rId6" imgW="1638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62200"/>
                        <a:ext cx="3919680" cy="21875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878132"/>
              </p:ext>
            </p:extLst>
          </p:nvPr>
        </p:nvGraphicFramePr>
        <p:xfrm>
          <a:off x="2122200" y="4909827"/>
          <a:ext cx="1568160" cy="433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8" name="Equation" r:id="rId8" imgW="596880" imgH="164880" progId="Equation.3">
                  <p:embed/>
                </p:oleObj>
              </mc:Choice>
              <mc:Fallback>
                <p:oleObj name="Equation" r:id="rId8" imgW="5968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200" y="4909827"/>
                        <a:ext cx="1568160" cy="4334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96417"/>
              </p:ext>
            </p:extLst>
          </p:nvPr>
        </p:nvGraphicFramePr>
        <p:xfrm>
          <a:off x="6433560" y="3407749"/>
          <a:ext cx="237600" cy="30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9" name="Equation" r:id="rId10" imgW="139680" imgH="177480" progId="Equation.3">
                  <p:embed/>
                </p:oleObj>
              </mc:Choice>
              <mc:Fallback>
                <p:oleObj name="Equation" r:id="rId10" imgW="1396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3560" y="3407749"/>
                        <a:ext cx="237600" cy="302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182692"/>
              </p:ext>
            </p:extLst>
          </p:nvPr>
        </p:nvGraphicFramePr>
        <p:xfrm>
          <a:off x="7316279" y="2622867"/>
          <a:ext cx="302400" cy="30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0" name="Equation" r:id="rId12" imgW="177480" imgH="177480" progId="Equation.3">
                  <p:embed/>
                </p:oleObj>
              </mc:Choice>
              <mc:Fallback>
                <p:oleObj name="Equation" r:id="rId12" imgW="177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6279" y="2622867"/>
                        <a:ext cx="302400" cy="302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0847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sz="2400" dirty="0"/>
              <a:t>Rotation around the coordinate axes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r>
              <a:rPr lang="en-US" dirty="0"/>
              <a:t>Positive angles represent </a:t>
            </a:r>
            <a:r>
              <a:rPr lang="en-US" dirty="0">
                <a:solidFill>
                  <a:srgbClr val="AD0101"/>
                </a:solidFill>
              </a:rPr>
              <a:t>counter-clockwise</a:t>
            </a:r>
            <a:r>
              <a:rPr lang="en-US" dirty="0"/>
              <a:t> (CCW) rotation when looking along the positive half towards origin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sz="2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517033" y="1981200"/>
            <a:ext cx="2060640" cy="1916841"/>
            <a:chOff x="4457" y="1769"/>
            <a:chExt cx="1431" cy="1331"/>
          </a:xfrm>
        </p:grpSpPr>
        <p:sp>
          <p:nvSpPr>
            <p:cNvPr id="103429" name="Line 5"/>
            <p:cNvSpPr>
              <a:spLocks noChangeShapeType="1"/>
            </p:cNvSpPr>
            <p:nvPr/>
          </p:nvSpPr>
          <p:spPr bwMode="auto">
            <a:xfrm flipV="1">
              <a:off x="4956" y="1847"/>
              <a:ext cx="1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0" name="Line 6"/>
            <p:cNvSpPr>
              <a:spLocks noChangeShapeType="1"/>
            </p:cNvSpPr>
            <p:nvPr/>
          </p:nvSpPr>
          <p:spPr bwMode="auto">
            <a:xfrm>
              <a:off x="4956" y="2602"/>
              <a:ext cx="8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1" name="Line 7"/>
            <p:cNvSpPr>
              <a:spLocks noChangeShapeType="1"/>
            </p:cNvSpPr>
            <p:nvPr/>
          </p:nvSpPr>
          <p:spPr bwMode="auto">
            <a:xfrm flipH="1">
              <a:off x="4523" y="2602"/>
              <a:ext cx="434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2" name="Text Box 8"/>
            <p:cNvSpPr txBox="1">
              <a:spLocks noChangeArrowheads="1"/>
            </p:cNvSpPr>
            <p:nvPr/>
          </p:nvSpPr>
          <p:spPr bwMode="auto">
            <a:xfrm>
              <a:off x="4457" y="2894"/>
              <a:ext cx="7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3433" name="Text Box 9"/>
            <p:cNvSpPr txBox="1">
              <a:spLocks noChangeArrowheads="1"/>
            </p:cNvSpPr>
            <p:nvPr/>
          </p:nvSpPr>
          <p:spPr bwMode="auto">
            <a:xfrm>
              <a:off x="5802" y="2541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03434" name="Text Box 10"/>
            <p:cNvSpPr txBox="1">
              <a:spLocks noChangeArrowheads="1"/>
            </p:cNvSpPr>
            <p:nvPr/>
          </p:nvSpPr>
          <p:spPr bwMode="auto">
            <a:xfrm>
              <a:off x="4993" y="1769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03435" name="Line 11"/>
            <p:cNvSpPr>
              <a:spLocks noChangeShapeType="1"/>
            </p:cNvSpPr>
            <p:nvPr/>
          </p:nvSpPr>
          <p:spPr bwMode="auto">
            <a:xfrm flipV="1">
              <a:off x="4956" y="1847"/>
              <a:ext cx="1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6" name="Line 12"/>
            <p:cNvSpPr>
              <a:spLocks noChangeShapeType="1"/>
            </p:cNvSpPr>
            <p:nvPr/>
          </p:nvSpPr>
          <p:spPr bwMode="auto">
            <a:xfrm>
              <a:off x="4956" y="2602"/>
              <a:ext cx="8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7" name="Line 13"/>
            <p:cNvSpPr>
              <a:spLocks noChangeShapeType="1"/>
            </p:cNvSpPr>
            <p:nvPr/>
          </p:nvSpPr>
          <p:spPr bwMode="auto">
            <a:xfrm flipH="1">
              <a:off x="4523" y="2602"/>
              <a:ext cx="434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8" name="Text Box 14"/>
            <p:cNvSpPr txBox="1">
              <a:spLocks noChangeArrowheads="1"/>
            </p:cNvSpPr>
            <p:nvPr/>
          </p:nvSpPr>
          <p:spPr bwMode="auto">
            <a:xfrm>
              <a:off x="4457" y="2894"/>
              <a:ext cx="7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3439" name="Text Box 15"/>
            <p:cNvSpPr txBox="1">
              <a:spLocks noChangeArrowheads="1"/>
            </p:cNvSpPr>
            <p:nvPr/>
          </p:nvSpPr>
          <p:spPr bwMode="auto">
            <a:xfrm>
              <a:off x="5802" y="2541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03440" name="Text Box 16"/>
            <p:cNvSpPr txBox="1">
              <a:spLocks noChangeArrowheads="1"/>
            </p:cNvSpPr>
            <p:nvPr/>
          </p:nvSpPr>
          <p:spPr bwMode="auto">
            <a:xfrm>
              <a:off x="4993" y="1769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448392" y="1981200"/>
            <a:ext cx="2059200" cy="1916841"/>
            <a:chOff x="2326" y="1769"/>
            <a:chExt cx="1430" cy="1331"/>
          </a:xfrm>
        </p:grpSpPr>
        <p:sp>
          <p:nvSpPr>
            <p:cNvPr id="103442" name="Line 18"/>
            <p:cNvSpPr>
              <a:spLocks noChangeShapeType="1"/>
            </p:cNvSpPr>
            <p:nvPr/>
          </p:nvSpPr>
          <p:spPr bwMode="auto">
            <a:xfrm flipV="1">
              <a:off x="2824" y="1847"/>
              <a:ext cx="1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43" name="Line 19"/>
            <p:cNvSpPr>
              <a:spLocks noChangeShapeType="1"/>
            </p:cNvSpPr>
            <p:nvPr/>
          </p:nvSpPr>
          <p:spPr bwMode="auto">
            <a:xfrm>
              <a:off x="2824" y="2602"/>
              <a:ext cx="8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44" name="Line 20"/>
            <p:cNvSpPr>
              <a:spLocks noChangeShapeType="1"/>
            </p:cNvSpPr>
            <p:nvPr/>
          </p:nvSpPr>
          <p:spPr bwMode="auto">
            <a:xfrm flipH="1">
              <a:off x="2391" y="2602"/>
              <a:ext cx="434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45" name="Text Box 21"/>
            <p:cNvSpPr txBox="1">
              <a:spLocks noChangeArrowheads="1"/>
            </p:cNvSpPr>
            <p:nvPr/>
          </p:nvSpPr>
          <p:spPr bwMode="auto">
            <a:xfrm>
              <a:off x="2326" y="2894"/>
              <a:ext cx="7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3446" name="Text Box 22"/>
            <p:cNvSpPr txBox="1">
              <a:spLocks noChangeArrowheads="1"/>
            </p:cNvSpPr>
            <p:nvPr/>
          </p:nvSpPr>
          <p:spPr bwMode="auto">
            <a:xfrm>
              <a:off x="3670" y="2541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03447" name="Text Box 23"/>
            <p:cNvSpPr txBox="1">
              <a:spLocks noChangeArrowheads="1"/>
            </p:cNvSpPr>
            <p:nvPr/>
          </p:nvSpPr>
          <p:spPr bwMode="auto">
            <a:xfrm>
              <a:off x="2861" y="1769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03448" name="Line 24"/>
            <p:cNvSpPr>
              <a:spLocks noChangeShapeType="1"/>
            </p:cNvSpPr>
            <p:nvPr/>
          </p:nvSpPr>
          <p:spPr bwMode="auto">
            <a:xfrm flipV="1">
              <a:off x="2824" y="1847"/>
              <a:ext cx="1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49" name="Line 25"/>
            <p:cNvSpPr>
              <a:spLocks noChangeShapeType="1"/>
            </p:cNvSpPr>
            <p:nvPr/>
          </p:nvSpPr>
          <p:spPr bwMode="auto">
            <a:xfrm>
              <a:off x="2824" y="2602"/>
              <a:ext cx="8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50" name="Line 26"/>
            <p:cNvSpPr>
              <a:spLocks noChangeShapeType="1"/>
            </p:cNvSpPr>
            <p:nvPr/>
          </p:nvSpPr>
          <p:spPr bwMode="auto">
            <a:xfrm flipH="1">
              <a:off x="2391" y="2602"/>
              <a:ext cx="434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51" name="Text Box 27"/>
            <p:cNvSpPr txBox="1">
              <a:spLocks noChangeArrowheads="1"/>
            </p:cNvSpPr>
            <p:nvPr/>
          </p:nvSpPr>
          <p:spPr bwMode="auto">
            <a:xfrm>
              <a:off x="2326" y="2894"/>
              <a:ext cx="7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3452" name="Text Box 28"/>
            <p:cNvSpPr txBox="1">
              <a:spLocks noChangeArrowheads="1"/>
            </p:cNvSpPr>
            <p:nvPr/>
          </p:nvSpPr>
          <p:spPr bwMode="auto">
            <a:xfrm>
              <a:off x="3670" y="2541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03453" name="Text Box 29"/>
            <p:cNvSpPr txBox="1">
              <a:spLocks noChangeArrowheads="1"/>
            </p:cNvSpPr>
            <p:nvPr/>
          </p:nvSpPr>
          <p:spPr bwMode="auto">
            <a:xfrm>
              <a:off x="2861" y="1769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640392" y="1981200"/>
            <a:ext cx="2059200" cy="1916841"/>
            <a:chOff x="376" y="1769"/>
            <a:chExt cx="1430" cy="1331"/>
          </a:xfrm>
        </p:grpSpPr>
        <p:sp>
          <p:nvSpPr>
            <p:cNvPr id="103455" name="Line 31"/>
            <p:cNvSpPr>
              <a:spLocks noChangeShapeType="1"/>
            </p:cNvSpPr>
            <p:nvPr/>
          </p:nvSpPr>
          <p:spPr bwMode="auto">
            <a:xfrm flipV="1">
              <a:off x="874" y="1847"/>
              <a:ext cx="1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56" name="Line 32"/>
            <p:cNvSpPr>
              <a:spLocks noChangeShapeType="1"/>
            </p:cNvSpPr>
            <p:nvPr/>
          </p:nvSpPr>
          <p:spPr bwMode="auto">
            <a:xfrm>
              <a:off x="874" y="2602"/>
              <a:ext cx="8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57" name="Line 33"/>
            <p:cNvSpPr>
              <a:spLocks noChangeShapeType="1"/>
            </p:cNvSpPr>
            <p:nvPr/>
          </p:nvSpPr>
          <p:spPr bwMode="auto">
            <a:xfrm flipH="1">
              <a:off x="441" y="2602"/>
              <a:ext cx="434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58" name="Text Box 34"/>
            <p:cNvSpPr txBox="1">
              <a:spLocks noChangeArrowheads="1"/>
            </p:cNvSpPr>
            <p:nvPr/>
          </p:nvSpPr>
          <p:spPr bwMode="auto">
            <a:xfrm>
              <a:off x="376" y="2894"/>
              <a:ext cx="7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3459" name="Text Box 35"/>
            <p:cNvSpPr txBox="1">
              <a:spLocks noChangeArrowheads="1"/>
            </p:cNvSpPr>
            <p:nvPr/>
          </p:nvSpPr>
          <p:spPr bwMode="auto">
            <a:xfrm>
              <a:off x="1720" y="2541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03460" name="Text Box 36"/>
            <p:cNvSpPr txBox="1">
              <a:spLocks noChangeArrowheads="1"/>
            </p:cNvSpPr>
            <p:nvPr/>
          </p:nvSpPr>
          <p:spPr bwMode="auto">
            <a:xfrm>
              <a:off x="911" y="1769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03461" name="Line 37"/>
            <p:cNvSpPr>
              <a:spLocks noChangeShapeType="1"/>
            </p:cNvSpPr>
            <p:nvPr/>
          </p:nvSpPr>
          <p:spPr bwMode="auto">
            <a:xfrm flipV="1">
              <a:off x="874" y="1847"/>
              <a:ext cx="1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2" name="Line 38"/>
            <p:cNvSpPr>
              <a:spLocks noChangeShapeType="1"/>
            </p:cNvSpPr>
            <p:nvPr/>
          </p:nvSpPr>
          <p:spPr bwMode="auto">
            <a:xfrm>
              <a:off x="874" y="2602"/>
              <a:ext cx="8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3" name="Line 39"/>
            <p:cNvSpPr>
              <a:spLocks noChangeShapeType="1"/>
            </p:cNvSpPr>
            <p:nvPr/>
          </p:nvSpPr>
          <p:spPr bwMode="auto">
            <a:xfrm flipH="1">
              <a:off x="441" y="2602"/>
              <a:ext cx="434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4" name="Text Box 40"/>
            <p:cNvSpPr txBox="1">
              <a:spLocks noChangeArrowheads="1"/>
            </p:cNvSpPr>
            <p:nvPr/>
          </p:nvSpPr>
          <p:spPr bwMode="auto">
            <a:xfrm>
              <a:off x="376" y="2894"/>
              <a:ext cx="7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3465" name="Text Box 41"/>
            <p:cNvSpPr txBox="1">
              <a:spLocks noChangeArrowheads="1"/>
            </p:cNvSpPr>
            <p:nvPr/>
          </p:nvSpPr>
          <p:spPr bwMode="auto">
            <a:xfrm>
              <a:off x="1720" y="2541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03466" name="Text Box 42"/>
            <p:cNvSpPr txBox="1">
              <a:spLocks noChangeArrowheads="1"/>
            </p:cNvSpPr>
            <p:nvPr/>
          </p:nvSpPr>
          <p:spPr bwMode="auto">
            <a:xfrm>
              <a:off x="911" y="1769"/>
              <a:ext cx="8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</p:grpSp>
      <p:pic>
        <p:nvPicPr>
          <p:cNvPr id="103467" name="Picture 4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8792" y="2925939"/>
            <a:ext cx="455040" cy="620705"/>
          </a:xfrm>
          <a:prstGeom prst="rect">
            <a:avLst/>
          </a:prstGeom>
          <a:noFill/>
        </p:spPr>
      </p:pic>
      <p:pic>
        <p:nvPicPr>
          <p:cNvPr id="103468" name="Picture 4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20872" y="2924499"/>
            <a:ext cx="455040" cy="620706"/>
          </a:xfrm>
          <a:prstGeom prst="rect">
            <a:avLst/>
          </a:prstGeom>
          <a:noFill/>
        </p:spPr>
      </p:pic>
      <p:pic>
        <p:nvPicPr>
          <p:cNvPr id="103469" name="Picture 4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06792" y="2947541"/>
            <a:ext cx="455040" cy="620706"/>
          </a:xfrm>
          <a:prstGeom prst="rect">
            <a:avLst/>
          </a:prstGeom>
          <a:noFill/>
        </p:spPr>
      </p:pic>
      <p:pic>
        <p:nvPicPr>
          <p:cNvPr id="103470" name="Picture 4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0552" y="3435753"/>
            <a:ext cx="348480" cy="465168"/>
          </a:xfrm>
          <a:prstGeom prst="rect">
            <a:avLst/>
          </a:prstGeom>
          <a:noFill/>
        </p:spPr>
      </p:pic>
      <p:pic>
        <p:nvPicPr>
          <p:cNvPr id="103471" name="Picture 4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39113" y="2846730"/>
            <a:ext cx="393120" cy="537177"/>
          </a:xfrm>
          <a:prstGeom prst="rect">
            <a:avLst/>
          </a:prstGeom>
          <a:noFill/>
        </p:spPr>
      </p:pic>
      <p:pic>
        <p:nvPicPr>
          <p:cNvPr id="103472" name="Picture 4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24232" y="2655191"/>
            <a:ext cx="514080" cy="551577"/>
          </a:xfrm>
          <a:prstGeom prst="rect">
            <a:avLst/>
          </a:prstGeom>
          <a:noFill/>
        </p:spPr>
      </p:pic>
      <p:sp>
        <p:nvSpPr>
          <p:cNvPr id="103473" name="Freeform 49"/>
          <p:cNvSpPr>
            <a:spLocks/>
          </p:cNvSpPr>
          <p:nvPr/>
        </p:nvSpPr>
        <p:spPr bwMode="auto">
          <a:xfrm>
            <a:off x="1793832" y="3095877"/>
            <a:ext cx="155520" cy="547257"/>
          </a:xfrm>
          <a:custGeom>
            <a:avLst/>
            <a:gdLst/>
            <a:ahLst/>
            <a:cxnLst>
              <a:cxn ang="0">
                <a:pos x="83" y="32"/>
              </a:cxn>
              <a:cxn ang="0">
                <a:pos x="65" y="99"/>
              </a:cxn>
              <a:cxn ang="0">
                <a:pos x="49" y="173"/>
              </a:cxn>
              <a:cxn ang="0">
                <a:pos x="35" y="252"/>
              </a:cxn>
              <a:cxn ang="0">
                <a:pos x="23" y="337"/>
              </a:cxn>
              <a:cxn ang="0">
                <a:pos x="14" y="425"/>
              </a:cxn>
              <a:cxn ang="0">
                <a:pos x="7" y="516"/>
              </a:cxn>
              <a:cxn ang="0">
                <a:pos x="2" y="609"/>
              </a:cxn>
              <a:cxn ang="0">
                <a:pos x="0" y="704"/>
              </a:cxn>
              <a:cxn ang="0">
                <a:pos x="1" y="799"/>
              </a:cxn>
              <a:cxn ang="0">
                <a:pos x="4" y="893"/>
              </a:cxn>
              <a:cxn ang="0">
                <a:pos x="10" y="985"/>
              </a:cxn>
              <a:cxn ang="0">
                <a:pos x="18" y="1075"/>
              </a:cxn>
              <a:cxn ang="0">
                <a:pos x="29" y="1161"/>
              </a:cxn>
              <a:cxn ang="0">
                <a:pos x="42" y="1243"/>
              </a:cxn>
              <a:cxn ang="0">
                <a:pos x="57" y="1320"/>
              </a:cxn>
              <a:cxn ang="0">
                <a:pos x="74" y="1391"/>
              </a:cxn>
              <a:cxn ang="0">
                <a:pos x="93" y="1455"/>
              </a:cxn>
              <a:cxn ang="0">
                <a:pos x="113" y="1512"/>
              </a:cxn>
              <a:cxn ang="0">
                <a:pos x="136" y="1561"/>
              </a:cxn>
              <a:cxn ang="0">
                <a:pos x="159" y="1601"/>
              </a:cxn>
              <a:cxn ang="0">
                <a:pos x="183" y="1633"/>
              </a:cxn>
              <a:cxn ang="0">
                <a:pos x="208" y="1656"/>
              </a:cxn>
              <a:cxn ang="0">
                <a:pos x="234" y="1669"/>
              </a:cxn>
              <a:cxn ang="0">
                <a:pos x="259" y="1673"/>
              </a:cxn>
              <a:cxn ang="0">
                <a:pos x="285" y="1667"/>
              </a:cxn>
              <a:cxn ang="0">
                <a:pos x="311" y="1652"/>
              </a:cxn>
              <a:cxn ang="0">
                <a:pos x="336" y="1628"/>
              </a:cxn>
              <a:cxn ang="0">
                <a:pos x="360" y="1594"/>
              </a:cxn>
              <a:cxn ang="0">
                <a:pos x="383" y="1552"/>
              </a:cxn>
              <a:cxn ang="0">
                <a:pos x="405" y="1502"/>
              </a:cxn>
              <a:cxn ang="0">
                <a:pos x="425" y="1443"/>
              </a:cxn>
              <a:cxn ang="0">
                <a:pos x="444" y="1378"/>
              </a:cxn>
              <a:cxn ang="0">
                <a:pos x="460" y="1306"/>
              </a:cxn>
              <a:cxn ang="0">
                <a:pos x="475" y="1228"/>
              </a:cxn>
            </a:cxnLst>
            <a:rect l="0" t="0" r="r" b="b"/>
            <a:pathLst>
              <a:path w="476" h="1674">
                <a:moveTo>
                  <a:pt x="93" y="0"/>
                </a:moveTo>
                <a:lnTo>
                  <a:pt x="83" y="32"/>
                </a:lnTo>
                <a:lnTo>
                  <a:pt x="74" y="65"/>
                </a:lnTo>
                <a:lnTo>
                  <a:pt x="65" y="99"/>
                </a:lnTo>
                <a:lnTo>
                  <a:pt x="57" y="135"/>
                </a:lnTo>
                <a:lnTo>
                  <a:pt x="49" y="173"/>
                </a:lnTo>
                <a:lnTo>
                  <a:pt x="42" y="212"/>
                </a:lnTo>
                <a:lnTo>
                  <a:pt x="35" y="252"/>
                </a:lnTo>
                <a:lnTo>
                  <a:pt x="29" y="294"/>
                </a:lnTo>
                <a:lnTo>
                  <a:pt x="23" y="337"/>
                </a:lnTo>
                <a:lnTo>
                  <a:pt x="18" y="380"/>
                </a:lnTo>
                <a:lnTo>
                  <a:pt x="14" y="425"/>
                </a:lnTo>
                <a:lnTo>
                  <a:pt x="10" y="470"/>
                </a:lnTo>
                <a:lnTo>
                  <a:pt x="7" y="516"/>
                </a:lnTo>
                <a:lnTo>
                  <a:pt x="4" y="562"/>
                </a:lnTo>
                <a:lnTo>
                  <a:pt x="2" y="609"/>
                </a:lnTo>
                <a:lnTo>
                  <a:pt x="1" y="657"/>
                </a:lnTo>
                <a:lnTo>
                  <a:pt x="0" y="704"/>
                </a:lnTo>
                <a:lnTo>
                  <a:pt x="0" y="751"/>
                </a:lnTo>
                <a:lnTo>
                  <a:pt x="1" y="799"/>
                </a:lnTo>
                <a:lnTo>
                  <a:pt x="2" y="846"/>
                </a:lnTo>
                <a:lnTo>
                  <a:pt x="4" y="893"/>
                </a:lnTo>
                <a:lnTo>
                  <a:pt x="7" y="939"/>
                </a:lnTo>
                <a:lnTo>
                  <a:pt x="10" y="985"/>
                </a:lnTo>
                <a:lnTo>
                  <a:pt x="14" y="1030"/>
                </a:lnTo>
                <a:lnTo>
                  <a:pt x="18" y="1075"/>
                </a:lnTo>
                <a:lnTo>
                  <a:pt x="23" y="1119"/>
                </a:lnTo>
                <a:lnTo>
                  <a:pt x="29" y="1161"/>
                </a:lnTo>
                <a:lnTo>
                  <a:pt x="35" y="1203"/>
                </a:lnTo>
                <a:lnTo>
                  <a:pt x="42" y="1243"/>
                </a:lnTo>
                <a:lnTo>
                  <a:pt x="49" y="1282"/>
                </a:lnTo>
                <a:lnTo>
                  <a:pt x="57" y="1320"/>
                </a:lnTo>
                <a:lnTo>
                  <a:pt x="65" y="1356"/>
                </a:lnTo>
                <a:lnTo>
                  <a:pt x="74" y="1391"/>
                </a:lnTo>
                <a:lnTo>
                  <a:pt x="83" y="1424"/>
                </a:lnTo>
                <a:lnTo>
                  <a:pt x="93" y="1455"/>
                </a:lnTo>
                <a:lnTo>
                  <a:pt x="103" y="1484"/>
                </a:lnTo>
                <a:lnTo>
                  <a:pt x="113" y="1512"/>
                </a:lnTo>
                <a:lnTo>
                  <a:pt x="124" y="1537"/>
                </a:lnTo>
                <a:lnTo>
                  <a:pt x="136" y="1561"/>
                </a:lnTo>
                <a:lnTo>
                  <a:pt x="147" y="1582"/>
                </a:lnTo>
                <a:lnTo>
                  <a:pt x="159" y="1601"/>
                </a:lnTo>
                <a:lnTo>
                  <a:pt x="171" y="1618"/>
                </a:lnTo>
                <a:lnTo>
                  <a:pt x="183" y="1633"/>
                </a:lnTo>
                <a:lnTo>
                  <a:pt x="196" y="1646"/>
                </a:lnTo>
                <a:lnTo>
                  <a:pt x="208" y="1656"/>
                </a:lnTo>
                <a:lnTo>
                  <a:pt x="221" y="1664"/>
                </a:lnTo>
                <a:lnTo>
                  <a:pt x="234" y="1669"/>
                </a:lnTo>
                <a:lnTo>
                  <a:pt x="247" y="1672"/>
                </a:lnTo>
                <a:lnTo>
                  <a:pt x="259" y="1673"/>
                </a:lnTo>
                <a:lnTo>
                  <a:pt x="272" y="1671"/>
                </a:lnTo>
                <a:lnTo>
                  <a:pt x="285" y="1667"/>
                </a:lnTo>
                <a:lnTo>
                  <a:pt x="298" y="1661"/>
                </a:lnTo>
                <a:lnTo>
                  <a:pt x="311" y="1652"/>
                </a:lnTo>
                <a:lnTo>
                  <a:pt x="323" y="1641"/>
                </a:lnTo>
                <a:lnTo>
                  <a:pt x="336" y="1628"/>
                </a:lnTo>
                <a:lnTo>
                  <a:pt x="348" y="1612"/>
                </a:lnTo>
                <a:lnTo>
                  <a:pt x="360" y="1594"/>
                </a:lnTo>
                <a:lnTo>
                  <a:pt x="371" y="1574"/>
                </a:lnTo>
                <a:lnTo>
                  <a:pt x="383" y="1552"/>
                </a:lnTo>
                <a:lnTo>
                  <a:pt x="394" y="1528"/>
                </a:lnTo>
                <a:lnTo>
                  <a:pt x="405" y="1502"/>
                </a:lnTo>
                <a:lnTo>
                  <a:pt x="415" y="1473"/>
                </a:lnTo>
                <a:lnTo>
                  <a:pt x="425" y="1443"/>
                </a:lnTo>
                <a:lnTo>
                  <a:pt x="434" y="1411"/>
                </a:lnTo>
                <a:lnTo>
                  <a:pt x="444" y="1378"/>
                </a:lnTo>
                <a:lnTo>
                  <a:pt x="452" y="1343"/>
                </a:lnTo>
                <a:lnTo>
                  <a:pt x="460" y="1306"/>
                </a:lnTo>
                <a:lnTo>
                  <a:pt x="468" y="1268"/>
                </a:lnTo>
                <a:lnTo>
                  <a:pt x="475" y="1228"/>
                </a:lnTo>
              </a:path>
            </a:pathLst>
          </a:custGeom>
          <a:noFill/>
          <a:ln w="36720">
            <a:solidFill>
              <a:srgbClr val="8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3474" name="Freeform 50"/>
          <p:cNvSpPr>
            <a:spLocks/>
          </p:cNvSpPr>
          <p:nvPr/>
        </p:nvSpPr>
        <p:spPr bwMode="auto">
          <a:xfrm rot="1584914" flipH="1">
            <a:off x="3946632" y="2607666"/>
            <a:ext cx="299520" cy="210262"/>
          </a:xfrm>
          <a:custGeom>
            <a:avLst/>
            <a:gdLst/>
            <a:ahLst/>
            <a:cxnLst>
              <a:cxn ang="0">
                <a:pos x="134" y="0"/>
              </a:cxn>
              <a:cxn ang="0">
                <a:pos x="107" y="29"/>
              </a:cxn>
              <a:cxn ang="0">
                <a:pos x="83" y="58"/>
              </a:cxn>
              <a:cxn ang="0">
                <a:pos x="62" y="88"/>
              </a:cxn>
              <a:cxn ang="0">
                <a:pos x="44" y="118"/>
              </a:cxn>
              <a:cxn ang="0">
                <a:pos x="29" y="149"/>
              </a:cxn>
              <a:cxn ang="0">
                <a:pos x="17" y="180"/>
              </a:cxn>
              <a:cxn ang="0">
                <a:pos x="8" y="212"/>
              </a:cxn>
              <a:cxn ang="0">
                <a:pos x="3" y="243"/>
              </a:cxn>
              <a:cxn ang="0">
                <a:pos x="0" y="275"/>
              </a:cxn>
              <a:cxn ang="0">
                <a:pos x="1" y="307"/>
              </a:cxn>
              <a:cxn ang="0">
                <a:pos x="5" y="339"/>
              </a:cxn>
              <a:cxn ang="0">
                <a:pos x="12" y="370"/>
              </a:cxn>
              <a:cxn ang="0">
                <a:pos x="22" y="401"/>
              </a:cxn>
              <a:cxn ang="0">
                <a:pos x="35" y="432"/>
              </a:cxn>
              <a:cxn ang="0">
                <a:pos x="52" y="463"/>
              </a:cxn>
              <a:cxn ang="0">
                <a:pos x="71" y="493"/>
              </a:cxn>
              <a:cxn ang="0">
                <a:pos x="93" y="523"/>
              </a:cxn>
              <a:cxn ang="0">
                <a:pos x="119" y="552"/>
              </a:cxn>
              <a:cxn ang="0">
                <a:pos x="147" y="580"/>
              </a:cxn>
              <a:cxn ang="0">
                <a:pos x="178" y="608"/>
              </a:cxn>
              <a:cxn ang="0">
                <a:pos x="212" y="635"/>
              </a:cxn>
              <a:cxn ang="0">
                <a:pos x="248" y="661"/>
              </a:cxn>
              <a:cxn ang="0">
                <a:pos x="287" y="686"/>
              </a:cxn>
              <a:cxn ang="0">
                <a:pos x="329" y="710"/>
              </a:cxn>
              <a:cxn ang="0">
                <a:pos x="372" y="733"/>
              </a:cxn>
              <a:cxn ang="0">
                <a:pos x="418" y="755"/>
              </a:cxn>
              <a:cxn ang="0">
                <a:pos x="466" y="776"/>
              </a:cxn>
              <a:cxn ang="0">
                <a:pos x="517" y="795"/>
              </a:cxn>
              <a:cxn ang="0">
                <a:pos x="569" y="813"/>
              </a:cxn>
              <a:cxn ang="0">
                <a:pos x="622" y="830"/>
              </a:cxn>
              <a:cxn ang="0">
                <a:pos x="678" y="846"/>
              </a:cxn>
              <a:cxn ang="0">
                <a:pos x="735" y="860"/>
              </a:cxn>
              <a:cxn ang="0">
                <a:pos x="793" y="872"/>
              </a:cxn>
              <a:cxn ang="0">
                <a:pos x="852" y="884"/>
              </a:cxn>
              <a:cxn ang="0">
                <a:pos x="913" y="893"/>
              </a:cxn>
              <a:cxn ang="0">
                <a:pos x="974" y="901"/>
              </a:cxn>
              <a:cxn ang="0">
                <a:pos x="1036" y="908"/>
              </a:cxn>
              <a:cxn ang="0">
                <a:pos x="1099" y="913"/>
              </a:cxn>
              <a:cxn ang="0">
                <a:pos x="1162" y="917"/>
              </a:cxn>
              <a:cxn ang="0">
                <a:pos x="1225" y="919"/>
              </a:cxn>
              <a:cxn ang="0">
                <a:pos x="1289" y="919"/>
              </a:cxn>
              <a:cxn ang="0">
                <a:pos x="1352" y="918"/>
              </a:cxn>
              <a:cxn ang="0">
                <a:pos x="1415" y="915"/>
              </a:cxn>
              <a:cxn ang="0">
                <a:pos x="1478" y="910"/>
              </a:cxn>
              <a:cxn ang="0">
                <a:pos x="1541" y="905"/>
              </a:cxn>
              <a:cxn ang="0">
                <a:pos x="1602" y="897"/>
              </a:cxn>
              <a:cxn ang="0">
                <a:pos x="1663" y="888"/>
              </a:cxn>
              <a:cxn ang="0">
                <a:pos x="1723" y="877"/>
              </a:cxn>
              <a:cxn ang="0">
                <a:pos x="1782" y="865"/>
              </a:cxn>
              <a:cxn ang="0">
                <a:pos x="1839" y="852"/>
              </a:cxn>
              <a:cxn ang="0">
                <a:pos x="1895" y="837"/>
              </a:cxn>
              <a:cxn ang="0">
                <a:pos x="1950" y="821"/>
              </a:cxn>
              <a:cxn ang="0">
                <a:pos x="2003" y="803"/>
              </a:cxn>
              <a:cxn ang="0">
                <a:pos x="2054" y="784"/>
              </a:cxn>
              <a:cxn ang="0">
                <a:pos x="2103" y="764"/>
              </a:cxn>
              <a:cxn ang="0">
                <a:pos x="2150" y="743"/>
              </a:cxn>
              <a:cxn ang="0">
                <a:pos x="2195" y="720"/>
              </a:cxn>
              <a:cxn ang="0">
                <a:pos x="2237" y="697"/>
              </a:cxn>
              <a:cxn ang="0">
                <a:pos x="2277" y="672"/>
              </a:cxn>
              <a:cxn ang="0">
                <a:pos x="2315" y="646"/>
              </a:cxn>
              <a:cxn ang="0">
                <a:pos x="2350" y="620"/>
              </a:cxn>
            </a:cxnLst>
            <a:rect l="0" t="0" r="r" b="b"/>
            <a:pathLst>
              <a:path w="2351" h="920">
                <a:moveTo>
                  <a:pt x="134" y="0"/>
                </a:moveTo>
                <a:lnTo>
                  <a:pt x="107" y="29"/>
                </a:lnTo>
                <a:lnTo>
                  <a:pt x="83" y="58"/>
                </a:lnTo>
                <a:lnTo>
                  <a:pt x="62" y="88"/>
                </a:lnTo>
                <a:lnTo>
                  <a:pt x="44" y="118"/>
                </a:lnTo>
                <a:lnTo>
                  <a:pt x="29" y="149"/>
                </a:lnTo>
                <a:lnTo>
                  <a:pt x="17" y="180"/>
                </a:lnTo>
                <a:lnTo>
                  <a:pt x="8" y="212"/>
                </a:lnTo>
                <a:lnTo>
                  <a:pt x="3" y="243"/>
                </a:lnTo>
                <a:lnTo>
                  <a:pt x="0" y="275"/>
                </a:lnTo>
                <a:lnTo>
                  <a:pt x="1" y="307"/>
                </a:lnTo>
                <a:lnTo>
                  <a:pt x="5" y="339"/>
                </a:lnTo>
                <a:lnTo>
                  <a:pt x="12" y="370"/>
                </a:lnTo>
                <a:lnTo>
                  <a:pt x="22" y="401"/>
                </a:lnTo>
                <a:lnTo>
                  <a:pt x="35" y="432"/>
                </a:lnTo>
                <a:lnTo>
                  <a:pt x="52" y="463"/>
                </a:lnTo>
                <a:lnTo>
                  <a:pt x="71" y="493"/>
                </a:lnTo>
                <a:lnTo>
                  <a:pt x="93" y="523"/>
                </a:lnTo>
                <a:lnTo>
                  <a:pt x="119" y="552"/>
                </a:lnTo>
                <a:lnTo>
                  <a:pt x="147" y="580"/>
                </a:lnTo>
                <a:lnTo>
                  <a:pt x="178" y="608"/>
                </a:lnTo>
                <a:lnTo>
                  <a:pt x="212" y="635"/>
                </a:lnTo>
                <a:lnTo>
                  <a:pt x="248" y="661"/>
                </a:lnTo>
                <a:lnTo>
                  <a:pt x="287" y="686"/>
                </a:lnTo>
                <a:lnTo>
                  <a:pt x="329" y="710"/>
                </a:lnTo>
                <a:lnTo>
                  <a:pt x="372" y="733"/>
                </a:lnTo>
                <a:lnTo>
                  <a:pt x="418" y="755"/>
                </a:lnTo>
                <a:lnTo>
                  <a:pt x="466" y="776"/>
                </a:lnTo>
                <a:lnTo>
                  <a:pt x="517" y="795"/>
                </a:lnTo>
                <a:lnTo>
                  <a:pt x="569" y="813"/>
                </a:lnTo>
                <a:lnTo>
                  <a:pt x="622" y="830"/>
                </a:lnTo>
                <a:lnTo>
                  <a:pt x="678" y="846"/>
                </a:lnTo>
                <a:lnTo>
                  <a:pt x="735" y="860"/>
                </a:lnTo>
                <a:lnTo>
                  <a:pt x="793" y="872"/>
                </a:lnTo>
                <a:lnTo>
                  <a:pt x="852" y="884"/>
                </a:lnTo>
                <a:lnTo>
                  <a:pt x="913" y="893"/>
                </a:lnTo>
                <a:lnTo>
                  <a:pt x="974" y="901"/>
                </a:lnTo>
                <a:lnTo>
                  <a:pt x="1036" y="908"/>
                </a:lnTo>
                <a:lnTo>
                  <a:pt x="1099" y="913"/>
                </a:lnTo>
                <a:lnTo>
                  <a:pt x="1162" y="917"/>
                </a:lnTo>
                <a:lnTo>
                  <a:pt x="1225" y="919"/>
                </a:lnTo>
                <a:lnTo>
                  <a:pt x="1289" y="919"/>
                </a:lnTo>
                <a:lnTo>
                  <a:pt x="1352" y="918"/>
                </a:lnTo>
                <a:lnTo>
                  <a:pt x="1415" y="915"/>
                </a:lnTo>
                <a:lnTo>
                  <a:pt x="1478" y="910"/>
                </a:lnTo>
                <a:lnTo>
                  <a:pt x="1541" y="905"/>
                </a:lnTo>
                <a:lnTo>
                  <a:pt x="1602" y="897"/>
                </a:lnTo>
                <a:lnTo>
                  <a:pt x="1663" y="888"/>
                </a:lnTo>
                <a:lnTo>
                  <a:pt x="1723" y="877"/>
                </a:lnTo>
                <a:lnTo>
                  <a:pt x="1782" y="865"/>
                </a:lnTo>
                <a:lnTo>
                  <a:pt x="1839" y="852"/>
                </a:lnTo>
                <a:lnTo>
                  <a:pt x="1895" y="837"/>
                </a:lnTo>
                <a:lnTo>
                  <a:pt x="1950" y="821"/>
                </a:lnTo>
                <a:lnTo>
                  <a:pt x="2003" y="803"/>
                </a:lnTo>
                <a:lnTo>
                  <a:pt x="2054" y="784"/>
                </a:lnTo>
                <a:lnTo>
                  <a:pt x="2103" y="764"/>
                </a:lnTo>
                <a:lnTo>
                  <a:pt x="2150" y="743"/>
                </a:lnTo>
                <a:lnTo>
                  <a:pt x="2195" y="720"/>
                </a:lnTo>
                <a:lnTo>
                  <a:pt x="2237" y="697"/>
                </a:lnTo>
                <a:lnTo>
                  <a:pt x="2277" y="672"/>
                </a:lnTo>
                <a:lnTo>
                  <a:pt x="2315" y="646"/>
                </a:lnTo>
                <a:lnTo>
                  <a:pt x="2350" y="620"/>
                </a:lnTo>
              </a:path>
            </a:pathLst>
          </a:custGeom>
          <a:noFill/>
          <a:ln w="36720">
            <a:solidFill>
              <a:srgbClr val="800000"/>
            </a:solidFill>
            <a:round/>
            <a:headEnd type="triangle" w="med" len="med"/>
            <a:tailEnd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3475" name="Freeform 51"/>
          <p:cNvSpPr>
            <a:spLocks/>
          </p:cNvSpPr>
          <p:nvPr/>
        </p:nvSpPr>
        <p:spPr bwMode="auto">
          <a:xfrm>
            <a:off x="6695593" y="3320541"/>
            <a:ext cx="521280" cy="277949"/>
          </a:xfrm>
          <a:custGeom>
            <a:avLst/>
            <a:gdLst/>
            <a:ahLst/>
            <a:cxnLst>
              <a:cxn ang="0">
                <a:pos x="1594" y="851"/>
              </a:cxn>
              <a:cxn ang="0">
                <a:pos x="1593" y="808"/>
              </a:cxn>
              <a:cxn ang="0">
                <a:pos x="1590" y="765"/>
              </a:cxn>
              <a:cxn ang="0">
                <a:pos x="1584" y="723"/>
              </a:cxn>
              <a:cxn ang="0">
                <a:pos x="1576" y="680"/>
              </a:cxn>
              <a:cxn ang="0">
                <a:pos x="1566" y="639"/>
              </a:cxn>
              <a:cxn ang="0">
                <a:pos x="1553" y="597"/>
              </a:cxn>
              <a:cxn ang="0">
                <a:pos x="1538" y="557"/>
              </a:cxn>
              <a:cxn ang="0">
                <a:pos x="1521" y="517"/>
              </a:cxn>
              <a:cxn ang="0">
                <a:pos x="1501" y="478"/>
              </a:cxn>
              <a:cxn ang="0">
                <a:pos x="1479" y="440"/>
              </a:cxn>
              <a:cxn ang="0">
                <a:pos x="1455" y="403"/>
              </a:cxn>
              <a:cxn ang="0">
                <a:pos x="1429" y="367"/>
              </a:cxn>
              <a:cxn ang="0">
                <a:pos x="1401" y="332"/>
              </a:cxn>
              <a:cxn ang="0">
                <a:pos x="1371" y="299"/>
              </a:cxn>
              <a:cxn ang="0">
                <a:pos x="1339" y="267"/>
              </a:cxn>
              <a:cxn ang="0">
                <a:pos x="1305" y="236"/>
              </a:cxn>
              <a:cxn ang="0">
                <a:pos x="1270" y="207"/>
              </a:cxn>
              <a:cxn ang="0">
                <a:pos x="1233" y="180"/>
              </a:cxn>
              <a:cxn ang="0">
                <a:pos x="1194" y="154"/>
              </a:cxn>
              <a:cxn ang="0">
                <a:pos x="1155" y="131"/>
              </a:cxn>
              <a:cxn ang="0">
                <a:pos x="1113" y="109"/>
              </a:cxn>
              <a:cxn ang="0">
                <a:pos x="1071" y="89"/>
              </a:cxn>
              <a:cxn ang="0">
                <a:pos x="1027" y="70"/>
              </a:cxn>
              <a:cxn ang="0">
                <a:pos x="983" y="54"/>
              </a:cxn>
              <a:cxn ang="0">
                <a:pos x="938" y="40"/>
              </a:cxn>
              <a:cxn ang="0">
                <a:pos x="892" y="28"/>
              </a:cxn>
              <a:cxn ang="0">
                <a:pos x="845" y="18"/>
              </a:cxn>
              <a:cxn ang="0">
                <a:pos x="798" y="10"/>
              </a:cxn>
              <a:cxn ang="0">
                <a:pos x="750" y="5"/>
              </a:cxn>
              <a:cxn ang="0">
                <a:pos x="702" y="1"/>
              </a:cxn>
              <a:cxn ang="0">
                <a:pos x="654" y="0"/>
              </a:cxn>
              <a:cxn ang="0">
                <a:pos x="606" y="1"/>
              </a:cxn>
              <a:cxn ang="0">
                <a:pos x="558" y="4"/>
              </a:cxn>
              <a:cxn ang="0">
                <a:pos x="511" y="9"/>
              </a:cxn>
              <a:cxn ang="0">
                <a:pos x="463" y="16"/>
              </a:cxn>
              <a:cxn ang="0">
                <a:pos x="416" y="26"/>
              </a:cxn>
              <a:cxn ang="0">
                <a:pos x="370" y="37"/>
              </a:cxn>
              <a:cxn ang="0">
                <a:pos x="325" y="51"/>
              </a:cxn>
              <a:cxn ang="0">
                <a:pos x="280" y="67"/>
              </a:cxn>
              <a:cxn ang="0">
                <a:pos x="236" y="85"/>
              </a:cxn>
              <a:cxn ang="0">
                <a:pos x="194" y="104"/>
              </a:cxn>
              <a:cxn ang="0">
                <a:pos x="152" y="126"/>
              </a:cxn>
              <a:cxn ang="0">
                <a:pos x="112" y="149"/>
              </a:cxn>
              <a:cxn ang="0">
                <a:pos x="73" y="174"/>
              </a:cxn>
              <a:cxn ang="0">
                <a:pos x="36" y="201"/>
              </a:cxn>
              <a:cxn ang="0">
                <a:pos x="0" y="230"/>
              </a:cxn>
            </a:cxnLst>
            <a:rect l="0" t="0" r="r" b="b"/>
            <a:pathLst>
              <a:path w="1595" h="852">
                <a:moveTo>
                  <a:pt x="1594" y="851"/>
                </a:moveTo>
                <a:lnTo>
                  <a:pt x="1593" y="808"/>
                </a:lnTo>
                <a:lnTo>
                  <a:pt x="1590" y="765"/>
                </a:lnTo>
                <a:lnTo>
                  <a:pt x="1584" y="723"/>
                </a:lnTo>
                <a:lnTo>
                  <a:pt x="1576" y="680"/>
                </a:lnTo>
                <a:lnTo>
                  <a:pt x="1566" y="639"/>
                </a:lnTo>
                <a:lnTo>
                  <a:pt x="1553" y="597"/>
                </a:lnTo>
                <a:lnTo>
                  <a:pt x="1538" y="557"/>
                </a:lnTo>
                <a:lnTo>
                  <a:pt x="1521" y="517"/>
                </a:lnTo>
                <a:lnTo>
                  <a:pt x="1501" y="478"/>
                </a:lnTo>
                <a:lnTo>
                  <a:pt x="1479" y="440"/>
                </a:lnTo>
                <a:lnTo>
                  <a:pt x="1455" y="403"/>
                </a:lnTo>
                <a:lnTo>
                  <a:pt x="1429" y="367"/>
                </a:lnTo>
                <a:lnTo>
                  <a:pt x="1401" y="332"/>
                </a:lnTo>
                <a:lnTo>
                  <a:pt x="1371" y="299"/>
                </a:lnTo>
                <a:lnTo>
                  <a:pt x="1339" y="267"/>
                </a:lnTo>
                <a:lnTo>
                  <a:pt x="1305" y="236"/>
                </a:lnTo>
                <a:lnTo>
                  <a:pt x="1270" y="207"/>
                </a:lnTo>
                <a:lnTo>
                  <a:pt x="1233" y="180"/>
                </a:lnTo>
                <a:lnTo>
                  <a:pt x="1194" y="154"/>
                </a:lnTo>
                <a:lnTo>
                  <a:pt x="1155" y="131"/>
                </a:lnTo>
                <a:lnTo>
                  <a:pt x="1113" y="109"/>
                </a:lnTo>
                <a:lnTo>
                  <a:pt x="1071" y="89"/>
                </a:lnTo>
                <a:lnTo>
                  <a:pt x="1027" y="70"/>
                </a:lnTo>
                <a:lnTo>
                  <a:pt x="983" y="54"/>
                </a:lnTo>
                <a:lnTo>
                  <a:pt x="938" y="40"/>
                </a:lnTo>
                <a:lnTo>
                  <a:pt x="892" y="28"/>
                </a:lnTo>
                <a:lnTo>
                  <a:pt x="845" y="18"/>
                </a:lnTo>
                <a:lnTo>
                  <a:pt x="798" y="10"/>
                </a:lnTo>
                <a:lnTo>
                  <a:pt x="750" y="5"/>
                </a:lnTo>
                <a:lnTo>
                  <a:pt x="702" y="1"/>
                </a:lnTo>
                <a:lnTo>
                  <a:pt x="654" y="0"/>
                </a:lnTo>
                <a:lnTo>
                  <a:pt x="606" y="1"/>
                </a:lnTo>
                <a:lnTo>
                  <a:pt x="558" y="4"/>
                </a:lnTo>
                <a:lnTo>
                  <a:pt x="511" y="9"/>
                </a:lnTo>
                <a:lnTo>
                  <a:pt x="463" y="16"/>
                </a:lnTo>
                <a:lnTo>
                  <a:pt x="416" y="26"/>
                </a:lnTo>
                <a:lnTo>
                  <a:pt x="370" y="37"/>
                </a:lnTo>
                <a:lnTo>
                  <a:pt x="325" y="51"/>
                </a:lnTo>
                <a:lnTo>
                  <a:pt x="280" y="67"/>
                </a:lnTo>
                <a:lnTo>
                  <a:pt x="236" y="85"/>
                </a:lnTo>
                <a:lnTo>
                  <a:pt x="194" y="104"/>
                </a:lnTo>
                <a:lnTo>
                  <a:pt x="152" y="126"/>
                </a:lnTo>
                <a:lnTo>
                  <a:pt x="112" y="149"/>
                </a:lnTo>
                <a:lnTo>
                  <a:pt x="73" y="174"/>
                </a:lnTo>
                <a:lnTo>
                  <a:pt x="36" y="201"/>
                </a:lnTo>
                <a:lnTo>
                  <a:pt x="0" y="230"/>
                </a:lnTo>
              </a:path>
            </a:pathLst>
          </a:custGeom>
          <a:noFill/>
          <a:ln w="36720">
            <a:solidFill>
              <a:srgbClr val="8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05741" y="408205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6135" y="4058821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7958" y="404658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z-axis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9234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dirty="0"/>
              <a:t>Rotation Around Major Axes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GB" sz="2200" dirty="0"/>
              <a:t>Around </a:t>
            </a:r>
            <a:r>
              <a:rPr lang="en-GB" sz="2200" i="1" dirty="0">
                <a:latin typeface="Times New Roman" pitchFamily="18" charset="0"/>
              </a:rPr>
              <a:t>x:</a:t>
            </a:r>
            <a:br>
              <a:rPr lang="en-GB" sz="2200" dirty="0"/>
            </a:br>
            <a:br>
              <a:rPr lang="en-GB" sz="2200" dirty="0"/>
            </a:br>
            <a:br>
              <a:rPr lang="en-GB" sz="2200" dirty="0"/>
            </a:br>
            <a:br>
              <a:rPr lang="en-GB" sz="2200" dirty="0"/>
            </a:br>
            <a:endParaRPr lang="en-GB" sz="2200" dirty="0"/>
          </a:p>
          <a:p>
            <a:r>
              <a:rPr lang="en-GB" sz="2200" dirty="0"/>
              <a:t>Around </a:t>
            </a:r>
            <a:r>
              <a:rPr lang="en-GB" sz="2200" i="1" dirty="0">
                <a:latin typeface="Times New Roman" pitchFamily="18" charset="0"/>
              </a:rPr>
              <a:t>y:</a:t>
            </a:r>
            <a:br>
              <a:rPr lang="en-GB" sz="2200" dirty="0"/>
            </a:br>
            <a:br>
              <a:rPr lang="en-GB" sz="2200" dirty="0"/>
            </a:br>
            <a:br>
              <a:rPr lang="en-GB" sz="2200" dirty="0"/>
            </a:br>
            <a:br>
              <a:rPr lang="en-GB" sz="2200" dirty="0"/>
            </a:br>
            <a:endParaRPr lang="en-GB" sz="2200" dirty="0"/>
          </a:p>
          <a:p>
            <a:r>
              <a:rPr lang="en-GB" sz="2200" dirty="0"/>
              <a:t>Around </a:t>
            </a:r>
            <a:r>
              <a:rPr lang="en-GB" sz="2200" i="1" dirty="0">
                <a:latin typeface="Times New Roman" pitchFamily="18" charset="0"/>
              </a:rPr>
              <a:t>z</a:t>
            </a:r>
            <a:r>
              <a:rPr lang="en-GB" sz="2200" dirty="0"/>
              <a:t>: </a:t>
            </a:r>
          </a:p>
        </p:txBody>
      </p:sp>
      <p:graphicFrame>
        <p:nvGraphicFramePr>
          <p:cNvPr id="1054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665543"/>
              </p:ext>
            </p:extLst>
          </p:nvPr>
        </p:nvGraphicFramePr>
        <p:xfrm>
          <a:off x="2641803" y="1261830"/>
          <a:ext cx="3070080" cy="140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37" name="Equation" r:id="rId4" imgW="1993680" imgH="914400" progId="Equation.3">
                  <p:embed/>
                </p:oleObj>
              </mc:Choice>
              <mc:Fallback>
                <p:oleObj name="Equation" r:id="rId4" imgW="19936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803" y="1261830"/>
                        <a:ext cx="3070080" cy="14084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334383"/>
              </p:ext>
            </p:extLst>
          </p:nvPr>
        </p:nvGraphicFramePr>
        <p:xfrm>
          <a:off x="6336001" y="1796126"/>
          <a:ext cx="1306080" cy="339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38" name="Equation" r:id="rId6" imgW="876240" imgH="228600" progId="Equation.3">
                  <p:embed/>
                </p:oleObj>
              </mc:Choice>
              <mc:Fallback>
                <p:oleObj name="Equation" r:id="rId6" imgW="876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001" y="1796126"/>
                        <a:ext cx="1306080" cy="3398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909095"/>
              </p:ext>
            </p:extLst>
          </p:nvPr>
        </p:nvGraphicFramePr>
        <p:xfrm>
          <a:off x="2614972" y="4691117"/>
          <a:ext cx="3049920" cy="140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39" name="Equation" r:id="rId8" imgW="1981080" imgH="914400" progId="Equation.3">
                  <p:embed/>
                </p:oleObj>
              </mc:Choice>
              <mc:Fallback>
                <p:oleObj name="Equation" r:id="rId8" imgW="19810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972" y="4691117"/>
                        <a:ext cx="3049920" cy="14084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336150"/>
              </p:ext>
            </p:extLst>
          </p:nvPr>
        </p:nvGraphicFramePr>
        <p:xfrm>
          <a:off x="6326641" y="5234774"/>
          <a:ext cx="1306080" cy="321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0" name="Equation" r:id="rId10" imgW="876240" imgH="215640" progId="Equation.3">
                  <p:embed/>
                </p:oleObj>
              </mc:Choice>
              <mc:Fallback>
                <p:oleObj name="Equation" r:id="rId10" imgW="876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641" y="5234774"/>
                        <a:ext cx="1306080" cy="321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904821"/>
              </p:ext>
            </p:extLst>
          </p:nvPr>
        </p:nvGraphicFramePr>
        <p:xfrm>
          <a:off x="2614972" y="2907794"/>
          <a:ext cx="3070080" cy="140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1" name="Equation" r:id="rId12" imgW="1993680" imgH="914400" progId="Equation.3">
                  <p:embed/>
                </p:oleObj>
              </mc:Choice>
              <mc:Fallback>
                <p:oleObj name="Equation" r:id="rId12" imgW="19936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972" y="2907794"/>
                        <a:ext cx="3070080" cy="14084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601421"/>
              </p:ext>
            </p:extLst>
          </p:nvPr>
        </p:nvGraphicFramePr>
        <p:xfrm>
          <a:off x="6326641" y="3469453"/>
          <a:ext cx="1324800" cy="35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2" name="Equation" r:id="rId14" imgW="888840" imgH="241200" progId="Equation.3">
                  <p:embed/>
                </p:oleObj>
              </mc:Choice>
              <mc:Fallback>
                <p:oleObj name="Equation" r:id="rId14" imgW="8888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641" y="3469453"/>
                        <a:ext cx="1324800" cy="3585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7054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37"/>
          <p:cNvSpPr>
            <a:spLocks noChangeShapeType="1"/>
          </p:cNvSpPr>
          <p:nvPr/>
        </p:nvSpPr>
        <p:spPr bwMode="auto">
          <a:xfrm>
            <a:off x="6781800" y="4951716"/>
            <a:ext cx="18950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56" name="Line 36"/>
          <p:cNvSpPr>
            <a:spLocks noChangeShapeType="1"/>
          </p:cNvSpPr>
          <p:nvPr/>
        </p:nvSpPr>
        <p:spPr bwMode="auto">
          <a:xfrm>
            <a:off x="1066800" y="4938354"/>
            <a:ext cx="1486999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>
            <a:off x="2833158" y="4765801"/>
            <a:ext cx="173884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GB" dirty="0"/>
              <a:t>Rotation Around a Parallel Axis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Rotating an object around a line parallel to one of the axes: Translate to a major axis, rotate, translate back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E.g.</a:t>
            </a:r>
            <a:r>
              <a:rPr lang="en-GB" dirty="0"/>
              <a:t> rotate around a line parallel to x-axis:</a:t>
            </a:r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 flipV="1">
            <a:off x="1410440" y="3681102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25" name="Line 5"/>
          <p:cNvSpPr>
            <a:spLocks noChangeShapeType="1"/>
          </p:cNvSpPr>
          <p:nvPr/>
        </p:nvSpPr>
        <p:spPr bwMode="auto">
          <a:xfrm>
            <a:off x="1410440" y="4769857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26" name="Line 6"/>
          <p:cNvSpPr>
            <a:spLocks noChangeShapeType="1"/>
          </p:cNvSpPr>
          <p:nvPr/>
        </p:nvSpPr>
        <p:spPr bwMode="auto">
          <a:xfrm flipH="1">
            <a:off x="786919" y="4769857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893479" y="5425125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1463719" y="3568771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2641639" y="4626960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pic>
        <p:nvPicPr>
          <p:cNvPr id="107530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12519" y="4808740"/>
            <a:ext cx="455040" cy="620706"/>
          </a:xfrm>
          <a:prstGeom prst="rect">
            <a:avLst/>
          </a:prstGeom>
          <a:noFill/>
        </p:spPr>
      </p:pic>
      <p:sp>
        <p:nvSpPr>
          <p:cNvPr id="107531" name="Line 11"/>
          <p:cNvSpPr>
            <a:spLocks noChangeShapeType="1"/>
          </p:cNvSpPr>
          <p:nvPr/>
        </p:nvSpPr>
        <p:spPr bwMode="auto">
          <a:xfrm flipV="1">
            <a:off x="3440840" y="3685101"/>
            <a:ext cx="1440" cy="10714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32" name="Line 12"/>
          <p:cNvSpPr>
            <a:spLocks noChangeShapeType="1"/>
          </p:cNvSpPr>
          <p:nvPr/>
        </p:nvSpPr>
        <p:spPr bwMode="auto">
          <a:xfrm>
            <a:off x="3439400" y="4763775"/>
            <a:ext cx="1196640" cy="129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33" name="Line 13"/>
          <p:cNvSpPr>
            <a:spLocks noChangeShapeType="1"/>
          </p:cNvSpPr>
          <p:nvPr/>
        </p:nvSpPr>
        <p:spPr bwMode="auto">
          <a:xfrm flipH="1">
            <a:off x="2817319" y="4743613"/>
            <a:ext cx="635040" cy="747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2723719" y="5192940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07535" name="Text Box 15"/>
          <p:cNvSpPr txBox="1">
            <a:spLocks noChangeArrowheads="1"/>
          </p:cNvSpPr>
          <p:nvPr/>
        </p:nvSpPr>
        <p:spPr bwMode="auto">
          <a:xfrm>
            <a:off x="3494119" y="3572770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4581320" y="4307247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07537" name="Line 17"/>
          <p:cNvSpPr>
            <a:spLocks noChangeShapeType="1"/>
          </p:cNvSpPr>
          <p:nvPr/>
        </p:nvSpPr>
        <p:spPr bwMode="auto">
          <a:xfrm flipV="1">
            <a:off x="5360359" y="3561320"/>
            <a:ext cx="1440" cy="11996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38" name="Text Box 18"/>
          <p:cNvSpPr txBox="1">
            <a:spLocks noChangeArrowheads="1"/>
          </p:cNvSpPr>
          <p:nvPr/>
        </p:nvSpPr>
        <p:spPr bwMode="auto">
          <a:xfrm>
            <a:off x="4620199" y="5184371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5439560" y="3539719"/>
            <a:ext cx="9936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6569959" y="4709122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07541" name="Line 21"/>
          <p:cNvSpPr>
            <a:spLocks noChangeShapeType="1"/>
          </p:cNvSpPr>
          <p:nvPr/>
        </p:nvSpPr>
        <p:spPr bwMode="auto">
          <a:xfrm flipV="1">
            <a:off x="7435400" y="3681918"/>
            <a:ext cx="1440" cy="1090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42" name="Line 22"/>
          <p:cNvSpPr>
            <a:spLocks noChangeShapeType="1"/>
          </p:cNvSpPr>
          <p:nvPr/>
        </p:nvSpPr>
        <p:spPr bwMode="auto">
          <a:xfrm>
            <a:off x="7438278" y="4770673"/>
            <a:ext cx="12766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43" name="Line 23"/>
          <p:cNvSpPr>
            <a:spLocks noChangeShapeType="1"/>
          </p:cNvSpPr>
          <p:nvPr/>
        </p:nvSpPr>
        <p:spPr bwMode="auto">
          <a:xfrm flipH="1">
            <a:off x="6846439" y="4764912"/>
            <a:ext cx="613440" cy="7229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44" name="Text Box 24"/>
          <p:cNvSpPr txBox="1">
            <a:spLocks noChangeArrowheads="1"/>
          </p:cNvSpPr>
          <p:nvPr/>
        </p:nvSpPr>
        <p:spPr bwMode="auto">
          <a:xfrm>
            <a:off x="6751399" y="5189757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7467080" y="3581108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8715360" y="4714507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3199680" y="5778008"/>
            <a:ext cx="130176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</a:tabLst>
            </a:pPr>
            <a:r>
              <a:rPr lang="en-GB" dirty="0"/>
              <a:t>Translate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5337320" y="5778008"/>
            <a:ext cx="104400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</a:tabLst>
            </a:pPr>
            <a:r>
              <a:rPr lang="en-GB" dirty="0"/>
              <a:t>Rotate</a:t>
            </a:r>
          </a:p>
        </p:txBody>
      </p:sp>
      <p:sp>
        <p:nvSpPr>
          <p:cNvPr id="107549" name="Text Box 29"/>
          <p:cNvSpPr txBox="1">
            <a:spLocks noChangeArrowheads="1"/>
          </p:cNvSpPr>
          <p:nvPr/>
        </p:nvSpPr>
        <p:spPr bwMode="auto">
          <a:xfrm>
            <a:off x="7027040" y="5759991"/>
            <a:ext cx="1745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</a:tabLst>
            </a:pPr>
            <a:r>
              <a:rPr lang="en-GB" dirty="0"/>
              <a:t>Translate</a:t>
            </a:r>
            <a:r>
              <a:rPr lang="en-GB" dirty="0">
                <a:solidFill>
                  <a:srgbClr val="000000"/>
                </a:solidFill>
              </a:rPr>
              <a:t> back</a:t>
            </a:r>
          </a:p>
        </p:txBody>
      </p:sp>
      <p:sp>
        <p:nvSpPr>
          <p:cNvPr id="107550" name="Line 30"/>
          <p:cNvSpPr>
            <a:spLocks noChangeShapeType="1"/>
          </p:cNvSpPr>
          <p:nvPr/>
        </p:nvSpPr>
        <p:spPr bwMode="auto">
          <a:xfrm>
            <a:off x="5337320" y="4765287"/>
            <a:ext cx="1208160" cy="57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07551" name="Line 31"/>
          <p:cNvSpPr>
            <a:spLocks noChangeShapeType="1"/>
          </p:cNvSpPr>
          <p:nvPr/>
        </p:nvSpPr>
        <p:spPr bwMode="auto">
          <a:xfrm flipH="1">
            <a:off x="4745913" y="4781129"/>
            <a:ext cx="613440" cy="7229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pic>
        <p:nvPicPr>
          <p:cNvPr id="107553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84199" y="4494467"/>
            <a:ext cx="433440" cy="590462"/>
          </a:xfrm>
          <a:prstGeom prst="rect">
            <a:avLst/>
          </a:prstGeom>
          <a:noFill/>
        </p:spPr>
      </p:pic>
      <p:pic>
        <p:nvPicPr>
          <p:cNvPr id="107554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57640" y="4177705"/>
            <a:ext cx="439200" cy="629347"/>
          </a:xfrm>
          <a:prstGeom prst="rect">
            <a:avLst/>
          </a:prstGeom>
          <a:noFill/>
        </p:spPr>
      </p:pic>
      <p:pic>
        <p:nvPicPr>
          <p:cNvPr id="107555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86440" y="4609375"/>
            <a:ext cx="480960" cy="686953"/>
          </a:xfrm>
          <a:prstGeom prst="rect">
            <a:avLst/>
          </a:prstGeom>
          <a:noFill/>
        </p:spPr>
      </p:pic>
      <p:graphicFrame>
        <p:nvGraphicFramePr>
          <p:cNvPr id="107560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897245"/>
              </p:ext>
            </p:extLst>
          </p:nvPr>
        </p:nvGraphicFramePr>
        <p:xfrm>
          <a:off x="1927080" y="2943670"/>
          <a:ext cx="5159520" cy="48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6" name="Equation" r:id="rId8" imgW="2565360" imgH="241200" progId="Equation.3">
                  <p:embed/>
                </p:oleObj>
              </mc:Choice>
              <mc:Fallback>
                <p:oleObj name="Equation" r:id="rId8" imgW="2565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080" y="2943670"/>
                        <a:ext cx="5159520" cy="4853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4745912" y="4769017"/>
            <a:ext cx="1721127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925417" y="4186410"/>
            <a:ext cx="484742" cy="1156771"/>
          </a:xfrm>
          <a:custGeom>
            <a:avLst/>
            <a:gdLst>
              <a:gd name="connsiteX0" fmla="*/ 484742 w 484742"/>
              <a:gd name="connsiteY0" fmla="*/ 594910 h 1156771"/>
              <a:gd name="connsiteX1" fmla="*/ 0 w 484742"/>
              <a:gd name="connsiteY1" fmla="*/ 1156771 h 1156771"/>
              <a:gd name="connsiteX2" fmla="*/ 0 w 484742"/>
              <a:gd name="connsiteY2" fmla="*/ 539826 h 1156771"/>
              <a:gd name="connsiteX3" fmla="*/ 484742 w 484742"/>
              <a:gd name="connsiteY3" fmla="*/ 0 h 1156771"/>
              <a:gd name="connsiteX4" fmla="*/ 484742 w 484742"/>
              <a:gd name="connsiteY4" fmla="*/ 594910 h 11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742" h="1156771">
                <a:moveTo>
                  <a:pt x="484742" y="594910"/>
                </a:moveTo>
                <a:lnTo>
                  <a:pt x="0" y="1156771"/>
                </a:lnTo>
                <a:lnTo>
                  <a:pt x="0" y="539826"/>
                </a:lnTo>
                <a:lnTo>
                  <a:pt x="484742" y="0"/>
                </a:lnTo>
                <a:lnTo>
                  <a:pt x="484742" y="594910"/>
                </a:lnTo>
                <a:close/>
              </a:path>
            </a:pathLst>
          </a:custGeom>
          <a:solidFill>
            <a:srgbClr val="AD0101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685800" y="4938354"/>
            <a:ext cx="2396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23651" y="491077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71931" y="4597337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dirty="0" err="1"/>
              <a:t>y</a:t>
            </a:r>
            <a:r>
              <a:rPr lang="en-US" sz="1400" baseline="-25000" dirty="0" err="1"/>
              <a:t>p</a:t>
            </a:r>
            <a:r>
              <a:rPr lang="en-US" sz="1400" dirty="0"/>
              <a:t>, </a:t>
            </a:r>
            <a:r>
              <a:rPr lang="en-US" sz="1400" dirty="0" err="1"/>
              <a:t>z</a:t>
            </a:r>
            <a:r>
              <a:rPr lang="en-US" sz="1400" baseline="-25000" dirty="0" err="1"/>
              <a:t>p</a:t>
            </a:r>
            <a:r>
              <a:rPr lang="en-US" sz="1400" dirty="0"/>
              <a:t>)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7160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Rotation Around an Arbitrary Axis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Step 1:</a:t>
            </a:r>
            <a:r>
              <a:rPr lang="en-GB" dirty="0"/>
              <a:t> Translate the object so that the rotation axis passes though the origin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Step 2:</a:t>
            </a:r>
            <a:r>
              <a:rPr lang="en-GB" dirty="0"/>
              <a:t> Rotate the object so that the rotation axis is aligned with one of the major axes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Step 3:</a:t>
            </a:r>
            <a:r>
              <a:rPr lang="en-GB" dirty="0"/>
              <a:t> Make the specified rotation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Step 4:</a:t>
            </a:r>
            <a:r>
              <a:rPr lang="en-GB" dirty="0"/>
              <a:t> Reverse the axis rotation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Step 5:</a:t>
            </a:r>
            <a:r>
              <a:rPr lang="en-GB" dirty="0"/>
              <a:t> Translate back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410200" y="4038600"/>
            <a:ext cx="1978560" cy="2137428"/>
            <a:chOff x="6172200" y="2052216"/>
            <a:chExt cx="1978560" cy="2137428"/>
          </a:xfrm>
        </p:grpSpPr>
        <p:sp>
          <p:nvSpPr>
            <p:cNvPr id="109572" name="Line 4"/>
            <p:cNvSpPr>
              <a:spLocks noChangeShapeType="1"/>
            </p:cNvSpPr>
            <p:nvPr/>
          </p:nvSpPr>
          <p:spPr bwMode="auto">
            <a:xfrm flipV="1">
              <a:off x="6795719" y="2164548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09573" name="Line 5"/>
            <p:cNvSpPr>
              <a:spLocks noChangeShapeType="1"/>
            </p:cNvSpPr>
            <p:nvPr/>
          </p:nvSpPr>
          <p:spPr bwMode="auto">
            <a:xfrm>
              <a:off x="6795719" y="3251861"/>
              <a:ext cx="1199520" cy="1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09574" name="Line 6"/>
            <p:cNvSpPr>
              <a:spLocks noChangeShapeType="1"/>
            </p:cNvSpPr>
            <p:nvPr/>
          </p:nvSpPr>
          <p:spPr bwMode="auto">
            <a:xfrm flipH="1">
              <a:off x="6172200" y="3251862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09575" name="Text Box 7"/>
            <p:cNvSpPr txBox="1">
              <a:spLocks noChangeArrowheads="1"/>
            </p:cNvSpPr>
            <p:nvPr/>
          </p:nvSpPr>
          <p:spPr bwMode="auto">
            <a:xfrm>
              <a:off x="6278759" y="3907131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09576" name="Text Box 8"/>
            <p:cNvSpPr txBox="1">
              <a:spLocks noChangeArrowheads="1"/>
            </p:cNvSpPr>
            <p:nvPr/>
          </p:nvSpPr>
          <p:spPr bwMode="auto">
            <a:xfrm>
              <a:off x="6847559" y="2052216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09577" name="Text Box 9"/>
            <p:cNvSpPr txBox="1">
              <a:spLocks noChangeArrowheads="1"/>
            </p:cNvSpPr>
            <p:nvPr/>
          </p:nvSpPr>
          <p:spPr bwMode="auto">
            <a:xfrm>
              <a:off x="8026920" y="3197136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pic>
          <p:nvPicPr>
            <p:cNvPr id="109578" name="Picture 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27719" y="2939349"/>
              <a:ext cx="455040" cy="620705"/>
            </a:xfrm>
            <a:prstGeom prst="rect">
              <a:avLst/>
            </a:prstGeom>
            <a:noFill/>
          </p:spPr>
        </p:pic>
        <p:sp>
          <p:nvSpPr>
            <p:cNvPr id="109579" name="Line 11"/>
            <p:cNvSpPr>
              <a:spLocks noChangeShapeType="1"/>
            </p:cNvSpPr>
            <p:nvPr/>
          </p:nvSpPr>
          <p:spPr bwMode="auto">
            <a:xfrm flipV="1">
              <a:off x="6938279" y="2655639"/>
              <a:ext cx="328320" cy="4550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pic>
          <p:nvPicPr>
            <p:cNvPr id="109580" name="Picture 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198120" y="2331606"/>
              <a:ext cx="640800" cy="750318"/>
            </a:xfrm>
            <a:prstGeom prst="rect">
              <a:avLst/>
            </a:prstGeom>
            <a:noFill/>
          </p:spPr>
        </p:pic>
        <p:sp>
          <p:nvSpPr>
            <p:cNvPr id="109581" name="Freeform 13"/>
            <p:cNvSpPr>
              <a:spLocks/>
            </p:cNvSpPr>
            <p:nvPr/>
          </p:nvSpPr>
          <p:spPr bwMode="auto">
            <a:xfrm rot="11042005">
              <a:off x="6586920" y="2916307"/>
              <a:ext cx="642240" cy="452207"/>
            </a:xfrm>
            <a:custGeom>
              <a:avLst/>
              <a:gdLst/>
              <a:ahLst/>
              <a:cxnLst>
                <a:cxn ang="0">
                  <a:pos x="92" y="25"/>
                </a:cxn>
                <a:cxn ang="0">
                  <a:pos x="54" y="77"/>
                </a:cxn>
                <a:cxn ang="0">
                  <a:pos x="27" y="134"/>
                </a:cxn>
                <a:cxn ang="0">
                  <a:pos x="9" y="198"/>
                </a:cxn>
                <a:cxn ang="0">
                  <a:pos x="1" y="264"/>
                </a:cxn>
                <a:cxn ang="0">
                  <a:pos x="2" y="335"/>
                </a:cxn>
                <a:cxn ang="0">
                  <a:pos x="14" y="407"/>
                </a:cxn>
                <a:cxn ang="0">
                  <a:pos x="34" y="483"/>
                </a:cxn>
                <a:cxn ang="0">
                  <a:pos x="65" y="559"/>
                </a:cxn>
                <a:cxn ang="0">
                  <a:pos x="104" y="635"/>
                </a:cxn>
                <a:cxn ang="0">
                  <a:pos x="152" y="712"/>
                </a:cxn>
                <a:cxn ang="0">
                  <a:pos x="209" y="788"/>
                </a:cxn>
                <a:cxn ang="0">
                  <a:pos x="274" y="862"/>
                </a:cxn>
                <a:cxn ang="0">
                  <a:pos x="345" y="933"/>
                </a:cxn>
                <a:cxn ang="0">
                  <a:pos x="421" y="1002"/>
                </a:cxn>
                <a:cxn ang="0">
                  <a:pos x="505" y="1066"/>
                </a:cxn>
                <a:cxn ang="0">
                  <a:pos x="593" y="1126"/>
                </a:cxn>
                <a:cxn ang="0">
                  <a:pos x="685" y="1182"/>
                </a:cxn>
                <a:cxn ang="0">
                  <a:pos x="779" y="1230"/>
                </a:cxn>
                <a:cxn ang="0">
                  <a:pos x="876" y="1274"/>
                </a:cxn>
                <a:cxn ang="0">
                  <a:pos x="974" y="1310"/>
                </a:cxn>
                <a:cxn ang="0">
                  <a:pos x="1071" y="1340"/>
                </a:cxn>
                <a:cxn ang="0">
                  <a:pos x="1170" y="1362"/>
                </a:cxn>
                <a:cxn ang="0">
                  <a:pos x="1264" y="1377"/>
                </a:cxn>
                <a:cxn ang="0">
                  <a:pos x="1356" y="1384"/>
                </a:cxn>
                <a:cxn ang="0">
                  <a:pos x="1446" y="1384"/>
                </a:cxn>
                <a:cxn ang="0">
                  <a:pos x="1528" y="1376"/>
                </a:cxn>
                <a:cxn ang="0">
                  <a:pos x="1608" y="1361"/>
                </a:cxn>
                <a:cxn ang="0">
                  <a:pos x="1680" y="1338"/>
                </a:cxn>
                <a:cxn ang="0">
                  <a:pos x="1745" y="1307"/>
                </a:cxn>
                <a:cxn ang="0">
                  <a:pos x="1803" y="1271"/>
                </a:cxn>
                <a:cxn ang="0">
                  <a:pos x="1853" y="1227"/>
                </a:cxn>
                <a:cxn ang="0">
                  <a:pos x="1894" y="1177"/>
                </a:cxn>
                <a:cxn ang="0">
                  <a:pos x="1926" y="1122"/>
                </a:cxn>
                <a:cxn ang="0">
                  <a:pos x="1948" y="1061"/>
                </a:cxn>
                <a:cxn ang="0">
                  <a:pos x="1961" y="997"/>
                </a:cxn>
                <a:cxn ang="0">
                  <a:pos x="1964" y="928"/>
                </a:cxn>
                <a:cxn ang="0">
                  <a:pos x="1958" y="857"/>
                </a:cxn>
                <a:cxn ang="0">
                  <a:pos x="1941" y="782"/>
                </a:cxn>
              </a:cxnLst>
              <a:rect l="0" t="0" r="r" b="b"/>
              <a:pathLst>
                <a:path w="1965" h="1386">
                  <a:moveTo>
                    <a:pt x="113" y="0"/>
                  </a:moveTo>
                  <a:lnTo>
                    <a:pt x="92" y="25"/>
                  </a:lnTo>
                  <a:lnTo>
                    <a:pt x="71" y="50"/>
                  </a:lnTo>
                  <a:lnTo>
                    <a:pt x="54" y="77"/>
                  </a:lnTo>
                  <a:lnTo>
                    <a:pt x="39" y="106"/>
                  </a:lnTo>
                  <a:lnTo>
                    <a:pt x="27" y="134"/>
                  </a:lnTo>
                  <a:lnTo>
                    <a:pt x="17" y="166"/>
                  </a:lnTo>
                  <a:lnTo>
                    <a:pt x="9" y="198"/>
                  </a:lnTo>
                  <a:lnTo>
                    <a:pt x="4" y="231"/>
                  </a:lnTo>
                  <a:lnTo>
                    <a:pt x="1" y="264"/>
                  </a:lnTo>
                  <a:lnTo>
                    <a:pt x="0" y="299"/>
                  </a:lnTo>
                  <a:lnTo>
                    <a:pt x="2" y="335"/>
                  </a:lnTo>
                  <a:lnTo>
                    <a:pt x="6" y="371"/>
                  </a:lnTo>
                  <a:lnTo>
                    <a:pt x="14" y="407"/>
                  </a:lnTo>
                  <a:lnTo>
                    <a:pt x="23" y="445"/>
                  </a:lnTo>
                  <a:lnTo>
                    <a:pt x="34" y="483"/>
                  </a:lnTo>
                  <a:lnTo>
                    <a:pt x="48" y="521"/>
                  </a:lnTo>
                  <a:lnTo>
                    <a:pt x="65" y="559"/>
                  </a:lnTo>
                  <a:lnTo>
                    <a:pt x="83" y="597"/>
                  </a:lnTo>
                  <a:lnTo>
                    <a:pt x="104" y="635"/>
                  </a:lnTo>
                  <a:lnTo>
                    <a:pt x="127" y="674"/>
                  </a:lnTo>
                  <a:lnTo>
                    <a:pt x="152" y="712"/>
                  </a:lnTo>
                  <a:lnTo>
                    <a:pt x="180" y="750"/>
                  </a:lnTo>
                  <a:lnTo>
                    <a:pt x="209" y="788"/>
                  </a:lnTo>
                  <a:lnTo>
                    <a:pt x="240" y="826"/>
                  </a:lnTo>
                  <a:lnTo>
                    <a:pt x="274" y="862"/>
                  </a:lnTo>
                  <a:lnTo>
                    <a:pt x="308" y="898"/>
                  </a:lnTo>
                  <a:lnTo>
                    <a:pt x="345" y="933"/>
                  </a:lnTo>
                  <a:lnTo>
                    <a:pt x="382" y="968"/>
                  </a:lnTo>
                  <a:lnTo>
                    <a:pt x="421" y="1002"/>
                  </a:lnTo>
                  <a:lnTo>
                    <a:pt x="463" y="1035"/>
                  </a:lnTo>
                  <a:lnTo>
                    <a:pt x="505" y="1066"/>
                  </a:lnTo>
                  <a:lnTo>
                    <a:pt x="549" y="1097"/>
                  </a:lnTo>
                  <a:lnTo>
                    <a:pt x="593" y="1126"/>
                  </a:lnTo>
                  <a:lnTo>
                    <a:pt x="638" y="1155"/>
                  </a:lnTo>
                  <a:lnTo>
                    <a:pt x="685" y="1182"/>
                  </a:lnTo>
                  <a:lnTo>
                    <a:pt x="732" y="1206"/>
                  </a:lnTo>
                  <a:lnTo>
                    <a:pt x="779" y="1230"/>
                  </a:lnTo>
                  <a:lnTo>
                    <a:pt x="828" y="1252"/>
                  </a:lnTo>
                  <a:lnTo>
                    <a:pt x="876" y="1274"/>
                  </a:lnTo>
                  <a:lnTo>
                    <a:pt x="926" y="1293"/>
                  </a:lnTo>
                  <a:lnTo>
                    <a:pt x="974" y="1310"/>
                  </a:lnTo>
                  <a:lnTo>
                    <a:pt x="1023" y="1326"/>
                  </a:lnTo>
                  <a:lnTo>
                    <a:pt x="1071" y="1340"/>
                  </a:lnTo>
                  <a:lnTo>
                    <a:pt x="1121" y="1352"/>
                  </a:lnTo>
                  <a:lnTo>
                    <a:pt x="1170" y="1362"/>
                  </a:lnTo>
                  <a:lnTo>
                    <a:pt x="1217" y="1371"/>
                  </a:lnTo>
                  <a:lnTo>
                    <a:pt x="1264" y="1377"/>
                  </a:lnTo>
                  <a:lnTo>
                    <a:pt x="1310" y="1382"/>
                  </a:lnTo>
                  <a:lnTo>
                    <a:pt x="1356" y="1384"/>
                  </a:lnTo>
                  <a:lnTo>
                    <a:pt x="1401" y="1385"/>
                  </a:lnTo>
                  <a:lnTo>
                    <a:pt x="1446" y="1384"/>
                  </a:lnTo>
                  <a:lnTo>
                    <a:pt x="1487" y="1382"/>
                  </a:lnTo>
                  <a:lnTo>
                    <a:pt x="1528" y="1376"/>
                  </a:lnTo>
                  <a:lnTo>
                    <a:pt x="1569" y="1370"/>
                  </a:lnTo>
                  <a:lnTo>
                    <a:pt x="1608" y="1361"/>
                  </a:lnTo>
                  <a:lnTo>
                    <a:pt x="1644" y="1350"/>
                  </a:lnTo>
                  <a:lnTo>
                    <a:pt x="1680" y="1338"/>
                  </a:lnTo>
                  <a:lnTo>
                    <a:pt x="1714" y="1324"/>
                  </a:lnTo>
                  <a:lnTo>
                    <a:pt x="1745" y="1307"/>
                  </a:lnTo>
                  <a:lnTo>
                    <a:pt x="1775" y="1290"/>
                  </a:lnTo>
                  <a:lnTo>
                    <a:pt x="1803" y="1271"/>
                  </a:lnTo>
                  <a:lnTo>
                    <a:pt x="1829" y="1250"/>
                  </a:lnTo>
                  <a:lnTo>
                    <a:pt x="1853" y="1227"/>
                  </a:lnTo>
                  <a:lnTo>
                    <a:pt x="1874" y="1203"/>
                  </a:lnTo>
                  <a:lnTo>
                    <a:pt x="1894" y="1177"/>
                  </a:lnTo>
                  <a:lnTo>
                    <a:pt x="1911" y="1150"/>
                  </a:lnTo>
                  <a:lnTo>
                    <a:pt x="1926" y="1122"/>
                  </a:lnTo>
                  <a:lnTo>
                    <a:pt x="1938" y="1092"/>
                  </a:lnTo>
                  <a:lnTo>
                    <a:pt x="1948" y="1061"/>
                  </a:lnTo>
                  <a:lnTo>
                    <a:pt x="1956" y="1030"/>
                  </a:lnTo>
                  <a:lnTo>
                    <a:pt x="1961" y="997"/>
                  </a:lnTo>
                  <a:lnTo>
                    <a:pt x="1964" y="963"/>
                  </a:lnTo>
                  <a:lnTo>
                    <a:pt x="1964" y="928"/>
                  </a:lnTo>
                  <a:lnTo>
                    <a:pt x="1963" y="893"/>
                  </a:lnTo>
                  <a:lnTo>
                    <a:pt x="1958" y="857"/>
                  </a:lnTo>
                  <a:lnTo>
                    <a:pt x="1950" y="820"/>
                  </a:lnTo>
                  <a:lnTo>
                    <a:pt x="1941" y="782"/>
                  </a:lnTo>
                  <a:lnTo>
                    <a:pt x="1929" y="744"/>
                  </a:lnTo>
                </a:path>
              </a:pathLst>
            </a:custGeom>
            <a:noFill/>
            <a:ln w="36703">
              <a:solidFill>
                <a:srgbClr val="800000"/>
              </a:solidFill>
              <a:round/>
              <a:headEnd type="none" w="med" len="med"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1663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1681" name="Picture 65" descr="AADGHLP0"/>
          <p:cNvPicPr>
            <a:picLocks noChangeAspect="1" noChangeArrowheads="1"/>
          </p:cNvPicPr>
          <p:nvPr/>
        </p:nvPicPr>
        <p:blipFill>
          <a:blip r:embed="rId3" cstate="print"/>
          <a:srcRect l="18936" t="11551" r="19545" b="29630"/>
          <a:stretch>
            <a:fillRect/>
          </a:stretch>
        </p:blipFill>
        <p:spPr bwMode="auto">
          <a:xfrm>
            <a:off x="838200" y="1242506"/>
            <a:ext cx="7162800" cy="5144707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6679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First determine the axis of rotation: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endParaRPr lang="en-GB" dirty="0"/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b="1" dirty="0"/>
              <a:t>u</a:t>
            </a:r>
            <a:r>
              <a:rPr lang="en-GB" dirty="0"/>
              <a:t> is the unit vector along </a:t>
            </a:r>
            <a:r>
              <a:rPr lang="en-GB" b="1" dirty="0"/>
              <a:t>v</a:t>
            </a:r>
            <a:r>
              <a:rPr lang="en-GB" dirty="0"/>
              <a:t>:</a:t>
            </a:r>
          </a:p>
          <a:p>
            <a:endParaRPr lang="en-US" dirty="0"/>
          </a:p>
        </p:txBody>
      </p:sp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059763"/>
              </p:ext>
            </p:extLst>
          </p:nvPr>
        </p:nvGraphicFramePr>
        <p:xfrm>
          <a:off x="1945448" y="2286000"/>
          <a:ext cx="552215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87" name="Equation" r:id="rId4" imgW="2247840" imgH="215640" progId="Equation.3">
                  <p:embed/>
                </p:oleObj>
              </mc:Choice>
              <mc:Fallback>
                <p:oleObj name="Equation" r:id="rId4" imgW="2247840" imgH="215640" progId="Equation.3">
                  <p:embed/>
                  <p:pic>
                    <p:nvPicPr>
                      <p:cNvPr id="1136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448" y="2286000"/>
                        <a:ext cx="5522152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243267"/>
              </p:ext>
            </p:extLst>
          </p:nvPr>
        </p:nvGraphicFramePr>
        <p:xfrm>
          <a:off x="3352800" y="3829050"/>
          <a:ext cx="225034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88" name="Equation" r:id="rId6" imgW="1028520" imgH="444240" progId="Equation.3">
                  <p:embed/>
                </p:oleObj>
              </mc:Choice>
              <mc:Fallback>
                <p:oleObj name="Equation" r:id="rId6" imgW="1028520" imgH="444240" progId="Equation.3">
                  <p:embed/>
                  <p:pic>
                    <p:nvPicPr>
                      <p:cNvPr id="1136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29050"/>
                        <a:ext cx="2250342" cy="971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0918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Next translate </a:t>
            </a:r>
            <a:r>
              <a:rPr lang="en-GB" b="1" dirty="0"/>
              <a:t>P</a:t>
            </a:r>
            <a:r>
              <a:rPr lang="en-GB" b="1" baseline="-25000" dirty="0"/>
              <a:t>1</a:t>
            </a:r>
            <a:r>
              <a:rPr lang="en-GB" dirty="0"/>
              <a:t> to origin:</a:t>
            </a:r>
          </a:p>
          <a:p>
            <a:endParaRPr lang="en-US" dirty="0"/>
          </a:p>
        </p:txBody>
      </p:sp>
      <p:graphicFrame>
        <p:nvGraphicFramePr>
          <p:cNvPr id="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415055"/>
              </p:ext>
            </p:extLst>
          </p:nvPr>
        </p:nvGraphicFramePr>
        <p:xfrm>
          <a:off x="2819400" y="2514600"/>
          <a:ext cx="308338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5" name="Equation" r:id="rId4" imgW="1320480" imgH="914400" progId="Equation.3">
                  <p:embed/>
                </p:oleObj>
              </mc:Choice>
              <mc:Fallback>
                <p:oleObj name="Equation" r:id="rId4" imgW="1320480" imgH="914400" progId="Equation.3">
                  <p:embed/>
                  <p:pic>
                    <p:nvPicPr>
                      <p:cNvPr id="1136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514600"/>
                        <a:ext cx="3083380" cy="213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595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Then align </a:t>
            </a:r>
            <a:r>
              <a:rPr lang="en-GB" b="1" dirty="0"/>
              <a:t>u</a:t>
            </a:r>
            <a:r>
              <a:rPr lang="en-GB" dirty="0"/>
              <a:t> with one of the major axis (</a:t>
            </a:r>
            <a:r>
              <a:rPr lang="en-GB" b="1" dirty="0"/>
              <a:t>x</a:t>
            </a:r>
            <a:r>
              <a:rPr lang="en-GB" dirty="0"/>
              <a:t>, </a:t>
            </a:r>
            <a:r>
              <a:rPr lang="en-GB" b="1" dirty="0"/>
              <a:t>y</a:t>
            </a:r>
            <a:r>
              <a:rPr lang="en-GB" dirty="0"/>
              <a:t>, or </a:t>
            </a:r>
            <a:r>
              <a:rPr lang="en-GB" b="1" dirty="0"/>
              <a:t>z</a:t>
            </a:r>
            <a:r>
              <a:rPr lang="en-GB" dirty="0"/>
              <a:t>)</a:t>
            </a:r>
          </a:p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This is a two-step process:</a:t>
            </a:r>
          </a:p>
          <a:p>
            <a:pPr lvl="1"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Rotate around </a:t>
            </a:r>
            <a:r>
              <a:rPr lang="en-GB" b="1" dirty="0"/>
              <a:t>x</a:t>
            </a:r>
            <a:r>
              <a:rPr lang="en-GB" dirty="0"/>
              <a:t> to bring </a:t>
            </a:r>
            <a:r>
              <a:rPr lang="en-GB" b="1" dirty="0"/>
              <a:t>u</a:t>
            </a:r>
            <a:r>
              <a:rPr lang="en-GB" dirty="0"/>
              <a:t> onto </a:t>
            </a:r>
            <a:r>
              <a:rPr lang="en-GB" b="1" dirty="0" err="1"/>
              <a:t>xz</a:t>
            </a:r>
            <a:r>
              <a:rPr lang="en-GB" dirty="0"/>
              <a:t> plane (CCW)</a:t>
            </a:r>
          </a:p>
          <a:p>
            <a:pPr lvl="1"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Rotate around </a:t>
            </a:r>
            <a:r>
              <a:rPr lang="en-GB" b="1" dirty="0"/>
              <a:t>y</a:t>
            </a:r>
            <a:r>
              <a:rPr lang="en-GB" dirty="0"/>
              <a:t> to align the result with the </a:t>
            </a:r>
            <a:r>
              <a:rPr lang="en-GB" b="1" dirty="0"/>
              <a:t>z</a:t>
            </a:r>
            <a:r>
              <a:rPr lang="en-GB" dirty="0"/>
              <a:t>-axis (CW) 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209800" y="3427797"/>
            <a:ext cx="1978560" cy="2287203"/>
            <a:chOff x="2209800" y="3427797"/>
            <a:chExt cx="1978560" cy="2287203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2833321" y="3689905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2833321" y="4777218"/>
              <a:ext cx="1199520" cy="1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2209800" y="4778659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316360" y="5432487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064520" y="4722493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2849160" y="4316370"/>
              <a:ext cx="305280" cy="432045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243720" y="4183876"/>
              <a:ext cx="2030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b="1" i="1" dirty="0">
                  <a:solidFill>
                    <a:srgbClr val="000000"/>
                  </a:solidFill>
                  <a:latin typeface="Nimbus Roman No9 L" pitchFamily="16" charset="0"/>
                </a:rPr>
                <a:t>u</a:t>
              </a: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839081" y="4771458"/>
              <a:ext cx="254880" cy="420524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2833320" y="3427797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6" name="Arc 20"/>
            <p:cNvSpPr>
              <a:spLocks/>
            </p:cNvSpPr>
            <p:nvPr/>
          </p:nvSpPr>
          <p:spPr bwMode="auto">
            <a:xfrm flipH="1">
              <a:off x="3029160" y="4604401"/>
              <a:ext cx="195840" cy="325474"/>
            </a:xfrm>
            <a:custGeom>
              <a:avLst/>
              <a:gdLst>
                <a:gd name="G0" fmla="+- 0 0 0"/>
                <a:gd name="G1" fmla="+- 17713 0 0"/>
                <a:gd name="G2" fmla="+- 21600 0 0"/>
                <a:gd name="T0" fmla="*/ 12362 w 21600"/>
                <a:gd name="T1" fmla="*/ 0 h 33841"/>
                <a:gd name="T2" fmla="*/ 14368 w 21600"/>
                <a:gd name="T3" fmla="*/ 33841 h 33841"/>
                <a:gd name="T4" fmla="*/ 0 w 21600"/>
                <a:gd name="T5" fmla="*/ 17713 h 33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3841" fill="none" extrusionOk="0">
                  <a:moveTo>
                    <a:pt x="12361" y="0"/>
                  </a:moveTo>
                  <a:cubicBezTo>
                    <a:pt x="18150" y="4040"/>
                    <a:pt x="21600" y="10653"/>
                    <a:pt x="21600" y="17713"/>
                  </a:cubicBezTo>
                  <a:cubicBezTo>
                    <a:pt x="21600" y="23874"/>
                    <a:pt x="18968" y="29742"/>
                    <a:pt x="14368" y="33841"/>
                  </a:cubicBezTo>
                </a:path>
                <a:path w="21600" h="33841" stroke="0" extrusionOk="0">
                  <a:moveTo>
                    <a:pt x="12361" y="0"/>
                  </a:moveTo>
                  <a:cubicBezTo>
                    <a:pt x="18150" y="4040"/>
                    <a:pt x="21600" y="10653"/>
                    <a:pt x="21600" y="17713"/>
                  </a:cubicBezTo>
                  <a:cubicBezTo>
                    <a:pt x="21600" y="23874"/>
                    <a:pt x="18968" y="29742"/>
                    <a:pt x="14368" y="33841"/>
                  </a:cubicBezTo>
                  <a:lnTo>
                    <a:pt x="0" y="1771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3093960" y="4539593"/>
              <a:ext cx="203040" cy="282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l-GR" b="1" i="1" dirty="0">
                  <a:solidFill>
                    <a:srgbClr val="000000"/>
                  </a:solidFill>
                  <a:cs typeface="Times New Roman" pitchFamily="18" charset="0"/>
                </a:rPr>
                <a:t>α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0" y="3386033"/>
            <a:ext cx="1978560" cy="2284323"/>
            <a:chOff x="5486400" y="3386033"/>
            <a:chExt cx="1978560" cy="2284323"/>
          </a:xfrm>
        </p:grpSpPr>
        <p:sp>
          <p:nvSpPr>
            <p:cNvPr id="18" name="Line 22"/>
            <p:cNvSpPr>
              <a:spLocks noChangeShapeType="1"/>
            </p:cNvSpPr>
            <p:nvPr/>
          </p:nvSpPr>
          <p:spPr bwMode="auto">
            <a:xfrm flipV="1">
              <a:off x="6109921" y="3648140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6109921" y="4735455"/>
              <a:ext cx="11995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 flipH="1">
              <a:off x="5486400" y="4736895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5522400" y="5387843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22" name="Text Box 26"/>
            <p:cNvSpPr txBox="1">
              <a:spLocks noChangeArrowheads="1"/>
            </p:cNvSpPr>
            <p:nvPr/>
          </p:nvSpPr>
          <p:spPr bwMode="auto">
            <a:xfrm>
              <a:off x="7341120" y="4680729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H="1">
              <a:off x="5783040" y="4706651"/>
              <a:ext cx="342720" cy="420524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24" name="Text Box 28"/>
            <p:cNvSpPr txBox="1">
              <a:spLocks noChangeArrowheads="1"/>
            </p:cNvSpPr>
            <p:nvPr/>
          </p:nvSpPr>
          <p:spPr bwMode="auto">
            <a:xfrm>
              <a:off x="6436800" y="4996121"/>
              <a:ext cx="2030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b="1" i="1" dirty="0">
                  <a:solidFill>
                    <a:srgbClr val="000000"/>
                  </a:solidFill>
                  <a:latin typeface="Nimbus Roman No9 L" pitchFamily="16" charset="0"/>
                </a:rPr>
                <a:t>u</a:t>
              </a:r>
            </a:p>
          </p:txBody>
        </p:sp>
        <p:sp>
          <p:nvSpPr>
            <p:cNvPr id="25" name="Line 29"/>
            <p:cNvSpPr>
              <a:spLocks noChangeShapeType="1"/>
            </p:cNvSpPr>
            <p:nvPr/>
          </p:nvSpPr>
          <p:spPr bwMode="auto">
            <a:xfrm>
              <a:off x="6115681" y="4729694"/>
              <a:ext cx="254880" cy="420524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26" name="Text Box 30"/>
            <p:cNvSpPr txBox="1">
              <a:spLocks noChangeArrowheads="1"/>
            </p:cNvSpPr>
            <p:nvPr/>
          </p:nvSpPr>
          <p:spPr bwMode="auto">
            <a:xfrm>
              <a:off x="6109920" y="3386033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27" name="Arc 31"/>
            <p:cNvSpPr>
              <a:spLocks/>
            </p:cNvSpPr>
            <p:nvPr/>
          </p:nvSpPr>
          <p:spPr bwMode="auto">
            <a:xfrm flipH="1">
              <a:off x="5978880" y="4865068"/>
              <a:ext cx="231840" cy="129614"/>
            </a:xfrm>
            <a:custGeom>
              <a:avLst/>
              <a:gdLst>
                <a:gd name="G0" fmla="+- 19963 0 0"/>
                <a:gd name="G1" fmla="+- 0 0 0"/>
                <a:gd name="G2" fmla="+- 21600 0 0"/>
                <a:gd name="T0" fmla="*/ 38202 w 38202"/>
                <a:gd name="T1" fmla="*/ 11572 h 21600"/>
                <a:gd name="T2" fmla="*/ 0 w 38202"/>
                <a:gd name="T3" fmla="*/ 8249 h 21600"/>
                <a:gd name="T4" fmla="*/ 19963 w 38202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02" h="21600" fill="none" extrusionOk="0">
                  <a:moveTo>
                    <a:pt x="38201" y="11571"/>
                  </a:moveTo>
                  <a:cubicBezTo>
                    <a:pt x="34239" y="17816"/>
                    <a:pt x="27358" y="21599"/>
                    <a:pt x="19963" y="21600"/>
                  </a:cubicBezTo>
                  <a:cubicBezTo>
                    <a:pt x="11219" y="21600"/>
                    <a:pt x="3339" y="16329"/>
                    <a:pt x="0" y="8248"/>
                  </a:cubicBezTo>
                </a:path>
                <a:path w="38202" h="21600" stroke="0" extrusionOk="0">
                  <a:moveTo>
                    <a:pt x="38201" y="11571"/>
                  </a:moveTo>
                  <a:cubicBezTo>
                    <a:pt x="34239" y="17816"/>
                    <a:pt x="27358" y="21599"/>
                    <a:pt x="19963" y="21600"/>
                  </a:cubicBezTo>
                  <a:cubicBezTo>
                    <a:pt x="11219" y="21600"/>
                    <a:pt x="3339" y="16329"/>
                    <a:pt x="0" y="8248"/>
                  </a:cubicBezTo>
                  <a:lnTo>
                    <a:pt x="19963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/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28" name="Text Box 32"/>
            <p:cNvSpPr txBox="1">
              <a:spLocks noChangeArrowheads="1"/>
            </p:cNvSpPr>
            <p:nvPr/>
          </p:nvSpPr>
          <p:spPr bwMode="auto">
            <a:xfrm>
              <a:off x="5978880" y="5062368"/>
              <a:ext cx="203040" cy="282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l-GR" b="1" i="1" dirty="0">
                  <a:solidFill>
                    <a:srgbClr val="000000"/>
                  </a:solidFill>
                  <a:cs typeface="Times New Roman" pitchFamily="18" charset="0"/>
                </a:rPr>
                <a:t>β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82284" y="5835495"/>
            <a:ext cx="4750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need cosine and sine of angles α and ß</a:t>
            </a:r>
          </a:p>
          <a:p>
            <a:endParaRPr lang="en-US" dirty="0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818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need cosine and sine of angles α and ß: </a:t>
            </a:r>
          </a:p>
          <a:p>
            <a:endParaRPr lang="en-US" dirty="0"/>
          </a:p>
        </p:txBody>
      </p:sp>
      <p:sp>
        <p:nvSpPr>
          <p:cNvPr id="29" name="Freeform 33"/>
          <p:cNvSpPr>
            <a:spLocks noChangeArrowheads="1"/>
          </p:cNvSpPr>
          <p:nvPr/>
        </p:nvSpPr>
        <p:spPr bwMode="auto">
          <a:xfrm>
            <a:off x="2063639" y="2768687"/>
            <a:ext cx="316800" cy="1209727"/>
          </a:xfrm>
          <a:custGeom>
            <a:avLst/>
            <a:gdLst/>
            <a:ahLst/>
            <a:cxnLst>
              <a:cxn ang="0">
                <a:pos x="0" y="3701"/>
              </a:cxn>
              <a:cxn ang="0">
                <a:pos x="69" y="1314"/>
              </a:cxn>
              <a:cxn ang="0">
                <a:pos x="968" y="0"/>
              </a:cxn>
              <a:cxn ang="0">
                <a:pos x="968" y="2663"/>
              </a:cxn>
              <a:cxn ang="0">
                <a:pos x="0" y="3701"/>
              </a:cxn>
            </a:cxnLst>
            <a:rect l="0" t="0" r="r" b="b"/>
            <a:pathLst>
              <a:path w="969" h="3702">
                <a:moveTo>
                  <a:pt x="0" y="3701"/>
                </a:moveTo>
                <a:lnTo>
                  <a:pt x="69" y="1314"/>
                </a:lnTo>
                <a:lnTo>
                  <a:pt x="968" y="0"/>
                </a:lnTo>
                <a:lnTo>
                  <a:pt x="968" y="2663"/>
                </a:lnTo>
                <a:lnTo>
                  <a:pt x="0" y="3701"/>
                </a:lnTo>
              </a:path>
            </a:pathLst>
          </a:custGeom>
          <a:solidFill>
            <a:srgbClr val="99CCFF">
              <a:alpha val="20000"/>
            </a:srgbClr>
          </a:solidFill>
          <a:ln w="9525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30" name="Line 34"/>
          <p:cNvSpPr>
            <a:spLocks noChangeShapeType="1"/>
          </p:cNvSpPr>
          <p:nvPr/>
        </p:nvSpPr>
        <p:spPr bwMode="auto">
          <a:xfrm flipV="1">
            <a:off x="2376119" y="2546904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1" name="Line 35"/>
          <p:cNvSpPr>
            <a:spLocks noChangeShapeType="1"/>
          </p:cNvSpPr>
          <p:nvPr/>
        </p:nvSpPr>
        <p:spPr bwMode="auto">
          <a:xfrm>
            <a:off x="2376119" y="3634219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2" name="Line 36"/>
          <p:cNvSpPr>
            <a:spLocks noChangeShapeType="1"/>
          </p:cNvSpPr>
          <p:nvPr/>
        </p:nvSpPr>
        <p:spPr bwMode="auto">
          <a:xfrm flipH="1">
            <a:off x="1752600" y="3635659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3" name="Text Box 37"/>
          <p:cNvSpPr txBox="1">
            <a:spLocks noChangeArrowheads="1"/>
          </p:cNvSpPr>
          <p:nvPr/>
        </p:nvSpPr>
        <p:spPr bwMode="auto">
          <a:xfrm>
            <a:off x="1859159" y="4289487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3607320" y="3579493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35" name="Line 39"/>
          <p:cNvSpPr>
            <a:spLocks noChangeShapeType="1"/>
          </p:cNvSpPr>
          <p:nvPr/>
        </p:nvSpPr>
        <p:spPr bwMode="auto">
          <a:xfrm flipV="1">
            <a:off x="2391959" y="3173370"/>
            <a:ext cx="305280" cy="432045"/>
          </a:xfrm>
          <a:prstGeom prst="line">
            <a:avLst/>
          </a:prstGeom>
          <a:noFill/>
          <a:ln w="36720">
            <a:solidFill>
              <a:srgbClr val="000080"/>
            </a:solidFill>
            <a:prstDash val="sysDash"/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6" name="Text Box 40"/>
          <p:cNvSpPr txBox="1">
            <a:spLocks noChangeArrowheads="1"/>
          </p:cNvSpPr>
          <p:nvPr/>
        </p:nvSpPr>
        <p:spPr bwMode="auto">
          <a:xfrm>
            <a:off x="2786520" y="3040876"/>
            <a:ext cx="2030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>
                <a:solidFill>
                  <a:srgbClr val="000000"/>
                </a:solidFill>
                <a:latin typeface="Nimbus Roman No9 L" pitchFamily="16" charset="0"/>
              </a:rPr>
              <a:t>u</a:t>
            </a:r>
          </a:p>
        </p:txBody>
      </p:sp>
      <p:sp>
        <p:nvSpPr>
          <p:cNvPr id="38" name="Line 42"/>
          <p:cNvSpPr>
            <a:spLocks noChangeShapeType="1"/>
          </p:cNvSpPr>
          <p:nvPr/>
        </p:nvSpPr>
        <p:spPr bwMode="auto">
          <a:xfrm flipH="1" flipV="1">
            <a:off x="2062199" y="3184891"/>
            <a:ext cx="319680" cy="443567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1839000" y="3108563"/>
            <a:ext cx="2030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>
                <a:solidFill>
                  <a:srgbClr val="000000"/>
                </a:solidFill>
                <a:latin typeface="Nimbus Roman No9 L" pitchFamily="16" charset="0"/>
              </a:rPr>
              <a:t>u'</a:t>
            </a:r>
          </a:p>
        </p:txBody>
      </p:sp>
      <p:sp>
        <p:nvSpPr>
          <p:cNvPr id="40" name="Freeform 44"/>
          <p:cNvSpPr>
            <a:spLocks/>
          </p:cNvSpPr>
          <p:nvPr/>
        </p:nvSpPr>
        <p:spPr bwMode="auto">
          <a:xfrm>
            <a:off x="2162931" y="3499640"/>
            <a:ext cx="70560" cy="257635"/>
          </a:xfrm>
          <a:custGeom>
            <a:avLst/>
            <a:gdLst/>
            <a:ahLst/>
            <a:cxnLst>
              <a:cxn ang="0">
                <a:pos x="314" y="0"/>
              </a:cxn>
              <a:cxn ang="0">
                <a:pos x="283" y="15"/>
              </a:cxn>
              <a:cxn ang="0">
                <a:pos x="254" y="32"/>
              </a:cxn>
              <a:cxn ang="0">
                <a:pos x="226" y="50"/>
              </a:cxn>
              <a:cxn ang="0">
                <a:pos x="200" y="69"/>
              </a:cxn>
              <a:cxn ang="0">
                <a:pos x="174" y="88"/>
              </a:cxn>
              <a:cxn ang="0">
                <a:pos x="151" y="109"/>
              </a:cxn>
              <a:cxn ang="0">
                <a:pos x="129" y="130"/>
              </a:cxn>
              <a:cxn ang="0">
                <a:pos x="108" y="152"/>
              </a:cxn>
              <a:cxn ang="0">
                <a:pos x="89" y="175"/>
              </a:cxn>
              <a:cxn ang="0">
                <a:pos x="72" y="198"/>
              </a:cxn>
              <a:cxn ang="0">
                <a:pos x="57" y="222"/>
              </a:cxn>
              <a:cxn ang="0">
                <a:pos x="43" y="247"/>
              </a:cxn>
              <a:cxn ang="0">
                <a:pos x="31" y="272"/>
              </a:cxn>
              <a:cxn ang="0">
                <a:pos x="21" y="297"/>
              </a:cxn>
              <a:cxn ang="0">
                <a:pos x="13" y="323"/>
              </a:cxn>
              <a:cxn ang="0">
                <a:pos x="7" y="349"/>
              </a:cxn>
              <a:cxn ang="0">
                <a:pos x="3" y="375"/>
              </a:cxn>
              <a:cxn ang="0">
                <a:pos x="0" y="402"/>
              </a:cxn>
              <a:cxn ang="0">
                <a:pos x="0" y="428"/>
              </a:cxn>
              <a:cxn ang="0">
                <a:pos x="2" y="454"/>
              </a:cxn>
              <a:cxn ang="0">
                <a:pos x="5" y="480"/>
              </a:cxn>
              <a:cxn ang="0">
                <a:pos x="11" y="507"/>
              </a:cxn>
              <a:cxn ang="0">
                <a:pos x="18" y="532"/>
              </a:cxn>
              <a:cxn ang="0">
                <a:pos x="27" y="558"/>
              </a:cxn>
              <a:cxn ang="0">
                <a:pos x="38" y="583"/>
              </a:cxn>
              <a:cxn ang="0">
                <a:pos x="51" y="608"/>
              </a:cxn>
              <a:cxn ang="0">
                <a:pos x="66" y="632"/>
              </a:cxn>
              <a:cxn ang="0">
                <a:pos x="82" y="656"/>
              </a:cxn>
              <a:cxn ang="0">
                <a:pos x="100" y="679"/>
              </a:cxn>
              <a:cxn ang="0">
                <a:pos x="120" y="701"/>
              </a:cxn>
              <a:cxn ang="0">
                <a:pos x="142" y="723"/>
              </a:cxn>
              <a:cxn ang="0">
                <a:pos x="165" y="744"/>
              </a:cxn>
              <a:cxn ang="0">
                <a:pos x="189" y="764"/>
              </a:cxn>
              <a:cxn ang="0">
                <a:pos x="215" y="783"/>
              </a:cxn>
              <a:cxn ang="0">
                <a:pos x="243" y="801"/>
              </a:cxn>
              <a:cxn ang="0">
                <a:pos x="271" y="818"/>
              </a:cxn>
              <a:cxn ang="0">
                <a:pos x="301" y="834"/>
              </a:cxn>
              <a:cxn ang="0">
                <a:pos x="332" y="849"/>
              </a:cxn>
              <a:cxn ang="0">
                <a:pos x="364" y="863"/>
              </a:cxn>
              <a:cxn ang="0">
                <a:pos x="398" y="876"/>
              </a:cxn>
            </a:cxnLst>
            <a:rect l="0" t="0" r="r" b="b"/>
            <a:pathLst>
              <a:path w="399" h="877">
                <a:moveTo>
                  <a:pt x="314" y="0"/>
                </a:moveTo>
                <a:lnTo>
                  <a:pt x="283" y="15"/>
                </a:lnTo>
                <a:lnTo>
                  <a:pt x="254" y="32"/>
                </a:lnTo>
                <a:lnTo>
                  <a:pt x="226" y="50"/>
                </a:lnTo>
                <a:lnTo>
                  <a:pt x="200" y="69"/>
                </a:lnTo>
                <a:lnTo>
                  <a:pt x="174" y="88"/>
                </a:lnTo>
                <a:lnTo>
                  <a:pt x="151" y="109"/>
                </a:lnTo>
                <a:lnTo>
                  <a:pt x="129" y="130"/>
                </a:lnTo>
                <a:lnTo>
                  <a:pt x="108" y="152"/>
                </a:lnTo>
                <a:lnTo>
                  <a:pt x="89" y="175"/>
                </a:lnTo>
                <a:lnTo>
                  <a:pt x="72" y="198"/>
                </a:lnTo>
                <a:lnTo>
                  <a:pt x="57" y="222"/>
                </a:lnTo>
                <a:lnTo>
                  <a:pt x="43" y="247"/>
                </a:lnTo>
                <a:lnTo>
                  <a:pt x="31" y="272"/>
                </a:lnTo>
                <a:lnTo>
                  <a:pt x="21" y="297"/>
                </a:lnTo>
                <a:lnTo>
                  <a:pt x="13" y="323"/>
                </a:lnTo>
                <a:lnTo>
                  <a:pt x="7" y="349"/>
                </a:lnTo>
                <a:lnTo>
                  <a:pt x="3" y="375"/>
                </a:lnTo>
                <a:lnTo>
                  <a:pt x="0" y="402"/>
                </a:lnTo>
                <a:lnTo>
                  <a:pt x="0" y="428"/>
                </a:lnTo>
                <a:lnTo>
                  <a:pt x="2" y="454"/>
                </a:lnTo>
                <a:lnTo>
                  <a:pt x="5" y="480"/>
                </a:lnTo>
                <a:lnTo>
                  <a:pt x="11" y="507"/>
                </a:lnTo>
                <a:lnTo>
                  <a:pt x="18" y="532"/>
                </a:lnTo>
                <a:lnTo>
                  <a:pt x="27" y="558"/>
                </a:lnTo>
                <a:lnTo>
                  <a:pt x="38" y="583"/>
                </a:lnTo>
                <a:lnTo>
                  <a:pt x="51" y="608"/>
                </a:lnTo>
                <a:lnTo>
                  <a:pt x="66" y="632"/>
                </a:lnTo>
                <a:lnTo>
                  <a:pt x="82" y="656"/>
                </a:lnTo>
                <a:lnTo>
                  <a:pt x="100" y="679"/>
                </a:lnTo>
                <a:lnTo>
                  <a:pt x="120" y="701"/>
                </a:lnTo>
                <a:lnTo>
                  <a:pt x="142" y="723"/>
                </a:lnTo>
                <a:lnTo>
                  <a:pt x="165" y="744"/>
                </a:lnTo>
                <a:lnTo>
                  <a:pt x="189" y="764"/>
                </a:lnTo>
                <a:lnTo>
                  <a:pt x="215" y="783"/>
                </a:lnTo>
                <a:lnTo>
                  <a:pt x="243" y="801"/>
                </a:lnTo>
                <a:lnTo>
                  <a:pt x="271" y="818"/>
                </a:lnTo>
                <a:lnTo>
                  <a:pt x="301" y="834"/>
                </a:lnTo>
                <a:lnTo>
                  <a:pt x="332" y="849"/>
                </a:lnTo>
                <a:lnTo>
                  <a:pt x="364" y="863"/>
                </a:lnTo>
                <a:lnTo>
                  <a:pt x="398" y="8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0" tIns="0" rIns="0" bIns="0" anchor="ctr">
            <a:spAutoFit/>
          </a:bodyPr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1" name="Line 45"/>
          <p:cNvSpPr>
            <a:spLocks noChangeShapeType="1"/>
          </p:cNvSpPr>
          <p:nvPr/>
        </p:nvSpPr>
        <p:spPr bwMode="auto">
          <a:xfrm flipH="1">
            <a:off x="1988760" y="3657261"/>
            <a:ext cx="387360" cy="432045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2" name="Text Box 46"/>
          <p:cNvSpPr txBox="1">
            <a:spLocks noChangeArrowheads="1"/>
          </p:cNvSpPr>
          <p:nvPr/>
        </p:nvSpPr>
        <p:spPr bwMode="auto">
          <a:xfrm>
            <a:off x="2115480" y="3917928"/>
            <a:ext cx="2606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 err="1">
                <a:solidFill>
                  <a:srgbClr val="000000"/>
                </a:solidFill>
                <a:latin typeface="Nimbus Roman No9 L" pitchFamily="16" charset="0"/>
              </a:rPr>
              <a:t>u</a:t>
            </a:r>
            <a:r>
              <a:rPr lang="en-GB" b="1" i="1" baseline="-25000" dirty="0" err="1">
                <a:solidFill>
                  <a:srgbClr val="000000"/>
                </a:solidFill>
                <a:latin typeface="Nimbus Roman No9 L" pitchFamily="16" charset="0"/>
              </a:rPr>
              <a:t>z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2380439" y="2325121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1880713" y="3480461"/>
            <a:ext cx="203040" cy="28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l-GR" b="1" i="1" dirty="0">
                <a:solidFill>
                  <a:srgbClr val="000000"/>
                </a:solidFill>
                <a:cs typeface="Times New Roman" pitchFamily="18" charset="0"/>
              </a:rPr>
              <a:t>α</a:t>
            </a:r>
          </a:p>
        </p:txBody>
      </p:sp>
      <p:sp>
        <p:nvSpPr>
          <p:cNvPr id="56" name="Line 39"/>
          <p:cNvSpPr>
            <a:spLocks noChangeShapeType="1"/>
          </p:cNvSpPr>
          <p:nvPr/>
        </p:nvSpPr>
        <p:spPr bwMode="auto">
          <a:xfrm>
            <a:off x="2399159" y="3634939"/>
            <a:ext cx="599213" cy="3016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7" name="Text Box 46"/>
          <p:cNvSpPr txBox="1">
            <a:spLocks noChangeArrowheads="1"/>
          </p:cNvSpPr>
          <p:nvPr/>
        </p:nvSpPr>
        <p:spPr bwMode="auto">
          <a:xfrm>
            <a:off x="2932808" y="3651456"/>
            <a:ext cx="26064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 err="1">
                <a:solidFill>
                  <a:srgbClr val="000000"/>
                </a:solidFill>
                <a:latin typeface="Nimbus Roman No9 L" pitchFamily="16" charset="0"/>
              </a:rPr>
              <a:t>u</a:t>
            </a:r>
            <a:r>
              <a:rPr lang="en-GB" b="1" i="1" baseline="-25000" dirty="0" err="1">
                <a:solidFill>
                  <a:srgbClr val="000000"/>
                </a:solidFill>
                <a:latin typeface="Nimbus Roman No9 L" pitchFamily="16" charset="0"/>
              </a:rPr>
              <a:t>x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sp>
        <p:nvSpPr>
          <p:cNvPr id="58" name="Line 39"/>
          <p:cNvSpPr>
            <a:spLocks noChangeShapeType="1"/>
          </p:cNvSpPr>
          <p:nvPr/>
        </p:nvSpPr>
        <p:spPr bwMode="auto">
          <a:xfrm flipH="1" flipV="1">
            <a:off x="2380439" y="2762832"/>
            <a:ext cx="2880" cy="833085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9" name="Text Box 46"/>
          <p:cNvSpPr txBox="1">
            <a:spLocks noChangeArrowheads="1"/>
          </p:cNvSpPr>
          <p:nvPr/>
        </p:nvSpPr>
        <p:spPr bwMode="auto">
          <a:xfrm>
            <a:off x="2529682" y="2562369"/>
            <a:ext cx="26064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 err="1">
                <a:solidFill>
                  <a:srgbClr val="000000"/>
                </a:solidFill>
                <a:latin typeface="Nimbus Roman No9 L" pitchFamily="16" charset="0"/>
              </a:rPr>
              <a:t>u</a:t>
            </a:r>
            <a:r>
              <a:rPr lang="en-GB" b="1" i="1" baseline="-25000" dirty="0" err="1">
                <a:solidFill>
                  <a:srgbClr val="000000"/>
                </a:solidFill>
                <a:latin typeface="Nimbus Roman No9 L" pitchFamily="16" charset="0"/>
              </a:rPr>
              <a:t>y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67200" y="2723624"/>
            <a:ext cx="264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</a:t>
            </a:r>
            <a:r>
              <a:rPr lang="en-US" dirty="0"/>
              <a:t> = </a:t>
            </a:r>
            <a:r>
              <a:rPr lang="en-US" dirty="0" err="1"/>
              <a:t>u</a:t>
            </a:r>
            <a:r>
              <a:rPr lang="en-US" baseline="-25000" dirty="0" err="1"/>
              <a:t>x</a:t>
            </a:r>
            <a:r>
              <a:rPr lang="en-US" dirty="0"/>
              <a:t> + </a:t>
            </a:r>
            <a:r>
              <a:rPr lang="en-US" dirty="0" err="1"/>
              <a:t>u</a:t>
            </a:r>
            <a:r>
              <a:rPr lang="en-US" baseline="-25000" dirty="0" err="1"/>
              <a:t>y</a:t>
            </a:r>
            <a:r>
              <a:rPr lang="en-US" dirty="0"/>
              <a:t> + </a:t>
            </a:r>
            <a:r>
              <a:rPr lang="en-US" dirty="0" err="1"/>
              <a:t>u</a:t>
            </a:r>
            <a:r>
              <a:rPr lang="en-US" baseline="-25000" dirty="0" err="1"/>
              <a:t>z</a:t>
            </a:r>
            <a:r>
              <a:rPr lang="en-US" dirty="0"/>
              <a:t> = </a:t>
            </a:r>
            <a:r>
              <a:rPr lang="en-US" dirty="0" err="1"/>
              <a:t>u</a:t>
            </a:r>
            <a:r>
              <a:rPr lang="en-US" baseline="-25000" dirty="0" err="1"/>
              <a:t>x</a:t>
            </a:r>
            <a:r>
              <a:rPr lang="en-US" dirty="0"/>
              <a:t> + </a:t>
            </a:r>
            <a:r>
              <a:rPr lang="en-US" b="1" dirty="0"/>
              <a:t>u’</a:t>
            </a:r>
          </a:p>
        </p:txBody>
      </p:sp>
      <p:graphicFrame>
        <p:nvGraphicFramePr>
          <p:cNvPr id="6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649377"/>
              </p:ext>
            </p:extLst>
          </p:nvPr>
        </p:nvGraphicFramePr>
        <p:xfrm>
          <a:off x="426026" y="4748212"/>
          <a:ext cx="38100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92" name="Equation" r:id="rId4" imgW="2298600" imgH="444240" progId="Equation.3">
                  <p:embed/>
                </p:oleObj>
              </mc:Choice>
              <mc:Fallback>
                <p:oleObj name="Equation" r:id="rId4" imgW="2298600" imgH="444240" progId="Equation.3">
                  <p:embed/>
                  <p:pic>
                    <p:nvPicPr>
                      <p:cNvPr id="14133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26" y="4748212"/>
                        <a:ext cx="3810000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0818"/>
              </p:ext>
            </p:extLst>
          </p:nvPr>
        </p:nvGraphicFramePr>
        <p:xfrm>
          <a:off x="433513" y="5562600"/>
          <a:ext cx="157797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93" name="Equation" r:id="rId6" imgW="952200" imgH="469800" progId="Equation.3">
                  <p:embed/>
                </p:oleObj>
              </mc:Choice>
              <mc:Fallback>
                <p:oleObj name="Equation" r:id="rId6" imgW="952200" imgH="469800" progId="Equation.3">
                  <p:embed/>
                  <p:pic>
                    <p:nvPicPr>
                      <p:cNvPr id="6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13" y="5562600"/>
                        <a:ext cx="1577975" cy="77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324878"/>
              </p:ext>
            </p:extLst>
          </p:nvPr>
        </p:nvGraphicFramePr>
        <p:xfrm>
          <a:off x="4984750" y="4289425"/>
          <a:ext cx="3070225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94" name="Equation" r:id="rId8" imgW="1650960" imgH="1091880" progId="Equation.3">
                  <p:embed/>
                </p:oleObj>
              </mc:Choice>
              <mc:Fallback>
                <p:oleObj name="Equation" r:id="rId8" imgW="1650960" imgH="1091880" progId="Equation.3">
                  <p:embed/>
                  <p:pic>
                    <p:nvPicPr>
                      <p:cNvPr id="14134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4289425"/>
                        <a:ext cx="3070225" cy="203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225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need cosine and sine of angles α and ß: </a:t>
            </a:r>
          </a:p>
          <a:p>
            <a:endParaRPr lang="en-US" dirty="0"/>
          </a:p>
        </p:txBody>
      </p:sp>
      <p:sp>
        <p:nvSpPr>
          <p:cNvPr id="30" name="Line 34"/>
          <p:cNvSpPr>
            <a:spLocks noChangeShapeType="1"/>
          </p:cNvSpPr>
          <p:nvPr/>
        </p:nvSpPr>
        <p:spPr bwMode="auto">
          <a:xfrm flipV="1">
            <a:off x="2376119" y="2546904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1" name="Line 35"/>
          <p:cNvSpPr>
            <a:spLocks noChangeShapeType="1"/>
          </p:cNvSpPr>
          <p:nvPr/>
        </p:nvSpPr>
        <p:spPr bwMode="auto">
          <a:xfrm>
            <a:off x="2376119" y="3634219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2" name="Line 36"/>
          <p:cNvSpPr>
            <a:spLocks noChangeShapeType="1"/>
          </p:cNvSpPr>
          <p:nvPr/>
        </p:nvSpPr>
        <p:spPr bwMode="auto">
          <a:xfrm flipH="1">
            <a:off x="1752600" y="3635659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3" name="Text Box 37"/>
          <p:cNvSpPr txBox="1">
            <a:spLocks noChangeArrowheads="1"/>
          </p:cNvSpPr>
          <p:nvPr/>
        </p:nvSpPr>
        <p:spPr bwMode="auto">
          <a:xfrm>
            <a:off x="1859159" y="4289487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3607320" y="3579493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35" name="Line 39"/>
          <p:cNvSpPr>
            <a:spLocks noChangeShapeType="1"/>
          </p:cNvSpPr>
          <p:nvPr/>
        </p:nvSpPr>
        <p:spPr bwMode="auto">
          <a:xfrm>
            <a:off x="2391958" y="3605414"/>
            <a:ext cx="562122" cy="604403"/>
          </a:xfrm>
          <a:prstGeom prst="line">
            <a:avLst/>
          </a:prstGeom>
          <a:noFill/>
          <a:ln w="36720">
            <a:solidFill>
              <a:srgbClr val="000080"/>
            </a:solidFill>
            <a:prstDash val="sysDash"/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1" name="Line 45"/>
          <p:cNvSpPr>
            <a:spLocks noChangeShapeType="1"/>
          </p:cNvSpPr>
          <p:nvPr/>
        </p:nvSpPr>
        <p:spPr bwMode="auto">
          <a:xfrm flipH="1">
            <a:off x="1880713" y="3657261"/>
            <a:ext cx="495407" cy="552556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2380439" y="2325121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56" name="Line 39"/>
          <p:cNvSpPr>
            <a:spLocks noChangeShapeType="1"/>
          </p:cNvSpPr>
          <p:nvPr/>
        </p:nvSpPr>
        <p:spPr bwMode="auto">
          <a:xfrm>
            <a:off x="2399159" y="3634939"/>
            <a:ext cx="599213" cy="3016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7" name="Text Box 46"/>
          <p:cNvSpPr txBox="1">
            <a:spLocks noChangeArrowheads="1"/>
          </p:cNvSpPr>
          <p:nvPr/>
        </p:nvSpPr>
        <p:spPr bwMode="auto">
          <a:xfrm>
            <a:off x="2954080" y="3352947"/>
            <a:ext cx="26064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 err="1">
                <a:solidFill>
                  <a:srgbClr val="000000"/>
                </a:solidFill>
                <a:latin typeface="Nimbus Roman No9 L" pitchFamily="16" charset="0"/>
              </a:rPr>
              <a:t>u</a:t>
            </a:r>
            <a:r>
              <a:rPr lang="en-GB" b="1" i="1" baseline="-25000" dirty="0" err="1">
                <a:solidFill>
                  <a:srgbClr val="000000"/>
                </a:solidFill>
                <a:latin typeface="Nimbus Roman No9 L" pitchFamily="16" charset="0"/>
              </a:rPr>
              <a:t>x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graphicFrame>
        <p:nvGraphicFramePr>
          <p:cNvPr id="60" name="Object 26"/>
          <p:cNvGraphicFramePr>
            <a:graphicFrameLocks noChangeAspect="1"/>
          </p:cNvGraphicFramePr>
          <p:nvPr>
            <p:extLst/>
          </p:nvPr>
        </p:nvGraphicFramePr>
        <p:xfrm>
          <a:off x="338138" y="4649788"/>
          <a:ext cx="345281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0" name="Equation" r:id="rId4" imgW="2082600" imgH="533160" progId="Equation.3">
                  <p:embed/>
                </p:oleObj>
              </mc:Choice>
              <mc:Fallback>
                <p:oleObj name="Equation" r:id="rId4" imgW="2082600" imgH="533160" progId="Equation.3">
                  <p:embed/>
                  <p:pic>
                    <p:nvPicPr>
                      <p:cNvPr id="6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4649788"/>
                        <a:ext cx="3452812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>
            <p:extLst/>
          </p:nvPr>
        </p:nvGraphicFramePr>
        <p:xfrm>
          <a:off x="992484" y="3705230"/>
          <a:ext cx="9890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1" name="Equation" r:id="rId6" imgW="596880" imgH="304560" progId="Equation.3">
                  <p:embed/>
                </p:oleObj>
              </mc:Choice>
              <mc:Fallback>
                <p:oleObj name="Equation" r:id="rId6" imgW="596880" imgH="304560" progId="Equation.3">
                  <p:embed/>
                  <p:pic>
                    <p:nvPicPr>
                      <p:cNvPr id="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484" y="3705230"/>
                        <a:ext cx="989013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c 31"/>
          <p:cNvSpPr>
            <a:spLocks/>
          </p:cNvSpPr>
          <p:nvPr/>
        </p:nvSpPr>
        <p:spPr bwMode="auto">
          <a:xfrm flipH="1">
            <a:off x="2286000" y="3810000"/>
            <a:ext cx="231840" cy="129614"/>
          </a:xfrm>
          <a:custGeom>
            <a:avLst/>
            <a:gdLst>
              <a:gd name="G0" fmla="+- 19963 0 0"/>
              <a:gd name="G1" fmla="+- 0 0 0"/>
              <a:gd name="G2" fmla="+- 21600 0 0"/>
              <a:gd name="T0" fmla="*/ 38202 w 38202"/>
              <a:gd name="T1" fmla="*/ 11572 h 21600"/>
              <a:gd name="T2" fmla="*/ 0 w 38202"/>
              <a:gd name="T3" fmla="*/ 8249 h 21600"/>
              <a:gd name="T4" fmla="*/ 19963 w 38202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202" h="21600" fill="none" extrusionOk="0">
                <a:moveTo>
                  <a:pt x="38201" y="11571"/>
                </a:moveTo>
                <a:cubicBezTo>
                  <a:pt x="34239" y="17816"/>
                  <a:pt x="27358" y="21599"/>
                  <a:pt x="19963" y="21600"/>
                </a:cubicBezTo>
                <a:cubicBezTo>
                  <a:pt x="11219" y="21600"/>
                  <a:pt x="3339" y="16329"/>
                  <a:pt x="0" y="8248"/>
                </a:cubicBezTo>
              </a:path>
              <a:path w="38202" h="21600" stroke="0" extrusionOk="0">
                <a:moveTo>
                  <a:pt x="38201" y="11571"/>
                </a:moveTo>
                <a:cubicBezTo>
                  <a:pt x="34239" y="17816"/>
                  <a:pt x="27358" y="21599"/>
                  <a:pt x="19963" y="21600"/>
                </a:cubicBezTo>
                <a:cubicBezTo>
                  <a:pt x="11219" y="21600"/>
                  <a:pt x="3339" y="16329"/>
                  <a:pt x="0" y="8248"/>
                </a:cubicBezTo>
                <a:lnTo>
                  <a:pt x="1996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stealth" w="med" len="med"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8" name="Text Box 32"/>
          <p:cNvSpPr txBox="1">
            <a:spLocks noChangeArrowheads="1"/>
          </p:cNvSpPr>
          <p:nvPr/>
        </p:nvSpPr>
        <p:spPr bwMode="auto">
          <a:xfrm>
            <a:off x="2286000" y="4007300"/>
            <a:ext cx="203040" cy="28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l-GR" b="1" i="1" dirty="0">
                <a:solidFill>
                  <a:srgbClr val="000000"/>
                </a:solidFill>
                <a:cs typeface="Times New Roman" pitchFamily="18" charset="0"/>
              </a:rPr>
              <a:t>β</a:t>
            </a:r>
          </a:p>
        </p:txBody>
      </p:sp>
      <p:sp>
        <p:nvSpPr>
          <p:cNvPr id="37" name="Text Box 46"/>
          <p:cNvSpPr txBox="1">
            <a:spLocks noChangeArrowheads="1"/>
          </p:cNvSpPr>
          <p:nvPr/>
        </p:nvSpPr>
        <p:spPr bwMode="auto">
          <a:xfrm>
            <a:off x="3015960" y="4155104"/>
            <a:ext cx="26064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>
                <a:solidFill>
                  <a:srgbClr val="000000"/>
                </a:solidFill>
                <a:latin typeface="Nimbus Roman No9 L" pitchFamily="16" charset="0"/>
              </a:rPr>
              <a:t>u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graphicFrame>
        <p:nvGraphicFramePr>
          <p:cNvPr id="45" name="Object 26"/>
          <p:cNvGraphicFramePr>
            <a:graphicFrameLocks noChangeAspect="1"/>
          </p:cNvGraphicFramePr>
          <p:nvPr>
            <p:extLst/>
          </p:nvPr>
        </p:nvGraphicFramePr>
        <p:xfrm>
          <a:off x="340509" y="5651943"/>
          <a:ext cx="275748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2" name="Equation" r:id="rId8" imgW="1663560" imgH="444240" progId="Equation.3">
                  <p:embed/>
                </p:oleObj>
              </mc:Choice>
              <mc:Fallback>
                <p:oleObj name="Equation" r:id="rId8" imgW="1663560" imgH="444240" progId="Equation.3">
                  <p:embed/>
                  <p:pic>
                    <p:nvPicPr>
                      <p:cNvPr id="4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09" y="5651943"/>
                        <a:ext cx="2757488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686889" y="5469382"/>
                <a:ext cx="2933111" cy="403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latin typeface="Cambria Math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889" y="5469382"/>
                <a:ext cx="2933111" cy="403252"/>
              </a:xfrm>
              <a:prstGeom prst="rect">
                <a:avLst/>
              </a:prstGeom>
              <a:blipFill>
                <a:blip r:embed="rId10"/>
                <a:stretch>
                  <a:fillRect l="-187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950A0B-627D-47E0-8BBF-C62E3FF01A27}"/>
                  </a:ext>
                </a:extLst>
              </p:cNvPr>
              <p:cNvSpPr txBox="1"/>
              <p:nvPr/>
            </p:nvSpPr>
            <p:spPr>
              <a:xfrm>
                <a:off x="3731160" y="3091281"/>
                <a:ext cx="5435527" cy="18088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950A0B-627D-47E0-8BBF-C62E3FF01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160" y="3091281"/>
                <a:ext cx="5435527" cy="18088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6799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need cosine and sine of angles α and ß: </a:t>
            </a:r>
          </a:p>
          <a:p>
            <a:endParaRPr lang="en-US" dirty="0"/>
          </a:p>
        </p:txBody>
      </p:sp>
      <p:sp>
        <p:nvSpPr>
          <p:cNvPr id="30" name="Line 34"/>
          <p:cNvSpPr>
            <a:spLocks noChangeShapeType="1"/>
          </p:cNvSpPr>
          <p:nvPr/>
        </p:nvSpPr>
        <p:spPr bwMode="auto">
          <a:xfrm flipV="1">
            <a:off x="2376119" y="2546904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1" name="Line 35"/>
          <p:cNvSpPr>
            <a:spLocks noChangeShapeType="1"/>
          </p:cNvSpPr>
          <p:nvPr/>
        </p:nvSpPr>
        <p:spPr bwMode="auto">
          <a:xfrm>
            <a:off x="2376119" y="3634219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2" name="Line 36"/>
          <p:cNvSpPr>
            <a:spLocks noChangeShapeType="1"/>
          </p:cNvSpPr>
          <p:nvPr/>
        </p:nvSpPr>
        <p:spPr bwMode="auto">
          <a:xfrm flipH="1">
            <a:off x="1752600" y="3635659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33" name="Text Box 37"/>
          <p:cNvSpPr txBox="1">
            <a:spLocks noChangeArrowheads="1"/>
          </p:cNvSpPr>
          <p:nvPr/>
        </p:nvSpPr>
        <p:spPr bwMode="auto">
          <a:xfrm>
            <a:off x="1859159" y="4289487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 dirty="0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3607320" y="3579493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35" name="Line 39"/>
          <p:cNvSpPr>
            <a:spLocks noChangeShapeType="1"/>
          </p:cNvSpPr>
          <p:nvPr/>
        </p:nvSpPr>
        <p:spPr bwMode="auto">
          <a:xfrm>
            <a:off x="2391958" y="3605414"/>
            <a:ext cx="562122" cy="604403"/>
          </a:xfrm>
          <a:prstGeom prst="line">
            <a:avLst/>
          </a:prstGeom>
          <a:noFill/>
          <a:ln w="36720">
            <a:solidFill>
              <a:srgbClr val="000080"/>
            </a:solidFill>
            <a:prstDash val="sysDash"/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1" name="Line 45"/>
          <p:cNvSpPr>
            <a:spLocks noChangeShapeType="1"/>
          </p:cNvSpPr>
          <p:nvPr/>
        </p:nvSpPr>
        <p:spPr bwMode="auto">
          <a:xfrm flipH="1">
            <a:off x="1880713" y="3657261"/>
            <a:ext cx="495407" cy="552556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2380439" y="2325121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56" name="Line 39"/>
          <p:cNvSpPr>
            <a:spLocks noChangeShapeType="1"/>
          </p:cNvSpPr>
          <p:nvPr/>
        </p:nvSpPr>
        <p:spPr bwMode="auto">
          <a:xfrm>
            <a:off x="2399159" y="3634939"/>
            <a:ext cx="599213" cy="3016"/>
          </a:xfrm>
          <a:prstGeom prst="line">
            <a:avLst/>
          </a:prstGeom>
          <a:noFill/>
          <a:ln w="36720">
            <a:solidFill>
              <a:srgbClr val="00008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57" name="Text Box 46"/>
          <p:cNvSpPr txBox="1">
            <a:spLocks noChangeArrowheads="1"/>
          </p:cNvSpPr>
          <p:nvPr/>
        </p:nvSpPr>
        <p:spPr bwMode="auto">
          <a:xfrm>
            <a:off x="2954080" y="3352947"/>
            <a:ext cx="26064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 err="1">
                <a:solidFill>
                  <a:srgbClr val="000000"/>
                </a:solidFill>
                <a:latin typeface="Nimbus Roman No9 L" pitchFamily="16" charset="0"/>
              </a:rPr>
              <a:t>u</a:t>
            </a:r>
            <a:r>
              <a:rPr lang="en-GB" b="1" i="1" baseline="-25000" dirty="0" err="1">
                <a:solidFill>
                  <a:srgbClr val="000000"/>
                </a:solidFill>
                <a:latin typeface="Nimbus Roman No9 L" pitchFamily="16" charset="0"/>
              </a:rPr>
              <a:t>x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graphicFrame>
        <p:nvGraphicFramePr>
          <p:cNvPr id="60" name="Object 26"/>
          <p:cNvGraphicFramePr>
            <a:graphicFrameLocks noChangeAspect="1"/>
          </p:cNvGraphicFramePr>
          <p:nvPr>
            <p:extLst/>
          </p:nvPr>
        </p:nvGraphicFramePr>
        <p:xfrm>
          <a:off x="338138" y="4649788"/>
          <a:ext cx="345281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8" name="Equation" r:id="rId4" imgW="2082600" imgH="533160" progId="Equation.3">
                  <p:embed/>
                </p:oleObj>
              </mc:Choice>
              <mc:Fallback>
                <p:oleObj name="Equation" r:id="rId4" imgW="2082600" imgH="533160" progId="Equation.3">
                  <p:embed/>
                  <p:pic>
                    <p:nvPicPr>
                      <p:cNvPr id="6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4649788"/>
                        <a:ext cx="3452812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>
            <p:extLst/>
          </p:nvPr>
        </p:nvGraphicFramePr>
        <p:xfrm>
          <a:off x="992484" y="3705230"/>
          <a:ext cx="9890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9" name="Equation" r:id="rId6" imgW="596880" imgH="304560" progId="Equation.3">
                  <p:embed/>
                </p:oleObj>
              </mc:Choice>
              <mc:Fallback>
                <p:oleObj name="Equation" r:id="rId6" imgW="596880" imgH="304560" progId="Equation.3">
                  <p:embed/>
                  <p:pic>
                    <p:nvPicPr>
                      <p:cNvPr id="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484" y="3705230"/>
                        <a:ext cx="989013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c 31"/>
          <p:cNvSpPr>
            <a:spLocks/>
          </p:cNvSpPr>
          <p:nvPr/>
        </p:nvSpPr>
        <p:spPr bwMode="auto">
          <a:xfrm flipH="1">
            <a:off x="2286000" y="3810000"/>
            <a:ext cx="231840" cy="129614"/>
          </a:xfrm>
          <a:custGeom>
            <a:avLst/>
            <a:gdLst>
              <a:gd name="G0" fmla="+- 19963 0 0"/>
              <a:gd name="G1" fmla="+- 0 0 0"/>
              <a:gd name="G2" fmla="+- 21600 0 0"/>
              <a:gd name="T0" fmla="*/ 38202 w 38202"/>
              <a:gd name="T1" fmla="*/ 11572 h 21600"/>
              <a:gd name="T2" fmla="*/ 0 w 38202"/>
              <a:gd name="T3" fmla="*/ 8249 h 21600"/>
              <a:gd name="T4" fmla="*/ 19963 w 38202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202" h="21600" fill="none" extrusionOk="0">
                <a:moveTo>
                  <a:pt x="38201" y="11571"/>
                </a:moveTo>
                <a:cubicBezTo>
                  <a:pt x="34239" y="17816"/>
                  <a:pt x="27358" y="21599"/>
                  <a:pt x="19963" y="21600"/>
                </a:cubicBezTo>
                <a:cubicBezTo>
                  <a:pt x="11219" y="21600"/>
                  <a:pt x="3339" y="16329"/>
                  <a:pt x="0" y="8248"/>
                </a:cubicBezTo>
              </a:path>
              <a:path w="38202" h="21600" stroke="0" extrusionOk="0">
                <a:moveTo>
                  <a:pt x="38201" y="11571"/>
                </a:moveTo>
                <a:cubicBezTo>
                  <a:pt x="34239" y="17816"/>
                  <a:pt x="27358" y="21599"/>
                  <a:pt x="19963" y="21600"/>
                </a:cubicBezTo>
                <a:cubicBezTo>
                  <a:pt x="11219" y="21600"/>
                  <a:pt x="3339" y="16329"/>
                  <a:pt x="0" y="8248"/>
                </a:cubicBezTo>
                <a:lnTo>
                  <a:pt x="1996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stealth" w="med" len="med"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8" name="Text Box 32"/>
          <p:cNvSpPr txBox="1">
            <a:spLocks noChangeArrowheads="1"/>
          </p:cNvSpPr>
          <p:nvPr/>
        </p:nvSpPr>
        <p:spPr bwMode="auto">
          <a:xfrm>
            <a:off x="2286000" y="4007300"/>
            <a:ext cx="203040" cy="28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l-GR" b="1" i="1" dirty="0">
                <a:solidFill>
                  <a:srgbClr val="000000"/>
                </a:solidFill>
                <a:cs typeface="Times New Roman" pitchFamily="18" charset="0"/>
              </a:rPr>
              <a:t>β</a:t>
            </a:r>
          </a:p>
        </p:txBody>
      </p:sp>
      <p:sp>
        <p:nvSpPr>
          <p:cNvPr id="37" name="Text Box 46"/>
          <p:cNvSpPr txBox="1">
            <a:spLocks noChangeArrowheads="1"/>
          </p:cNvSpPr>
          <p:nvPr/>
        </p:nvSpPr>
        <p:spPr bwMode="auto">
          <a:xfrm>
            <a:off x="3015960" y="4155104"/>
            <a:ext cx="260640" cy="2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b="1" i="1" dirty="0">
                <a:solidFill>
                  <a:srgbClr val="000000"/>
                </a:solidFill>
                <a:latin typeface="Nimbus Roman No9 L" pitchFamily="16" charset="0"/>
              </a:rPr>
              <a:t>u</a:t>
            </a:r>
            <a:endParaRPr lang="en-GB" b="1" i="1" baseline="-25000" dirty="0">
              <a:solidFill>
                <a:srgbClr val="000000"/>
              </a:solidFill>
              <a:latin typeface="Nimbus Roman No9 L" pitchFamily="16" charset="0"/>
            </a:endParaRPr>
          </a:p>
        </p:txBody>
      </p:sp>
      <p:graphicFrame>
        <p:nvGraphicFramePr>
          <p:cNvPr id="45" name="Object 26"/>
          <p:cNvGraphicFramePr>
            <a:graphicFrameLocks noChangeAspect="1"/>
          </p:cNvGraphicFramePr>
          <p:nvPr>
            <p:extLst/>
          </p:nvPr>
        </p:nvGraphicFramePr>
        <p:xfrm>
          <a:off x="340509" y="5651943"/>
          <a:ext cx="275748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0" name="Equation" r:id="rId8" imgW="1663560" imgH="444240" progId="Equation.3">
                  <p:embed/>
                </p:oleObj>
              </mc:Choice>
              <mc:Fallback>
                <p:oleObj name="Equation" r:id="rId8" imgW="1663560" imgH="444240" progId="Equation.3">
                  <p:embed/>
                  <p:pic>
                    <p:nvPicPr>
                      <p:cNvPr id="4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09" y="5651943"/>
                        <a:ext cx="2757488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950A0B-627D-47E0-8BBF-C62E3FF01A27}"/>
                  </a:ext>
                </a:extLst>
              </p:cNvPr>
              <p:cNvSpPr txBox="1"/>
              <p:nvPr/>
            </p:nvSpPr>
            <p:spPr>
              <a:xfrm>
                <a:off x="4370545" y="3372025"/>
                <a:ext cx="4063100" cy="11728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950A0B-627D-47E0-8BBF-C62E3FF01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545" y="3372025"/>
                <a:ext cx="4063100" cy="11728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62063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GB" dirty="0"/>
              <a:t>Rotation Around an Arbitrary Axis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Putting it all together: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19"/>
              <p:cNvSpPr txBox="1"/>
              <p:nvPr/>
            </p:nvSpPr>
            <p:spPr bwMode="auto">
              <a:xfrm>
                <a:off x="304800" y="2895600"/>
                <a:ext cx="8686800" cy="4460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895600"/>
                <a:ext cx="8686800" cy="446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/>
          <p:cNvCxnSpPr/>
          <p:nvPr/>
        </p:nvCxnSpPr>
        <p:spPr>
          <a:xfrm>
            <a:off x="4876800" y="327660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10000" y="4362271"/>
            <a:ext cx="28520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actual desired</a:t>
            </a:r>
          </a:p>
          <a:p>
            <a:r>
              <a:rPr lang="en-US" dirty="0"/>
              <a:t>rotation. Other terms are</a:t>
            </a:r>
          </a:p>
          <a:p>
            <a:r>
              <a:rPr lang="en-US" dirty="0"/>
              <a:t>for alignment and undoing</a:t>
            </a:r>
          </a:p>
          <a:p>
            <a:r>
              <a:rPr lang="en-US" dirty="0"/>
              <a:t>the alignment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10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we want to rotate around the unit vector </a:t>
            </a:r>
            <a:r>
              <a:rPr lang="en-US" b="1" dirty="0"/>
              <a:t>u</a:t>
            </a:r>
            <a:r>
              <a:rPr lang="en-US" dirty="0"/>
              <a:t>:</a:t>
            </a:r>
          </a:p>
          <a:p>
            <a:r>
              <a:rPr lang="en-US" dirty="0"/>
              <a:t>We create an orthonormal basis (ONB) </a:t>
            </a:r>
            <a:r>
              <a:rPr lang="en-US" b="1" dirty="0" err="1"/>
              <a:t>uvw</a:t>
            </a:r>
            <a:r>
              <a:rPr lang="en-US" dirty="0"/>
              <a:t>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42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52400" y="3122997"/>
            <a:ext cx="1978560" cy="2287203"/>
            <a:chOff x="2209800" y="3427797"/>
            <a:chExt cx="1978560" cy="2287203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V="1">
              <a:off x="2833321" y="3689905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833321" y="4777218"/>
              <a:ext cx="1199520" cy="1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 flipH="1">
              <a:off x="2209800" y="4778659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316360" y="5432487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064520" y="4722493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2849160" y="4328727"/>
              <a:ext cx="305280" cy="432045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243720" y="4183876"/>
              <a:ext cx="2030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b="1" i="1" dirty="0">
                  <a:solidFill>
                    <a:srgbClr val="000000"/>
                  </a:solidFill>
                  <a:latin typeface="Nimbus Roman No9 L" pitchFamily="16" charset="0"/>
                </a:rPr>
                <a:t>u</a:t>
              </a:r>
            </a:p>
          </p:txBody>
        </p:sp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2833320" y="3427797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438400" y="3122997"/>
            <a:ext cx="1978560" cy="2287203"/>
            <a:chOff x="3203040" y="3581400"/>
            <a:chExt cx="1978560" cy="2287203"/>
          </a:xfrm>
        </p:grpSpPr>
        <p:grpSp>
          <p:nvGrpSpPr>
            <p:cNvPr id="18" name="Group 17"/>
            <p:cNvGrpSpPr/>
            <p:nvPr/>
          </p:nvGrpSpPr>
          <p:grpSpPr>
            <a:xfrm>
              <a:off x="3203040" y="3581400"/>
              <a:ext cx="1978560" cy="2287203"/>
              <a:chOff x="2209800" y="3427797"/>
              <a:chExt cx="1978560" cy="2287203"/>
            </a:xfrm>
          </p:grpSpPr>
          <p:sp>
            <p:nvSpPr>
              <p:cNvPr id="19" name="Line 5"/>
              <p:cNvSpPr>
                <a:spLocks noChangeShapeType="1"/>
              </p:cNvSpPr>
              <p:nvPr/>
            </p:nvSpPr>
            <p:spPr bwMode="auto">
              <a:xfrm flipV="1">
                <a:off x="2833321" y="3689905"/>
                <a:ext cx="1440" cy="10887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lIns="82945" tIns="41473" rIns="82945" bIns="41473"/>
              <a:lstStyle/>
              <a:p>
                <a:endParaRPr lang="en-US"/>
              </a:p>
            </p:txBody>
          </p: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2833321" y="4777218"/>
                <a:ext cx="1199520" cy="14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lIns="82945" tIns="41473" rIns="82945" bIns="41473"/>
              <a:lstStyle/>
              <a:p>
                <a:endParaRPr lang="en-US"/>
              </a:p>
            </p:txBody>
          </p:sp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 flipH="1">
                <a:off x="2209800" y="4778659"/>
                <a:ext cx="624960" cy="7171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lIns="82945" tIns="41473" rIns="82945" bIns="41473"/>
              <a:lstStyle/>
              <a:p>
                <a:endParaRPr lang="en-US"/>
              </a:p>
            </p:txBody>
          </p:sp>
          <p:sp>
            <p:nvSpPr>
              <p:cNvPr id="22" name="Text Box 8"/>
              <p:cNvSpPr txBox="1">
                <a:spLocks noChangeArrowheads="1"/>
              </p:cNvSpPr>
              <p:nvPr/>
            </p:nvSpPr>
            <p:spPr bwMode="auto">
              <a:xfrm>
                <a:off x="2316360" y="5432487"/>
                <a:ext cx="109440" cy="282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1">
                  <a:lnSpc>
                    <a:spcPct val="102000"/>
                  </a:lnSpc>
                  <a:buClr>
                    <a:srgbClr val="000000"/>
                  </a:buClr>
                  <a:buSzPct val="45000"/>
                  <a:buFont typeface="StarSymbol" charset="0"/>
                  <a:buNone/>
                </a:pPr>
                <a:r>
                  <a:rPr lang="en-GB" i="1">
                    <a:solidFill>
                      <a:srgbClr val="000000"/>
                    </a:solidFill>
                    <a:latin typeface="Nimbus Roman No9 L" pitchFamily="16" charset="0"/>
                  </a:rPr>
                  <a:t>z</a:t>
                </a: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4064520" y="4722493"/>
                <a:ext cx="123840" cy="282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1">
                  <a:lnSpc>
                    <a:spcPct val="102000"/>
                  </a:lnSpc>
                  <a:buClr>
                    <a:srgbClr val="000000"/>
                  </a:buClr>
                  <a:buSzPct val="45000"/>
                  <a:buFont typeface="StarSymbol" charset="0"/>
                  <a:buNone/>
                </a:pPr>
                <a:r>
                  <a:rPr lang="en-GB" i="1">
                    <a:solidFill>
                      <a:srgbClr val="000000"/>
                    </a:solidFill>
                    <a:latin typeface="Nimbus Roman No9 L" pitchFamily="16" charset="0"/>
                  </a:rPr>
                  <a:t>x</a:t>
                </a:r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 flipV="1">
                <a:off x="2849160" y="4328727"/>
                <a:ext cx="305280" cy="432045"/>
              </a:xfrm>
              <a:prstGeom prst="line">
                <a:avLst/>
              </a:prstGeom>
              <a:noFill/>
              <a:ln w="36720">
                <a:solidFill>
                  <a:srgbClr val="000080"/>
                </a:solidFill>
                <a:round/>
                <a:headEnd/>
                <a:tailEnd type="triangle" w="med" len="med"/>
              </a:ln>
            </p:spPr>
            <p:txBody>
              <a:bodyPr lIns="82945" tIns="41473" rIns="82945" bIns="41473"/>
              <a:lstStyle/>
              <a:p>
                <a:endParaRPr lang="en-US"/>
              </a:p>
            </p:txBody>
          </p:sp>
          <p:sp>
            <p:nvSpPr>
              <p:cNvPr id="25" name="Text Box 11"/>
              <p:cNvSpPr txBox="1">
                <a:spLocks noChangeArrowheads="1"/>
              </p:cNvSpPr>
              <p:nvPr/>
            </p:nvSpPr>
            <p:spPr bwMode="auto">
              <a:xfrm>
                <a:off x="3243720" y="4183876"/>
                <a:ext cx="203040" cy="282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1">
                  <a:lnSpc>
                    <a:spcPct val="102000"/>
                  </a:lnSpc>
                  <a:buClr>
                    <a:srgbClr val="000000"/>
                  </a:buClr>
                  <a:buSzPct val="45000"/>
                  <a:buFont typeface="StarSymbol" charset="0"/>
                  <a:buNone/>
                </a:pPr>
                <a:r>
                  <a:rPr lang="en-GB" b="1" i="1" dirty="0">
                    <a:solidFill>
                      <a:srgbClr val="000000"/>
                    </a:solidFill>
                    <a:latin typeface="Nimbus Roman No9 L" pitchFamily="16" charset="0"/>
                  </a:rPr>
                  <a:t>u</a:t>
                </a: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2833320" y="3427797"/>
                <a:ext cx="109440" cy="282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1">
                  <a:lnSpc>
                    <a:spcPct val="102000"/>
                  </a:lnSpc>
                  <a:buClr>
                    <a:srgbClr val="000000"/>
                  </a:buClr>
                  <a:buSzPct val="45000"/>
                  <a:buFont typeface="StarSymbol" charset="0"/>
                  <a:buNone/>
                </a:pPr>
                <a:r>
                  <a:rPr lang="en-GB" i="1">
                    <a:solidFill>
                      <a:srgbClr val="000000"/>
                    </a:solidFill>
                    <a:latin typeface="Nimbus Roman No9 L" pitchFamily="16" charset="0"/>
                  </a:rPr>
                  <a:t>y</a:t>
                </a:r>
              </a:p>
            </p:txBody>
          </p:sp>
        </p:grp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 flipV="1">
              <a:off x="3439840" y="4481127"/>
              <a:ext cx="382800" cy="437835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28" name="Line 10"/>
            <p:cNvSpPr>
              <a:spLocks noChangeShapeType="1"/>
            </p:cNvSpPr>
            <p:nvPr/>
          </p:nvSpPr>
          <p:spPr bwMode="auto">
            <a:xfrm>
              <a:off x="3837305" y="4874892"/>
              <a:ext cx="1612" cy="535307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3225960" y="4343400"/>
              <a:ext cx="203040" cy="264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b="1" i="1" dirty="0">
                  <a:solidFill>
                    <a:srgbClr val="000000"/>
                  </a:solidFill>
                  <a:latin typeface="Nimbus Roman No9 L" pitchFamily="16" charset="0"/>
                </a:rPr>
                <a:t>v</a:t>
              </a:r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3858374" y="5418592"/>
              <a:ext cx="203040" cy="264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b="1" i="1" dirty="0">
                  <a:solidFill>
                    <a:srgbClr val="000000"/>
                  </a:solidFill>
                  <a:latin typeface="Nimbus Roman No9 L" pitchFamily="16" charset="0"/>
                </a:rPr>
                <a:t>w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743358" y="2638290"/>
            <a:ext cx="27999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To find </a:t>
            </a:r>
            <a:r>
              <a:rPr lang="en-US" b="1" dirty="0"/>
              <a:t>v</a:t>
            </a:r>
            <a:r>
              <a:rPr lang="en-US" dirty="0"/>
              <a:t>, set the </a:t>
            </a:r>
            <a:r>
              <a:rPr lang="en-US" dirty="0">
                <a:solidFill>
                  <a:srgbClr val="C00000"/>
                </a:solidFill>
              </a:rPr>
              <a:t>smallest</a:t>
            </a:r>
          </a:p>
          <a:p>
            <a:r>
              <a:rPr lang="en-US" dirty="0"/>
              <a:t>component of </a:t>
            </a:r>
            <a:r>
              <a:rPr lang="en-US" b="1" dirty="0"/>
              <a:t>u</a:t>
            </a:r>
            <a:r>
              <a:rPr lang="en-US" dirty="0"/>
              <a:t> (</a:t>
            </a:r>
            <a:r>
              <a:rPr lang="en-US" dirty="0">
                <a:solidFill>
                  <a:srgbClr val="C00000"/>
                </a:solidFill>
              </a:rPr>
              <a:t>in an</a:t>
            </a:r>
          </a:p>
          <a:p>
            <a:r>
              <a:rPr lang="en-US" dirty="0">
                <a:solidFill>
                  <a:srgbClr val="C00000"/>
                </a:solidFill>
              </a:rPr>
              <a:t>absolute sense</a:t>
            </a:r>
            <a:r>
              <a:rPr lang="en-US" dirty="0"/>
              <a:t>) to </a:t>
            </a:r>
            <a:r>
              <a:rPr lang="en-US" dirty="0">
                <a:solidFill>
                  <a:srgbClr val="C00000"/>
                </a:solidFill>
              </a:rPr>
              <a:t>zero </a:t>
            </a:r>
            <a:r>
              <a:rPr lang="en-US" dirty="0"/>
              <a:t>and</a:t>
            </a:r>
          </a:p>
          <a:p>
            <a:r>
              <a:rPr lang="en-US" dirty="0"/>
              <a:t>swap the other two while</a:t>
            </a:r>
          </a:p>
          <a:p>
            <a:r>
              <a:rPr lang="en-US" dirty="0"/>
              <a:t>negating one: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5062" y="2601132"/>
            <a:ext cx="26789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if </a:t>
            </a:r>
            <a:r>
              <a:rPr lang="en-US" b="1" dirty="0"/>
              <a:t>u</a:t>
            </a:r>
            <a:r>
              <a:rPr lang="en-US" dirty="0"/>
              <a:t> = (a, b, c) with c </a:t>
            </a:r>
          </a:p>
          <a:p>
            <a:r>
              <a:rPr lang="en-US" dirty="0"/>
              <a:t>being the smallest absolute</a:t>
            </a:r>
          </a:p>
          <a:p>
            <a:r>
              <a:rPr lang="en-US" dirty="0"/>
              <a:t>value then </a:t>
            </a:r>
            <a:r>
              <a:rPr lang="en-US" b="1" dirty="0"/>
              <a:t>v</a:t>
            </a:r>
            <a:r>
              <a:rPr lang="en-US" dirty="0"/>
              <a:t> = (-b, a, 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4240" y="6096000"/>
            <a:ext cx="6635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we are just finding one of the infinitely many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62400"/>
            <a:ext cx="3544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corresponds to projecting</a:t>
            </a:r>
          </a:p>
          <a:p>
            <a:r>
              <a:rPr lang="en-US" dirty="0"/>
              <a:t>the vector to the nearest major plane</a:t>
            </a:r>
          </a:p>
          <a:p>
            <a:r>
              <a:rPr lang="en-US" dirty="0"/>
              <a:t>and rotating it 90° along the axis</a:t>
            </a:r>
          </a:p>
          <a:p>
            <a:r>
              <a:rPr lang="en-US" dirty="0"/>
              <a:t>perpendicular to that plane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248287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2)</a:t>
            </a:r>
            <a:r>
              <a:rPr lang="en-US" b="1" dirty="0"/>
              <a:t> w = u </a:t>
            </a:r>
            <a:r>
              <a:rPr lang="en-US" dirty="0"/>
              <a:t>x</a:t>
            </a:r>
            <a:r>
              <a:rPr lang="en-US" b="1" dirty="0"/>
              <a:t> 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693605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3) Normalize </a:t>
            </a:r>
            <a:r>
              <a:rPr lang="en-US" b="1" dirty="0"/>
              <a:t>v</a:t>
            </a:r>
            <a:r>
              <a:rPr lang="en-US" dirty="0"/>
              <a:t> and </a:t>
            </a:r>
            <a:r>
              <a:rPr lang="en-US" b="1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7479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7" grpId="0"/>
      <p:bldP spid="14" grpId="0"/>
      <p:bldP spid="40" grpId="0"/>
      <p:bldP spid="4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rotate </a:t>
            </a:r>
            <a:r>
              <a:rPr lang="en-US" b="1" dirty="0" err="1"/>
              <a:t>uvw</a:t>
            </a:r>
            <a:r>
              <a:rPr lang="en-US" dirty="0"/>
              <a:t> such that it aligns with </a:t>
            </a:r>
            <a:r>
              <a:rPr lang="en-US" b="1" dirty="0" err="1"/>
              <a:t>xyz</a:t>
            </a:r>
            <a:endParaRPr lang="en-US" dirty="0"/>
          </a:p>
          <a:p>
            <a:pPr lvl="1"/>
            <a:r>
              <a:rPr lang="en-US" dirty="0"/>
              <a:t>call this transform M</a:t>
            </a:r>
          </a:p>
          <a:p>
            <a:r>
              <a:rPr lang="en-US" dirty="0"/>
              <a:t>Rotate around </a:t>
            </a:r>
            <a:r>
              <a:rPr lang="en-US" b="1" dirty="0"/>
              <a:t>x</a:t>
            </a:r>
            <a:r>
              <a:rPr lang="en-US" dirty="0"/>
              <a:t> (</a:t>
            </a:r>
            <a:r>
              <a:rPr lang="en-US" b="1" dirty="0"/>
              <a:t>u</a:t>
            </a:r>
            <a:r>
              <a:rPr lang="en-US" dirty="0"/>
              <a:t> is now </a:t>
            </a:r>
            <a:r>
              <a:rPr lang="en-US" b="1" dirty="0"/>
              <a:t>x</a:t>
            </a:r>
            <a:r>
              <a:rPr lang="en-US" dirty="0"/>
              <a:t>)</a:t>
            </a:r>
          </a:p>
          <a:p>
            <a:r>
              <a:rPr lang="en-US" dirty="0"/>
              <a:t>Undo the initial rotation: call this M</a:t>
            </a:r>
            <a:r>
              <a:rPr lang="en-US" baseline="30000" dirty="0"/>
              <a:t>-1</a:t>
            </a:r>
          </a:p>
          <a:p>
            <a:r>
              <a:rPr lang="en-US" dirty="0"/>
              <a:t>Finding M</a:t>
            </a:r>
            <a:r>
              <a:rPr lang="en-US" baseline="30000" dirty="0"/>
              <a:t>-1</a:t>
            </a:r>
            <a:r>
              <a:rPr lang="en-US" dirty="0"/>
              <a:t> (rotating </a:t>
            </a:r>
            <a:r>
              <a:rPr lang="en-US" b="1" dirty="0"/>
              <a:t>xyz</a:t>
            </a:r>
            <a:r>
              <a:rPr lang="en-US" dirty="0"/>
              <a:t> to </a:t>
            </a:r>
            <a:r>
              <a:rPr lang="en-US" b="1" dirty="0" err="1"/>
              <a:t>uvw</a:t>
            </a:r>
            <a:r>
              <a:rPr lang="en-US" dirty="0"/>
              <a:t>) is trivial: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00302"/>
              </p:ext>
            </p:extLst>
          </p:nvPr>
        </p:nvGraphicFramePr>
        <p:xfrm>
          <a:off x="4572000" y="3786981"/>
          <a:ext cx="2861950" cy="1775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2" name="Equation" r:id="rId3" imgW="1473120" imgH="914400" progId="Equation.3">
                  <p:embed/>
                </p:oleObj>
              </mc:Choice>
              <mc:Fallback>
                <p:oleObj name="Equation" r:id="rId3" imgW="1473120" imgH="914400" progId="Equation.3">
                  <p:embed/>
                  <p:pic>
                    <p:nvPicPr>
                      <p:cNvPr id="4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786981"/>
                        <a:ext cx="2861950" cy="17756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76539" y="5955268"/>
            <a:ext cx="601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Verify that this matrix transforms </a:t>
            </a:r>
            <a:r>
              <a:rPr lang="en-US" b="1" dirty="0"/>
              <a:t>x</a:t>
            </a:r>
            <a:r>
              <a:rPr lang="en-US" dirty="0"/>
              <a:t> to </a:t>
            </a:r>
            <a:r>
              <a:rPr lang="en-US" b="1" dirty="0"/>
              <a:t>u</a:t>
            </a:r>
            <a:r>
              <a:rPr lang="en-US" dirty="0"/>
              <a:t>, </a:t>
            </a:r>
            <a:r>
              <a:rPr lang="en-US" b="1" dirty="0"/>
              <a:t>y</a:t>
            </a:r>
            <a:r>
              <a:rPr lang="en-US" dirty="0"/>
              <a:t> to </a:t>
            </a:r>
            <a:r>
              <a:rPr lang="en-US" b="1" dirty="0"/>
              <a:t>v</a:t>
            </a:r>
            <a:r>
              <a:rPr lang="en-US" dirty="0"/>
              <a:t>, and </a:t>
            </a:r>
            <a:r>
              <a:rPr lang="en-US" b="1" dirty="0"/>
              <a:t>z</a:t>
            </a:r>
            <a:r>
              <a:rPr lang="en-US" dirty="0"/>
              <a:t> to </a:t>
            </a:r>
            <a:r>
              <a:rPr lang="en-US" b="1" dirty="0"/>
              <a:t>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7329" y="4191000"/>
            <a:ext cx="34712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How to transform </a:t>
            </a:r>
            <a:r>
              <a:rPr lang="en-US" b="1" dirty="0"/>
              <a:t>x</a:t>
            </a:r>
            <a:r>
              <a:rPr lang="en-US" dirty="0"/>
              <a:t> = [1 0 0 0]</a:t>
            </a:r>
            <a:r>
              <a:rPr lang="en-US" baseline="30000" dirty="0"/>
              <a:t>T</a:t>
            </a:r>
            <a:r>
              <a:rPr lang="en-US" dirty="0"/>
              <a:t> </a:t>
            </a:r>
          </a:p>
          <a:p>
            <a:r>
              <a:rPr lang="en-US" dirty="0"/>
              <a:t>such that it turns into [</a:t>
            </a:r>
            <a:r>
              <a:rPr lang="en-US" dirty="0" err="1"/>
              <a:t>u</a:t>
            </a:r>
            <a:r>
              <a:rPr lang="en-US" baseline="-25000" dirty="0" err="1"/>
              <a:t>x</a:t>
            </a:r>
            <a:r>
              <a:rPr lang="en-US" dirty="0"/>
              <a:t> </a:t>
            </a:r>
            <a:r>
              <a:rPr lang="en-US" dirty="0" err="1"/>
              <a:t>u</a:t>
            </a:r>
            <a:r>
              <a:rPr lang="en-US" baseline="-25000" dirty="0" err="1"/>
              <a:t>y</a:t>
            </a:r>
            <a:r>
              <a:rPr lang="en-US" dirty="0"/>
              <a:t> </a:t>
            </a:r>
            <a:r>
              <a:rPr lang="en-US" dirty="0" err="1"/>
              <a:t>u</a:t>
            </a:r>
            <a:r>
              <a:rPr lang="en-US" baseline="-25000" dirty="0" err="1"/>
              <a:t>z</a:t>
            </a:r>
            <a:r>
              <a:rPr lang="en-US" dirty="0"/>
              <a:t> 0]</a:t>
            </a:r>
            <a:r>
              <a:rPr lang="en-US" baseline="30000" dirty="0"/>
              <a:t>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Similar for the </a:t>
            </a:r>
            <a:r>
              <a:rPr lang="en-US" b="1" dirty="0"/>
              <a:t>y</a:t>
            </a:r>
            <a:r>
              <a:rPr lang="en-US" dirty="0"/>
              <a:t> and </a:t>
            </a:r>
            <a:r>
              <a:rPr lang="en-US" b="1" dirty="0"/>
              <a:t>z</a:t>
            </a:r>
            <a:r>
              <a:rPr lang="en-US" dirty="0"/>
              <a:t> axis</a:t>
            </a:r>
          </a:p>
        </p:txBody>
      </p:sp>
    </p:spTree>
    <p:extLst>
      <p:ext uri="{BB962C8B-B14F-4D97-AF65-F5344CB8AC3E}">
        <p14:creationId xmlns:p14="http://schemas.microsoft.com/office/powerpoint/2010/main" val="10950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M is also trivial as M</a:t>
            </a:r>
            <a:r>
              <a:rPr lang="en-US" baseline="30000" dirty="0"/>
              <a:t>-1</a:t>
            </a:r>
            <a:r>
              <a:rPr lang="en-US" dirty="0"/>
              <a:t> is an </a:t>
            </a:r>
            <a:r>
              <a:rPr lang="en-US" dirty="0">
                <a:solidFill>
                  <a:srgbClr val="C00000"/>
                </a:solidFill>
              </a:rPr>
              <a:t>orthonormal matrix</a:t>
            </a:r>
            <a:r>
              <a:rPr lang="en-US" dirty="0"/>
              <a:t> (all rows and columns are orthogonal unit vectors)</a:t>
            </a:r>
          </a:p>
          <a:p>
            <a:r>
              <a:rPr lang="en-US" dirty="0"/>
              <a:t>For such matrices, inverse is equal to transpose: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587600"/>
              </p:ext>
            </p:extLst>
          </p:nvPr>
        </p:nvGraphicFramePr>
        <p:xfrm>
          <a:off x="3152775" y="3429000"/>
          <a:ext cx="2789238" cy="177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1" name="Equation" r:id="rId3" imgW="1434960" imgH="914400" progId="Equation.3">
                  <p:embed/>
                </p:oleObj>
              </mc:Choice>
              <mc:Fallback>
                <p:oleObj name="Equation" r:id="rId3" imgW="1434960" imgH="91440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3429000"/>
                        <a:ext cx="2789238" cy="1776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887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final rotation transform 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assumed that the origin of </a:t>
            </a:r>
            <a:r>
              <a:rPr lang="en-US" b="1" dirty="0" err="1"/>
              <a:t>uvw</a:t>
            </a:r>
            <a:r>
              <a:rPr lang="en-US" dirty="0"/>
              <a:t> is the same as the origin of </a:t>
            </a:r>
            <a:r>
              <a:rPr lang="en-US" b="1" dirty="0"/>
              <a:t>xyz</a:t>
            </a:r>
          </a:p>
          <a:p>
            <a:r>
              <a:rPr lang="en-US" dirty="0"/>
              <a:t>Otherwise, we should account for this difference: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62400" y="2514600"/>
                <a:ext cx="17094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514600"/>
                <a:ext cx="1709442" cy="369332"/>
              </a:xfrm>
              <a:prstGeom prst="rect">
                <a:avLst/>
              </a:prstGeom>
              <a:blipFill>
                <a:blip r:embed="rId2"/>
                <a:stretch>
                  <a:fillRect l="-3214" r="-3214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86200" y="4876800"/>
                <a:ext cx="23967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876800"/>
                <a:ext cx="2396746" cy="369332"/>
              </a:xfrm>
              <a:prstGeom prst="rect">
                <a:avLst/>
              </a:prstGeom>
              <a:blipFill>
                <a:blip r:embed="rId3"/>
                <a:stretch>
                  <a:fillRect l="-2290" r="-2036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671842" y="5662394"/>
            <a:ext cx="2150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 the origin</a:t>
            </a:r>
          </a:p>
          <a:p>
            <a:r>
              <a:rPr lang="en-US" dirty="0"/>
              <a:t>of </a:t>
            </a:r>
            <a:r>
              <a:rPr lang="en-US" dirty="0" err="1"/>
              <a:t>uvw</a:t>
            </a:r>
            <a:r>
              <a:rPr lang="en-US" dirty="0"/>
              <a:t> to xyz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172200" y="5246132"/>
            <a:ext cx="381000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24200" y="5662394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Undo the</a:t>
            </a:r>
          </a:p>
          <a:p>
            <a:r>
              <a:rPr lang="en-US" dirty="0"/>
              <a:t>translation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733800" y="5246132"/>
            <a:ext cx="228600" cy="315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76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Scaling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Change the coordinates of the object by scaling factors</a:t>
            </a:r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33127"/>
              </p:ext>
            </p:extLst>
          </p:nvPr>
        </p:nvGraphicFramePr>
        <p:xfrm>
          <a:off x="930240" y="2738560"/>
          <a:ext cx="3015360" cy="190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5" r:id="rId4" imgW="3743280" imgH="2952720" progId="">
                  <p:embed/>
                </p:oleObj>
              </mc:Choice>
              <mc:Fallback>
                <p:oleObj r:id="rId4" imgW="3743280" imgH="29527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9781"/>
                      <a:stretch>
                        <a:fillRect/>
                      </a:stretch>
                    </p:blipFill>
                    <p:spPr bwMode="auto">
                      <a:xfrm>
                        <a:off x="930240" y="2738560"/>
                        <a:ext cx="3015360" cy="1909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 b="19781"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2" name="Line 6"/>
          <p:cNvSpPr>
            <a:spLocks noChangeShapeType="1"/>
          </p:cNvSpPr>
          <p:nvPr/>
        </p:nvSpPr>
        <p:spPr bwMode="auto">
          <a:xfrm flipV="1">
            <a:off x="6485760" y="2402172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>
            <a:off x="6485760" y="3489487"/>
            <a:ext cx="11995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 flipH="1">
            <a:off x="5862241" y="3490927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1865" name="Text Box 9"/>
          <p:cNvSpPr txBox="1">
            <a:spLocks noChangeArrowheads="1"/>
          </p:cNvSpPr>
          <p:nvPr/>
        </p:nvSpPr>
        <p:spPr bwMode="auto">
          <a:xfrm>
            <a:off x="5767200" y="3910011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6539041" y="2289841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7716961" y="3434761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21869" name="Line 13"/>
          <p:cNvSpPr>
            <a:spLocks noChangeShapeType="1"/>
          </p:cNvSpPr>
          <p:nvPr/>
        </p:nvSpPr>
        <p:spPr bwMode="auto">
          <a:xfrm flipV="1">
            <a:off x="6520320" y="4432786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1870" name="Line 14"/>
          <p:cNvSpPr>
            <a:spLocks noChangeShapeType="1"/>
          </p:cNvSpPr>
          <p:nvPr/>
        </p:nvSpPr>
        <p:spPr bwMode="auto">
          <a:xfrm>
            <a:off x="6520320" y="5521539"/>
            <a:ext cx="1199520" cy="14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1871" name="Line 15"/>
          <p:cNvSpPr>
            <a:spLocks noChangeShapeType="1"/>
          </p:cNvSpPr>
          <p:nvPr/>
        </p:nvSpPr>
        <p:spPr bwMode="auto">
          <a:xfrm flipH="1">
            <a:off x="5896801" y="5521540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1872" name="Text Box 16"/>
          <p:cNvSpPr txBox="1">
            <a:spLocks noChangeArrowheads="1"/>
          </p:cNvSpPr>
          <p:nvPr/>
        </p:nvSpPr>
        <p:spPr bwMode="auto">
          <a:xfrm>
            <a:off x="5801760" y="5940624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6572160" y="4320454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21874" name="Text Box 18"/>
          <p:cNvSpPr txBox="1">
            <a:spLocks noChangeArrowheads="1"/>
          </p:cNvSpPr>
          <p:nvPr/>
        </p:nvSpPr>
        <p:spPr bwMode="auto">
          <a:xfrm>
            <a:off x="7751521" y="5465375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pic>
        <p:nvPicPr>
          <p:cNvPr id="121875" name="Picture 1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45440" y="5219108"/>
            <a:ext cx="455040" cy="620706"/>
          </a:xfrm>
          <a:prstGeom prst="rect">
            <a:avLst/>
          </a:prstGeom>
          <a:noFill/>
        </p:spPr>
      </p:pic>
      <p:pic>
        <p:nvPicPr>
          <p:cNvPr id="121876" name="Picture 2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31360" y="4366538"/>
            <a:ext cx="450720" cy="946180"/>
          </a:xfrm>
          <a:prstGeom prst="rect">
            <a:avLst/>
          </a:prstGeom>
          <a:noFill/>
        </p:spPr>
      </p:pic>
      <p:graphicFrame>
        <p:nvGraphicFramePr>
          <p:cNvPr id="1218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634387"/>
              </p:ext>
            </p:extLst>
          </p:nvPr>
        </p:nvGraphicFramePr>
        <p:xfrm>
          <a:off x="1632960" y="4953000"/>
          <a:ext cx="1437120" cy="437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6" name="Equation" r:id="rId8" imgW="583920" imgH="177480" progId="Equation.3">
                  <p:embed/>
                </p:oleObj>
              </mc:Choice>
              <mc:Fallback>
                <p:oleObj name="Equation" r:id="rId8" imgW="5839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960" y="4953000"/>
                        <a:ext cx="1437120" cy="4378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9" name="Object 23"/>
          <p:cNvGraphicFramePr>
            <a:graphicFrameLocks noChangeAspect="1"/>
          </p:cNvGraphicFramePr>
          <p:nvPr/>
        </p:nvGraphicFramePr>
        <p:xfrm>
          <a:off x="6727680" y="3168333"/>
          <a:ext cx="237600" cy="30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7" name="Equation" r:id="rId10" imgW="139680" imgH="177480" progId="Equation.3">
                  <p:embed/>
                </p:oleObj>
              </mc:Choice>
              <mc:Fallback>
                <p:oleObj name="Equation" r:id="rId10" imgW="1396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7680" y="3168333"/>
                        <a:ext cx="237600" cy="302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0" name="Object 24"/>
          <p:cNvGraphicFramePr>
            <a:graphicFrameLocks noChangeAspect="1"/>
          </p:cNvGraphicFramePr>
          <p:nvPr/>
        </p:nvGraphicFramePr>
        <p:xfrm>
          <a:off x="7315200" y="2710365"/>
          <a:ext cx="302400" cy="30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8" name="Equation" r:id="rId12" imgW="177480" imgH="177480" progId="Equation.3">
                  <p:embed/>
                </p:oleObj>
              </mc:Choice>
              <mc:Fallback>
                <p:oleObj name="Equation" r:id="rId12" imgW="177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710365"/>
                        <a:ext cx="302400" cy="3024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81" name="Oval 25"/>
          <p:cNvSpPr>
            <a:spLocks noChangeArrowheads="1"/>
          </p:cNvSpPr>
          <p:nvPr/>
        </p:nvSpPr>
        <p:spPr bwMode="auto">
          <a:xfrm>
            <a:off x="7446241" y="2971033"/>
            <a:ext cx="64800" cy="6480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121882" name="Oval 26"/>
          <p:cNvSpPr>
            <a:spLocks noChangeArrowheads="1"/>
          </p:cNvSpPr>
          <p:nvPr/>
        </p:nvSpPr>
        <p:spPr bwMode="auto">
          <a:xfrm>
            <a:off x="6923520" y="3297946"/>
            <a:ext cx="64800" cy="648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2945" tIns="41473" rIns="82945" bIns="41473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58179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7120" y="4075628"/>
            <a:ext cx="375840" cy="512694"/>
          </a:xfrm>
          <a:prstGeom prst="rect">
            <a:avLst/>
          </a:prstGeom>
          <a:noFill/>
        </p:spPr>
      </p:pic>
      <p:sp>
        <p:nvSpPr>
          <p:cNvPr id="1239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Scaling w.r.t. a Fixed Point</a:t>
            </a:r>
          </a:p>
        </p:txBody>
      </p:sp>
      <p:sp>
        <p:nvSpPr>
          <p:cNvPr id="123908" name="Rectangle 4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Translate to origin, scale, translate back</a:t>
            </a:r>
          </a:p>
        </p:txBody>
      </p:sp>
      <p:sp>
        <p:nvSpPr>
          <p:cNvPr id="123910" name="Line 6"/>
          <p:cNvSpPr>
            <a:spLocks noChangeShapeType="1"/>
          </p:cNvSpPr>
          <p:nvPr/>
        </p:nvSpPr>
        <p:spPr bwMode="auto">
          <a:xfrm flipV="1">
            <a:off x="1404001" y="3130889"/>
            <a:ext cx="1440" cy="1088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11" name="Line 7"/>
          <p:cNvSpPr>
            <a:spLocks noChangeShapeType="1"/>
          </p:cNvSpPr>
          <p:nvPr/>
        </p:nvSpPr>
        <p:spPr bwMode="auto">
          <a:xfrm>
            <a:off x="1404001" y="4219643"/>
            <a:ext cx="1199520" cy="14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12" name="Line 8"/>
          <p:cNvSpPr>
            <a:spLocks noChangeShapeType="1"/>
          </p:cNvSpPr>
          <p:nvPr/>
        </p:nvSpPr>
        <p:spPr bwMode="auto">
          <a:xfrm flipH="1">
            <a:off x="780480" y="4219644"/>
            <a:ext cx="624960" cy="71719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887040" y="4874913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23914" name="Text Box 10"/>
          <p:cNvSpPr txBox="1">
            <a:spLocks noChangeArrowheads="1"/>
          </p:cNvSpPr>
          <p:nvPr/>
        </p:nvSpPr>
        <p:spPr bwMode="auto">
          <a:xfrm>
            <a:off x="1455841" y="3018557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23915" name="Text Box 11"/>
          <p:cNvSpPr txBox="1">
            <a:spLocks noChangeArrowheads="1"/>
          </p:cNvSpPr>
          <p:nvPr/>
        </p:nvSpPr>
        <p:spPr bwMode="auto">
          <a:xfrm>
            <a:off x="2635200" y="4163478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pic>
        <p:nvPicPr>
          <p:cNvPr id="123916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4560" y="3996420"/>
            <a:ext cx="455040" cy="620705"/>
          </a:xfrm>
          <a:prstGeom prst="rect">
            <a:avLst/>
          </a:prstGeom>
          <a:noFill/>
        </p:spPr>
      </p:pic>
      <p:sp>
        <p:nvSpPr>
          <p:cNvPr id="123917" name="Line 13"/>
          <p:cNvSpPr>
            <a:spLocks noChangeShapeType="1"/>
          </p:cNvSpPr>
          <p:nvPr/>
        </p:nvSpPr>
        <p:spPr bwMode="auto">
          <a:xfrm flipV="1">
            <a:off x="3434401" y="3221619"/>
            <a:ext cx="1440" cy="8986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18" name="Line 14"/>
          <p:cNvSpPr>
            <a:spLocks noChangeShapeType="1"/>
          </p:cNvSpPr>
          <p:nvPr/>
        </p:nvSpPr>
        <p:spPr bwMode="auto">
          <a:xfrm>
            <a:off x="3556800" y="4308932"/>
            <a:ext cx="1077120" cy="14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19" name="Line 15"/>
          <p:cNvSpPr>
            <a:spLocks noChangeShapeType="1"/>
          </p:cNvSpPr>
          <p:nvPr/>
        </p:nvSpPr>
        <p:spPr bwMode="auto">
          <a:xfrm flipH="1">
            <a:off x="2810880" y="4388141"/>
            <a:ext cx="567360" cy="63942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20" name="Text Box 16"/>
          <p:cNvSpPr txBox="1">
            <a:spLocks noChangeArrowheads="1"/>
          </p:cNvSpPr>
          <p:nvPr/>
        </p:nvSpPr>
        <p:spPr bwMode="auto">
          <a:xfrm>
            <a:off x="2717280" y="4729457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23921" name="Text Box 17"/>
          <p:cNvSpPr txBox="1">
            <a:spLocks noChangeArrowheads="1"/>
          </p:cNvSpPr>
          <p:nvPr/>
        </p:nvSpPr>
        <p:spPr bwMode="auto">
          <a:xfrm>
            <a:off x="3487680" y="3109287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23922" name="Text Box 18"/>
          <p:cNvSpPr txBox="1">
            <a:spLocks noChangeArrowheads="1"/>
          </p:cNvSpPr>
          <p:nvPr/>
        </p:nvSpPr>
        <p:spPr bwMode="auto">
          <a:xfrm>
            <a:off x="4868641" y="2996955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pic>
        <p:nvPicPr>
          <p:cNvPr id="123923" name="Picture 1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98241" y="3961857"/>
            <a:ext cx="623520" cy="849689"/>
          </a:xfrm>
          <a:prstGeom prst="rect">
            <a:avLst/>
          </a:prstGeom>
          <a:noFill/>
        </p:spPr>
      </p:pic>
      <p:sp>
        <p:nvSpPr>
          <p:cNvPr id="123924" name="Line 20"/>
          <p:cNvSpPr>
            <a:spLocks noChangeShapeType="1"/>
          </p:cNvSpPr>
          <p:nvPr/>
        </p:nvSpPr>
        <p:spPr bwMode="auto">
          <a:xfrm flipV="1">
            <a:off x="5296320" y="3299387"/>
            <a:ext cx="1440" cy="730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25" name="Line 21"/>
          <p:cNvSpPr>
            <a:spLocks noChangeShapeType="1"/>
          </p:cNvSpPr>
          <p:nvPr/>
        </p:nvSpPr>
        <p:spPr bwMode="auto">
          <a:xfrm>
            <a:off x="5554081" y="4386700"/>
            <a:ext cx="976320" cy="14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26" name="Line 22"/>
          <p:cNvSpPr>
            <a:spLocks noChangeShapeType="1"/>
          </p:cNvSpPr>
          <p:nvPr/>
        </p:nvSpPr>
        <p:spPr bwMode="auto">
          <a:xfrm flipH="1">
            <a:off x="4707360" y="4488952"/>
            <a:ext cx="534240" cy="61638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27" name="Text Box 23"/>
          <p:cNvSpPr txBox="1">
            <a:spLocks noChangeArrowheads="1"/>
          </p:cNvSpPr>
          <p:nvPr/>
        </p:nvSpPr>
        <p:spPr bwMode="auto">
          <a:xfrm>
            <a:off x="4613760" y="4807225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23928" name="Text Box 24"/>
          <p:cNvSpPr txBox="1">
            <a:spLocks noChangeArrowheads="1"/>
          </p:cNvSpPr>
          <p:nvPr/>
        </p:nvSpPr>
        <p:spPr bwMode="auto">
          <a:xfrm>
            <a:off x="5328000" y="3198577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23929" name="Text Box 25"/>
          <p:cNvSpPr txBox="1">
            <a:spLocks noChangeArrowheads="1"/>
          </p:cNvSpPr>
          <p:nvPr/>
        </p:nvSpPr>
        <p:spPr bwMode="auto">
          <a:xfrm>
            <a:off x="6562081" y="4331975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23930" name="Line 26"/>
          <p:cNvSpPr>
            <a:spLocks noChangeShapeType="1"/>
          </p:cNvSpPr>
          <p:nvPr/>
        </p:nvSpPr>
        <p:spPr bwMode="auto">
          <a:xfrm flipV="1">
            <a:off x="7428961" y="3264824"/>
            <a:ext cx="1440" cy="109019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31" name="Line 27"/>
          <p:cNvSpPr>
            <a:spLocks noChangeShapeType="1"/>
          </p:cNvSpPr>
          <p:nvPr/>
        </p:nvSpPr>
        <p:spPr bwMode="auto">
          <a:xfrm>
            <a:off x="7686720" y="4353578"/>
            <a:ext cx="97632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32" name="Line 28"/>
          <p:cNvSpPr>
            <a:spLocks noChangeShapeType="1"/>
          </p:cNvSpPr>
          <p:nvPr/>
        </p:nvSpPr>
        <p:spPr bwMode="auto">
          <a:xfrm flipH="1">
            <a:off x="6840000" y="4376620"/>
            <a:ext cx="590400" cy="69559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123933" name="Text Box 29"/>
          <p:cNvSpPr txBox="1">
            <a:spLocks noChangeArrowheads="1"/>
          </p:cNvSpPr>
          <p:nvPr/>
        </p:nvSpPr>
        <p:spPr bwMode="auto">
          <a:xfrm>
            <a:off x="6744960" y="4772661"/>
            <a:ext cx="1094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z</a:t>
            </a:r>
          </a:p>
        </p:txBody>
      </p:sp>
      <p:sp>
        <p:nvSpPr>
          <p:cNvPr id="123934" name="Text Box 30"/>
          <p:cNvSpPr txBox="1">
            <a:spLocks noChangeArrowheads="1"/>
          </p:cNvSpPr>
          <p:nvPr/>
        </p:nvSpPr>
        <p:spPr bwMode="auto">
          <a:xfrm>
            <a:off x="7460641" y="3164013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y</a:t>
            </a:r>
          </a:p>
        </p:txBody>
      </p:sp>
      <p:sp>
        <p:nvSpPr>
          <p:cNvPr id="123935" name="Text Box 31"/>
          <p:cNvSpPr txBox="1">
            <a:spLocks noChangeArrowheads="1"/>
          </p:cNvSpPr>
          <p:nvPr/>
        </p:nvSpPr>
        <p:spPr bwMode="auto">
          <a:xfrm>
            <a:off x="8694720" y="4298852"/>
            <a:ext cx="12384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i="1">
                <a:solidFill>
                  <a:srgbClr val="000000"/>
                </a:solidFill>
                <a:latin typeface="Nimbus Roman No9 L" pitchFamily="16" charset="0"/>
              </a:rPr>
              <a:t>x</a:t>
            </a:r>
          </a:p>
        </p:txBody>
      </p:sp>
      <p:sp>
        <p:nvSpPr>
          <p:cNvPr id="123936" name="Line 32"/>
          <p:cNvSpPr>
            <a:spLocks noChangeShapeType="1"/>
          </p:cNvSpPr>
          <p:nvPr/>
        </p:nvSpPr>
        <p:spPr bwMode="auto">
          <a:xfrm>
            <a:off x="7428961" y="4353578"/>
            <a:ext cx="1234080" cy="14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82945" tIns="41473" rIns="82945" bIns="41473"/>
          <a:lstStyle/>
          <a:p>
            <a:endParaRPr lang="en-US"/>
          </a:p>
        </p:txBody>
      </p:sp>
      <p:pic>
        <p:nvPicPr>
          <p:cNvPr id="123937" name="Picture 3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410240" y="4118833"/>
            <a:ext cx="623520" cy="849689"/>
          </a:xfrm>
          <a:prstGeom prst="rect">
            <a:avLst/>
          </a:prstGeom>
          <a:noFill/>
        </p:spPr>
      </p:pic>
      <p:sp>
        <p:nvSpPr>
          <p:cNvPr id="123938" name="Text Box 34"/>
          <p:cNvSpPr txBox="1">
            <a:spLocks noChangeArrowheads="1"/>
          </p:cNvSpPr>
          <p:nvPr/>
        </p:nvSpPr>
        <p:spPr bwMode="auto">
          <a:xfrm>
            <a:off x="2939040" y="5453854"/>
            <a:ext cx="130176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</a:tabLst>
            </a:pPr>
            <a:r>
              <a:rPr lang="en-GB" dirty="0">
                <a:solidFill>
                  <a:srgbClr val="000000"/>
                </a:solidFill>
                <a:latin typeface="Verdana" pitchFamily="34" charset="0"/>
              </a:rPr>
              <a:t>Translate</a:t>
            </a:r>
          </a:p>
        </p:txBody>
      </p:sp>
      <p:sp>
        <p:nvSpPr>
          <p:cNvPr id="123939" name="Text Box 35"/>
          <p:cNvSpPr txBox="1">
            <a:spLocks noChangeArrowheads="1"/>
          </p:cNvSpPr>
          <p:nvPr/>
        </p:nvSpPr>
        <p:spPr bwMode="auto">
          <a:xfrm>
            <a:off x="4963681" y="5453854"/>
            <a:ext cx="83088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</a:tabLst>
            </a:pPr>
            <a:r>
              <a:rPr lang="en-GB" dirty="0">
                <a:solidFill>
                  <a:srgbClr val="000000"/>
                </a:solidFill>
                <a:latin typeface="Verdana" pitchFamily="34" charset="0"/>
              </a:rPr>
              <a:t>Scale</a:t>
            </a:r>
          </a:p>
        </p:txBody>
      </p:sp>
      <p:sp>
        <p:nvSpPr>
          <p:cNvPr id="123940" name="Text Box 36"/>
          <p:cNvSpPr txBox="1">
            <a:spLocks noChangeArrowheads="1"/>
          </p:cNvSpPr>
          <p:nvPr/>
        </p:nvSpPr>
        <p:spPr bwMode="auto">
          <a:xfrm>
            <a:off x="6792481" y="5453854"/>
            <a:ext cx="2041920" cy="28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</a:tabLst>
            </a:pPr>
            <a:r>
              <a:rPr lang="en-GB" dirty="0">
                <a:solidFill>
                  <a:srgbClr val="000000"/>
                </a:solidFill>
                <a:latin typeface="Verdana" pitchFamily="34" charset="0"/>
              </a:rPr>
              <a:t>Translate back</a:t>
            </a:r>
          </a:p>
        </p:txBody>
      </p:sp>
      <p:graphicFrame>
        <p:nvGraphicFramePr>
          <p:cNvPr id="123941" name="Object 37"/>
          <p:cNvGraphicFramePr>
            <a:graphicFrameLocks noChangeAspect="1"/>
          </p:cNvGraphicFramePr>
          <p:nvPr/>
        </p:nvGraphicFramePr>
        <p:xfrm>
          <a:off x="1370880" y="2318644"/>
          <a:ext cx="5552640" cy="52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93" name="Equation" r:id="rId7" imgW="2539800" imgH="241200" progId="Equation.3">
                  <p:embed/>
                </p:oleObj>
              </mc:Choice>
              <mc:Fallback>
                <p:oleObj name="Equation" r:id="rId7" imgW="2539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880" y="2318644"/>
                        <a:ext cx="5552640" cy="5270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10569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Reflection</a:t>
            </a:r>
          </a:p>
        </p:txBody>
      </p:sp>
      <p:sp>
        <p:nvSpPr>
          <p:cNvPr id="128005" name="Rectangle 5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</a:tabLst>
            </a:pPr>
            <a:r>
              <a:rPr lang="en-GB" dirty="0"/>
              <a:t>Reflection over the major planes: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6251040" y="2491462"/>
            <a:ext cx="1978560" cy="2174628"/>
            <a:chOff x="4741921" y="2491462"/>
            <a:chExt cx="1978560" cy="2174628"/>
          </a:xfrm>
        </p:grpSpPr>
        <p:pic>
          <p:nvPicPr>
            <p:cNvPr id="12800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07201" y="4022343"/>
              <a:ext cx="452160" cy="643747"/>
            </a:xfrm>
            <a:prstGeom prst="rect">
              <a:avLst/>
            </a:prstGeom>
            <a:noFill/>
          </p:spPr>
        </p:pic>
        <p:sp>
          <p:nvSpPr>
            <p:cNvPr id="128003" name="Freeform 3"/>
            <p:cNvSpPr>
              <a:spLocks noChangeArrowheads="1"/>
            </p:cNvSpPr>
            <p:nvPr/>
          </p:nvSpPr>
          <p:spPr bwMode="auto">
            <a:xfrm>
              <a:off x="4926240" y="3692548"/>
              <a:ext cx="1324800" cy="505494"/>
            </a:xfrm>
            <a:custGeom>
              <a:avLst/>
              <a:gdLst/>
              <a:ahLst/>
              <a:cxnLst>
                <a:cxn ang="0">
                  <a:pos x="0" y="1546"/>
                </a:cxn>
                <a:cxn ang="0">
                  <a:pos x="2956" y="1546"/>
                </a:cxn>
                <a:cxn ang="0">
                  <a:pos x="4055" y="0"/>
                </a:cxn>
                <a:cxn ang="0">
                  <a:pos x="1306" y="0"/>
                </a:cxn>
                <a:cxn ang="0">
                  <a:pos x="35" y="1477"/>
                </a:cxn>
                <a:cxn ang="0">
                  <a:pos x="0" y="1546"/>
                </a:cxn>
              </a:cxnLst>
              <a:rect l="0" t="0" r="r" b="b"/>
              <a:pathLst>
                <a:path w="4056" h="1547">
                  <a:moveTo>
                    <a:pt x="0" y="1546"/>
                  </a:moveTo>
                  <a:lnTo>
                    <a:pt x="2956" y="1546"/>
                  </a:lnTo>
                  <a:lnTo>
                    <a:pt x="4055" y="0"/>
                  </a:lnTo>
                  <a:lnTo>
                    <a:pt x="1306" y="0"/>
                  </a:lnTo>
                  <a:lnTo>
                    <a:pt x="35" y="1477"/>
                  </a:lnTo>
                  <a:lnTo>
                    <a:pt x="0" y="1546"/>
                  </a:lnTo>
                </a:path>
              </a:pathLst>
            </a:custGeom>
            <a:solidFill>
              <a:srgbClr val="E6E6E6">
                <a:alpha val="29999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sp>
          <p:nvSpPr>
            <p:cNvPr id="128020" name="Line 20"/>
            <p:cNvSpPr>
              <a:spLocks noChangeShapeType="1"/>
            </p:cNvSpPr>
            <p:nvPr/>
          </p:nvSpPr>
          <p:spPr bwMode="auto">
            <a:xfrm flipV="1">
              <a:off x="5365440" y="2605234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21" name="Line 21"/>
            <p:cNvSpPr>
              <a:spLocks noChangeShapeType="1"/>
            </p:cNvSpPr>
            <p:nvPr/>
          </p:nvSpPr>
          <p:spPr bwMode="auto">
            <a:xfrm>
              <a:off x="5365440" y="3692547"/>
              <a:ext cx="1199520" cy="1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22" name="Line 22"/>
            <p:cNvSpPr>
              <a:spLocks noChangeShapeType="1"/>
            </p:cNvSpPr>
            <p:nvPr/>
          </p:nvSpPr>
          <p:spPr bwMode="auto">
            <a:xfrm flipH="1">
              <a:off x="4741921" y="3692548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23" name="Text Box 23"/>
            <p:cNvSpPr txBox="1">
              <a:spLocks noChangeArrowheads="1"/>
            </p:cNvSpPr>
            <p:nvPr/>
          </p:nvSpPr>
          <p:spPr bwMode="auto">
            <a:xfrm>
              <a:off x="4848480" y="4347817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28024" name="Text Box 24"/>
            <p:cNvSpPr txBox="1">
              <a:spLocks noChangeArrowheads="1"/>
            </p:cNvSpPr>
            <p:nvPr/>
          </p:nvSpPr>
          <p:spPr bwMode="auto">
            <a:xfrm>
              <a:off x="5418721" y="2491462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28025" name="Text Box 25"/>
            <p:cNvSpPr txBox="1">
              <a:spLocks noChangeArrowheads="1"/>
            </p:cNvSpPr>
            <p:nvPr/>
          </p:nvSpPr>
          <p:spPr bwMode="auto">
            <a:xfrm>
              <a:off x="6596641" y="3637822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pic>
          <p:nvPicPr>
            <p:cNvPr id="128026" name="Picture 2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437440" y="3368514"/>
              <a:ext cx="455040" cy="620705"/>
            </a:xfrm>
            <a:prstGeom prst="rect">
              <a:avLst/>
            </a:prstGeom>
            <a:noFill/>
          </p:spPr>
        </p:pic>
      </p:grpSp>
      <p:grpSp>
        <p:nvGrpSpPr>
          <p:cNvPr id="5" name="Group 4"/>
          <p:cNvGrpSpPr/>
          <p:nvPr/>
        </p:nvGrpSpPr>
        <p:grpSpPr>
          <a:xfrm>
            <a:off x="457200" y="2502983"/>
            <a:ext cx="2348640" cy="2137428"/>
            <a:chOff x="410400" y="2502983"/>
            <a:chExt cx="2348640" cy="2137428"/>
          </a:xfrm>
        </p:grpSpPr>
        <p:sp>
          <p:nvSpPr>
            <p:cNvPr id="128007" name="Line 7"/>
            <p:cNvSpPr>
              <a:spLocks noChangeShapeType="1"/>
            </p:cNvSpPr>
            <p:nvPr/>
          </p:nvSpPr>
          <p:spPr bwMode="auto">
            <a:xfrm flipV="1">
              <a:off x="1404001" y="2615315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08" name="Line 8"/>
            <p:cNvSpPr>
              <a:spLocks noChangeShapeType="1"/>
            </p:cNvSpPr>
            <p:nvPr/>
          </p:nvSpPr>
          <p:spPr bwMode="auto">
            <a:xfrm>
              <a:off x="1404001" y="3702629"/>
              <a:ext cx="11995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09" name="Line 9"/>
            <p:cNvSpPr>
              <a:spLocks noChangeShapeType="1"/>
            </p:cNvSpPr>
            <p:nvPr/>
          </p:nvSpPr>
          <p:spPr bwMode="auto">
            <a:xfrm flipH="1">
              <a:off x="780480" y="3704069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10" name="Text Box 10"/>
            <p:cNvSpPr txBox="1">
              <a:spLocks noChangeArrowheads="1"/>
            </p:cNvSpPr>
            <p:nvPr/>
          </p:nvSpPr>
          <p:spPr bwMode="auto">
            <a:xfrm>
              <a:off x="887040" y="4357898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28011" name="Text Box 11"/>
            <p:cNvSpPr txBox="1">
              <a:spLocks noChangeArrowheads="1"/>
            </p:cNvSpPr>
            <p:nvPr/>
          </p:nvSpPr>
          <p:spPr bwMode="auto">
            <a:xfrm>
              <a:off x="1457280" y="2502983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28012" name="Text Box 12"/>
            <p:cNvSpPr txBox="1">
              <a:spLocks noChangeArrowheads="1"/>
            </p:cNvSpPr>
            <p:nvPr/>
          </p:nvSpPr>
          <p:spPr bwMode="auto">
            <a:xfrm>
              <a:off x="2635200" y="3647904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pic>
          <p:nvPicPr>
            <p:cNvPr id="128013" name="Picture 1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76000" y="3480846"/>
              <a:ext cx="455040" cy="620705"/>
            </a:xfrm>
            <a:prstGeom prst="rect">
              <a:avLst/>
            </a:prstGeom>
            <a:noFill/>
          </p:spPr>
        </p:pic>
        <p:pic>
          <p:nvPicPr>
            <p:cNvPr id="128027" name="Picture 2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10400" y="3490927"/>
              <a:ext cx="432000" cy="589022"/>
            </a:xfrm>
            <a:prstGeom prst="rect">
              <a:avLst/>
            </a:prstGeom>
            <a:noFill/>
          </p:spPr>
        </p:pic>
        <p:sp>
          <p:nvSpPr>
            <p:cNvPr id="128028" name="Freeform 28"/>
            <p:cNvSpPr>
              <a:spLocks noChangeArrowheads="1"/>
            </p:cNvSpPr>
            <p:nvPr/>
          </p:nvSpPr>
          <p:spPr bwMode="auto">
            <a:xfrm>
              <a:off x="908640" y="2636918"/>
              <a:ext cx="505440" cy="1650413"/>
            </a:xfrm>
            <a:custGeom>
              <a:avLst/>
              <a:gdLst/>
              <a:ahLst/>
              <a:cxnLst>
                <a:cxn ang="0">
                  <a:pos x="1512" y="3230"/>
                </a:cxn>
                <a:cxn ang="0">
                  <a:pos x="1546" y="0"/>
                </a:cxn>
                <a:cxn ang="0">
                  <a:pos x="0" y="1753"/>
                </a:cxn>
                <a:cxn ang="0">
                  <a:pos x="0" y="5052"/>
                </a:cxn>
                <a:cxn ang="0">
                  <a:pos x="1546" y="3230"/>
                </a:cxn>
                <a:cxn ang="0">
                  <a:pos x="1512" y="3230"/>
                </a:cxn>
              </a:cxnLst>
              <a:rect l="0" t="0" r="r" b="b"/>
              <a:pathLst>
                <a:path w="1547" h="5053">
                  <a:moveTo>
                    <a:pt x="1512" y="3230"/>
                  </a:moveTo>
                  <a:lnTo>
                    <a:pt x="1546" y="0"/>
                  </a:lnTo>
                  <a:lnTo>
                    <a:pt x="0" y="1753"/>
                  </a:lnTo>
                  <a:lnTo>
                    <a:pt x="0" y="5052"/>
                  </a:lnTo>
                  <a:lnTo>
                    <a:pt x="1546" y="3230"/>
                  </a:lnTo>
                  <a:lnTo>
                    <a:pt x="1512" y="3230"/>
                  </a:lnTo>
                </a:path>
              </a:pathLst>
            </a:custGeom>
            <a:solidFill>
              <a:srgbClr val="E6E6E6">
                <a:alpha val="29999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507840" y="2502983"/>
            <a:ext cx="1978560" cy="2138868"/>
            <a:chOff x="2733120" y="2502983"/>
            <a:chExt cx="1978560" cy="2138868"/>
          </a:xfrm>
        </p:grpSpPr>
        <p:sp>
          <p:nvSpPr>
            <p:cNvPr id="128014" name="Line 14"/>
            <p:cNvSpPr>
              <a:spLocks noChangeShapeType="1"/>
            </p:cNvSpPr>
            <p:nvPr/>
          </p:nvSpPr>
          <p:spPr bwMode="auto">
            <a:xfrm flipV="1">
              <a:off x="3356641" y="2615315"/>
              <a:ext cx="1440" cy="1088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15" name="Line 15"/>
            <p:cNvSpPr>
              <a:spLocks noChangeShapeType="1"/>
            </p:cNvSpPr>
            <p:nvPr/>
          </p:nvSpPr>
          <p:spPr bwMode="auto">
            <a:xfrm>
              <a:off x="3356641" y="3704069"/>
              <a:ext cx="1199520" cy="1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16" name="Line 16"/>
            <p:cNvSpPr>
              <a:spLocks noChangeShapeType="1"/>
            </p:cNvSpPr>
            <p:nvPr/>
          </p:nvSpPr>
          <p:spPr bwMode="auto">
            <a:xfrm flipH="1">
              <a:off x="2733120" y="3704069"/>
              <a:ext cx="624960" cy="717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82945" tIns="41473" rIns="82945" bIns="41473"/>
            <a:lstStyle/>
            <a:p>
              <a:endParaRPr lang="en-US"/>
            </a:p>
          </p:txBody>
        </p:sp>
        <p:sp>
          <p:nvSpPr>
            <p:cNvPr id="128017" name="Text Box 17"/>
            <p:cNvSpPr txBox="1">
              <a:spLocks noChangeArrowheads="1"/>
            </p:cNvSpPr>
            <p:nvPr/>
          </p:nvSpPr>
          <p:spPr bwMode="auto">
            <a:xfrm>
              <a:off x="2839680" y="4359338"/>
              <a:ext cx="1094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z</a:t>
              </a:r>
            </a:p>
          </p:txBody>
        </p:sp>
        <p:sp>
          <p:nvSpPr>
            <p:cNvPr id="128018" name="Text Box 18"/>
            <p:cNvSpPr txBox="1">
              <a:spLocks noChangeArrowheads="1"/>
            </p:cNvSpPr>
            <p:nvPr/>
          </p:nvSpPr>
          <p:spPr bwMode="auto">
            <a:xfrm>
              <a:off x="3408481" y="2502983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y</a:t>
              </a:r>
            </a:p>
          </p:txBody>
        </p:sp>
        <p:sp>
          <p:nvSpPr>
            <p:cNvPr id="128019" name="Text Box 19"/>
            <p:cNvSpPr txBox="1">
              <a:spLocks noChangeArrowheads="1"/>
            </p:cNvSpPr>
            <p:nvPr/>
          </p:nvSpPr>
          <p:spPr bwMode="auto">
            <a:xfrm>
              <a:off x="4587840" y="3647904"/>
              <a:ext cx="123840" cy="282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i="1">
                  <a:solidFill>
                    <a:srgbClr val="000000"/>
                  </a:solidFill>
                  <a:latin typeface="Nimbus Roman No9 L" pitchFamily="16" charset="0"/>
                </a:rPr>
                <a:t>x</a:t>
              </a:r>
            </a:p>
          </p:txBody>
        </p:sp>
        <p:pic>
          <p:nvPicPr>
            <p:cNvPr id="128029" name="Picture 2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764160" y="3054562"/>
              <a:ext cx="352800" cy="481010"/>
            </a:xfrm>
            <a:prstGeom prst="rect">
              <a:avLst/>
            </a:prstGeom>
            <a:noFill/>
          </p:spPr>
        </p:pic>
        <p:sp>
          <p:nvSpPr>
            <p:cNvPr id="128030" name="Freeform 30"/>
            <p:cNvSpPr>
              <a:spLocks noChangeArrowheads="1"/>
            </p:cNvSpPr>
            <p:nvPr/>
          </p:nvSpPr>
          <p:spPr bwMode="auto">
            <a:xfrm>
              <a:off x="3355200" y="2884624"/>
              <a:ext cx="999360" cy="8194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58" y="0"/>
                </a:cxn>
                <a:cxn ang="0">
                  <a:pos x="3058" y="2509"/>
                </a:cxn>
                <a:cxn ang="0">
                  <a:pos x="0" y="2509"/>
                </a:cxn>
                <a:cxn ang="0">
                  <a:pos x="0" y="0"/>
                </a:cxn>
              </a:cxnLst>
              <a:rect l="0" t="0" r="r" b="b"/>
              <a:pathLst>
                <a:path w="3059" h="2510">
                  <a:moveTo>
                    <a:pt x="0" y="0"/>
                  </a:moveTo>
                  <a:lnTo>
                    <a:pt x="3058" y="0"/>
                  </a:lnTo>
                  <a:lnTo>
                    <a:pt x="3058" y="2509"/>
                  </a:lnTo>
                  <a:lnTo>
                    <a:pt x="0" y="2509"/>
                  </a:lnTo>
                  <a:lnTo>
                    <a:pt x="0" y="0"/>
                  </a:lnTo>
                </a:path>
              </a:pathLst>
            </a:custGeom>
            <a:solidFill>
              <a:srgbClr val="E6E6E6">
                <a:alpha val="29999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82945" tIns="41473" rIns="82945" bIns="41473" anchor="ctr"/>
            <a:lstStyle/>
            <a:p>
              <a:endParaRPr lang="en-US"/>
            </a:p>
          </p:txBody>
        </p:sp>
        <p:pic>
          <p:nvPicPr>
            <p:cNvPr id="128031" name="Picture 3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427200" y="3480846"/>
              <a:ext cx="455040" cy="620705"/>
            </a:xfrm>
            <a:prstGeom prst="rect">
              <a:avLst/>
            </a:prstGeom>
            <a:noFill/>
          </p:spPr>
        </p:pic>
      </p:grpSp>
      <p:graphicFrame>
        <p:nvGraphicFramePr>
          <p:cNvPr id="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316039"/>
              </p:ext>
            </p:extLst>
          </p:nvPr>
        </p:nvGraphicFramePr>
        <p:xfrm>
          <a:off x="770203" y="4724400"/>
          <a:ext cx="1515797" cy="1397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7" name="Equation" r:id="rId8" imgW="990360" imgH="914400" progId="Equation.3">
                  <p:embed/>
                </p:oleObj>
              </mc:Choice>
              <mc:Fallback>
                <p:oleObj name="Equation" r:id="rId8" imgW="990360" imgH="914400" progId="Equation.3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203" y="4724400"/>
                        <a:ext cx="1515797" cy="1397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392117"/>
              </p:ext>
            </p:extLst>
          </p:nvPr>
        </p:nvGraphicFramePr>
        <p:xfrm>
          <a:off x="3818203" y="4724400"/>
          <a:ext cx="1515797" cy="1397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8" name="Equation" r:id="rId10" imgW="990360" imgH="914400" progId="Equation.3">
                  <p:embed/>
                </p:oleObj>
              </mc:Choice>
              <mc:Fallback>
                <p:oleObj name="Equation" r:id="rId10" imgW="990360" imgH="914400" progId="Equation.3">
                  <p:embed/>
                  <p:pic>
                    <p:nvPicPr>
                      <p:cNvPr id="4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203" y="4724400"/>
                        <a:ext cx="1515797" cy="1397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710569"/>
              </p:ext>
            </p:extLst>
          </p:nvPr>
        </p:nvGraphicFramePr>
        <p:xfrm>
          <a:off x="6409003" y="4724400"/>
          <a:ext cx="1515797" cy="1397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9" name="Equation" r:id="rId12" imgW="990360" imgH="914400" progId="Equation.3">
                  <p:embed/>
                </p:oleObj>
              </mc:Choice>
              <mc:Fallback>
                <p:oleObj name="Equation" r:id="rId12" imgW="990360" imgH="914400" progId="Equation.3">
                  <p:embed/>
                  <p:pic>
                    <p:nvPicPr>
                      <p:cNvPr id="4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9003" y="4724400"/>
                        <a:ext cx="1515797" cy="1397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500577" y="1152987"/>
            <a:ext cx="3398449" cy="1309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How about reflection over an arbitrary plane?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453268" y="-22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8247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</a:t>
            </a:r>
            <a:r>
              <a:rPr lang="en-US" dirty="0" err="1"/>
              <a:t>Normals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transform an object, what happens to its </a:t>
            </a:r>
            <a:r>
              <a:rPr lang="en-US" dirty="0" err="1"/>
              <a:t>normals</a:t>
            </a:r>
            <a:r>
              <a:rPr lang="en-US" dirty="0"/>
              <a:t>?</a:t>
            </a:r>
          </a:p>
          <a:p>
            <a:r>
              <a:rPr lang="en-US" dirty="0"/>
              <a:t>Do they get transformed by the same matrix or does it require a different one?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85800" y="5626224"/>
            <a:ext cx="2743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9000" y="5469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759" y="318782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85800" y="3492624"/>
            <a:ext cx="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85800" y="4940424"/>
            <a:ext cx="685800" cy="685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028700" y="4788024"/>
            <a:ext cx="495300" cy="4953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102" y="47234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493" y="5574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5871498" y="5593958"/>
            <a:ext cx="2743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14698" y="54372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1457" y="3155558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871498" y="3460358"/>
            <a:ext cx="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71498" y="4908158"/>
            <a:ext cx="1840760" cy="685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700173" y="4788024"/>
            <a:ext cx="1224627" cy="4307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38800" y="46912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217" y="5574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3521891" y="3819966"/>
          <a:ext cx="14684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9" name="Denklem" r:id="rId3" imgW="927000" imgH="711000" progId="Equation.3">
                  <p:embed/>
                </p:oleObj>
              </mc:Choice>
              <mc:Fallback>
                <p:oleObj name="Denklem" r:id="rId3" imgW="927000" imgH="711000" progId="Equation.3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891" y="3819966"/>
                        <a:ext cx="1468438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886200" y="3287360"/>
            <a:ext cx="98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Scale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180478" y="3810000"/>
                <a:ext cx="1410322" cy="972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𝒏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√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√2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478" y="3810000"/>
                <a:ext cx="1410322" cy="97270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204376" y="3730832"/>
                <a:ext cx="1410322" cy="972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𝒏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3/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√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√2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76" y="3730832"/>
                <a:ext cx="1410322" cy="97270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934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</a:t>
            </a:r>
            <a:r>
              <a:rPr lang="en-US" dirty="0" err="1"/>
              <a:t>Normals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the transformation the normal is </a:t>
            </a:r>
            <a:r>
              <a:rPr lang="en-US" dirty="0">
                <a:solidFill>
                  <a:srgbClr val="C00000"/>
                </a:solidFill>
              </a:rPr>
              <a:t>no longer perpendicular</a:t>
            </a:r>
            <a:r>
              <a:rPr lang="en-US" dirty="0"/>
              <a:t> to the object</a:t>
            </a:r>
          </a:p>
          <a:p>
            <a:r>
              <a:rPr lang="en-US" dirty="0"/>
              <a:t>Also it is </a:t>
            </a:r>
            <a:r>
              <a:rPr lang="en-US" dirty="0">
                <a:solidFill>
                  <a:srgbClr val="C00000"/>
                </a:solidFill>
              </a:rPr>
              <a:t>not a unit vector </a:t>
            </a:r>
            <a:r>
              <a:rPr lang="en-US" dirty="0"/>
              <a:t>anymore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685800" y="5626224"/>
            <a:ext cx="2743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29000" y="5469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759" y="318782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685800" y="3492624"/>
            <a:ext cx="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85800" y="4940424"/>
            <a:ext cx="685800" cy="685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028700" y="4788024"/>
            <a:ext cx="495300" cy="4953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3102" y="47234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493" y="5574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871498" y="5593958"/>
            <a:ext cx="2743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614698" y="54372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21457" y="3155558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5871498" y="3460358"/>
            <a:ext cx="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871498" y="4908158"/>
            <a:ext cx="1840760" cy="685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6700173" y="4788024"/>
            <a:ext cx="1224627" cy="4307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38800" y="46912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2217" y="5574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3521891" y="3819966"/>
          <a:ext cx="14684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3" name="Denklem" r:id="rId3" imgW="927000" imgH="711000" progId="Equation.3">
                  <p:embed/>
                </p:oleObj>
              </mc:Choice>
              <mc:Fallback>
                <p:oleObj name="Denklem" r:id="rId3" imgW="927000" imgH="711000" progId="Equation.3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891" y="3819966"/>
                        <a:ext cx="1468438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3886200" y="3287360"/>
            <a:ext cx="98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Scale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180478" y="3810000"/>
                <a:ext cx="1410322" cy="972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𝒏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√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√2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478" y="3810000"/>
                <a:ext cx="1410322" cy="97270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204376" y="3730832"/>
                <a:ext cx="1410322" cy="972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𝒏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3/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√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√2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76" y="3730832"/>
                <a:ext cx="1410322" cy="97270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8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</a:t>
            </a:r>
            <a:r>
              <a:rPr lang="en-US" dirty="0" err="1"/>
              <a:t>Normals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Rotation and translation has no problems</a:t>
            </a:r>
          </a:p>
          <a:p>
            <a:r>
              <a:rPr lang="en-US" dirty="0"/>
              <a:t>But, since all transformations are combined into a single matrix M, we should consider the general case.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must have </a:t>
            </a:r>
            <a:r>
              <a:rPr lang="en-US" b="1" dirty="0"/>
              <a:t>n.</a:t>
            </a:r>
            <a:r>
              <a:rPr lang="en-US" dirty="0"/>
              <a:t>(</a:t>
            </a:r>
            <a:r>
              <a:rPr lang="en-US" b="1" dirty="0"/>
              <a:t>b</a:t>
            </a:r>
            <a:r>
              <a:rPr lang="en-US" dirty="0"/>
              <a:t>-</a:t>
            </a:r>
            <a:r>
              <a:rPr lang="en-US" b="1" dirty="0"/>
              <a:t>a</a:t>
            </a:r>
            <a:r>
              <a:rPr lang="en-US" dirty="0"/>
              <a:t>) = </a:t>
            </a:r>
            <a:r>
              <a:rPr lang="en-US" b="1" dirty="0" err="1"/>
              <a:t>n.v</a:t>
            </a:r>
            <a:r>
              <a:rPr lang="en-US" dirty="0"/>
              <a:t> = 0 and this relationship should be preserved after the transformation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Parallelogram 2"/>
          <p:cNvSpPr/>
          <p:nvPr/>
        </p:nvSpPr>
        <p:spPr>
          <a:xfrm>
            <a:off x="3048000" y="3731657"/>
            <a:ext cx="2590800" cy="1371600"/>
          </a:xfrm>
          <a:prstGeom prst="parallelogram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114800" y="3045857"/>
            <a:ext cx="0" cy="1371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55141" y="2667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4936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4922159" y="396978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62282" y="398883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276725" y="4012645"/>
            <a:ext cx="645857" cy="509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236359" y="449365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371403" y="40126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74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</a:t>
            </a:r>
            <a:r>
              <a:rPr lang="en-US" dirty="0" err="1"/>
              <a:t>Normals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is </a:t>
            </a:r>
            <a:r>
              <a:rPr lang="en-US" b="1" dirty="0" err="1"/>
              <a:t>n.v</a:t>
            </a:r>
            <a:r>
              <a:rPr lang="en-US" dirty="0"/>
              <a:t> = 0 and </a:t>
            </a:r>
            <a:r>
              <a:rPr lang="en-US" b="1" dirty="0" err="1"/>
              <a:t>n'</a:t>
            </a:r>
            <a:r>
              <a:rPr lang="en-US" dirty="0" err="1"/>
              <a:t>.</a:t>
            </a:r>
            <a:r>
              <a:rPr lang="en-US" b="1" dirty="0" err="1"/>
              <a:t>v</a:t>
            </a:r>
            <a:r>
              <a:rPr lang="en-US" b="1" dirty="0"/>
              <a:t>'</a:t>
            </a:r>
            <a:r>
              <a:rPr lang="en-US" dirty="0"/>
              <a:t> = 0 where </a:t>
            </a:r>
            <a:r>
              <a:rPr lang="en-US" b="1" dirty="0"/>
              <a:t>v'</a:t>
            </a:r>
            <a:r>
              <a:rPr lang="en-US" dirty="0"/>
              <a:t> = </a:t>
            </a:r>
            <a:r>
              <a:rPr lang="en-US" dirty="0" err="1"/>
              <a:t>M</a:t>
            </a:r>
            <a:r>
              <a:rPr lang="en-US" b="1" dirty="0" err="1"/>
              <a:t>v</a:t>
            </a:r>
            <a:r>
              <a:rPr lang="en-US" dirty="0"/>
              <a:t> and </a:t>
            </a:r>
            <a:r>
              <a:rPr lang="en-US" b="1" dirty="0"/>
              <a:t>n'</a:t>
            </a:r>
            <a:r>
              <a:rPr lang="en-US" dirty="0"/>
              <a:t> = Z</a:t>
            </a:r>
            <a:r>
              <a:rPr lang="en-US" b="1" dirty="0"/>
              <a:t>n</a:t>
            </a:r>
          </a:p>
          <a:p>
            <a:r>
              <a:rPr lang="en-US" dirty="0"/>
              <a:t>Z is the matrix we are looking for</a:t>
            </a:r>
          </a:p>
          <a:p>
            <a:r>
              <a:rPr lang="en-US" dirty="0"/>
              <a:t>How to compute Z?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581400" y="3352800"/>
            <a:ext cx="2590800" cy="2436257"/>
            <a:chOff x="3131459" y="3546991"/>
            <a:chExt cx="2590800" cy="2436257"/>
          </a:xfrm>
        </p:grpSpPr>
        <p:sp>
          <p:nvSpPr>
            <p:cNvPr id="3" name="Parallelogram 2"/>
            <p:cNvSpPr/>
            <p:nvPr/>
          </p:nvSpPr>
          <p:spPr>
            <a:xfrm>
              <a:off x="3131459" y="4611648"/>
              <a:ext cx="2590800" cy="1371600"/>
            </a:xfrm>
            <a:prstGeom prst="parallelogram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V="1">
              <a:off x="4198259" y="3925848"/>
              <a:ext cx="0" cy="1371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038600" y="3546991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98259" y="537364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5005618" y="4849773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45741" y="4868823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4360184" y="4892636"/>
              <a:ext cx="645857" cy="50958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4319818" y="537364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54999" y="49000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595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</a:t>
            </a:r>
            <a:r>
              <a:rPr lang="en-US" dirty="0" err="1"/>
              <a:t>Normals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n.v</a:t>
            </a:r>
            <a:r>
              <a:rPr lang="en-US" dirty="0"/>
              <a:t> = </a:t>
            </a:r>
            <a:r>
              <a:rPr lang="en-US" b="1" dirty="0" err="1"/>
              <a:t>n</a:t>
            </a:r>
            <a:r>
              <a:rPr lang="en-US" baseline="30000" dirty="0" err="1"/>
              <a:t>T</a:t>
            </a:r>
            <a:r>
              <a:rPr lang="en-US" b="1" dirty="0" err="1"/>
              <a:t>v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dirty="0"/>
              <a:t>0</a:t>
            </a:r>
          </a:p>
          <a:p>
            <a:r>
              <a:rPr lang="en-US" b="1" dirty="0" err="1"/>
              <a:t>n'.v</a:t>
            </a:r>
            <a:r>
              <a:rPr lang="en-US" b="1" dirty="0"/>
              <a:t>'</a:t>
            </a:r>
            <a:r>
              <a:rPr lang="en-US" dirty="0"/>
              <a:t> = </a:t>
            </a:r>
            <a:r>
              <a:rPr lang="en-US" b="1" dirty="0" err="1"/>
              <a:t>n'</a:t>
            </a:r>
            <a:r>
              <a:rPr lang="en-US" baseline="30000" dirty="0" err="1"/>
              <a:t>T</a:t>
            </a:r>
            <a:r>
              <a:rPr lang="en-US" b="1" dirty="0" err="1"/>
              <a:t>v</a:t>
            </a:r>
            <a:r>
              <a:rPr lang="en-US" b="1" dirty="0"/>
              <a:t>'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dirty="0" err="1"/>
              <a:t>n'</a:t>
            </a:r>
            <a:r>
              <a:rPr lang="en-US" baseline="30000" dirty="0" err="1"/>
              <a:t>T</a:t>
            </a:r>
            <a:r>
              <a:rPr lang="en-US" b="1" dirty="0"/>
              <a:t> </a:t>
            </a:r>
            <a:r>
              <a:rPr lang="en-US" dirty="0" err="1"/>
              <a:t>M</a:t>
            </a:r>
            <a:r>
              <a:rPr lang="en-US" b="1" dirty="0" err="1"/>
              <a:t>v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b="1" dirty="0" err="1"/>
              <a:t>n</a:t>
            </a:r>
            <a:r>
              <a:rPr lang="en-US" baseline="30000" dirty="0" err="1"/>
              <a:t>T</a:t>
            </a:r>
            <a:r>
              <a:rPr lang="en-US" dirty="0" err="1"/>
              <a:t>Z</a:t>
            </a:r>
            <a:r>
              <a:rPr lang="en-US" baseline="30000" dirty="0" err="1"/>
              <a:t>T</a:t>
            </a:r>
            <a:r>
              <a:rPr lang="en-US" dirty="0" err="1"/>
              <a:t>M</a:t>
            </a:r>
            <a:r>
              <a:rPr lang="en-US" b="1" dirty="0" err="1"/>
              <a:t>v</a:t>
            </a:r>
            <a:r>
              <a:rPr lang="en-US" b="1" dirty="0"/>
              <a:t> </a:t>
            </a:r>
            <a:r>
              <a:rPr lang="en-US" dirty="0"/>
              <a:t>= 0</a:t>
            </a:r>
          </a:p>
          <a:p>
            <a:r>
              <a:rPr lang="en-US" dirty="0"/>
              <a:t>If Z</a:t>
            </a:r>
            <a:r>
              <a:rPr lang="en-US" baseline="30000" dirty="0"/>
              <a:t>T</a:t>
            </a:r>
            <a:r>
              <a:rPr lang="en-US" dirty="0"/>
              <a:t>M = I (identity) the relationship will be preserved</a:t>
            </a:r>
          </a:p>
          <a:p>
            <a:r>
              <a:rPr lang="en-US" dirty="0"/>
              <a:t>So Z = (M</a:t>
            </a:r>
            <a:r>
              <a:rPr lang="en-US" baseline="30000" dirty="0"/>
              <a:t>-1</a:t>
            </a:r>
            <a:r>
              <a:rPr lang="en-US" dirty="0"/>
              <a:t>)</a:t>
            </a:r>
            <a:r>
              <a:rPr lang="en-US" baseline="30000" dirty="0"/>
              <a:t>T</a:t>
            </a:r>
          </a:p>
          <a:p>
            <a:r>
              <a:rPr lang="en-US" dirty="0"/>
              <a:t>Note that this is equal to (M</a:t>
            </a:r>
            <a:r>
              <a:rPr lang="en-US" baseline="30000" dirty="0"/>
              <a:t>T</a:t>
            </a:r>
            <a:r>
              <a:rPr lang="en-US" dirty="0"/>
              <a:t>)</a:t>
            </a:r>
            <a:r>
              <a:rPr lang="en-US" baseline="30000" dirty="0"/>
              <a:t>-1</a:t>
            </a:r>
            <a:r>
              <a:rPr lang="en-US" dirty="0"/>
              <a:t> as (M</a:t>
            </a:r>
            <a:r>
              <a:rPr lang="en-US" baseline="30000" dirty="0"/>
              <a:t>-1</a:t>
            </a:r>
            <a:r>
              <a:rPr lang="en-US" dirty="0"/>
              <a:t>)</a:t>
            </a:r>
            <a:r>
              <a:rPr lang="en-US" baseline="30000" dirty="0"/>
              <a:t>T</a:t>
            </a:r>
            <a:r>
              <a:rPr lang="en-US" dirty="0"/>
              <a:t>= (M</a:t>
            </a:r>
            <a:r>
              <a:rPr lang="en-US" baseline="30000" dirty="0"/>
              <a:t>T</a:t>
            </a:r>
            <a:r>
              <a:rPr lang="en-US" dirty="0"/>
              <a:t>)</a:t>
            </a:r>
            <a:r>
              <a:rPr lang="en-US" baseline="30000" dirty="0"/>
              <a:t>-1</a:t>
            </a:r>
            <a:r>
              <a:rPr lang="en-US" dirty="0"/>
              <a:t> for a square (n by n) matrix M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429000" y="3974068"/>
            <a:ext cx="2590800" cy="2350532"/>
            <a:chOff x="3048000" y="3821668"/>
            <a:chExt cx="2590800" cy="2350532"/>
          </a:xfrm>
        </p:grpSpPr>
        <p:sp>
          <p:nvSpPr>
            <p:cNvPr id="3" name="Parallelogram 2"/>
            <p:cNvSpPr/>
            <p:nvPr/>
          </p:nvSpPr>
          <p:spPr>
            <a:xfrm>
              <a:off x="3048000" y="4800600"/>
              <a:ext cx="2590800" cy="1371600"/>
            </a:xfrm>
            <a:prstGeom prst="parallelogram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V="1">
              <a:off x="4114800" y="4114800"/>
              <a:ext cx="0" cy="1371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3955141" y="38216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14800" y="5562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922159" y="5038725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62282" y="5057775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4276725" y="5081588"/>
              <a:ext cx="645857" cy="50958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4236359" y="5562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71540" y="508897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787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257D-7B35-C14B-AD39-934B4F3F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Another 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5139-E81A-624E-B995-422CD1E22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Remember the plane equation:</a:t>
            </a:r>
          </a:p>
          <a:p>
            <a:endParaRPr lang="en-TR" dirty="0"/>
          </a:p>
          <a:p>
            <a:endParaRPr lang="en-TR" dirty="0"/>
          </a:p>
          <a:p>
            <a:r>
              <a:rPr lang="en-TR" dirty="0"/>
              <a:t>If the plane is transformed by a matrix M:</a:t>
            </a:r>
          </a:p>
          <a:p>
            <a:endParaRPr lang="en-TR" dirty="0"/>
          </a:p>
          <a:p>
            <a:endParaRPr lang="en-TR" dirty="0"/>
          </a:p>
          <a:p>
            <a:endParaRPr lang="en-TR" dirty="0"/>
          </a:p>
          <a:p>
            <a:r>
              <a:rPr lang="en-TR" dirty="0"/>
              <a:t>Observe that Au.v = (Au)</a:t>
            </a:r>
            <a:r>
              <a:rPr lang="en-TR" baseline="30000" dirty="0"/>
              <a:t>T</a:t>
            </a:r>
            <a:r>
              <a:rPr lang="en-TR" dirty="0"/>
              <a:t>v = u</a:t>
            </a:r>
            <a:r>
              <a:rPr lang="en-TR" baseline="30000" dirty="0"/>
              <a:t>T</a:t>
            </a:r>
            <a:r>
              <a:rPr lang="en-TR" dirty="0"/>
              <a:t>A</a:t>
            </a:r>
            <a:r>
              <a:rPr lang="en-TR" baseline="30000" dirty="0"/>
              <a:t>T</a:t>
            </a:r>
            <a:r>
              <a:rPr lang="en-TR" dirty="0"/>
              <a:t>v = u.(A</a:t>
            </a:r>
            <a:r>
              <a:rPr lang="en-TR" baseline="30000" dirty="0"/>
              <a:t>T</a:t>
            </a:r>
            <a:r>
              <a:rPr lang="en-TR" dirty="0"/>
              <a:t>v)</a:t>
            </a:r>
          </a:p>
          <a:p>
            <a:pPr marL="0" indent="0">
              <a:buNone/>
            </a:pPr>
            <a:endParaRPr lang="en-TR" dirty="0"/>
          </a:p>
          <a:p>
            <a:endParaRPr lang="en-TR" dirty="0"/>
          </a:p>
          <a:p>
            <a:endParaRPr lang="en-T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2E684-04DD-0843-B605-E78A5B41D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FD0A2-B479-D941-A0E0-31D2440F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24936-B8EB-D048-B894-624C5C55A741}"/>
              </a:ext>
            </a:extLst>
          </p:cNvPr>
          <p:cNvSpPr txBox="1"/>
          <p:nvPr/>
        </p:nvSpPr>
        <p:spPr>
          <a:xfrm>
            <a:off x="3733800" y="2286000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000" dirty="0"/>
              <a:t>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</a:t>
            </a:r>
            <a:r>
              <a:rPr lang="en-TR" sz="2000" dirty="0"/>
              <a:t> = 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03F37-1D5F-9E4F-88DA-DEE60F7360F9}"/>
              </a:ext>
            </a:extLst>
          </p:cNvPr>
          <p:cNvSpPr txBox="1"/>
          <p:nvPr/>
        </p:nvSpPr>
        <p:spPr>
          <a:xfrm>
            <a:off x="3190383" y="3429000"/>
            <a:ext cx="24320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sz="2000" dirty="0"/>
              <a:t>(M</a:t>
            </a:r>
            <a:r>
              <a:rPr lang="en-TR" sz="2000" b="1" dirty="0"/>
              <a:t>x</a:t>
            </a:r>
            <a:r>
              <a:rPr lang="en-TR" sz="2000" dirty="0"/>
              <a:t> – M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n’</a:t>
            </a:r>
            <a:r>
              <a:rPr lang="en-TR" sz="2000" dirty="0"/>
              <a:t> = 0</a:t>
            </a:r>
          </a:p>
          <a:p>
            <a:pPr algn="ctr"/>
            <a:r>
              <a:rPr lang="en-TR" sz="2000" dirty="0"/>
              <a:t>M(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n’</a:t>
            </a:r>
            <a:r>
              <a:rPr lang="en-TR" sz="2000" dirty="0"/>
              <a:t> = 0 </a:t>
            </a:r>
          </a:p>
          <a:p>
            <a:pPr algn="ctr"/>
            <a:r>
              <a:rPr lang="en-TR" sz="2000" dirty="0"/>
              <a:t>M(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n’ =</a:t>
            </a:r>
            <a:r>
              <a:rPr lang="en-TR" sz="2000" dirty="0"/>
              <a:t> 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</a:t>
            </a:r>
            <a:endParaRPr lang="en-TR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CC40B3-9696-9140-9672-8582BE78D866}"/>
              </a:ext>
            </a:extLst>
          </p:cNvPr>
          <p:cNvSpPr/>
          <p:nvPr/>
        </p:nvSpPr>
        <p:spPr>
          <a:xfrm>
            <a:off x="2501582" y="5162490"/>
            <a:ext cx="4060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TR" sz="2000" dirty="0"/>
              <a:t>M(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n’ =</a:t>
            </a:r>
            <a:r>
              <a:rPr lang="en-TR" sz="2000" dirty="0"/>
              <a:t> 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).(M</a:t>
            </a:r>
            <a:r>
              <a:rPr lang="en-TR" sz="2000" baseline="30000" dirty="0"/>
              <a:t>T</a:t>
            </a:r>
            <a:r>
              <a:rPr lang="en-TR" sz="2000" b="1" dirty="0"/>
              <a:t>n’</a:t>
            </a:r>
            <a:r>
              <a:rPr lang="en-TR" sz="2000" dirty="0"/>
              <a:t>) = (</a:t>
            </a:r>
            <a:r>
              <a:rPr lang="en-TR" sz="2000" b="1" dirty="0"/>
              <a:t>x</a:t>
            </a:r>
            <a:r>
              <a:rPr lang="en-TR" sz="2000" dirty="0"/>
              <a:t> – </a:t>
            </a:r>
            <a:r>
              <a:rPr lang="en-TR" sz="2000" b="1" dirty="0"/>
              <a:t>p</a:t>
            </a:r>
            <a:r>
              <a:rPr lang="en-TR" sz="2000" dirty="0"/>
              <a:t>).</a:t>
            </a:r>
            <a:r>
              <a:rPr lang="en-TR" sz="2000" b="1" dirty="0"/>
              <a:t>n</a:t>
            </a:r>
            <a:endParaRPr lang="en-TR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E5726F-0255-6A49-9D8E-7F900701DA2B}"/>
              </a:ext>
            </a:extLst>
          </p:cNvPr>
          <p:cNvSpPr/>
          <p:nvPr/>
        </p:nvSpPr>
        <p:spPr>
          <a:xfrm>
            <a:off x="3168326" y="5540514"/>
            <a:ext cx="24761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TR" sz="2000" dirty="0"/>
              <a:t>M</a:t>
            </a:r>
            <a:r>
              <a:rPr lang="en-TR" sz="2000" baseline="30000" dirty="0"/>
              <a:t>T</a:t>
            </a:r>
            <a:r>
              <a:rPr lang="en-TR" sz="2000" b="1" dirty="0"/>
              <a:t>n’ = n</a:t>
            </a:r>
          </a:p>
          <a:p>
            <a:pPr algn="ctr"/>
            <a:r>
              <a:rPr lang="en-TR" sz="2000" b="1" dirty="0"/>
              <a:t>n’ = (M</a:t>
            </a:r>
            <a:r>
              <a:rPr lang="en-TR" sz="2000" b="1" baseline="30000" dirty="0"/>
              <a:t>T</a:t>
            </a:r>
            <a:r>
              <a:rPr lang="en-TR" sz="2000" b="1" dirty="0"/>
              <a:t>)</a:t>
            </a:r>
            <a:r>
              <a:rPr lang="en-TR" sz="2000" b="1" baseline="30000" dirty="0"/>
              <a:t>-1</a:t>
            </a:r>
            <a:r>
              <a:rPr lang="en-TR" sz="2000" b="1" dirty="0"/>
              <a:t>n = (M</a:t>
            </a:r>
            <a:r>
              <a:rPr lang="en-TR" sz="2000" b="1" baseline="30000" dirty="0"/>
              <a:t>-1</a:t>
            </a:r>
            <a:r>
              <a:rPr lang="en-TR" sz="2000" b="1" dirty="0"/>
              <a:t>)</a:t>
            </a:r>
            <a:r>
              <a:rPr lang="en-TR" sz="2000" b="1" baseline="30000" dirty="0"/>
              <a:t>T</a:t>
            </a:r>
            <a:r>
              <a:rPr lang="en-TR" sz="2000" b="1" dirty="0"/>
              <a:t>n </a:t>
            </a:r>
            <a:r>
              <a:rPr lang="en-TR" sz="2000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2F8140-A86C-A744-903F-C684520CFF9E}"/>
              </a:ext>
            </a:extLst>
          </p:cNvPr>
          <p:cNvGrpSpPr/>
          <p:nvPr/>
        </p:nvGrpSpPr>
        <p:grpSpPr>
          <a:xfrm>
            <a:off x="6705600" y="2486055"/>
            <a:ext cx="2097674" cy="1972546"/>
            <a:chOff x="3131459" y="3546991"/>
            <a:chExt cx="2590800" cy="2436257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F6F974B5-1048-DE4F-A606-F460DCD32F15}"/>
                </a:ext>
              </a:extLst>
            </p:cNvPr>
            <p:cNvSpPr/>
            <p:nvPr/>
          </p:nvSpPr>
          <p:spPr>
            <a:xfrm>
              <a:off x="3131459" y="4611648"/>
              <a:ext cx="2590800" cy="1371600"/>
            </a:xfrm>
            <a:prstGeom prst="parallelogram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E0A6E40-57FB-704E-9396-A0911AD77744}"/>
                </a:ext>
              </a:extLst>
            </p:cNvPr>
            <p:cNvCxnSpPr/>
            <p:nvPr/>
          </p:nvCxnSpPr>
          <p:spPr>
            <a:xfrm flipV="1">
              <a:off x="4198259" y="3925848"/>
              <a:ext cx="0" cy="1371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CE3C32-7BDF-F444-A46E-83090F40D8B8}"/>
                </a:ext>
              </a:extLst>
            </p:cNvPr>
            <p:cNvSpPr txBox="1"/>
            <p:nvPr/>
          </p:nvSpPr>
          <p:spPr>
            <a:xfrm>
              <a:off x="4038600" y="3546991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1F2256-486A-5D46-8601-9EB54EC0479E}"/>
                </a:ext>
              </a:extLst>
            </p:cNvPr>
            <p:cNvSpPr txBox="1"/>
            <p:nvPr/>
          </p:nvSpPr>
          <p:spPr>
            <a:xfrm>
              <a:off x="4198259" y="537364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01A7ED7-A5DE-EE49-954C-D88EC54796E4}"/>
                </a:ext>
              </a:extLst>
            </p:cNvPr>
            <p:cNvSpPr/>
            <p:nvPr/>
          </p:nvSpPr>
          <p:spPr>
            <a:xfrm>
              <a:off x="5005618" y="4849773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0CABD6-1C05-3C46-9C35-25F34497F702}"/>
                </a:ext>
              </a:extLst>
            </p:cNvPr>
            <p:cNvSpPr txBox="1"/>
            <p:nvPr/>
          </p:nvSpPr>
          <p:spPr>
            <a:xfrm>
              <a:off x="4945741" y="4868823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A290D29-357A-7A4F-B98B-57AB12CE289A}"/>
                </a:ext>
              </a:extLst>
            </p:cNvPr>
            <p:cNvCxnSpPr/>
            <p:nvPr/>
          </p:nvCxnSpPr>
          <p:spPr>
            <a:xfrm flipV="1">
              <a:off x="4360184" y="4892636"/>
              <a:ext cx="645857" cy="50958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6897CCC-DF91-DA4D-A15D-E8C771EBFFAD}"/>
                </a:ext>
              </a:extLst>
            </p:cNvPr>
            <p:cNvSpPr/>
            <p:nvPr/>
          </p:nvSpPr>
          <p:spPr>
            <a:xfrm>
              <a:off x="4319818" y="537364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76066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C284-0319-D04A-B9BC-4AE53BE8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Transforming Normals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4DC1-F016-724F-91A2-C86F1AAE6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TR" dirty="0"/>
              <a:t>Note that normals (like any other vector) are not affected by translation</a:t>
            </a:r>
          </a:p>
          <a:p>
            <a:r>
              <a:rPr lang="en-TR" dirty="0"/>
              <a:t>So it is sufficient to apply the inverse transpose to the upper 3x3 portion of the modeling matrix</a:t>
            </a:r>
          </a:p>
          <a:p>
            <a:endParaRPr lang="en-TR" dirty="0"/>
          </a:p>
          <a:p>
            <a:endParaRPr lang="en-TR" dirty="0"/>
          </a:p>
          <a:p>
            <a:endParaRPr lang="en-TR" dirty="0"/>
          </a:p>
          <a:p>
            <a:endParaRPr lang="en-TR" dirty="0"/>
          </a:p>
          <a:p>
            <a:r>
              <a:rPr lang="en-TR" dirty="0"/>
              <a:t>The 3x1 normal vector can be multiplied with the inverse transpose of this part only (if you use the full 4x4 matrix and 4x1 normal with w = 0, you must ignore the value of the resulting w component)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D2C62-C815-CB49-99BC-BB58C0A6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3AE3C-8227-BC47-B1C1-D1380225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853B42-5854-CB45-9411-89416671E268}"/>
                  </a:ext>
                </a:extLst>
              </p:cNvPr>
              <p:cNvSpPr txBox="1"/>
              <p:nvPr/>
            </p:nvSpPr>
            <p:spPr>
              <a:xfrm>
                <a:off x="3962400" y="3463530"/>
                <a:ext cx="1492588" cy="1032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853B42-5854-CB45-9411-89416671E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463530"/>
                <a:ext cx="1492588" cy="1032270"/>
              </a:xfrm>
              <a:prstGeom prst="rect">
                <a:avLst/>
              </a:prstGeom>
              <a:blipFill>
                <a:blip r:embed="rId2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85B8CA11-578F-EA4A-933C-CDB56D2E5D1F}"/>
              </a:ext>
            </a:extLst>
          </p:cNvPr>
          <p:cNvSpPr/>
          <p:nvPr/>
        </p:nvSpPr>
        <p:spPr>
          <a:xfrm>
            <a:off x="3967655" y="3387330"/>
            <a:ext cx="1145687" cy="925907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651287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Until now, we performed transformations by multiplying our points from the right: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Another notation is to multiply from the left: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0400" y="2743200"/>
                <a:ext cx="2637517" cy="104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743200"/>
                <a:ext cx="2637517" cy="10412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14400" y="4881841"/>
                <a:ext cx="4954626" cy="1111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𝑒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𝑔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𝑖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𝑙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81841"/>
                <a:ext cx="4954626" cy="11114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05565" y="5114404"/>
            <a:ext cx="2428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in this case</a:t>
            </a:r>
          </a:p>
          <a:p>
            <a:r>
              <a:rPr lang="en-US" dirty="0"/>
              <a:t>everything is transposed</a:t>
            </a:r>
          </a:p>
        </p:txBody>
      </p:sp>
    </p:spTree>
    <p:extLst>
      <p:ext uri="{BB962C8B-B14F-4D97-AF65-F5344CB8AC3E}">
        <p14:creationId xmlns:p14="http://schemas.microsoft.com/office/powerpoint/2010/main" val="160413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2D rotation matrix such as: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Transforming an object by this matrix will not change its shape</a:t>
            </a:r>
          </a:p>
          <a:p>
            <a:r>
              <a:rPr lang="en-US" dirty="0"/>
              <a:t>If we also apply translation: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shape will remain intact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66888" y="2362200"/>
                <a:ext cx="2276712" cy="766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cos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888" y="2362200"/>
                <a:ext cx="2276712" cy="7661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F22CCF-871A-5843-9B40-5C17D35FDACD}"/>
                  </a:ext>
                </a:extLst>
              </p:cNvPr>
              <p:cNvSpPr txBox="1"/>
              <p:nvPr/>
            </p:nvSpPr>
            <p:spPr>
              <a:xfrm>
                <a:off x="1510915" y="4419600"/>
                <a:ext cx="6566285" cy="1071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charset="0"/>
                                  </a:rPr>
                                  <m:t>cos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>
                                    <a:latin typeface="Cambria Math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charset="0"/>
                                  </a:rPr>
                                  <m:t>cos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F22CCF-871A-5843-9B40-5C17D35F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915" y="4419600"/>
                <a:ext cx="6566285" cy="1071768"/>
              </a:xfrm>
              <a:prstGeom prst="rect">
                <a:avLst/>
              </a:prstGeom>
              <a:blipFill>
                <a:blip r:embed="rId3"/>
                <a:stretch>
                  <a:fillRect t="-4706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124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an </a:t>
            </a:r>
            <a:r>
              <a:rPr lang="en-US" b="1" dirty="0"/>
              <a:t>arbitrary sequence</a:t>
            </a:r>
            <a:r>
              <a:rPr lang="en-US" dirty="0"/>
              <a:t> of rotation and translation matrices will have the following form: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Such transformations are called </a:t>
            </a:r>
            <a:r>
              <a:rPr lang="en-US" dirty="0">
                <a:solidFill>
                  <a:schemeClr val="accent1"/>
                </a:solidFill>
              </a:rPr>
              <a:t>rigid-body</a:t>
            </a:r>
            <a:r>
              <a:rPr lang="en-US" dirty="0"/>
              <a:t> transformations</a:t>
            </a:r>
          </a:p>
          <a:p>
            <a:r>
              <a:rPr lang="en-US" dirty="0"/>
              <a:t>A shape may be rotated and translated but its form is not altered in any way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52800" y="2725409"/>
                <a:ext cx="1401281" cy="693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725409"/>
                <a:ext cx="1401281" cy="693651"/>
              </a:xfrm>
              <a:prstGeom prst="rect">
                <a:avLst/>
              </a:prstGeom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BC601A-ADE1-514A-AD6C-78B8B2FAA626}"/>
              </a:ext>
            </a:extLst>
          </p:cNvPr>
          <p:cNvSpPr txBox="1"/>
          <p:nvPr/>
        </p:nvSpPr>
        <p:spPr>
          <a:xfrm>
            <a:off x="5105400" y="2725409"/>
            <a:ext cx="358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p, q may contain the effect of</a:t>
            </a:r>
          </a:p>
          <a:p>
            <a:r>
              <a:rPr lang="en-US" dirty="0"/>
              <a:t>rotation as well</a:t>
            </a:r>
          </a:p>
        </p:txBody>
      </p:sp>
    </p:spTree>
    <p:extLst>
      <p:ext uri="{BB962C8B-B14F-4D97-AF65-F5344CB8AC3E}">
        <p14:creationId xmlns:p14="http://schemas.microsoft.com/office/powerpoint/2010/main" val="17146825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also adding scaling to the mix</a:t>
            </a:r>
          </a:p>
          <a:p>
            <a:r>
              <a:rPr lang="en-US" dirty="0"/>
              <a:t>The matrix will now look like: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Such transformations will not necessarily preserve lengths and angles, but parallel lines will remain parallel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38400" y="2743200"/>
                <a:ext cx="1106329" cy="7471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743200"/>
                <a:ext cx="1106329" cy="747128"/>
              </a:xfrm>
              <a:prstGeom prst="rect">
                <a:avLst/>
              </a:prstGeom>
              <a:blipFill>
                <a:blip r:embed="rId2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267200" y="2658070"/>
            <a:ext cx="383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a, b, c, d contain the effect of</a:t>
            </a:r>
          </a:p>
          <a:p>
            <a:r>
              <a:rPr lang="en-US" dirty="0"/>
              <a:t>rotation and scaling combined, and e, f</a:t>
            </a:r>
          </a:p>
          <a:p>
            <a:r>
              <a:rPr lang="en-US" dirty="0"/>
              <a:t>contain the effects of all three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4953000"/>
            <a:ext cx="7620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8900000">
            <a:off x="3783016" y="5029199"/>
            <a:ext cx="7620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/>
          <p:cNvSpPr/>
          <p:nvPr/>
        </p:nvSpPr>
        <p:spPr>
          <a:xfrm>
            <a:off x="5597992" y="4876800"/>
            <a:ext cx="2286000" cy="91440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498372" y="57912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4281" y="592774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6232" y="5871802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Rotation </a:t>
            </a:r>
            <a:r>
              <a:rPr lang="en-US"/>
              <a:t>and scaling</a:t>
            </a:r>
          </a:p>
        </p:txBody>
      </p:sp>
    </p:spTree>
    <p:extLst>
      <p:ext uri="{BB962C8B-B14F-4D97-AF65-F5344CB8AC3E}">
        <p14:creationId xmlns:p14="http://schemas.microsoft.com/office/powerpoint/2010/main" val="3332076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Such transformations are called </a:t>
            </a:r>
            <a:r>
              <a:rPr lang="en-US" dirty="0">
                <a:solidFill>
                  <a:schemeClr val="accent1"/>
                </a:solidFill>
              </a:rPr>
              <a:t>affine</a:t>
            </a:r>
            <a:r>
              <a:rPr lang="en-US" dirty="0"/>
              <a:t> transformations</a:t>
            </a:r>
          </a:p>
          <a:p>
            <a:r>
              <a:rPr lang="en-US" dirty="0"/>
              <a:t>An arbitrary sequence of rotation, translation, scaling, and shearing will produce an affine transformation</a:t>
            </a:r>
          </a:p>
          <a:p>
            <a:r>
              <a:rPr lang="en-US" dirty="0"/>
              <a:t>Note that we still have some degrees of freedom left in the last row of our matrix. In 3D this will look like: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using this we can create </a:t>
            </a:r>
            <a:r>
              <a:rPr lang="en-US" dirty="0">
                <a:solidFill>
                  <a:schemeClr val="accent1"/>
                </a:solidFill>
              </a:rPr>
              <a:t>projective</a:t>
            </a:r>
            <a:r>
              <a:rPr lang="en-US" dirty="0"/>
              <a:t> transformations in which parallel lines may no longer be parallel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19BDFA-8BBB-C045-B81F-5D6D4D9293FE}"/>
                  </a:ext>
                </a:extLst>
              </p:cNvPr>
              <p:cNvSpPr txBox="1"/>
              <p:nvPr/>
            </p:nvSpPr>
            <p:spPr>
              <a:xfrm>
                <a:off x="3917612" y="3810000"/>
                <a:ext cx="1492588" cy="1032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19BDFA-8BBB-C045-B81F-5D6D4D929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612" y="3810000"/>
                <a:ext cx="1492588" cy="1032270"/>
              </a:xfrm>
              <a:prstGeom prst="rect">
                <a:avLst/>
              </a:prstGeom>
              <a:blipFill>
                <a:blip r:embed="rId2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DE50E5-632E-104F-9502-A7497AB8B2CC}"/>
              </a:ext>
            </a:extLst>
          </p:cNvPr>
          <p:cNvSpPr/>
          <p:nvPr/>
        </p:nvSpPr>
        <p:spPr>
          <a:xfrm>
            <a:off x="3917612" y="4599062"/>
            <a:ext cx="1126800" cy="32485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48812"/>
      </p:ext>
    </p:extLst>
  </p:cSld>
  <p:clrMapOvr>
    <a:masterClrMapping/>
  </p:clrMapOvr>
</p:sld>
</file>

<file path=ppt/theme/theme1.xml><?xml version="1.0" encoding="utf-8"?>
<a:theme xmlns:a="http://schemas.openxmlformats.org/drawingml/2006/main" name="1_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2868</Words>
  <Application>Microsoft Office PowerPoint</Application>
  <PresentationFormat>On-screen Show (4:3)</PresentationFormat>
  <Paragraphs>699</Paragraphs>
  <Slides>60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73" baseType="lpstr">
      <vt:lpstr>Arial</vt:lpstr>
      <vt:lpstr>BentonSansTRUMed</vt:lpstr>
      <vt:lpstr>BentonSansTRUReg</vt:lpstr>
      <vt:lpstr>Calibri</vt:lpstr>
      <vt:lpstr>Cambria Math</vt:lpstr>
      <vt:lpstr>Nimbus Roman No9 L</vt:lpstr>
      <vt:lpstr>StarSymbol</vt:lpstr>
      <vt:lpstr>Times New Roman</vt:lpstr>
      <vt:lpstr>Verdana</vt:lpstr>
      <vt:lpstr>1_metu</vt:lpstr>
      <vt:lpstr>Equation</vt:lpstr>
      <vt:lpstr>Equation.3</vt:lpstr>
      <vt:lpstr>Denklem</vt:lpstr>
      <vt:lpstr>CENG 477 Introduction to Computer Graphics</vt:lpstr>
      <vt:lpstr>Modeling Transformations</vt:lpstr>
      <vt:lpstr>Basic Geometric Transformations</vt:lpstr>
      <vt:lpstr>Translation</vt:lpstr>
      <vt:lpstr>Rotation</vt:lpstr>
      <vt:lpstr>Rotation</vt:lpstr>
      <vt:lpstr>Rotation</vt:lpstr>
      <vt:lpstr>Scaling</vt:lpstr>
      <vt:lpstr>Homogenous Coordinates</vt:lpstr>
      <vt:lpstr>Homogenous Coordinates</vt:lpstr>
      <vt:lpstr>Homogenous Coordinates</vt:lpstr>
      <vt:lpstr>Homogenous Coordinates</vt:lpstr>
      <vt:lpstr>Homogenous Coordinates</vt:lpstr>
      <vt:lpstr>Homogenous Coordinates</vt:lpstr>
      <vt:lpstr> Transformations in HC</vt:lpstr>
      <vt:lpstr>Transforming Vectors</vt:lpstr>
      <vt:lpstr>Composite Transformations</vt:lpstr>
      <vt:lpstr>Composite Transformations</vt:lpstr>
      <vt:lpstr>Composite Transformations</vt:lpstr>
      <vt:lpstr>Rotation Around a Pivot Point</vt:lpstr>
      <vt:lpstr>Rotation Around a Pivot Point</vt:lpstr>
      <vt:lpstr>Rotation Around a Pivot Point</vt:lpstr>
      <vt:lpstr>Rotation Around a Pivot Point</vt:lpstr>
      <vt:lpstr>Scaling w.r.t. a Fixed Point</vt:lpstr>
      <vt:lpstr>Order of matrix compositions</vt:lpstr>
      <vt:lpstr>Other Transformations</vt:lpstr>
      <vt:lpstr>Other Transformations</vt:lpstr>
      <vt:lpstr>3D Transformations</vt:lpstr>
      <vt:lpstr>Translation</vt:lpstr>
      <vt:lpstr>Rotation</vt:lpstr>
      <vt:lpstr>Rotation Around Major Axes</vt:lpstr>
      <vt:lpstr>Rotation Around a Parallel Axis</vt:lpstr>
      <vt:lpstr>Rotation Around an Arbitrary Axis</vt:lpstr>
      <vt:lpstr>Rotation Around an Arbitrary Axis</vt:lpstr>
      <vt:lpstr>Rotation Around an Arbitrary Axis</vt:lpstr>
      <vt:lpstr>Rotation Around an Arbitrary Axis</vt:lpstr>
      <vt:lpstr>Rotation Around an Arbitrary Axis</vt:lpstr>
      <vt:lpstr>Rotation Around an Arbitrary Axis</vt:lpstr>
      <vt:lpstr>Rotation Around an Arbitrary Axis</vt:lpstr>
      <vt:lpstr>Rotation Around an Arbitrary Axis</vt:lpstr>
      <vt:lpstr>Rotation Around an Arbitrary Axis</vt:lpstr>
      <vt:lpstr>Alternative Method</vt:lpstr>
      <vt:lpstr>Alternative Method</vt:lpstr>
      <vt:lpstr>Alternative Method</vt:lpstr>
      <vt:lpstr>Alternative Method</vt:lpstr>
      <vt:lpstr>Scaling</vt:lpstr>
      <vt:lpstr>Scaling w.r.t. a Fixed Point</vt:lpstr>
      <vt:lpstr>Reflection</vt:lpstr>
      <vt:lpstr>Transforming Normals</vt:lpstr>
      <vt:lpstr>Transforming Normals</vt:lpstr>
      <vt:lpstr>Transforming Normals</vt:lpstr>
      <vt:lpstr>Transforming Normals</vt:lpstr>
      <vt:lpstr>Transforming Normals</vt:lpstr>
      <vt:lpstr>Another Derivation</vt:lpstr>
      <vt:lpstr>Transforming Normals</vt:lpstr>
      <vt:lpstr>A Word on Notation</vt:lpstr>
      <vt:lpstr>A Word on Terminology</vt:lpstr>
      <vt:lpstr>A Word on Terminology</vt:lpstr>
      <vt:lpstr>A Word on Terminology</vt:lpstr>
      <vt:lpstr>A Word on Terminology</vt:lpstr>
    </vt:vector>
  </TitlesOfParts>
  <Company>AMD,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oguz</dc:creator>
  <cp:lastModifiedBy>Ahmet Akyuz</cp:lastModifiedBy>
  <cp:revision>465</cp:revision>
  <cp:lastPrinted>2018-11-05T07:50:22Z</cp:lastPrinted>
  <dcterms:created xsi:type="dcterms:W3CDTF">2011-10-08T08:51:54Z</dcterms:created>
  <dcterms:modified xsi:type="dcterms:W3CDTF">2025-11-03T05:00:33Z</dcterms:modified>
</cp:coreProperties>
</file>