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2" r:id="rId1"/>
  </p:sldMasterIdLst>
  <p:notesMasterIdLst>
    <p:notesMasterId r:id="rId36"/>
  </p:notesMasterIdLst>
  <p:handoutMasterIdLst>
    <p:handoutMasterId r:id="rId37"/>
  </p:handoutMasterIdLst>
  <p:sldIdLst>
    <p:sldId id="256" r:id="rId2"/>
    <p:sldId id="373" r:id="rId3"/>
    <p:sldId id="374" r:id="rId4"/>
    <p:sldId id="375" r:id="rId5"/>
    <p:sldId id="376" r:id="rId6"/>
    <p:sldId id="477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479" r:id="rId15"/>
    <p:sldId id="480" r:id="rId16"/>
    <p:sldId id="481" r:id="rId17"/>
    <p:sldId id="483" r:id="rId18"/>
    <p:sldId id="478" r:id="rId19"/>
    <p:sldId id="482" r:id="rId20"/>
    <p:sldId id="384" r:id="rId21"/>
    <p:sldId id="386" r:id="rId22"/>
    <p:sldId id="484" r:id="rId23"/>
    <p:sldId id="485" r:id="rId24"/>
    <p:sldId id="486" r:id="rId25"/>
    <p:sldId id="493" r:id="rId26"/>
    <p:sldId id="494" r:id="rId27"/>
    <p:sldId id="487" r:id="rId28"/>
    <p:sldId id="488" r:id="rId29"/>
    <p:sldId id="489" r:id="rId30"/>
    <p:sldId id="490" r:id="rId31"/>
    <p:sldId id="491" r:id="rId32"/>
    <p:sldId id="492" r:id="rId33"/>
    <p:sldId id="393" r:id="rId34"/>
    <p:sldId id="49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D0101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 autoAdjust="0"/>
    <p:restoredTop sz="85804" autoAdjust="0"/>
  </p:normalViewPr>
  <p:slideViewPr>
    <p:cSldViewPr>
      <p:cViewPr varScale="1">
        <p:scale>
          <a:sx n="77" d="100"/>
          <a:sy n="77" d="100"/>
        </p:scale>
        <p:origin x="9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AE555-3BD8-44AE-81B8-CEBC11108DAD}" type="datetimeFigureOut">
              <a:rPr lang="en-US" smtClean="0"/>
              <a:t>12/4/17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0FF40-7AE5-4172-A97C-1AA3AC2F7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48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t>12/4/17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no connectivity information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at least write variable gl_Position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can access lighting, materials, textures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no access to frame buffer</a:t>
            </a:r>
          </a:p>
        </p:txBody>
      </p:sp>
    </p:spTree>
    <p:extLst>
      <p:ext uri="{BB962C8B-B14F-4D97-AF65-F5344CB8AC3E}">
        <p14:creationId xmlns:p14="http://schemas.microsoft.com/office/powerpoint/2010/main" val="151062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operates on single fragments - no neighbor information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can’t change pixel coordinate but has access to it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depth can be written</a:t>
            </a:r>
          </a:p>
          <a:p>
            <a:pPr eaLnBrk="1" hangingPunct="1"/>
            <a:r>
              <a:rPr lang="en-US" sz="2300" smtClean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no access to frame buffer (blending occurs after fragment shader)</a:t>
            </a:r>
          </a:p>
        </p:txBody>
      </p:sp>
    </p:spTree>
    <p:extLst>
      <p:ext uri="{BB962C8B-B14F-4D97-AF65-F5344CB8AC3E}">
        <p14:creationId xmlns:p14="http://schemas.microsoft.com/office/powerpoint/2010/main" val="532451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3859C8-7778-4D49-95EB-7A1A11E25650}" type="slidenum">
              <a:rPr lang="en-US"/>
              <a:pPr/>
              <a:t>33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9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1FDBB18-CC0B-4C23-AC77-CADD4DA09F12}" type="datetime1">
              <a:rPr lang="en-US" smtClean="0"/>
              <a:t>12/4/17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68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61FB21-D8B5-467B-896D-951772A77EE9}" type="datetime1">
              <a:rPr lang="en-US" smtClean="0"/>
              <a:t>12/4/17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80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347EB47-CF21-44E2-A47C-D579B4155BD5}" type="datetime1">
              <a:rPr lang="en-US" smtClean="0"/>
              <a:t>12/4/17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1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EC5A150-197B-4490-AD8A-6CCA4BE03439}" type="datetime1">
              <a:rPr lang="en-US" smtClean="0"/>
              <a:t>12/4/17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8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1272D7C-5E65-4E0D-8558-646481959FEE}" type="datetime1">
              <a:rPr lang="en-US" smtClean="0"/>
              <a:t>12/4/17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7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4E34DF-6EB0-4E20-B5A8-B0FD8590D5AC}" type="datetime1">
              <a:rPr lang="en-US" smtClean="0"/>
              <a:t>12/4/17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8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3966EF9-D429-49A1-9F6D-E38A41D9AAA7}" type="datetime1">
              <a:rPr lang="en-US" smtClean="0"/>
              <a:t>12/4/17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9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A1471F4-699D-4C2F-850F-9177219FC319}" type="datetime1">
              <a:rPr lang="en-US" smtClean="0"/>
              <a:t>12/4/17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24CDDE-ACBA-4839-A011-2773F9E65055}" type="datetime1">
              <a:rPr lang="en-US" smtClean="0"/>
              <a:t>12/4/17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9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EF5FE90-ADF9-4EA3-94F1-00EDF3518969}" type="datetime1">
              <a:rPr lang="en-US" smtClean="0"/>
              <a:t>12/4/17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D3784B-B4B9-46A8-A734-894FA3FC75D2}" type="datetime1">
              <a:rPr lang="en-US" smtClean="0"/>
              <a:t>12/4/17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9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CB7A51D-85FE-44C3-AE26-E001E5B405FB}" type="datetime1">
              <a:rPr lang="en-US" smtClean="0"/>
              <a:t>12/4/17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4039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8A9BD691-F1B9-4D34-8B6B-B693B85B84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8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762000" y="40005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86300" y="1905000"/>
            <a:ext cx="37719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CA8E29C-5C10-4963-9192-44E4FBEE750E}" type="datetime1">
              <a:rPr lang="en-US" smtClean="0"/>
              <a:t>12/4/17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4039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583573E1-4C5C-46EC-88AD-F330D1C2AD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3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lighthouse3d.com/tutorials/glsl-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</a:t>
            </a:r>
            <a:r>
              <a:rPr lang="en-US" dirty="0" smtClean="0"/>
              <a:t>477</a:t>
            </a:r>
            <a:br>
              <a:rPr lang="en-US" dirty="0" smtClean="0"/>
            </a:br>
            <a:r>
              <a:rPr lang="en-US" dirty="0" smtClean="0"/>
              <a:t>Introduction to Computer Graphics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OpenGL </a:t>
            </a:r>
            <a:r>
              <a:rPr lang="en-US" dirty="0"/>
              <a:t>and Programmable </a:t>
            </a:r>
            <a:r>
              <a:rPr lang="en-US" dirty="0" err="1"/>
              <a:t>Shaders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Shaders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shader</a:t>
            </a:r>
            <a:r>
              <a:rPr lang="en-US" dirty="0" smtClean="0"/>
              <a:t> is:</a:t>
            </a:r>
          </a:p>
          <a:p>
            <a:pPr lvl="1"/>
            <a:r>
              <a:rPr lang="en-US" dirty="0" smtClean="0"/>
              <a:t>Programmable </a:t>
            </a:r>
            <a:r>
              <a:rPr lang="en-US" dirty="0"/>
              <a:t>logical </a:t>
            </a:r>
            <a:r>
              <a:rPr lang="en-US" dirty="0" smtClean="0"/>
              <a:t>unit </a:t>
            </a:r>
            <a:r>
              <a:rPr lang="en-US" dirty="0"/>
              <a:t>on the GPU which can replace the </a:t>
            </a:r>
            <a:r>
              <a:rPr lang="en-US" dirty="0">
                <a:solidFill>
                  <a:srgbClr val="C00000"/>
                </a:solidFill>
              </a:rPr>
              <a:t>“fixed” functionality </a:t>
            </a:r>
            <a:r>
              <a:rPr lang="en-US" dirty="0"/>
              <a:t>of OpenGL with </a:t>
            </a:r>
            <a:r>
              <a:rPr lang="en-US" dirty="0">
                <a:solidFill>
                  <a:srgbClr val="C00000"/>
                </a:solidFill>
              </a:rPr>
              <a:t>user-generated</a:t>
            </a:r>
            <a:r>
              <a:rPr lang="en-US" dirty="0"/>
              <a:t> </a:t>
            </a:r>
            <a:r>
              <a:rPr lang="en-US" dirty="0" smtClean="0"/>
              <a:t>code</a:t>
            </a:r>
            <a:endParaRPr lang="en-US" dirty="0"/>
          </a:p>
          <a:p>
            <a:r>
              <a:rPr lang="en-US" dirty="0"/>
              <a:t>By </a:t>
            </a:r>
            <a:r>
              <a:rPr lang="en-US" dirty="0" smtClean="0"/>
              <a:t>using </a:t>
            </a:r>
            <a:r>
              <a:rPr lang="en-US" dirty="0"/>
              <a:t>custom </a:t>
            </a:r>
            <a:r>
              <a:rPr lang="en-US" dirty="0" err="1"/>
              <a:t>shaders</a:t>
            </a:r>
            <a:r>
              <a:rPr lang="en-US" dirty="0"/>
              <a:t>, the user can now </a:t>
            </a:r>
            <a:r>
              <a:rPr lang="en-US" dirty="0" smtClean="0"/>
              <a:t>override </a:t>
            </a:r>
            <a:r>
              <a:rPr lang="en-US" dirty="0"/>
              <a:t>the existing implementation of core per-vertex and per-pixel </a:t>
            </a:r>
            <a:r>
              <a:rPr lang="en-US" dirty="0" smtClean="0"/>
              <a:t>behavior</a:t>
            </a:r>
          </a:p>
          <a:p>
            <a:r>
              <a:rPr lang="en-US" dirty="0" smtClean="0"/>
              <a:t>Some tasks such as clipping and </a:t>
            </a:r>
            <a:r>
              <a:rPr lang="en-US" dirty="0" err="1" smtClean="0"/>
              <a:t>rasterization</a:t>
            </a:r>
            <a:r>
              <a:rPr lang="en-US" dirty="0" smtClean="0"/>
              <a:t> will still be performed automatically</a:t>
            </a:r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8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Shaders</a:t>
            </a:r>
            <a:endParaRPr lang="en-US" dirty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Written using GPU language</a:t>
            </a:r>
          </a:p>
          <a:p>
            <a:pPr lvl="1"/>
            <a:r>
              <a:rPr lang="en-US" sz="2200" dirty="0"/>
              <a:t>Low-level: assembly language</a:t>
            </a:r>
          </a:p>
          <a:p>
            <a:pPr lvl="1"/>
            <a:r>
              <a:rPr lang="en-US" sz="2200" dirty="0"/>
              <a:t>High-level: </a:t>
            </a:r>
            <a:r>
              <a:rPr lang="en-US" sz="2200" dirty="0" smtClean="0"/>
              <a:t>Cg (</a:t>
            </a:r>
            <a:r>
              <a:rPr lang="en-US" sz="2200" dirty="0" err="1" smtClean="0"/>
              <a:t>Nvidia</a:t>
            </a:r>
            <a:r>
              <a:rPr lang="en-US" sz="2200" dirty="0" smtClean="0"/>
              <a:t> only) </a:t>
            </a:r>
            <a:r>
              <a:rPr lang="en-US" sz="2200" dirty="0"/>
              <a:t>or </a:t>
            </a:r>
            <a:r>
              <a:rPr lang="en-US" sz="2200" dirty="0" smtClean="0"/>
              <a:t>GLSL (general)</a:t>
            </a:r>
            <a:endParaRPr lang="en-US" sz="2200" dirty="0"/>
          </a:p>
          <a:p>
            <a:r>
              <a:rPr lang="en-US" sz="2600" dirty="0"/>
              <a:t>Run on </a:t>
            </a:r>
            <a:r>
              <a:rPr lang="en-US" sz="2600" dirty="0" smtClean="0"/>
              <a:t>the GPU </a:t>
            </a:r>
            <a:r>
              <a:rPr lang="en-US" sz="2600" dirty="0"/>
              <a:t>while the application runs at the same time on </a:t>
            </a:r>
            <a:r>
              <a:rPr lang="en-US" sz="2600" dirty="0" smtClean="0"/>
              <a:t>the CPU</a:t>
            </a:r>
            <a:endParaRPr lang="en-US" sz="2600" dirty="0"/>
          </a:p>
          <a:p>
            <a:r>
              <a:rPr lang="en-US" sz="2600" dirty="0"/>
              <a:t>This </a:t>
            </a:r>
            <a:r>
              <a:rPr lang="en-US" sz="2600" dirty="0" smtClean="0"/>
              <a:t>allows </a:t>
            </a:r>
            <a:r>
              <a:rPr lang="en-US" sz="2600" dirty="0"/>
              <a:t>CPU for </a:t>
            </a:r>
            <a:r>
              <a:rPr lang="en-US" sz="2600" dirty="0" smtClean="0"/>
              <a:t>computations </a:t>
            </a:r>
            <a:r>
              <a:rPr lang="en-US" sz="2600" dirty="0"/>
              <a:t>other than </a:t>
            </a:r>
            <a:r>
              <a:rPr lang="en-US" sz="2600" dirty="0" smtClean="0"/>
              <a:t>graphics</a:t>
            </a:r>
          </a:p>
          <a:p>
            <a:r>
              <a:rPr lang="en-US" sz="2600" dirty="0" err="1" smtClean="0"/>
              <a:t>Shaders</a:t>
            </a:r>
            <a:r>
              <a:rPr lang="en-US" sz="2600" dirty="0" smtClean="0"/>
              <a:t> can create a variety of visual effects </a:t>
            </a:r>
            <a:endParaRPr lang="en-US" sz="2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3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Shader</a:t>
            </a:r>
            <a:r>
              <a:rPr lang="en-US" dirty="0"/>
              <a:t> </a:t>
            </a:r>
            <a:r>
              <a:rPr lang="en-US" dirty="0" smtClean="0"/>
              <a:t>Gallery </a:t>
            </a:r>
            <a:r>
              <a:rPr lang="en-US" dirty="0"/>
              <a:t>I</a:t>
            </a:r>
          </a:p>
        </p:txBody>
      </p:sp>
      <p:pic>
        <p:nvPicPr>
          <p:cNvPr id="70669" name="Picture 13" descr="kam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006600"/>
            <a:ext cx="4648200" cy="3479800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3" name="Picture 7" descr="ATI-9700-NPRHatching-Demo-vL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828800"/>
            <a:ext cx="2698750" cy="1943100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6" name="Picture 10" descr="ATI-9700-nl-lg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000500"/>
            <a:ext cx="2849880" cy="1943100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664903" y="5562600"/>
            <a:ext cx="43329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Above: Demo of Microsoft’s XNA game platform</a:t>
            </a:r>
          </a:p>
          <a:p>
            <a:r>
              <a:rPr lang="en-US" sz="1400" dirty="0">
                <a:latin typeface="Times New Roman" panose="02020603050405020304" pitchFamily="18" charset="0"/>
              </a:rPr>
              <a:t>Right: Product demos by </a:t>
            </a:r>
            <a:r>
              <a:rPr lang="en-US" sz="1400" dirty="0" err="1" smtClean="0">
                <a:latin typeface="Times New Roman" panose="02020603050405020304" pitchFamily="18" charset="0"/>
              </a:rPr>
              <a:t>Nvidia</a:t>
            </a:r>
            <a:r>
              <a:rPr lang="en-US" sz="1400" dirty="0" smtClean="0">
                <a:latin typeface="Times New Roman" panose="02020603050405020304" pitchFamily="18" charset="0"/>
              </a:rPr>
              <a:t> (top</a:t>
            </a:r>
            <a:r>
              <a:rPr lang="en-US" sz="1400" dirty="0">
                <a:latin typeface="Times New Roman" panose="02020603050405020304" pitchFamily="18" charset="0"/>
              </a:rPr>
              <a:t>) and </a:t>
            </a:r>
            <a:r>
              <a:rPr lang="en-US" sz="1400" dirty="0" smtClean="0">
                <a:latin typeface="Times New Roman" panose="02020603050405020304" pitchFamily="18" charset="0"/>
              </a:rPr>
              <a:t>AMD </a:t>
            </a:r>
            <a:r>
              <a:rPr lang="en-US" sz="1400" dirty="0">
                <a:latin typeface="Times New Roman" panose="02020603050405020304" pitchFamily="18" charset="0"/>
              </a:rPr>
              <a:t>(bottom)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48000" y="6403975"/>
            <a:ext cx="2895600" cy="457200"/>
          </a:xfrm>
        </p:spPr>
        <p:txBody>
          <a:bodyPr/>
          <a:lstStyle/>
          <a:p>
            <a:r>
              <a:rPr lang="en-US" dirty="0" smtClean="0"/>
              <a:t>CENG 477 – Computer Graphics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BD691-F1B9-4D34-8B6B-B693B85B847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we targeting?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3810000" cy="3124200"/>
          </a:xfrm>
        </p:spPr>
        <p:txBody>
          <a:bodyPr/>
          <a:lstStyle/>
          <a:p>
            <a:r>
              <a:rPr lang="en-US" sz="2800" dirty="0"/>
              <a:t>OpenGL </a:t>
            </a:r>
            <a:r>
              <a:rPr lang="en-US" sz="2800" dirty="0" err="1"/>
              <a:t>shaders</a:t>
            </a:r>
            <a:r>
              <a:rPr lang="en-US" sz="2800" dirty="0"/>
              <a:t> give the user control over each </a:t>
            </a:r>
            <a:r>
              <a:rPr lang="en-US" sz="2800" i="1" dirty="0">
                <a:solidFill>
                  <a:srgbClr val="C00000"/>
                </a:solidFill>
              </a:rPr>
              <a:t>vertex</a:t>
            </a:r>
            <a:r>
              <a:rPr lang="en-US" sz="2800" dirty="0"/>
              <a:t> and each </a:t>
            </a:r>
            <a:r>
              <a:rPr lang="en-US" sz="2800" i="1" dirty="0">
                <a:solidFill>
                  <a:srgbClr val="C00000"/>
                </a:solidFill>
              </a:rPr>
              <a:t>fragment</a:t>
            </a:r>
            <a:r>
              <a:rPr lang="en-US" sz="2800" dirty="0"/>
              <a:t> </a:t>
            </a:r>
            <a:r>
              <a:rPr lang="en-US" sz="2800" dirty="0" smtClean="0"/>
              <a:t>interpolated </a:t>
            </a:r>
            <a:r>
              <a:rPr lang="en-US" sz="2800" dirty="0"/>
              <a:t>between vertices.</a:t>
            </a:r>
          </a:p>
        </p:txBody>
      </p:sp>
      <p:grpSp>
        <p:nvGrpSpPr>
          <p:cNvPr id="45075" name="Group 19"/>
          <p:cNvGrpSpPr>
            <a:grpSpLocks/>
          </p:cNvGrpSpPr>
          <p:nvPr/>
        </p:nvGrpSpPr>
        <p:grpSpPr bwMode="auto">
          <a:xfrm>
            <a:off x="5029200" y="1981200"/>
            <a:ext cx="3733800" cy="2438400"/>
            <a:chOff x="3120" y="1344"/>
            <a:chExt cx="2352" cy="1536"/>
          </a:xfrm>
        </p:grpSpPr>
        <p:sp>
          <p:nvSpPr>
            <p:cNvPr id="45060" name="AutoShape 4" descr="Woven mat"/>
            <p:cNvSpPr>
              <a:spLocks noChangeArrowheads="1"/>
            </p:cNvSpPr>
            <p:nvPr/>
          </p:nvSpPr>
          <p:spPr bwMode="auto">
            <a:xfrm rot="1951931">
              <a:off x="3216" y="1344"/>
              <a:ext cx="2256" cy="1008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1" name="Line 5"/>
            <p:cNvSpPr>
              <a:spLocks noChangeShapeType="1"/>
            </p:cNvSpPr>
            <p:nvPr/>
          </p:nvSpPr>
          <p:spPr bwMode="auto">
            <a:xfrm flipV="1">
              <a:off x="3120" y="1440"/>
              <a:ext cx="148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2" name="Line 6"/>
            <p:cNvSpPr>
              <a:spLocks noChangeShapeType="1"/>
            </p:cNvSpPr>
            <p:nvPr/>
          </p:nvSpPr>
          <p:spPr bwMode="auto">
            <a:xfrm>
              <a:off x="3120" y="1680"/>
              <a:ext cx="192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3" name="Line 7"/>
            <p:cNvSpPr>
              <a:spLocks noChangeShapeType="1"/>
            </p:cNvSpPr>
            <p:nvPr/>
          </p:nvSpPr>
          <p:spPr bwMode="auto">
            <a:xfrm>
              <a:off x="4608" y="1440"/>
              <a:ext cx="432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4" name="Line 8"/>
          <p:cNvSpPr>
            <a:spLocks noChangeShapeType="1"/>
          </p:cNvSpPr>
          <p:nvPr/>
        </p:nvSpPr>
        <p:spPr bwMode="auto">
          <a:xfrm flipV="1">
            <a:off x="3886200" y="2514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 flipV="1">
            <a:off x="4194107" y="3200400"/>
            <a:ext cx="2206693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5867400" y="30480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6172200" y="2743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6477000" y="30480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6172200" y="3352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5867400" y="3352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Rectangle 16"/>
          <p:cNvSpPr>
            <a:spLocks noChangeArrowheads="1"/>
          </p:cNvSpPr>
          <p:nvPr/>
        </p:nvSpPr>
        <p:spPr bwMode="auto">
          <a:xfrm>
            <a:off x="6477000" y="3352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6477000" y="2743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5867400" y="2743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6172200" y="3048000"/>
            <a:ext cx="304800" cy="304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6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we targeting?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36173"/>
            <a:ext cx="8229600" cy="4525963"/>
          </a:xfrm>
        </p:spPr>
        <p:txBody>
          <a:bodyPr/>
          <a:lstStyle/>
          <a:p>
            <a:r>
              <a:rPr lang="en-US" dirty="0"/>
              <a:t>Each vertex is passed to </a:t>
            </a:r>
            <a:r>
              <a:rPr lang="en-US" dirty="0">
                <a:solidFill>
                  <a:srgbClr val="C00000"/>
                </a:solidFill>
              </a:rPr>
              <a:t>vertex </a:t>
            </a:r>
            <a:r>
              <a:rPr lang="en-US" dirty="0" err="1">
                <a:solidFill>
                  <a:srgbClr val="C00000"/>
                </a:solidFill>
              </a:rPr>
              <a:t>shader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After vertices are processed, polygons are </a:t>
            </a:r>
            <a:r>
              <a:rPr lang="en-US" i="1" dirty="0"/>
              <a:t>rasterized</a:t>
            </a:r>
            <a:r>
              <a:rPr lang="en-US" dirty="0"/>
              <a:t>.  During rasterization, values like position, color, depth, and other attributes are interpolated across the polygon.  The interpolated values are </a:t>
            </a:r>
            <a:r>
              <a:rPr lang="en-US" dirty="0" smtClean="0"/>
              <a:t>passed to </a:t>
            </a:r>
            <a:r>
              <a:rPr lang="en-US" dirty="0" smtClean="0">
                <a:solidFill>
                  <a:srgbClr val="C00000"/>
                </a:solidFill>
              </a:rPr>
              <a:t>fragment </a:t>
            </a:r>
            <a:r>
              <a:rPr lang="en-US" dirty="0" err="1" smtClean="0">
                <a:solidFill>
                  <a:srgbClr val="C00000"/>
                </a:solidFill>
              </a:rPr>
              <a:t>shader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9" name="Group 19"/>
          <p:cNvGrpSpPr>
            <a:grpSpLocks/>
          </p:cNvGrpSpPr>
          <p:nvPr/>
        </p:nvGrpSpPr>
        <p:grpSpPr bwMode="auto">
          <a:xfrm>
            <a:off x="3886200" y="3505200"/>
            <a:ext cx="3733800" cy="2438400"/>
            <a:chOff x="3120" y="1344"/>
            <a:chExt cx="2352" cy="1536"/>
          </a:xfrm>
        </p:grpSpPr>
        <p:sp>
          <p:nvSpPr>
            <p:cNvPr id="30" name="AutoShape 4" descr="Woven mat"/>
            <p:cNvSpPr>
              <a:spLocks noChangeArrowheads="1"/>
            </p:cNvSpPr>
            <p:nvPr/>
          </p:nvSpPr>
          <p:spPr bwMode="auto">
            <a:xfrm rot="1951931">
              <a:off x="3216" y="1344"/>
              <a:ext cx="2256" cy="1008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5"/>
            <p:cNvSpPr>
              <a:spLocks noChangeShapeType="1"/>
            </p:cNvSpPr>
            <p:nvPr/>
          </p:nvSpPr>
          <p:spPr bwMode="auto">
            <a:xfrm flipV="1">
              <a:off x="3120" y="1440"/>
              <a:ext cx="148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>
              <a:off x="3120" y="1680"/>
              <a:ext cx="192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4608" y="1440"/>
              <a:ext cx="432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Line 8"/>
          <p:cNvSpPr>
            <a:spLocks noChangeShapeType="1"/>
          </p:cNvSpPr>
          <p:nvPr/>
        </p:nvSpPr>
        <p:spPr bwMode="auto">
          <a:xfrm flipV="1">
            <a:off x="2743200" y="4038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 flipV="1">
            <a:off x="3051107" y="4724400"/>
            <a:ext cx="2206693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4724400" y="45720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5029200" y="4267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5334000" y="45720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029200" y="4876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4724400" y="4876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16"/>
          <p:cNvSpPr>
            <a:spLocks noChangeArrowheads="1"/>
          </p:cNvSpPr>
          <p:nvPr/>
        </p:nvSpPr>
        <p:spPr bwMode="auto">
          <a:xfrm>
            <a:off x="5334000" y="48768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5334000" y="4267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4724400" y="4267200"/>
            <a:ext cx="304800" cy="304800"/>
          </a:xfrm>
          <a:prstGeom prst="rect">
            <a:avLst/>
          </a:prstGeom>
          <a:noFill/>
          <a:ln w="28575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10"/>
          <p:cNvSpPr>
            <a:spLocks noChangeArrowheads="1"/>
          </p:cNvSpPr>
          <p:nvPr/>
        </p:nvSpPr>
        <p:spPr bwMode="auto">
          <a:xfrm>
            <a:off x="5029200" y="4572000"/>
            <a:ext cx="304800" cy="304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48087" y="4431268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Vertex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828800" y="492963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Fragment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9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</a:t>
            </a:r>
            <a:r>
              <a:rPr lang="en-US" dirty="0" smtClean="0"/>
              <a:t>do in a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3012" name="Rectangle 4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Per </a:t>
            </a:r>
            <a:r>
              <a:rPr lang="en-US" sz="2400" dirty="0" smtClean="0"/>
              <a:t>vertex: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Vertex transformation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Normal </a:t>
            </a:r>
            <a:r>
              <a:rPr lang="en-US" sz="2000" dirty="0"/>
              <a:t>transformation and </a:t>
            </a:r>
            <a:r>
              <a:rPr lang="en-US" sz="2000" dirty="0" smtClean="0"/>
              <a:t>normalization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Texture </a:t>
            </a:r>
            <a:r>
              <a:rPr lang="en-US" sz="2000" dirty="0"/>
              <a:t>coordinate </a:t>
            </a:r>
            <a:r>
              <a:rPr lang="en-US" sz="2000" dirty="0" smtClean="0"/>
              <a:t>assignment/transformation</a:t>
            </a:r>
            <a:endParaRPr lang="en-US" sz="2000" dirty="0" smtClean="0"/>
          </a:p>
          <a:p>
            <a:pPr lvl="1">
              <a:lnSpc>
                <a:spcPct val="80000"/>
              </a:lnSpc>
            </a:pPr>
            <a:r>
              <a:rPr lang="en-US" sz="2000" dirty="0" smtClean="0"/>
              <a:t>Per-vertex lighting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M</a:t>
            </a:r>
            <a:r>
              <a:rPr lang="en-US" sz="2000" dirty="0" smtClean="0"/>
              <a:t>aterial </a:t>
            </a:r>
            <a:r>
              <a:rPr lang="en-US" sz="2000" dirty="0" smtClean="0"/>
              <a:t>application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43013" name="Rectangle 5"/>
          <p:cNvSpPr>
            <a:spLocks noGrp="1" noChangeArrowheads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Per </a:t>
            </a:r>
            <a:r>
              <a:rPr lang="en-US" sz="2400" dirty="0" smtClean="0"/>
              <a:t>fragment:</a:t>
            </a:r>
            <a:endParaRPr lang="en-US" sz="2400" dirty="0" smtClean="0"/>
          </a:p>
          <a:p>
            <a:pPr lvl="1">
              <a:lnSpc>
                <a:spcPct val="80000"/>
              </a:lnSpc>
            </a:pPr>
            <a:r>
              <a:rPr lang="en-US" sz="2000" dirty="0" smtClean="0"/>
              <a:t>Operations </a:t>
            </a:r>
            <a:r>
              <a:rPr lang="en-US" sz="2000" dirty="0"/>
              <a:t>on interpolated </a:t>
            </a:r>
            <a:r>
              <a:rPr lang="en-US" sz="2000" dirty="0" smtClean="0"/>
              <a:t>values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Texture access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Texture application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Fog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 smtClean="0"/>
              <a:t>Color summation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Per-fragment lighting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Scale </a:t>
            </a:r>
            <a:r>
              <a:rPr lang="en-US" sz="2000" dirty="0"/>
              <a:t>and bias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Color table lookup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Convolution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7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Parallelism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700" dirty="0" err="1" smtClean="0"/>
              <a:t>Shader</a:t>
            </a:r>
            <a:r>
              <a:rPr lang="en-US" sz="2700" dirty="0" smtClean="0"/>
              <a:t> source codes are read by the CPU program and given to OpenGL for compilation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700" dirty="0"/>
              <a:t>They execute on the </a:t>
            </a:r>
            <a:r>
              <a:rPr lang="en-US" sz="2700" dirty="0" smtClean="0"/>
              <a:t>GPU at draw time</a:t>
            </a:r>
          </a:p>
          <a:p>
            <a:pPr lvl="1">
              <a:lnSpc>
                <a:spcPct val="90000"/>
              </a:lnSpc>
            </a:pPr>
            <a:r>
              <a:rPr lang="en-US" sz="2300" dirty="0" smtClean="0"/>
              <a:t>No other way to execute a </a:t>
            </a:r>
            <a:r>
              <a:rPr lang="en-US" sz="2300" dirty="0" err="1" smtClean="0"/>
              <a:t>shader</a:t>
            </a:r>
            <a:r>
              <a:rPr lang="en-US" sz="2300" dirty="0" smtClean="0"/>
              <a:t> by other than drawing something</a:t>
            </a:r>
            <a:endParaRPr lang="en-US" sz="2300" dirty="0"/>
          </a:p>
          <a:p>
            <a:pPr>
              <a:lnSpc>
                <a:spcPct val="90000"/>
              </a:lnSpc>
            </a:pPr>
            <a:r>
              <a:rPr lang="en-US" sz="2700" dirty="0" smtClean="0"/>
              <a:t>A </a:t>
            </a:r>
            <a:r>
              <a:rPr lang="en-US" sz="2700" dirty="0" err="1" smtClean="0"/>
              <a:t>shader</a:t>
            </a:r>
            <a:r>
              <a:rPr lang="en-US" sz="2700" dirty="0" smtClean="0"/>
              <a:t> executes simultaneously on its data</a:t>
            </a:r>
            <a:endParaRPr lang="en-US" sz="2700" dirty="0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080899" y="4353295"/>
            <a:ext cx="2545529" cy="1662386"/>
            <a:chOff x="3120" y="1344"/>
            <a:chExt cx="2352" cy="1536"/>
          </a:xfrm>
        </p:grpSpPr>
        <p:sp>
          <p:nvSpPr>
            <p:cNvPr id="5" name="AutoShape 4" descr="Woven mat"/>
            <p:cNvSpPr>
              <a:spLocks noChangeArrowheads="1"/>
            </p:cNvSpPr>
            <p:nvPr/>
          </p:nvSpPr>
          <p:spPr bwMode="auto">
            <a:xfrm rot="1951931">
              <a:off x="3216" y="1344"/>
              <a:ext cx="2256" cy="1008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3120" y="1440"/>
              <a:ext cx="148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3120" y="1680"/>
              <a:ext cx="192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4608" y="1440"/>
              <a:ext cx="432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Oval 1"/>
          <p:cNvSpPr/>
          <p:nvPr/>
        </p:nvSpPr>
        <p:spPr>
          <a:xfrm>
            <a:off x="3509512" y="4270738"/>
            <a:ext cx="363647" cy="363647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898017" y="4535375"/>
            <a:ext cx="363647" cy="363647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977059" y="5845073"/>
            <a:ext cx="363647" cy="363647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26428" y="4301533"/>
            <a:ext cx="34507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 processed </a:t>
            </a:r>
            <a:r>
              <a:rPr lang="en-US" dirty="0" smtClean="0"/>
              <a:t>simultaneously (up to the physical limit allowed by the GPU)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 we </a:t>
            </a:r>
            <a:r>
              <a:rPr lang="en-US" b="1" dirty="0" smtClean="0"/>
              <a:t>don’t</a:t>
            </a:r>
            <a:r>
              <a:rPr lang="en-US" dirty="0" smtClean="0"/>
              <a:t> loop over vertices in a vertex </a:t>
            </a:r>
            <a:r>
              <a:rPr lang="en-US" dirty="0" err="1" smtClean="0"/>
              <a:t>shader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same applies for the </a:t>
            </a:r>
            <a:r>
              <a:rPr lang="en-US" dirty="0" err="1" smtClean="0"/>
              <a:t>fragement</a:t>
            </a:r>
            <a:r>
              <a:rPr lang="en-US" dirty="0" smtClean="0"/>
              <a:t> </a:t>
            </a:r>
            <a:r>
              <a:rPr lang="en-US" dirty="0" err="1" smtClean="0"/>
              <a:t>shader</a:t>
            </a:r>
            <a:r>
              <a:rPr lang="en-US" dirty="0" smtClean="0"/>
              <a:t> as well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4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AutoShape 4"/>
          <p:cNvSpPr>
            <a:spLocks noChangeArrowheads="1"/>
          </p:cNvSpPr>
          <p:nvPr/>
        </p:nvSpPr>
        <p:spPr bwMode="auto">
          <a:xfrm>
            <a:off x="923924" y="3733800"/>
            <a:ext cx="7762875" cy="114300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Shading languages</a:t>
            </a:r>
            <a:endParaRPr 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There are several popular languages for describing </a:t>
            </a:r>
            <a:r>
              <a:rPr lang="en-US" dirty="0" err="1"/>
              <a:t>shaders</a:t>
            </a:r>
            <a:r>
              <a:rPr lang="en-US" dirty="0"/>
              <a:t>, such as: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HLSL</a:t>
            </a:r>
            <a:r>
              <a:rPr lang="en-US" dirty="0"/>
              <a:t>, the </a:t>
            </a:r>
            <a:r>
              <a:rPr lang="en-US" i="1" dirty="0"/>
              <a:t>High Level Shading Language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Author: Microsoft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DirectX 8+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Cg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Author: </a:t>
            </a:r>
            <a:r>
              <a:rPr lang="en-US" dirty="0" err="1"/>
              <a:t>N</a:t>
            </a:r>
            <a:r>
              <a:rPr lang="en-US" dirty="0" err="1" smtClean="0"/>
              <a:t>vidia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i="1" dirty="0"/>
              <a:t>GLSL</a:t>
            </a:r>
            <a:r>
              <a:rPr lang="en-US" dirty="0"/>
              <a:t>, the </a:t>
            </a:r>
            <a:r>
              <a:rPr lang="en-US" i="1" dirty="0"/>
              <a:t>OpenGL Shading Language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Author: the </a:t>
            </a:r>
            <a:r>
              <a:rPr lang="en-US" dirty="0" err="1"/>
              <a:t>Khronos</a:t>
            </a:r>
            <a:r>
              <a:rPr lang="en-US" dirty="0"/>
              <a:t> Group, a self-sponsored group of industry </a:t>
            </a:r>
            <a:r>
              <a:rPr lang="en-US" dirty="0" smtClean="0"/>
              <a:t>affiliates from various vendors (AMD, </a:t>
            </a:r>
            <a:r>
              <a:rPr lang="en-US" dirty="0" err="1" smtClean="0"/>
              <a:t>Nvidia</a:t>
            </a:r>
            <a:r>
              <a:rPr lang="en-US" dirty="0" smtClean="0"/>
              <a:t>, Intel, Apple, …)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4" name="Line 24"/>
          <p:cNvSpPr>
            <a:spLocks noChangeShapeType="1"/>
          </p:cNvSpPr>
          <p:nvPr/>
        </p:nvSpPr>
        <p:spPr bwMode="auto">
          <a:xfrm flipV="1">
            <a:off x="3657600" y="4495800"/>
            <a:ext cx="381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Vertex processor – inputs and outputs</a:t>
            </a:r>
            <a:endParaRPr lang="en-US" sz="1800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>
            <a:off x="2667000" y="26670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 flipV="1">
            <a:off x="2438400" y="3657600"/>
            <a:ext cx="1524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V="1">
            <a:off x="3048000" y="3886200"/>
            <a:ext cx="914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8" name="Line 18"/>
          <p:cNvSpPr>
            <a:spLocks noChangeShapeType="1"/>
          </p:cNvSpPr>
          <p:nvPr/>
        </p:nvSpPr>
        <p:spPr bwMode="auto">
          <a:xfrm flipV="1">
            <a:off x="2895600" y="4191000"/>
            <a:ext cx="1066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AutoShape 8"/>
          <p:cNvSpPr>
            <a:spLocks noChangeArrowheads="1"/>
          </p:cNvSpPr>
          <p:nvPr/>
        </p:nvSpPr>
        <p:spPr bwMode="auto">
          <a:xfrm>
            <a:off x="914400" y="1905000"/>
            <a:ext cx="1752600" cy="16240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Color</a:t>
            </a:r>
          </a:p>
          <a:p>
            <a:r>
              <a:rPr lang="en-US"/>
              <a:t>Normal</a:t>
            </a:r>
          </a:p>
          <a:p>
            <a:r>
              <a:rPr lang="en-US"/>
              <a:t>Position</a:t>
            </a:r>
          </a:p>
          <a:p>
            <a:r>
              <a:rPr lang="en-US"/>
              <a:t>Texture coord</a:t>
            </a:r>
          </a:p>
          <a:p>
            <a:r>
              <a:rPr lang="en-US"/>
              <a:t>etc…</a:t>
            </a:r>
          </a:p>
        </p:txBody>
      </p:sp>
      <p:sp>
        <p:nvSpPr>
          <p:cNvPr id="46089" name="AutoShape 9"/>
          <p:cNvSpPr>
            <a:spLocks noChangeArrowheads="1"/>
          </p:cNvSpPr>
          <p:nvPr/>
        </p:nvSpPr>
        <p:spPr bwMode="auto">
          <a:xfrm>
            <a:off x="914400" y="3733800"/>
            <a:ext cx="1506538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Texture data</a:t>
            </a:r>
          </a:p>
        </p:txBody>
      </p:sp>
      <p:sp>
        <p:nvSpPr>
          <p:cNvPr id="46090" name="AutoShape 10"/>
          <p:cNvSpPr>
            <a:spLocks noChangeArrowheads="1"/>
          </p:cNvSpPr>
          <p:nvPr/>
        </p:nvSpPr>
        <p:spPr bwMode="auto">
          <a:xfrm>
            <a:off x="914400" y="4343400"/>
            <a:ext cx="2078038" cy="13192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dirty="0" err="1"/>
              <a:t>Modelview</a:t>
            </a:r>
            <a:r>
              <a:rPr lang="en-US" dirty="0"/>
              <a:t> matrix</a:t>
            </a:r>
          </a:p>
          <a:p>
            <a:r>
              <a:rPr lang="en-US" dirty="0" smtClean="0"/>
              <a:t>Material data</a:t>
            </a:r>
            <a:endParaRPr lang="en-US" dirty="0"/>
          </a:p>
          <a:p>
            <a:r>
              <a:rPr lang="en-US" dirty="0" smtClean="0"/>
              <a:t>Light data</a:t>
            </a:r>
            <a:endParaRPr lang="en-US" dirty="0"/>
          </a:p>
          <a:p>
            <a:r>
              <a:rPr lang="en-US" dirty="0"/>
              <a:t>etc…</a:t>
            </a:r>
          </a:p>
        </p:txBody>
      </p:sp>
      <p:sp>
        <p:nvSpPr>
          <p:cNvPr id="46094" name="AutoShape 14"/>
          <p:cNvSpPr>
            <a:spLocks noChangeArrowheads="1"/>
          </p:cNvSpPr>
          <p:nvPr/>
        </p:nvSpPr>
        <p:spPr bwMode="auto">
          <a:xfrm>
            <a:off x="914400" y="5791200"/>
            <a:ext cx="1989138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i="1"/>
              <a:t>Custom variables</a:t>
            </a:r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 flipV="1">
            <a:off x="5486400" y="35052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0" name="Line 20"/>
          <p:cNvSpPr>
            <a:spLocks noChangeShapeType="1"/>
          </p:cNvSpPr>
          <p:nvPr/>
        </p:nvSpPr>
        <p:spPr bwMode="auto">
          <a:xfrm>
            <a:off x="5486400" y="38100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2" name="AutoShape 12"/>
          <p:cNvSpPr>
            <a:spLocks noChangeArrowheads="1"/>
          </p:cNvSpPr>
          <p:nvPr/>
        </p:nvSpPr>
        <p:spPr bwMode="auto">
          <a:xfrm>
            <a:off x="6402388" y="3146425"/>
            <a:ext cx="1065212" cy="709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Color</a:t>
            </a:r>
          </a:p>
          <a:p>
            <a:r>
              <a:rPr lang="en-US"/>
              <a:t>Position</a:t>
            </a:r>
          </a:p>
        </p:txBody>
      </p:sp>
      <p:sp>
        <p:nvSpPr>
          <p:cNvPr id="46093" name="AutoShape 13"/>
          <p:cNvSpPr>
            <a:spLocks noChangeArrowheads="1"/>
          </p:cNvSpPr>
          <p:nvPr/>
        </p:nvSpPr>
        <p:spPr bwMode="auto">
          <a:xfrm>
            <a:off x="6392863" y="4013200"/>
            <a:ext cx="1989137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i="1"/>
              <a:t>Custom variables</a:t>
            </a:r>
          </a:p>
        </p:txBody>
      </p:sp>
      <p:sp>
        <p:nvSpPr>
          <p:cNvPr id="46091" name="AutoShape 11"/>
          <p:cNvSpPr>
            <a:spLocks noChangeArrowheads="1"/>
          </p:cNvSpPr>
          <p:nvPr/>
        </p:nvSpPr>
        <p:spPr bwMode="auto">
          <a:xfrm>
            <a:off x="3962400" y="3048000"/>
            <a:ext cx="1524000" cy="144780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Vertex</a:t>
            </a:r>
          </a:p>
          <a:p>
            <a:pPr algn="ctr"/>
            <a:r>
              <a:rPr lang="en-US"/>
              <a:t>Processor</a:t>
            </a:r>
          </a:p>
        </p:txBody>
      </p:sp>
      <p:sp>
        <p:nvSpPr>
          <p:cNvPr id="46101" name="AutoShape 21"/>
          <p:cNvSpPr>
            <a:spLocks noChangeArrowheads="1"/>
          </p:cNvSpPr>
          <p:nvPr/>
        </p:nvSpPr>
        <p:spPr bwMode="auto">
          <a:xfrm>
            <a:off x="3276600" y="5791200"/>
            <a:ext cx="2281238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i="1"/>
              <a:t>Per-vertex attributes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6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Vertex </a:t>
            </a:r>
            <a:r>
              <a:rPr lang="en-US" dirty="0" smtClean="0"/>
              <a:t>Processor</a:t>
            </a:r>
            <a:endParaRPr lang="en-US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</a:t>
            </a:r>
            <a:r>
              <a:rPr lang="en-US" dirty="0" smtClean="0"/>
              <a:t>ertex </a:t>
            </a:r>
            <a:r>
              <a:rPr lang="en-US" dirty="0" err="1" smtClean="0"/>
              <a:t>shader</a:t>
            </a:r>
            <a:r>
              <a:rPr lang="en-US" dirty="0" smtClean="0"/>
              <a:t> is executed once for each vertex</a:t>
            </a:r>
          </a:p>
          <a:p>
            <a:r>
              <a:rPr lang="en-US" dirty="0" smtClean="0"/>
              <a:t>Vertex position is usually transformed using the </a:t>
            </a:r>
            <a:r>
              <a:rPr lang="en-US" dirty="0" err="1" smtClean="0"/>
              <a:t>modelview</a:t>
            </a:r>
            <a:r>
              <a:rPr lang="en-US" dirty="0" smtClean="0"/>
              <a:t> and projection matrices</a:t>
            </a:r>
          </a:p>
          <a:p>
            <a:r>
              <a:rPr lang="en-US" dirty="0" err="1" smtClean="0"/>
              <a:t>Normals</a:t>
            </a:r>
            <a:r>
              <a:rPr lang="en-US" dirty="0" smtClean="0"/>
              <a:t> are transformed with the appropriate matrix</a:t>
            </a:r>
          </a:p>
          <a:p>
            <a:r>
              <a:rPr lang="en-US" dirty="0"/>
              <a:t>T</a:t>
            </a:r>
            <a:r>
              <a:rPr lang="en-US" dirty="0" smtClean="0"/>
              <a:t>exture coordinates may be generated, passed along, or transformed</a:t>
            </a:r>
          </a:p>
          <a:p>
            <a:r>
              <a:rPr lang="en-US" dirty="0" smtClean="0"/>
              <a:t>Lighting computations may be done for each vertex</a:t>
            </a:r>
            <a:endParaRPr lang="en-US" dirty="0"/>
          </a:p>
          <a:p>
            <a:r>
              <a:rPr lang="en-US" dirty="0" smtClean="0"/>
              <a:t>Vertex positions may be modified based on texture values, etc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Fragment processor – inputs and outputs</a:t>
            </a:r>
            <a:endParaRPr lang="en-US" sz="1800"/>
          </a:p>
        </p:txBody>
      </p:sp>
      <p:sp>
        <p:nvSpPr>
          <p:cNvPr id="47107" name="Line 3"/>
          <p:cNvSpPr>
            <a:spLocks noChangeShapeType="1"/>
          </p:cNvSpPr>
          <p:nvPr/>
        </p:nvSpPr>
        <p:spPr bwMode="auto">
          <a:xfrm>
            <a:off x="2971800" y="28956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8" name="Line 4"/>
          <p:cNvSpPr>
            <a:spLocks noChangeShapeType="1"/>
          </p:cNvSpPr>
          <p:nvPr/>
        </p:nvSpPr>
        <p:spPr bwMode="auto">
          <a:xfrm flipV="1">
            <a:off x="2438400" y="3733800"/>
            <a:ext cx="1524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 flipV="1">
            <a:off x="3048000" y="3810000"/>
            <a:ext cx="9144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2895600" y="3962400"/>
            <a:ext cx="1066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AutoShape 7"/>
          <p:cNvSpPr>
            <a:spLocks noChangeArrowheads="1"/>
          </p:cNvSpPr>
          <p:nvPr/>
        </p:nvSpPr>
        <p:spPr bwMode="auto">
          <a:xfrm>
            <a:off x="928688" y="2209800"/>
            <a:ext cx="2039937" cy="13192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Color</a:t>
            </a:r>
          </a:p>
          <a:p>
            <a:r>
              <a:rPr lang="en-US"/>
              <a:t>Texture coords</a:t>
            </a:r>
          </a:p>
          <a:p>
            <a:r>
              <a:rPr lang="en-US"/>
              <a:t>Fragment coords</a:t>
            </a:r>
          </a:p>
          <a:p>
            <a:r>
              <a:rPr lang="en-US"/>
              <a:t>Front facing</a:t>
            </a:r>
          </a:p>
        </p:txBody>
      </p:sp>
      <p:sp>
        <p:nvSpPr>
          <p:cNvPr id="47112" name="AutoShape 8"/>
          <p:cNvSpPr>
            <a:spLocks noChangeArrowheads="1"/>
          </p:cNvSpPr>
          <p:nvPr/>
        </p:nvSpPr>
        <p:spPr bwMode="auto">
          <a:xfrm>
            <a:off x="914400" y="3740150"/>
            <a:ext cx="1506538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Texture data</a:t>
            </a:r>
          </a:p>
        </p:txBody>
      </p:sp>
      <p:sp>
        <p:nvSpPr>
          <p:cNvPr id="47113" name="AutoShape 9"/>
          <p:cNvSpPr>
            <a:spLocks noChangeArrowheads="1"/>
          </p:cNvSpPr>
          <p:nvPr/>
        </p:nvSpPr>
        <p:spPr bwMode="auto">
          <a:xfrm>
            <a:off x="914400" y="4322763"/>
            <a:ext cx="2078038" cy="13192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Modelview matrix</a:t>
            </a:r>
          </a:p>
          <a:p>
            <a:r>
              <a:rPr lang="en-US"/>
              <a:t>Material</a:t>
            </a:r>
          </a:p>
          <a:p>
            <a:r>
              <a:rPr lang="en-US"/>
              <a:t>Lighting</a:t>
            </a:r>
          </a:p>
          <a:p>
            <a:r>
              <a:rPr lang="en-US"/>
              <a:t>etc…</a:t>
            </a:r>
          </a:p>
        </p:txBody>
      </p:sp>
      <p:sp>
        <p:nvSpPr>
          <p:cNvPr id="47114" name="AutoShape 10"/>
          <p:cNvSpPr>
            <a:spLocks noChangeArrowheads="1"/>
          </p:cNvSpPr>
          <p:nvPr/>
        </p:nvSpPr>
        <p:spPr bwMode="auto">
          <a:xfrm>
            <a:off x="914400" y="5815013"/>
            <a:ext cx="1989138" cy="40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i="1"/>
              <a:t>Custom variables</a:t>
            </a:r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 flipV="1">
            <a:off x="5486400" y="3733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AutoShape 13"/>
          <p:cNvSpPr>
            <a:spLocks noChangeArrowheads="1"/>
          </p:cNvSpPr>
          <p:nvPr/>
        </p:nvSpPr>
        <p:spPr bwMode="auto">
          <a:xfrm>
            <a:off x="6402388" y="3429000"/>
            <a:ext cx="1865312" cy="709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/>
              <a:t>Fragment color</a:t>
            </a:r>
          </a:p>
          <a:p>
            <a:r>
              <a:rPr lang="en-US"/>
              <a:t>Fragment depth</a:t>
            </a:r>
          </a:p>
        </p:txBody>
      </p:sp>
      <p:sp>
        <p:nvSpPr>
          <p:cNvPr id="47119" name="AutoShape 15"/>
          <p:cNvSpPr>
            <a:spLocks noChangeArrowheads="1"/>
          </p:cNvSpPr>
          <p:nvPr/>
        </p:nvSpPr>
        <p:spPr bwMode="auto">
          <a:xfrm>
            <a:off x="3962400" y="3048000"/>
            <a:ext cx="1524000" cy="144780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Fragment</a:t>
            </a:r>
          </a:p>
          <a:p>
            <a:pPr algn="ctr"/>
            <a:r>
              <a:rPr lang="en-US"/>
              <a:t>Processor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8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Fragment </a:t>
            </a:r>
            <a:r>
              <a:rPr lang="en-US" dirty="0" smtClean="0"/>
              <a:t>Processor</a:t>
            </a:r>
            <a:endParaRPr lang="en-US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ragment </a:t>
            </a:r>
            <a:r>
              <a:rPr lang="en-US" dirty="0" err="1" smtClean="0"/>
              <a:t>shader</a:t>
            </a:r>
            <a:r>
              <a:rPr lang="en-US" dirty="0" smtClean="0"/>
              <a:t> is executed once for each fragment</a:t>
            </a:r>
          </a:p>
          <a:p>
            <a:r>
              <a:rPr lang="en-US" dirty="0" smtClean="0"/>
              <a:t>Lighting may be computed at each fragment using interpolated </a:t>
            </a:r>
            <a:r>
              <a:rPr lang="en-US" dirty="0" err="1" smtClean="0"/>
              <a:t>normals</a:t>
            </a:r>
            <a:endParaRPr lang="en-US" dirty="0" smtClean="0"/>
          </a:p>
          <a:p>
            <a:r>
              <a:rPr lang="en-US" dirty="0" smtClean="0"/>
              <a:t>Texture data may be fetched from the texture image</a:t>
            </a:r>
          </a:p>
          <a:p>
            <a:r>
              <a:rPr lang="en-US" dirty="0" smtClean="0"/>
              <a:t>Effects such as fog, blur, etc. may be added</a:t>
            </a:r>
          </a:p>
          <a:p>
            <a:r>
              <a:rPr lang="en-US" dirty="0" smtClean="0"/>
              <a:t>Fragments can be killed, their depth values can be altered</a:t>
            </a:r>
          </a:p>
          <a:p>
            <a:r>
              <a:rPr lang="en-US" dirty="0" smtClean="0"/>
              <a:t>Various post-processing effects can be applied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7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Activating a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Step 1:</a:t>
            </a:r>
            <a:r>
              <a:rPr lang="en-US" dirty="0" smtClean="0"/>
              <a:t> Create a </a:t>
            </a:r>
            <a:r>
              <a:rPr lang="en-US" dirty="0" err="1" smtClean="0"/>
              <a:t>shader</a:t>
            </a:r>
            <a:r>
              <a:rPr lang="en-US" dirty="0" smtClean="0"/>
              <a:t> program</a:t>
            </a:r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Gluint</a:t>
            </a:r>
            <a:r>
              <a:rPr lang="en-US" dirty="0" smtClean="0"/>
              <a:t>) </a:t>
            </a:r>
            <a:r>
              <a:rPr lang="en-US" dirty="0" err="1" smtClean="0"/>
              <a:t>glCreateProgram</a:t>
            </a:r>
            <a:r>
              <a:rPr lang="en-US" dirty="0" smtClean="0"/>
              <a:t>()</a:t>
            </a:r>
          </a:p>
          <a:p>
            <a:r>
              <a:rPr lang="en-US" b="1" dirty="0" smtClean="0"/>
              <a:t>Step 2: </a:t>
            </a:r>
            <a:r>
              <a:rPr lang="en-US" dirty="0" smtClean="0"/>
              <a:t>Create vertex and fragment </a:t>
            </a:r>
            <a:r>
              <a:rPr lang="en-US" dirty="0" err="1" smtClean="0"/>
              <a:t>shaders</a:t>
            </a:r>
            <a:endParaRPr lang="en-US" dirty="0"/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Gluint</a:t>
            </a:r>
            <a:r>
              <a:rPr lang="en-US" dirty="0" smtClean="0"/>
              <a:t>) </a:t>
            </a:r>
            <a:r>
              <a:rPr lang="en-US" dirty="0" err="1" smtClean="0"/>
              <a:t>glCreateShader</a:t>
            </a:r>
            <a:r>
              <a:rPr lang="en-US" dirty="0" smtClean="0"/>
              <a:t>(GL_VERTEX_SHADER)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Gluint</a:t>
            </a:r>
            <a:r>
              <a:rPr lang="en-US" dirty="0"/>
              <a:t>) </a:t>
            </a:r>
            <a:r>
              <a:rPr lang="en-US" dirty="0" err="1" smtClean="0"/>
              <a:t>glCreateShader</a:t>
            </a:r>
            <a:r>
              <a:rPr lang="en-US" dirty="0" smtClean="0"/>
              <a:t>(GL_FRAGMENT_SHADER)</a:t>
            </a:r>
          </a:p>
          <a:p>
            <a:r>
              <a:rPr lang="en-US" b="1" dirty="0" smtClean="0"/>
              <a:t>Step 3:</a:t>
            </a:r>
            <a:r>
              <a:rPr lang="en-US" dirty="0" smtClean="0"/>
              <a:t> Provide the source code</a:t>
            </a:r>
          </a:p>
          <a:p>
            <a:pPr lvl="1"/>
            <a:r>
              <a:rPr lang="en-US" dirty="0" err="1" smtClean="0"/>
              <a:t>glShaderSource</a:t>
            </a:r>
            <a:r>
              <a:rPr lang="en-US" dirty="0" smtClean="0"/>
              <a:t>(</a:t>
            </a:r>
            <a:r>
              <a:rPr lang="en-US" dirty="0" err="1" smtClean="0"/>
              <a:t>vertexShaderId</a:t>
            </a:r>
            <a:r>
              <a:rPr lang="en-US" dirty="0" smtClean="0"/>
              <a:t>, …)</a:t>
            </a:r>
          </a:p>
          <a:p>
            <a:pPr lvl="1"/>
            <a:r>
              <a:rPr lang="en-US" dirty="0" err="1" smtClean="0"/>
              <a:t>glShaderSource</a:t>
            </a:r>
            <a:r>
              <a:rPr lang="en-US" dirty="0" smtClean="0"/>
              <a:t>(</a:t>
            </a:r>
            <a:r>
              <a:rPr lang="en-US" dirty="0" err="1" smtClean="0"/>
              <a:t>fragmentShaderId</a:t>
            </a:r>
            <a:r>
              <a:rPr lang="en-US" dirty="0"/>
              <a:t>, </a:t>
            </a:r>
            <a:r>
              <a:rPr lang="en-US" dirty="0" smtClean="0"/>
              <a:t>…)</a:t>
            </a:r>
          </a:p>
          <a:p>
            <a:r>
              <a:rPr lang="en-US" b="1" dirty="0" smtClean="0"/>
              <a:t>Step 4:</a:t>
            </a:r>
            <a:r>
              <a:rPr lang="en-US" dirty="0" smtClean="0"/>
              <a:t> Compile the </a:t>
            </a:r>
            <a:r>
              <a:rPr lang="en-US" dirty="0" err="1" smtClean="0"/>
              <a:t>shaders</a:t>
            </a:r>
            <a:endParaRPr lang="en-US" dirty="0" smtClean="0"/>
          </a:p>
          <a:p>
            <a:pPr lvl="1"/>
            <a:r>
              <a:rPr lang="en-US" dirty="0" err="1" smtClean="0"/>
              <a:t>glCompileShader</a:t>
            </a:r>
            <a:r>
              <a:rPr lang="en-US" dirty="0" smtClean="0"/>
              <a:t>(</a:t>
            </a:r>
            <a:r>
              <a:rPr lang="en-US" dirty="0" err="1" smtClean="0"/>
              <a:t>vertexShaderId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glCompileShader</a:t>
            </a:r>
            <a:r>
              <a:rPr lang="en-US" dirty="0" smtClean="0"/>
              <a:t>(</a:t>
            </a:r>
            <a:r>
              <a:rPr lang="en-US" dirty="0" err="1" smtClean="0"/>
              <a:t>fragmentShaderId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Activating a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Step 5: </a:t>
            </a:r>
            <a:r>
              <a:rPr lang="en-US" dirty="0" smtClean="0"/>
              <a:t>Attach the </a:t>
            </a:r>
            <a:r>
              <a:rPr lang="en-US" dirty="0" err="1" smtClean="0"/>
              <a:t>shader</a:t>
            </a:r>
            <a:r>
              <a:rPr lang="en-US" dirty="0" smtClean="0"/>
              <a:t> to the </a:t>
            </a:r>
            <a:r>
              <a:rPr lang="en-US" dirty="0" err="1" smtClean="0"/>
              <a:t>shader</a:t>
            </a:r>
            <a:r>
              <a:rPr lang="en-US" dirty="0" smtClean="0"/>
              <a:t> program:</a:t>
            </a:r>
          </a:p>
          <a:p>
            <a:pPr lvl="1"/>
            <a:r>
              <a:rPr lang="en-US" dirty="0" err="1" smtClean="0"/>
              <a:t>glAttachShader</a:t>
            </a:r>
            <a:r>
              <a:rPr lang="en-US" dirty="0" smtClean="0"/>
              <a:t>(</a:t>
            </a:r>
            <a:r>
              <a:rPr lang="en-US" dirty="0" err="1" smtClean="0"/>
              <a:t>programId</a:t>
            </a:r>
            <a:r>
              <a:rPr lang="en-US" dirty="0" smtClean="0"/>
              <a:t>, </a:t>
            </a:r>
            <a:r>
              <a:rPr lang="en-US" dirty="0" err="1" smtClean="0"/>
              <a:t>vertexShaderId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glAttachShader</a:t>
            </a:r>
            <a:r>
              <a:rPr lang="en-US" dirty="0"/>
              <a:t>(</a:t>
            </a:r>
            <a:r>
              <a:rPr lang="en-US" dirty="0" err="1"/>
              <a:t>programId</a:t>
            </a:r>
            <a:r>
              <a:rPr lang="en-US" dirty="0"/>
              <a:t>, </a:t>
            </a:r>
            <a:r>
              <a:rPr lang="en-US" dirty="0" err="1" smtClean="0"/>
              <a:t>fragmentShaderId</a:t>
            </a:r>
            <a:r>
              <a:rPr lang="en-US" dirty="0"/>
              <a:t>)</a:t>
            </a:r>
          </a:p>
          <a:p>
            <a:r>
              <a:rPr lang="en-US" b="1" dirty="0" smtClean="0"/>
              <a:t>Step 6: </a:t>
            </a:r>
            <a:r>
              <a:rPr lang="en-US" dirty="0" smtClean="0"/>
              <a:t>Link the program:</a:t>
            </a:r>
          </a:p>
          <a:p>
            <a:pPr lvl="1"/>
            <a:r>
              <a:rPr lang="en-US" dirty="0" err="1" smtClean="0"/>
              <a:t>glLinkProgram</a:t>
            </a:r>
            <a:r>
              <a:rPr lang="en-US" dirty="0" smtClean="0"/>
              <a:t>(</a:t>
            </a:r>
            <a:r>
              <a:rPr lang="en-US" dirty="0" err="1" smtClean="0"/>
              <a:t>programId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Step 7: </a:t>
            </a:r>
            <a:r>
              <a:rPr lang="en-US" dirty="0" smtClean="0"/>
              <a:t>Activate the program:</a:t>
            </a:r>
          </a:p>
          <a:p>
            <a:pPr lvl="1"/>
            <a:r>
              <a:rPr lang="en-US" dirty="0" err="1" smtClean="0"/>
              <a:t>glUseProgram</a:t>
            </a:r>
            <a:r>
              <a:rPr lang="en-US" dirty="0" smtClean="0"/>
              <a:t>(</a:t>
            </a:r>
            <a:r>
              <a:rPr lang="en-US" dirty="0" err="1" smtClean="0"/>
              <a:t>programId</a:t>
            </a:r>
            <a:r>
              <a:rPr lang="en-US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6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Activating a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 err="1" smtClean="0"/>
              <a:t>shader</a:t>
            </a:r>
            <a:r>
              <a:rPr lang="en-US" dirty="0" smtClean="0"/>
              <a:t> programs may be linked but only one can be active at a </a:t>
            </a:r>
            <a:r>
              <a:rPr lang="en-US" dirty="0" smtClean="0"/>
              <a:t>time (i.e. for a single draw)</a:t>
            </a:r>
            <a:endParaRPr lang="en-US" dirty="0" smtClean="0"/>
          </a:p>
          <a:p>
            <a:r>
              <a:rPr lang="en-US" dirty="0" smtClean="0"/>
              <a:t>It is possible to draw different models using different </a:t>
            </a:r>
            <a:r>
              <a:rPr lang="en-US" dirty="0" err="1" smtClean="0"/>
              <a:t>shader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581400"/>
            <a:ext cx="1267861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265" y="3478684"/>
            <a:ext cx="259173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25043" y="5453059"/>
            <a:ext cx="3198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glUseProgram</a:t>
            </a:r>
            <a:r>
              <a:rPr lang="en-US" dirty="0" smtClean="0"/>
              <a:t>(prg1);</a:t>
            </a:r>
          </a:p>
          <a:p>
            <a:r>
              <a:rPr lang="en-US" dirty="0" err="1" smtClean="0"/>
              <a:t>glDrawElements</a:t>
            </a:r>
            <a:r>
              <a:rPr lang="en-US" dirty="0" smtClean="0"/>
              <a:t>(…); // bunny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76800" y="5453058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glUseProgram</a:t>
            </a:r>
            <a:r>
              <a:rPr lang="en-US" dirty="0" smtClean="0"/>
              <a:t>(prg2);</a:t>
            </a:r>
          </a:p>
          <a:p>
            <a:r>
              <a:rPr lang="en-US" dirty="0" err="1" smtClean="0"/>
              <a:t>glDrawElements</a:t>
            </a:r>
            <a:r>
              <a:rPr lang="en-US" dirty="0" smtClean="0"/>
              <a:t>(…); // dolphin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5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Activating a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tr-TR" sz="2700" dirty="0" err="1" smtClean="0"/>
              <a:t>Once</a:t>
            </a:r>
            <a:r>
              <a:rPr lang="tr-TR" sz="2700" dirty="0" smtClean="0"/>
              <a:t> a </a:t>
            </a:r>
            <a:r>
              <a:rPr lang="tr-TR" sz="2700" dirty="0" err="1" smtClean="0"/>
              <a:t>shader</a:t>
            </a:r>
            <a:r>
              <a:rPr lang="tr-TR" sz="2700" dirty="0" smtClean="0"/>
              <a:t> </a:t>
            </a:r>
            <a:r>
              <a:rPr lang="en-US" sz="2700" dirty="0" smtClean="0"/>
              <a:t>program is </a:t>
            </a:r>
            <a:r>
              <a:rPr lang="en-US" sz="2700" dirty="0" smtClean="0"/>
              <a:t>activated</a:t>
            </a:r>
            <a:r>
              <a:rPr lang="en-US" sz="2700" dirty="0" smtClean="0"/>
              <a:t>, certain operations will no longer be done for you</a:t>
            </a:r>
            <a:endParaRPr lang="en-US" sz="2700" dirty="0"/>
          </a:p>
          <a:p>
            <a:pPr>
              <a:lnSpc>
                <a:spcPct val="90000"/>
              </a:lnSpc>
            </a:pPr>
            <a:r>
              <a:rPr lang="en-US" sz="2700" dirty="0"/>
              <a:t>It’s up to you to replace it!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You’ll have to transform each vertex into </a:t>
            </a:r>
            <a:r>
              <a:rPr lang="en-US" sz="2200" dirty="0" smtClean="0"/>
              <a:t>canonical viewing volume </a:t>
            </a:r>
            <a:r>
              <a:rPr lang="en-US" sz="2200" dirty="0" smtClean="0"/>
              <a:t>manually (i.e. multiply with </a:t>
            </a:r>
            <a:r>
              <a:rPr lang="en-US" sz="2200" dirty="0" err="1" smtClean="0"/>
              <a:t>modelviewprojection</a:t>
            </a:r>
            <a:r>
              <a:rPr lang="en-US" sz="2200" dirty="0" smtClean="0"/>
              <a:t> matrix)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You’ll have to </a:t>
            </a:r>
            <a:r>
              <a:rPr lang="en-US" sz="2200" dirty="0" smtClean="0"/>
              <a:t>shade </a:t>
            </a:r>
            <a:r>
              <a:rPr lang="en-US" sz="2200" dirty="0"/>
              <a:t>each </a:t>
            </a:r>
            <a:r>
              <a:rPr lang="en-US" sz="2200" dirty="0" smtClean="0"/>
              <a:t>vertex or fragment </a:t>
            </a:r>
            <a:r>
              <a:rPr lang="en-US" sz="2200" dirty="0" smtClean="0"/>
              <a:t>manually (i.e. perform lighting computations)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700" dirty="0"/>
              <a:t>The installed </a:t>
            </a:r>
            <a:r>
              <a:rPr lang="en-US" sz="2700" dirty="0" smtClean="0"/>
              <a:t>program </a:t>
            </a:r>
            <a:r>
              <a:rPr lang="en-US" sz="2700" dirty="0"/>
              <a:t>replaces all OpenGL fixed functionality for all renders until you remove </a:t>
            </a:r>
            <a:r>
              <a:rPr lang="en-US" sz="2700" dirty="0" smtClean="0"/>
              <a:t>it with </a:t>
            </a:r>
            <a:r>
              <a:rPr lang="en-US" sz="2700" dirty="0" err="1" smtClean="0"/>
              <a:t>glUseProgram</a:t>
            </a:r>
            <a:r>
              <a:rPr lang="en-US" sz="2700" dirty="0" smtClean="0"/>
              <a:t>(0)</a:t>
            </a:r>
            <a:endParaRPr lang="en-US" sz="27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5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Communicating with </a:t>
            </a:r>
            <a:r>
              <a:rPr lang="en-US" dirty="0" err="1" smtClean="0"/>
              <a:t>Shadrs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962400" y="1676400"/>
            <a:ext cx="0" cy="47654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219200" y="1981200"/>
            <a:ext cx="19050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OpenGL</a:t>
            </a:r>
          </a:p>
          <a:p>
            <a:pPr algn="ctr"/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638800" y="1981200"/>
            <a:ext cx="1905000" cy="1143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Shader</a:t>
            </a:r>
            <a:endParaRPr lang="en-US" dirty="0" smtClean="0"/>
          </a:p>
          <a:p>
            <a:pPr algn="ctr"/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191000" y="3687762"/>
            <a:ext cx="1905000" cy="11430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Vertex</a:t>
            </a:r>
          </a:p>
          <a:p>
            <a:pPr algn="ctr"/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6934200" y="3682314"/>
            <a:ext cx="1905000" cy="11430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Fragment</a:t>
            </a:r>
          </a:p>
          <a:p>
            <a:pPr algn="ctr"/>
            <a:r>
              <a:rPr lang="en-US" dirty="0" err="1" smtClean="0"/>
              <a:t>Shader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0" idx="0"/>
            <a:endCxn id="9" idx="2"/>
          </p:cNvCxnSpPr>
          <p:nvPr/>
        </p:nvCxnSpPr>
        <p:spPr>
          <a:xfrm flipV="1">
            <a:off x="5143500" y="3124200"/>
            <a:ext cx="1447800" cy="563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0"/>
            <a:endCxn id="9" idx="2"/>
          </p:cNvCxnSpPr>
          <p:nvPr/>
        </p:nvCxnSpPr>
        <p:spPr>
          <a:xfrm flipH="1" flipV="1">
            <a:off x="6591300" y="3124200"/>
            <a:ext cx="1295400" cy="55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 flipV="1">
            <a:off x="6096000" y="4253814"/>
            <a:ext cx="838200" cy="5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3"/>
            <a:endCxn id="9" idx="1"/>
          </p:cNvCxnSpPr>
          <p:nvPr/>
        </p:nvCxnSpPr>
        <p:spPr>
          <a:xfrm>
            <a:off x="3124200" y="25527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71700" y="5181600"/>
            <a:ext cx="36957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Memory Buffers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057400" y="3124200"/>
            <a:ext cx="1200150" cy="205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190752" y="3124200"/>
            <a:ext cx="1185861" cy="2029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876800" y="4825314"/>
            <a:ext cx="228600" cy="35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4953000" y="4825314"/>
            <a:ext cx="214312" cy="35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5867400" y="4825314"/>
            <a:ext cx="1676400" cy="584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881815" y="4861390"/>
            <a:ext cx="1895618" cy="74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2436" y="41148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CPU Side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287818" y="5629386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dirty="0" smtClean="0"/>
              <a:t>PU Side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034215" y="3886200"/>
            <a:ext cx="949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Varying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503221" y="22098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Uniform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5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Communicating with </a:t>
            </a:r>
            <a:r>
              <a:rPr lang="en-US" dirty="0" err="1" smtClean="0"/>
              <a:t>Shaders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OpenGL program can send data to </a:t>
            </a:r>
            <a:r>
              <a:rPr lang="en-US" dirty="0" err="1" smtClean="0"/>
              <a:t>shaders</a:t>
            </a:r>
            <a:r>
              <a:rPr lang="en-US" dirty="0" smtClean="0"/>
              <a:t> through </a:t>
            </a:r>
            <a:r>
              <a:rPr lang="en-US" dirty="0" smtClean="0">
                <a:solidFill>
                  <a:srgbClr val="C00000"/>
                </a:solidFill>
              </a:rPr>
              <a:t>uniform variables</a:t>
            </a:r>
            <a:r>
              <a:rPr lang="en-US" dirty="0" smtClean="0"/>
              <a:t> or by using </a:t>
            </a:r>
            <a:r>
              <a:rPr lang="en-US" dirty="0" smtClean="0">
                <a:solidFill>
                  <a:srgbClr val="C00000"/>
                </a:solidFill>
              </a:rPr>
              <a:t>memory buffers</a:t>
            </a:r>
          </a:p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can send data to a fragment </a:t>
            </a:r>
            <a:r>
              <a:rPr lang="en-US" dirty="0" err="1" smtClean="0"/>
              <a:t>shader</a:t>
            </a:r>
            <a:r>
              <a:rPr lang="en-US" dirty="0" smtClean="0"/>
              <a:t> but not vice-versa </a:t>
            </a:r>
            <a:r>
              <a:rPr lang="en-US" dirty="0" smtClean="0"/>
              <a:t>(dataflow </a:t>
            </a:r>
            <a:r>
              <a:rPr lang="en-US" dirty="0" smtClean="0"/>
              <a:t>is one-way only)</a:t>
            </a:r>
          </a:p>
          <a:p>
            <a:r>
              <a:rPr lang="en-US" dirty="0" smtClean="0"/>
              <a:t>Vertex and fragment </a:t>
            </a:r>
            <a:r>
              <a:rPr lang="en-US" dirty="0" err="1" smtClean="0"/>
              <a:t>shaders</a:t>
            </a:r>
            <a:r>
              <a:rPr lang="en-US" dirty="0" smtClean="0"/>
              <a:t> can write data to memory buffers which can be read back by the OpenGL program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8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</a:t>
            </a:r>
            <a:r>
              <a:rPr lang="en-US" dirty="0" err="1"/>
              <a:t>Shaders</a:t>
            </a:r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53197" y="1676400"/>
            <a:ext cx="5257800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/>
              <a:t>There are three types of </a:t>
            </a:r>
            <a:r>
              <a:rPr lang="en-US" dirty="0" err="1"/>
              <a:t>shader</a:t>
            </a:r>
            <a:r>
              <a:rPr lang="en-US" dirty="0"/>
              <a:t> parameter in </a:t>
            </a:r>
            <a:r>
              <a:rPr lang="en-US" dirty="0" smtClean="0"/>
              <a:t>GLSL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i="1" dirty="0">
                <a:solidFill>
                  <a:srgbClr val="C00000"/>
                </a:solidFill>
              </a:rPr>
              <a:t>Uniform</a:t>
            </a:r>
            <a:r>
              <a:rPr lang="en-US" i="1" dirty="0"/>
              <a:t> parameters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Set </a:t>
            </a:r>
            <a:r>
              <a:rPr lang="en-US" dirty="0" smtClean="0"/>
              <a:t>from the CPU program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 smtClean="0"/>
              <a:t>Think of them as global variables</a:t>
            </a:r>
            <a:endParaRPr lang="en-US" dirty="0" smtClean="0"/>
          </a:p>
          <a:p>
            <a:pPr lvl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i="1" dirty="0">
                <a:solidFill>
                  <a:srgbClr val="C00000"/>
                </a:solidFill>
              </a:rPr>
              <a:t>Attribute</a:t>
            </a:r>
            <a:r>
              <a:rPr lang="en-US" i="1" dirty="0"/>
              <a:t> parameters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Set per vertex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E.g. position, color, normal, </a:t>
            </a:r>
            <a:r>
              <a:rPr lang="mr-IN" dirty="0" smtClean="0"/>
              <a:t>…</a:t>
            </a:r>
            <a:endParaRPr lang="en-US" dirty="0" smtClean="0"/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i="1" dirty="0" smtClean="0">
                <a:solidFill>
                  <a:srgbClr val="C00000"/>
                </a:solidFill>
              </a:rPr>
              <a:t>Varying</a:t>
            </a:r>
            <a:r>
              <a:rPr lang="en-US" i="1" dirty="0" smtClean="0"/>
              <a:t> parameters</a:t>
            </a:r>
            <a:endParaRPr lang="en-US" i="1" dirty="0"/>
          </a:p>
          <a:p>
            <a:pPr lvl="1">
              <a:lnSpc>
                <a:spcPct val="80000"/>
              </a:lnSpc>
            </a:pPr>
            <a:r>
              <a:rPr lang="en-US" dirty="0"/>
              <a:t>Passed from vertex processor to fragment processor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E.g. rasterized position, color, </a:t>
            </a:r>
            <a:r>
              <a:rPr lang="mr-IN" dirty="0" smtClean="0"/>
              <a:t>…</a:t>
            </a:r>
            <a:endParaRPr lang="en-US" dirty="0"/>
          </a:p>
        </p:txBody>
      </p:sp>
      <p:sp>
        <p:nvSpPr>
          <p:cNvPr id="49156" name="AutoShape 4"/>
          <p:cNvSpPr>
            <a:spLocks noChangeArrowheads="1"/>
          </p:cNvSpPr>
          <p:nvPr/>
        </p:nvSpPr>
        <p:spPr bwMode="auto">
          <a:xfrm>
            <a:off x="6705600" y="4495800"/>
            <a:ext cx="1143000" cy="106680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Fragment</a:t>
            </a:r>
          </a:p>
          <a:p>
            <a:pPr algn="ctr"/>
            <a:r>
              <a:rPr lang="en-US" sz="1400"/>
              <a:t>Processor</a:t>
            </a: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6705600" y="2667000"/>
            <a:ext cx="1143000" cy="106680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Vertex</a:t>
            </a:r>
          </a:p>
          <a:p>
            <a:pPr algn="ctr"/>
            <a:r>
              <a:rPr lang="en-US" sz="1400"/>
              <a:t>Processor</a:t>
            </a:r>
          </a:p>
        </p:txBody>
      </p:sp>
      <p:sp>
        <p:nvSpPr>
          <p:cNvPr id="49158" name="Line 6"/>
          <p:cNvSpPr>
            <a:spLocks noChangeShapeType="1"/>
          </p:cNvSpPr>
          <p:nvPr/>
        </p:nvSpPr>
        <p:spPr bwMode="auto">
          <a:xfrm>
            <a:off x="73152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6781800" y="1905000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</a:rPr>
              <a:t>Attributes</a:t>
            </a: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7315200" y="3733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5276850" y="3657600"/>
            <a:ext cx="971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</a:rPr>
              <a:t>Uniform</a:t>
            </a:r>
          </a:p>
          <a:p>
            <a:r>
              <a:rPr lang="en-US">
                <a:latin typeface="Times New Roman" panose="02020603050405020304" pitchFamily="18" charset="0"/>
              </a:rPr>
              <a:t>params</a:t>
            </a:r>
          </a:p>
        </p:txBody>
      </p:sp>
      <p:sp>
        <p:nvSpPr>
          <p:cNvPr id="49162" name="AutoShape 10"/>
          <p:cNvSpPr>
            <a:spLocks/>
          </p:cNvSpPr>
          <p:nvPr/>
        </p:nvSpPr>
        <p:spPr bwMode="auto">
          <a:xfrm>
            <a:off x="6248400" y="2590800"/>
            <a:ext cx="304800" cy="2971800"/>
          </a:xfrm>
          <a:prstGeom prst="leftBrace">
            <a:avLst>
              <a:gd name="adj1" fmla="val 8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7981950" y="3810000"/>
            <a:ext cx="933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</a:rPr>
              <a:t>Varying</a:t>
            </a:r>
          </a:p>
          <a:p>
            <a:r>
              <a:rPr lang="en-US">
                <a:latin typeface="Times New Roman" panose="02020603050405020304" pitchFamily="18" charset="0"/>
              </a:rPr>
              <a:t>params</a:t>
            </a:r>
          </a:p>
        </p:txBody>
      </p:sp>
      <p:sp>
        <p:nvSpPr>
          <p:cNvPr id="49164" name="AutoShape 12"/>
          <p:cNvSpPr>
            <a:spLocks/>
          </p:cNvSpPr>
          <p:nvPr/>
        </p:nvSpPr>
        <p:spPr bwMode="auto">
          <a:xfrm>
            <a:off x="7848600" y="38100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Shader</a:t>
            </a:r>
            <a:r>
              <a:rPr lang="en-US" dirty="0"/>
              <a:t> </a:t>
            </a:r>
            <a:r>
              <a:rPr lang="en-US" dirty="0" smtClean="0"/>
              <a:t>Gallery </a:t>
            </a:r>
            <a:r>
              <a:rPr lang="en-US" dirty="0"/>
              <a:t>II</a:t>
            </a:r>
          </a:p>
        </p:txBody>
      </p:sp>
      <p:pic>
        <p:nvPicPr>
          <p:cNvPr id="75779" name="Picture 3" descr="realistic-nature-rendering-tree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81" y="1905000"/>
            <a:ext cx="3321538" cy="1943100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0" name="Picture 4" descr="realistic-nature-rendering-grass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3967163"/>
            <a:ext cx="3314700" cy="1366837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2" name="Picture 6" descr="shaders_carpaint_complete"/>
          <p:cNvPicPr>
            <a:picLocks noGrp="1" noChangeAspect="1" noChangeArrowheads="1"/>
          </p:cNvPicPr>
          <p:nvPr>
            <p:ph sz="half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6300" y="2205038"/>
            <a:ext cx="3771900" cy="2900362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990600" y="5486400"/>
            <a:ext cx="33528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</a:rPr>
              <a:t>Above: Kevin Boulanger (PhD thesis, “</a:t>
            </a:r>
            <a:r>
              <a:rPr lang="en-US" sz="1400" i="1">
                <a:latin typeface="Times New Roman" panose="02020603050405020304" pitchFamily="18" charset="0"/>
              </a:rPr>
              <a:t>Real-Time Realistic Rendering of Nature Scenes with Dynamic Lighting</a:t>
            </a:r>
            <a:r>
              <a:rPr lang="en-US" sz="1400">
                <a:latin typeface="Times New Roman" panose="02020603050405020304" pitchFamily="18" charset="0"/>
              </a:rPr>
              <a:t>”, 2005)</a:t>
            </a:r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5029200" y="5486400"/>
            <a:ext cx="3184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Above: Ben </a:t>
            </a:r>
            <a:r>
              <a:rPr lang="en-US" sz="1400" dirty="0" err="1">
                <a:latin typeface="Times New Roman" panose="02020603050405020304" pitchFamily="18" charset="0"/>
              </a:rPr>
              <a:t>Cloward</a:t>
            </a:r>
            <a:r>
              <a:rPr lang="en-US" sz="1400" dirty="0">
                <a:latin typeface="Times New Roman" panose="02020603050405020304" pitchFamily="18" charset="0"/>
              </a:rPr>
              <a:t> (“Car paint </a:t>
            </a:r>
            <a:r>
              <a:rPr lang="en-US" sz="1400" dirty="0" err="1">
                <a:latin typeface="Times New Roman" panose="02020603050405020304" pitchFamily="18" charset="0"/>
              </a:rPr>
              <a:t>shader</a:t>
            </a:r>
            <a:r>
              <a:rPr lang="en-US" sz="1400" dirty="0">
                <a:latin typeface="Times New Roman" panose="02020603050405020304" pitchFamily="18" charset="0"/>
              </a:rPr>
              <a:t>”)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276600" y="6403975"/>
            <a:ext cx="2895600" cy="457200"/>
          </a:xfrm>
        </p:spPr>
        <p:txBody>
          <a:bodyPr/>
          <a:lstStyle/>
          <a:p>
            <a:r>
              <a:rPr lang="en-US" dirty="0" smtClean="0"/>
              <a:t>CENG 477 – Computer Graphics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573E1-4C5C-46EC-88AD-F330D1C2AD9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3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Sample 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573E1-4C5C-46EC-88AD-F330D1C2AD9C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246806" cy="41910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1752600" y="1828800"/>
            <a:ext cx="2743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7859" y="1828800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Version string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505200" y="2438400"/>
            <a:ext cx="1075403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63762" y="2325469"/>
            <a:ext cx="3356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Uniform variables that must</a:t>
            </a:r>
          </a:p>
          <a:p>
            <a:r>
              <a:rPr lang="en-US" dirty="0" smtClean="0"/>
              <a:t>be set by the OpenGL program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276600" y="3200400"/>
            <a:ext cx="1304003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0603" y="3164527"/>
            <a:ext cx="3390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Varying variables that will</a:t>
            </a:r>
          </a:p>
          <a:p>
            <a:r>
              <a:rPr lang="en-US" dirty="0" smtClean="0"/>
              <a:t>be rasterized for each fragment</a:t>
            </a:r>
            <a:endParaRPr lang="en-US" dirty="0"/>
          </a:p>
        </p:txBody>
      </p:sp>
      <p:cxnSp>
        <p:nvCxnSpPr>
          <p:cNvPr id="3" name="Straight Arrow Connector 2"/>
          <p:cNvCxnSpPr>
            <a:endCxn id="11" idx="1"/>
          </p:cNvCxnSpPr>
          <p:nvPr/>
        </p:nvCxnSpPr>
        <p:spPr>
          <a:xfrm flipV="1">
            <a:off x="4580603" y="4743675"/>
            <a:ext cx="2239297" cy="209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endCxn id="11" idx="1"/>
          </p:cNvCxnSpPr>
          <p:nvPr/>
        </p:nvCxnSpPr>
        <p:spPr>
          <a:xfrm flipH="1" flipV="1">
            <a:off x="6819900" y="4743675"/>
            <a:ext cx="266700" cy="361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19900" y="4420509"/>
            <a:ext cx="2232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Attribute variables </a:t>
            </a:r>
          </a:p>
          <a:p>
            <a:r>
              <a:rPr lang="en-US" dirty="0" smtClean="0"/>
              <a:t>fetched from buffers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2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Sample Fragment </a:t>
            </a:r>
            <a:r>
              <a:rPr lang="en-US" dirty="0" err="1" smtClean="0"/>
              <a:t>Shader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38" y="1673288"/>
            <a:ext cx="7764162" cy="404171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657600" y="3962400"/>
            <a:ext cx="23622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20251" y="495300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Local variables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297195" y="5474732"/>
            <a:ext cx="1066800" cy="31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19600" y="5715000"/>
            <a:ext cx="4160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Variables declared as varying in VS</a:t>
            </a:r>
          </a:p>
          <a:p>
            <a:r>
              <a:rPr lang="en-US" dirty="0" smtClean="0"/>
              <a:t>must also be declared as varying in FS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671119" y="4913228"/>
            <a:ext cx="838200" cy="219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00274" y="5021395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Uniform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34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Sample Fragment </a:t>
            </a:r>
            <a:r>
              <a:rPr lang="en-US" dirty="0" err="1" smtClean="0"/>
              <a:t>Shader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8055847" cy="43248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039258"/>
            <a:ext cx="369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Special value indicating pixel color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600200" y="5715000"/>
            <a:ext cx="1143000" cy="327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82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Values of Uniforms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niform variables must be set by the main program</a:t>
            </a:r>
          </a:p>
          <a:p>
            <a:r>
              <a:rPr lang="en-US" b="1" dirty="0" smtClean="0"/>
              <a:t>Step 1:</a:t>
            </a:r>
            <a:r>
              <a:rPr lang="en-US" dirty="0" smtClean="0"/>
              <a:t> Query their location</a:t>
            </a:r>
          </a:p>
          <a:p>
            <a:pPr lvl="1"/>
            <a:r>
              <a:rPr lang="en-US" dirty="0" smtClean="0"/>
              <a:t>(Glint) </a:t>
            </a:r>
            <a:r>
              <a:rPr lang="en-US" dirty="0" err="1" smtClean="0"/>
              <a:t>glGetUniformLocation</a:t>
            </a:r>
            <a:r>
              <a:rPr lang="en-US" dirty="0" smtClean="0"/>
              <a:t>(</a:t>
            </a:r>
            <a:r>
              <a:rPr lang="en-US" dirty="0" err="1" smtClean="0"/>
              <a:t>programId</a:t>
            </a:r>
            <a:r>
              <a:rPr lang="en-US" dirty="0" smtClean="0"/>
              <a:t>, “</a:t>
            </a:r>
            <a:r>
              <a:rPr lang="en-US" dirty="0" err="1" smtClean="0"/>
              <a:t>variableName</a:t>
            </a:r>
            <a:r>
              <a:rPr lang="en-US" dirty="0" smtClean="0"/>
              <a:t>”)</a:t>
            </a:r>
          </a:p>
          <a:p>
            <a:r>
              <a:rPr lang="en-US" b="1" dirty="0" smtClean="0"/>
              <a:t>Step 2: </a:t>
            </a:r>
            <a:r>
              <a:rPr lang="en-US" dirty="0" smtClean="0"/>
              <a:t>Make the program current:</a:t>
            </a:r>
          </a:p>
          <a:p>
            <a:pPr lvl="1"/>
            <a:r>
              <a:rPr lang="en-US" dirty="0" err="1" smtClean="0"/>
              <a:t>glUseProgram</a:t>
            </a:r>
            <a:r>
              <a:rPr lang="en-US" dirty="0" smtClean="0"/>
              <a:t>(</a:t>
            </a:r>
            <a:r>
              <a:rPr lang="en-US" dirty="0" err="1" smtClean="0"/>
              <a:t>programId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Step 3:</a:t>
            </a:r>
            <a:r>
              <a:rPr lang="en-US" dirty="0" smtClean="0"/>
              <a:t> Set the variable using the proper command based on the type of the variable:</a:t>
            </a:r>
          </a:p>
          <a:p>
            <a:pPr lvl="1"/>
            <a:r>
              <a:rPr lang="en-US" dirty="0" smtClean="0"/>
              <a:t>glUniform1f(location, v1); </a:t>
            </a:r>
            <a:r>
              <a:rPr lang="en-US" dirty="0" smtClean="0">
                <a:solidFill>
                  <a:srgbClr val="0070C0"/>
                </a:solidFill>
              </a:rPr>
              <a:t>// v1 is a float</a:t>
            </a:r>
          </a:p>
          <a:p>
            <a:pPr lvl="1"/>
            <a:r>
              <a:rPr lang="en-US" dirty="0" smtClean="0"/>
              <a:t>glUniform3fv(location</a:t>
            </a:r>
            <a:r>
              <a:rPr lang="en-US" smtClean="0"/>
              <a:t>, 1, v2</a:t>
            </a:r>
            <a:r>
              <a:rPr lang="en-US" dirty="0" smtClean="0"/>
              <a:t>); </a:t>
            </a:r>
            <a:r>
              <a:rPr lang="en-US" dirty="0">
                <a:solidFill>
                  <a:srgbClr val="0070C0"/>
                </a:solidFill>
              </a:rPr>
              <a:t>// v2 is float v2[3]</a:t>
            </a:r>
          </a:p>
          <a:p>
            <a:pPr lvl="1"/>
            <a:r>
              <a:rPr lang="en-US" dirty="0" smtClean="0"/>
              <a:t>glUniformMatrix4fv(location, 1, GL_FALSE, v3); </a:t>
            </a:r>
            <a:r>
              <a:rPr lang="en-US" dirty="0">
                <a:solidFill>
                  <a:srgbClr val="0070C0"/>
                </a:solidFill>
              </a:rPr>
              <a:t>// upload one 4x4 matrix in column major order (16 values are taken from v3)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Values of Uniforms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variables are </a:t>
            </a:r>
            <a:r>
              <a:rPr lang="en-US" dirty="0" smtClean="0">
                <a:solidFill>
                  <a:srgbClr val="C00000"/>
                </a:solidFill>
              </a:rPr>
              <a:t>sticky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/>
              <a:t>The last set value remains valid until you change it</a:t>
            </a:r>
            <a:endParaRPr lang="en-US" dirty="0"/>
          </a:p>
          <a:p>
            <a:pPr lvl="1"/>
            <a:r>
              <a:rPr lang="en-US" dirty="0" smtClean="0"/>
              <a:t>No need to </a:t>
            </a:r>
            <a:r>
              <a:rPr lang="en-US" dirty="0" err="1" smtClean="0"/>
              <a:t>reupload</a:t>
            </a:r>
            <a:r>
              <a:rPr lang="en-US" dirty="0" smtClean="0"/>
              <a:t> at each draw (or frame) if the value does not change</a:t>
            </a:r>
          </a:p>
          <a:p>
            <a:r>
              <a:rPr lang="en-US" b="1" dirty="0" smtClean="0"/>
              <a:t>GLM library </a:t>
            </a:r>
            <a:r>
              <a:rPr lang="en-US" dirty="0" smtClean="0"/>
              <a:t>facilitates setting matrix values: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962400"/>
            <a:ext cx="819074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1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previous </a:t>
            </a:r>
            <a:r>
              <a:rPr lang="en-US" dirty="0" err="1" smtClean="0"/>
              <a:t>shaders</a:t>
            </a:r>
            <a:r>
              <a:rPr lang="en-US" dirty="0" smtClean="0"/>
              <a:t> implement a shading scheme what is known as </a:t>
            </a:r>
            <a:r>
              <a:rPr lang="en-US" dirty="0" err="1" smtClean="0">
                <a:solidFill>
                  <a:srgbClr val="C00000"/>
                </a:solidFill>
              </a:rPr>
              <a:t>Phong</a:t>
            </a:r>
            <a:r>
              <a:rPr lang="en-US" dirty="0" smtClean="0">
                <a:solidFill>
                  <a:srgbClr val="C00000"/>
                </a:solidFill>
              </a:rPr>
              <a:t> shading</a:t>
            </a:r>
            <a:r>
              <a:rPr lang="en-US" dirty="0" smtClean="0"/>
              <a:t> (do not confuse it with </a:t>
            </a:r>
            <a:r>
              <a:rPr lang="en-US" dirty="0" err="1" smtClean="0"/>
              <a:t>Phong</a:t>
            </a:r>
            <a:r>
              <a:rPr lang="en-US" dirty="0"/>
              <a:t> </a:t>
            </a:r>
            <a:r>
              <a:rPr lang="en-US" dirty="0" smtClean="0"/>
              <a:t>Exponent in ray tracing)</a:t>
            </a:r>
          </a:p>
          <a:p>
            <a:r>
              <a:rPr lang="en-US" b="1" dirty="0" smtClean="0"/>
              <a:t>Basic idea:</a:t>
            </a:r>
          </a:p>
          <a:p>
            <a:pPr lvl="1"/>
            <a:r>
              <a:rPr lang="en-US" dirty="0" smtClean="0"/>
              <a:t>Interpolate per-vertex normal</a:t>
            </a:r>
          </a:p>
          <a:p>
            <a:pPr lvl="1"/>
            <a:r>
              <a:rPr lang="en-US" dirty="0" smtClean="0"/>
              <a:t>Perform shading per-fragment using interpolated </a:t>
            </a:r>
            <a:r>
              <a:rPr lang="en-US" dirty="0" err="1" smtClean="0"/>
              <a:t>normals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alternative method is known as </a:t>
            </a:r>
            <a:r>
              <a:rPr lang="en-US" dirty="0" err="1" smtClean="0">
                <a:solidFill>
                  <a:srgbClr val="C00000"/>
                </a:solidFill>
              </a:rPr>
              <a:t>Gouraud</a:t>
            </a:r>
            <a:r>
              <a:rPr lang="en-US" dirty="0" smtClean="0">
                <a:solidFill>
                  <a:srgbClr val="C00000"/>
                </a:solidFill>
              </a:rPr>
              <a:t> shading</a:t>
            </a:r>
          </a:p>
          <a:p>
            <a:r>
              <a:rPr lang="en-US" b="1" dirty="0" smtClean="0"/>
              <a:t>Basic idea:</a:t>
            </a:r>
          </a:p>
          <a:p>
            <a:pPr lvl="1"/>
            <a:r>
              <a:rPr lang="en-US" dirty="0" smtClean="0"/>
              <a:t>Compute shading per-vertex using vertex normal</a:t>
            </a:r>
          </a:p>
          <a:p>
            <a:pPr lvl="1"/>
            <a:r>
              <a:rPr lang="en-US" dirty="0" smtClean="0"/>
              <a:t>Interpolate the resulting color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Flat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even simpler method is known as </a:t>
            </a:r>
            <a:r>
              <a:rPr lang="en-US" dirty="0" smtClean="0">
                <a:solidFill>
                  <a:srgbClr val="C00000"/>
                </a:solidFill>
              </a:rPr>
              <a:t>flat shading</a:t>
            </a:r>
          </a:p>
          <a:p>
            <a:r>
              <a:rPr lang="en-US" b="1" dirty="0" smtClean="0"/>
              <a:t>Basic idea:</a:t>
            </a:r>
          </a:p>
          <a:p>
            <a:pPr lvl="1"/>
            <a:r>
              <a:rPr lang="en-US" dirty="0" smtClean="0"/>
              <a:t>Compute shading at a single vertex of a primitive</a:t>
            </a:r>
          </a:p>
          <a:p>
            <a:pPr lvl="1"/>
            <a:r>
              <a:rPr lang="en-US" dirty="0" smtClean="0"/>
              <a:t>Set the entire primitive color to the resulting value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6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- Flat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33" y="1600200"/>
            <a:ext cx="5675133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2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- </a:t>
            </a:r>
            <a:r>
              <a:rPr lang="en-US" dirty="0" err="1" smtClean="0"/>
              <a:t>Gouraud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33" y="1600200"/>
            <a:ext cx="5675133" cy="452596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3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- </a:t>
            </a:r>
            <a:r>
              <a:rPr lang="en-US" dirty="0" err="1" smtClean="0"/>
              <a:t>Phong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33" y="1600200"/>
            <a:ext cx="5675133" cy="452596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5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 smtClean="0"/>
              <a:t>Shader</a:t>
            </a:r>
            <a:r>
              <a:rPr lang="en-US" dirty="0" smtClean="0"/>
              <a:t> Gallery III</a:t>
            </a:r>
            <a:endParaRPr lang="en-US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Various fragment shading results</a:t>
            </a:r>
            <a:endParaRPr lang="en-US" dirty="0"/>
          </a:p>
        </p:txBody>
      </p:sp>
      <p:pic>
        <p:nvPicPr>
          <p:cNvPr id="108548" name="Picture 4" descr="hue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90800"/>
            <a:ext cx="277177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49" name="Picture 5" descr="hue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908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50" name="Picture 6" descr="hue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90800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609600" y="5562600"/>
            <a:ext cx="2105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eaLnBrk="0" hangingPunct="0"/>
            <a:r>
              <a:rPr lang="en-US" sz="2400">
                <a:latin typeface="Times New Roman" panose="02020603050405020304" pitchFamily="18" charset="0"/>
              </a:rPr>
              <a:t>smooth shading</a:t>
            </a:r>
          </a:p>
        </p:txBody>
      </p:sp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3843338" y="5562600"/>
            <a:ext cx="17224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eaLnBrk="0" hangingPunct="0"/>
            <a:r>
              <a:rPr lang="en-US" sz="2400">
                <a:latin typeface="Times New Roman" panose="02020603050405020304" pitchFamily="18" charset="0"/>
              </a:rPr>
              <a:t>environment</a:t>
            </a:r>
          </a:p>
          <a:p>
            <a:pPr eaLnBrk="0" hangingPunct="0"/>
            <a:r>
              <a:rPr lang="en-US" sz="2400">
                <a:latin typeface="Times New Roman" panose="02020603050405020304" pitchFamily="18" charset="0"/>
              </a:rPr>
              <a:t>    mapping</a:t>
            </a: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6629400" y="5562600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eaLnBrk="0" hangingPunct="0"/>
            <a:r>
              <a:rPr lang="en-US" sz="2400">
                <a:latin typeface="Times New Roman" panose="02020603050405020304" pitchFamily="18" charset="0"/>
              </a:rPr>
              <a:t>bump mapping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GLSL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GLSL looks like C in terms of syntax</a:t>
            </a:r>
          </a:p>
          <a:p>
            <a:r>
              <a:rPr lang="en-US" dirty="0" smtClean="0"/>
              <a:t>There are many special vector algebra functions</a:t>
            </a:r>
          </a:p>
          <a:p>
            <a:r>
              <a:rPr lang="en-US" dirty="0" smtClean="0"/>
              <a:t>There is no print function!</a:t>
            </a:r>
          </a:p>
          <a:p>
            <a:r>
              <a:rPr lang="en-US" dirty="0" smtClean="0"/>
              <a:t>Debugging typically involves converting the value of interest to a color and visually looking at it</a:t>
            </a:r>
          </a:p>
          <a:p>
            <a:r>
              <a:rPr lang="en-US" dirty="0" smtClean="0"/>
              <a:t>There are many good GLSL tutorials online:</a:t>
            </a:r>
          </a:p>
          <a:p>
            <a:pPr lvl="1"/>
            <a:r>
              <a:rPr lang="en-US" dirty="0" smtClean="0"/>
              <a:t>E.g.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://www.lighthouse3d.com/tutorials/glsl-tutorial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In general, we only use a subset of the language</a:t>
            </a:r>
            <a:endParaRPr lang="en-US" dirty="0"/>
          </a:p>
          <a:p>
            <a:r>
              <a:rPr lang="en-US" dirty="0" smtClean="0"/>
              <a:t>Therefore, learning it in entirety is not required for this course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CENG 477 – Computer Graphics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3202</TotalTime>
  <Words>1628</Words>
  <Application>Microsoft Macintosh PowerPoint</Application>
  <PresentationFormat>On-screen Show (4:3)</PresentationFormat>
  <Paragraphs>322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BentonSansTRUMed</vt:lpstr>
      <vt:lpstr>BentonSansTRUReg</vt:lpstr>
      <vt:lpstr>Calibri</vt:lpstr>
      <vt:lpstr>Lucida Grande</vt:lpstr>
      <vt:lpstr>Times New Roman</vt:lpstr>
      <vt:lpstr>Arial</vt:lpstr>
      <vt:lpstr>metu</vt:lpstr>
      <vt:lpstr>CENG 477 Introduction to Computer Graphics</vt:lpstr>
      <vt:lpstr>Shaders</vt:lpstr>
      <vt:lpstr>Shaders</vt:lpstr>
      <vt:lpstr>Shader Gallery I</vt:lpstr>
      <vt:lpstr>What are we targeting?</vt:lpstr>
      <vt:lpstr>What are we targeting?</vt:lpstr>
      <vt:lpstr>What can you do in a shader?</vt:lpstr>
      <vt:lpstr>Parallelism</vt:lpstr>
      <vt:lpstr>Shading languages</vt:lpstr>
      <vt:lpstr>Vertex processor – inputs and outputs</vt:lpstr>
      <vt:lpstr>Vertex Processor</vt:lpstr>
      <vt:lpstr>Fragment processor – inputs and outputs</vt:lpstr>
      <vt:lpstr>Fragment Processor</vt:lpstr>
      <vt:lpstr>Activating a Shader</vt:lpstr>
      <vt:lpstr>Activating a Shader</vt:lpstr>
      <vt:lpstr>Activating a Shader</vt:lpstr>
      <vt:lpstr>Activating a Shader</vt:lpstr>
      <vt:lpstr>Communicating with Shadrs</vt:lpstr>
      <vt:lpstr>Communicating with Shaders</vt:lpstr>
      <vt:lpstr>Communicating with Shaders</vt:lpstr>
      <vt:lpstr>Shader Gallery II</vt:lpstr>
      <vt:lpstr>A Sample Vertex Shader</vt:lpstr>
      <vt:lpstr>A Sample Fragment Shader (1)</vt:lpstr>
      <vt:lpstr>A Sample Fragment Shader (2)</vt:lpstr>
      <vt:lpstr>Setting Values of Uniforms</vt:lpstr>
      <vt:lpstr>Setting Values of Uniforms</vt:lpstr>
      <vt:lpstr>Phong Shading</vt:lpstr>
      <vt:lpstr>Gouraud Shading</vt:lpstr>
      <vt:lpstr>Flat Shading</vt:lpstr>
      <vt:lpstr>Comparison - Flat</vt:lpstr>
      <vt:lpstr>Comparison - Gouraud</vt:lpstr>
      <vt:lpstr>Comparison - Phong</vt:lpstr>
      <vt:lpstr>Shader Gallery III</vt:lpstr>
      <vt:lpstr>Learning GLSL</vt:lpstr>
    </vt:vector>
  </TitlesOfParts>
  <Company>AMD,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Microsoft Office User</cp:lastModifiedBy>
  <cp:revision>483</cp:revision>
  <dcterms:created xsi:type="dcterms:W3CDTF">2011-10-08T08:51:54Z</dcterms:created>
  <dcterms:modified xsi:type="dcterms:W3CDTF">2017-12-04T07:47:56Z</dcterms:modified>
</cp:coreProperties>
</file>