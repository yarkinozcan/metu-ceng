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3" r:id="rId9"/>
    <p:sldId id="264" r:id="rId10"/>
    <p:sldId id="266" r:id="rId11"/>
    <p:sldId id="268" r:id="rId12"/>
    <p:sldId id="269" r:id="rId13"/>
    <p:sldId id="270" r:id="rId14"/>
    <p:sldId id="272" r:id="rId15"/>
    <p:sldId id="271" r:id="rId16"/>
    <p:sldId id="274" r:id="rId17"/>
    <p:sldId id="286" r:id="rId18"/>
    <p:sldId id="278" r:id="rId19"/>
    <p:sldId id="275" r:id="rId20"/>
    <p:sldId id="276" r:id="rId21"/>
    <p:sldId id="277" r:id="rId22"/>
    <p:sldId id="273" r:id="rId23"/>
    <p:sldId id="279" r:id="rId24"/>
    <p:sldId id="280" r:id="rId25"/>
    <p:sldId id="281" r:id="rId26"/>
    <p:sldId id="288" r:id="rId27"/>
    <p:sldId id="289" r:id="rId28"/>
    <p:sldId id="282" r:id="rId29"/>
    <p:sldId id="283" r:id="rId30"/>
    <p:sldId id="284" r:id="rId31"/>
    <p:sldId id="285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C00000"/>
    <a:srgbClr val="849B46"/>
    <a:srgbClr val="2FD000"/>
    <a:srgbClr val="7F8000"/>
    <a:srgbClr val="5FA000"/>
    <a:srgbClr val="887700"/>
    <a:srgbClr val="C33C00"/>
    <a:srgbClr val="FF0000"/>
    <a:srgbClr val="AA89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43"/>
  </p:normalViewPr>
  <p:slideViewPr>
    <p:cSldViewPr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5BBA5-28D6-4FEC-BDCF-A471F1B098D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59093-AD9B-4038-95B1-74A0CCD24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5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59093-AD9B-4038-95B1-74A0CCD2429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01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5AF9377-E336-4DD4-AA45-76AA9E35D108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CENG 477 -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4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044487C-19BE-41BA-9A5D-B6175BD5FAF1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98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17EACA9-B4E0-4A03-8FA0-42A385EC7AD3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13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A39B7A-A6D5-4A19-B6CF-970B0208EB3E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16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BD27E44-5C3C-4884-92DC-6D27A59EE568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1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D9DE8E6-8141-44AF-9EA0-3D69C0625515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17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8733EC0-FAC4-475A-B6C9-06664E16831E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21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418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CENG 477 -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418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85F22-8D96-4CC0-8AEC-D5DD4505838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470779"/>
            <a:ext cx="762000" cy="316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0" y="6391656"/>
            <a:ext cx="9144000" cy="91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6830568"/>
            <a:ext cx="91440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6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thematik.uni-marburg.de/~thormae/lectures/graphics1/code_v2/RasterPoly/index.html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CENG – 477</a:t>
            </a:r>
            <a:br>
              <a:rPr lang="en-US" dirty="0"/>
            </a:br>
            <a:r>
              <a:rPr lang="en-US" dirty="0"/>
              <a:t>Introduction to Computer Graphics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Rasterization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13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Rasterization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Rasterization</a:t>
            </a:r>
            <a:r>
              <a:rPr lang="en-US" dirty="0"/>
              <a:t> is concerned with creating </a:t>
            </a:r>
            <a:r>
              <a:rPr lang="en-US" dirty="0">
                <a:solidFill>
                  <a:schemeClr val="accent1"/>
                </a:solidFill>
              </a:rPr>
              <a:t>fragments</a:t>
            </a:r>
            <a:r>
              <a:rPr lang="en-US" dirty="0"/>
              <a:t> from </a:t>
            </a:r>
            <a:r>
              <a:rPr lang="en-US" dirty="0">
                <a:solidFill>
                  <a:schemeClr val="accent1"/>
                </a:solidFill>
              </a:rPr>
              <a:t>vertices</a:t>
            </a:r>
          </a:p>
          <a:p>
            <a:r>
              <a:rPr lang="en-US" dirty="0"/>
              <a:t>It works in screen coordinates – thus it is the next step after the </a:t>
            </a:r>
            <a:r>
              <a:rPr lang="en-US" dirty="0">
                <a:solidFill>
                  <a:schemeClr val="accent1"/>
                </a:solidFill>
              </a:rPr>
              <a:t>viewport transform</a:t>
            </a:r>
          </a:p>
          <a:p>
            <a:r>
              <a:rPr lang="en-US" b="1" dirty="0"/>
              <a:t>Goal: </a:t>
            </a:r>
            <a:r>
              <a:rPr lang="en-US" dirty="0"/>
              <a:t>Given a set of vertices which fragments must be “turned on” to create the primitive: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88085" y="433608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64933" y="433608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045933" y="433608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428616" y="433608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05464" y="433608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186464" y="433608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288085" y="471486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664933" y="471486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045933" y="471486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428616" y="471486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805464" y="471486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186464" y="471486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288085" y="5100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664933" y="5100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45933" y="5100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28616" y="5100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805464" y="5100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186464" y="5100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288085" y="5481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664933" y="5481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045933" y="5481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428616" y="5481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805464" y="5481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186464" y="5481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421435" y="5615312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319814" y="4469435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5035821" y="433608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412669" y="433608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5793669" y="433608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176352" y="433608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6553200" y="433608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6934200" y="4336085"/>
            <a:ext cx="381000" cy="3810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035821" y="471486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412669" y="471486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5793669" y="471486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6176352" y="4714866"/>
            <a:ext cx="381000" cy="3810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6553200" y="4714866"/>
            <a:ext cx="381000" cy="3810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6934200" y="471486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035821" y="5100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412669" y="5100962"/>
            <a:ext cx="381000" cy="3810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793669" y="5100962"/>
            <a:ext cx="381000" cy="3810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6176352" y="5100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6553200" y="5100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934200" y="5100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035821" y="5481962"/>
            <a:ext cx="381000" cy="3810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5412669" y="5481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5793669" y="5481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6176352" y="5481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553200" y="5481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6934200" y="5481962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Arrow 58"/>
          <p:cNvSpPr/>
          <p:nvPr/>
        </p:nvSpPr>
        <p:spPr>
          <a:xfrm>
            <a:off x="3886200" y="4905366"/>
            <a:ext cx="914400" cy="19050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45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Rasterization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Subproblems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How to deal with different primitives</a:t>
            </a:r>
          </a:p>
          <a:p>
            <a:pPr lvl="1"/>
            <a:r>
              <a:rPr lang="en-US" dirty="0"/>
              <a:t>How to make it fast</a:t>
            </a:r>
          </a:p>
          <a:p>
            <a:pPr lvl="1"/>
            <a:r>
              <a:rPr lang="en-US" dirty="0"/>
              <a:t>How to interpolate color and other attributes</a:t>
            </a:r>
          </a:p>
          <a:p>
            <a:r>
              <a:rPr lang="en-US" dirty="0"/>
              <a:t>We’ll start with line </a:t>
            </a:r>
            <a:r>
              <a:rPr lang="en-US" dirty="0" err="1"/>
              <a:t>rasterization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91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</a:t>
            </a:r>
            <a:r>
              <a:rPr lang="en-US" dirty="0" err="1"/>
              <a:t>Rasterization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methods exist</a:t>
            </a:r>
          </a:p>
          <a:p>
            <a:r>
              <a:rPr lang="en-US" b="1" dirty="0"/>
              <a:t>Option: </a:t>
            </a:r>
            <a:r>
              <a:rPr lang="en-US" dirty="0"/>
              <a:t>Treat the line as a thin rectangle and turn on pixels that are inside this rectangle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</a:t>
            </a:fld>
            <a:endParaRPr lang="en-US"/>
          </a:p>
        </p:txBody>
      </p:sp>
      <p:grpSp>
        <p:nvGrpSpPr>
          <p:cNvPr id="73" name="Group 72"/>
          <p:cNvGrpSpPr/>
          <p:nvPr/>
        </p:nvGrpSpPr>
        <p:grpSpPr>
          <a:xfrm>
            <a:off x="761961" y="3200400"/>
            <a:ext cx="2583126" cy="2692063"/>
            <a:chOff x="761961" y="3135868"/>
            <a:chExt cx="2583126" cy="2692063"/>
          </a:xfrm>
        </p:grpSpPr>
        <p:grpSp>
          <p:nvGrpSpPr>
            <p:cNvPr id="72" name="Group 71"/>
            <p:cNvGrpSpPr/>
            <p:nvPr/>
          </p:nvGrpSpPr>
          <p:grpSpPr>
            <a:xfrm>
              <a:off x="761961" y="3135868"/>
              <a:ext cx="2583126" cy="1944836"/>
              <a:chOff x="761961" y="3135868"/>
              <a:chExt cx="2583126" cy="1944836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903151" y="3553827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1279999" y="3553827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1660999" y="3553827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2043682" y="3553827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420530" y="3553827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801530" y="3553827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903151" y="3932608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1279999" y="3932608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1660999" y="3932608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2043682" y="3932608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420530" y="3932608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2801530" y="3932608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903151" y="4318704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1279999" y="4318704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1660999" y="4318704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043682" y="4318704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2420530" y="4318704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2801530" y="4318704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903151" y="4699704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1279999" y="4699704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1660999" y="4699704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2043682" y="4699704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2420530" y="4699704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2801530" y="4699704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1036501" y="4833054"/>
                <a:ext cx="114300" cy="1143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2934880" y="3687177"/>
                <a:ext cx="114300" cy="1143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 rot="19702892">
                <a:off x="761961" y="4217625"/>
                <a:ext cx="2583126" cy="17943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1413349" y="4452054"/>
                <a:ext cx="114300" cy="1143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1794349" y="4452054"/>
                <a:ext cx="114300" cy="1143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2177032" y="4065958"/>
                <a:ext cx="114300" cy="1143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2553880" y="4065958"/>
                <a:ext cx="114300" cy="1143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984677" y="3135868"/>
                <a:ext cx="20981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Too thin rectangle</a:t>
                </a: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984677" y="5181600"/>
              <a:ext cx="21978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itchFamily="34" charset="0"/>
                <a:buChar char="•"/>
              </a:pPr>
              <a:r>
                <a:rPr lang="en-US" dirty="0"/>
                <a:t>May cause gaps in the line</a:t>
              </a:r>
            </a:p>
          </p:txBody>
        </p:sp>
      </p:grpSp>
      <p:sp>
        <p:nvSpPr>
          <p:cNvPr id="39" name="Rectangle 38"/>
          <p:cNvSpPr/>
          <p:nvPr/>
        </p:nvSpPr>
        <p:spPr>
          <a:xfrm>
            <a:off x="5569221" y="361835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946069" y="361835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327069" y="361835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6709752" y="361835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086600" y="361835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7467600" y="361835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569221" y="399714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946069" y="399714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6327069" y="399714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6709752" y="399714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7086600" y="399714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7467600" y="399714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569221" y="438323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5946069" y="438323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6327069" y="438323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6709752" y="438323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086600" y="438323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7467600" y="438323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5569221" y="476423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5946069" y="476423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327069" y="476423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6709752" y="476423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7086600" y="476423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467600" y="4764236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5702571" y="4897586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7600950" y="3751709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 rot="19702892">
            <a:off x="5449641" y="4132915"/>
            <a:ext cx="2583126" cy="5481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6079419" y="4516586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6460419" y="4516586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6843102" y="4130490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7219950" y="413049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5650747" y="3200400"/>
            <a:ext cx="221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 thick rectangle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50747" y="5246132"/>
            <a:ext cx="2197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Line thickness varies</a:t>
            </a:r>
          </a:p>
        </p:txBody>
      </p:sp>
      <p:sp>
        <p:nvSpPr>
          <p:cNvPr id="75" name="Oval 74"/>
          <p:cNvSpPr/>
          <p:nvPr/>
        </p:nvSpPr>
        <p:spPr>
          <a:xfrm>
            <a:off x="7219950" y="3751709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6843102" y="4516586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52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</a:t>
            </a:r>
            <a:r>
              <a:rPr lang="en-US" dirty="0" err="1"/>
              <a:t>Rasterization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Adjusting the line thickness could be problematic; different slopes may require different thicknesses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Converting the line to a rectangle may be inefficient as well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9A3A5A-7641-4C71-A422-B85A4B35BE0F}"/>
              </a:ext>
            </a:extLst>
          </p:cNvPr>
          <p:cNvSpPr/>
          <p:nvPr/>
        </p:nvSpPr>
        <p:spPr>
          <a:xfrm rot="19531229">
            <a:off x="450449" y="3788076"/>
            <a:ext cx="2857565" cy="5936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7BE8B5-A348-4381-A05D-6198E3E96EB9}"/>
              </a:ext>
            </a:extLst>
          </p:cNvPr>
          <p:cNvSpPr txBox="1"/>
          <p:nvPr/>
        </p:nvSpPr>
        <p:spPr>
          <a:xfrm>
            <a:off x="2972531" y="3001586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CBF747-5997-48EE-A1F2-49497475F1BD}"/>
              </a:ext>
            </a:extLst>
          </p:cNvPr>
          <p:cNvCxnSpPr/>
          <p:nvPr/>
        </p:nvCxnSpPr>
        <p:spPr>
          <a:xfrm>
            <a:off x="2864311" y="3031372"/>
            <a:ext cx="0" cy="7541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10">
            <a:extLst>
              <a:ext uri="{FF2B5EF4-FFF2-40B4-BE49-F238E27FC236}">
                <a16:creationId xmlns:a16="http://schemas.microsoft.com/office/drawing/2014/main" id="{15881005-FC12-4A74-B187-14443F241CC0}"/>
              </a:ext>
            </a:extLst>
          </p:cNvPr>
          <p:cNvCxnSpPr>
            <a:endCxn id="25" idx="0"/>
          </p:cNvCxnSpPr>
          <p:nvPr/>
        </p:nvCxnSpPr>
        <p:spPr>
          <a:xfrm rot="16200000" flipH="1">
            <a:off x="2469093" y="3943961"/>
            <a:ext cx="1219200" cy="29274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A1F9BC0-3118-44C5-8E90-D4EE16EA740E}"/>
              </a:ext>
            </a:extLst>
          </p:cNvPr>
          <p:cNvSpPr txBox="1"/>
          <p:nvPr/>
        </p:nvSpPr>
        <p:spPr>
          <a:xfrm>
            <a:off x="2143100" y="4699931"/>
            <a:ext cx="2163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segment is &gt;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929FD7-58B6-4488-A958-B87EF3C866A4}"/>
              </a:ext>
            </a:extLst>
          </p:cNvPr>
          <p:cNvSpPr/>
          <p:nvPr/>
        </p:nvSpPr>
        <p:spPr>
          <a:xfrm rot="19531229">
            <a:off x="4605075" y="3758290"/>
            <a:ext cx="2857565" cy="5936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225DE0-2BAD-4405-989B-64783FF5F703}"/>
              </a:ext>
            </a:extLst>
          </p:cNvPr>
          <p:cNvSpPr txBox="1"/>
          <p:nvPr/>
        </p:nvSpPr>
        <p:spPr>
          <a:xfrm>
            <a:off x="7127157" y="2971800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t=1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4DEFCB-E359-47B0-806D-F39DA22D3205}"/>
              </a:ext>
            </a:extLst>
          </p:cNvPr>
          <p:cNvCxnSpPr/>
          <p:nvPr/>
        </p:nvCxnSpPr>
        <p:spPr>
          <a:xfrm>
            <a:off x="7018937" y="3001586"/>
            <a:ext cx="0" cy="7541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16">
            <a:extLst>
              <a:ext uri="{FF2B5EF4-FFF2-40B4-BE49-F238E27FC236}">
                <a16:creationId xmlns:a16="http://schemas.microsoft.com/office/drawing/2014/main" id="{5662629E-7FCB-48AD-9F22-B913A22B34EC}"/>
              </a:ext>
            </a:extLst>
          </p:cNvPr>
          <p:cNvCxnSpPr>
            <a:endCxn id="30" idx="0"/>
          </p:cNvCxnSpPr>
          <p:nvPr/>
        </p:nvCxnSpPr>
        <p:spPr>
          <a:xfrm rot="16200000" flipH="1">
            <a:off x="6744635" y="3793294"/>
            <a:ext cx="1219200" cy="53450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8FB6BF-FF6B-49F3-9B89-A270B8D10779}"/>
              </a:ext>
            </a:extLst>
          </p:cNvPr>
          <p:cNvSpPr txBox="1"/>
          <p:nvPr/>
        </p:nvSpPr>
        <p:spPr>
          <a:xfrm>
            <a:off x="6297726" y="4670145"/>
            <a:ext cx="2647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thus may contain more</a:t>
            </a:r>
          </a:p>
          <a:p>
            <a:r>
              <a:rPr lang="en-US" dirty="0"/>
              <a:t>than 1 pixel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A9EDF2C-363B-49F7-B734-D24781D7EF0E}"/>
              </a:ext>
            </a:extLst>
          </p:cNvPr>
          <p:cNvSpPr/>
          <p:nvPr/>
        </p:nvSpPr>
        <p:spPr>
          <a:xfrm>
            <a:off x="6972649" y="2996014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59F25A6-A730-4197-9B88-B37DFB8EFB70}"/>
              </a:ext>
            </a:extLst>
          </p:cNvPr>
          <p:cNvSpPr/>
          <p:nvPr/>
        </p:nvSpPr>
        <p:spPr>
          <a:xfrm>
            <a:off x="6965334" y="3579926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12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</a:t>
            </a:r>
            <a:r>
              <a:rPr lang="en-US" dirty="0" err="1"/>
              <a:t>Rasterization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Therefore we need another solution</a:t>
            </a:r>
          </a:p>
          <a:p>
            <a:r>
              <a:rPr lang="en-US" dirty="0"/>
              <a:t>We can use line equations to decide which pixels belong the line</a:t>
            </a:r>
          </a:p>
          <a:p>
            <a:r>
              <a:rPr lang="en-US" dirty="0"/>
              <a:t>Assume that we want to draw a line between two screen coordinates: (x</a:t>
            </a:r>
            <a:r>
              <a:rPr lang="en-US" baseline="-25000" dirty="0"/>
              <a:t>0</a:t>
            </a:r>
            <a:r>
              <a:rPr lang="en-US" dirty="0"/>
              <a:t>, y</a:t>
            </a:r>
            <a:r>
              <a:rPr lang="en-US" baseline="-25000" dirty="0"/>
              <a:t>0</a:t>
            </a:r>
            <a:r>
              <a:rPr lang="en-US" dirty="0"/>
              <a:t>) to (x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r>
              <a:rPr lang="en-US" dirty="0"/>
              <a:t>Assume that the slope of the line, </a:t>
            </a:r>
            <a:r>
              <a:rPr lang="en-US" i="1" dirty="0"/>
              <a:t>m</a:t>
            </a:r>
            <a:r>
              <a:rPr lang="en-US" dirty="0"/>
              <a:t>, is in range (0, 1]</a:t>
            </a:r>
            <a:endParaRPr lang="en-US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3435" y="4393009"/>
                <a:ext cx="1784399" cy="695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435" y="4393009"/>
                <a:ext cx="1784399" cy="6951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/>
          <p:cNvGrpSpPr/>
          <p:nvPr/>
        </p:nvGrpSpPr>
        <p:grpSpPr>
          <a:xfrm>
            <a:off x="4855759" y="4492923"/>
            <a:ext cx="3610516" cy="1884296"/>
            <a:chOff x="4855759" y="4492923"/>
            <a:chExt cx="3610516" cy="1884296"/>
          </a:xfrm>
        </p:grpSpPr>
        <p:grpSp>
          <p:nvGrpSpPr>
            <p:cNvPr id="33" name="Group 32"/>
            <p:cNvGrpSpPr/>
            <p:nvPr/>
          </p:nvGrpSpPr>
          <p:grpSpPr>
            <a:xfrm>
              <a:off x="5340621" y="4492923"/>
              <a:ext cx="2279379" cy="1526877"/>
              <a:chOff x="1288085" y="4336085"/>
              <a:chExt cx="2279379" cy="1526877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1288085" y="4336085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1664933" y="4336085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2045933" y="4336085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428616" y="4336085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805464" y="4336085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3186464" y="4336085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1288085" y="4714866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1664933" y="4714866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2045933" y="4714866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428616" y="4714866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2805464" y="4714866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3186464" y="4714866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1288085" y="5100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1664933" y="5100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045933" y="5100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2428616" y="5100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2805464" y="5100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3186464" y="5100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1288085" y="5481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1664933" y="5481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2045933" y="5481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2428616" y="5481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2805464" y="5481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3186464" y="5481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1421435" y="5615312"/>
                <a:ext cx="114300" cy="1143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3319814" y="4469435"/>
                <a:ext cx="114300" cy="1143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4855759" y="6007887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</a:t>
              </a:r>
              <a:r>
                <a:rPr lang="en-US" baseline="-25000" dirty="0"/>
                <a:t>0</a:t>
              </a:r>
              <a:r>
                <a:rPr lang="en-US" dirty="0"/>
                <a:t>, y</a:t>
              </a:r>
              <a:r>
                <a:rPr lang="en-US" baseline="-25000" dirty="0"/>
                <a:t>0</a:t>
              </a:r>
              <a:r>
                <a:rPr lang="en-US" dirty="0"/>
                <a:t>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598730" y="4496505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</a:t>
              </a:r>
              <a:r>
                <a:rPr lang="en-US" baseline="-25000" dirty="0"/>
                <a:t>1</a:t>
              </a:r>
              <a:r>
                <a:rPr lang="en-US" dirty="0"/>
                <a:t>, y</a:t>
              </a:r>
              <a:r>
                <a:rPr lang="en-US" baseline="-25000" dirty="0"/>
                <a:t>1</a:t>
              </a:r>
              <a:r>
                <a:rPr lang="en-US" dirty="0"/>
                <a:t>)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057012" y="5502250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Which pixels should we draw?</a:t>
            </a:r>
          </a:p>
        </p:txBody>
      </p:sp>
    </p:spTree>
    <p:extLst>
      <p:ext uri="{BB962C8B-B14F-4D97-AF65-F5344CB8AC3E}">
        <p14:creationId xmlns:p14="http://schemas.microsoft.com/office/powerpoint/2010/main" val="30102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first remember the implicit line equation: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derive it from geometry: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0" y="2514600"/>
                <a:ext cx="63095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) +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514600"/>
                <a:ext cx="6309548" cy="369332"/>
              </a:xfrm>
              <a:prstGeom prst="rect">
                <a:avLst/>
              </a:prstGeom>
              <a:blipFill>
                <a:blip r:embed="rId2"/>
                <a:stretch>
                  <a:fillRect l="-2222" t="-25000" r="-97" b="-5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304800" y="4082534"/>
            <a:ext cx="3458345" cy="1315998"/>
            <a:chOff x="304800" y="4082534"/>
            <a:chExt cx="3458345" cy="1315998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838200" y="4267200"/>
              <a:ext cx="2057400" cy="762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04800" y="5029200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</a:t>
              </a:r>
              <a:r>
                <a:rPr lang="en-US" baseline="-25000" dirty="0"/>
                <a:t>0</a:t>
              </a:r>
              <a:r>
                <a:rPr lang="en-US" dirty="0"/>
                <a:t>, y</a:t>
              </a:r>
              <a:r>
                <a:rPr lang="en-US" baseline="-25000" dirty="0"/>
                <a:t>0</a:t>
              </a:r>
              <a:r>
                <a:rPr lang="en-US" dirty="0"/>
                <a:t>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895600" y="4082534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</a:t>
              </a:r>
              <a:r>
                <a:rPr lang="en-US" baseline="-25000" dirty="0"/>
                <a:t>1</a:t>
              </a:r>
              <a:r>
                <a:rPr lang="en-US" dirty="0"/>
                <a:t>, y</a:t>
              </a:r>
              <a:r>
                <a:rPr lang="en-US" baseline="-25000" dirty="0"/>
                <a:t>1</a:t>
              </a:r>
              <a:r>
                <a:rPr lang="en-US" dirty="0"/>
                <a:t>)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483113" y="3951521"/>
            <a:ext cx="475785" cy="652075"/>
            <a:chOff x="1483113" y="3951521"/>
            <a:chExt cx="475785" cy="652075"/>
          </a:xfrm>
        </p:grpSpPr>
        <p:cxnSp>
          <p:nvCxnSpPr>
            <p:cNvPr id="12" name="Straight Arrow Connector 11"/>
            <p:cNvCxnSpPr/>
            <p:nvPr/>
          </p:nvCxnSpPr>
          <p:spPr>
            <a:xfrm flipH="1" flipV="1">
              <a:off x="1752600" y="4082534"/>
              <a:ext cx="206298" cy="5210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1483113" y="3951521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425820" y="3886200"/>
                <a:ext cx="3330784" cy="3689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400" dirty="0"/>
                            <m:t>,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aseline="30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820" y="3886200"/>
                <a:ext cx="3330784" cy="368947"/>
              </a:xfrm>
              <a:prstGeom prst="rect">
                <a:avLst/>
              </a:prstGeom>
              <a:blipFill>
                <a:blip r:embed="rId3"/>
                <a:stretch>
                  <a:fillRect l="-1099" r="-2015" b="-3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442547" y="4427107"/>
                <a:ext cx="28901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baseline="30000" dirty="0"/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baseline="300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547" y="4427107"/>
                <a:ext cx="2890150" cy="369332"/>
              </a:xfrm>
              <a:prstGeom prst="rect">
                <a:avLst/>
              </a:prstGeom>
              <a:blipFill>
                <a:blip r:embed="rId4"/>
                <a:stretch>
                  <a:fillRect l="-2743" t="-14754" r="-3376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139130" y="4985885"/>
                <a:ext cx="31935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130" y="4985885"/>
                <a:ext cx="3193567" cy="369332"/>
              </a:xfrm>
              <a:prstGeom prst="rect">
                <a:avLst/>
              </a:prstGeom>
              <a:blipFill>
                <a:blip r:embed="rId5"/>
                <a:stretch>
                  <a:fillRect l="-3053" r="-1718" b="-3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533400" y="3857497"/>
            <a:ext cx="2542431" cy="1226942"/>
            <a:chOff x="533400" y="3857497"/>
            <a:chExt cx="2542431" cy="1226942"/>
          </a:xfrm>
        </p:grpSpPr>
        <p:grpSp>
          <p:nvGrpSpPr>
            <p:cNvPr id="23" name="Group 22"/>
            <p:cNvGrpSpPr/>
            <p:nvPr/>
          </p:nvGrpSpPr>
          <p:grpSpPr>
            <a:xfrm>
              <a:off x="533400" y="3857497"/>
              <a:ext cx="2542431" cy="1226942"/>
              <a:chOff x="533400" y="3857497"/>
              <a:chExt cx="2542431" cy="1226942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533400" y="4715107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</a:t>
                </a:r>
                <a:r>
                  <a:rPr lang="en-US" b="1" baseline="-25000" dirty="0"/>
                  <a:t>0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665141" y="3857497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</a:t>
                </a:r>
                <a:r>
                  <a:rPr lang="en-US" b="1" baseline="-25000" dirty="0"/>
                  <a:t>1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204225" y="4082534"/>
                <a:ext cx="325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</a:t>
                </a:r>
              </a:p>
            </p:txBody>
          </p:sp>
        </p:grpSp>
        <p:sp>
          <p:nvSpPr>
            <p:cNvPr id="20" name="Oval 19"/>
            <p:cNvSpPr/>
            <p:nvPr/>
          </p:nvSpPr>
          <p:spPr>
            <a:xfrm>
              <a:off x="2362200" y="4419599"/>
              <a:ext cx="76201" cy="762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524000" y="5835134"/>
            <a:ext cx="552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meaning of f(</a:t>
            </a:r>
            <a:r>
              <a:rPr lang="en-US" b="1" dirty="0"/>
              <a:t>p</a:t>
            </a:r>
            <a:r>
              <a:rPr lang="en-US" dirty="0"/>
              <a:t>) = 0, f(</a:t>
            </a:r>
            <a:r>
              <a:rPr lang="en-US" b="1" dirty="0"/>
              <a:t>p</a:t>
            </a:r>
            <a:r>
              <a:rPr lang="en-US" dirty="0"/>
              <a:t>) &gt; 0 and f(</a:t>
            </a:r>
            <a:r>
              <a:rPr lang="en-US" b="1" dirty="0"/>
              <a:t>p</a:t>
            </a:r>
            <a:r>
              <a:rPr lang="en-US" dirty="0"/>
              <a:t>) &lt; 0 </a:t>
            </a:r>
          </a:p>
        </p:txBody>
      </p:sp>
    </p:spTree>
    <p:extLst>
      <p:ext uri="{BB962C8B-B14F-4D97-AF65-F5344CB8AC3E}">
        <p14:creationId xmlns:p14="http://schemas.microsoft.com/office/powerpoint/2010/main" val="277093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basic algorithm is as follows: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Because the slope is in (0, 1], we always go right and sometimes go up (assuming that x</a:t>
            </a:r>
            <a:r>
              <a:rPr lang="en-US" baseline="-25000" dirty="0"/>
              <a:t>0</a:t>
            </a:r>
            <a:r>
              <a:rPr lang="en-US" dirty="0"/>
              <a:t> &lt; x</a:t>
            </a:r>
            <a:r>
              <a:rPr lang="en-US" baseline="-25000" dirty="0"/>
              <a:t>1</a:t>
            </a:r>
            <a:r>
              <a:rPr lang="en-US" dirty="0"/>
              <a:t> and y</a:t>
            </a:r>
            <a:r>
              <a:rPr lang="en-US" baseline="-25000" dirty="0"/>
              <a:t>0</a:t>
            </a:r>
            <a:r>
              <a:rPr lang="en-US" dirty="0"/>
              <a:t> &lt; y</a:t>
            </a:r>
            <a:r>
              <a:rPr lang="en-US" baseline="-25000" dirty="0"/>
              <a:t>1</a:t>
            </a:r>
            <a:r>
              <a:rPr lang="en-US" dirty="0"/>
              <a:t>)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19400" y="2362200"/>
            <a:ext cx="389401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 = y</a:t>
            </a:r>
            <a:r>
              <a:rPr lang="en-US" sz="2400" baseline="-25000" dirty="0"/>
              <a:t>0</a:t>
            </a:r>
            <a:endParaRPr lang="en-US" sz="2400" dirty="0"/>
          </a:p>
          <a:p>
            <a:r>
              <a:rPr lang="en-US" sz="2400" b="1" dirty="0"/>
              <a:t>for</a:t>
            </a:r>
            <a:r>
              <a:rPr lang="en-US" sz="2400" dirty="0"/>
              <a:t> x = x</a:t>
            </a:r>
            <a:r>
              <a:rPr lang="en-US" sz="2400" baseline="-25000" dirty="0"/>
              <a:t>0</a:t>
            </a:r>
            <a:r>
              <a:rPr lang="en-US" sz="2400" dirty="0"/>
              <a:t> to x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r>
              <a:rPr lang="en-US" sz="2400" b="1" dirty="0"/>
              <a:t>do</a:t>
            </a:r>
            <a:r>
              <a:rPr lang="en-US" sz="2400" dirty="0"/>
              <a:t>:</a:t>
            </a:r>
          </a:p>
          <a:p>
            <a:r>
              <a:rPr lang="en-US" sz="2400" dirty="0"/>
              <a:t>    draw(x, y)</a:t>
            </a:r>
          </a:p>
          <a:p>
            <a:r>
              <a:rPr lang="en-US" sz="2400" dirty="0"/>
              <a:t>    </a:t>
            </a:r>
            <a:r>
              <a:rPr lang="en-US" sz="2400" b="1" dirty="0"/>
              <a:t>if</a:t>
            </a:r>
            <a:r>
              <a:rPr lang="en-US" sz="2400" dirty="0"/>
              <a:t> (some condition) </a:t>
            </a:r>
            <a:r>
              <a:rPr lang="en-US" sz="2400" b="1" dirty="0"/>
              <a:t>then</a:t>
            </a:r>
            <a:r>
              <a:rPr lang="en-US" sz="2400" dirty="0"/>
              <a:t>:</a:t>
            </a:r>
          </a:p>
          <a:p>
            <a:r>
              <a:rPr lang="en-US" sz="2400" dirty="0"/>
              <a:t>        y = y + 1</a:t>
            </a:r>
          </a:p>
        </p:txBody>
      </p:sp>
    </p:spTree>
    <p:extLst>
      <p:ext uri="{BB962C8B-B14F-4D97-AF65-F5344CB8AC3E}">
        <p14:creationId xmlns:p14="http://schemas.microsoft.com/office/powerpoint/2010/main" val="227590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Midpoint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we have just drawn (x, y). Which pixel to draw next?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9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9139" y="2809097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31571" y="2809097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432735" y="2809097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237437" y="2809097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39139" y="3605594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631571" y="3605594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432735" y="3605594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237437" y="3605594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39139" y="4417473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631571" y="4417473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432735" y="4417473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237437" y="4417473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39139" y="5218637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631571" y="5218637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432735" y="5218637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237437" y="5218637"/>
            <a:ext cx="801163" cy="801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182570" y="5562068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1239720" y="4903089"/>
            <a:ext cx="2365631" cy="7136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975002" y="5562068"/>
            <a:ext cx="114300" cy="1143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844814" y="561678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(x, y)</a:t>
            </a:r>
          </a:p>
        </p:txBody>
      </p:sp>
      <p:sp>
        <p:nvSpPr>
          <p:cNvPr id="43" name="Oval 42"/>
          <p:cNvSpPr/>
          <p:nvPr/>
        </p:nvSpPr>
        <p:spPr>
          <a:xfrm>
            <a:off x="1975002" y="4760904"/>
            <a:ext cx="114300" cy="1143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975002" y="5161486"/>
            <a:ext cx="114300" cy="1143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4304830" y="2637472"/>
            <a:ext cx="44967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the midpoint of the next pixel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midpoint is on or above the line choose the  right pixel (E: east)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midpoint is below the line, choose the top right pixel (NE: north-east)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0652" y="4237330"/>
            <a:ext cx="294824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y</a:t>
            </a:r>
            <a:r>
              <a:rPr lang="en-US" baseline="-25000" dirty="0"/>
              <a:t>0</a:t>
            </a:r>
            <a:endParaRPr lang="en-US" dirty="0"/>
          </a:p>
          <a:p>
            <a:r>
              <a:rPr lang="en-US" b="1" dirty="0"/>
              <a:t>for</a:t>
            </a:r>
            <a:r>
              <a:rPr lang="en-US" dirty="0"/>
              <a:t> x = x</a:t>
            </a:r>
            <a:r>
              <a:rPr lang="en-US" baseline="-25000" dirty="0"/>
              <a:t>0</a:t>
            </a:r>
            <a:r>
              <a:rPr lang="en-US" dirty="0"/>
              <a:t> to x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do</a:t>
            </a:r>
            <a:r>
              <a:rPr lang="en-US" dirty="0"/>
              <a:t>:</a:t>
            </a:r>
          </a:p>
          <a:p>
            <a:r>
              <a:rPr lang="en-US" dirty="0"/>
              <a:t>    draw(x, y)</a:t>
            </a:r>
          </a:p>
          <a:p>
            <a:r>
              <a:rPr lang="en-US" dirty="0"/>
              <a:t>    </a:t>
            </a:r>
            <a:r>
              <a:rPr lang="en-US" b="1" dirty="0"/>
              <a:t>if</a:t>
            </a:r>
            <a:r>
              <a:rPr lang="en-US" dirty="0"/>
              <a:t> f(x+1, y+0.5) &lt; 0 </a:t>
            </a:r>
            <a:r>
              <a:rPr lang="en-US" b="1" dirty="0"/>
              <a:t>then</a:t>
            </a:r>
            <a:r>
              <a:rPr lang="en-US" dirty="0"/>
              <a:t>:</a:t>
            </a:r>
          </a:p>
          <a:p>
            <a:r>
              <a:rPr lang="en-US" dirty="0"/>
              <a:t>        y = y + 1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99229" y="5879361"/>
            <a:ext cx="3271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call these pixels E and NE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1981621" y="4773888"/>
            <a:ext cx="505267" cy="1176303"/>
            <a:chOff x="1981621" y="4773888"/>
            <a:chExt cx="505267" cy="1176303"/>
          </a:xfrm>
        </p:grpSpPr>
        <p:sp>
          <p:nvSpPr>
            <p:cNvPr id="50" name="TextBox 49"/>
            <p:cNvSpPr txBox="1"/>
            <p:nvPr/>
          </p:nvSpPr>
          <p:spPr>
            <a:xfrm>
              <a:off x="1998319" y="5580859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981621" y="4773888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452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/>
      <p:bldP spid="4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Midpoint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algorithm works well but requires evaluating the line equation at every iteration</a:t>
            </a:r>
          </a:p>
          <a:p>
            <a:r>
              <a:rPr lang="en-US" dirty="0"/>
              <a:t>Can be optimized with an </a:t>
            </a:r>
            <a:r>
              <a:rPr lang="en-US" dirty="0">
                <a:solidFill>
                  <a:srgbClr val="C00000"/>
                </a:solidFill>
              </a:rPr>
              <a:t>incremental</a:t>
            </a:r>
            <a:r>
              <a:rPr lang="en-US" dirty="0"/>
              <a:t> algorithm: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10</a:t>
            </a:fld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915339" y="3037697"/>
            <a:ext cx="3199461" cy="3210703"/>
            <a:chOff x="839139" y="2809097"/>
            <a:chExt cx="3199461" cy="3210703"/>
          </a:xfrm>
        </p:grpSpPr>
        <p:sp>
          <p:nvSpPr>
            <p:cNvPr id="6" name="Rectangle 5"/>
            <p:cNvSpPr/>
            <p:nvPr/>
          </p:nvSpPr>
          <p:spPr>
            <a:xfrm>
              <a:off x="839139" y="280909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31571" y="280909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432735" y="280909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237437" y="280909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39139" y="3605594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631571" y="3605594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32735" y="3605594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237437" y="3605594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39139" y="4417473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631571" y="4417473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32735" y="4417473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37437" y="4417473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39139" y="521863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631571" y="521863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432735" y="521863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237437" y="521863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1182570" y="5562068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/>
            <p:nvPr/>
          </p:nvCxnSpPr>
          <p:spPr>
            <a:xfrm flipV="1">
              <a:off x="1249918" y="4892215"/>
              <a:ext cx="2365631" cy="7136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/>
            <p:cNvSpPr/>
            <p:nvPr/>
          </p:nvSpPr>
          <p:spPr>
            <a:xfrm>
              <a:off x="1975002" y="5562068"/>
              <a:ext cx="114300" cy="1143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44814" y="5616781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(x, y)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975002" y="4760904"/>
              <a:ext cx="114300" cy="1143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975002" y="5161486"/>
              <a:ext cx="114300" cy="1143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1981621" y="4773888"/>
              <a:ext cx="505267" cy="1176303"/>
              <a:chOff x="1981621" y="4773888"/>
              <a:chExt cx="505267" cy="1176303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1998319" y="5580859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981621" y="4773888"/>
                <a:ext cx="5052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NE</a:t>
                </a:r>
              </a:p>
            </p:txBody>
          </p:sp>
        </p:grpSp>
      </p:grpSp>
      <p:sp>
        <p:nvSpPr>
          <p:cNvPr id="34" name="Oval 33"/>
          <p:cNvSpPr/>
          <p:nvPr/>
        </p:nvSpPr>
        <p:spPr>
          <a:xfrm>
            <a:off x="2829900" y="5394054"/>
            <a:ext cx="114300" cy="1143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829900" y="4583461"/>
            <a:ext cx="114300" cy="1143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419600" y="3037697"/>
            <a:ext cx="4267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we selected E, in the next iteration we need the value of f(</a:t>
            </a:r>
            <a:r>
              <a:rPr lang="en-US" b="1" dirty="0"/>
              <a:t>M</a:t>
            </a:r>
            <a:r>
              <a:rPr lang="en-US" b="1" baseline="-25000" dirty="0"/>
              <a:t>1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we selected NE, in the next iteration we need f(</a:t>
            </a:r>
            <a:r>
              <a:rPr lang="en-US" b="1" dirty="0"/>
              <a:t>M</a:t>
            </a:r>
            <a:r>
              <a:rPr lang="en-US" b="1" baseline="-25000" dirty="0"/>
              <a:t>2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can be computed from f(</a:t>
            </a:r>
            <a:r>
              <a:rPr lang="en-US" b="1" dirty="0"/>
              <a:t>M</a:t>
            </a:r>
            <a:r>
              <a:rPr lang="en-US" b="1" baseline="-25000" dirty="0"/>
              <a:t>0</a:t>
            </a:r>
            <a:r>
              <a:rPr lang="en-US" dirty="0"/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61846" y="541020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46210" y="4615264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76400" y="510540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4736307" y="4725921"/>
                <a:ext cx="263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307" y="4725921"/>
                <a:ext cx="2638094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2771" t="-141304" r="-231" b="-17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736307" y="5202863"/>
                <a:ext cx="39026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307" y="5202863"/>
                <a:ext cx="3902671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625" t="-141304" r="-938" b="-17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45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Midpoint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algorithm works well but requires evaluating the line equation at every iteration</a:t>
            </a:r>
          </a:p>
          <a:p>
            <a:r>
              <a:rPr lang="en-US" dirty="0"/>
              <a:t>Can be optimized with an </a:t>
            </a:r>
            <a:r>
              <a:rPr lang="en-US" dirty="0">
                <a:solidFill>
                  <a:srgbClr val="C00000"/>
                </a:solidFill>
              </a:rPr>
              <a:t>incremental</a:t>
            </a:r>
            <a:r>
              <a:rPr lang="en-US" dirty="0"/>
              <a:t> algorithm: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11</a:t>
            </a:fld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915339" y="3037697"/>
            <a:ext cx="3199461" cy="3210703"/>
            <a:chOff x="839139" y="2809097"/>
            <a:chExt cx="3199461" cy="3210703"/>
          </a:xfrm>
        </p:grpSpPr>
        <p:sp>
          <p:nvSpPr>
            <p:cNvPr id="6" name="Rectangle 5"/>
            <p:cNvSpPr/>
            <p:nvPr/>
          </p:nvSpPr>
          <p:spPr>
            <a:xfrm>
              <a:off x="839139" y="280909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31571" y="280909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432735" y="280909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237437" y="280909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39139" y="3605594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631571" y="3605594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32735" y="3605594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237437" y="3605594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39139" y="4417473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631571" y="4417473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32735" y="4417473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37437" y="4417473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39139" y="521863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631571" y="521863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432735" y="521863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237437" y="5218637"/>
              <a:ext cx="801163" cy="801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1182570" y="5562068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/>
            <p:nvPr/>
          </p:nvCxnSpPr>
          <p:spPr>
            <a:xfrm flipV="1">
              <a:off x="1249918" y="4888719"/>
              <a:ext cx="2365631" cy="7136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/>
            <p:cNvSpPr/>
            <p:nvPr/>
          </p:nvSpPr>
          <p:spPr>
            <a:xfrm>
              <a:off x="1975002" y="5562068"/>
              <a:ext cx="114300" cy="1143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44814" y="5616781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</a:t>
              </a:r>
              <a:r>
                <a:rPr lang="en-US" baseline="-25000" dirty="0"/>
                <a:t>0</a:t>
              </a:r>
              <a:r>
                <a:rPr lang="en-US" dirty="0"/>
                <a:t>, y</a:t>
              </a:r>
              <a:r>
                <a:rPr lang="en-US" baseline="-25000" dirty="0"/>
                <a:t>0</a:t>
              </a:r>
              <a:r>
                <a:rPr lang="en-US" dirty="0"/>
                <a:t>)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975002" y="4760904"/>
              <a:ext cx="114300" cy="1143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975002" y="5161486"/>
              <a:ext cx="114300" cy="1143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1981621" y="4773888"/>
              <a:ext cx="505267" cy="1176303"/>
              <a:chOff x="1981621" y="4773888"/>
              <a:chExt cx="505267" cy="1176303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1998319" y="5580859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981621" y="4773888"/>
                <a:ext cx="5052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NE</a:t>
                </a:r>
              </a:p>
            </p:txBody>
          </p:sp>
        </p:grpSp>
      </p:grpSp>
      <p:sp>
        <p:nvSpPr>
          <p:cNvPr id="34" name="Oval 33"/>
          <p:cNvSpPr/>
          <p:nvPr/>
        </p:nvSpPr>
        <p:spPr>
          <a:xfrm>
            <a:off x="2829900" y="5394054"/>
            <a:ext cx="114300" cy="1143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829900" y="4583461"/>
            <a:ext cx="114300" cy="1143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419600" y="3037697"/>
            <a:ext cx="4267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other words, if we know f(</a:t>
            </a:r>
            <a:r>
              <a:rPr lang="en-US" b="1" dirty="0"/>
              <a:t>M</a:t>
            </a:r>
            <a:r>
              <a:rPr lang="en-US" dirty="0"/>
              <a:t>), we can compute the next f(</a:t>
            </a:r>
            <a:r>
              <a:rPr lang="en-US" b="1" dirty="0"/>
              <a:t>M</a:t>
            </a:r>
            <a:r>
              <a:rPr lang="en-US" dirty="0"/>
              <a:t>) by simple integer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first f(</a:t>
            </a:r>
            <a:r>
              <a:rPr lang="en-US" b="1" dirty="0"/>
              <a:t>M</a:t>
            </a:r>
            <a:r>
              <a:rPr lang="en-US" dirty="0"/>
              <a:t>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that f(x</a:t>
            </a:r>
            <a:r>
              <a:rPr lang="en-US" baseline="-25000" dirty="0"/>
              <a:t>0</a:t>
            </a:r>
            <a:r>
              <a:rPr lang="en-US" dirty="0"/>
              <a:t>, y</a:t>
            </a:r>
            <a:r>
              <a:rPr lang="en-US" baseline="-25000" dirty="0"/>
              <a:t>0</a:t>
            </a:r>
            <a:r>
              <a:rPr lang="en-US" dirty="0"/>
              <a:t>) = 0 as it is the starting point of the 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61846" y="541020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46210" y="4615264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76400" y="510540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4343400" y="5029200"/>
                <a:ext cx="3776162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+0.5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5029200"/>
                <a:ext cx="3776162" cy="1107996"/>
              </a:xfrm>
              <a:prstGeom prst="rect">
                <a:avLst/>
              </a:prstGeom>
              <a:blipFill>
                <a:blip r:embed="rId2"/>
                <a:stretch>
                  <a:fillRect r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3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Midpoint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the overall algorithm is: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761263" y="2462748"/>
            <a:ext cx="417293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 = y</a:t>
            </a:r>
            <a:r>
              <a:rPr lang="en-US" sz="2400" baseline="-25000" dirty="0"/>
              <a:t>0</a:t>
            </a:r>
          </a:p>
          <a:p>
            <a:r>
              <a:rPr lang="en-US" sz="2400" dirty="0"/>
              <a:t>d = (y</a:t>
            </a:r>
            <a:r>
              <a:rPr lang="en-US" sz="2400" baseline="-25000" dirty="0"/>
              <a:t>0</a:t>
            </a:r>
            <a:r>
              <a:rPr lang="en-US" sz="2400" dirty="0"/>
              <a:t> – y</a:t>
            </a:r>
            <a:r>
              <a:rPr lang="en-US" sz="2400" baseline="-25000" dirty="0"/>
              <a:t>1</a:t>
            </a:r>
            <a:r>
              <a:rPr lang="en-US" sz="2400" dirty="0"/>
              <a:t>) + 0.5(x</a:t>
            </a:r>
            <a:r>
              <a:rPr lang="en-US" sz="2400" baseline="-25000" dirty="0"/>
              <a:t>1</a:t>
            </a:r>
            <a:r>
              <a:rPr lang="en-US" sz="2400" dirty="0"/>
              <a:t> – x</a:t>
            </a:r>
            <a:r>
              <a:rPr lang="en-US" sz="2400" baseline="-25000" dirty="0"/>
              <a:t>0</a:t>
            </a:r>
            <a:r>
              <a:rPr lang="en-US" sz="2400" dirty="0"/>
              <a:t>) </a:t>
            </a:r>
          </a:p>
          <a:p>
            <a:r>
              <a:rPr lang="en-US" sz="2400" b="1" dirty="0"/>
              <a:t>for</a:t>
            </a:r>
            <a:r>
              <a:rPr lang="en-US" sz="2400" dirty="0"/>
              <a:t> x = x</a:t>
            </a:r>
            <a:r>
              <a:rPr lang="en-US" sz="2400" baseline="-25000" dirty="0"/>
              <a:t>0</a:t>
            </a:r>
            <a:r>
              <a:rPr lang="en-US" sz="2400" dirty="0"/>
              <a:t> to x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r>
              <a:rPr lang="en-US" sz="2400" b="1" dirty="0"/>
              <a:t>do:</a:t>
            </a:r>
          </a:p>
          <a:p>
            <a:r>
              <a:rPr lang="en-US" sz="2400" dirty="0"/>
              <a:t>    draw(x, y)</a:t>
            </a:r>
          </a:p>
          <a:p>
            <a:r>
              <a:rPr lang="en-US" sz="2400" dirty="0"/>
              <a:t>    </a:t>
            </a:r>
            <a:r>
              <a:rPr lang="en-US" sz="2400" b="1" dirty="0"/>
              <a:t>if</a:t>
            </a:r>
            <a:r>
              <a:rPr lang="en-US" sz="2400" dirty="0"/>
              <a:t> d &lt; 0 </a:t>
            </a:r>
            <a:r>
              <a:rPr lang="en-US" sz="2400" b="1" dirty="0"/>
              <a:t>then: </a:t>
            </a:r>
            <a:r>
              <a:rPr lang="en-US" sz="2400" dirty="0">
                <a:solidFill>
                  <a:srgbClr val="C00000"/>
                </a:solidFill>
              </a:rPr>
              <a:t>// choose NE</a:t>
            </a: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dirty="0"/>
              <a:t>        y = y + 1</a:t>
            </a:r>
          </a:p>
          <a:p>
            <a:r>
              <a:rPr lang="en-US" sz="2400" dirty="0"/>
              <a:t>        d += (y</a:t>
            </a:r>
            <a:r>
              <a:rPr lang="en-US" sz="2400" baseline="-25000" dirty="0"/>
              <a:t>0</a:t>
            </a:r>
            <a:r>
              <a:rPr lang="en-US" sz="2400" dirty="0"/>
              <a:t> – y</a:t>
            </a:r>
            <a:r>
              <a:rPr lang="en-US" sz="2400" baseline="-25000" dirty="0"/>
              <a:t>1</a:t>
            </a:r>
            <a:r>
              <a:rPr lang="en-US" sz="2400" dirty="0"/>
              <a:t>) + (x</a:t>
            </a:r>
            <a:r>
              <a:rPr lang="en-US" sz="2400" baseline="-25000" dirty="0"/>
              <a:t>1</a:t>
            </a:r>
            <a:r>
              <a:rPr lang="en-US" sz="2400" dirty="0"/>
              <a:t> – x</a:t>
            </a:r>
            <a:r>
              <a:rPr lang="en-US" sz="2400" baseline="-25000" dirty="0"/>
              <a:t>0</a:t>
            </a:r>
            <a:r>
              <a:rPr lang="en-US" sz="2400" dirty="0"/>
              <a:t>)</a:t>
            </a:r>
          </a:p>
          <a:p>
            <a:r>
              <a:rPr lang="en-US" sz="2400" dirty="0"/>
              <a:t>    </a:t>
            </a:r>
            <a:r>
              <a:rPr lang="en-US" sz="2400" b="1" dirty="0"/>
              <a:t>else: </a:t>
            </a:r>
            <a:r>
              <a:rPr lang="en-US" sz="2400" dirty="0">
                <a:solidFill>
                  <a:srgbClr val="C00000"/>
                </a:solidFill>
              </a:rPr>
              <a:t>// choose E</a:t>
            </a:r>
            <a:endParaRPr lang="en-US" sz="2400" b="1" dirty="0"/>
          </a:p>
          <a:p>
            <a:r>
              <a:rPr lang="en-US" sz="2400" dirty="0"/>
              <a:t>        d += (y</a:t>
            </a:r>
            <a:r>
              <a:rPr lang="en-US" sz="2400" baseline="-25000" dirty="0"/>
              <a:t>0</a:t>
            </a:r>
            <a:r>
              <a:rPr lang="en-US" sz="2400" dirty="0"/>
              <a:t> – y</a:t>
            </a:r>
            <a:r>
              <a:rPr lang="en-US" sz="2400" baseline="-25000" dirty="0"/>
              <a:t>1</a:t>
            </a:r>
            <a:r>
              <a:rPr lang="en-US" sz="2400" dirty="0"/>
              <a:t>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7822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Midpoint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max efficiency, f(x, y) = 0 is written as 2f(x, y) = 0. This entirely eliminates floating point operations: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761263" y="2462748"/>
            <a:ext cx="443743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 = y</a:t>
            </a:r>
            <a:r>
              <a:rPr lang="en-US" sz="2400" baseline="-25000" dirty="0"/>
              <a:t>0</a:t>
            </a:r>
          </a:p>
          <a:p>
            <a:r>
              <a:rPr lang="en-US" sz="2400" dirty="0"/>
              <a:t>d = 2(y</a:t>
            </a:r>
            <a:r>
              <a:rPr lang="en-US" sz="2400" baseline="-25000" dirty="0"/>
              <a:t>0</a:t>
            </a:r>
            <a:r>
              <a:rPr lang="en-US" sz="2400" dirty="0"/>
              <a:t> – y</a:t>
            </a:r>
            <a:r>
              <a:rPr lang="en-US" sz="2400" baseline="-25000" dirty="0"/>
              <a:t>1</a:t>
            </a:r>
            <a:r>
              <a:rPr lang="en-US" sz="2400" dirty="0"/>
              <a:t>) + (x</a:t>
            </a:r>
            <a:r>
              <a:rPr lang="en-US" sz="2400" baseline="-25000" dirty="0"/>
              <a:t>1</a:t>
            </a:r>
            <a:r>
              <a:rPr lang="en-US" sz="2400" dirty="0"/>
              <a:t> – x</a:t>
            </a:r>
            <a:r>
              <a:rPr lang="en-US" sz="2400" baseline="-25000" dirty="0"/>
              <a:t>0</a:t>
            </a:r>
            <a:r>
              <a:rPr lang="en-US" sz="2400" dirty="0"/>
              <a:t>) </a:t>
            </a:r>
          </a:p>
          <a:p>
            <a:r>
              <a:rPr lang="en-US" sz="2400" b="1" dirty="0"/>
              <a:t>for</a:t>
            </a:r>
            <a:r>
              <a:rPr lang="en-US" sz="2400" dirty="0"/>
              <a:t> x = x</a:t>
            </a:r>
            <a:r>
              <a:rPr lang="en-US" sz="2400" baseline="-25000" dirty="0"/>
              <a:t>0</a:t>
            </a:r>
            <a:r>
              <a:rPr lang="en-US" sz="2400" dirty="0"/>
              <a:t> to x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r>
              <a:rPr lang="en-US" sz="2400" b="1" dirty="0"/>
              <a:t>do:</a:t>
            </a:r>
          </a:p>
          <a:p>
            <a:r>
              <a:rPr lang="en-US" sz="2400" dirty="0"/>
              <a:t>    draw(x, y)</a:t>
            </a:r>
          </a:p>
          <a:p>
            <a:r>
              <a:rPr lang="en-US" sz="2400" dirty="0"/>
              <a:t>    </a:t>
            </a:r>
            <a:r>
              <a:rPr lang="en-US" sz="2400" b="1" dirty="0"/>
              <a:t>if</a:t>
            </a:r>
            <a:r>
              <a:rPr lang="en-US" sz="2400" dirty="0"/>
              <a:t> d &lt; 0 </a:t>
            </a:r>
            <a:r>
              <a:rPr lang="en-US" sz="2400" b="1" dirty="0"/>
              <a:t>then: </a:t>
            </a:r>
            <a:r>
              <a:rPr lang="en-US" sz="2400" dirty="0">
                <a:solidFill>
                  <a:srgbClr val="C00000"/>
                </a:solidFill>
              </a:rPr>
              <a:t>// choose NE</a:t>
            </a: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dirty="0"/>
              <a:t>        y = y + 1</a:t>
            </a:r>
          </a:p>
          <a:p>
            <a:r>
              <a:rPr lang="en-US" sz="2400" dirty="0"/>
              <a:t>        d += 2[(y</a:t>
            </a:r>
            <a:r>
              <a:rPr lang="en-US" sz="2400" baseline="-25000" dirty="0"/>
              <a:t>0</a:t>
            </a:r>
            <a:r>
              <a:rPr lang="en-US" sz="2400" dirty="0"/>
              <a:t> – y</a:t>
            </a:r>
            <a:r>
              <a:rPr lang="en-US" sz="2400" baseline="-25000" dirty="0"/>
              <a:t>1</a:t>
            </a:r>
            <a:r>
              <a:rPr lang="en-US" sz="2400" dirty="0"/>
              <a:t>) + (x</a:t>
            </a:r>
            <a:r>
              <a:rPr lang="en-US" sz="2400" baseline="-25000" dirty="0"/>
              <a:t>1</a:t>
            </a:r>
            <a:r>
              <a:rPr lang="en-US" sz="2400" dirty="0"/>
              <a:t> – x</a:t>
            </a:r>
            <a:r>
              <a:rPr lang="en-US" sz="2400" baseline="-25000" dirty="0"/>
              <a:t>0</a:t>
            </a:r>
            <a:r>
              <a:rPr lang="en-US" sz="2400" dirty="0"/>
              <a:t>)]</a:t>
            </a:r>
          </a:p>
          <a:p>
            <a:r>
              <a:rPr lang="en-US" sz="2400" dirty="0"/>
              <a:t>    </a:t>
            </a:r>
            <a:r>
              <a:rPr lang="en-US" sz="2400" b="1" dirty="0"/>
              <a:t>else: </a:t>
            </a:r>
            <a:r>
              <a:rPr lang="en-US" sz="2400" dirty="0">
                <a:solidFill>
                  <a:srgbClr val="C00000"/>
                </a:solidFill>
              </a:rPr>
              <a:t>// choose E</a:t>
            </a:r>
            <a:endParaRPr lang="en-US" sz="2400" b="1" dirty="0"/>
          </a:p>
          <a:p>
            <a:r>
              <a:rPr lang="en-US" sz="2400" dirty="0"/>
              <a:t>        d += 2(y</a:t>
            </a:r>
            <a:r>
              <a:rPr lang="en-US" sz="2400" baseline="-25000" dirty="0"/>
              <a:t>0</a:t>
            </a:r>
            <a:r>
              <a:rPr lang="en-US" sz="2400" dirty="0"/>
              <a:t> – y</a:t>
            </a:r>
            <a:r>
              <a:rPr lang="en-US" sz="2400" baseline="-25000" dirty="0"/>
              <a:t>1</a:t>
            </a:r>
            <a:r>
              <a:rPr lang="en-US" sz="2400" dirty="0"/>
              <a:t>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6784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Midpoint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presented algorithm works when the slope of the line, </a:t>
                </a:r>
                <a:r>
                  <a:rPr lang="en-US" i="1" dirty="0"/>
                  <a:t>m</a:t>
                </a:r>
                <a:r>
                  <a:rPr lang="en-US" dirty="0"/>
                  <a:t>,  is in range (0, 1]</a:t>
                </a:r>
              </a:p>
              <a:p>
                <a:r>
                  <a:rPr lang="en-US" dirty="0"/>
                  <a:t>For other slope ranges, minor modifications to the algorithm is required</a:t>
                </a:r>
              </a:p>
              <a:p>
                <a:r>
                  <a:rPr lang="en-US" dirty="0"/>
                  <a:t>For instance if 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(1,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), we need to swap the roles of x and y</a:t>
                </a:r>
              </a:p>
              <a:p>
                <a:r>
                  <a:rPr lang="en-US" dirty="0"/>
                  <a:t>Other cases must be adapted similarly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943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83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vs Integer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midpoint algorithm was originally developed by </a:t>
            </a:r>
            <a:r>
              <a:rPr lang="en-US" dirty="0" err="1"/>
              <a:t>Pitteway</a:t>
            </a:r>
            <a:r>
              <a:rPr lang="en-US" dirty="0"/>
              <a:t> in 1967</a:t>
            </a:r>
          </a:p>
          <a:p>
            <a:r>
              <a:rPr lang="en-US" dirty="0"/>
              <a:t>Floating point arithmetic was very expensive at the time</a:t>
            </a:r>
          </a:p>
          <a:p>
            <a:r>
              <a:rPr lang="en-US" dirty="0"/>
              <a:t>Does it still matter?</a:t>
            </a:r>
          </a:p>
          <a:p>
            <a:r>
              <a:rPr lang="en-US" dirty="0"/>
              <a:t>We implemented both algorithms and drew one million lines each between 1000 and 1400 pixels long:</a:t>
            </a:r>
          </a:p>
          <a:p>
            <a:pPr lvl="1"/>
            <a:r>
              <a:rPr lang="en-US" dirty="0"/>
              <a:t>Test run on Intel Core i7 CPU at 3.2 GHz</a:t>
            </a:r>
          </a:p>
          <a:p>
            <a:pPr lvl="1"/>
            <a:r>
              <a:rPr lang="en-US" dirty="0"/>
              <a:t>Compiled with g++ and –O2 option</a:t>
            </a:r>
          </a:p>
          <a:p>
            <a:pPr lvl="1"/>
            <a:r>
              <a:rPr lang="en-US" dirty="0"/>
              <a:t>Basic algorithm: 7.2 seconds</a:t>
            </a:r>
          </a:p>
          <a:p>
            <a:pPr lvl="1"/>
            <a:r>
              <a:rPr lang="en-US" dirty="0"/>
              <a:t>Optimized algorithm: 3 seconds</a:t>
            </a:r>
          </a:p>
          <a:p>
            <a:pPr lvl="1"/>
            <a:r>
              <a:rPr lang="en-US" dirty="0"/>
              <a:t>So </a:t>
            </a:r>
            <a:r>
              <a:rPr lang="en-US"/>
              <a:t>it still makes </a:t>
            </a:r>
            <a:r>
              <a:rPr lang="en-US" dirty="0"/>
              <a:t>a difference!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96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Interpolating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the two end points of the line have a different color?</a:t>
            </a:r>
          </a:p>
          <a:p>
            <a:r>
              <a:rPr lang="en-US" dirty="0"/>
              <a:t>The color across the line must smoothly change: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16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362200" y="5227820"/>
            <a:ext cx="304800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938988" y="3167696"/>
            <a:ext cx="304800" cy="3048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41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Interpolating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the two end points of the line have a different color?</a:t>
            </a:r>
          </a:p>
          <a:p>
            <a:r>
              <a:rPr lang="en-US" dirty="0"/>
              <a:t>The color across the line must smoothly change: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17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 rot="19800000">
            <a:off x="2251388" y="4197271"/>
            <a:ext cx="4114800" cy="303439"/>
          </a:xfrm>
          <a:prstGeom prst="rect">
            <a:avLst/>
          </a:prstGeom>
          <a:gradFill flip="none" rotWithShape="1">
            <a:gsLst>
              <a:gs pos="50000">
                <a:srgbClr val="808000"/>
              </a:gs>
              <a:gs pos="0">
                <a:srgbClr val="FF0000"/>
              </a:gs>
              <a:gs pos="100000">
                <a:srgbClr val="00FF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362200" y="5227820"/>
            <a:ext cx="304800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938988" y="3167696"/>
            <a:ext cx="304800" cy="3048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23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Interpolating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18</a:t>
            </a:fld>
            <a:endParaRPr lang="en-US"/>
          </a:p>
        </p:txBody>
      </p:sp>
      <p:grpSp>
        <p:nvGrpSpPr>
          <p:cNvPr id="50" name="Group 49"/>
          <p:cNvGrpSpPr/>
          <p:nvPr/>
        </p:nvGrpSpPr>
        <p:grpSpPr>
          <a:xfrm>
            <a:off x="4449785" y="2209800"/>
            <a:ext cx="4618015" cy="4150050"/>
            <a:chOff x="2743200" y="2286000"/>
            <a:chExt cx="4618015" cy="4150050"/>
          </a:xfrm>
        </p:grpSpPr>
        <p:grpSp>
          <p:nvGrpSpPr>
            <p:cNvPr id="30" name="Group 29"/>
            <p:cNvGrpSpPr/>
            <p:nvPr/>
          </p:nvGrpSpPr>
          <p:grpSpPr>
            <a:xfrm>
              <a:off x="2903130" y="2286000"/>
              <a:ext cx="3276600" cy="2194881"/>
              <a:chOff x="5035821" y="4336085"/>
              <a:chExt cx="2279379" cy="1526877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5035821" y="4336085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5412669" y="4336085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793669" y="4336085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6176352" y="4336085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6553200" y="4336085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934200" y="4336085"/>
                <a:ext cx="381000" cy="381000"/>
              </a:xfrm>
              <a:prstGeom prst="rect">
                <a:avLst/>
              </a:prstGeom>
              <a:solidFill>
                <a:srgbClr val="00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035821" y="4714866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5412669" y="4714866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793669" y="4714866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6176352" y="4714866"/>
                <a:ext cx="381000" cy="381000"/>
              </a:xfrm>
              <a:prstGeom prst="rect">
                <a:avLst/>
              </a:prstGeom>
              <a:solidFill>
                <a:srgbClr val="5FA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6553200" y="4714866"/>
                <a:ext cx="381000" cy="381000"/>
              </a:xfrm>
              <a:prstGeom prst="rect">
                <a:avLst/>
              </a:prstGeom>
              <a:solidFill>
                <a:srgbClr val="2FD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6934200" y="4714866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5035821" y="5100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5412669" y="5100962"/>
                <a:ext cx="381000" cy="381000"/>
              </a:xfrm>
              <a:prstGeom prst="rect">
                <a:avLst/>
              </a:prstGeom>
              <a:solidFill>
                <a:srgbClr val="C33C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793669" y="5100962"/>
                <a:ext cx="381000" cy="381000"/>
              </a:xfrm>
              <a:prstGeom prst="rect">
                <a:avLst/>
              </a:prstGeom>
              <a:solidFill>
                <a:srgbClr val="7F8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6176352" y="5100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6553200" y="5100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6934200" y="5100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5035821" y="5481962"/>
                <a:ext cx="381000" cy="3810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5412669" y="5481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5793669" y="5481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6176352" y="5481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6553200" y="5481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6934200" y="5481962"/>
                <a:ext cx="381000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2743200" y="4801813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</a:t>
              </a:r>
              <a:r>
                <a:rPr lang="en-US" baseline="-25000" dirty="0"/>
                <a:t>0</a:t>
              </a:r>
              <a:r>
                <a:rPr lang="en-US" dirty="0"/>
                <a:t>, y</a:t>
              </a:r>
              <a:r>
                <a:rPr lang="en-US" baseline="-25000" dirty="0"/>
                <a:t>0</a:t>
              </a:r>
              <a:r>
                <a:rPr lang="en-US" dirty="0"/>
                <a:t>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93670" y="2375177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</a:t>
              </a:r>
              <a:r>
                <a:rPr lang="en-US" baseline="-25000" dirty="0"/>
                <a:t>1</a:t>
              </a:r>
              <a:r>
                <a:rPr lang="en-US" dirty="0"/>
                <a:t>, y</a:t>
              </a:r>
              <a:r>
                <a:rPr lang="en-US" baseline="-25000" dirty="0"/>
                <a:t>1</a:t>
              </a:r>
              <a:r>
                <a:rPr lang="en-US" dirty="0"/>
                <a:t>)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467669" y="4848037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(x, y)</a:t>
              </a: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3176972" y="4207038"/>
              <a:ext cx="0" cy="7167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endCxn id="33" idx="0"/>
            </p:cNvCxnSpPr>
            <p:nvPr/>
          </p:nvCxnSpPr>
          <p:spPr>
            <a:xfrm>
              <a:off x="4816482" y="3104340"/>
              <a:ext cx="1" cy="17436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V="1">
              <a:off x="5915818" y="2559843"/>
              <a:ext cx="56000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ight Brace 40"/>
            <p:cNvSpPr/>
            <p:nvPr/>
          </p:nvSpPr>
          <p:spPr>
            <a:xfrm rot="5400000">
              <a:off x="3810018" y="4494471"/>
              <a:ext cx="359766" cy="165316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690287" y="5434029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 – x</a:t>
              </a:r>
              <a:r>
                <a:rPr lang="en-US" baseline="-25000" dirty="0"/>
                <a:t>0</a:t>
              </a:r>
            </a:p>
          </p:txBody>
        </p:sp>
        <p:sp>
          <p:nvSpPr>
            <p:cNvPr id="46" name="Right Brace 45"/>
            <p:cNvSpPr/>
            <p:nvPr/>
          </p:nvSpPr>
          <p:spPr>
            <a:xfrm rot="5400000">
              <a:off x="4319147" y="4484854"/>
              <a:ext cx="455367" cy="273797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/>
            <p:cNvCxnSpPr/>
            <p:nvPr/>
          </p:nvCxnSpPr>
          <p:spPr>
            <a:xfrm>
              <a:off x="5915817" y="2559843"/>
              <a:ext cx="0" cy="306631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4151051" y="6066718"/>
              <a:ext cx="8418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  <a:r>
                <a:rPr lang="en-US" baseline="-25000" dirty="0"/>
                <a:t>1</a:t>
              </a:r>
              <a:r>
                <a:rPr lang="en-US" dirty="0"/>
                <a:t> – x</a:t>
              </a:r>
              <a:r>
                <a:rPr lang="en-US" baseline="-25000" dirty="0"/>
                <a:t>0</a:t>
              </a:r>
            </a:p>
          </p:txBody>
        </p:sp>
      </p:grpSp>
      <p:sp>
        <p:nvSpPr>
          <p:cNvPr id="52" name="Rectangle 51"/>
          <p:cNvSpPr/>
          <p:nvPr/>
        </p:nvSpPr>
        <p:spPr>
          <a:xfrm rot="19800000">
            <a:off x="608932" y="3340581"/>
            <a:ext cx="3292979" cy="196030"/>
          </a:xfrm>
          <a:prstGeom prst="rect">
            <a:avLst/>
          </a:prstGeom>
          <a:gradFill flip="none" rotWithShape="1">
            <a:gsLst>
              <a:gs pos="50000">
                <a:srgbClr val="808000"/>
              </a:gs>
              <a:gs pos="0">
                <a:srgbClr val="FF0000"/>
              </a:gs>
              <a:gs pos="100000">
                <a:srgbClr val="00FF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38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Interpolating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that the color of the endpoints are c</a:t>
            </a:r>
            <a:r>
              <a:rPr lang="en-US" baseline="-25000" dirty="0"/>
              <a:t>0</a:t>
            </a:r>
            <a:r>
              <a:rPr lang="en-US" dirty="0"/>
              <a:t> and c</a:t>
            </a:r>
            <a:r>
              <a:rPr lang="en-US" baseline="-25000" dirty="0"/>
              <a:t>1</a:t>
            </a:r>
            <a:endParaRPr lang="en-US" dirty="0"/>
          </a:p>
          <a:p>
            <a:r>
              <a:rPr lang="en-US" dirty="0"/>
              <a:t>The color of an intermediate point should be: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At any pixel (x, y), we can compute it based on the horizontal or vertical distance of the pixel to the first endpoint: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599" y="2948691"/>
                <a:ext cx="28605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1 −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599" y="2948691"/>
                <a:ext cx="2860591" cy="369332"/>
              </a:xfrm>
              <a:prstGeom prst="rect">
                <a:avLst/>
              </a:prstGeom>
              <a:blipFill>
                <a:blip r:embed="rId2"/>
                <a:stretch>
                  <a:fillRect l="-638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759599" y="3632650"/>
                <a:ext cx="38945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the interpolation variable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599" y="3632650"/>
                <a:ext cx="3894592" cy="369332"/>
              </a:xfrm>
              <a:prstGeom prst="rect">
                <a:avLst/>
              </a:prstGeom>
              <a:blipFill>
                <a:blip r:embed="rId3"/>
                <a:stretch>
                  <a:fillRect l="-1408" t="-10000" r="-3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53602" y="5433216"/>
                <a:ext cx="1636795" cy="6929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602" y="5433216"/>
                <a:ext cx="1636795" cy="6929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66CC86-6C12-4149-B852-7B985744711B}"/>
                  </a:ext>
                </a:extLst>
              </p:cNvPr>
              <p:cNvSpPr txBox="1"/>
              <p:nvPr/>
            </p:nvSpPr>
            <p:spPr>
              <a:xfrm>
                <a:off x="5846671" y="5202361"/>
                <a:ext cx="331372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dirty="0"/>
                  <a:t> it is better to</a:t>
                </a:r>
              </a:p>
              <a:p>
                <a:r>
                  <a:rPr lang="en-US" dirty="0"/>
                  <a:t>interpolate in the x direction as</a:t>
                </a:r>
              </a:p>
              <a:p>
                <a:r>
                  <a:rPr lang="en-US" dirty="0"/>
                  <a:t>as it will produce a smoother</a:t>
                </a:r>
              </a:p>
              <a:p>
                <a:r>
                  <a:rPr lang="en-US" dirty="0"/>
                  <a:t>variation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66CC86-6C12-4149-B852-7B9857447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671" y="5202361"/>
                <a:ext cx="3313728" cy="1200329"/>
              </a:xfrm>
              <a:prstGeom prst="rect">
                <a:avLst/>
              </a:prstGeom>
              <a:blipFill>
                <a:blip r:embed="rId5"/>
                <a:stretch>
                  <a:fillRect l="-1145" t="-2105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17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Interpolating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that the color of the endpoints are c</a:t>
            </a:r>
            <a:r>
              <a:rPr lang="en-US" baseline="-25000" dirty="0"/>
              <a:t>0</a:t>
            </a:r>
            <a:r>
              <a:rPr lang="en-US" dirty="0"/>
              <a:t> and c</a:t>
            </a:r>
            <a:r>
              <a:rPr lang="en-US" baseline="-25000" dirty="0"/>
              <a:t>1</a:t>
            </a:r>
            <a:endParaRPr lang="en-US" dirty="0"/>
          </a:p>
          <a:p>
            <a:r>
              <a:rPr lang="en-US" dirty="0"/>
              <a:t>The color of an intermediate point should be: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can also be computed incrementally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599" y="2667000"/>
                <a:ext cx="28605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1 −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599" y="2667000"/>
                <a:ext cx="2860591" cy="369332"/>
              </a:xfrm>
              <a:prstGeom prst="rect">
                <a:avLst/>
              </a:prstGeom>
              <a:blipFill>
                <a:blip r:embed="rId2"/>
                <a:stretch>
                  <a:fillRect l="-63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759599" y="3200400"/>
                <a:ext cx="38945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the interpolation variable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599" y="3200400"/>
                <a:ext cx="3894592" cy="369332"/>
              </a:xfrm>
              <a:prstGeom prst="rect">
                <a:avLst/>
              </a:prstGeom>
              <a:blipFill>
                <a:blip r:embed="rId3"/>
                <a:stretch>
                  <a:fillRect l="-1408" t="-8197" r="-31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67000" y="4495800"/>
                <a:ext cx="4265270" cy="1513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495800"/>
                <a:ext cx="4265270" cy="1513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0182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with Interpolation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with color interpolation: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71600" y="2209800"/>
            <a:ext cx="7543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y = y</a:t>
            </a:r>
            <a:r>
              <a:rPr lang="en-US" sz="2000" baseline="-25000" dirty="0"/>
              <a:t>0</a:t>
            </a:r>
          </a:p>
          <a:p>
            <a:r>
              <a:rPr lang="en-US" sz="2000" dirty="0"/>
              <a:t>d = </a:t>
            </a:r>
            <a:r>
              <a:rPr lang="tr-TR" sz="2000" dirty="0"/>
              <a:t>2</a:t>
            </a:r>
            <a:r>
              <a:rPr lang="en-US" sz="2000" dirty="0"/>
              <a:t>(y</a:t>
            </a:r>
            <a:r>
              <a:rPr lang="en-US" sz="2000" baseline="-25000" dirty="0"/>
              <a:t>0</a:t>
            </a:r>
            <a:r>
              <a:rPr lang="en-US" sz="2000" dirty="0"/>
              <a:t> – y</a:t>
            </a:r>
            <a:r>
              <a:rPr lang="en-US" sz="2000" baseline="-25000" dirty="0"/>
              <a:t>1</a:t>
            </a:r>
            <a:r>
              <a:rPr lang="en-US" sz="2000" dirty="0"/>
              <a:t>) + (x</a:t>
            </a:r>
            <a:r>
              <a:rPr lang="en-US" sz="2000" baseline="-25000" dirty="0"/>
              <a:t>1</a:t>
            </a:r>
            <a:r>
              <a:rPr lang="en-US" sz="2000" dirty="0"/>
              <a:t> – x</a:t>
            </a:r>
            <a:r>
              <a:rPr lang="en-US" sz="2000" baseline="-25000" dirty="0"/>
              <a:t>0</a:t>
            </a:r>
            <a:r>
              <a:rPr lang="en-US" sz="2000" dirty="0"/>
              <a:t>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c = c</a:t>
            </a:r>
            <a:r>
              <a:rPr lang="en-US" sz="2000" baseline="-25000" dirty="0">
                <a:solidFill>
                  <a:srgbClr val="0070C0"/>
                </a:solidFill>
              </a:rPr>
              <a:t>0</a:t>
            </a:r>
          </a:p>
          <a:p>
            <a:r>
              <a:rPr lang="en-US" sz="2000" dirty="0">
                <a:solidFill>
                  <a:srgbClr val="0070C0"/>
                </a:solidFill>
              </a:rPr>
              <a:t>dc = (c</a:t>
            </a:r>
            <a:r>
              <a:rPr lang="en-US" sz="2000" baseline="-25000" dirty="0">
                <a:solidFill>
                  <a:srgbClr val="0070C0"/>
                </a:solidFill>
              </a:rPr>
              <a:t>1</a:t>
            </a:r>
            <a:r>
              <a:rPr lang="en-US" sz="2000" dirty="0">
                <a:solidFill>
                  <a:srgbClr val="0070C0"/>
                </a:solidFill>
              </a:rPr>
              <a:t> – c</a:t>
            </a:r>
            <a:r>
              <a:rPr lang="en-US" sz="2000" baseline="-25000" dirty="0">
                <a:solidFill>
                  <a:srgbClr val="0070C0"/>
                </a:solidFill>
              </a:rPr>
              <a:t>0</a:t>
            </a:r>
            <a:r>
              <a:rPr lang="en-US" sz="2000" dirty="0">
                <a:solidFill>
                  <a:srgbClr val="0070C0"/>
                </a:solidFill>
              </a:rPr>
              <a:t>) / (x</a:t>
            </a:r>
            <a:r>
              <a:rPr lang="en-US" sz="2000" baseline="-25000" dirty="0">
                <a:solidFill>
                  <a:srgbClr val="0070C0"/>
                </a:solidFill>
              </a:rPr>
              <a:t>1</a:t>
            </a:r>
            <a:r>
              <a:rPr lang="en-US" sz="2000" dirty="0">
                <a:solidFill>
                  <a:srgbClr val="0070C0"/>
                </a:solidFill>
              </a:rPr>
              <a:t> – x</a:t>
            </a:r>
            <a:r>
              <a:rPr lang="en-US" sz="2000" baseline="-25000" dirty="0">
                <a:solidFill>
                  <a:srgbClr val="0070C0"/>
                </a:solidFill>
              </a:rPr>
              <a:t>0</a:t>
            </a:r>
            <a:r>
              <a:rPr lang="en-US" sz="2000" dirty="0">
                <a:solidFill>
                  <a:srgbClr val="0070C0"/>
                </a:solidFill>
              </a:rPr>
              <a:t>) </a:t>
            </a:r>
            <a:r>
              <a:rPr lang="en-US" sz="2000" dirty="0">
                <a:solidFill>
                  <a:srgbClr val="C00000"/>
                </a:solidFill>
              </a:rPr>
              <a:t>// skip </a:t>
            </a:r>
            <a:r>
              <a:rPr lang="el-G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000" dirty="0">
                <a:solidFill>
                  <a:srgbClr val="C00000"/>
                </a:solidFill>
              </a:rPr>
              <a:t>; directly compute color increment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b="1" dirty="0"/>
              <a:t>for</a:t>
            </a:r>
            <a:r>
              <a:rPr lang="en-US" sz="2000" dirty="0"/>
              <a:t> x = x</a:t>
            </a:r>
            <a:r>
              <a:rPr lang="en-US" sz="2000" baseline="-25000" dirty="0"/>
              <a:t>0</a:t>
            </a:r>
            <a:r>
              <a:rPr lang="en-US" sz="2000" dirty="0"/>
              <a:t> to x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b="1" dirty="0"/>
              <a:t>do:</a:t>
            </a:r>
          </a:p>
          <a:p>
            <a:r>
              <a:rPr lang="en-US" sz="2000" dirty="0"/>
              <a:t>    draw(x, y, </a:t>
            </a:r>
            <a:r>
              <a:rPr lang="en-US" sz="2000" dirty="0">
                <a:solidFill>
                  <a:srgbClr val="0070C0"/>
                </a:solidFill>
              </a:rPr>
              <a:t>round(c)</a:t>
            </a:r>
            <a:r>
              <a:rPr lang="en-US" sz="2000" dirty="0"/>
              <a:t>)</a:t>
            </a:r>
          </a:p>
          <a:p>
            <a:r>
              <a:rPr lang="en-US" sz="2000" dirty="0"/>
              <a:t>    </a:t>
            </a:r>
            <a:r>
              <a:rPr lang="en-US" sz="2000" b="1" dirty="0"/>
              <a:t>if</a:t>
            </a:r>
            <a:r>
              <a:rPr lang="en-US" sz="2000" dirty="0"/>
              <a:t> d &lt; 0 </a:t>
            </a:r>
            <a:r>
              <a:rPr lang="en-US" sz="2000" b="1" dirty="0"/>
              <a:t>then: </a:t>
            </a:r>
            <a:r>
              <a:rPr lang="en-US" sz="2000" dirty="0">
                <a:solidFill>
                  <a:srgbClr val="C00000"/>
                </a:solidFill>
              </a:rPr>
              <a:t>// choose NE</a:t>
            </a:r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dirty="0"/>
              <a:t>        y = y + 1</a:t>
            </a:r>
          </a:p>
          <a:p>
            <a:r>
              <a:rPr lang="en-US" sz="2000" dirty="0"/>
              <a:t>        d += </a:t>
            </a:r>
            <a:r>
              <a:rPr lang="tr-TR" sz="2000" dirty="0"/>
              <a:t>2</a:t>
            </a:r>
            <a:r>
              <a:rPr lang="en-US" sz="2000" dirty="0"/>
              <a:t>[(y</a:t>
            </a:r>
            <a:r>
              <a:rPr lang="en-US" sz="2000" baseline="-25000" dirty="0"/>
              <a:t>0</a:t>
            </a:r>
            <a:r>
              <a:rPr lang="en-US" sz="2000" dirty="0"/>
              <a:t> – y</a:t>
            </a:r>
            <a:r>
              <a:rPr lang="en-US" sz="2000" baseline="-25000" dirty="0"/>
              <a:t>1</a:t>
            </a:r>
            <a:r>
              <a:rPr lang="en-US" sz="2000" dirty="0"/>
              <a:t>) + (x</a:t>
            </a:r>
            <a:r>
              <a:rPr lang="en-US" sz="2000" baseline="-25000" dirty="0"/>
              <a:t>1</a:t>
            </a:r>
            <a:r>
              <a:rPr lang="en-US" sz="2000" dirty="0"/>
              <a:t> – x</a:t>
            </a:r>
            <a:r>
              <a:rPr lang="en-US" sz="2000" baseline="-25000" dirty="0"/>
              <a:t>0</a:t>
            </a:r>
            <a:r>
              <a:rPr lang="en-US" sz="2000" dirty="0"/>
              <a:t>)]</a:t>
            </a:r>
          </a:p>
          <a:p>
            <a:r>
              <a:rPr lang="en-US" sz="2000" dirty="0"/>
              <a:t>    </a:t>
            </a:r>
            <a:r>
              <a:rPr lang="en-US" sz="2000" b="1" dirty="0"/>
              <a:t>else: </a:t>
            </a:r>
            <a:r>
              <a:rPr lang="en-US" sz="2000" dirty="0">
                <a:solidFill>
                  <a:srgbClr val="C00000"/>
                </a:solidFill>
              </a:rPr>
              <a:t>// choose E</a:t>
            </a:r>
            <a:endParaRPr lang="en-US" sz="2000" b="1" dirty="0"/>
          </a:p>
          <a:p>
            <a:r>
              <a:rPr lang="en-US" sz="2000" dirty="0"/>
              <a:t>        d += 2[(y</a:t>
            </a:r>
            <a:r>
              <a:rPr lang="en-US" sz="2000" baseline="-25000" dirty="0"/>
              <a:t>0</a:t>
            </a:r>
            <a:r>
              <a:rPr lang="en-US" sz="2000" dirty="0"/>
              <a:t> – y</a:t>
            </a:r>
            <a:r>
              <a:rPr lang="en-US" sz="2000" baseline="-25000" dirty="0"/>
              <a:t>1</a:t>
            </a:r>
            <a:r>
              <a:rPr lang="en-US" sz="2000" dirty="0"/>
              <a:t>)]</a:t>
            </a:r>
          </a:p>
          <a:p>
            <a:r>
              <a:rPr lang="en-US" sz="2000" dirty="0"/>
              <a:t>    </a:t>
            </a:r>
            <a:r>
              <a:rPr lang="en-US" sz="2000" dirty="0">
                <a:solidFill>
                  <a:srgbClr val="0070C0"/>
                </a:solidFill>
              </a:rPr>
              <a:t>c += dc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15995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Rasterization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Initially all we have is the screen coordinates of three vertices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22</a:t>
            </a:fld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711971" y="5391150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192185" y="4241615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00987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677835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058835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41518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818366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99366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300987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677835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58835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441518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818366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199366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300987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677835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058835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441518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818366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199366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300987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677835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058835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441518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818366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199366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578621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4955469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336469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5719152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096000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578621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4955469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336469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5719152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6096000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578621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955469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336469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719152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6096000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578621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4955469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5336469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5719152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6096000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2300987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2677835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3058835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3441518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818366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4199366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2300987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2677835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3058835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3441518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3818366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199366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2300987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2677835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3058835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3441518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3818366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4199366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2300987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2677835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3058835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3441518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3818366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4199366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4578621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4955469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5336469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719152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096000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4578621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4955469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336469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719152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6096000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4578621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4955469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5336469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5719152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096000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4578621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955469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5336469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5719152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6096000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5469819" y="3474519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/>
          <p:cNvSpPr txBox="1"/>
          <p:nvPr/>
        </p:nvSpPr>
        <p:spPr>
          <a:xfrm>
            <a:off x="2842828" y="4253283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0</a:t>
            </a:r>
            <a:r>
              <a:rPr lang="en-US" dirty="0"/>
              <a:t>, y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140051" y="354748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381000" y="5509673"/>
            <a:ext cx="867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97410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Rasterization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them we compute line equations for the edges: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23</a:t>
            </a:fld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2639584" y="5391150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119798" y="4241615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8600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5448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86448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69131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745979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126979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28600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05448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86448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369131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745979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126979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28600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05448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86448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369131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745979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126979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28600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05448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86448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369131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745979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126979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506234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883082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264082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646765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023613" y="4492923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506234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883082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264082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646765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023613" y="4871704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2506234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2883082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264082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646765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023613" y="5257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2506234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2883082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3264082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3646765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4023613" y="5638800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228600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05448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986448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1369131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745979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2126979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228600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605448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986448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369131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1745979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2126979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228600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05448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986448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1369131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1745979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2126979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228600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05448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986448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1369131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745979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2126979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2506234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2883082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3264082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3646765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023613" y="2962388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2506234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2883082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3264082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3646765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4023613" y="3341169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2506234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2883082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3264082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3646765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023613" y="3727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2506234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2883082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3264082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3646765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4023613" y="4108265"/>
            <a:ext cx="3810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3397432" y="3474519"/>
            <a:ext cx="114300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7" name="Group 126"/>
          <p:cNvGrpSpPr/>
          <p:nvPr/>
        </p:nvGrpSpPr>
        <p:grpSpPr>
          <a:xfrm>
            <a:off x="1172618" y="3529243"/>
            <a:ext cx="2286000" cy="1918008"/>
            <a:chOff x="3245005" y="3233855"/>
            <a:chExt cx="2286000" cy="1918008"/>
          </a:xfrm>
        </p:grpSpPr>
        <p:cxnSp>
          <p:nvCxnSpPr>
            <p:cNvPr id="112" name="Straight Connector 111"/>
            <p:cNvCxnSpPr/>
            <p:nvPr/>
          </p:nvCxnSpPr>
          <p:spPr>
            <a:xfrm flipV="1">
              <a:off x="3256156" y="3233855"/>
              <a:ext cx="2274849" cy="7694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3245005" y="4003288"/>
              <a:ext cx="1527717" cy="11485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4772722" y="3233855"/>
              <a:ext cx="758283" cy="1918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TextBox 110"/>
          <p:cNvSpPr txBox="1"/>
          <p:nvPr/>
        </p:nvSpPr>
        <p:spPr>
          <a:xfrm>
            <a:off x="721432" y="4253283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0</a:t>
            </a:r>
            <a:r>
              <a:rPr lang="en-US" dirty="0"/>
              <a:t>, y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018655" y="354748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259604" y="5509673"/>
            <a:ext cx="867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26526" y="444417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US" baseline="-25000" dirty="0"/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696861" y="47850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US" baseline="-25000" dirty="0"/>
              <a:t>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734832" y="367772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US" baseline="-25000" dirty="0"/>
              <a:t>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/>
              <p:cNvSpPr txBox="1"/>
              <p:nvPr/>
            </p:nvSpPr>
            <p:spPr>
              <a:xfrm>
                <a:off x="4572000" y="2949166"/>
                <a:ext cx="443877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) +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949166"/>
                <a:ext cx="4438779" cy="246221"/>
              </a:xfrm>
              <a:prstGeom prst="rect">
                <a:avLst/>
              </a:prstGeom>
              <a:blipFill>
                <a:blip r:embed="rId2"/>
                <a:stretch>
                  <a:fillRect l="-2060" t="-2750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4572000" y="3408872"/>
                <a:ext cx="443877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) +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408872"/>
                <a:ext cx="4438779" cy="246221"/>
              </a:xfrm>
              <a:prstGeom prst="rect">
                <a:avLst/>
              </a:prstGeom>
              <a:blipFill>
                <a:blip r:embed="rId3"/>
                <a:stretch>
                  <a:fillRect l="-2060" t="-24390" b="-48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4572000" y="3868579"/>
                <a:ext cx="443877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) +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868579"/>
                <a:ext cx="4438779" cy="246221"/>
              </a:xfrm>
              <a:prstGeom prst="rect">
                <a:avLst/>
              </a:prstGeom>
              <a:blipFill>
                <a:blip r:embed="rId4"/>
                <a:stretch>
                  <a:fillRect l="-2060" t="-2750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5846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Rasterization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then walk across the viewport to determine inside pixels: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24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2300987" y="2962388"/>
            <a:ext cx="4176013" cy="3057412"/>
            <a:chOff x="2300987" y="2962388"/>
            <a:chExt cx="4176013" cy="3057412"/>
          </a:xfrm>
        </p:grpSpPr>
        <p:sp>
          <p:nvSpPr>
            <p:cNvPr id="30" name="Oval 29"/>
            <p:cNvSpPr/>
            <p:nvPr/>
          </p:nvSpPr>
          <p:spPr>
            <a:xfrm>
              <a:off x="4711971" y="539115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192185" y="4241615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300987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677835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58835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441518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818366" y="4492923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99366" y="4492923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300987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677835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058835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441518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818366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199366" y="4871704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300987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677835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058835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441518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818366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199366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300987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677835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058835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441518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818366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99366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578621" y="4492923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955469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336469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719152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096000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78621" y="4871704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955469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336469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719152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096000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578621" y="5257800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955469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336469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719152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096000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578621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955469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336469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719152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096000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300987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677835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058835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441518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818366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199366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300987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677835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3058835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441518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818366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199366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300987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677835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3058835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3441518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818366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4199366" y="3727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300987" y="4108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2677835" y="4108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3058835" y="4108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441518" y="4108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818366" y="4108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199366" y="4108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4578621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4955469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5336469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5719152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096000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4578621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4955469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5336469" y="3341169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719152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6096000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578621" y="3727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955469" y="3727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5336469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5719152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096000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578621" y="4108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4955469" y="4108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336469" y="4108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5719152" y="4108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6096000" y="4108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/>
            <p:cNvSpPr/>
            <p:nvPr/>
          </p:nvSpPr>
          <p:spPr>
            <a:xfrm>
              <a:off x="5469819" y="3474519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7" name="Group 126"/>
            <p:cNvGrpSpPr/>
            <p:nvPr/>
          </p:nvGrpSpPr>
          <p:grpSpPr>
            <a:xfrm>
              <a:off x="3245005" y="3529243"/>
              <a:ext cx="2286000" cy="1918008"/>
              <a:chOff x="3245005" y="3233855"/>
              <a:chExt cx="2286000" cy="1918008"/>
            </a:xfrm>
          </p:grpSpPr>
          <p:cxnSp>
            <p:nvCxnSpPr>
              <p:cNvPr id="112" name="Straight Connector 111"/>
              <p:cNvCxnSpPr/>
              <p:nvPr/>
            </p:nvCxnSpPr>
            <p:spPr>
              <a:xfrm flipV="1">
                <a:off x="3256156" y="3233855"/>
                <a:ext cx="2274849" cy="76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>
                <a:off x="3245005" y="4003288"/>
                <a:ext cx="1527717" cy="11485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 flipV="1">
                <a:off x="4772722" y="3233855"/>
                <a:ext cx="758283" cy="19180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1" name="TextBox 110"/>
          <p:cNvSpPr txBox="1"/>
          <p:nvPr/>
        </p:nvSpPr>
        <p:spPr>
          <a:xfrm>
            <a:off x="2855032" y="4253283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0</a:t>
            </a:r>
            <a:r>
              <a:rPr lang="en-US" dirty="0"/>
              <a:t>, y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152255" y="354748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393204" y="5509673"/>
            <a:ext cx="867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48973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Rasterization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efficiency we may only walk within the bounding box of the triangle: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25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609600" y="2962388"/>
            <a:ext cx="4176013" cy="3057412"/>
            <a:chOff x="2300987" y="2962388"/>
            <a:chExt cx="4176013" cy="3057412"/>
          </a:xfrm>
        </p:grpSpPr>
        <p:sp>
          <p:nvSpPr>
            <p:cNvPr id="7" name="Oval 6"/>
            <p:cNvSpPr/>
            <p:nvPr/>
          </p:nvSpPr>
          <p:spPr>
            <a:xfrm>
              <a:off x="4711971" y="539115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3192185" y="4241615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300987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677835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58835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41518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818366" y="4492923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99366" y="4492923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300987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677835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58835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441518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818366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199366" y="4871704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300987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677835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058835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441518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818366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199366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00987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677835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58835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441518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818366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199366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578621" y="4492923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955469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336469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719152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096000" y="4492923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78621" y="4871704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955469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336469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719152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096000" y="4871704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578621" y="5257800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955469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336469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719152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096000" y="5257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578621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955469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336469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719152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096000" y="5638800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300987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677835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58835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441518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818366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199366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300987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77835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3058835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441518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818366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199366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300987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677835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058835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3441518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818366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199366" y="3727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300987" y="4108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677835" y="4108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058835" y="4108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3441518" y="4108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3818366" y="4108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199366" y="4108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4578621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955469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336469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719152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096000" y="2962388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578621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955469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5336469" y="3341169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5719152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096000" y="3341169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4578621" y="3727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955469" y="3727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336469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719152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096000" y="3727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4578621" y="4108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955469" y="4108265"/>
              <a:ext cx="381000" cy="381000"/>
            </a:xfrm>
            <a:prstGeom prst="rect">
              <a:avLst/>
            </a:prstGeom>
            <a:solidFill>
              <a:srgbClr val="C0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336469" y="4108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5719152" y="4108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096000" y="4108265"/>
              <a:ext cx="3810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>
            <a:xfrm>
              <a:off x="5469819" y="3474519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8" name="Group 97"/>
            <p:cNvGrpSpPr/>
            <p:nvPr/>
          </p:nvGrpSpPr>
          <p:grpSpPr>
            <a:xfrm>
              <a:off x="3245005" y="3529243"/>
              <a:ext cx="2286000" cy="1918008"/>
              <a:chOff x="3245005" y="3233855"/>
              <a:chExt cx="2286000" cy="1918008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 flipV="1">
                <a:off x="3256156" y="3233855"/>
                <a:ext cx="2274849" cy="76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3245005" y="4003288"/>
                <a:ext cx="1527717" cy="11485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/>
              <p:nvPr/>
            </p:nvCxnSpPr>
            <p:spPr>
              <a:xfrm flipV="1">
                <a:off x="4772722" y="3233855"/>
                <a:ext cx="758283" cy="19180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4" name="Rectangle 103"/>
          <p:cNvSpPr/>
          <p:nvPr/>
        </p:nvSpPr>
        <p:spPr>
          <a:xfrm>
            <a:off x="1553618" y="3529243"/>
            <a:ext cx="2308302" cy="194600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4876800" y="2962388"/>
            <a:ext cx="4114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each pixel we visit, we must make an inside test with respect to all three edges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simply plug-in the (x, y) value of the visited pixel to each line equation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all are negative, the pixel is inside the triangle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43000" y="4253283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0</a:t>
            </a:r>
            <a:r>
              <a:rPr lang="en-US" dirty="0"/>
              <a:t>, y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40223" y="354748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81172" y="5509673"/>
            <a:ext cx="867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0055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Rasterization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also go to the next scanline if we exit the triangle</a:t>
            </a:r>
            <a:endParaRPr lang="tr-TR" dirty="0"/>
          </a:p>
          <a:p>
            <a:r>
              <a:rPr lang="tr-TR" dirty="0" err="1"/>
              <a:t>Th</a:t>
            </a:r>
            <a:r>
              <a:rPr lang="en-US" dirty="0"/>
              <a:t>is </a:t>
            </a:r>
            <a:r>
              <a:rPr lang="en-US" dirty="0" err="1"/>
              <a:t>is</a:t>
            </a:r>
            <a:r>
              <a:rPr lang="en-US" dirty="0"/>
              <a:t> known as Pineda rasterization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26</a:t>
            </a:fld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B4C8A0-A892-43E2-8066-B313EA78E5DE}"/>
              </a:ext>
            </a:extLst>
          </p:cNvPr>
          <p:cNvSpPr txBox="1"/>
          <p:nvPr/>
        </p:nvSpPr>
        <p:spPr>
          <a:xfrm>
            <a:off x="2785157" y="5062204"/>
            <a:ext cx="39966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Pineda, J. (1988, June). A parallel algorithm for polygon rasterization. In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15th annual conference on Computer graphics and interactive techniques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17-20).</a:t>
            </a:r>
            <a:endParaRPr lang="en-US" sz="1600" dirty="0"/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CC10C78C-6CE0-48D3-B453-D6279298E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320" y="2885695"/>
            <a:ext cx="3225079" cy="206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23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Rasterization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also go from the center to outward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27</a:t>
            </a:fld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B4C8A0-A892-43E2-8066-B313EA78E5DE}"/>
              </a:ext>
            </a:extLst>
          </p:cNvPr>
          <p:cNvSpPr txBox="1"/>
          <p:nvPr/>
        </p:nvSpPr>
        <p:spPr>
          <a:xfrm>
            <a:off x="1371600" y="5588683"/>
            <a:ext cx="75905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Pineda, J. (1988, June). A parallel algorithm for polygon rasterization. In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15th annual conference on Computer graphics and interactive techniques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17-20).</a:t>
            </a:r>
            <a:endParaRPr lang="en-US" sz="1600" dirty="0"/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7254E9F3-ACB9-4064-81A0-5DFA385AF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078" y="2137679"/>
            <a:ext cx="3181687" cy="3451004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92A3C65A-88F2-4AF0-879C-CA3E55D34098}"/>
              </a:ext>
            </a:extLst>
          </p:cNvPr>
          <p:cNvSpPr txBox="1"/>
          <p:nvPr/>
        </p:nvSpPr>
        <p:spPr>
          <a:xfrm>
            <a:off x="5858435" y="2971800"/>
            <a:ext cx="3276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 also:</a:t>
            </a:r>
            <a:endParaRPr lang="en-US" dirty="0">
              <a:hlinkClick r:id="rId4"/>
            </a:endParaRPr>
          </a:p>
          <a:p>
            <a:r>
              <a:rPr lang="en-US" dirty="0">
                <a:hlinkClick r:id="rId4"/>
              </a:rPr>
              <a:t>https://www.mathematik.uni-marburg.de/~thormae/lectures/graphics1/code_v2/RasterPoly/index.html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34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Rasterization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barycentric coordinates will help us with interpolation of attributes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28</a:t>
            </a:fld>
            <a:endParaRPr lang="en-US"/>
          </a:p>
        </p:txBody>
      </p:sp>
      <p:sp>
        <p:nvSpPr>
          <p:cNvPr id="110" name="TextBox 109"/>
          <p:cNvSpPr txBox="1"/>
          <p:nvPr/>
        </p:nvSpPr>
        <p:spPr>
          <a:xfrm>
            <a:off x="4921825" y="2846654"/>
            <a:ext cx="4140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barycentric coordinates of (x, y)?</a:t>
            </a:r>
          </a:p>
        </p:txBody>
      </p:sp>
      <p:grpSp>
        <p:nvGrpSpPr>
          <p:cNvPr id="112" name="Group 111"/>
          <p:cNvGrpSpPr/>
          <p:nvPr/>
        </p:nvGrpSpPr>
        <p:grpSpPr>
          <a:xfrm>
            <a:off x="457200" y="2886188"/>
            <a:ext cx="4176013" cy="3057412"/>
            <a:chOff x="1386587" y="2962388"/>
            <a:chExt cx="4176013" cy="3057412"/>
          </a:xfrm>
        </p:grpSpPr>
        <p:grpSp>
          <p:nvGrpSpPr>
            <p:cNvPr id="103" name="Group 102"/>
            <p:cNvGrpSpPr/>
            <p:nvPr/>
          </p:nvGrpSpPr>
          <p:grpSpPr>
            <a:xfrm>
              <a:off x="1386587" y="2962388"/>
              <a:ext cx="4176013" cy="3057412"/>
              <a:chOff x="381000" y="2962388"/>
              <a:chExt cx="4176013" cy="3057412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381000" y="2962388"/>
                <a:ext cx="4176013" cy="3057412"/>
                <a:chOff x="2300987" y="2962388"/>
                <a:chExt cx="4176013" cy="3057412"/>
              </a:xfrm>
            </p:grpSpPr>
            <p:sp>
              <p:nvSpPr>
                <p:cNvPr id="7" name="Oval 6"/>
                <p:cNvSpPr/>
                <p:nvPr/>
              </p:nvSpPr>
              <p:spPr>
                <a:xfrm>
                  <a:off x="4711971" y="5391150"/>
                  <a:ext cx="114300" cy="1143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/>
                <p:cNvSpPr/>
                <p:nvPr/>
              </p:nvSpPr>
              <p:spPr>
                <a:xfrm>
                  <a:off x="3192185" y="4241615"/>
                  <a:ext cx="114300" cy="1143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2300987" y="4492923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2677835" y="4492923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3058835" y="4492923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3441518" y="4492923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3818366" y="4492923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4199366" y="4492923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2300987" y="4871704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2677835" y="4871704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3058835" y="4871704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/>
                <p:cNvSpPr/>
                <p:nvPr/>
              </p:nvSpPr>
              <p:spPr>
                <a:xfrm>
                  <a:off x="3441518" y="4871704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 18"/>
                <p:cNvSpPr/>
                <p:nvPr/>
              </p:nvSpPr>
              <p:spPr>
                <a:xfrm>
                  <a:off x="3818366" y="4871704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 19"/>
                <p:cNvSpPr/>
                <p:nvPr/>
              </p:nvSpPr>
              <p:spPr>
                <a:xfrm>
                  <a:off x="4199366" y="4871704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Rectangle 20"/>
                <p:cNvSpPr/>
                <p:nvPr/>
              </p:nvSpPr>
              <p:spPr>
                <a:xfrm>
                  <a:off x="2300987" y="5257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Rectangle 21"/>
                <p:cNvSpPr/>
                <p:nvPr/>
              </p:nvSpPr>
              <p:spPr>
                <a:xfrm>
                  <a:off x="2677835" y="5257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 22"/>
                <p:cNvSpPr/>
                <p:nvPr/>
              </p:nvSpPr>
              <p:spPr>
                <a:xfrm>
                  <a:off x="3058835" y="5257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3441518" y="5257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3818366" y="5257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4199366" y="5257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Rectangle 26"/>
                <p:cNvSpPr/>
                <p:nvPr/>
              </p:nvSpPr>
              <p:spPr>
                <a:xfrm>
                  <a:off x="2300987" y="5638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Rectangle 27"/>
                <p:cNvSpPr/>
                <p:nvPr/>
              </p:nvSpPr>
              <p:spPr>
                <a:xfrm>
                  <a:off x="2677835" y="5638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3058835" y="5638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3441518" y="5638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Rectangle 30"/>
                <p:cNvSpPr/>
                <p:nvPr/>
              </p:nvSpPr>
              <p:spPr>
                <a:xfrm>
                  <a:off x="3818366" y="5638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31"/>
                <p:cNvSpPr/>
                <p:nvPr/>
              </p:nvSpPr>
              <p:spPr>
                <a:xfrm>
                  <a:off x="4199366" y="5638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 32"/>
                <p:cNvSpPr/>
                <p:nvPr/>
              </p:nvSpPr>
              <p:spPr>
                <a:xfrm>
                  <a:off x="4578621" y="4492923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ectangle 33"/>
                <p:cNvSpPr/>
                <p:nvPr/>
              </p:nvSpPr>
              <p:spPr>
                <a:xfrm>
                  <a:off x="4955469" y="4492923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5336469" y="4492923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5719152" y="4492923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6096000" y="4492923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4578621" y="4871704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4955469" y="4871704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5336469" y="4871704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 40"/>
                <p:cNvSpPr/>
                <p:nvPr/>
              </p:nvSpPr>
              <p:spPr>
                <a:xfrm>
                  <a:off x="5719152" y="4871704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6096000" y="4871704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 42"/>
                <p:cNvSpPr/>
                <p:nvPr/>
              </p:nvSpPr>
              <p:spPr>
                <a:xfrm>
                  <a:off x="4578621" y="5257800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Rectangle 43"/>
                <p:cNvSpPr/>
                <p:nvPr/>
              </p:nvSpPr>
              <p:spPr>
                <a:xfrm>
                  <a:off x="4955469" y="5257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 44"/>
                <p:cNvSpPr/>
                <p:nvPr/>
              </p:nvSpPr>
              <p:spPr>
                <a:xfrm>
                  <a:off x="5336469" y="5257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 45"/>
                <p:cNvSpPr/>
                <p:nvPr/>
              </p:nvSpPr>
              <p:spPr>
                <a:xfrm>
                  <a:off x="5719152" y="5257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 46"/>
                <p:cNvSpPr/>
                <p:nvPr/>
              </p:nvSpPr>
              <p:spPr>
                <a:xfrm>
                  <a:off x="6096000" y="5257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 47"/>
                <p:cNvSpPr/>
                <p:nvPr/>
              </p:nvSpPr>
              <p:spPr>
                <a:xfrm>
                  <a:off x="4578621" y="5638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 48"/>
                <p:cNvSpPr/>
                <p:nvPr/>
              </p:nvSpPr>
              <p:spPr>
                <a:xfrm>
                  <a:off x="4955469" y="5638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 49"/>
                <p:cNvSpPr/>
                <p:nvPr/>
              </p:nvSpPr>
              <p:spPr>
                <a:xfrm>
                  <a:off x="5336469" y="5638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Rectangle 50"/>
                <p:cNvSpPr/>
                <p:nvPr/>
              </p:nvSpPr>
              <p:spPr>
                <a:xfrm>
                  <a:off x="5719152" y="5638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 51"/>
                <p:cNvSpPr/>
                <p:nvPr/>
              </p:nvSpPr>
              <p:spPr>
                <a:xfrm>
                  <a:off x="6096000" y="5638800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Rectangle 52"/>
                <p:cNvSpPr/>
                <p:nvPr/>
              </p:nvSpPr>
              <p:spPr>
                <a:xfrm>
                  <a:off x="2300987" y="2962388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/>
                <p:cNvSpPr/>
                <p:nvPr/>
              </p:nvSpPr>
              <p:spPr>
                <a:xfrm>
                  <a:off x="2677835" y="2962388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/>
                <p:cNvSpPr/>
                <p:nvPr/>
              </p:nvSpPr>
              <p:spPr>
                <a:xfrm>
                  <a:off x="3058835" y="2962388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/>
                <p:cNvSpPr/>
                <p:nvPr/>
              </p:nvSpPr>
              <p:spPr>
                <a:xfrm>
                  <a:off x="3441518" y="2962388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Rectangle 56"/>
                <p:cNvSpPr/>
                <p:nvPr/>
              </p:nvSpPr>
              <p:spPr>
                <a:xfrm>
                  <a:off x="3818366" y="2962388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Rectangle 57"/>
                <p:cNvSpPr/>
                <p:nvPr/>
              </p:nvSpPr>
              <p:spPr>
                <a:xfrm>
                  <a:off x="4199366" y="2962388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 58"/>
                <p:cNvSpPr/>
                <p:nvPr/>
              </p:nvSpPr>
              <p:spPr>
                <a:xfrm>
                  <a:off x="2300987" y="3341169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 59"/>
                <p:cNvSpPr/>
                <p:nvPr/>
              </p:nvSpPr>
              <p:spPr>
                <a:xfrm>
                  <a:off x="2677835" y="3341169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 60"/>
                <p:cNvSpPr/>
                <p:nvPr/>
              </p:nvSpPr>
              <p:spPr>
                <a:xfrm>
                  <a:off x="3058835" y="3341169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ectangle 61"/>
                <p:cNvSpPr/>
                <p:nvPr/>
              </p:nvSpPr>
              <p:spPr>
                <a:xfrm>
                  <a:off x="3441518" y="3341169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 62"/>
                <p:cNvSpPr/>
                <p:nvPr/>
              </p:nvSpPr>
              <p:spPr>
                <a:xfrm>
                  <a:off x="3818366" y="3341169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 63"/>
                <p:cNvSpPr/>
                <p:nvPr/>
              </p:nvSpPr>
              <p:spPr>
                <a:xfrm>
                  <a:off x="4199366" y="3341169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 64"/>
                <p:cNvSpPr/>
                <p:nvPr/>
              </p:nvSpPr>
              <p:spPr>
                <a:xfrm>
                  <a:off x="2300987" y="3727265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Rectangle 65"/>
                <p:cNvSpPr/>
                <p:nvPr/>
              </p:nvSpPr>
              <p:spPr>
                <a:xfrm>
                  <a:off x="2677835" y="3727265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 66"/>
                <p:cNvSpPr/>
                <p:nvPr/>
              </p:nvSpPr>
              <p:spPr>
                <a:xfrm>
                  <a:off x="3058835" y="3727265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 67"/>
                <p:cNvSpPr/>
                <p:nvPr/>
              </p:nvSpPr>
              <p:spPr>
                <a:xfrm>
                  <a:off x="3441518" y="3727265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 68"/>
                <p:cNvSpPr/>
                <p:nvPr/>
              </p:nvSpPr>
              <p:spPr>
                <a:xfrm>
                  <a:off x="3818366" y="3727265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 69"/>
                <p:cNvSpPr/>
                <p:nvPr/>
              </p:nvSpPr>
              <p:spPr>
                <a:xfrm>
                  <a:off x="4199366" y="3727265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 70"/>
                <p:cNvSpPr/>
                <p:nvPr/>
              </p:nvSpPr>
              <p:spPr>
                <a:xfrm>
                  <a:off x="2300987" y="4108265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 71"/>
                <p:cNvSpPr/>
                <p:nvPr/>
              </p:nvSpPr>
              <p:spPr>
                <a:xfrm>
                  <a:off x="2677835" y="4108265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 72"/>
                <p:cNvSpPr/>
                <p:nvPr/>
              </p:nvSpPr>
              <p:spPr>
                <a:xfrm>
                  <a:off x="3058835" y="4108265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Rectangle 73"/>
                <p:cNvSpPr/>
                <p:nvPr/>
              </p:nvSpPr>
              <p:spPr>
                <a:xfrm>
                  <a:off x="3441518" y="4108265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Rectangle 74"/>
                <p:cNvSpPr/>
                <p:nvPr/>
              </p:nvSpPr>
              <p:spPr>
                <a:xfrm>
                  <a:off x="3818366" y="4108265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Rectangle 75"/>
                <p:cNvSpPr/>
                <p:nvPr/>
              </p:nvSpPr>
              <p:spPr>
                <a:xfrm>
                  <a:off x="4199366" y="4108265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Rectangle 76"/>
                <p:cNvSpPr/>
                <p:nvPr/>
              </p:nvSpPr>
              <p:spPr>
                <a:xfrm>
                  <a:off x="4578621" y="2962388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Rectangle 77"/>
                <p:cNvSpPr/>
                <p:nvPr/>
              </p:nvSpPr>
              <p:spPr>
                <a:xfrm>
                  <a:off x="4955469" y="2962388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5336469" y="2962388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5719152" y="2962388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6096000" y="2962388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4578621" y="3341169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4955469" y="3341169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 83"/>
                <p:cNvSpPr/>
                <p:nvPr/>
              </p:nvSpPr>
              <p:spPr>
                <a:xfrm>
                  <a:off x="5336469" y="3341169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5719152" y="3341169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6096000" y="3341169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 86"/>
                <p:cNvSpPr/>
                <p:nvPr/>
              </p:nvSpPr>
              <p:spPr>
                <a:xfrm>
                  <a:off x="4578621" y="3727265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87"/>
                <p:cNvSpPr/>
                <p:nvPr/>
              </p:nvSpPr>
              <p:spPr>
                <a:xfrm>
                  <a:off x="4955469" y="3727265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88"/>
                <p:cNvSpPr/>
                <p:nvPr/>
              </p:nvSpPr>
              <p:spPr>
                <a:xfrm>
                  <a:off x="5336469" y="3727265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 89"/>
                <p:cNvSpPr/>
                <p:nvPr/>
              </p:nvSpPr>
              <p:spPr>
                <a:xfrm>
                  <a:off x="5719152" y="3727265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 90"/>
                <p:cNvSpPr/>
                <p:nvPr/>
              </p:nvSpPr>
              <p:spPr>
                <a:xfrm>
                  <a:off x="6096000" y="3727265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 91"/>
                <p:cNvSpPr/>
                <p:nvPr/>
              </p:nvSpPr>
              <p:spPr>
                <a:xfrm>
                  <a:off x="4578621" y="4108265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4955469" y="4108265"/>
                  <a:ext cx="381000" cy="381000"/>
                </a:xfrm>
                <a:prstGeom prst="rect">
                  <a:avLst/>
                </a:prstGeom>
                <a:solidFill>
                  <a:srgbClr val="C00000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Rectangle 93"/>
                <p:cNvSpPr/>
                <p:nvPr/>
              </p:nvSpPr>
              <p:spPr>
                <a:xfrm>
                  <a:off x="5336469" y="4108265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Rectangle 94"/>
                <p:cNvSpPr/>
                <p:nvPr/>
              </p:nvSpPr>
              <p:spPr>
                <a:xfrm>
                  <a:off x="5719152" y="4108265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Rectangle 95"/>
                <p:cNvSpPr/>
                <p:nvPr/>
              </p:nvSpPr>
              <p:spPr>
                <a:xfrm>
                  <a:off x="6096000" y="4108265"/>
                  <a:ext cx="381000" cy="381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Oval 96"/>
                <p:cNvSpPr/>
                <p:nvPr/>
              </p:nvSpPr>
              <p:spPr>
                <a:xfrm>
                  <a:off x="5469819" y="3474519"/>
                  <a:ext cx="114300" cy="1143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8" name="Group 97"/>
                <p:cNvGrpSpPr/>
                <p:nvPr/>
              </p:nvGrpSpPr>
              <p:grpSpPr>
                <a:xfrm>
                  <a:off x="3245005" y="3529243"/>
                  <a:ext cx="2286000" cy="1918008"/>
                  <a:chOff x="3245005" y="3233855"/>
                  <a:chExt cx="2286000" cy="1918008"/>
                </a:xfrm>
              </p:grpSpPr>
              <p:cxnSp>
                <p:nvCxnSpPr>
                  <p:cNvPr id="99" name="Straight Connector 98"/>
                  <p:cNvCxnSpPr/>
                  <p:nvPr/>
                </p:nvCxnSpPr>
                <p:spPr>
                  <a:xfrm flipV="1">
                    <a:off x="3256156" y="3233855"/>
                    <a:ext cx="2274849" cy="769433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Connector 99"/>
                  <p:cNvCxnSpPr/>
                  <p:nvPr/>
                </p:nvCxnSpPr>
                <p:spPr>
                  <a:xfrm>
                    <a:off x="3245005" y="4003288"/>
                    <a:ext cx="1527717" cy="114857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/>
                  <p:cNvCxnSpPr/>
                  <p:nvPr/>
                </p:nvCxnSpPr>
                <p:spPr>
                  <a:xfrm flipV="1">
                    <a:off x="4772722" y="3233855"/>
                    <a:ext cx="758283" cy="191800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04" name="Rectangle 103"/>
              <p:cNvSpPr/>
              <p:nvPr/>
            </p:nvSpPr>
            <p:spPr>
              <a:xfrm>
                <a:off x="1325018" y="3529243"/>
                <a:ext cx="2308302" cy="1946006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6" name="TextBox 105"/>
            <p:cNvSpPr txBox="1"/>
            <p:nvPr/>
          </p:nvSpPr>
          <p:spPr>
            <a:xfrm>
              <a:off x="1940632" y="4253283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</a:t>
              </a:r>
              <a:r>
                <a:rPr lang="en-US" baseline="-25000" dirty="0"/>
                <a:t>0</a:t>
              </a:r>
              <a:r>
                <a:rPr lang="en-US" dirty="0"/>
                <a:t>, y</a:t>
              </a:r>
              <a:r>
                <a:rPr lang="en-US" baseline="-25000" dirty="0"/>
                <a:t>0</a:t>
              </a:r>
              <a:r>
                <a:rPr lang="en-US" dirty="0"/>
                <a:t>)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4237855" y="3547480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</a:t>
              </a:r>
              <a:r>
                <a:rPr lang="en-US" baseline="-25000" dirty="0"/>
                <a:t>1</a:t>
              </a:r>
              <a:r>
                <a:rPr lang="en-US" dirty="0"/>
                <a:t>, y</a:t>
              </a:r>
              <a:r>
                <a:rPr lang="en-US" baseline="-25000" dirty="0"/>
                <a:t>1</a:t>
              </a:r>
              <a:r>
                <a:rPr lang="en-US" dirty="0"/>
                <a:t>)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478804" y="5509673"/>
              <a:ext cx="867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(x</a:t>
              </a:r>
              <a:r>
                <a:rPr lang="en-US" baseline="-25000" dirty="0"/>
                <a:t>2</a:t>
              </a:r>
              <a:r>
                <a:rPr lang="en-US" dirty="0"/>
                <a:t>, y</a:t>
              </a:r>
              <a:r>
                <a:rPr lang="en-US" baseline="-25000" dirty="0"/>
                <a:t>2</a:t>
              </a:r>
              <a:r>
                <a:rPr lang="en-US" dirty="0"/>
                <a:t>)</a:t>
              </a:r>
            </a:p>
          </p:txBody>
        </p:sp>
        <p:sp>
          <p:nvSpPr>
            <p:cNvPr id="109" name="Oval 108"/>
            <p:cNvSpPr/>
            <p:nvPr/>
          </p:nvSpPr>
          <p:spPr>
            <a:xfrm>
              <a:off x="3805353" y="4244898"/>
              <a:ext cx="114300" cy="1143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3504108" y="4267200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(x, y)</a:t>
              </a:r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5529147" y="3505200"/>
            <a:ext cx="2379855" cy="2041602"/>
            <a:chOff x="5529147" y="3505200"/>
            <a:chExt cx="2379855" cy="2041602"/>
          </a:xfrm>
        </p:grpSpPr>
        <p:cxnSp>
          <p:nvCxnSpPr>
            <p:cNvPr id="113" name="Straight Connector 112"/>
            <p:cNvCxnSpPr/>
            <p:nvPr/>
          </p:nvCxnSpPr>
          <p:spPr>
            <a:xfrm flipV="1">
              <a:off x="5573751" y="3557241"/>
              <a:ext cx="2274849" cy="7694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5562600" y="4326674"/>
              <a:ext cx="1527717" cy="11485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7090317" y="3557241"/>
              <a:ext cx="758283" cy="1918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Oval 115"/>
            <p:cNvSpPr/>
            <p:nvPr/>
          </p:nvSpPr>
          <p:spPr>
            <a:xfrm>
              <a:off x="7794702" y="35052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/>
          </p:nvSpPr>
          <p:spPr>
            <a:xfrm>
              <a:off x="7059651" y="5432502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/>
          </p:nvSpPr>
          <p:spPr>
            <a:xfrm>
              <a:off x="5529147" y="4282998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/>
            <p:cNvSpPr/>
            <p:nvPr/>
          </p:nvSpPr>
          <p:spPr>
            <a:xfrm>
              <a:off x="6896100" y="4370349"/>
              <a:ext cx="114300" cy="1143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1" name="Straight Connector 120"/>
            <p:cNvCxnSpPr/>
            <p:nvPr/>
          </p:nvCxnSpPr>
          <p:spPr>
            <a:xfrm>
              <a:off x="5586761" y="4341542"/>
              <a:ext cx="1371600" cy="1003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H="1" flipV="1">
              <a:off x="6958361" y="4430751"/>
              <a:ext cx="156118" cy="10593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6969512" y="3560956"/>
              <a:ext cx="880947" cy="88094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TextBox 133"/>
            <p:cNvSpPr txBox="1"/>
            <p:nvPr/>
          </p:nvSpPr>
          <p:spPr>
            <a:xfrm>
              <a:off x="6629400" y="3962917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400800" y="4572517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044086" y="4332249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  <a:r>
                <a:rPr lang="en-US" baseline="-25000" dirty="0"/>
                <a:t>0</a:t>
              </a:r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7255843" y="4976246"/>
            <a:ext cx="1836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= A</a:t>
            </a:r>
            <a:r>
              <a:rPr lang="en-US" baseline="-25000" dirty="0"/>
              <a:t>0</a:t>
            </a:r>
            <a:r>
              <a:rPr lang="en-US" dirty="0"/>
              <a:t> + A</a:t>
            </a:r>
            <a:r>
              <a:rPr lang="en-US" baseline="-25000" dirty="0"/>
              <a:t>1</a:t>
            </a:r>
            <a:r>
              <a:rPr lang="en-US" dirty="0"/>
              <a:t> + A</a:t>
            </a:r>
            <a:r>
              <a:rPr lang="en-US" baseline="-25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/>
              <p:cNvSpPr txBox="1"/>
              <p:nvPr/>
            </p:nvSpPr>
            <p:spPr>
              <a:xfrm>
                <a:off x="5472758" y="5800226"/>
                <a:ext cx="3442642" cy="524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9" name="TextBox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758" y="5800226"/>
                <a:ext cx="3442642" cy="5243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3" name="Group 142"/>
          <p:cNvGrpSpPr/>
          <p:nvPr/>
        </p:nvGrpSpPr>
        <p:grpSpPr>
          <a:xfrm>
            <a:off x="5141032" y="3547480"/>
            <a:ext cx="3164768" cy="2331525"/>
            <a:chOff x="5141032" y="3547480"/>
            <a:chExt cx="3164768" cy="2331525"/>
          </a:xfrm>
        </p:grpSpPr>
        <p:sp>
          <p:nvSpPr>
            <p:cNvPr id="140" name="TextBox 139"/>
            <p:cNvSpPr txBox="1"/>
            <p:nvPr/>
          </p:nvSpPr>
          <p:spPr>
            <a:xfrm>
              <a:off x="5141032" y="4253283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</a:t>
              </a:r>
              <a:r>
                <a:rPr lang="en-US" baseline="-25000" dirty="0"/>
                <a:t>0</a:t>
              </a:r>
              <a:r>
                <a:rPr lang="en-US" dirty="0"/>
                <a:t>, y</a:t>
              </a:r>
              <a:r>
                <a:rPr lang="en-US" baseline="-25000" dirty="0"/>
                <a:t>0</a:t>
              </a:r>
              <a:r>
                <a:rPr lang="en-US" dirty="0"/>
                <a:t>)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7438255" y="3547480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(x</a:t>
              </a:r>
              <a:r>
                <a:rPr lang="en-US" baseline="-25000" dirty="0"/>
                <a:t>1</a:t>
              </a:r>
              <a:r>
                <a:rPr lang="en-US" dirty="0"/>
                <a:t>, y</a:t>
              </a:r>
              <a:r>
                <a:rPr lang="en-US" baseline="-25000" dirty="0"/>
                <a:t>1</a:t>
              </a:r>
              <a:r>
                <a:rPr lang="en-US" dirty="0"/>
                <a:t>)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6679204" y="5509673"/>
              <a:ext cx="867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(x</a:t>
              </a:r>
              <a:r>
                <a:rPr lang="en-US" baseline="-25000" dirty="0"/>
                <a:t>2</a:t>
              </a:r>
              <a:r>
                <a:rPr lang="en-US" dirty="0"/>
                <a:t>, y</a:t>
              </a:r>
              <a:r>
                <a:rPr lang="en-US" baseline="-25000" dirty="0"/>
                <a:t>2</a:t>
              </a:r>
              <a:r>
                <a:rPr lang="en-US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337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38" grpId="0"/>
      <p:bldP spid="13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Rasterization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don’t actually need to compute the areas as the bases are shared and will cancel out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29</a:t>
            </a:fld>
            <a:endParaRPr lang="en-US"/>
          </a:p>
        </p:txBody>
      </p:sp>
      <p:sp>
        <p:nvSpPr>
          <p:cNvPr id="110" name="TextBox 109"/>
          <p:cNvSpPr txBox="1"/>
          <p:nvPr/>
        </p:nvSpPr>
        <p:spPr>
          <a:xfrm>
            <a:off x="4921825" y="2846654"/>
            <a:ext cx="4140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barycentric coordinates of (x, y)?</a:t>
            </a:r>
          </a:p>
        </p:txBody>
      </p:sp>
      <p:grpSp>
        <p:nvGrpSpPr>
          <p:cNvPr id="137" name="Group 136"/>
          <p:cNvGrpSpPr/>
          <p:nvPr/>
        </p:nvGrpSpPr>
        <p:grpSpPr>
          <a:xfrm>
            <a:off x="5529147" y="3505200"/>
            <a:ext cx="2379855" cy="2041602"/>
            <a:chOff x="5529147" y="3505200"/>
            <a:chExt cx="2379855" cy="2041602"/>
          </a:xfrm>
        </p:grpSpPr>
        <p:cxnSp>
          <p:nvCxnSpPr>
            <p:cNvPr id="113" name="Straight Connector 112"/>
            <p:cNvCxnSpPr/>
            <p:nvPr/>
          </p:nvCxnSpPr>
          <p:spPr>
            <a:xfrm flipV="1">
              <a:off x="5573751" y="3557241"/>
              <a:ext cx="2274849" cy="7694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5562600" y="4326674"/>
              <a:ext cx="1527717" cy="11485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7090317" y="3557241"/>
              <a:ext cx="758283" cy="1918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Oval 115"/>
            <p:cNvSpPr/>
            <p:nvPr/>
          </p:nvSpPr>
          <p:spPr>
            <a:xfrm>
              <a:off x="7794702" y="35052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/>
          </p:nvSpPr>
          <p:spPr>
            <a:xfrm>
              <a:off x="7059651" y="5432502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/>
          </p:nvSpPr>
          <p:spPr>
            <a:xfrm>
              <a:off x="5529147" y="4282998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/>
            <p:cNvSpPr/>
            <p:nvPr/>
          </p:nvSpPr>
          <p:spPr>
            <a:xfrm>
              <a:off x="6896100" y="4370349"/>
              <a:ext cx="114300" cy="1143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1" name="Straight Connector 120"/>
            <p:cNvCxnSpPr/>
            <p:nvPr/>
          </p:nvCxnSpPr>
          <p:spPr>
            <a:xfrm>
              <a:off x="5586761" y="4341542"/>
              <a:ext cx="1371600" cy="1003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H="1" flipV="1">
              <a:off x="6958361" y="4430751"/>
              <a:ext cx="156118" cy="10593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6969512" y="3560956"/>
              <a:ext cx="880947" cy="88094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TextBox 133"/>
            <p:cNvSpPr txBox="1"/>
            <p:nvPr/>
          </p:nvSpPr>
          <p:spPr>
            <a:xfrm>
              <a:off x="6629400" y="3962917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400800" y="4572517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044086" y="4332249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  <a:r>
                <a:rPr lang="en-US" baseline="-25000" dirty="0"/>
                <a:t>0</a:t>
              </a:r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7255843" y="4976246"/>
            <a:ext cx="1836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= A</a:t>
            </a:r>
            <a:r>
              <a:rPr lang="en-US" baseline="-25000" dirty="0"/>
              <a:t>0</a:t>
            </a:r>
            <a:r>
              <a:rPr lang="en-US" dirty="0"/>
              <a:t> + A</a:t>
            </a:r>
            <a:r>
              <a:rPr lang="en-US" baseline="-25000" dirty="0"/>
              <a:t>1</a:t>
            </a:r>
            <a:r>
              <a:rPr lang="en-US" dirty="0"/>
              <a:t> + A</a:t>
            </a:r>
            <a:r>
              <a:rPr lang="en-US" baseline="-25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/>
              <p:cNvSpPr txBox="1"/>
              <p:nvPr/>
            </p:nvSpPr>
            <p:spPr>
              <a:xfrm>
                <a:off x="705648" y="2907632"/>
                <a:ext cx="3442642" cy="524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9" name="TextBox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48" y="2907632"/>
                <a:ext cx="3442642" cy="5243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685800" y="4038600"/>
                <a:ext cx="1761051" cy="640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038600"/>
                <a:ext cx="1761051" cy="6408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/>
          <p:cNvSpPr txBox="1"/>
          <p:nvPr/>
        </p:nvSpPr>
        <p:spPr>
          <a:xfrm>
            <a:off x="7506096" y="4343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US" baseline="-25000" dirty="0"/>
              <a:t>12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096000" y="48884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US" baseline="-25000" dirty="0"/>
              <a:t>20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363096" y="3581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US" baseline="-25000" dirty="0"/>
              <a:t>01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41032" y="4253283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0</a:t>
            </a:r>
            <a:r>
              <a:rPr lang="en-US" dirty="0"/>
              <a:t>, y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438255" y="354748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679204" y="5509673"/>
            <a:ext cx="867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/>
              <p:cNvSpPr txBox="1"/>
              <p:nvPr/>
            </p:nvSpPr>
            <p:spPr>
              <a:xfrm>
                <a:off x="677349" y="4921784"/>
                <a:ext cx="1761051" cy="640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1" name="TextBox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49" y="4921784"/>
                <a:ext cx="1761051" cy="6408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/>
              <p:cNvSpPr txBox="1"/>
              <p:nvPr/>
            </p:nvSpPr>
            <p:spPr>
              <a:xfrm>
                <a:off x="2593791" y="4458005"/>
                <a:ext cx="1761051" cy="640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2" name="TextBox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791" y="4458005"/>
                <a:ext cx="1761051" cy="6408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1674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Algorithm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28800" y="1752600"/>
                <a:ext cx="59436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for</a:t>
                </a:r>
                <a:r>
                  <a:rPr lang="en-US" sz="2400" dirty="0"/>
                  <a:t> y = </a:t>
                </a:r>
                <a:r>
                  <a:rPr lang="en-US" sz="2400" dirty="0" err="1"/>
                  <a:t>y</a:t>
                </a:r>
                <a:r>
                  <a:rPr lang="en-US" sz="2400" baseline="-25000" dirty="0" err="1"/>
                  <a:t>min</a:t>
                </a:r>
                <a:r>
                  <a:rPr lang="en-US" sz="2400" dirty="0"/>
                  <a:t> </a:t>
                </a:r>
                <a:r>
                  <a:rPr lang="en-US" sz="2400" b="1" dirty="0"/>
                  <a:t>to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y</a:t>
                </a:r>
                <a:r>
                  <a:rPr lang="en-US" sz="2400" baseline="-25000" dirty="0" err="1"/>
                  <a:t>max</a:t>
                </a:r>
                <a:r>
                  <a:rPr lang="en-US" sz="2400" dirty="0"/>
                  <a:t> </a:t>
                </a:r>
                <a:r>
                  <a:rPr lang="en-US" sz="2400" b="1" dirty="0"/>
                  <a:t>do:</a:t>
                </a:r>
              </a:p>
              <a:p>
                <a:r>
                  <a:rPr lang="en-US" sz="2400" dirty="0"/>
                  <a:t>    </a:t>
                </a:r>
                <a:r>
                  <a:rPr lang="en-US" sz="2400" b="1" dirty="0"/>
                  <a:t>for</a:t>
                </a:r>
                <a:r>
                  <a:rPr lang="en-US" sz="2400" dirty="0"/>
                  <a:t> x = </a:t>
                </a:r>
                <a:r>
                  <a:rPr lang="en-US" sz="2400" dirty="0" err="1"/>
                  <a:t>x</a:t>
                </a:r>
                <a:r>
                  <a:rPr lang="en-US" sz="2400" baseline="-25000" dirty="0" err="1"/>
                  <a:t>min</a:t>
                </a:r>
                <a:r>
                  <a:rPr lang="en-US" sz="2400" dirty="0"/>
                  <a:t> </a:t>
                </a:r>
                <a:r>
                  <a:rPr lang="en-US" sz="2400" b="1" dirty="0"/>
                  <a:t>to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x</a:t>
                </a:r>
                <a:r>
                  <a:rPr lang="en-US" sz="2400" baseline="-25000" dirty="0" err="1"/>
                  <a:t>max</a:t>
                </a:r>
                <a:r>
                  <a:rPr lang="en-US" sz="2400" dirty="0"/>
                  <a:t> </a:t>
                </a:r>
                <a:r>
                  <a:rPr lang="en-US" sz="2400" b="1" dirty="0"/>
                  <a:t>do:</a:t>
                </a:r>
              </a:p>
              <a:p>
                <a:r>
                  <a:rPr lang="en-US" sz="2400" dirty="0"/>
                  <a:t>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        </a:t>
                </a:r>
                <a14:m>
                  <m:oMath xmlns:m="http://schemas.openxmlformats.org/officeDocument/2006/math">
                    <m:r>
                      <a:rPr lang="el-G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        </a:t>
                </a:r>
                <a14:m>
                  <m:oMath xmlns:m="http://schemas.openxmlformats.org/officeDocument/2006/math">
                    <m: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        </a:t>
                </a:r>
                <a:r>
                  <a:rPr lang="en-US" sz="2400" b="1" dirty="0"/>
                  <a:t>if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/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/>
                  <a:t>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b="1" dirty="0"/>
                  <a:t> then:</a:t>
                </a:r>
              </a:p>
              <a:p>
                <a:r>
                  <a:rPr lang="en-US" sz="2400" b="1" dirty="0"/>
                  <a:t>            </a:t>
                </a:r>
                <a:r>
                  <a:rPr lang="en-US" sz="2400" dirty="0"/>
                  <a:t>c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c</a:t>
                </a:r>
                <a:r>
                  <a:rPr lang="en-US" sz="2400" baseline="-25000" dirty="0"/>
                  <a:t>0 </a:t>
                </a:r>
                <a:r>
                  <a:rPr lang="en-US" sz="2400" dirty="0"/>
                  <a:t>+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c</a:t>
                </a:r>
                <a:r>
                  <a:rPr lang="en-US" sz="2400" baseline="-25000" dirty="0"/>
                  <a:t>1 </a:t>
                </a:r>
                <a:r>
                  <a:rPr lang="en-US" sz="2400" dirty="0"/>
                  <a:t>+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400" dirty="0"/>
                  <a:t>c</a:t>
                </a:r>
                <a:r>
                  <a:rPr lang="en-US" sz="2400" baseline="-25000" dirty="0"/>
                  <a:t>2</a:t>
                </a:r>
                <a:endParaRPr lang="en-US" sz="2400" dirty="0"/>
              </a:p>
              <a:p>
                <a:r>
                  <a:rPr lang="en-US" sz="2400" dirty="0"/>
                  <a:t>            draw(x, y, round(c))</a:t>
                </a:r>
              </a:p>
              <a:p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752600"/>
                <a:ext cx="5943600" cy="3416320"/>
              </a:xfrm>
              <a:prstGeom prst="rect">
                <a:avLst/>
              </a:prstGeom>
              <a:blipFill>
                <a:blip r:embed="rId2"/>
                <a:stretch>
                  <a:fillRect l="-1538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 that the computation of the barycentric coordinates can also be made incremental for greater efficiency</a:t>
            </a:r>
          </a:p>
        </p:txBody>
      </p:sp>
    </p:spTree>
    <p:extLst>
      <p:ext uri="{BB962C8B-B14F-4D97-AF65-F5344CB8AC3E}">
        <p14:creationId xmlns:p14="http://schemas.microsoft.com/office/powerpoint/2010/main" val="11141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of rasterization is a set of </a:t>
            </a:r>
            <a:r>
              <a:rPr lang="en-US" dirty="0">
                <a:solidFill>
                  <a:srgbClr val="C00000"/>
                </a:solidFill>
              </a:rPr>
              <a:t>fragments</a:t>
            </a:r>
            <a:r>
              <a:rPr lang="en-US" dirty="0"/>
              <a:t> (pixel-to-be) for each primitive</a:t>
            </a:r>
          </a:p>
          <a:p>
            <a:r>
              <a:rPr lang="en-US" dirty="0"/>
              <a:t>Each fragment has interpolated values of attributes:</a:t>
            </a:r>
          </a:p>
          <a:p>
            <a:pPr lvl="1"/>
            <a:r>
              <a:rPr lang="en-US" dirty="0"/>
              <a:t>Color values</a:t>
            </a:r>
          </a:p>
          <a:p>
            <a:pPr lvl="1"/>
            <a:r>
              <a:rPr lang="en-US" dirty="0"/>
              <a:t>Texture coordinates</a:t>
            </a:r>
          </a:p>
          <a:p>
            <a:pPr lvl="1"/>
            <a:r>
              <a:rPr lang="en-US" dirty="0"/>
              <a:t>Depth value</a:t>
            </a:r>
          </a:p>
          <a:p>
            <a:pPr lvl="1"/>
            <a:r>
              <a:rPr lang="en-US" dirty="0" err="1"/>
              <a:t>Normals</a:t>
            </a:r>
            <a:endParaRPr lang="en-US" dirty="0"/>
          </a:p>
          <a:p>
            <a:pPr lvl="1"/>
            <a:r>
              <a:rPr lang="en-US" dirty="0"/>
              <a:t>Or any user-defined attribute for vertices</a:t>
            </a:r>
          </a:p>
          <a:p>
            <a:r>
              <a:rPr lang="en-US" dirty="0"/>
              <a:t>The next stage in the life of a fragment is to go through the </a:t>
            </a:r>
            <a:r>
              <a:rPr lang="en-US"/>
              <a:t>fragment pipeline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163652"/>
      </p:ext>
    </p:extLst>
  </p:cSld>
  <p:clrMapOvr>
    <a:masterClrMapping/>
  </p:clrMapOvr>
</p:sld>
</file>

<file path=ppt/theme/theme1.xml><?xml version="1.0" encoding="utf-8"?>
<a:theme xmlns:a="http://schemas.openxmlformats.org/drawingml/2006/main" name="1_metu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Benton">
      <a:majorFont>
        <a:latin typeface="BentonSansTRUMed"/>
        <a:ea typeface=""/>
        <a:cs typeface=""/>
      </a:majorFont>
      <a:minorFont>
        <a:latin typeface="BentonSansTRURe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1691</TotalTime>
  <Words>2238</Words>
  <Application>Microsoft Office PowerPoint</Application>
  <PresentationFormat>On-screen Show (4:3)</PresentationFormat>
  <Paragraphs>369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BentonSansTRUMed</vt:lpstr>
      <vt:lpstr>BentonSansTRUReg</vt:lpstr>
      <vt:lpstr>Calibri</vt:lpstr>
      <vt:lpstr>Cambria Math</vt:lpstr>
      <vt:lpstr>Times New Roman</vt:lpstr>
      <vt:lpstr>1_metu</vt:lpstr>
      <vt:lpstr>CENG – 477 Introduction to Computer Graphics</vt:lpstr>
      <vt:lpstr>Rasterization</vt:lpstr>
      <vt:lpstr>Rasterization</vt:lpstr>
      <vt:lpstr>Line Rasterization</vt:lpstr>
      <vt:lpstr>Line Rasterization</vt:lpstr>
      <vt:lpstr>Line Rasterization</vt:lpstr>
      <vt:lpstr>Line Equation</vt:lpstr>
      <vt:lpstr>The Basic Algorithm</vt:lpstr>
      <vt:lpstr>The Midpoint Algorithm</vt:lpstr>
      <vt:lpstr>The Midpoint Algorithm</vt:lpstr>
      <vt:lpstr>The Midpoint Algorithm</vt:lpstr>
      <vt:lpstr>The Midpoint Algorithm</vt:lpstr>
      <vt:lpstr>The Midpoint Algorithm</vt:lpstr>
      <vt:lpstr>The Midpoint Algorithm</vt:lpstr>
      <vt:lpstr>Float vs Integer</vt:lpstr>
      <vt:lpstr>Interpolating Attributes</vt:lpstr>
      <vt:lpstr>Interpolating Attributes</vt:lpstr>
      <vt:lpstr>Interpolating Attributes</vt:lpstr>
      <vt:lpstr>Interpolating Attributes</vt:lpstr>
      <vt:lpstr>Interpolating Attributes</vt:lpstr>
      <vt:lpstr>Algorithm with Interpolation</vt:lpstr>
      <vt:lpstr>Triangle Rasterization</vt:lpstr>
      <vt:lpstr>Triangle Rasterization</vt:lpstr>
      <vt:lpstr>Triangle Rasterization</vt:lpstr>
      <vt:lpstr>Triangle Rasterization</vt:lpstr>
      <vt:lpstr>Triangle Rasterization</vt:lpstr>
      <vt:lpstr>Triangle Rasterization</vt:lpstr>
      <vt:lpstr>Triangle Rasterization</vt:lpstr>
      <vt:lpstr>Triangle Rasterization</vt:lpstr>
      <vt:lpstr>Overall Algorithm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CENG - 477</dc:title>
  <dc:creator>akyuz</dc:creator>
  <cp:lastModifiedBy>Oguz Akyuz</cp:lastModifiedBy>
  <cp:revision>93</cp:revision>
  <dcterms:created xsi:type="dcterms:W3CDTF">2012-11-20T10:00:08Z</dcterms:created>
  <dcterms:modified xsi:type="dcterms:W3CDTF">2025-11-24T12:53:12Z</dcterms:modified>
</cp:coreProperties>
</file>