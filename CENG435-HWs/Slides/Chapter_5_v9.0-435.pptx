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03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52" r:id="rId17"/>
    <p:sldId id="1353" r:id="rId18"/>
    <p:sldId id="1354" r:id="rId19"/>
    <p:sldId id="1355" r:id="rId20"/>
    <p:sldId id="1356" r:id="rId21"/>
    <p:sldId id="1357" r:id="rId22"/>
    <p:sldId id="1358" r:id="rId23"/>
    <p:sldId id="1359" r:id="rId24"/>
    <p:sldId id="1300" r:id="rId25"/>
    <p:sldId id="1360" r:id="rId26"/>
    <p:sldId id="1361" r:id="rId27"/>
    <p:sldId id="1232" r:id="rId28"/>
    <p:sldId id="1233" r:id="rId29"/>
    <p:sldId id="1259" r:id="rId30"/>
    <p:sldId id="1231" r:id="rId31"/>
    <p:sldId id="1260" r:id="rId32"/>
    <p:sldId id="1273" r:id="rId33"/>
    <p:sldId id="1261" r:id="rId34"/>
    <p:sldId id="1262" r:id="rId35"/>
    <p:sldId id="1263" r:id="rId36"/>
    <p:sldId id="1264" r:id="rId37"/>
    <p:sldId id="1234" r:id="rId38"/>
    <p:sldId id="1238" r:id="rId39"/>
    <p:sldId id="1245" r:id="rId40"/>
    <p:sldId id="1244" r:id="rId41"/>
    <p:sldId id="1241" r:id="rId42"/>
    <p:sldId id="1242" r:id="rId43"/>
    <p:sldId id="1243" r:id="rId44"/>
    <p:sldId id="1246" r:id="rId45"/>
    <p:sldId id="1249" r:id="rId46"/>
    <p:sldId id="1250" r:id="rId47"/>
    <p:sldId id="1252" r:id="rId48"/>
    <p:sldId id="1253" r:id="rId49"/>
    <p:sldId id="1254" r:id="rId50"/>
    <p:sldId id="1255" r:id="rId51"/>
    <p:sldId id="1267" r:id="rId52"/>
    <p:sldId id="1268" r:id="rId53"/>
    <p:sldId id="1269" r:id="rId54"/>
    <p:sldId id="1274" r:id="rId55"/>
    <p:sldId id="1280" r:id="rId56"/>
    <p:sldId id="1281" r:id="rId57"/>
    <p:sldId id="1282" r:id="rId58"/>
    <p:sldId id="1284" r:id="rId59"/>
    <p:sldId id="1285" r:id="rId60"/>
    <p:sldId id="1286" r:id="rId61"/>
    <p:sldId id="1287" r:id="rId62"/>
    <p:sldId id="1276" r:id="rId63"/>
    <p:sldId id="1365" r:id="rId64"/>
    <p:sldId id="1366" r:id="rId65"/>
    <p:sldId id="1289" r:id="rId66"/>
    <p:sldId id="1290" r:id="rId67"/>
    <p:sldId id="1362" r:id="rId68"/>
    <p:sldId id="1291" r:id="rId69"/>
    <p:sldId id="1292" r:id="rId70"/>
    <p:sldId id="1293" r:id="rId71"/>
    <p:sldId id="1363" r:id="rId72"/>
    <p:sldId id="1364" r:id="rId73"/>
    <p:sldId id="1298" r:id="rId74"/>
    <p:sldId id="1299" r:id="rId75"/>
    <p:sldId id="1301" r:id="rId76"/>
    <p:sldId id="1297" r:id="rId77"/>
    <p:sldId id="1302" r:id="rId78"/>
    <p:sldId id="1277" r:id="rId79"/>
    <p:sldId id="1303" r:id="rId80"/>
    <p:sldId id="1304" r:id="rId81"/>
    <p:sldId id="1305" r:id="rId82"/>
    <p:sldId id="1306" r:id="rId83"/>
    <p:sldId id="1310" r:id="rId84"/>
    <p:sldId id="1309" r:id="rId85"/>
    <p:sldId id="1308" r:id="rId86"/>
    <p:sldId id="1311" r:id="rId87"/>
    <p:sldId id="1312" r:id="rId88"/>
    <p:sldId id="1313" r:id="rId89"/>
    <p:sldId id="1314" r:id="rId90"/>
    <p:sldId id="1315" r:id="rId91"/>
    <p:sldId id="1316" r:id="rId92"/>
    <p:sldId id="1317" r:id="rId93"/>
    <p:sldId id="1318" r:id="rId94"/>
    <p:sldId id="1320" r:id="rId95"/>
    <p:sldId id="1321" r:id="rId96"/>
    <p:sldId id="1325" r:id="rId97"/>
    <p:sldId id="1326" r:id="rId98"/>
    <p:sldId id="1278" r:id="rId99"/>
    <p:sldId id="1327" r:id="rId100"/>
    <p:sldId id="1328" r:id="rId101"/>
    <p:sldId id="1337" r:id="rId10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174"/>
    <p:restoredTop sz="83691"/>
  </p:normalViewPr>
  <p:slideViewPr>
    <p:cSldViewPr snapToGrid="0" snapToObjects="1">
      <p:cViewPr varScale="1">
        <p:scale>
          <a:sx n="173" d="100"/>
          <a:sy n="173" d="100"/>
        </p:scale>
        <p:origin x="1680" y="176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07" Type="http://schemas.openxmlformats.org/officeDocument/2006/relationships/tableStyles" Target="tableStyles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notesMaster" Target="notesMasters/notesMaster1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theme" Target="theme/theme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presProps" Target="pres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9/15/25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20880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09133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5773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219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76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4199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076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301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53031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28670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205307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418081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207205F-61F1-46D5-2E50-D679C00905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13799" y="622012"/>
            <a:ext cx="3302000" cy="4051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</a:t>
            </a:r>
          </a:p>
          <a:p>
            <a:pPr lvl="1"/>
            <a:r>
              <a:rPr lang="en-US" sz="2800" dirty="0"/>
              <a:t>Internet Control Message Protocol: ICMP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F0ACEB24-EA75-2263-618B-5CB9DBBB57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C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Autofit/>
          </a:bodyPr>
          <a:lstStyle/>
          <a:p>
            <a:r>
              <a:rPr lang="en-US" sz="40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78"/>
            <a:ext cx="5095875" cy="822327"/>
            <a:chOff x="3674918" y="4177678"/>
            <a:chExt cx="5095875" cy="822327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78"/>
              <a:ext cx="923925" cy="406399"/>
              <a:chOff x="2705100" y="2011480"/>
              <a:chExt cx="3598690" cy="49442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7507" y="2127168"/>
                <a:ext cx="1968016" cy="351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BD9469B-5527-3DD1-A1F5-9773413603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1020" y="1670536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449B955-079A-783C-241D-2C5099FDA4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634039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4413452" y="4056991"/>
            <a:ext cx="616508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(step 0):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For all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if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adjacent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D(a) = c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u,a 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85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60C12B-CA9D-6543-A68D-C936C6CE5E54}"/>
              </a:ext>
            </a:extLst>
          </p:cNvPr>
          <p:cNvGrpSpPr/>
          <p:nvPr/>
        </p:nvGrpSpPr>
        <p:grpSpPr>
          <a:xfrm>
            <a:off x="3119488" y="1277257"/>
            <a:ext cx="4176312" cy="1355408"/>
            <a:chOff x="3119488" y="1277257"/>
            <a:chExt cx="4176312" cy="1355408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0BB51FE9-3B2A-5947-8D58-8E568A2FD108}"/>
                </a:ext>
              </a:extLst>
            </p:cNvPr>
            <p:cNvSpPr/>
            <p:nvPr/>
          </p:nvSpPr>
          <p:spPr>
            <a:xfrm>
              <a:off x="6845203" y="1277257"/>
              <a:ext cx="450597" cy="402666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0" name="Straight Arrow Connector 169">
              <a:extLst>
                <a:ext uri="{FF2B5EF4-FFF2-40B4-BE49-F238E27FC236}">
                  <a16:creationId xmlns:a16="http://schemas.microsoft.com/office/drawing/2014/main" id="{0BAB8D84-2299-D54C-8DF2-B7D547E53934}"/>
                </a:ext>
              </a:extLst>
            </p:cNvPr>
            <p:cNvCxnSpPr>
              <a:cxnSpLocks/>
              <a:stCxn id="169" idx="2"/>
              <a:endCxn id="171" idx="6"/>
            </p:cNvCxnSpPr>
            <p:nvPr/>
          </p:nvCxnSpPr>
          <p:spPr>
            <a:xfrm flipH="1">
              <a:off x="3421705" y="1478590"/>
              <a:ext cx="3423498" cy="1006309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336CD7A6-BFF0-864F-A9C0-5C593F3F14CE}"/>
                </a:ext>
              </a:extLst>
            </p:cNvPr>
            <p:cNvSpPr/>
            <p:nvPr/>
          </p:nvSpPr>
          <p:spPr>
            <a:xfrm>
              <a:off x="3119488" y="2337133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145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E3D221-D37B-6E43-BD5C-9D85D700EE88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23ACA7E-7391-D44A-806F-75B7293D7DA7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3749D51-CECB-9D44-B018-F266EF41FC5F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449FB44A-FC51-6244-B19F-B77DE67800A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 Box 3">
            <a:extLst>
              <a:ext uri="{FF2B5EF4-FFF2-40B4-BE49-F238E27FC236}">
                <a16:creationId xmlns:a16="http://schemas.microsoft.com/office/drawing/2014/main" id="{54D4CD9F-2B44-4E41-8C1C-698D78A39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4FE5F7E-81B8-0042-A839-1B9EEAE596EE}"/>
              </a:ext>
            </a:extLst>
          </p:cNvPr>
          <p:cNvGrpSpPr/>
          <p:nvPr/>
        </p:nvGrpSpPr>
        <p:grpSpPr>
          <a:xfrm>
            <a:off x="6514034" y="5634994"/>
            <a:ext cx="5187639" cy="1034693"/>
            <a:chOff x="4625273" y="5620004"/>
            <a:chExt cx="5187639" cy="1034693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EFA9DB6-36A1-8443-BC46-7E2E5C2CA3C9}"/>
                </a:ext>
              </a:extLst>
            </p:cNvPr>
            <p:cNvSpPr/>
            <p:nvPr/>
          </p:nvSpPr>
          <p:spPr>
            <a:xfrm>
              <a:off x="4661941" y="5696262"/>
              <a:ext cx="5066675" cy="9293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xt Box 3">
              <a:extLst>
                <a:ext uri="{FF2B5EF4-FFF2-40B4-BE49-F238E27FC236}">
                  <a16:creationId xmlns:a16="http://schemas.microsoft.com/office/drawing/2014/main" id="{350582EB-9CCF-9849-A56A-C61F6B12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4947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D(v) = min ( D(v),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x,v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min(2, 1+2) = 2 </a:t>
              </a:r>
            </a:p>
          </p:txBody>
        </p:sp>
        <p:sp>
          <p:nvSpPr>
            <p:cNvPr id="165" name="Text Box 3">
              <a:extLst>
                <a:ext uri="{FF2B5EF4-FFF2-40B4-BE49-F238E27FC236}">
                  <a16:creationId xmlns:a16="http://schemas.microsoft.com/office/drawing/2014/main" id="{6D23D369-4A04-F94C-80EB-D2103B646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(5, 1+3) = 4 </a:t>
              </a:r>
            </a:p>
          </p:txBody>
        </p:sp>
        <p:sp>
          <p:nvSpPr>
            <p:cNvPr id="166" name="Text Box 3">
              <a:extLst>
                <a:ext uri="{FF2B5EF4-FFF2-40B4-BE49-F238E27FC236}">
                  <a16:creationId xmlns:a16="http://schemas.microsoft.com/office/drawing/2014/main" id="{9A053085-7294-F842-BE4A-5164EBA43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777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D(y) = min ( D(y),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x,y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min(inf,1+1) = 2 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D4041-E2D0-984B-A342-59B7AC5550DB}"/>
              </a:ext>
            </a:extLst>
          </p:cNvPr>
          <p:cNvGrpSpPr/>
          <p:nvPr/>
        </p:nvGrpSpPr>
        <p:grpSpPr>
          <a:xfrm>
            <a:off x="11325192" y="5891134"/>
            <a:ext cx="706683" cy="802632"/>
            <a:chOff x="11325192" y="5891134"/>
            <a:chExt cx="706683" cy="802632"/>
          </a:xfrm>
        </p:grpSpPr>
        <p:pic>
          <p:nvPicPr>
            <p:cNvPr id="8" name="Picture 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A37D52F4-FDE5-2845-8949-5A1C24B986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168" name="Picture 16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CE04A19A-A505-8C4A-BBEB-B8773FAC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144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 Box 9">
            <a:extLst>
              <a:ext uri="{FF2B5EF4-FFF2-40B4-BE49-F238E27FC236}">
                <a16:creationId xmlns:a16="http://schemas.microsoft.com/office/drawing/2014/main" id="{65B395D1-ACAF-AB4A-A53B-728973E1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4285" y="2301914"/>
            <a:ext cx="378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charset="0"/>
                <a:ea typeface="ＭＳ Ｐゴシック" charset="0"/>
              </a:rPr>
              <a:t>∞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Text Box 8">
            <a:extLst>
              <a:ext uri="{FF2B5EF4-FFF2-40B4-BE49-F238E27FC236}">
                <a16:creationId xmlns:a16="http://schemas.microsoft.com/office/drawing/2014/main" id="{C4F3D1DE-8C63-AD4B-B1C0-FE339DA1F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6722" y="2260378"/>
            <a:ext cx="5261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2,x</a:t>
            </a:r>
          </a:p>
        </p:txBody>
      </p:sp>
      <p:sp>
        <p:nvSpPr>
          <p:cNvPr id="117" name="Text Box 6">
            <a:extLst>
              <a:ext uri="{FF2B5EF4-FFF2-40B4-BE49-F238E27FC236}">
                <a16:creationId xmlns:a16="http://schemas.microsoft.com/office/drawing/2014/main" id="{C9401439-4F9A-5245-B5D8-98F93D2D3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6247" y="2271953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</p:txBody>
      </p:sp>
      <p:sp>
        <p:nvSpPr>
          <p:cNvPr id="118" name="Text Box 5">
            <a:extLst>
              <a:ext uri="{FF2B5EF4-FFF2-40B4-BE49-F238E27FC236}">
                <a16:creationId xmlns:a16="http://schemas.microsoft.com/office/drawing/2014/main" id="{05199638-1656-3440-8601-484D6E8D2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3633" y="2255616"/>
            <a:ext cx="5405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2,u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52DFC02-823F-0242-A6A7-87C32B9FF392}"/>
              </a:ext>
            </a:extLst>
          </p:cNvPr>
          <p:cNvGrpSpPr/>
          <p:nvPr/>
        </p:nvGrpSpPr>
        <p:grpSpPr>
          <a:xfrm>
            <a:off x="3117557" y="1351723"/>
            <a:ext cx="5481203" cy="1572238"/>
            <a:chOff x="-1091379" y="187714"/>
            <a:chExt cx="5481203" cy="1572238"/>
          </a:xfrm>
        </p:grpSpPr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CEFA519F-FE06-0A48-8A17-DA293779C4C4}"/>
                </a:ext>
              </a:extLst>
            </p:cNvPr>
            <p:cNvSpPr/>
            <p:nvPr/>
          </p:nvSpPr>
          <p:spPr>
            <a:xfrm>
              <a:off x="4024279" y="187714"/>
              <a:ext cx="365545" cy="33667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C8090F2C-8033-B647-B950-11726A728ED6}"/>
                </a:ext>
              </a:extLst>
            </p:cNvPr>
            <p:cNvCxnSpPr>
              <a:cxnSpLocks/>
              <a:stCxn id="206" idx="2"/>
              <a:endCxn id="208" idx="6"/>
            </p:cNvCxnSpPr>
            <p:nvPr/>
          </p:nvCxnSpPr>
          <p:spPr>
            <a:xfrm flipH="1">
              <a:off x="-789162" y="356054"/>
              <a:ext cx="4813441" cy="1256132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5FE25E1-AB82-7F4C-9E98-117B763167D9}"/>
                </a:ext>
              </a:extLst>
            </p:cNvPr>
            <p:cNvSpPr/>
            <p:nvPr/>
          </p:nvSpPr>
          <p:spPr>
            <a:xfrm>
              <a:off x="-1091379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8DC1F592-D3EA-B141-B522-4F04B922D235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435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0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202">
            <a:extLst>
              <a:ext uri="{FF2B5EF4-FFF2-40B4-BE49-F238E27FC236}">
                <a16:creationId xmlns:a16="http://schemas.microsoft.com/office/drawing/2014/main" id="{AB4A4D5E-EA3A-C342-BD4B-5D42FD84497D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9C4666A-0739-D747-9911-F956173AF6C0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3E2FD13B-449B-A542-8297-BC85BC14FEA0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0" name="Straight Arrow Connector 209">
              <a:extLst>
                <a:ext uri="{FF2B5EF4-FFF2-40B4-BE49-F238E27FC236}">
                  <a16:creationId xmlns:a16="http://schemas.microsoft.com/office/drawing/2014/main" id="{001580FF-6C15-794F-AB65-D39811DB8230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119" name="Text Box 3">
            <a:extLst>
              <a:ext uri="{FF2B5EF4-FFF2-40B4-BE49-F238E27FC236}">
                <a16:creationId xmlns:a16="http://schemas.microsoft.com/office/drawing/2014/main" id="{8F59C2A4-0007-4F40-B4AB-15442E39B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98422E-1EB1-DC4A-944E-B1DAB402E4DD}"/>
              </a:ext>
            </a:extLst>
          </p:cNvPr>
          <p:cNvGrpSpPr/>
          <p:nvPr/>
        </p:nvGrpSpPr>
        <p:grpSpPr>
          <a:xfrm>
            <a:off x="6497409" y="5402237"/>
            <a:ext cx="5187639" cy="1034693"/>
            <a:chOff x="4625273" y="5620004"/>
            <a:chExt cx="5187639" cy="1034693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601628C-73DE-794F-B777-3EE0738C013A}"/>
                </a:ext>
              </a:extLst>
            </p:cNvPr>
            <p:cNvSpPr/>
            <p:nvPr/>
          </p:nvSpPr>
          <p:spPr>
            <a:xfrm>
              <a:off x="4661941" y="5934396"/>
              <a:ext cx="5066675" cy="69125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Text Box 3">
              <a:extLst>
                <a:ext uri="{FF2B5EF4-FFF2-40B4-BE49-F238E27FC236}">
                  <a16:creationId xmlns:a16="http://schemas.microsoft.com/office/drawing/2014/main" id="{1244B68D-FA8E-C74C-924A-A43B38E7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4" name="Text Box 3">
              <a:extLst>
                <a:ext uri="{FF2B5EF4-FFF2-40B4-BE49-F238E27FC236}">
                  <a16:creationId xmlns:a16="http://schemas.microsoft.com/office/drawing/2014/main" id="{A1525B23-46ED-3A4C-BC35-A13418697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D(y) + </a:t>
              </a:r>
              <a:r>
                <a:rPr kumimoji="0" lang="en-US" sz="200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c</a:t>
              </a:r>
              <a:r>
                <a:rPr lang="en-US" sz="2000" i="1" baseline="-25000" dirty="0">
                  <a:solidFill>
                    <a:prstClr val="black"/>
                  </a:solidFill>
                  <a:latin typeface="Calibri" panose="020F0502020204030204"/>
                </a:rPr>
                <a:t>y</a:t>
              </a:r>
              <a:r>
                <a:rPr kumimoji="0" lang="en-US" sz="200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2+1) = 3 </a:t>
              </a:r>
            </a:p>
          </p:txBody>
        </p:sp>
        <p:sp>
          <p:nvSpPr>
            <p:cNvPr id="215" name="Text Box 3">
              <a:extLst>
                <a:ext uri="{FF2B5EF4-FFF2-40B4-BE49-F238E27FC236}">
                  <a16:creationId xmlns:a16="http://schemas.microsoft.com/office/drawing/2014/main" id="{BFB54203-76D7-E14F-8811-A49D9AAE5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43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D(y)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y,z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min(inf,2+2) = 4  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C32DC86-6E33-9543-9C89-8F3F1B0CEF86}"/>
              </a:ext>
            </a:extLst>
          </p:cNvPr>
          <p:cNvGrpSpPr/>
          <p:nvPr/>
        </p:nvGrpSpPr>
        <p:grpSpPr>
          <a:xfrm>
            <a:off x="11325192" y="5675005"/>
            <a:ext cx="706683" cy="802632"/>
            <a:chOff x="11325192" y="5891134"/>
            <a:chExt cx="706683" cy="802632"/>
          </a:xfrm>
        </p:grpSpPr>
        <p:pic>
          <p:nvPicPr>
            <p:cNvPr id="217" name="Picture 216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925DA252-1100-254E-886E-E31054C9C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218" name="Picture 21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01C56154-A60F-024F-BBFB-A6C93EE3F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  <p:cxnSp>
        <p:nvCxnSpPr>
          <p:cNvPr id="219" name="Straight Arrow Connector 218">
            <a:extLst>
              <a:ext uri="{FF2B5EF4-FFF2-40B4-BE49-F238E27FC236}">
                <a16:creationId xmlns:a16="http://schemas.microsoft.com/office/drawing/2014/main" id="{349870A5-9F71-CB43-8128-DFD8B0AA58C1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9033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430957-A0D6-EA4C-B6BF-820C3230276D}"/>
              </a:ext>
            </a:extLst>
          </p:cNvPr>
          <p:cNvGrpSpPr/>
          <p:nvPr/>
        </p:nvGrpSpPr>
        <p:grpSpPr>
          <a:xfrm>
            <a:off x="3109189" y="1355510"/>
            <a:ext cx="1542110" cy="1873826"/>
            <a:chOff x="3109189" y="1355510"/>
            <a:chExt cx="1542110" cy="1873826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015F7C7-310D-FD46-9C9C-A1683A72BDDD}"/>
                </a:ext>
              </a:extLst>
            </p:cNvPr>
            <p:cNvSpPr/>
            <p:nvPr/>
          </p:nvSpPr>
          <p:spPr>
            <a:xfrm>
              <a:off x="4336203" y="135551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B6EBC2E-EA66-0348-8BB3-7224B5E190A1}"/>
                </a:ext>
              </a:extLst>
            </p:cNvPr>
            <p:cNvCxnSpPr>
              <a:cxnSpLocks/>
              <a:stCxn id="207" idx="2"/>
              <a:endCxn id="219" idx="6"/>
            </p:cNvCxnSpPr>
            <p:nvPr/>
          </p:nvCxnSpPr>
          <p:spPr>
            <a:xfrm flipH="1">
              <a:off x="3411406" y="1503276"/>
              <a:ext cx="924797" cy="1578294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9D32FBA-D726-A343-8DEE-BA9A2943F951}"/>
                </a:ext>
              </a:extLst>
            </p:cNvPr>
            <p:cNvSpPr/>
            <p:nvPr/>
          </p:nvSpPr>
          <p:spPr>
            <a:xfrm>
              <a:off x="3109189" y="2933804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Arrow Connector 221">
            <a:extLst>
              <a:ext uri="{FF2B5EF4-FFF2-40B4-BE49-F238E27FC236}">
                <a16:creationId xmlns:a16="http://schemas.microsoft.com/office/drawing/2014/main" id="{52E9057B-6B98-BE42-AE62-4832BA11F8FB}"/>
              </a:ext>
            </a:extLst>
          </p:cNvPr>
          <p:cNvCxnSpPr>
            <a:cxnSpLocks/>
          </p:cNvCxnSpPr>
          <p:nvPr/>
        </p:nvCxnSpPr>
        <p:spPr>
          <a:xfrm flipV="1">
            <a:off x="1137745" y="5040040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17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 animBg="1"/>
      <p:bldP spid="22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BE35B4C-1AED-A841-AF80-60F24BC61CA4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1E4B38D-7546-F94C-8A43-DBD52AA7A376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39AB7A4-25A9-1A45-A7AC-64A8E69B1628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C05BCE45-1F78-4A42-83C7-96D7950CC9C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CD703E57-0A32-2F40-B813-84CEA4FC5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F68506E-3C2C-FA41-9AFF-AC306C688A51}"/>
              </a:ext>
            </a:extLst>
          </p:cNvPr>
          <p:cNvGrpSpPr/>
          <p:nvPr/>
        </p:nvGrpSpPr>
        <p:grpSpPr>
          <a:xfrm>
            <a:off x="6497409" y="5402237"/>
            <a:ext cx="5183535" cy="749181"/>
            <a:chOff x="4625273" y="5620004"/>
            <a:chExt cx="5183535" cy="749181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78CF965-1E51-204E-87C1-40BC5F8B1953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A0BD265B-56BC-C648-9DAB-18969CF60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2" name="Text Box 3">
              <a:extLst>
                <a:ext uri="{FF2B5EF4-FFF2-40B4-BE49-F238E27FC236}">
                  <a16:creationId xmlns:a16="http://schemas.microsoft.com/office/drawing/2014/main" id="{E3E25232-20F1-B64B-98A3-BB2E6B5A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353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D(v)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v,w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(3, 2+3) = 3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CB03B215-D4F4-B240-9C4C-7FD543D4FF60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2784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01EBFD0-D4AD-9247-9D77-B94D622E1FAA}"/>
              </a:ext>
            </a:extLst>
          </p:cNvPr>
          <p:cNvGrpSpPr/>
          <p:nvPr/>
        </p:nvGrpSpPr>
        <p:grpSpPr>
          <a:xfrm>
            <a:off x="3082834" y="1345224"/>
            <a:ext cx="2890824" cy="2192195"/>
            <a:chOff x="1559224" y="-432243"/>
            <a:chExt cx="2890824" cy="2192195"/>
          </a:xfrm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746423EF-63DD-3343-9662-5B2931DA7273}"/>
                </a:ext>
              </a:extLst>
            </p:cNvPr>
            <p:cNvSpPr/>
            <p:nvPr/>
          </p:nvSpPr>
          <p:spPr>
            <a:xfrm>
              <a:off x="4134952" y="-432243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9" name="Straight Arrow Connector 218">
              <a:extLst>
                <a:ext uri="{FF2B5EF4-FFF2-40B4-BE49-F238E27FC236}">
                  <a16:creationId xmlns:a16="http://schemas.microsoft.com/office/drawing/2014/main" id="{85760C0E-983E-B441-806E-22BCF64E7382}"/>
                </a:ext>
              </a:extLst>
            </p:cNvPr>
            <p:cNvCxnSpPr>
              <a:cxnSpLocks/>
              <a:stCxn id="216" idx="2"/>
              <a:endCxn id="223" idx="6"/>
            </p:cNvCxnSpPr>
            <p:nvPr/>
          </p:nvCxnSpPr>
          <p:spPr>
            <a:xfrm flipH="1">
              <a:off x="1861441" y="-284477"/>
              <a:ext cx="2273511" cy="189666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5D5E27BC-D759-D946-87D8-DD12082603F9}"/>
                </a:ext>
              </a:extLst>
            </p:cNvPr>
            <p:cNvSpPr/>
            <p:nvPr/>
          </p:nvSpPr>
          <p:spPr>
            <a:xfrm>
              <a:off x="1559224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4983EAC5-E137-B845-8167-8FF621B46BC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175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 animBg="1"/>
      <p:bldP spid="22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D55AC0E-D2D6-F941-9AA6-9306F9726C0A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5F79124-CB88-0245-A13C-A9F8EF8B54A5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C662265B-7333-144C-975B-222F0D3A4281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A9ED63E9-B922-974A-A009-C20182AD3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6F3DAD70-4F0A-6440-969F-3CCEA1CA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AB668A7-AFC7-C746-8D74-2C3BEE2C0C90}"/>
              </a:ext>
            </a:extLst>
          </p:cNvPr>
          <p:cNvGrpSpPr/>
          <p:nvPr/>
        </p:nvGrpSpPr>
        <p:grpSpPr>
          <a:xfrm>
            <a:off x="6497409" y="5402237"/>
            <a:ext cx="5103343" cy="749181"/>
            <a:chOff x="4625273" y="5620004"/>
            <a:chExt cx="5103343" cy="74918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5C3332E-25DC-5548-B18A-0DFEE9ABA6BC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 Box 3">
              <a:extLst>
                <a:ext uri="{FF2B5EF4-FFF2-40B4-BE49-F238E27FC236}">
                  <a16:creationId xmlns:a16="http://schemas.microsoft.com/office/drawing/2014/main" id="{66CA504C-894E-9D46-958C-24EC91FC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818E7B6F-01C5-BD4D-81E3-08541D884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08895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D(w)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3+5) = 4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41F1CF94-F7B7-9947-B9CB-42D5664FC48B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5225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A203BF5-54E3-A247-B525-DAD7C3FFFA30}"/>
              </a:ext>
            </a:extLst>
          </p:cNvPr>
          <p:cNvGrpSpPr/>
          <p:nvPr/>
        </p:nvGrpSpPr>
        <p:grpSpPr>
          <a:xfrm>
            <a:off x="3084763" y="1369564"/>
            <a:ext cx="6736985" cy="2493877"/>
            <a:chOff x="-2329870" y="-444558"/>
            <a:chExt cx="6736985" cy="2493877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EC7C9367-2990-6D43-A15C-2F5B4E8649C4}"/>
                </a:ext>
              </a:extLst>
            </p:cNvPr>
            <p:cNvSpPr/>
            <p:nvPr/>
          </p:nvSpPr>
          <p:spPr>
            <a:xfrm>
              <a:off x="4092019" y="-444558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5" name="Straight Arrow Connector 224">
              <a:extLst>
                <a:ext uri="{FF2B5EF4-FFF2-40B4-BE49-F238E27FC236}">
                  <a16:creationId xmlns:a16="http://schemas.microsoft.com/office/drawing/2014/main" id="{F11A43D7-7771-3E49-94AA-7FB8202B3A43}"/>
                </a:ext>
              </a:extLst>
            </p:cNvPr>
            <p:cNvCxnSpPr>
              <a:cxnSpLocks/>
              <a:stCxn id="223" idx="2"/>
              <a:endCxn id="226" idx="6"/>
            </p:cNvCxnSpPr>
            <p:nvPr/>
          </p:nvCxnSpPr>
          <p:spPr>
            <a:xfrm flipH="1">
              <a:off x="-2027653" y="-296792"/>
              <a:ext cx="6119672" cy="219834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8F40879-FE48-7941-9529-6385E99DA5B8}"/>
                </a:ext>
              </a:extLst>
            </p:cNvPr>
            <p:cNvSpPr/>
            <p:nvPr/>
          </p:nvSpPr>
          <p:spPr>
            <a:xfrm>
              <a:off x="-2329870" y="1753787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FF0B2969-0D91-644B-9FF5-3BB4F0D073E4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Arrow Connector 229">
            <a:extLst>
              <a:ext uri="{FF2B5EF4-FFF2-40B4-BE49-F238E27FC236}">
                <a16:creationId xmlns:a16="http://schemas.microsoft.com/office/drawing/2014/main" id="{BABE8C73-6B5D-7F4B-AA15-26746F00DEF9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753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A38EF91-FB59-850A-D1F4-C7E8EC3E42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1020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66773526-D77E-2977-0560-0C16A9D4B9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93A607F-061A-35D5-BD85-AA1E307473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4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  <p:sp>
        <p:nvSpPr>
          <p:cNvPr id="8" name="Title 5">
            <a:extLst>
              <a:ext uri="{FF2B5EF4-FFF2-40B4-BE49-F238E27FC236}">
                <a16:creationId xmlns:a16="http://schemas.microsoft.com/office/drawing/2014/main" id="{4F2D8B6E-E303-7C52-0E04-1F8013326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advertisement: multiple paths</a:t>
            </a:r>
          </a:p>
        </p:txBody>
      </p: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local link interfaces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4423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72739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1A6EB09-1B2D-0883-6832-46F5B75C8F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3" y="1648670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774424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9B87A80-2362-AEAE-02EB-D024FFBFDD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4515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>
              <a:defRPr/>
            </a:pPr>
            <a:r>
              <a:rPr lang="en-US" dirty="0"/>
              <a:t>network management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21243</TotalTime>
  <Words>11293</Words>
  <Application>Microsoft Macintosh PowerPoint</Application>
  <PresentationFormat>Widescreen</PresentationFormat>
  <Paragraphs>2901</Paragraphs>
  <Slides>100</Slides>
  <Notes>66</Notes>
  <HiddenSlides>1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100</vt:i4>
      </vt:variant>
    </vt:vector>
  </HeadingPairs>
  <TitlesOfParts>
    <vt:vector size="113" baseType="lpstr">
      <vt:lpstr>MS Mincho</vt:lpstr>
      <vt:lpstr>ＭＳ Ｐゴシック</vt:lpstr>
      <vt:lpstr>Arial</vt:lpstr>
      <vt:lpstr>Calibri</vt:lpstr>
      <vt:lpstr>Calibri Light</vt:lpstr>
      <vt:lpstr>Comic Sans MS</vt:lpstr>
      <vt:lpstr>Gill Sans MT</vt:lpstr>
      <vt:lpstr>Times New Roman</vt:lpstr>
      <vt:lpstr>TimesLTPro</vt:lpstr>
      <vt:lpstr>Wingdings</vt:lpstr>
      <vt:lpstr>ZapfDingbats</vt:lpstr>
      <vt:lpstr>Office Theme</vt:lpstr>
      <vt:lpstr>1_Office Theme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eBGP, iBGP connections</vt:lpstr>
      <vt:lpstr>BGP basics</vt:lpstr>
      <vt:lpstr>BGP protocol messages</vt:lpstr>
      <vt:lpstr>Path attributes and BGP routes</vt:lpstr>
      <vt:lpstr>BGP path advertisement</vt:lpstr>
      <vt:lpstr>BGP path advertisement: multiple paths</vt:lpstr>
      <vt:lpstr>BGP: populating forwarding tables </vt:lpstr>
      <vt:lpstr>BGP: populating forwarding tables </vt:lpstr>
      <vt:lpstr>Hot potato routing</vt:lpstr>
      <vt:lpstr>BGP: achieving policy via advertisements</vt:lpstr>
      <vt:lpstr>BGP: achieving policy via advertisements (more)</vt:lpstr>
      <vt:lpstr>BGP route selection</vt:lpstr>
      <vt:lpstr>Why different Intra-, Inter-AS routing ? 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Ertan Onur</cp:lastModifiedBy>
  <cp:revision>724</cp:revision>
  <dcterms:created xsi:type="dcterms:W3CDTF">2020-01-18T07:24:59Z</dcterms:created>
  <dcterms:modified xsi:type="dcterms:W3CDTF">2025-09-15T11:16:39Z</dcterms:modified>
</cp:coreProperties>
</file>