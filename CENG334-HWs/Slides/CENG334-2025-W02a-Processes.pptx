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1430" r:id="rId2"/>
    <p:sldId id="1214" r:id="rId3"/>
    <p:sldId id="1247" r:id="rId4"/>
    <p:sldId id="1248" r:id="rId5"/>
    <p:sldId id="1279" r:id="rId6"/>
    <p:sldId id="1250" r:id="rId7"/>
    <p:sldId id="1251" r:id="rId8"/>
    <p:sldId id="1252" r:id="rId9"/>
    <p:sldId id="1519" r:id="rId10"/>
    <p:sldId id="1270" r:id="rId11"/>
    <p:sldId id="1258" r:id="rId12"/>
    <p:sldId id="1259" r:id="rId13"/>
    <p:sldId id="1260" r:id="rId14"/>
    <p:sldId id="1261" r:id="rId15"/>
    <p:sldId id="1431" r:id="rId16"/>
    <p:sldId id="1262" r:id="rId17"/>
    <p:sldId id="1263" r:id="rId18"/>
    <p:sldId id="1442" r:id="rId19"/>
    <p:sldId id="1443" r:id="rId20"/>
    <p:sldId id="1440" r:id="rId21"/>
    <p:sldId id="1522" r:id="rId22"/>
    <p:sldId id="1441" r:id="rId23"/>
    <p:sldId id="1452" r:id="rId24"/>
    <p:sldId id="1453" r:id="rId25"/>
    <p:sldId id="1446" r:id="rId26"/>
    <p:sldId id="1447" r:id="rId27"/>
    <p:sldId id="1448" r:id="rId28"/>
    <p:sldId id="1449" r:id="rId29"/>
    <p:sldId id="1450" r:id="rId30"/>
    <p:sldId id="1451" r:id="rId31"/>
    <p:sldId id="1273" r:id="rId32"/>
    <p:sldId id="1275" r:id="rId33"/>
    <p:sldId id="1276" r:id="rId34"/>
    <p:sldId id="1454" r:id="rId35"/>
    <p:sldId id="1455" r:id="rId36"/>
    <p:sldId id="1456" r:id="rId37"/>
    <p:sldId id="1457" r:id="rId38"/>
    <p:sldId id="1458" r:id="rId39"/>
    <p:sldId id="1459" r:id="rId40"/>
    <p:sldId id="1501" r:id="rId41"/>
    <p:sldId id="1460" r:id="rId42"/>
    <p:sldId id="1461" r:id="rId43"/>
    <p:sldId id="1462" r:id="rId44"/>
    <p:sldId id="1463" r:id="rId45"/>
    <p:sldId id="1278" r:id="rId46"/>
    <p:sldId id="1245" r:id="rId47"/>
    <p:sldId id="1234" r:id="rId48"/>
    <p:sldId id="1520" r:id="rId49"/>
    <p:sldId id="1521" r:id="rId50"/>
    <p:sldId id="1464" r:id="rId51"/>
    <p:sldId id="1236" r:id="rId52"/>
  </p:sldIdLst>
  <p:sldSz cx="9144000" cy="6858000" type="screen4x3"/>
  <p:notesSz cx="7302500" cy="9586913"/>
  <p:custDataLst>
    <p:tags r:id="rId5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F1CF"/>
    <a:srgbClr val="F1C7C7"/>
    <a:srgbClr val="F6F5BD"/>
    <a:srgbClr val="990000"/>
    <a:srgbClr val="E9E1C9"/>
    <a:srgbClr val="DED8C4"/>
    <a:srgbClr val="E7DDBB"/>
    <a:srgbClr val="DDCE9F"/>
    <a:srgbClr val="E2AC00"/>
    <a:srgbClr val="F8E4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77" autoAdjust="0"/>
    <p:restoredTop sz="93384" autoAdjust="0"/>
  </p:normalViewPr>
  <p:slideViewPr>
    <p:cSldViewPr snapToObjects="1">
      <p:cViewPr varScale="1">
        <p:scale>
          <a:sx n="128" d="100"/>
          <a:sy n="128" d="100"/>
        </p:scale>
        <p:origin x="108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1086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gs" Target="tags/tag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DAC 2001 Tutorial</a:t>
            </a:r>
          </a:p>
        </p:txBody>
      </p:sp>
      <p:sp>
        <p:nvSpPr>
          <p:cNvPr id="252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71950" y="0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t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52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defTabSz="965200">
              <a:defRPr sz="1200" smtClean="0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©R.A. Rutenbar, 2001</a:t>
            </a:r>
          </a:p>
        </p:txBody>
      </p:sp>
      <p:sp>
        <p:nvSpPr>
          <p:cNvPr id="252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71950" y="9091613"/>
            <a:ext cx="3130550" cy="48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422" tIns="48211" rIns="96422" bIns="48211" numCol="1" anchor="b" anchorCtr="0" compatLnSpc="1">
            <a:prstTxWarp prst="textNoShape">
              <a:avLst/>
            </a:prstTxWarp>
          </a:bodyPr>
          <a:lstStyle>
            <a:lvl1pPr algn="r" defTabSz="965200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83587096-7852-44F5-9A71-D621B1FF24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2862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14800" y="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18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19200" y="68580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8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0600" y="4572000"/>
            <a:ext cx="53340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08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8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14800" y="9144000"/>
            <a:ext cx="3200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 smtClean="0">
                <a:latin typeface="Times New Roman" pitchFamily="18" charset="0"/>
              </a:defRPr>
            </a:lvl1pPr>
          </a:lstStyle>
          <a:p>
            <a:pPr>
              <a:defRPr/>
            </a:pPr>
            <a:fld id="{40F64717-A5A5-4C4E-9291-2F18B7410B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438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819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7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79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3277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F7FCDA89-F762-3C4C-86F5-50C96D8D65B8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3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32772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32773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19344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3481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E80B2F01-31AE-1E41-947D-7C974664CB90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4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2560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3481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E80B2F01-31AE-1E41-947D-7C974664CB90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5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34820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34821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0493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3891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4B3A54CF-2215-2B44-B9E3-E3D386A227B1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6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38916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38917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8900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40963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58124B3A-A1B2-BC4D-A326-40B8FDAE93AD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7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40964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40965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98654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4301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9FE93B69-90F0-C846-9DE3-0EC1524D5FAF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8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43012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43013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6266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1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101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5529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F299E183-8CEB-FA4B-BFC0-54B45C69BC9B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11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55300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55301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7643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57347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F0AADC2A-226B-FA44-B0F2-BE3C5CFE2B4B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12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57348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57349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313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5939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2DD7D26E-880B-6640-A595-95DE43F36B6D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13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59396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59397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5227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61443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0D2F2F59-95CD-094B-81D5-9F7456AA4E80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14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61444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61445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923818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5325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83937074-EDAE-2643-8436-8616C295C78C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15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53252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53253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9945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6349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4BAC6957-43EC-5445-B874-057643DEDF8E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16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63492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63493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23115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65539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40D5245C-156D-B04A-9EEF-DB1D3603BE20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17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65540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65541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461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9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094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0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6915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1337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4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8065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709927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66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5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646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./forks</a:t>
            </a:r>
            <a:r>
              <a:rPr lang="en-US" baseline="0" dirty="0"/>
              <a:t> 2</a:t>
            </a:r>
          </a:p>
          <a:p>
            <a:endParaRPr lang="en-US" baseline="0" dirty="0"/>
          </a:p>
          <a:p>
            <a:r>
              <a:rPr lang="en-US" baseline="0" dirty="0"/>
              <a:t>(Similarly for other examples)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9259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723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6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597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77827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EDE69A51-408E-EC46-A9A9-258112D6AB97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31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77828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77829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17562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solidFill>
                  <a:prstClr val="white"/>
                </a:solidFill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88067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F76BF063-B4EE-1149-AB58-0415FF2293A8}" type="slidenum">
              <a:rPr lang="en-GB">
                <a:solidFill>
                  <a:prstClr val="white"/>
                </a:solidFill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32</a:t>
            </a:fld>
            <a:endParaRPr lang="en-GB">
              <a:solidFill>
                <a:prstClr val="white"/>
              </a:solidFill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88068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defTabSz="456421" eaLnBrk="1">
              <a:lnSpc>
                <a:spcPct val="94000"/>
              </a:lnSpc>
              <a:buClr>
                <a:srgbClr val="000000"/>
              </a:buClr>
              <a:buSzPct val="45000"/>
            </a:pPr>
            <a:endParaRPr lang="tr-TR" b="0" dirty="0">
              <a:solidFill>
                <a:prstClr val="white"/>
              </a:solidFill>
              <a:latin typeface="Bitstream Vera Serif" pitchFamily="16" charset="0"/>
              <a:ea typeface="MS Gothic" charset="0"/>
              <a:cs typeface="MS Gothic" charset="0"/>
            </a:endParaRPr>
          </a:p>
        </p:txBody>
      </p:sp>
      <p:sp>
        <p:nvSpPr>
          <p:cNvPr id="88069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073323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solidFill>
                  <a:prstClr val="white"/>
                </a:solidFill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90115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D49C35ED-B4D7-C64B-9205-E094B17A6DB5}" type="slidenum">
              <a:rPr lang="en-GB">
                <a:solidFill>
                  <a:prstClr val="white"/>
                </a:solidFill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33</a:t>
            </a:fld>
            <a:endParaRPr lang="en-GB">
              <a:solidFill>
                <a:prstClr val="white"/>
              </a:solidFill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90116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defTabSz="456421" eaLnBrk="1">
              <a:lnSpc>
                <a:spcPct val="94000"/>
              </a:lnSpc>
              <a:buClr>
                <a:srgbClr val="000000"/>
              </a:buClr>
              <a:buSzPct val="45000"/>
            </a:pPr>
            <a:endParaRPr lang="tr-TR" b="0" dirty="0">
              <a:solidFill>
                <a:prstClr val="white"/>
              </a:solidFill>
              <a:latin typeface="Bitstream Vera Serif" pitchFamily="16" charset="0"/>
              <a:ea typeface="MS Gothic" charset="0"/>
              <a:cs typeface="MS Gothic" charset="0"/>
            </a:endParaRPr>
          </a:p>
        </p:txBody>
      </p:sp>
      <p:sp>
        <p:nvSpPr>
          <p:cNvPr id="90117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3208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1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3376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894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3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55784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98842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4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72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5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81435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6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consistently terminate in order, even with random delays.</a:t>
            </a:r>
            <a:endParaRPr lang="en-US" baseline="0" dirty="0"/>
          </a:p>
          <a:p>
            <a:endParaRPr lang="en-US" baseline="0" dirty="0"/>
          </a:p>
          <a:p>
            <a:r>
              <a:rPr lang="en-US" baseline="0" dirty="0"/>
              <a:t>But, can turn off delays on parent with</a:t>
            </a:r>
          </a:p>
          <a:p>
            <a:endParaRPr lang="en-US" baseline="0" dirty="0"/>
          </a:p>
          <a:p>
            <a:r>
              <a:rPr lang="en-US" baseline="0" dirty="0" err="1"/>
              <a:t>setenv</a:t>
            </a:r>
            <a:r>
              <a:rPr lang="en-US" baseline="0" dirty="0"/>
              <a:t> PARENT 0</a:t>
            </a:r>
          </a:p>
          <a:p>
            <a:endParaRPr lang="en-US" baseline="0" dirty="0"/>
          </a:p>
          <a:p>
            <a:r>
              <a:rPr lang="en-US" baseline="0" dirty="0"/>
              <a:t>Then see variations in termination order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3339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8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7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Will always terminate in reverse order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35713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2397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8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/>
          <a:p>
            <a:r>
              <a:rPr lang="en-GB">
                <a:latin typeface="Times New Roman" charset="0"/>
                <a:ea typeface="Tahoma" charset="0"/>
                <a:cs typeface="Tahoma" charset="0"/>
              </a:rPr>
              <a:t>18/02/08</a:t>
            </a:r>
          </a:p>
        </p:txBody>
      </p:sp>
      <p:sp>
        <p:nvSpPr>
          <p:cNvPr id="94211" name="Rectangle 12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/>
          <a:p>
            <a:pPr>
              <a:buFont typeface="Wingdings" charset="2"/>
              <a:buNone/>
            </a:pPr>
            <a:fld id="{422B2583-DA30-D14B-A369-BFAD7402AC4F}" type="slidenum">
              <a:rPr lang="en-GB">
                <a:latin typeface="Times New Roman" charset="0"/>
                <a:ea typeface="Tahoma" charset="0"/>
                <a:cs typeface="Tahoma" charset="0"/>
              </a:rPr>
              <a:pPr>
                <a:buFont typeface="Wingdings" charset="2"/>
                <a:buNone/>
              </a:pPr>
              <a:t>45</a:t>
            </a:fld>
            <a:endParaRPr lang="en-GB">
              <a:latin typeface="Times New Roman" charset="0"/>
              <a:ea typeface="Tahoma" charset="0"/>
              <a:cs typeface="Tahoma" charset="0"/>
            </a:endParaRPr>
          </a:p>
        </p:txBody>
      </p:sp>
      <p:sp>
        <p:nvSpPr>
          <p:cNvPr id="94212" name="Text Box 1"/>
          <p:cNvSpPr txBox="1">
            <a:spLocks noChangeArrowheads="1"/>
          </p:cNvSpPr>
          <p:nvPr/>
        </p:nvSpPr>
        <p:spPr bwMode="auto">
          <a:xfrm>
            <a:off x="1461134" y="959009"/>
            <a:ext cx="4380232" cy="328599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wrap="none" lIns="91294" tIns="45647" rIns="91294" bIns="45647" anchor="ctr">
            <a:prstTxWarp prst="textNoShape">
              <a:avLst/>
            </a:prstTxWarp>
          </a:bodyPr>
          <a:lstStyle/>
          <a:p>
            <a:pPr hangingPunct="0">
              <a:lnSpc>
                <a:spcPct val="94000"/>
              </a:lnSpc>
              <a:buClr>
                <a:srgbClr val="000000"/>
              </a:buClr>
              <a:buSzPct val="45000"/>
              <a:buFont typeface="Wingdings" charset="2"/>
              <a:buNone/>
            </a:pPr>
            <a:endParaRPr lang="tr-TR">
              <a:ea typeface="MS Gothic" charset="0"/>
              <a:cs typeface="MS Gothic" charset="0"/>
            </a:endParaRPr>
          </a:p>
        </p:txBody>
      </p:sp>
      <p:sp>
        <p:nvSpPr>
          <p:cNvPr id="94213" name="Rectangle 2"/>
          <p:cNvSpPr>
            <a:spLocks noGrp="1" noChangeArrowheads="1"/>
          </p:cNvSpPr>
          <p:nvPr>
            <p:ph type="body"/>
          </p:nvPr>
        </p:nvSpPr>
        <p:spPr>
          <a:xfrm>
            <a:off x="687779" y="4344864"/>
            <a:ext cx="5491138" cy="4116602"/>
          </a:xfrm>
          <a:noFill/>
          <a:ln/>
        </p:spPr>
        <p:txBody>
          <a:bodyPr wrap="none" anchor="ctr"/>
          <a:lstStyle/>
          <a:p>
            <a:endParaRPr lang="tr-TR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43944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9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4949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51733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r>
              <a:rPr lang="en-US" dirty="0"/>
              <a:t>Run </a:t>
            </a:r>
            <a:r>
              <a:rPr lang="en-US" dirty="0" err="1"/>
              <a:t>pstree</a:t>
            </a:r>
            <a:r>
              <a:rPr lang="en-US" dirty="0"/>
              <a:t> command.</a:t>
            </a:r>
          </a:p>
        </p:txBody>
      </p:sp>
    </p:spTree>
    <p:extLst>
      <p:ext uri="{BB962C8B-B14F-4D97-AF65-F5344CB8AC3E}">
        <p14:creationId xmlns:p14="http://schemas.microsoft.com/office/powerpoint/2010/main" val="28629889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19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39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08012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7492" cy="1752600"/>
          </a:xfrm>
        </p:spPr>
        <p:txBody>
          <a:bodyPr/>
          <a:lstStyle>
            <a:lvl1pPr marL="0" indent="0" algn="l">
              <a:buNone/>
              <a:defRPr sz="2000" b="0"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018" y="435678"/>
            <a:ext cx="7592093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762" y="445070"/>
            <a:ext cx="75914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58013" y="228600"/>
            <a:ext cx="2185987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6875" y="228600"/>
            <a:ext cx="6408738" cy="6105525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62488" y="1362075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62488" y="3924300"/>
            <a:ext cx="3871912" cy="24098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6875" y="228600"/>
            <a:ext cx="8747125" cy="762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38175" y="1362075"/>
            <a:ext cx="3871913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2488" y="1362075"/>
            <a:ext cx="3871912" cy="497205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74090" y="371182"/>
            <a:ext cx="75914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96875" y="1362075"/>
            <a:ext cx="7896225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7897813" y="-26988"/>
            <a:ext cx="1309687" cy="2778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sz="1200" dirty="0">
                <a:solidFill>
                  <a:schemeClr val="bg1"/>
                </a:solidFill>
                <a:latin typeface="Times New Roman" pitchFamily="18" charset="0"/>
              </a:rPr>
              <a:t>Carnegie Mellon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0" r:id="rId2"/>
    <p:sldLayoutId id="2147483659" r:id="rId3"/>
    <p:sldLayoutId id="2147483658" r:id="rId4"/>
    <p:sldLayoutId id="2147483657" r:id="rId5"/>
    <p:sldLayoutId id="2147483656" r:id="rId6"/>
    <p:sldLayoutId id="2147483655" r:id="rId7"/>
    <p:sldLayoutId id="2147483654" r:id="rId8"/>
    <p:sldLayoutId id="2147483653" r:id="rId9"/>
    <p:sldLayoutId id="2147483652" r:id="rId10"/>
    <p:sldLayoutId id="2147483651" r:id="rId11"/>
    <p:sldLayoutId id="2147483650" r:id="rId12"/>
    <p:sldLayoutId id="2147483649" r:id="rId13"/>
  </p:sldLayoutIdLst>
  <p:txStyles>
    <p:titleStyle>
      <a:lvl1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itchFamily="34" charset="0"/>
          <a:ea typeface="+mj-ea"/>
          <a:cs typeface="+mj-cs"/>
        </a:defRPr>
      </a:lvl1pPr>
      <a:lvl2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2pPr>
      <a:lvl3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3pPr>
      <a:lvl4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4pPr>
      <a:lvl5pPr marL="119063" indent="-1190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5pPr>
      <a:lvl6pPr marL="5762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6pPr>
      <a:lvl7pPr marL="10334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7pPr>
      <a:lvl8pPr marL="14906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8pPr>
      <a:lvl9pPr marL="1947863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Arial Narrow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60000"/>
        <a:buFont typeface="Wingdings 2" pitchFamily="18" charset="2"/>
        <a:buChar char="¢"/>
        <a:defRPr sz="2400" b="1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990000"/>
        </a:buClr>
        <a:buSzPct val="11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SzPct val="80000"/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QPXsYOPex4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dn.geeksforgeeks.org/fork-system-call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www.gnu.org/software/libc/manual/html_node/Process-Completion-Status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alue_(computer_science)" TargetMode="External"/><Relationship Id="rId7" Type="http://schemas.openxmlformats.org/officeDocument/2006/relationships/hyperlink" Target="https://en.wikipedia.org/wiki/Environment_variable" TargetMode="External"/><Relationship Id="rId2" Type="http://schemas.openxmlformats.org/officeDocument/2006/relationships/hyperlink" Target="https://en.wikipedia.org/wiki/Name_resolution_(programming_languages)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Directory_structure" TargetMode="External"/><Relationship Id="rId5" Type="http://schemas.openxmlformats.org/officeDocument/2006/relationships/hyperlink" Target="https://en.wikipedia.org/wiki/Temporary_file" TargetMode="External"/><Relationship Id="rId4" Type="http://schemas.openxmlformats.org/officeDocument/2006/relationships/hyperlink" Target="https://en.wikipedia.org/wiki/Process_(computing)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685800" y="1708150"/>
            <a:ext cx="7772400" cy="1470025"/>
          </a:xfrm>
        </p:spPr>
        <p:txBody>
          <a:bodyPr/>
          <a:lstStyle/>
          <a:p>
            <a:pPr marL="0" indent="0"/>
            <a:r>
              <a:rPr lang="en-US" dirty="0"/>
              <a:t>Processes</a:t>
            </a:r>
            <a:endParaRPr lang="en-US" sz="2000" b="0" dirty="0"/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6400800"/>
            <a:ext cx="7678738" cy="38100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Slides adapted from:</a:t>
            </a:r>
            <a:r>
              <a:rPr lang="en-US" dirty="0"/>
              <a:t> Randy Bryant of Carnegie Mellon University</a:t>
            </a:r>
          </a:p>
        </p:txBody>
      </p:sp>
    </p:spTree>
    <p:extLst>
      <p:ext uri="{BB962C8B-B14F-4D97-AF65-F5344CB8AC3E}">
        <p14:creationId xmlns:p14="http://schemas.microsoft.com/office/powerpoint/2010/main" val="8467153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41149" y="457200"/>
            <a:ext cx="5245100" cy="573088"/>
          </a:xfrm>
        </p:spPr>
        <p:txBody>
          <a:bodyPr/>
          <a:lstStyle/>
          <a:p>
            <a:r>
              <a:rPr lang="en-US"/>
              <a:t>Processes</a:t>
            </a:r>
          </a:p>
        </p:txBody>
      </p:sp>
      <p:sp>
        <p:nvSpPr>
          <p:cNvPr id="483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6713" y="1143000"/>
            <a:ext cx="8624887" cy="5530850"/>
          </a:xfrm>
        </p:spPr>
        <p:txBody>
          <a:bodyPr/>
          <a:lstStyle/>
          <a:p>
            <a:r>
              <a:rPr lang="en-US" dirty="0"/>
              <a:t>Definition: A </a:t>
            </a:r>
            <a:r>
              <a:rPr lang="en-US" i="1" dirty="0">
                <a:solidFill>
                  <a:srgbClr val="C00000"/>
                </a:solidFill>
              </a:rPr>
              <a:t>process</a:t>
            </a:r>
            <a:r>
              <a:rPr lang="en-US" dirty="0"/>
              <a:t> is an instance of a running program.</a:t>
            </a:r>
          </a:p>
          <a:p>
            <a:pPr lvl="1"/>
            <a:r>
              <a:rPr lang="en-US" dirty="0"/>
              <a:t>One of the most profound ideas in computer science</a:t>
            </a:r>
          </a:p>
          <a:p>
            <a:pPr lvl="1"/>
            <a:r>
              <a:rPr lang="en-US" dirty="0"/>
              <a:t>Not the same as “program” or “processor”</a:t>
            </a:r>
          </a:p>
          <a:p>
            <a:endParaRPr lang="en-US" dirty="0"/>
          </a:p>
          <a:p>
            <a:r>
              <a:rPr lang="en-US" dirty="0"/>
              <a:t>Process provides each program with two key abstractions:</a:t>
            </a:r>
          </a:p>
          <a:p>
            <a:pPr lvl="1"/>
            <a:r>
              <a:rPr lang="en-US" dirty="0"/>
              <a:t>Logical control flow</a:t>
            </a:r>
          </a:p>
          <a:p>
            <a:pPr lvl="2"/>
            <a:r>
              <a:rPr lang="en-US" dirty="0"/>
              <a:t>Each program seems to have exclusive use of the CPU</a:t>
            </a:r>
          </a:p>
          <a:p>
            <a:pPr lvl="1"/>
            <a:r>
              <a:rPr lang="en-US" dirty="0"/>
              <a:t>Private virtual address space</a:t>
            </a:r>
          </a:p>
          <a:p>
            <a:pPr lvl="2"/>
            <a:r>
              <a:rPr lang="en-US" dirty="0"/>
              <a:t>Each program seems to have exclusive use of main memory</a:t>
            </a:r>
          </a:p>
          <a:p>
            <a:endParaRPr lang="en-US" dirty="0"/>
          </a:p>
          <a:p>
            <a:r>
              <a:rPr lang="en-US" dirty="0"/>
              <a:t>How are these illusions maintained?</a:t>
            </a:r>
          </a:p>
          <a:p>
            <a:pPr lvl="1"/>
            <a:r>
              <a:rPr lang="en-US" dirty="0"/>
              <a:t>Process executions interleaved (multitasking)</a:t>
            </a:r>
          </a:p>
          <a:p>
            <a:pPr lvl="1"/>
            <a:r>
              <a:rPr lang="en-US" dirty="0"/>
              <a:t>Address spaces managed by virtual memory system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51B512-7139-6846-90EB-780C1F44150E}"/>
              </a:ext>
            </a:extLst>
          </p:cNvPr>
          <p:cNvSpPr txBox="1"/>
          <p:nvPr/>
        </p:nvSpPr>
        <p:spPr>
          <a:xfrm>
            <a:off x="6452689" y="38636"/>
            <a:ext cx="2691311" cy="954107"/>
          </a:xfrm>
          <a:prstGeom prst="rect">
            <a:avLst/>
          </a:prstGeom>
          <a:solidFill>
            <a:srgbClr val="F6F5BD"/>
          </a:solidFill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Calibri" pitchFamily="34" charset="0"/>
              </a:rPr>
              <a:t>A program is the static executable, and is different from a process.  Do not use “program” to talk about a “process”!</a:t>
            </a:r>
            <a:endParaRPr sz="1400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33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a process?</a:t>
            </a:r>
            <a:endParaRPr lang="en-GB" dirty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5851525" cy="497205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A process is the OS's abstraction for execution</a:t>
            </a:r>
          </a:p>
          <a:p>
            <a:pPr lvl="1"/>
            <a:r>
              <a:rPr lang="en-GB" dirty="0"/>
              <a:t>A process represents a single running application on the system</a:t>
            </a:r>
          </a:p>
          <a:p>
            <a:r>
              <a:rPr lang="en-GB" dirty="0"/>
              <a:t>Process has three main components: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b="1" dirty="0"/>
              <a:t>Address space</a:t>
            </a:r>
          </a:p>
          <a:p>
            <a:pPr lvl="2"/>
            <a:r>
              <a:rPr lang="en-GB" dirty="0"/>
              <a:t>The memory that the process can access</a:t>
            </a:r>
          </a:p>
          <a:p>
            <a:pPr lvl="2"/>
            <a:r>
              <a:rPr lang="en-GB" dirty="0"/>
              <a:t>Consists of various pieces: the program code, static variables, heap, stack,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b="1" dirty="0"/>
              <a:t>Processor state</a:t>
            </a:r>
          </a:p>
          <a:p>
            <a:pPr lvl="2"/>
            <a:r>
              <a:rPr lang="en-GB" dirty="0"/>
              <a:t>The CPU registers associated with the running process</a:t>
            </a:r>
          </a:p>
          <a:p>
            <a:pPr lvl="2"/>
            <a:r>
              <a:rPr lang="en-GB" dirty="0"/>
              <a:t>Includes general purpose registers, program counter, stack pointer, etc.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b="1" dirty="0"/>
              <a:t>OS resources</a:t>
            </a:r>
          </a:p>
          <a:p>
            <a:pPr lvl="2"/>
            <a:r>
              <a:rPr lang="en-GB" dirty="0"/>
              <a:t>Various OS state associated with the process</a:t>
            </a:r>
          </a:p>
          <a:p>
            <a:pPr lvl="2"/>
            <a:r>
              <a:rPr lang="en-GB" dirty="0"/>
              <a:t>Examples: open files, network sockets, etc.</a:t>
            </a:r>
          </a:p>
          <a:p>
            <a:endParaRPr lang="en-GB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6F49D74-19C8-4AFA-B586-3359E51BD883}"/>
              </a:ext>
            </a:extLst>
          </p:cNvPr>
          <p:cNvGrpSpPr/>
          <p:nvPr/>
        </p:nvGrpSpPr>
        <p:grpSpPr>
          <a:xfrm>
            <a:off x="6629400" y="1828800"/>
            <a:ext cx="2362200" cy="4065478"/>
            <a:chOff x="6629400" y="1828800"/>
            <a:chExt cx="2362200" cy="406547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FBF05C6-A8EF-4149-8A63-FF689372C4A6}"/>
                </a:ext>
              </a:extLst>
            </p:cNvPr>
            <p:cNvSpPr/>
            <p:nvPr/>
          </p:nvSpPr>
          <p:spPr bwMode="auto">
            <a:xfrm>
              <a:off x="6629400" y="1828800"/>
              <a:ext cx="2362200" cy="4065478"/>
            </a:xfrm>
            <a:prstGeom prst="rect">
              <a:avLst/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B01FB79-AF7B-493B-946D-49082100B7D6}"/>
                </a:ext>
              </a:extLst>
            </p:cNvPr>
            <p:cNvSpPr txBox="1"/>
            <p:nvPr/>
          </p:nvSpPr>
          <p:spPr>
            <a:xfrm>
              <a:off x="6629400" y="1828800"/>
              <a:ext cx="2362200" cy="1200329"/>
            </a:xfrm>
            <a:prstGeom prst="rect">
              <a:avLst/>
            </a:prstGeom>
            <a:solidFill>
              <a:srgbClr val="F6F5BD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CPU state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%</a:t>
              </a:r>
              <a:r>
                <a:rPr lang="en-US" sz="1800" dirty="0" err="1">
                  <a:latin typeface="Calibri" pitchFamily="34" charset="0"/>
                </a:rPr>
                <a:t>rax</a:t>
              </a:r>
              <a:r>
                <a:rPr lang="en-US" sz="1800" dirty="0">
                  <a:latin typeface="Calibri" pitchFamily="34" charset="0"/>
                </a:rPr>
                <a:t>,….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%</a:t>
              </a:r>
              <a:r>
                <a:rPr lang="en-US" sz="1800" dirty="0" err="1">
                  <a:latin typeface="Calibri" pitchFamily="34" charset="0"/>
                </a:rPr>
                <a:t>rsp</a:t>
              </a:r>
              <a:r>
                <a:rPr lang="en-US" sz="1800" dirty="0">
                  <a:latin typeface="Calibri" pitchFamily="34" charset="0"/>
                </a:rPr>
                <a:t>, %rip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CC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3A861F-CCAA-4AB0-9DC6-131C6726D5E2}"/>
                </a:ext>
              </a:extLst>
            </p:cNvPr>
            <p:cNvSpPr txBox="1"/>
            <p:nvPr/>
          </p:nvSpPr>
          <p:spPr>
            <a:xfrm>
              <a:off x="6629400" y="2971800"/>
              <a:ext cx="2362200" cy="1754326"/>
            </a:xfrm>
            <a:prstGeom prst="rect">
              <a:avLst/>
            </a:prstGeom>
            <a:solidFill>
              <a:srgbClr val="F1C7C7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Address space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Code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Vars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Heap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Libraries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Stack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A5AC9D5-B713-4E73-B928-311D1D3D917F}"/>
                </a:ext>
              </a:extLst>
            </p:cNvPr>
            <p:cNvSpPr txBox="1"/>
            <p:nvPr/>
          </p:nvSpPr>
          <p:spPr>
            <a:xfrm>
              <a:off x="6629400" y="4693949"/>
              <a:ext cx="2362200" cy="1200329"/>
            </a:xfrm>
            <a:prstGeom prst="rect">
              <a:avLst/>
            </a:prstGeom>
            <a:solidFill>
              <a:srgbClr val="D5F1CF"/>
            </a:solidFill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OS resources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Open file info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Network sockets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800" dirty="0">
                  <a:latin typeface="Calibri" pitchFamily="34" charset="0"/>
                </a:rPr>
                <a:t>..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Process Address Space</a:t>
            </a:r>
            <a:endParaRPr lang="en-GB" dirty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38175" y="1362075"/>
            <a:ext cx="3436425" cy="4972050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r>
              <a:rPr lang="en-GB" dirty="0"/>
              <a:t>Virtual memory of a process includes </a:t>
            </a:r>
          </a:p>
          <a:p>
            <a:pPr lvl="1"/>
            <a:r>
              <a:rPr lang="en-GB" dirty="0"/>
              <a:t>the code of the running program</a:t>
            </a:r>
          </a:p>
          <a:p>
            <a:pPr lvl="1"/>
            <a:r>
              <a:rPr lang="en-GB" dirty="0"/>
              <a:t>the data of the running program (static variables and heap)</a:t>
            </a:r>
            <a:r>
              <a:rPr lang="x-none" dirty="0"/>
              <a:t>‏</a:t>
            </a:r>
            <a:endParaRPr lang="en-GB" dirty="0"/>
          </a:p>
          <a:p>
            <a:pPr lvl="1"/>
            <a:r>
              <a:rPr lang="en-GB" dirty="0"/>
              <a:t>the  execution stack storing local variables and saved registers for each procedure call</a:t>
            </a:r>
          </a:p>
        </p:txBody>
      </p:sp>
      <p:sp>
        <p:nvSpPr>
          <p:cNvPr id="33807" name="Text Box 14"/>
          <p:cNvSpPr txBox="1">
            <a:spLocks noChangeArrowheads="1"/>
          </p:cNvSpPr>
          <p:nvPr/>
        </p:nvSpPr>
        <p:spPr bwMode="auto">
          <a:xfrm>
            <a:off x="4038600" y="3482222"/>
            <a:ext cx="147024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Address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 space</a:t>
            </a:r>
          </a:p>
        </p:txBody>
      </p:sp>
      <p:sp>
        <p:nvSpPr>
          <p:cNvPr id="33808" name="Text Box 15"/>
          <p:cNvSpPr txBox="1">
            <a:spLocks noChangeArrowheads="1"/>
          </p:cNvSpPr>
          <p:nvPr/>
        </p:nvSpPr>
        <p:spPr bwMode="auto">
          <a:xfrm>
            <a:off x="4205640" y="5305453"/>
            <a:ext cx="124560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0x00000000</a:t>
            </a:r>
          </a:p>
        </p:txBody>
      </p:sp>
      <p:sp>
        <p:nvSpPr>
          <p:cNvPr id="33809" name="Text Box 16"/>
          <p:cNvSpPr txBox="1">
            <a:spLocks noChangeArrowheads="1"/>
          </p:cNvSpPr>
          <p:nvPr/>
        </p:nvSpPr>
        <p:spPr bwMode="auto">
          <a:xfrm>
            <a:off x="4163880" y="1752600"/>
            <a:ext cx="131760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0xFFFFFFFF</a:t>
            </a:r>
          </a:p>
        </p:txBody>
      </p:sp>
      <p:sp>
        <p:nvSpPr>
          <p:cNvPr id="33810" name="Line 17"/>
          <p:cNvSpPr>
            <a:spLocks noChangeShapeType="1"/>
          </p:cNvSpPr>
          <p:nvPr/>
        </p:nvSpPr>
        <p:spPr bwMode="auto">
          <a:xfrm flipV="1">
            <a:off x="4800359" y="2016148"/>
            <a:ext cx="1440" cy="1458873"/>
          </a:xfrm>
          <a:prstGeom prst="line">
            <a:avLst/>
          </a:prstGeom>
          <a:noFill/>
          <a:ln w="9360">
            <a:solidFill>
              <a:srgbClr val="993333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811" name="Line 18"/>
          <p:cNvSpPr>
            <a:spLocks noChangeShapeType="1"/>
          </p:cNvSpPr>
          <p:nvPr/>
        </p:nvSpPr>
        <p:spPr bwMode="auto">
          <a:xfrm>
            <a:off x="4800359" y="3822097"/>
            <a:ext cx="1440" cy="1461753"/>
          </a:xfrm>
          <a:prstGeom prst="line">
            <a:avLst/>
          </a:prstGeom>
          <a:noFill/>
          <a:ln w="9360">
            <a:solidFill>
              <a:srgbClr val="993333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812" name="Text Box 19"/>
          <p:cNvSpPr txBox="1">
            <a:spLocks noChangeArrowheads="1"/>
          </p:cNvSpPr>
          <p:nvPr/>
        </p:nvSpPr>
        <p:spPr bwMode="auto">
          <a:xfrm>
            <a:off x="8406119" y="2890319"/>
            <a:ext cx="1208880" cy="38596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Stack 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pointer</a:t>
            </a:r>
          </a:p>
        </p:txBody>
      </p:sp>
      <p:sp>
        <p:nvSpPr>
          <p:cNvPr id="33813" name="Text Box 20"/>
          <p:cNvSpPr txBox="1">
            <a:spLocks noChangeArrowheads="1"/>
          </p:cNvSpPr>
          <p:nvPr/>
        </p:nvSpPr>
        <p:spPr bwMode="auto">
          <a:xfrm>
            <a:off x="8384519" y="5135515"/>
            <a:ext cx="168768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Program </a:t>
            </a:r>
          </a:p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counter</a:t>
            </a:r>
          </a:p>
        </p:txBody>
      </p:sp>
      <p:sp>
        <p:nvSpPr>
          <p:cNvPr id="33814" name="Line 21"/>
          <p:cNvSpPr>
            <a:spLocks noChangeShapeType="1"/>
          </p:cNvSpPr>
          <p:nvPr/>
        </p:nvSpPr>
        <p:spPr bwMode="auto">
          <a:xfrm flipH="1">
            <a:off x="7942439" y="3028573"/>
            <a:ext cx="374400" cy="1441"/>
          </a:xfrm>
          <a:prstGeom prst="line">
            <a:avLst/>
          </a:prstGeom>
          <a:noFill/>
          <a:ln w="9360">
            <a:solidFill>
              <a:srgbClr val="993333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3815" name="Line 22"/>
          <p:cNvSpPr>
            <a:spLocks noChangeShapeType="1"/>
          </p:cNvSpPr>
          <p:nvPr/>
        </p:nvSpPr>
        <p:spPr bwMode="auto">
          <a:xfrm flipH="1">
            <a:off x="7962599" y="5252167"/>
            <a:ext cx="374400" cy="1441"/>
          </a:xfrm>
          <a:prstGeom prst="line">
            <a:avLst/>
          </a:prstGeom>
          <a:noFill/>
          <a:ln w="9360">
            <a:solidFill>
              <a:srgbClr val="993333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7359676-04EE-4D85-8A40-0E4FCC61A25F}"/>
              </a:ext>
            </a:extLst>
          </p:cNvPr>
          <p:cNvGrpSpPr/>
          <p:nvPr/>
        </p:nvGrpSpPr>
        <p:grpSpPr>
          <a:xfrm>
            <a:off x="5698920" y="1764121"/>
            <a:ext cx="2204640" cy="3825041"/>
            <a:chOff x="5698920" y="1764121"/>
            <a:chExt cx="2204640" cy="3825041"/>
          </a:xfrm>
        </p:grpSpPr>
        <p:sp>
          <p:nvSpPr>
            <p:cNvPr id="33794" name="Line 1"/>
            <p:cNvSpPr>
              <a:spLocks noChangeShapeType="1"/>
            </p:cNvSpPr>
            <p:nvPr/>
          </p:nvSpPr>
          <p:spPr bwMode="auto">
            <a:xfrm flipV="1">
              <a:off x="6817800" y="3276279"/>
              <a:ext cx="1440" cy="28371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797" name="AutoShape 4"/>
            <p:cNvSpPr>
              <a:spLocks noChangeArrowheads="1"/>
            </p:cNvSpPr>
            <p:nvPr/>
          </p:nvSpPr>
          <p:spPr bwMode="auto">
            <a:xfrm>
              <a:off x="5698920" y="1764121"/>
              <a:ext cx="2204640" cy="3819281"/>
            </a:xfrm>
            <a:prstGeom prst="roundRect">
              <a:avLst>
                <a:gd name="adj" fmla="val 65"/>
              </a:avLst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798" name="AutoShape 5"/>
            <p:cNvSpPr>
              <a:spLocks noChangeArrowheads="1"/>
            </p:cNvSpPr>
            <p:nvPr/>
          </p:nvSpPr>
          <p:spPr bwMode="auto">
            <a:xfrm>
              <a:off x="5698920" y="2436672"/>
              <a:ext cx="2204640" cy="567420"/>
            </a:xfrm>
            <a:prstGeom prst="roundRect">
              <a:avLst>
                <a:gd name="adj" fmla="val 250"/>
              </a:avLst>
            </a:prstGeom>
            <a:solidFill>
              <a:srgbClr val="99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799" name="AutoShape 6"/>
            <p:cNvSpPr>
              <a:spLocks noChangeArrowheads="1"/>
            </p:cNvSpPr>
            <p:nvPr/>
          </p:nvSpPr>
          <p:spPr bwMode="auto">
            <a:xfrm>
              <a:off x="5698920" y="5082229"/>
              <a:ext cx="2204640" cy="501173"/>
            </a:xfrm>
            <a:prstGeom prst="roundRect">
              <a:avLst>
                <a:gd name="adj" fmla="val 287"/>
              </a:avLst>
            </a:prstGeom>
            <a:solidFill>
              <a:srgbClr val="CC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0" name="AutoShape 7"/>
            <p:cNvSpPr>
              <a:spLocks noChangeArrowheads="1"/>
            </p:cNvSpPr>
            <p:nvPr/>
          </p:nvSpPr>
          <p:spPr bwMode="auto">
            <a:xfrm>
              <a:off x="5698920" y="4569535"/>
              <a:ext cx="2204640" cy="512694"/>
            </a:xfrm>
            <a:prstGeom prst="roundRect">
              <a:avLst>
                <a:gd name="adj" fmla="val 278"/>
              </a:avLst>
            </a:prstGeom>
            <a:solidFill>
              <a:srgbClr val="FFCC99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1" name="Line 8"/>
            <p:cNvSpPr>
              <a:spLocks noChangeShapeType="1"/>
            </p:cNvSpPr>
            <p:nvPr/>
          </p:nvSpPr>
          <p:spPr bwMode="auto">
            <a:xfrm>
              <a:off x="6817800" y="3002651"/>
              <a:ext cx="1440" cy="19298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2" name="AutoShape 9"/>
            <p:cNvSpPr>
              <a:spLocks noChangeArrowheads="1"/>
            </p:cNvSpPr>
            <p:nvPr/>
          </p:nvSpPr>
          <p:spPr bwMode="auto">
            <a:xfrm>
              <a:off x="5698920" y="3482221"/>
              <a:ext cx="2204640" cy="534296"/>
            </a:xfrm>
            <a:prstGeom prst="roundRect">
              <a:avLst>
                <a:gd name="adj" fmla="val 269"/>
              </a:avLst>
            </a:prstGeom>
            <a:solidFill>
              <a:srgbClr val="B3B3B3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3" name="Text Box 10"/>
            <p:cNvSpPr txBox="1">
              <a:spLocks noChangeArrowheads="1"/>
            </p:cNvSpPr>
            <p:nvPr/>
          </p:nvSpPr>
          <p:spPr bwMode="auto">
            <a:xfrm>
              <a:off x="6545639" y="2585007"/>
              <a:ext cx="54144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Stack</a:t>
              </a:r>
            </a:p>
          </p:txBody>
        </p:sp>
        <p:sp>
          <p:nvSpPr>
            <p:cNvPr id="33804" name="Text Box 11"/>
            <p:cNvSpPr txBox="1">
              <a:spLocks noChangeArrowheads="1"/>
            </p:cNvSpPr>
            <p:nvPr/>
          </p:nvSpPr>
          <p:spPr bwMode="auto">
            <a:xfrm>
              <a:off x="6557159" y="3630557"/>
              <a:ext cx="53280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Heap</a:t>
              </a:r>
            </a:p>
          </p:txBody>
        </p:sp>
        <p:sp>
          <p:nvSpPr>
            <p:cNvPr id="33805" name="Text Box 12"/>
            <p:cNvSpPr txBox="1">
              <a:spLocks noChangeArrowheads="1"/>
            </p:cNvSpPr>
            <p:nvPr/>
          </p:nvSpPr>
          <p:spPr bwMode="auto">
            <a:xfrm>
              <a:off x="6076199" y="4583936"/>
              <a:ext cx="1494720" cy="72727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Initialized </a:t>
              </a:r>
              <a:r>
                <a:rPr lang="en-GB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vars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(data segment)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6" name="Text Box 13"/>
            <p:cNvSpPr txBox="1">
              <a:spLocks noChangeArrowheads="1"/>
            </p:cNvSpPr>
            <p:nvPr/>
          </p:nvSpPr>
          <p:spPr bwMode="auto">
            <a:xfrm>
              <a:off x="6141000" y="5103832"/>
              <a:ext cx="1442880" cy="48533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Code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(text segment)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6" name="AutoShape 23"/>
            <p:cNvSpPr>
              <a:spLocks noChangeArrowheads="1"/>
            </p:cNvSpPr>
            <p:nvPr/>
          </p:nvSpPr>
          <p:spPr bwMode="auto">
            <a:xfrm>
              <a:off x="5698920" y="4004996"/>
              <a:ext cx="2204640" cy="565980"/>
            </a:xfrm>
            <a:prstGeom prst="roundRect">
              <a:avLst>
                <a:gd name="adj" fmla="val 255"/>
              </a:avLst>
            </a:prstGeom>
            <a:solidFill>
              <a:srgbClr val="99CCFF"/>
            </a:solidFill>
            <a:ln w="9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7" name="Text Box 24"/>
            <p:cNvSpPr txBox="1">
              <a:spLocks noChangeArrowheads="1"/>
            </p:cNvSpPr>
            <p:nvPr/>
          </p:nvSpPr>
          <p:spPr bwMode="auto">
            <a:xfrm>
              <a:off x="5969640" y="4061163"/>
              <a:ext cx="1755360" cy="48533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Uninitialized </a:t>
              </a:r>
              <a:r>
                <a:rPr lang="en-GB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vars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(BSS segment)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8" name="AutoShape 25"/>
            <p:cNvSpPr>
              <a:spLocks noChangeArrowheads="1"/>
            </p:cNvSpPr>
            <p:nvPr/>
          </p:nvSpPr>
          <p:spPr bwMode="auto">
            <a:xfrm>
              <a:off x="5698920" y="1764121"/>
              <a:ext cx="2204640" cy="672551"/>
            </a:xfrm>
            <a:prstGeom prst="roundRect">
              <a:avLst>
                <a:gd name="adj" fmla="val 213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9" name="Text Box 26"/>
            <p:cNvSpPr txBox="1">
              <a:spLocks noChangeArrowheads="1"/>
            </p:cNvSpPr>
            <p:nvPr/>
          </p:nvSpPr>
          <p:spPr bwMode="auto">
            <a:xfrm>
              <a:off x="5991239" y="1997425"/>
              <a:ext cx="173808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(Reserved for OS)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Address Space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638175" y="1362075"/>
            <a:ext cx="3319785" cy="4124325"/>
          </a:xfrm>
        </p:spPr>
        <p:txBody>
          <a:bodyPr>
            <a:normAutofit fontScale="92500" lnSpcReduction="10000"/>
          </a:bodyPr>
          <a:lstStyle/>
          <a:p>
            <a:endParaRPr lang="en-GB" dirty="0"/>
          </a:p>
          <a:p>
            <a:r>
              <a:rPr lang="en-GB" dirty="0"/>
              <a:t>This is the process's own view of the address space </a:t>
            </a:r>
          </a:p>
          <a:p>
            <a:pPr lvl="1"/>
            <a:r>
              <a:rPr lang="en-GB" dirty="0"/>
              <a:t>physical memory may not be laid out this way at all.</a:t>
            </a:r>
          </a:p>
          <a:p>
            <a:pPr lvl="1"/>
            <a:r>
              <a:rPr lang="en-GB" dirty="0"/>
              <a:t>The virtual memory system provides this illusion to each process.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4038600" y="1752600"/>
            <a:ext cx="6033599" cy="3836562"/>
            <a:chOff x="3186601" y="1573638"/>
            <a:chExt cx="6033599" cy="3836562"/>
          </a:xfrm>
        </p:grpSpPr>
        <p:sp>
          <p:nvSpPr>
            <p:cNvPr id="33794" name="Line 1"/>
            <p:cNvSpPr>
              <a:spLocks noChangeShapeType="1"/>
            </p:cNvSpPr>
            <p:nvPr/>
          </p:nvSpPr>
          <p:spPr bwMode="auto">
            <a:xfrm flipV="1">
              <a:off x="5965801" y="3097317"/>
              <a:ext cx="1440" cy="28371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797" name="AutoShape 4"/>
            <p:cNvSpPr>
              <a:spLocks noChangeArrowheads="1"/>
            </p:cNvSpPr>
            <p:nvPr/>
          </p:nvSpPr>
          <p:spPr bwMode="auto">
            <a:xfrm>
              <a:off x="4846921" y="1585159"/>
              <a:ext cx="2204640" cy="3819281"/>
            </a:xfrm>
            <a:prstGeom prst="roundRect">
              <a:avLst>
                <a:gd name="adj" fmla="val 65"/>
              </a:avLst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798" name="AutoShape 5"/>
            <p:cNvSpPr>
              <a:spLocks noChangeArrowheads="1"/>
            </p:cNvSpPr>
            <p:nvPr/>
          </p:nvSpPr>
          <p:spPr bwMode="auto">
            <a:xfrm>
              <a:off x="4846921" y="2257710"/>
              <a:ext cx="2204640" cy="567420"/>
            </a:xfrm>
            <a:prstGeom prst="roundRect">
              <a:avLst>
                <a:gd name="adj" fmla="val 250"/>
              </a:avLst>
            </a:prstGeom>
            <a:solidFill>
              <a:srgbClr val="99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799" name="AutoShape 6"/>
            <p:cNvSpPr>
              <a:spLocks noChangeArrowheads="1"/>
            </p:cNvSpPr>
            <p:nvPr/>
          </p:nvSpPr>
          <p:spPr bwMode="auto">
            <a:xfrm>
              <a:off x="4846921" y="4903267"/>
              <a:ext cx="2204640" cy="501173"/>
            </a:xfrm>
            <a:prstGeom prst="roundRect">
              <a:avLst>
                <a:gd name="adj" fmla="val 287"/>
              </a:avLst>
            </a:prstGeom>
            <a:solidFill>
              <a:srgbClr val="CC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0" name="AutoShape 7"/>
            <p:cNvSpPr>
              <a:spLocks noChangeArrowheads="1"/>
            </p:cNvSpPr>
            <p:nvPr/>
          </p:nvSpPr>
          <p:spPr bwMode="auto">
            <a:xfrm>
              <a:off x="4846921" y="4390573"/>
              <a:ext cx="2204640" cy="512694"/>
            </a:xfrm>
            <a:prstGeom prst="roundRect">
              <a:avLst>
                <a:gd name="adj" fmla="val 278"/>
              </a:avLst>
            </a:prstGeom>
            <a:solidFill>
              <a:srgbClr val="FFCC99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1" name="Line 8"/>
            <p:cNvSpPr>
              <a:spLocks noChangeShapeType="1"/>
            </p:cNvSpPr>
            <p:nvPr/>
          </p:nvSpPr>
          <p:spPr bwMode="auto">
            <a:xfrm>
              <a:off x="5965801" y="2823689"/>
              <a:ext cx="1440" cy="19298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2" name="AutoShape 9"/>
            <p:cNvSpPr>
              <a:spLocks noChangeArrowheads="1"/>
            </p:cNvSpPr>
            <p:nvPr/>
          </p:nvSpPr>
          <p:spPr bwMode="auto">
            <a:xfrm>
              <a:off x="4846921" y="3303259"/>
              <a:ext cx="2204640" cy="534296"/>
            </a:xfrm>
            <a:prstGeom prst="roundRect">
              <a:avLst>
                <a:gd name="adj" fmla="val 269"/>
              </a:avLst>
            </a:prstGeom>
            <a:solidFill>
              <a:srgbClr val="B3B3B3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3" name="Text Box 10"/>
            <p:cNvSpPr txBox="1">
              <a:spLocks noChangeArrowheads="1"/>
            </p:cNvSpPr>
            <p:nvPr/>
          </p:nvSpPr>
          <p:spPr bwMode="auto">
            <a:xfrm>
              <a:off x="5693640" y="2406045"/>
              <a:ext cx="54144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Stack</a:t>
              </a:r>
            </a:p>
          </p:txBody>
        </p:sp>
        <p:sp>
          <p:nvSpPr>
            <p:cNvPr id="33804" name="Text Box 11"/>
            <p:cNvSpPr txBox="1">
              <a:spLocks noChangeArrowheads="1"/>
            </p:cNvSpPr>
            <p:nvPr/>
          </p:nvSpPr>
          <p:spPr bwMode="auto">
            <a:xfrm>
              <a:off x="5705160" y="3451595"/>
              <a:ext cx="53280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Heap</a:t>
              </a:r>
            </a:p>
          </p:txBody>
        </p:sp>
        <p:sp>
          <p:nvSpPr>
            <p:cNvPr id="33805" name="Text Box 12"/>
            <p:cNvSpPr txBox="1">
              <a:spLocks noChangeArrowheads="1"/>
            </p:cNvSpPr>
            <p:nvPr/>
          </p:nvSpPr>
          <p:spPr bwMode="auto">
            <a:xfrm>
              <a:off x="5224200" y="4404974"/>
              <a:ext cx="1494720" cy="72727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Initialized </a:t>
              </a:r>
              <a:r>
                <a:rPr lang="en-GB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vars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(data segment)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6" name="Text Box 13"/>
            <p:cNvSpPr txBox="1">
              <a:spLocks noChangeArrowheads="1"/>
            </p:cNvSpPr>
            <p:nvPr/>
          </p:nvSpPr>
          <p:spPr bwMode="auto">
            <a:xfrm>
              <a:off x="5289001" y="4924870"/>
              <a:ext cx="1442880" cy="48533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Code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(text segment)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07" name="Text Box 14"/>
            <p:cNvSpPr txBox="1">
              <a:spLocks noChangeArrowheads="1"/>
            </p:cNvSpPr>
            <p:nvPr/>
          </p:nvSpPr>
          <p:spPr bwMode="auto">
            <a:xfrm>
              <a:off x="3186601" y="3303260"/>
              <a:ext cx="147024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Address</a:t>
              </a:r>
            </a:p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 space</a:t>
              </a:r>
            </a:p>
          </p:txBody>
        </p:sp>
        <p:sp>
          <p:nvSpPr>
            <p:cNvPr id="33808" name="Text Box 15"/>
            <p:cNvSpPr txBox="1">
              <a:spLocks noChangeArrowheads="1"/>
            </p:cNvSpPr>
            <p:nvPr/>
          </p:nvSpPr>
          <p:spPr bwMode="auto">
            <a:xfrm>
              <a:off x="3353641" y="5126491"/>
              <a:ext cx="124560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0x00000000</a:t>
              </a:r>
            </a:p>
          </p:txBody>
        </p:sp>
        <p:sp>
          <p:nvSpPr>
            <p:cNvPr id="33809" name="Text Box 16"/>
            <p:cNvSpPr txBox="1">
              <a:spLocks noChangeArrowheads="1"/>
            </p:cNvSpPr>
            <p:nvPr/>
          </p:nvSpPr>
          <p:spPr bwMode="auto">
            <a:xfrm>
              <a:off x="3311881" y="1573638"/>
              <a:ext cx="131760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0xFFFFFFFF</a:t>
              </a:r>
            </a:p>
          </p:txBody>
        </p:sp>
        <p:sp>
          <p:nvSpPr>
            <p:cNvPr id="33810" name="Line 17"/>
            <p:cNvSpPr>
              <a:spLocks noChangeShapeType="1"/>
            </p:cNvSpPr>
            <p:nvPr/>
          </p:nvSpPr>
          <p:spPr bwMode="auto">
            <a:xfrm flipV="1">
              <a:off x="3948360" y="1837186"/>
              <a:ext cx="1440" cy="1458873"/>
            </a:xfrm>
            <a:prstGeom prst="line">
              <a:avLst/>
            </a:prstGeom>
            <a:noFill/>
            <a:ln w="9360">
              <a:solidFill>
                <a:srgbClr val="993333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1" name="Line 18"/>
            <p:cNvSpPr>
              <a:spLocks noChangeShapeType="1"/>
            </p:cNvSpPr>
            <p:nvPr/>
          </p:nvSpPr>
          <p:spPr bwMode="auto">
            <a:xfrm>
              <a:off x="3948360" y="3643135"/>
              <a:ext cx="1440" cy="1461753"/>
            </a:xfrm>
            <a:prstGeom prst="line">
              <a:avLst/>
            </a:prstGeom>
            <a:noFill/>
            <a:ln w="9360">
              <a:solidFill>
                <a:srgbClr val="993333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2" name="Text Box 19"/>
            <p:cNvSpPr txBox="1">
              <a:spLocks noChangeArrowheads="1"/>
            </p:cNvSpPr>
            <p:nvPr/>
          </p:nvSpPr>
          <p:spPr bwMode="auto">
            <a:xfrm>
              <a:off x="7554120" y="2711357"/>
              <a:ext cx="1208880" cy="38596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Stack </a:t>
              </a:r>
            </a:p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pointer</a:t>
              </a:r>
            </a:p>
          </p:txBody>
        </p:sp>
        <p:sp>
          <p:nvSpPr>
            <p:cNvPr id="33813" name="Text Box 20"/>
            <p:cNvSpPr txBox="1">
              <a:spLocks noChangeArrowheads="1"/>
            </p:cNvSpPr>
            <p:nvPr/>
          </p:nvSpPr>
          <p:spPr bwMode="auto">
            <a:xfrm>
              <a:off x="7532520" y="4956553"/>
              <a:ext cx="168768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Program </a:t>
              </a:r>
            </a:p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993333"/>
                  </a:solidFill>
                  <a:latin typeface="Calibri" charset="0"/>
                  <a:ea typeface="Calibri" charset="0"/>
                  <a:cs typeface="Calibri" charset="0"/>
                </a:rPr>
                <a:t>counter</a:t>
              </a:r>
            </a:p>
          </p:txBody>
        </p:sp>
        <p:sp>
          <p:nvSpPr>
            <p:cNvPr id="33814" name="Line 21"/>
            <p:cNvSpPr>
              <a:spLocks noChangeShapeType="1"/>
            </p:cNvSpPr>
            <p:nvPr/>
          </p:nvSpPr>
          <p:spPr bwMode="auto">
            <a:xfrm flipH="1">
              <a:off x="7090440" y="2849611"/>
              <a:ext cx="374400" cy="1441"/>
            </a:xfrm>
            <a:prstGeom prst="line">
              <a:avLst/>
            </a:prstGeom>
            <a:noFill/>
            <a:ln w="9360">
              <a:solidFill>
                <a:srgbClr val="993333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5" name="Line 22"/>
            <p:cNvSpPr>
              <a:spLocks noChangeShapeType="1"/>
            </p:cNvSpPr>
            <p:nvPr/>
          </p:nvSpPr>
          <p:spPr bwMode="auto">
            <a:xfrm flipH="1">
              <a:off x="7110600" y="5073205"/>
              <a:ext cx="374400" cy="1441"/>
            </a:xfrm>
            <a:prstGeom prst="line">
              <a:avLst/>
            </a:prstGeom>
            <a:noFill/>
            <a:ln w="9360">
              <a:solidFill>
                <a:srgbClr val="993333"/>
              </a:solidFill>
              <a:miter lim="800000"/>
              <a:headEnd/>
              <a:tailEnd type="triangle" w="med" len="med"/>
            </a:ln>
          </p:spPr>
          <p:txBody>
            <a:bodyPr lIns="82945" tIns="41473" rIns="82945" bIns="41473"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6" name="AutoShape 23"/>
            <p:cNvSpPr>
              <a:spLocks noChangeArrowheads="1"/>
            </p:cNvSpPr>
            <p:nvPr/>
          </p:nvSpPr>
          <p:spPr bwMode="auto">
            <a:xfrm>
              <a:off x="4846921" y="3826034"/>
              <a:ext cx="2204640" cy="565980"/>
            </a:xfrm>
            <a:prstGeom prst="roundRect">
              <a:avLst>
                <a:gd name="adj" fmla="val 255"/>
              </a:avLst>
            </a:prstGeom>
            <a:solidFill>
              <a:srgbClr val="99CCFF"/>
            </a:solidFill>
            <a:ln w="9360">
              <a:solidFill>
                <a:srgbClr val="993333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7" name="Text Box 24"/>
            <p:cNvSpPr txBox="1">
              <a:spLocks noChangeArrowheads="1"/>
            </p:cNvSpPr>
            <p:nvPr/>
          </p:nvSpPr>
          <p:spPr bwMode="auto">
            <a:xfrm>
              <a:off x="5117641" y="3882201"/>
              <a:ext cx="1755360" cy="485330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Uninitialized </a:t>
              </a:r>
              <a:r>
                <a:rPr lang="en-GB" sz="1400" dirty="0" err="1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vars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(BSS segment)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8" name="AutoShape 25"/>
            <p:cNvSpPr>
              <a:spLocks noChangeArrowheads="1"/>
            </p:cNvSpPr>
            <p:nvPr/>
          </p:nvSpPr>
          <p:spPr bwMode="auto">
            <a:xfrm>
              <a:off x="4846921" y="1585159"/>
              <a:ext cx="2204640" cy="672551"/>
            </a:xfrm>
            <a:prstGeom prst="roundRect">
              <a:avLst>
                <a:gd name="adj" fmla="val 213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lIns="82945" tIns="41473" rIns="82945" bIns="41473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3819" name="Text Box 26"/>
            <p:cNvSpPr txBox="1">
              <a:spLocks noChangeArrowheads="1"/>
            </p:cNvSpPr>
            <p:nvPr/>
          </p:nvSpPr>
          <p:spPr bwMode="auto">
            <a:xfrm>
              <a:off x="5139240" y="1818463"/>
              <a:ext cx="1738080" cy="24194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(Reserved for OS)</a:t>
              </a:r>
              <a:r>
                <a:rPr lang="x-none" sz="14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225970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Execution State (context) of a Process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Each process has an execution state (context)</a:t>
            </a:r>
          </a:p>
          <a:p>
            <a:pPr lvl="1"/>
            <a:r>
              <a:rPr lang="en-GB" dirty="0"/>
              <a:t>Indicates what the process is currently doing</a:t>
            </a:r>
          </a:p>
          <a:p>
            <a:r>
              <a:rPr lang="en-GB" dirty="0"/>
              <a:t>Running:</a:t>
            </a:r>
          </a:p>
          <a:p>
            <a:pPr lvl="1"/>
            <a:r>
              <a:rPr lang="en-GB" dirty="0"/>
              <a:t>Process is currently using the CPU</a:t>
            </a:r>
          </a:p>
          <a:p>
            <a:r>
              <a:rPr lang="en-GB" dirty="0"/>
              <a:t>Ready:</a:t>
            </a:r>
          </a:p>
          <a:p>
            <a:pPr lvl="1"/>
            <a:r>
              <a:rPr lang="en-GB" dirty="0"/>
              <a:t>Currently waiting to be assigned to a CPU</a:t>
            </a:r>
          </a:p>
          <a:p>
            <a:pPr lvl="1"/>
            <a:r>
              <a:rPr lang="en-GB" dirty="0"/>
              <a:t>That is, the process could be running, but another process is using the CPU</a:t>
            </a:r>
          </a:p>
          <a:p>
            <a:r>
              <a:rPr lang="en-GB" dirty="0"/>
              <a:t>Waiting (or sleeping):</a:t>
            </a:r>
          </a:p>
          <a:p>
            <a:pPr lvl="1"/>
            <a:r>
              <a:rPr lang="en-GB" dirty="0"/>
              <a:t>Process is waiting for an event</a:t>
            </a:r>
          </a:p>
          <a:p>
            <a:pPr lvl="1"/>
            <a:r>
              <a:rPr lang="en-GB" dirty="0"/>
              <a:t>Such as completion of an I/O, a timer to go off, etc.</a:t>
            </a:r>
          </a:p>
          <a:p>
            <a:pPr lvl="1"/>
            <a:r>
              <a:rPr lang="en-GB" dirty="0"/>
              <a:t>Why is this different than “ready” ?</a:t>
            </a:r>
          </a:p>
          <a:p>
            <a:r>
              <a:rPr lang="en-GB" dirty="0"/>
              <a:t>As the process executes, it moves between these states</a:t>
            </a:r>
          </a:p>
          <a:p>
            <a:pPr lvl="1"/>
            <a:r>
              <a:rPr lang="en-GB" dirty="0"/>
              <a:t>What state is the process in most of the time?</a:t>
            </a:r>
          </a:p>
          <a:p>
            <a:endParaRPr lang="en-GB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 State (Context) Transitions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What causes schedule and </a:t>
            </a:r>
            <a:r>
              <a:rPr lang="en-GB" dirty="0" err="1"/>
              <a:t>unschedule</a:t>
            </a:r>
            <a:r>
              <a:rPr lang="en-GB" dirty="0"/>
              <a:t> transitions?</a:t>
            </a:r>
          </a:p>
        </p:txBody>
      </p:sp>
      <p:sp>
        <p:nvSpPr>
          <p:cNvPr id="39940" name="Line 3"/>
          <p:cNvSpPr>
            <a:spLocks noChangeShapeType="1"/>
          </p:cNvSpPr>
          <p:nvPr/>
        </p:nvSpPr>
        <p:spPr bwMode="auto">
          <a:xfrm flipV="1">
            <a:off x="5158081" y="4227708"/>
            <a:ext cx="2066400" cy="6379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941" name="Line 4"/>
          <p:cNvSpPr>
            <a:spLocks noChangeShapeType="1"/>
          </p:cNvSpPr>
          <p:nvPr/>
        </p:nvSpPr>
        <p:spPr bwMode="auto">
          <a:xfrm flipH="1" flipV="1">
            <a:off x="5243040" y="2699707"/>
            <a:ext cx="1985760" cy="998025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942" name="Freeform 5"/>
          <p:cNvSpPr>
            <a:spLocks/>
          </p:cNvSpPr>
          <p:nvPr/>
        </p:nvSpPr>
        <p:spPr bwMode="auto">
          <a:xfrm>
            <a:off x="4439521" y="3154795"/>
            <a:ext cx="479520" cy="1258692"/>
          </a:xfrm>
          <a:custGeom>
            <a:avLst/>
            <a:gdLst>
              <a:gd name="T0" fmla="*/ 0 w 1469"/>
              <a:gd name="T1" fmla="*/ 0 h 3853"/>
              <a:gd name="T2" fmla="*/ 2147483647 w 1469"/>
              <a:gd name="T3" fmla="*/ 2147483647 h 3853"/>
              <a:gd name="T4" fmla="*/ 2147483647 w 1469"/>
              <a:gd name="T5" fmla="*/ 2147483647 h 3853"/>
              <a:gd name="T6" fmla="*/ 0 60000 65536"/>
              <a:gd name="T7" fmla="*/ 0 60000 65536"/>
              <a:gd name="T8" fmla="*/ 0 60000 65536"/>
              <a:gd name="T9" fmla="*/ 0 w 1469"/>
              <a:gd name="T10" fmla="*/ 0 h 3853"/>
              <a:gd name="T11" fmla="*/ 1469 w 1469"/>
              <a:gd name="T12" fmla="*/ 3853 h 385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69" h="3853">
                <a:moveTo>
                  <a:pt x="0" y="0"/>
                </a:moveTo>
                <a:cubicBezTo>
                  <a:pt x="642" y="779"/>
                  <a:pt x="1284" y="1559"/>
                  <a:pt x="1376" y="2201"/>
                </a:cubicBezTo>
                <a:cubicBezTo>
                  <a:pt x="1468" y="2843"/>
                  <a:pt x="1008" y="3347"/>
                  <a:pt x="550" y="3852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lIns="82945" tIns="41473" rIns="82945" bIns="41473" anchor="ctr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943" name="Freeform 6"/>
          <p:cNvSpPr>
            <a:spLocks/>
          </p:cNvSpPr>
          <p:nvPr/>
        </p:nvSpPr>
        <p:spPr bwMode="auto">
          <a:xfrm>
            <a:off x="3898081" y="3244085"/>
            <a:ext cx="480960" cy="1258692"/>
          </a:xfrm>
          <a:custGeom>
            <a:avLst/>
            <a:gdLst>
              <a:gd name="T0" fmla="*/ 2147483647 w 1471"/>
              <a:gd name="T1" fmla="*/ 2147483647 h 3855"/>
              <a:gd name="T2" fmla="*/ 2147483647 w 1471"/>
              <a:gd name="T3" fmla="*/ 2147483647 h 3855"/>
              <a:gd name="T4" fmla="*/ 2147483647 w 1471"/>
              <a:gd name="T5" fmla="*/ 0 h 3855"/>
              <a:gd name="T6" fmla="*/ 0 60000 65536"/>
              <a:gd name="T7" fmla="*/ 0 60000 65536"/>
              <a:gd name="T8" fmla="*/ 0 60000 65536"/>
              <a:gd name="T9" fmla="*/ 0 w 1471"/>
              <a:gd name="T10" fmla="*/ 0 h 3855"/>
              <a:gd name="T11" fmla="*/ 1471 w 1471"/>
              <a:gd name="T12" fmla="*/ 3855 h 38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71" h="3855">
                <a:moveTo>
                  <a:pt x="1470" y="3854"/>
                </a:moveTo>
                <a:cubicBezTo>
                  <a:pt x="828" y="3074"/>
                  <a:pt x="186" y="2294"/>
                  <a:pt x="93" y="1652"/>
                </a:cubicBezTo>
                <a:cubicBezTo>
                  <a:pt x="0" y="1010"/>
                  <a:pt x="461" y="506"/>
                  <a:pt x="920" y="0"/>
                </a:cubicBezTo>
              </a:path>
            </a:pathLst>
          </a:custGeom>
          <a:noFill/>
          <a:ln w="28440">
            <a:solidFill>
              <a:srgbClr val="000000"/>
            </a:solidFill>
            <a:round/>
            <a:headEnd/>
            <a:tailEnd type="triangle" w="med" len="med"/>
          </a:ln>
        </p:spPr>
        <p:txBody>
          <a:bodyPr wrap="none" lIns="82945" tIns="41473" rIns="82945" bIns="41473" anchor="ctr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944" name="Line 7"/>
          <p:cNvSpPr>
            <a:spLocks noChangeShapeType="1"/>
          </p:cNvSpPr>
          <p:nvPr/>
        </p:nvSpPr>
        <p:spPr bwMode="auto">
          <a:xfrm>
            <a:off x="1922401" y="2705467"/>
            <a:ext cx="1706400" cy="1441"/>
          </a:xfrm>
          <a:prstGeom prst="line">
            <a:avLst/>
          </a:prstGeom>
          <a:noFill/>
          <a:ln w="27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39945" name="Line 8"/>
          <p:cNvSpPr>
            <a:spLocks noChangeShapeType="1"/>
          </p:cNvSpPr>
          <p:nvPr/>
        </p:nvSpPr>
        <p:spPr bwMode="auto">
          <a:xfrm flipH="1">
            <a:off x="2458081" y="4861375"/>
            <a:ext cx="1176480" cy="144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934561" y="2345430"/>
            <a:ext cx="986400" cy="715756"/>
            <a:chOff x="649" y="826"/>
            <a:chExt cx="685" cy="497"/>
          </a:xfrm>
        </p:grpSpPr>
        <p:sp>
          <p:nvSpPr>
            <p:cNvPr id="39965" name="Oval 10"/>
            <p:cNvSpPr>
              <a:spLocks noChangeArrowheads="1"/>
            </p:cNvSpPr>
            <p:nvPr/>
          </p:nvSpPr>
          <p:spPr bwMode="auto">
            <a:xfrm>
              <a:off x="649" y="826"/>
              <a:ext cx="686" cy="498"/>
            </a:xfrm>
            <a:prstGeom prst="ellipse">
              <a:avLst/>
            </a:prstGeom>
            <a:solidFill>
              <a:srgbClr val="EBEB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966" name="AutoShape 11"/>
            <p:cNvSpPr>
              <a:spLocks noChangeArrowheads="1"/>
            </p:cNvSpPr>
            <p:nvPr/>
          </p:nvSpPr>
          <p:spPr bwMode="auto">
            <a:xfrm>
              <a:off x="751" y="900"/>
              <a:ext cx="483" cy="351"/>
            </a:xfrm>
            <a:prstGeom prst="roundRect">
              <a:avLst>
                <a:gd name="adj" fmla="val 282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spcBef>
                  <a:spcPts val="204"/>
                </a:spcBef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New</a:t>
              </a:r>
            </a:p>
          </p:txBody>
        </p:sp>
      </p:grp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665280" y="4502777"/>
            <a:ext cx="1704960" cy="717195"/>
            <a:chOff x="462" y="2324"/>
            <a:chExt cx="1184" cy="498"/>
          </a:xfrm>
        </p:grpSpPr>
        <p:sp>
          <p:nvSpPr>
            <p:cNvPr id="39963" name="Oval 13"/>
            <p:cNvSpPr>
              <a:spLocks noChangeArrowheads="1"/>
            </p:cNvSpPr>
            <p:nvPr/>
          </p:nvSpPr>
          <p:spPr bwMode="auto">
            <a:xfrm>
              <a:off x="462" y="2324"/>
              <a:ext cx="1185" cy="499"/>
            </a:xfrm>
            <a:prstGeom prst="ellipse">
              <a:avLst/>
            </a:prstGeom>
            <a:solidFill>
              <a:srgbClr val="EBEB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964" name="AutoShape 14"/>
            <p:cNvSpPr>
              <a:spLocks noChangeArrowheads="1"/>
            </p:cNvSpPr>
            <p:nvPr/>
          </p:nvSpPr>
          <p:spPr bwMode="auto">
            <a:xfrm>
              <a:off x="637" y="2397"/>
              <a:ext cx="835" cy="352"/>
            </a:xfrm>
            <a:prstGeom prst="roundRect">
              <a:avLst>
                <a:gd name="adj" fmla="val 282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spcBef>
                  <a:spcPts val="204"/>
                </a:spcBef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Terminated</a:t>
              </a:r>
            </a:p>
          </p:txBody>
        </p:sp>
      </p:grpSp>
      <p:grpSp>
        <p:nvGrpSpPr>
          <p:cNvPr id="4" name="Group 15"/>
          <p:cNvGrpSpPr>
            <a:grpSpLocks/>
          </p:cNvGrpSpPr>
          <p:nvPr/>
        </p:nvGrpSpPr>
        <p:grpSpPr bwMode="auto">
          <a:xfrm>
            <a:off x="3630240" y="2345430"/>
            <a:ext cx="1526400" cy="715756"/>
            <a:chOff x="2521" y="826"/>
            <a:chExt cx="1060" cy="497"/>
          </a:xfrm>
        </p:grpSpPr>
        <p:sp>
          <p:nvSpPr>
            <p:cNvPr id="39961" name="Oval 16"/>
            <p:cNvSpPr>
              <a:spLocks noChangeArrowheads="1"/>
            </p:cNvSpPr>
            <p:nvPr/>
          </p:nvSpPr>
          <p:spPr bwMode="auto">
            <a:xfrm>
              <a:off x="2521" y="826"/>
              <a:ext cx="1061" cy="498"/>
            </a:xfrm>
            <a:prstGeom prst="ellipse">
              <a:avLst/>
            </a:prstGeom>
            <a:solidFill>
              <a:srgbClr val="EBEB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962" name="AutoShape 17"/>
            <p:cNvSpPr>
              <a:spLocks noChangeArrowheads="1"/>
            </p:cNvSpPr>
            <p:nvPr/>
          </p:nvSpPr>
          <p:spPr bwMode="auto">
            <a:xfrm>
              <a:off x="2678" y="900"/>
              <a:ext cx="747" cy="351"/>
            </a:xfrm>
            <a:prstGeom prst="roundRect">
              <a:avLst>
                <a:gd name="adj" fmla="val 282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spcBef>
                  <a:spcPts val="204"/>
                </a:spcBef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Ready</a:t>
              </a:r>
            </a:p>
          </p:txBody>
        </p:sp>
      </p:grpSp>
      <p:grpSp>
        <p:nvGrpSpPr>
          <p:cNvPr id="5" name="Group 18"/>
          <p:cNvGrpSpPr>
            <a:grpSpLocks/>
          </p:cNvGrpSpPr>
          <p:nvPr/>
        </p:nvGrpSpPr>
        <p:grpSpPr bwMode="auto">
          <a:xfrm>
            <a:off x="3630240" y="4502777"/>
            <a:ext cx="1526400" cy="717195"/>
            <a:chOff x="2521" y="2324"/>
            <a:chExt cx="1060" cy="498"/>
          </a:xfrm>
        </p:grpSpPr>
        <p:sp>
          <p:nvSpPr>
            <p:cNvPr id="39959" name="Oval 19"/>
            <p:cNvSpPr>
              <a:spLocks noChangeArrowheads="1"/>
            </p:cNvSpPr>
            <p:nvPr/>
          </p:nvSpPr>
          <p:spPr bwMode="auto">
            <a:xfrm>
              <a:off x="2521" y="2324"/>
              <a:ext cx="1061" cy="499"/>
            </a:xfrm>
            <a:prstGeom prst="ellipse">
              <a:avLst/>
            </a:prstGeom>
            <a:solidFill>
              <a:srgbClr val="EBEB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960" name="AutoShape 20"/>
            <p:cNvSpPr>
              <a:spLocks noChangeArrowheads="1"/>
            </p:cNvSpPr>
            <p:nvPr/>
          </p:nvSpPr>
          <p:spPr bwMode="auto">
            <a:xfrm>
              <a:off x="2678" y="2397"/>
              <a:ext cx="747" cy="352"/>
            </a:xfrm>
            <a:prstGeom prst="roundRect">
              <a:avLst>
                <a:gd name="adj" fmla="val 282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spcBef>
                  <a:spcPts val="204"/>
                </a:spcBef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Running</a:t>
              </a:r>
            </a:p>
          </p:txBody>
        </p:sp>
      </p:grpSp>
      <p:grpSp>
        <p:nvGrpSpPr>
          <p:cNvPr id="6" name="Group 21"/>
          <p:cNvGrpSpPr>
            <a:grpSpLocks/>
          </p:cNvGrpSpPr>
          <p:nvPr/>
        </p:nvGrpSpPr>
        <p:grpSpPr bwMode="auto">
          <a:xfrm>
            <a:off x="7044481" y="3513394"/>
            <a:ext cx="1524960" cy="717195"/>
            <a:chOff x="4892" y="1637"/>
            <a:chExt cx="1059" cy="498"/>
          </a:xfrm>
        </p:grpSpPr>
        <p:sp>
          <p:nvSpPr>
            <p:cNvPr id="39957" name="Oval 22"/>
            <p:cNvSpPr>
              <a:spLocks noChangeArrowheads="1"/>
            </p:cNvSpPr>
            <p:nvPr/>
          </p:nvSpPr>
          <p:spPr bwMode="auto">
            <a:xfrm>
              <a:off x="4892" y="1637"/>
              <a:ext cx="1060" cy="499"/>
            </a:xfrm>
            <a:prstGeom prst="ellipse">
              <a:avLst/>
            </a:prstGeom>
            <a:solidFill>
              <a:srgbClr val="EBEBFF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 sz="2000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39958" name="AutoShape 23"/>
            <p:cNvSpPr>
              <a:spLocks noChangeArrowheads="1"/>
            </p:cNvSpPr>
            <p:nvPr/>
          </p:nvSpPr>
          <p:spPr bwMode="auto">
            <a:xfrm>
              <a:off x="5049" y="1711"/>
              <a:ext cx="747" cy="351"/>
            </a:xfrm>
            <a:prstGeom prst="roundRect">
              <a:avLst>
                <a:gd name="adj" fmla="val 282"/>
              </a:avLst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spcBef>
                  <a:spcPts val="204"/>
                </a:spcBef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Waiting</a:t>
              </a:r>
              <a:endParaRPr lang="en-GB" sz="14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39951" name="AutoShape 24"/>
          <p:cNvSpPr>
            <a:spLocks noChangeArrowheads="1"/>
          </p:cNvSpPr>
          <p:nvPr/>
        </p:nvSpPr>
        <p:spPr bwMode="auto">
          <a:xfrm>
            <a:off x="2214721" y="2256140"/>
            <a:ext cx="966240" cy="433486"/>
          </a:xfrm>
          <a:prstGeom prst="roundRect">
            <a:avLst>
              <a:gd name="adj" fmla="val 333"/>
            </a:avLst>
          </a:prstGeom>
          <a:noFill/>
          <a:ln w="9525">
            <a:noFill/>
            <a:round/>
            <a:headEnd/>
            <a:tailEnd/>
          </a:ln>
        </p:spPr>
        <p:txBody>
          <a:bodyPr lIns="81639" tIns="42452" rIns="81639" bIns="42452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spcBef>
                <a:spcPts val="204"/>
              </a:spcBef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>
                <a:solidFill>
                  <a:srgbClr val="3366FF"/>
                </a:solidFill>
                <a:latin typeface="Calibri" charset="0"/>
                <a:ea typeface="Calibri" charset="0"/>
                <a:cs typeface="Calibri" charset="0"/>
              </a:rPr>
              <a:t>create</a:t>
            </a:r>
          </a:p>
        </p:txBody>
      </p:sp>
      <p:sp>
        <p:nvSpPr>
          <p:cNvPr id="39952" name="AutoShape 25"/>
          <p:cNvSpPr>
            <a:spLocks noChangeArrowheads="1"/>
          </p:cNvSpPr>
          <p:nvPr/>
        </p:nvSpPr>
        <p:spPr bwMode="auto">
          <a:xfrm>
            <a:off x="2636641" y="4515738"/>
            <a:ext cx="843840" cy="432045"/>
          </a:xfrm>
          <a:prstGeom prst="roundRect">
            <a:avLst>
              <a:gd name="adj" fmla="val 333"/>
            </a:avLst>
          </a:prstGeom>
          <a:noFill/>
          <a:ln w="9525">
            <a:noFill/>
            <a:round/>
            <a:headEnd/>
            <a:tailEnd/>
          </a:ln>
        </p:spPr>
        <p:txBody>
          <a:bodyPr lIns="81639" tIns="42452" rIns="81639" bIns="42452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spcBef>
                <a:spcPts val="204"/>
              </a:spcBef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800" dirty="0">
                <a:solidFill>
                  <a:srgbClr val="3366FF"/>
                </a:solidFill>
                <a:latin typeface="Calibri" charset="0"/>
                <a:ea typeface="Calibri" charset="0"/>
                <a:cs typeface="Calibri" charset="0"/>
              </a:rPr>
              <a:t>kill or exit</a:t>
            </a:r>
          </a:p>
        </p:txBody>
      </p:sp>
      <p:sp>
        <p:nvSpPr>
          <p:cNvPr id="39953" name="AutoShape 26"/>
          <p:cNvSpPr>
            <a:spLocks noChangeArrowheads="1"/>
          </p:cNvSpPr>
          <p:nvPr/>
        </p:nvSpPr>
        <p:spPr bwMode="auto">
          <a:xfrm>
            <a:off x="5958720" y="4698637"/>
            <a:ext cx="2059200" cy="787763"/>
          </a:xfrm>
          <a:prstGeom prst="roundRect">
            <a:avLst>
              <a:gd name="adj" fmla="val 181"/>
            </a:avLst>
          </a:prstGeom>
          <a:noFill/>
          <a:ln w="9525">
            <a:noFill/>
            <a:round/>
            <a:headEnd/>
            <a:tailEnd/>
          </a:ln>
        </p:spPr>
        <p:txBody>
          <a:bodyPr lIns="81639" tIns="42452" rIns="81639" bIns="42452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spcBef>
                <a:spcPts val="204"/>
              </a:spcBef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>
                <a:solidFill>
                  <a:srgbClr val="3366FF"/>
                </a:solidFill>
                <a:latin typeface="Calibri" charset="0"/>
                <a:ea typeface="Calibri" charset="0"/>
                <a:cs typeface="Calibri" charset="0"/>
              </a:rPr>
              <a:t>I/O, page fault, etc.</a:t>
            </a:r>
          </a:p>
        </p:txBody>
      </p:sp>
      <p:sp>
        <p:nvSpPr>
          <p:cNvPr id="39954" name="AutoShape 27"/>
          <p:cNvSpPr>
            <a:spLocks noChangeArrowheads="1"/>
          </p:cNvSpPr>
          <p:nvPr/>
        </p:nvSpPr>
        <p:spPr bwMode="auto">
          <a:xfrm>
            <a:off x="6131520" y="2663704"/>
            <a:ext cx="1569600" cy="338435"/>
          </a:xfrm>
          <a:prstGeom prst="roundRect">
            <a:avLst>
              <a:gd name="adj" fmla="val 426"/>
            </a:avLst>
          </a:prstGeom>
          <a:noFill/>
          <a:ln w="9525">
            <a:noFill/>
            <a:round/>
            <a:headEnd/>
            <a:tailEnd/>
          </a:ln>
        </p:spPr>
        <p:txBody>
          <a:bodyPr lIns="81639" tIns="42452" rIns="81639" bIns="42452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spcBef>
                <a:spcPts val="204"/>
              </a:spcBef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>
                <a:solidFill>
                  <a:srgbClr val="3366FF"/>
                </a:solidFill>
                <a:latin typeface="Calibri" charset="0"/>
                <a:ea typeface="Calibri" charset="0"/>
                <a:cs typeface="Calibri" charset="0"/>
              </a:rPr>
              <a:t>I/O done</a:t>
            </a:r>
          </a:p>
        </p:txBody>
      </p:sp>
      <p:sp>
        <p:nvSpPr>
          <p:cNvPr id="39955" name="AutoShape 28"/>
          <p:cNvSpPr>
            <a:spLocks noChangeArrowheads="1"/>
          </p:cNvSpPr>
          <p:nvPr/>
        </p:nvSpPr>
        <p:spPr bwMode="auto">
          <a:xfrm>
            <a:off x="4888800" y="3693412"/>
            <a:ext cx="1296000" cy="432045"/>
          </a:xfrm>
          <a:prstGeom prst="roundRect">
            <a:avLst>
              <a:gd name="adj" fmla="val 333"/>
            </a:avLst>
          </a:prstGeom>
          <a:noFill/>
          <a:ln w="9525">
            <a:noFill/>
            <a:round/>
            <a:headEnd/>
            <a:tailEnd/>
          </a:ln>
        </p:spPr>
        <p:txBody>
          <a:bodyPr lIns="81639" tIns="42452" rIns="81639" bIns="42452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spcBef>
                <a:spcPts val="204"/>
              </a:spcBef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>
                <a:solidFill>
                  <a:srgbClr val="3366FF"/>
                </a:solidFill>
                <a:latin typeface="Calibri" charset="0"/>
                <a:ea typeface="Calibri" charset="0"/>
                <a:cs typeface="Calibri" charset="0"/>
              </a:rPr>
              <a:t>schedule</a:t>
            </a:r>
          </a:p>
        </p:txBody>
      </p:sp>
      <p:sp>
        <p:nvSpPr>
          <p:cNvPr id="39956" name="AutoShape 29"/>
          <p:cNvSpPr>
            <a:spLocks noChangeArrowheads="1"/>
          </p:cNvSpPr>
          <p:nvPr/>
        </p:nvSpPr>
        <p:spPr bwMode="auto">
          <a:xfrm>
            <a:off x="2305440" y="3513393"/>
            <a:ext cx="1595520" cy="432045"/>
          </a:xfrm>
          <a:prstGeom prst="roundRect">
            <a:avLst>
              <a:gd name="adj" fmla="val 333"/>
            </a:avLst>
          </a:prstGeom>
          <a:noFill/>
          <a:ln w="9525">
            <a:noFill/>
            <a:round/>
            <a:headEnd/>
            <a:tailEnd/>
          </a:ln>
        </p:spPr>
        <p:txBody>
          <a:bodyPr lIns="81639" tIns="42452" rIns="81639" bIns="42452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spcBef>
                <a:spcPts val="204"/>
              </a:spcBef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2000" dirty="0" err="1">
                <a:solidFill>
                  <a:srgbClr val="3366FF"/>
                </a:solidFill>
                <a:latin typeface="Calibri" charset="0"/>
                <a:ea typeface="Calibri" charset="0"/>
                <a:cs typeface="Calibri" charset="0"/>
              </a:rPr>
              <a:t>unschedule</a:t>
            </a:r>
            <a:endParaRPr lang="en-GB" sz="2000" dirty="0">
              <a:solidFill>
                <a:srgbClr val="3366FF"/>
              </a:solidFill>
              <a:latin typeface="Calibri" charset="0"/>
              <a:ea typeface="Calibri" charset="0"/>
              <a:cs typeface="Calibri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Process Control Block</a:t>
            </a:r>
            <a:endParaRPr lang="en-GB" dirty="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OS maintains a Process Control Block (PCB) for each process</a:t>
            </a:r>
          </a:p>
          <a:p>
            <a:r>
              <a:rPr lang="en-GB" dirty="0"/>
              <a:t>The PCB is a big data structure with many fields:</a:t>
            </a:r>
          </a:p>
          <a:p>
            <a:pPr lvl="1"/>
            <a:r>
              <a:rPr lang="en-GB" dirty="0"/>
              <a:t>Process ID</a:t>
            </a:r>
          </a:p>
          <a:p>
            <a:pPr lvl="1"/>
            <a:r>
              <a:rPr lang="en-GB" dirty="0"/>
              <a:t>User ID</a:t>
            </a:r>
          </a:p>
          <a:p>
            <a:pPr lvl="1"/>
            <a:r>
              <a:rPr lang="en-GB" dirty="0"/>
              <a:t>Execution state</a:t>
            </a:r>
          </a:p>
          <a:p>
            <a:pPr lvl="2"/>
            <a:r>
              <a:rPr lang="en-GB" dirty="0"/>
              <a:t>ready, running, or waiting</a:t>
            </a:r>
          </a:p>
          <a:p>
            <a:pPr lvl="1"/>
            <a:r>
              <a:rPr lang="en-GB" dirty="0"/>
              <a:t>Saved CPU state </a:t>
            </a:r>
          </a:p>
          <a:p>
            <a:pPr lvl="2"/>
            <a:r>
              <a:rPr lang="en-GB" dirty="0"/>
              <a:t>CPU registers saved the last time the process was suspended.</a:t>
            </a:r>
          </a:p>
          <a:p>
            <a:pPr lvl="1"/>
            <a:r>
              <a:rPr lang="en-GB" dirty="0"/>
              <a:t>OS resources</a:t>
            </a:r>
          </a:p>
          <a:p>
            <a:pPr lvl="2"/>
            <a:r>
              <a:rPr lang="en-GB" dirty="0"/>
              <a:t>Open files, network sockets, etc.</a:t>
            </a:r>
          </a:p>
          <a:p>
            <a:pPr lvl="1"/>
            <a:r>
              <a:rPr lang="en-GB" dirty="0"/>
              <a:t>Memory management info</a:t>
            </a:r>
          </a:p>
          <a:p>
            <a:pPr lvl="1"/>
            <a:r>
              <a:rPr lang="en-GB" dirty="0"/>
              <a:t>Scheduling priority</a:t>
            </a:r>
          </a:p>
          <a:p>
            <a:pPr lvl="2"/>
            <a:r>
              <a:rPr lang="en-GB" dirty="0"/>
              <a:t>Give some processes higher priority than others</a:t>
            </a:r>
          </a:p>
          <a:p>
            <a:pPr lvl="1"/>
            <a:r>
              <a:rPr lang="en-GB" dirty="0"/>
              <a:t>Accounting information</a:t>
            </a:r>
          </a:p>
          <a:p>
            <a:pPr lvl="2"/>
            <a:r>
              <a:rPr lang="en-GB" dirty="0"/>
              <a:t>Total CPU time, memory usage,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439426"/>
            <a:ext cx="9117106" cy="6694140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task_struct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{/* these are hardcoded - don't touch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volatile long        state;          /* -1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unrunnable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, 0 runnable, &gt;0 stopped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long                 counter;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long                 priority;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long        signal;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long        blocked;   /* bitmap of masked signals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long        flags;     /* per process flags, defined below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errno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long          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debugreg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[8];    /* Hardware debugging registers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exec_domain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exec_domain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/* various fields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linux_binfmt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binfmt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task_struct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next_task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,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prev_task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task_struct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next_run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,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prev_run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long 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saved_kernel_stack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long 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kernel_stack_page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       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exit_code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exit_signal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/*</a:t>
            </a:r>
            <a:r>
              <a:rPr lang="is-IS" sz="1100" dirty="0">
                <a:solidFill>
                  <a:srgbClr val="000000"/>
                </a:solidFill>
                <a:latin typeface="Courier New"/>
                <a:cs typeface="Courier New"/>
              </a:rPr>
              <a:t>…................ */</a:t>
            </a:r>
          </a:p>
          <a:p>
            <a:r>
              <a:rPr lang="hu-HU" sz="1100" dirty="0">
                <a:solidFill>
                  <a:srgbClr val="000000"/>
                </a:solidFill>
                <a:latin typeface="Courier New"/>
                <a:cs typeface="Courier New"/>
              </a:rPr>
              <a:t> int                  pid;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wait_queue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wait_chldexit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short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uid,euid,suid,fsuid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short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gid,egid,sgid,fsgid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unsigned long        timeout, policy,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rt_priority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/* file system info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             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link_count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tty_struct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tty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         /* NULL if no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tty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*/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/*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ipc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stuff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sem_undo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semundo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sem_queue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semsleeping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;/*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ldt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for this task - used by Wine.  If NULL,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default_ldt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is used */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/*</a:t>
            </a:r>
            <a:r>
              <a:rPr lang="is-IS" sz="1100" dirty="0">
                <a:solidFill>
                  <a:srgbClr val="000000"/>
                </a:solidFill>
                <a:latin typeface="Courier New"/>
                <a:cs typeface="Courier New"/>
              </a:rPr>
              <a:t>…................ */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desc_struct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*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ldt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;/*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tss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for this task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thread_struct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tss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;/*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filesystem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information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fs_struct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 *fs;/* open file information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files_struct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*files;/* memory management info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mm_struct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    *mm;/* signal handlers */  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100" dirty="0" err="1">
                <a:solidFill>
                  <a:srgbClr val="000000"/>
                </a:solidFill>
                <a:latin typeface="Courier New"/>
                <a:cs typeface="Courier New"/>
              </a:rPr>
              <a:t>signal_struct</a:t>
            </a:r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 *sig;</a:t>
            </a:r>
          </a:p>
          <a:p>
            <a:r>
              <a:rPr lang="en-US" sz="1100" dirty="0">
                <a:solidFill>
                  <a:srgbClr val="000000"/>
                </a:solidFill>
                <a:latin typeface="Courier New"/>
                <a:cs typeface="Courier New"/>
              </a:rPr>
              <a:t>/*</a:t>
            </a:r>
            <a:r>
              <a:rPr lang="is-IS" sz="1100" dirty="0">
                <a:solidFill>
                  <a:srgbClr val="000000"/>
                </a:solidFill>
                <a:latin typeface="Courier New"/>
                <a:cs typeface="Courier New"/>
              </a:rPr>
              <a:t>…................ */</a:t>
            </a:r>
            <a:endParaRPr lang="en-US" sz="11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is-IS" sz="11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486400" y="2209800"/>
            <a:ext cx="3200400" cy="2981325"/>
          </a:xfrm>
        </p:spPr>
        <p:txBody>
          <a:bodyPr/>
          <a:lstStyle/>
          <a:p>
            <a:r>
              <a:rPr lang="en-US" b="0" dirty="0"/>
              <a:t>PCB in Linux</a:t>
            </a:r>
          </a:p>
          <a:p>
            <a:r>
              <a:rPr lang="en-US" b="0" dirty="0"/>
              <a:t>Each </a:t>
            </a:r>
            <a:r>
              <a:rPr lang="en-US" dirty="0" err="1"/>
              <a:t>task_struct</a:t>
            </a:r>
            <a:r>
              <a:rPr lang="en-US" b="0" dirty="0"/>
              <a:t> data structure describes a process or task in the system.</a:t>
            </a:r>
          </a:p>
          <a:p>
            <a:pPr marL="0" indent="0">
              <a:buNone/>
            </a:pPr>
            <a:br>
              <a:rPr lang="en-US" dirty="0"/>
            </a:b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7710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/>
          <p:cNvSpPr/>
          <p:nvPr/>
        </p:nvSpPr>
        <p:spPr bwMode="auto">
          <a:xfrm>
            <a:off x="2120444" y="5485260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6" name="Rectangle 35"/>
          <p:cNvSpPr/>
          <p:nvPr/>
        </p:nvSpPr>
        <p:spPr bwMode="auto">
          <a:xfrm>
            <a:off x="2120444" y="5059810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7" name="Rectangle 36"/>
          <p:cNvSpPr/>
          <p:nvPr/>
        </p:nvSpPr>
        <p:spPr bwMode="auto">
          <a:xfrm>
            <a:off x="2120444" y="5910710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2120444" y="4628466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2120444" y="4203016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0088" y="387578"/>
            <a:ext cx="5842000" cy="573088"/>
          </a:xfrm>
        </p:spPr>
        <p:txBody>
          <a:bodyPr/>
          <a:lstStyle/>
          <a:p>
            <a:r>
              <a:rPr lang="en-US"/>
              <a:t>Context Switching</a:t>
            </a:r>
          </a:p>
        </p:txBody>
      </p:sp>
      <p:sp>
        <p:nvSpPr>
          <p:cNvPr id="487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04900"/>
            <a:ext cx="8294687" cy="2552700"/>
          </a:xfrm>
        </p:spPr>
        <p:txBody>
          <a:bodyPr/>
          <a:lstStyle/>
          <a:p>
            <a:r>
              <a:rPr lang="en-US" dirty="0"/>
              <a:t>Processes are managed by a shared chunk of OS code </a:t>
            </a:r>
            <a:br>
              <a:rPr lang="en-US" dirty="0"/>
            </a:br>
            <a:r>
              <a:rPr lang="en-US" dirty="0"/>
              <a:t>called the </a:t>
            </a:r>
            <a:r>
              <a:rPr lang="en-US" i="1" dirty="0">
                <a:solidFill>
                  <a:srgbClr val="C00000"/>
                </a:solidFill>
              </a:rPr>
              <a:t>kernel</a:t>
            </a:r>
          </a:p>
          <a:p>
            <a:pPr lvl="1"/>
            <a:r>
              <a:rPr lang="en-US" dirty="0"/>
              <a:t>Important: the kernel is not a separate process, but rather runs as part of some user process</a:t>
            </a:r>
          </a:p>
          <a:p>
            <a:r>
              <a:rPr lang="en-US" dirty="0"/>
              <a:t>Control flow passes from one process to another via a </a:t>
            </a:r>
            <a:r>
              <a:rPr lang="en-US" i="1" dirty="0">
                <a:solidFill>
                  <a:srgbClr val="C00000"/>
                </a:solidFill>
              </a:rPr>
              <a:t>context switch</a:t>
            </a:r>
            <a:endParaRPr lang="en-US" dirty="0">
              <a:solidFill>
                <a:srgbClr val="C00000"/>
              </a:solidFill>
            </a:endParaRPr>
          </a:p>
          <a:p>
            <a:pPr lvl="1"/>
            <a:endParaRPr lang="en-US" dirty="0"/>
          </a:p>
        </p:txBody>
      </p:sp>
      <p:sp>
        <p:nvSpPr>
          <p:cNvPr id="487428" name="Text Box 4"/>
          <p:cNvSpPr txBox="1">
            <a:spLocks noChangeArrowheads="1"/>
          </p:cNvSpPr>
          <p:nvPr/>
        </p:nvSpPr>
        <p:spPr bwMode="auto">
          <a:xfrm>
            <a:off x="2342466" y="3581400"/>
            <a:ext cx="109716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487429" name="Text Box 5"/>
          <p:cNvSpPr txBox="1">
            <a:spLocks noChangeArrowheads="1"/>
          </p:cNvSpPr>
          <p:nvPr/>
        </p:nvSpPr>
        <p:spPr bwMode="auto">
          <a:xfrm>
            <a:off x="3865458" y="3581400"/>
            <a:ext cx="108754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487430" name="Line 6"/>
          <p:cNvSpPr>
            <a:spLocks noChangeShapeType="1"/>
          </p:cNvSpPr>
          <p:nvPr/>
        </p:nvSpPr>
        <p:spPr bwMode="auto">
          <a:xfrm flipH="1">
            <a:off x="2895600" y="4206200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7435" name="Line 11"/>
          <p:cNvSpPr>
            <a:spLocks noChangeShapeType="1"/>
          </p:cNvSpPr>
          <p:nvPr/>
        </p:nvSpPr>
        <p:spPr bwMode="auto">
          <a:xfrm flipH="1">
            <a:off x="3721100" y="3581400"/>
            <a:ext cx="12700" cy="312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7436" name="Text Box 12"/>
          <p:cNvSpPr txBox="1">
            <a:spLocks noChangeArrowheads="1"/>
          </p:cNvSpPr>
          <p:nvPr/>
        </p:nvSpPr>
        <p:spPr bwMode="auto">
          <a:xfrm>
            <a:off x="5422900" y="4267200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487437" name="Text Box 13"/>
          <p:cNvSpPr txBox="1">
            <a:spLocks noChangeArrowheads="1"/>
          </p:cNvSpPr>
          <p:nvPr/>
        </p:nvSpPr>
        <p:spPr bwMode="auto">
          <a:xfrm>
            <a:off x="5422900" y="4681538"/>
            <a:ext cx="117185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kernel code</a:t>
            </a:r>
          </a:p>
        </p:txBody>
      </p:sp>
      <p:sp>
        <p:nvSpPr>
          <p:cNvPr id="487438" name="Text Box 14"/>
          <p:cNvSpPr txBox="1">
            <a:spLocks noChangeArrowheads="1"/>
          </p:cNvSpPr>
          <p:nvPr/>
        </p:nvSpPr>
        <p:spPr bwMode="auto">
          <a:xfrm>
            <a:off x="5422900" y="5094288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487439" name="Text Box 15"/>
          <p:cNvSpPr txBox="1">
            <a:spLocks noChangeArrowheads="1"/>
          </p:cNvSpPr>
          <p:nvPr/>
        </p:nvSpPr>
        <p:spPr bwMode="auto">
          <a:xfrm>
            <a:off x="5405438" y="5530850"/>
            <a:ext cx="117185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kernel code</a:t>
            </a:r>
          </a:p>
        </p:txBody>
      </p:sp>
      <p:sp>
        <p:nvSpPr>
          <p:cNvPr id="487440" name="Text Box 16"/>
          <p:cNvSpPr txBox="1">
            <a:spLocks noChangeArrowheads="1"/>
          </p:cNvSpPr>
          <p:nvPr/>
        </p:nvSpPr>
        <p:spPr bwMode="auto">
          <a:xfrm>
            <a:off x="5422900" y="5988050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487449" name="Text Box 25"/>
          <p:cNvSpPr txBox="1">
            <a:spLocks noChangeArrowheads="1"/>
          </p:cNvSpPr>
          <p:nvPr/>
        </p:nvSpPr>
        <p:spPr bwMode="auto">
          <a:xfrm>
            <a:off x="-701675" y="3117850"/>
            <a:ext cx="18415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487450" name="Text Box 26"/>
          <p:cNvSpPr txBox="1">
            <a:spLocks noChangeArrowheads="1"/>
          </p:cNvSpPr>
          <p:nvPr/>
        </p:nvSpPr>
        <p:spPr bwMode="auto">
          <a:xfrm>
            <a:off x="-914400" y="2743200"/>
            <a:ext cx="914400" cy="33655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l">
              <a:lnSpc>
                <a:spcPct val="100000"/>
              </a:lnSpc>
              <a:spcBef>
                <a:spcPct val="50000"/>
              </a:spcBef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487451" name="AutoShape 27"/>
          <p:cNvSpPr>
            <a:spLocks/>
          </p:cNvSpPr>
          <p:nvPr/>
        </p:nvSpPr>
        <p:spPr bwMode="auto">
          <a:xfrm>
            <a:off x="6858000" y="4627343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487452" name="Text Box 28"/>
          <p:cNvSpPr txBox="1">
            <a:spLocks noChangeArrowheads="1"/>
          </p:cNvSpPr>
          <p:nvPr/>
        </p:nvSpPr>
        <p:spPr bwMode="auto">
          <a:xfrm>
            <a:off x="6937375" y="4648566"/>
            <a:ext cx="1403654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context switch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487453" name="AutoShape 29"/>
          <p:cNvSpPr>
            <a:spLocks/>
          </p:cNvSpPr>
          <p:nvPr/>
        </p:nvSpPr>
        <p:spPr bwMode="auto">
          <a:xfrm>
            <a:off x="6858000" y="5496837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487454" name="Text Box 30"/>
          <p:cNvSpPr txBox="1">
            <a:spLocks noChangeArrowheads="1"/>
          </p:cNvSpPr>
          <p:nvPr/>
        </p:nvSpPr>
        <p:spPr bwMode="auto">
          <a:xfrm>
            <a:off x="6937375" y="5518060"/>
            <a:ext cx="1403654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context switch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31" name="Text Box 5"/>
          <p:cNvSpPr txBox="1">
            <a:spLocks noChangeArrowheads="1"/>
          </p:cNvSpPr>
          <p:nvPr/>
        </p:nvSpPr>
        <p:spPr bwMode="auto">
          <a:xfrm>
            <a:off x="533400" y="4953000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32" name="Down Arrow 31"/>
          <p:cNvSpPr/>
          <p:nvPr/>
        </p:nvSpPr>
        <p:spPr bwMode="auto">
          <a:xfrm>
            <a:off x="1295400" y="4152900"/>
            <a:ext cx="457200" cy="2400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H="1">
            <a:off x="2889250" y="5903976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39" name="Line 6"/>
          <p:cNvSpPr>
            <a:spLocks noChangeShapeType="1"/>
          </p:cNvSpPr>
          <p:nvPr/>
        </p:nvSpPr>
        <p:spPr bwMode="auto">
          <a:xfrm flipH="1">
            <a:off x="4489450" y="5065776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41" name="Straight Arrow Connector 40"/>
          <p:cNvCxnSpPr>
            <a:stCxn id="487430" idx="1"/>
            <a:endCxn id="39" idx="0"/>
          </p:cNvCxnSpPr>
          <p:nvPr/>
        </p:nvCxnSpPr>
        <p:spPr bwMode="auto">
          <a:xfrm rot="16200000" flipH="1">
            <a:off x="3476224" y="4046200"/>
            <a:ext cx="438952" cy="160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43" name="Straight Arrow Connector 42"/>
          <p:cNvCxnSpPr>
            <a:stCxn id="39" idx="1"/>
            <a:endCxn id="38" idx="0"/>
          </p:cNvCxnSpPr>
          <p:nvPr/>
        </p:nvCxnSpPr>
        <p:spPr bwMode="auto">
          <a:xfrm rot="16200000" flipH="1" flipV="1">
            <a:off x="3483737" y="4898263"/>
            <a:ext cx="417576" cy="15938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Context Switching in Linux</a:t>
            </a:r>
            <a:endParaRPr lang="en-GB" dirty="0"/>
          </a:p>
        </p:txBody>
      </p:sp>
      <p:pic>
        <p:nvPicPr>
          <p:cNvPr id="5427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601" y="1425207"/>
            <a:ext cx="745920" cy="6595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4276" name="AutoShape 3"/>
          <p:cNvSpPr>
            <a:spLocks noChangeArrowheads="1"/>
          </p:cNvSpPr>
          <p:nvPr/>
        </p:nvSpPr>
        <p:spPr bwMode="auto">
          <a:xfrm>
            <a:off x="1408320" y="1501534"/>
            <a:ext cx="169920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Process A</a:t>
            </a:r>
          </a:p>
        </p:txBody>
      </p:sp>
      <p:sp>
        <p:nvSpPr>
          <p:cNvPr id="54277" name="Line 4"/>
          <p:cNvSpPr>
            <a:spLocks noChangeShapeType="1"/>
          </p:cNvSpPr>
          <p:nvPr/>
        </p:nvSpPr>
        <p:spPr bwMode="auto">
          <a:xfrm>
            <a:off x="427681" y="6016408"/>
            <a:ext cx="8019360" cy="144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4278" name="Text Box 5"/>
          <p:cNvSpPr txBox="1">
            <a:spLocks noChangeArrowheads="1"/>
          </p:cNvSpPr>
          <p:nvPr/>
        </p:nvSpPr>
        <p:spPr bwMode="auto">
          <a:xfrm>
            <a:off x="534240" y="6084095"/>
            <a:ext cx="426240" cy="2405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time</a:t>
            </a:r>
          </a:p>
        </p:txBody>
      </p:sp>
      <p:sp>
        <p:nvSpPr>
          <p:cNvPr id="54279" name="Text Box 6"/>
          <p:cNvSpPr txBox="1">
            <a:spLocks noChangeArrowheads="1"/>
          </p:cNvSpPr>
          <p:nvPr/>
        </p:nvSpPr>
        <p:spPr bwMode="auto">
          <a:xfrm>
            <a:off x="3214080" y="1511616"/>
            <a:ext cx="2010240" cy="204501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Process A is happily running along...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Context Switching in Linux</a:t>
            </a:r>
            <a:endParaRPr lang="en-GB" dirty="0"/>
          </a:p>
        </p:txBody>
      </p:sp>
      <p:pic>
        <p:nvPicPr>
          <p:cNvPr id="5632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601" y="1425207"/>
            <a:ext cx="745920" cy="6595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6324" name="AutoShape 3"/>
          <p:cNvSpPr>
            <a:spLocks noChangeArrowheads="1"/>
          </p:cNvSpPr>
          <p:nvPr/>
        </p:nvSpPr>
        <p:spPr bwMode="auto">
          <a:xfrm>
            <a:off x="1408320" y="1501534"/>
            <a:ext cx="169920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Process A</a:t>
            </a:r>
          </a:p>
        </p:txBody>
      </p:sp>
      <p:sp>
        <p:nvSpPr>
          <p:cNvPr id="56325" name="Line 4"/>
          <p:cNvSpPr>
            <a:spLocks noChangeShapeType="1"/>
          </p:cNvSpPr>
          <p:nvPr/>
        </p:nvSpPr>
        <p:spPr bwMode="auto">
          <a:xfrm>
            <a:off x="427681" y="6016408"/>
            <a:ext cx="8019360" cy="144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6326" name="Text Box 5"/>
          <p:cNvSpPr txBox="1">
            <a:spLocks noChangeArrowheads="1"/>
          </p:cNvSpPr>
          <p:nvPr/>
        </p:nvSpPr>
        <p:spPr bwMode="auto">
          <a:xfrm>
            <a:off x="534240" y="6084095"/>
            <a:ext cx="426240" cy="2405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time</a:t>
            </a:r>
          </a:p>
        </p:txBody>
      </p:sp>
      <p:pic>
        <p:nvPicPr>
          <p:cNvPr id="56327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1521" y="2080476"/>
            <a:ext cx="676800" cy="699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3106080" y="1986865"/>
            <a:ext cx="1221120" cy="2415134"/>
            <a:chOff x="2157" y="1058"/>
            <a:chExt cx="848" cy="1677"/>
          </a:xfrm>
        </p:grpSpPr>
        <p:sp>
          <p:nvSpPr>
            <p:cNvPr id="56335" name="AutoShape 8"/>
            <p:cNvSpPr>
              <a:spLocks noChangeArrowheads="1"/>
            </p:cNvSpPr>
            <p:nvPr/>
          </p:nvSpPr>
          <p:spPr bwMode="auto">
            <a:xfrm>
              <a:off x="2158" y="2392"/>
              <a:ext cx="848" cy="344"/>
            </a:xfrm>
            <a:prstGeom prst="roundRect">
              <a:avLst>
                <a:gd name="adj" fmla="val 287"/>
              </a:avLst>
            </a:prstGeom>
            <a:solidFill>
              <a:srgbClr val="F6F2F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Timer interrupt 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handler</a:t>
              </a:r>
            </a:p>
          </p:txBody>
        </p:sp>
        <p:sp>
          <p:nvSpPr>
            <p:cNvPr id="56336" name="Line 9"/>
            <p:cNvSpPr>
              <a:spLocks noChangeShapeType="1"/>
            </p:cNvSpPr>
            <p:nvPr/>
          </p:nvSpPr>
          <p:spPr bwMode="auto">
            <a:xfrm>
              <a:off x="2157" y="1058"/>
              <a:ext cx="1" cy="1341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sp>
        <p:nvSpPr>
          <p:cNvPr id="56329" name="Text Box 10"/>
          <p:cNvSpPr txBox="1">
            <a:spLocks noChangeArrowheads="1"/>
          </p:cNvSpPr>
          <p:nvPr/>
        </p:nvSpPr>
        <p:spPr bwMode="auto">
          <a:xfrm>
            <a:off x="1349281" y="2861037"/>
            <a:ext cx="1285920" cy="18289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1) Timer interrupt fires</a:t>
            </a:r>
          </a:p>
        </p:txBody>
      </p:sp>
      <p:sp>
        <p:nvSpPr>
          <p:cNvPr id="56330" name="Text Box 11"/>
          <p:cNvSpPr txBox="1">
            <a:spLocks noChangeArrowheads="1"/>
          </p:cNvSpPr>
          <p:nvPr/>
        </p:nvSpPr>
        <p:spPr bwMode="auto">
          <a:xfrm>
            <a:off x="1388160" y="3288762"/>
            <a:ext cx="1170720" cy="18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2) PC saved on stack</a:t>
            </a:r>
          </a:p>
        </p:txBody>
      </p:sp>
      <p:grpSp>
        <p:nvGrpSpPr>
          <p:cNvPr id="3" name="Group 12"/>
          <p:cNvGrpSpPr>
            <a:grpSpLocks/>
          </p:cNvGrpSpPr>
          <p:nvPr/>
        </p:nvGrpSpPr>
        <p:grpSpPr bwMode="auto">
          <a:xfrm>
            <a:off x="427681" y="3356449"/>
            <a:ext cx="8297280" cy="673991"/>
            <a:chOff x="297" y="2009"/>
            <a:chExt cx="5762" cy="468"/>
          </a:xfrm>
        </p:grpSpPr>
        <p:sp>
          <p:nvSpPr>
            <p:cNvPr id="56332" name="Line 13"/>
            <p:cNvSpPr>
              <a:spLocks noChangeShapeType="1"/>
            </p:cNvSpPr>
            <p:nvPr/>
          </p:nvSpPr>
          <p:spPr bwMode="auto">
            <a:xfrm>
              <a:off x="330" y="2231"/>
              <a:ext cx="5730" cy="1"/>
            </a:xfrm>
            <a:prstGeom prst="line">
              <a:avLst/>
            </a:prstGeom>
            <a:noFill/>
            <a:ln w="18360">
              <a:solidFill>
                <a:srgbClr val="FF0000"/>
              </a:solidFill>
              <a:prstDash val="sysDot"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56333" name="Text Box 14"/>
            <p:cNvSpPr txBox="1">
              <a:spLocks noChangeArrowheads="1"/>
            </p:cNvSpPr>
            <p:nvPr/>
          </p:nvSpPr>
          <p:spPr bwMode="auto">
            <a:xfrm>
              <a:off x="297" y="2009"/>
              <a:ext cx="344" cy="16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FF0000"/>
                  </a:solidFill>
                  <a:latin typeface="Calibri" charset="0"/>
                  <a:ea typeface="Calibri" charset="0"/>
                  <a:cs typeface="Calibri" charset="0"/>
                </a:rPr>
                <a:t>User</a:t>
              </a:r>
            </a:p>
          </p:txBody>
        </p:sp>
        <p:sp>
          <p:nvSpPr>
            <p:cNvPr id="56334" name="Text Box 15"/>
            <p:cNvSpPr txBox="1">
              <a:spLocks noChangeArrowheads="1"/>
            </p:cNvSpPr>
            <p:nvPr/>
          </p:nvSpPr>
          <p:spPr bwMode="auto">
            <a:xfrm>
              <a:off x="297" y="2312"/>
              <a:ext cx="499" cy="16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FF0000"/>
                  </a:solidFill>
                  <a:latin typeface="Calibri" charset="0"/>
                  <a:ea typeface="Calibri" charset="0"/>
                  <a:cs typeface="Calibri" charset="0"/>
                </a:rPr>
                <a:t>Kernel</a:t>
              </a:r>
            </a:p>
          </p:txBody>
        </p:sp>
      </p:grp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Context Switching in Linux</a:t>
            </a:r>
            <a:endParaRPr lang="en-GB" dirty="0"/>
          </a:p>
        </p:txBody>
      </p:sp>
      <p:pic>
        <p:nvPicPr>
          <p:cNvPr id="58371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601" y="1425207"/>
            <a:ext cx="745920" cy="6595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8372" name="AutoShape 3"/>
          <p:cNvSpPr>
            <a:spLocks noChangeArrowheads="1"/>
          </p:cNvSpPr>
          <p:nvPr/>
        </p:nvSpPr>
        <p:spPr bwMode="auto">
          <a:xfrm>
            <a:off x="1408320" y="1501534"/>
            <a:ext cx="169920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Process A</a:t>
            </a:r>
          </a:p>
        </p:txBody>
      </p:sp>
      <p:sp>
        <p:nvSpPr>
          <p:cNvPr id="58373" name="AutoShape 4"/>
          <p:cNvSpPr>
            <a:spLocks noChangeArrowheads="1"/>
          </p:cNvSpPr>
          <p:nvPr/>
        </p:nvSpPr>
        <p:spPr bwMode="auto">
          <a:xfrm>
            <a:off x="3107520" y="3909467"/>
            <a:ext cx="122256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Timer interrupt </a:t>
            </a:r>
          </a:p>
          <a:p>
            <a:pPr algn="ctr"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handler</a:t>
            </a:r>
          </a:p>
        </p:txBody>
      </p:sp>
      <p:sp>
        <p:nvSpPr>
          <p:cNvPr id="58374" name="Line 5"/>
          <p:cNvSpPr>
            <a:spLocks noChangeShapeType="1"/>
          </p:cNvSpPr>
          <p:nvPr/>
        </p:nvSpPr>
        <p:spPr bwMode="auto">
          <a:xfrm>
            <a:off x="427681" y="6016408"/>
            <a:ext cx="8019360" cy="144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8375" name="Text Box 6"/>
          <p:cNvSpPr txBox="1">
            <a:spLocks noChangeArrowheads="1"/>
          </p:cNvSpPr>
          <p:nvPr/>
        </p:nvSpPr>
        <p:spPr bwMode="auto">
          <a:xfrm>
            <a:off x="534240" y="6084095"/>
            <a:ext cx="426240" cy="2405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time</a:t>
            </a:r>
          </a:p>
        </p:txBody>
      </p:sp>
      <p:pic>
        <p:nvPicPr>
          <p:cNvPr id="58376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1521" y="2080476"/>
            <a:ext cx="676800" cy="699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58377" name="Line 8"/>
          <p:cNvSpPr>
            <a:spLocks noChangeShapeType="1"/>
          </p:cNvSpPr>
          <p:nvPr/>
        </p:nvSpPr>
        <p:spPr bwMode="auto">
          <a:xfrm>
            <a:off x="3106081" y="1986865"/>
            <a:ext cx="1440" cy="193268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58378" name="Text Box 9"/>
          <p:cNvSpPr txBox="1">
            <a:spLocks noChangeArrowheads="1"/>
          </p:cNvSpPr>
          <p:nvPr/>
        </p:nvSpPr>
        <p:spPr bwMode="auto">
          <a:xfrm>
            <a:off x="1349281" y="2861038"/>
            <a:ext cx="1285920" cy="5486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1) Timer interrupt fires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1300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2) PC saved on stack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2350080" y="4394798"/>
            <a:ext cx="3180960" cy="987944"/>
            <a:chOff x="1632" y="2730"/>
            <a:chExt cx="2209" cy="686"/>
          </a:xfrm>
        </p:grpSpPr>
        <p:sp>
          <p:nvSpPr>
            <p:cNvPr id="58385" name="AutoShape 11"/>
            <p:cNvSpPr>
              <a:spLocks noChangeArrowheads="1"/>
            </p:cNvSpPr>
            <p:nvPr/>
          </p:nvSpPr>
          <p:spPr bwMode="auto">
            <a:xfrm>
              <a:off x="2993" y="3073"/>
              <a:ext cx="849" cy="344"/>
            </a:xfrm>
            <a:prstGeom prst="roundRect">
              <a:avLst>
                <a:gd name="adj" fmla="val 287"/>
              </a:avLst>
            </a:prstGeom>
            <a:solidFill>
              <a:srgbClr val="F6F2F2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Scheduler</a:t>
              </a:r>
            </a:p>
          </p:txBody>
        </p:sp>
        <p:sp>
          <p:nvSpPr>
            <p:cNvPr id="58386" name="Line 12"/>
            <p:cNvSpPr>
              <a:spLocks noChangeShapeType="1"/>
            </p:cNvSpPr>
            <p:nvPr/>
          </p:nvSpPr>
          <p:spPr bwMode="auto">
            <a:xfrm>
              <a:off x="3007" y="2730"/>
              <a:ext cx="1" cy="337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58387" name="Text Box 13"/>
            <p:cNvSpPr txBox="1">
              <a:spLocks noChangeArrowheads="1"/>
            </p:cNvSpPr>
            <p:nvPr/>
          </p:nvSpPr>
          <p:spPr bwMode="auto">
            <a:xfrm>
              <a:off x="1632" y="2846"/>
              <a:ext cx="1002" cy="127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4) Call  schedule() routine</a:t>
              </a:r>
            </a:p>
          </p:txBody>
        </p:sp>
      </p:grpSp>
      <p:sp>
        <p:nvSpPr>
          <p:cNvPr id="58380" name="Text Box 14"/>
          <p:cNvSpPr txBox="1">
            <a:spLocks noChangeArrowheads="1"/>
          </p:cNvSpPr>
          <p:nvPr/>
        </p:nvSpPr>
        <p:spPr bwMode="auto">
          <a:xfrm>
            <a:off x="1533600" y="3958432"/>
            <a:ext cx="1203840" cy="42628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3) Rest of CPU state</a:t>
            </a:r>
            <a:b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saved in PCB</a:t>
            </a:r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427681" y="3356449"/>
            <a:ext cx="8297280" cy="673991"/>
            <a:chOff x="297" y="2009"/>
            <a:chExt cx="5762" cy="468"/>
          </a:xfrm>
        </p:grpSpPr>
        <p:sp>
          <p:nvSpPr>
            <p:cNvPr id="58382" name="Line 16"/>
            <p:cNvSpPr>
              <a:spLocks noChangeShapeType="1"/>
            </p:cNvSpPr>
            <p:nvPr/>
          </p:nvSpPr>
          <p:spPr bwMode="auto">
            <a:xfrm>
              <a:off x="330" y="2231"/>
              <a:ext cx="5730" cy="1"/>
            </a:xfrm>
            <a:prstGeom prst="line">
              <a:avLst/>
            </a:prstGeom>
            <a:noFill/>
            <a:ln w="18360">
              <a:solidFill>
                <a:srgbClr val="FF0000"/>
              </a:solidFill>
              <a:prstDash val="sysDot"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58383" name="Text Box 17"/>
            <p:cNvSpPr txBox="1">
              <a:spLocks noChangeArrowheads="1"/>
            </p:cNvSpPr>
            <p:nvPr/>
          </p:nvSpPr>
          <p:spPr bwMode="auto">
            <a:xfrm>
              <a:off x="297" y="2009"/>
              <a:ext cx="344" cy="16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FF0000"/>
                  </a:solidFill>
                  <a:latin typeface="Calibri" charset="0"/>
                  <a:ea typeface="Calibri" charset="0"/>
                  <a:cs typeface="Calibri" charset="0"/>
                </a:rPr>
                <a:t>User</a:t>
              </a:r>
            </a:p>
          </p:txBody>
        </p:sp>
        <p:sp>
          <p:nvSpPr>
            <p:cNvPr id="58384" name="Text Box 18"/>
            <p:cNvSpPr txBox="1">
              <a:spLocks noChangeArrowheads="1"/>
            </p:cNvSpPr>
            <p:nvPr/>
          </p:nvSpPr>
          <p:spPr bwMode="auto">
            <a:xfrm>
              <a:off x="297" y="2312"/>
              <a:ext cx="499" cy="16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FF0000"/>
                  </a:solidFill>
                  <a:latin typeface="Calibri" charset="0"/>
                  <a:ea typeface="Calibri" charset="0"/>
                  <a:cs typeface="Calibri" charset="0"/>
                </a:rPr>
                <a:t>Kernel</a:t>
              </a:r>
            </a:p>
          </p:txBody>
        </p:sp>
      </p:grp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Context Switching in Linux</a:t>
            </a:r>
            <a:endParaRPr lang="en-GB" dirty="0"/>
          </a:p>
        </p:txBody>
      </p:sp>
      <p:pic>
        <p:nvPicPr>
          <p:cNvPr id="6041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5601" y="1425207"/>
            <a:ext cx="745920" cy="659589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0420" name="AutoShape 3"/>
          <p:cNvSpPr>
            <a:spLocks noChangeArrowheads="1"/>
          </p:cNvSpPr>
          <p:nvPr/>
        </p:nvSpPr>
        <p:spPr bwMode="auto">
          <a:xfrm>
            <a:off x="1408320" y="1501534"/>
            <a:ext cx="169920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Process A</a:t>
            </a:r>
          </a:p>
        </p:txBody>
      </p:sp>
      <p:sp>
        <p:nvSpPr>
          <p:cNvPr id="60421" name="AutoShape 4"/>
          <p:cNvSpPr>
            <a:spLocks noChangeArrowheads="1"/>
          </p:cNvSpPr>
          <p:nvPr/>
        </p:nvSpPr>
        <p:spPr bwMode="auto">
          <a:xfrm>
            <a:off x="3107520" y="3909467"/>
            <a:ext cx="122256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Timer interrupt </a:t>
            </a:r>
          </a:p>
          <a:p>
            <a:pPr algn="ctr"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handler</a:t>
            </a:r>
          </a:p>
        </p:txBody>
      </p:sp>
      <p:sp>
        <p:nvSpPr>
          <p:cNvPr id="60422" name="Line 5"/>
          <p:cNvSpPr>
            <a:spLocks noChangeShapeType="1"/>
          </p:cNvSpPr>
          <p:nvPr/>
        </p:nvSpPr>
        <p:spPr bwMode="auto">
          <a:xfrm>
            <a:off x="427681" y="6016408"/>
            <a:ext cx="8019360" cy="144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0423" name="Text Box 6"/>
          <p:cNvSpPr txBox="1">
            <a:spLocks noChangeArrowheads="1"/>
          </p:cNvSpPr>
          <p:nvPr/>
        </p:nvSpPr>
        <p:spPr bwMode="auto">
          <a:xfrm>
            <a:off x="534240" y="6084095"/>
            <a:ext cx="426240" cy="24050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time</a:t>
            </a:r>
          </a:p>
        </p:txBody>
      </p:sp>
      <p:pic>
        <p:nvPicPr>
          <p:cNvPr id="60424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1521" y="2080476"/>
            <a:ext cx="676800" cy="6999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60425" name="Line 8"/>
          <p:cNvSpPr>
            <a:spLocks noChangeShapeType="1"/>
          </p:cNvSpPr>
          <p:nvPr/>
        </p:nvSpPr>
        <p:spPr bwMode="auto">
          <a:xfrm>
            <a:off x="3106081" y="1986865"/>
            <a:ext cx="1440" cy="1932683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0426" name="Text Box 9"/>
          <p:cNvSpPr txBox="1">
            <a:spLocks noChangeArrowheads="1"/>
          </p:cNvSpPr>
          <p:nvPr/>
        </p:nvSpPr>
        <p:spPr bwMode="auto">
          <a:xfrm>
            <a:off x="1349281" y="2861038"/>
            <a:ext cx="1285920" cy="548697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1) Timer interrupt fires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endParaRPr lang="en-GB" sz="1300" dirty="0">
              <a:solidFill>
                <a:srgbClr val="000000"/>
              </a:solidFill>
              <a:latin typeface="Calibri" charset="0"/>
              <a:ea typeface="Calibri" charset="0"/>
              <a:cs typeface="Calibri" charset="0"/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2) PC saved on stack</a:t>
            </a:r>
          </a:p>
        </p:txBody>
      </p:sp>
      <p:sp>
        <p:nvSpPr>
          <p:cNvPr id="60427" name="AutoShape 10"/>
          <p:cNvSpPr>
            <a:spLocks noChangeArrowheads="1"/>
          </p:cNvSpPr>
          <p:nvPr/>
        </p:nvSpPr>
        <p:spPr bwMode="auto">
          <a:xfrm>
            <a:off x="4309921" y="4890210"/>
            <a:ext cx="1222560" cy="495412"/>
          </a:xfrm>
          <a:prstGeom prst="roundRect">
            <a:avLst>
              <a:gd name="adj" fmla="val 287"/>
            </a:avLst>
          </a:prstGeom>
          <a:solidFill>
            <a:srgbClr val="F6F2F2"/>
          </a:solidFill>
          <a:ln w="9360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 anchorCtr="1">
            <a:prstTxWarp prst="textNoShape">
              <a:avLst/>
            </a:prstTxWarp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Scheduler</a:t>
            </a:r>
          </a:p>
        </p:txBody>
      </p:sp>
      <p:sp>
        <p:nvSpPr>
          <p:cNvPr id="60428" name="Line 11"/>
          <p:cNvSpPr>
            <a:spLocks noChangeShapeType="1"/>
          </p:cNvSpPr>
          <p:nvPr/>
        </p:nvSpPr>
        <p:spPr bwMode="auto">
          <a:xfrm>
            <a:off x="4330081" y="4394798"/>
            <a:ext cx="1440" cy="485331"/>
          </a:xfrm>
          <a:prstGeom prst="line">
            <a:avLst/>
          </a:prstGeom>
          <a:noFill/>
          <a:ln w="9360">
            <a:solidFill>
              <a:srgbClr val="000000"/>
            </a:solidFill>
            <a:miter lim="800000"/>
            <a:headEnd/>
            <a:tailEnd type="triangle" w="med" len="med"/>
          </a:ln>
        </p:spPr>
        <p:txBody>
          <a:bodyPr lIns="82945" tIns="41473" rIns="82945" bIns="41473">
            <a:prstTxWarp prst="textNoShape">
              <a:avLst/>
            </a:prstTxWarp>
          </a:bodyPr>
          <a:lstStyle/>
          <a:p>
            <a:endParaRPr lang="en-US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60429" name="Text Box 12"/>
          <p:cNvSpPr txBox="1">
            <a:spLocks noChangeArrowheads="1"/>
          </p:cNvSpPr>
          <p:nvPr/>
        </p:nvSpPr>
        <p:spPr bwMode="auto">
          <a:xfrm>
            <a:off x="3097440" y="4939176"/>
            <a:ext cx="840960" cy="36579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5) Decide next </a:t>
            </a:r>
          </a:p>
          <a:p>
            <a:pPr>
              <a:lnSpc>
                <a:spcPct val="90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process to run</a:t>
            </a:r>
          </a:p>
        </p:txBody>
      </p:sp>
      <p:sp>
        <p:nvSpPr>
          <p:cNvPr id="60430" name="Text Box 13"/>
          <p:cNvSpPr txBox="1">
            <a:spLocks noChangeArrowheads="1"/>
          </p:cNvSpPr>
          <p:nvPr/>
        </p:nvSpPr>
        <p:spPr bwMode="auto">
          <a:xfrm>
            <a:off x="2350080" y="4561856"/>
            <a:ext cx="1442880" cy="1829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4) Call  schedule() routine</a:t>
            </a:r>
          </a:p>
        </p:txBody>
      </p:sp>
      <p:sp>
        <p:nvSpPr>
          <p:cNvPr id="60431" name="Text Box 14"/>
          <p:cNvSpPr txBox="1">
            <a:spLocks noChangeArrowheads="1"/>
          </p:cNvSpPr>
          <p:nvPr/>
        </p:nvSpPr>
        <p:spPr bwMode="auto">
          <a:xfrm>
            <a:off x="1533600" y="3958432"/>
            <a:ext cx="1203840" cy="42628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3) Rest of CPU state</a:t>
            </a:r>
            <a:b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</a:br>
            <a:r>
              <a: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rPr>
              <a:t>saved in PCB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523841" y="3919548"/>
            <a:ext cx="1438560" cy="1100276"/>
            <a:chOff x="3836" y="2400"/>
            <a:chExt cx="999" cy="764"/>
          </a:xfrm>
        </p:grpSpPr>
        <p:sp>
          <p:nvSpPr>
            <p:cNvPr id="60441" name="AutoShape 16"/>
            <p:cNvSpPr>
              <a:spLocks noChangeArrowheads="1"/>
            </p:cNvSpPr>
            <p:nvPr/>
          </p:nvSpPr>
          <p:spPr bwMode="auto">
            <a:xfrm>
              <a:off x="3836" y="2400"/>
              <a:ext cx="836" cy="344"/>
            </a:xfrm>
            <a:prstGeom prst="roundRect">
              <a:avLst>
                <a:gd name="adj" fmla="val 287"/>
              </a:avLst>
            </a:prstGeom>
            <a:solidFill>
              <a:srgbClr val="CC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Timer interrupt</a:t>
              </a:r>
              <a:b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</a:b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handler</a:t>
              </a:r>
            </a:p>
          </p:txBody>
        </p:sp>
        <p:sp>
          <p:nvSpPr>
            <p:cNvPr id="60442" name="Line 17"/>
            <p:cNvSpPr>
              <a:spLocks noChangeShapeType="1"/>
            </p:cNvSpPr>
            <p:nvPr/>
          </p:nvSpPr>
          <p:spPr bwMode="auto">
            <a:xfrm flipV="1">
              <a:off x="3836" y="2747"/>
              <a:ext cx="1" cy="316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0443" name="Text Box 18"/>
            <p:cNvSpPr txBox="1">
              <a:spLocks noChangeArrowheads="1"/>
            </p:cNvSpPr>
            <p:nvPr/>
          </p:nvSpPr>
          <p:spPr bwMode="auto">
            <a:xfrm>
              <a:off x="3917" y="2784"/>
              <a:ext cx="919" cy="38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6) Resume Process B</a:t>
              </a:r>
            </a:p>
            <a:p>
              <a:pPr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(suspended within</a:t>
              </a:r>
            </a:p>
            <a:p>
              <a:pPr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timer interrupt handler!)</a:t>
              </a:r>
              <a:r>
                <a:rPr lang="x-none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‏</a:t>
              </a:r>
              <a:endParaRPr lang="en-GB" sz="1300" dirty="0">
                <a:solidFill>
                  <a:srgbClr val="000000"/>
                </a:solidFill>
                <a:latin typeface="Calibri" charset="0"/>
                <a:ea typeface="Calibri" charset="0"/>
                <a:cs typeface="Calibri" charset="0"/>
              </a:endParaRPr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427681" y="3356449"/>
            <a:ext cx="8297280" cy="673991"/>
            <a:chOff x="297" y="2009"/>
            <a:chExt cx="5762" cy="468"/>
          </a:xfrm>
        </p:grpSpPr>
        <p:sp>
          <p:nvSpPr>
            <p:cNvPr id="60438" name="Line 20"/>
            <p:cNvSpPr>
              <a:spLocks noChangeShapeType="1"/>
            </p:cNvSpPr>
            <p:nvPr/>
          </p:nvSpPr>
          <p:spPr bwMode="auto">
            <a:xfrm>
              <a:off x="330" y="2231"/>
              <a:ext cx="5730" cy="1"/>
            </a:xfrm>
            <a:prstGeom prst="line">
              <a:avLst/>
            </a:prstGeom>
            <a:noFill/>
            <a:ln w="18360">
              <a:solidFill>
                <a:srgbClr val="FF0000"/>
              </a:solidFill>
              <a:prstDash val="sysDot"/>
              <a:miter lim="800000"/>
              <a:headEnd/>
              <a:tailEnd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0439" name="Text Box 21"/>
            <p:cNvSpPr txBox="1">
              <a:spLocks noChangeArrowheads="1"/>
            </p:cNvSpPr>
            <p:nvPr/>
          </p:nvSpPr>
          <p:spPr bwMode="auto">
            <a:xfrm>
              <a:off x="297" y="2009"/>
              <a:ext cx="344" cy="16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FF0000"/>
                  </a:solidFill>
                  <a:latin typeface="Calibri" charset="0"/>
                  <a:ea typeface="Calibri" charset="0"/>
                  <a:cs typeface="Calibri" charset="0"/>
                </a:rPr>
                <a:t>User</a:t>
              </a:r>
            </a:p>
          </p:txBody>
        </p:sp>
        <p:sp>
          <p:nvSpPr>
            <p:cNvPr id="60440" name="Text Box 22"/>
            <p:cNvSpPr txBox="1">
              <a:spLocks noChangeArrowheads="1"/>
            </p:cNvSpPr>
            <p:nvPr/>
          </p:nvSpPr>
          <p:spPr bwMode="auto">
            <a:xfrm>
              <a:off x="297" y="2312"/>
              <a:ext cx="499" cy="16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600" dirty="0">
                  <a:solidFill>
                    <a:srgbClr val="FF0000"/>
                  </a:solidFill>
                  <a:latin typeface="Calibri" charset="0"/>
                  <a:ea typeface="Calibri" charset="0"/>
                  <a:cs typeface="Calibri" charset="0"/>
                </a:rPr>
                <a:t>Kernel</a:t>
              </a:r>
            </a:p>
          </p:txBody>
        </p:sp>
      </p:grpSp>
      <p:grpSp>
        <p:nvGrpSpPr>
          <p:cNvPr id="4" name="Group 23"/>
          <p:cNvGrpSpPr>
            <a:grpSpLocks/>
          </p:cNvGrpSpPr>
          <p:nvPr/>
        </p:nvGrpSpPr>
        <p:grpSpPr bwMode="auto">
          <a:xfrm>
            <a:off x="6717601" y="2084796"/>
            <a:ext cx="1696320" cy="1834753"/>
            <a:chOff x="4665" y="1126"/>
            <a:chExt cx="1178" cy="1274"/>
          </a:xfrm>
        </p:grpSpPr>
        <p:sp>
          <p:nvSpPr>
            <p:cNvPr id="60435" name="AutoShape 24"/>
            <p:cNvSpPr>
              <a:spLocks noChangeArrowheads="1"/>
            </p:cNvSpPr>
            <p:nvPr/>
          </p:nvSpPr>
          <p:spPr bwMode="auto">
            <a:xfrm>
              <a:off x="4665" y="1126"/>
              <a:ext cx="1179" cy="344"/>
            </a:xfrm>
            <a:prstGeom prst="roundRect">
              <a:avLst>
                <a:gd name="adj" fmla="val 287"/>
              </a:avLst>
            </a:prstGeom>
            <a:solidFill>
              <a:srgbClr val="CCCCFF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lIns="0" tIns="0" rIns="0" bIns="0" anchor="ctr" anchorCtr="1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Process B</a:t>
              </a:r>
            </a:p>
          </p:txBody>
        </p:sp>
        <p:sp>
          <p:nvSpPr>
            <p:cNvPr id="60436" name="Line 25"/>
            <p:cNvSpPr>
              <a:spLocks noChangeShapeType="1"/>
            </p:cNvSpPr>
            <p:nvPr/>
          </p:nvSpPr>
          <p:spPr bwMode="auto">
            <a:xfrm flipV="1">
              <a:off x="4672" y="1473"/>
              <a:ext cx="1" cy="929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</p:spPr>
          <p:txBody>
            <a:bodyPr>
              <a:prstTxWarp prst="textNoShape">
                <a:avLst/>
              </a:prstTxWarp>
            </a:bodyPr>
            <a:lstStyle/>
            <a:p>
              <a:endParaRPr lang="en-US">
                <a:latin typeface="Calibri" charset="0"/>
                <a:ea typeface="Calibri" charset="0"/>
                <a:cs typeface="Calibri" charset="0"/>
              </a:endParaRPr>
            </a:p>
          </p:txBody>
        </p:sp>
        <p:sp>
          <p:nvSpPr>
            <p:cNvPr id="60437" name="Text Box 26"/>
            <p:cNvSpPr txBox="1">
              <a:spLocks noChangeArrowheads="1"/>
            </p:cNvSpPr>
            <p:nvPr/>
          </p:nvSpPr>
          <p:spPr bwMode="auto">
            <a:xfrm>
              <a:off x="4753" y="1786"/>
              <a:ext cx="940" cy="381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wrap="none" lIns="0" tIns="0" rIns="0" bIns="0">
              <a:prstTxWarp prst="textNoShape">
                <a:avLst/>
              </a:prstTxWarp>
            </a:bodyPr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7) Return from interrupt</a:t>
              </a:r>
            </a:p>
            <a:p>
              <a:pPr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handler – process CPU</a:t>
              </a:r>
            </a:p>
            <a:p>
              <a:pPr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3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 restored</a:t>
              </a:r>
            </a:p>
          </p:txBody>
        </p:sp>
      </p:grp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Context Switch Overhead</a:t>
            </a:r>
            <a:endParaRPr lang="en-GB" dirty="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Context switches are not cheap</a:t>
            </a:r>
          </a:p>
          <a:p>
            <a:pPr lvl="1"/>
            <a:r>
              <a:rPr lang="en-GB" dirty="0"/>
              <a:t>Generally have a lot of CPU state to save and restore</a:t>
            </a:r>
          </a:p>
          <a:p>
            <a:pPr lvl="1"/>
            <a:r>
              <a:rPr lang="en-GB" dirty="0"/>
              <a:t>Also must update various flags in the PCB</a:t>
            </a:r>
          </a:p>
          <a:p>
            <a:pPr lvl="1"/>
            <a:r>
              <a:rPr lang="en-GB" dirty="0"/>
              <a:t>Picking the next process to run – scheduling – is also expensive</a:t>
            </a:r>
          </a:p>
          <a:p>
            <a:r>
              <a:rPr lang="en-GB" dirty="0"/>
              <a:t>Context switch overhead in Linux </a:t>
            </a:r>
          </a:p>
          <a:p>
            <a:pPr lvl="1"/>
            <a:r>
              <a:rPr lang="en-GB" dirty="0"/>
              <a:t>About 5-7 </a:t>
            </a:r>
            <a:r>
              <a:rPr lang="en-GB" dirty="0" err="1"/>
              <a:t>usec</a:t>
            </a:r>
            <a:r>
              <a:rPr lang="en-GB" dirty="0"/>
              <a:t> (u: micro)</a:t>
            </a:r>
          </a:p>
          <a:p>
            <a:pPr lvl="1"/>
            <a:r>
              <a:rPr lang="en-GB" dirty="0"/>
              <a:t>This is equivalent to about 10,000 CPU cycles!</a:t>
            </a:r>
          </a:p>
        </p:txBody>
      </p:sp>
    </p:spTree>
    <p:extLst>
      <p:ext uri="{BB962C8B-B14F-4D97-AF65-F5344CB8AC3E}">
        <p14:creationId xmlns:p14="http://schemas.microsoft.com/office/powerpoint/2010/main" val="952183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State Queues</a:t>
            </a:r>
            <a:endParaRPr lang="en-GB" dirty="0"/>
          </a:p>
        </p:txBody>
      </p:sp>
      <p:sp>
        <p:nvSpPr>
          <p:cNvPr id="624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875" y="1362075"/>
            <a:ext cx="8366125" cy="1330481"/>
          </a:xfrm>
        </p:spPr>
        <p:txBody>
          <a:bodyPr>
            <a:normAutofit fontScale="85000" lnSpcReduction="10000"/>
          </a:bodyPr>
          <a:lstStyle/>
          <a:p>
            <a:r>
              <a:rPr lang="en-GB" dirty="0"/>
              <a:t>The OS maintains a set of state queues for each process state</a:t>
            </a:r>
          </a:p>
          <a:p>
            <a:pPr lvl="1"/>
            <a:r>
              <a:rPr lang="en-GB" dirty="0"/>
              <a:t>Separate queues for ready and waiting states</a:t>
            </a:r>
          </a:p>
          <a:p>
            <a:pPr lvl="1"/>
            <a:r>
              <a:rPr lang="en-GB" dirty="0"/>
              <a:t>Generally separate queues for each kind of waiting process</a:t>
            </a:r>
          </a:p>
          <a:p>
            <a:pPr lvl="2"/>
            <a:r>
              <a:rPr lang="en-GB" dirty="0"/>
              <a:t>One queue for processes waiting for disk I/O, another for network I/O, etc.</a:t>
            </a:r>
          </a:p>
        </p:txBody>
      </p:sp>
      <p:grpSp>
        <p:nvGrpSpPr>
          <p:cNvPr id="41" name="Group 3"/>
          <p:cNvGrpSpPr>
            <a:grpSpLocks/>
          </p:cNvGrpSpPr>
          <p:nvPr/>
        </p:nvGrpSpPr>
        <p:grpSpPr bwMode="auto">
          <a:xfrm>
            <a:off x="2756160" y="2889968"/>
            <a:ext cx="1608480" cy="1379665"/>
            <a:chOff x="1914" y="1691"/>
            <a:chExt cx="1117" cy="958"/>
          </a:xfrm>
        </p:grpSpPr>
        <p:sp>
          <p:nvSpPr>
            <p:cNvPr id="42" name="AutoShape 4"/>
            <p:cNvSpPr>
              <a:spLocks noChangeArrowheads="1"/>
            </p:cNvSpPr>
            <p:nvPr/>
          </p:nvSpPr>
          <p:spPr bwMode="auto">
            <a:xfrm>
              <a:off x="1914" y="1691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43" name="Group 5"/>
            <p:cNvGrpSpPr>
              <a:grpSpLocks/>
            </p:cNvGrpSpPr>
            <p:nvPr/>
          </p:nvGrpSpPr>
          <p:grpSpPr bwMode="auto">
            <a:xfrm>
              <a:off x="2023" y="2089"/>
              <a:ext cx="898" cy="472"/>
              <a:chOff x="2023" y="2089"/>
              <a:chExt cx="898" cy="472"/>
            </a:xfrm>
          </p:grpSpPr>
          <p:sp>
            <p:nvSpPr>
              <p:cNvPr id="45" name="AutoShape 6"/>
              <p:cNvSpPr>
                <a:spLocks noChangeArrowheads="1"/>
              </p:cNvSpPr>
              <p:nvPr/>
            </p:nvSpPr>
            <p:spPr bwMode="auto">
              <a:xfrm>
                <a:off x="2023" y="2089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46" name="AutoShape 7"/>
              <p:cNvSpPr>
                <a:spLocks noChangeArrowheads="1"/>
              </p:cNvSpPr>
              <p:nvPr/>
            </p:nvSpPr>
            <p:spPr bwMode="auto">
              <a:xfrm>
                <a:off x="2023" y="2367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44" name="Text Box 8"/>
            <p:cNvSpPr txBox="1">
              <a:spLocks noChangeArrowheads="1"/>
            </p:cNvSpPr>
            <p:nvPr/>
          </p:nvSpPr>
          <p:spPr bwMode="auto">
            <a:xfrm>
              <a:off x="1984" y="1721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4277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Ready</a:t>
              </a:r>
            </a:p>
          </p:txBody>
        </p:sp>
      </p:grpSp>
      <p:grpSp>
        <p:nvGrpSpPr>
          <p:cNvPr id="47" name="Group 9"/>
          <p:cNvGrpSpPr>
            <a:grpSpLocks/>
          </p:cNvGrpSpPr>
          <p:nvPr/>
        </p:nvGrpSpPr>
        <p:grpSpPr bwMode="auto">
          <a:xfrm>
            <a:off x="2756160" y="4507257"/>
            <a:ext cx="1608480" cy="1379665"/>
            <a:chOff x="1914" y="2814"/>
            <a:chExt cx="1117" cy="958"/>
          </a:xfrm>
        </p:grpSpPr>
        <p:sp>
          <p:nvSpPr>
            <p:cNvPr id="48" name="AutoShape 10"/>
            <p:cNvSpPr>
              <a:spLocks noChangeArrowheads="1"/>
            </p:cNvSpPr>
            <p:nvPr/>
          </p:nvSpPr>
          <p:spPr bwMode="auto">
            <a:xfrm>
              <a:off x="1914" y="2814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49" name="Group 11"/>
            <p:cNvGrpSpPr>
              <a:grpSpLocks/>
            </p:cNvGrpSpPr>
            <p:nvPr/>
          </p:nvGrpSpPr>
          <p:grpSpPr bwMode="auto">
            <a:xfrm>
              <a:off x="2023" y="3214"/>
              <a:ext cx="898" cy="470"/>
              <a:chOff x="2023" y="3214"/>
              <a:chExt cx="898" cy="470"/>
            </a:xfrm>
          </p:grpSpPr>
          <p:sp>
            <p:nvSpPr>
              <p:cNvPr id="51" name="AutoShape 12"/>
              <p:cNvSpPr>
                <a:spLocks noChangeArrowheads="1"/>
              </p:cNvSpPr>
              <p:nvPr/>
            </p:nvSpPr>
            <p:spPr bwMode="auto">
              <a:xfrm>
                <a:off x="2023" y="3214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52" name="AutoShape 13"/>
              <p:cNvSpPr>
                <a:spLocks noChangeArrowheads="1"/>
              </p:cNvSpPr>
              <p:nvPr/>
            </p:nvSpPr>
            <p:spPr bwMode="auto">
              <a:xfrm>
                <a:off x="2023" y="3490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50" name="Text Box 14"/>
            <p:cNvSpPr txBox="1">
              <a:spLocks noChangeArrowheads="1"/>
            </p:cNvSpPr>
            <p:nvPr/>
          </p:nvSpPr>
          <p:spPr bwMode="auto">
            <a:xfrm>
              <a:off x="1984" y="2844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4110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Waiting</a:t>
              </a:r>
            </a:p>
          </p:txBody>
        </p:sp>
      </p:grpSp>
      <p:grpSp>
        <p:nvGrpSpPr>
          <p:cNvPr id="53" name="Group 15"/>
          <p:cNvGrpSpPr>
            <a:grpSpLocks/>
          </p:cNvGrpSpPr>
          <p:nvPr/>
        </p:nvGrpSpPr>
        <p:grpSpPr bwMode="auto">
          <a:xfrm>
            <a:off x="4911841" y="4508697"/>
            <a:ext cx="1608480" cy="1379665"/>
            <a:chOff x="3411" y="2815"/>
            <a:chExt cx="1117" cy="958"/>
          </a:xfrm>
        </p:grpSpPr>
        <p:sp>
          <p:nvSpPr>
            <p:cNvPr id="54" name="AutoShape 16"/>
            <p:cNvSpPr>
              <a:spLocks noChangeArrowheads="1"/>
            </p:cNvSpPr>
            <p:nvPr/>
          </p:nvSpPr>
          <p:spPr bwMode="auto">
            <a:xfrm>
              <a:off x="3411" y="2815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55" name="Group 17"/>
            <p:cNvGrpSpPr>
              <a:grpSpLocks/>
            </p:cNvGrpSpPr>
            <p:nvPr/>
          </p:nvGrpSpPr>
          <p:grpSpPr bwMode="auto">
            <a:xfrm>
              <a:off x="3520" y="3213"/>
              <a:ext cx="898" cy="471"/>
              <a:chOff x="3520" y="3213"/>
              <a:chExt cx="898" cy="471"/>
            </a:xfrm>
          </p:grpSpPr>
          <p:sp>
            <p:nvSpPr>
              <p:cNvPr id="57" name="AutoShape 18"/>
              <p:cNvSpPr>
                <a:spLocks noChangeArrowheads="1"/>
              </p:cNvSpPr>
              <p:nvPr/>
            </p:nvSpPr>
            <p:spPr bwMode="auto">
              <a:xfrm>
                <a:off x="3520" y="3213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58" name="AutoShape 19"/>
              <p:cNvSpPr>
                <a:spLocks noChangeArrowheads="1"/>
              </p:cNvSpPr>
              <p:nvPr/>
            </p:nvSpPr>
            <p:spPr bwMode="auto">
              <a:xfrm>
                <a:off x="3520" y="3490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56" name="Text Box 20"/>
            <p:cNvSpPr txBox="1">
              <a:spLocks noChangeArrowheads="1"/>
            </p:cNvSpPr>
            <p:nvPr/>
          </p:nvSpPr>
          <p:spPr bwMode="auto">
            <a:xfrm>
              <a:off x="3481" y="2845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4002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Waiting</a:t>
              </a:r>
            </a:p>
          </p:txBody>
        </p:sp>
      </p:grpSp>
      <p:grpSp>
        <p:nvGrpSpPr>
          <p:cNvPr id="59" name="Group 21"/>
          <p:cNvGrpSpPr>
            <a:grpSpLocks/>
          </p:cNvGrpSpPr>
          <p:nvPr/>
        </p:nvGrpSpPr>
        <p:grpSpPr bwMode="auto">
          <a:xfrm>
            <a:off x="4911841" y="2889968"/>
            <a:ext cx="1608480" cy="1379665"/>
            <a:chOff x="3411" y="1691"/>
            <a:chExt cx="1117" cy="958"/>
          </a:xfrm>
        </p:grpSpPr>
        <p:sp>
          <p:nvSpPr>
            <p:cNvPr id="60" name="AutoShape 22"/>
            <p:cNvSpPr>
              <a:spLocks noChangeArrowheads="1"/>
            </p:cNvSpPr>
            <p:nvPr/>
          </p:nvSpPr>
          <p:spPr bwMode="auto">
            <a:xfrm>
              <a:off x="3411" y="1691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61" name="Group 23"/>
            <p:cNvGrpSpPr>
              <a:grpSpLocks/>
            </p:cNvGrpSpPr>
            <p:nvPr/>
          </p:nvGrpSpPr>
          <p:grpSpPr bwMode="auto">
            <a:xfrm>
              <a:off x="3520" y="2089"/>
              <a:ext cx="898" cy="472"/>
              <a:chOff x="3520" y="2089"/>
              <a:chExt cx="898" cy="472"/>
            </a:xfrm>
          </p:grpSpPr>
          <p:sp>
            <p:nvSpPr>
              <p:cNvPr id="63" name="AutoShape 24"/>
              <p:cNvSpPr>
                <a:spLocks noChangeArrowheads="1"/>
              </p:cNvSpPr>
              <p:nvPr/>
            </p:nvSpPr>
            <p:spPr bwMode="auto">
              <a:xfrm>
                <a:off x="3520" y="2089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64" name="AutoShape 25"/>
              <p:cNvSpPr>
                <a:spLocks noChangeArrowheads="1"/>
              </p:cNvSpPr>
              <p:nvPr/>
            </p:nvSpPr>
            <p:spPr bwMode="auto">
              <a:xfrm>
                <a:off x="3520" y="2367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62" name="Text Box 26"/>
            <p:cNvSpPr txBox="1">
              <a:spLocks noChangeArrowheads="1"/>
            </p:cNvSpPr>
            <p:nvPr/>
          </p:nvSpPr>
          <p:spPr bwMode="auto">
            <a:xfrm>
              <a:off x="3481" y="1721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4391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Ready</a:t>
              </a:r>
            </a:p>
          </p:txBody>
        </p:sp>
      </p:grpSp>
      <p:cxnSp>
        <p:nvCxnSpPr>
          <p:cNvPr id="65" name="AutoShape 27"/>
          <p:cNvCxnSpPr>
            <a:cxnSpLocks noChangeShapeType="1"/>
          </p:cNvCxnSpPr>
          <p:nvPr/>
        </p:nvCxnSpPr>
        <p:spPr bwMode="auto">
          <a:xfrm>
            <a:off x="4366081" y="3579799"/>
            <a:ext cx="545760" cy="1441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cxnSp>
        <p:nvCxnSpPr>
          <p:cNvPr id="66" name="AutoShape 28"/>
          <p:cNvCxnSpPr>
            <a:cxnSpLocks noChangeShapeType="1"/>
          </p:cNvCxnSpPr>
          <p:nvPr/>
        </p:nvCxnSpPr>
        <p:spPr bwMode="auto">
          <a:xfrm>
            <a:off x="4366081" y="5197090"/>
            <a:ext cx="545760" cy="1440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grpSp>
        <p:nvGrpSpPr>
          <p:cNvPr id="67" name="Group 29"/>
          <p:cNvGrpSpPr>
            <a:grpSpLocks/>
          </p:cNvGrpSpPr>
          <p:nvPr/>
        </p:nvGrpSpPr>
        <p:grpSpPr bwMode="auto">
          <a:xfrm>
            <a:off x="6521760" y="4505817"/>
            <a:ext cx="2079360" cy="1379665"/>
            <a:chOff x="4529" y="2813"/>
            <a:chExt cx="1444" cy="958"/>
          </a:xfrm>
        </p:grpSpPr>
        <p:grpSp>
          <p:nvGrpSpPr>
            <p:cNvPr id="68" name="Group 30"/>
            <p:cNvGrpSpPr>
              <a:grpSpLocks/>
            </p:cNvGrpSpPr>
            <p:nvPr/>
          </p:nvGrpSpPr>
          <p:grpSpPr bwMode="auto">
            <a:xfrm>
              <a:off x="4855" y="2813"/>
              <a:ext cx="1118" cy="958"/>
              <a:chOff x="4855" y="2813"/>
              <a:chExt cx="1118" cy="958"/>
            </a:xfrm>
          </p:grpSpPr>
          <p:sp>
            <p:nvSpPr>
              <p:cNvPr id="70" name="AutoShape 31"/>
              <p:cNvSpPr>
                <a:spLocks noChangeArrowheads="1"/>
              </p:cNvSpPr>
              <p:nvPr/>
            </p:nvSpPr>
            <p:spPr bwMode="auto">
              <a:xfrm>
                <a:off x="4855" y="2813"/>
                <a:ext cx="1119" cy="959"/>
              </a:xfrm>
              <a:prstGeom prst="roundRect">
                <a:avLst>
                  <a:gd name="adj" fmla="val 102"/>
                </a:avLst>
              </a:prstGeom>
              <a:solidFill>
                <a:srgbClr val="E6E6E6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hangingPunct="0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2"/>
                  <a:buNone/>
                </a:pPr>
                <a:endParaRPr lang="tr-TR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71" name="Group 32"/>
              <p:cNvGrpSpPr>
                <a:grpSpLocks/>
              </p:cNvGrpSpPr>
              <p:nvPr/>
            </p:nvGrpSpPr>
            <p:grpSpPr bwMode="auto">
              <a:xfrm>
                <a:off x="4965" y="3211"/>
                <a:ext cx="899" cy="471"/>
                <a:chOff x="4965" y="3211"/>
                <a:chExt cx="899" cy="471"/>
              </a:xfrm>
            </p:grpSpPr>
            <p:sp>
              <p:nvSpPr>
                <p:cNvPr id="73" name="AutoShape 33"/>
                <p:cNvSpPr>
                  <a:spLocks noChangeArrowheads="1"/>
                </p:cNvSpPr>
                <p:nvPr/>
              </p:nvSpPr>
              <p:spPr bwMode="auto">
                <a:xfrm>
                  <a:off x="4965" y="3211"/>
                  <a:ext cx="900" cy="195"/>
                </a:xfrm>
                <a:prstGeom prst="roundRect">
                  <a:avLst>
                    <a:gd name="adj" fmla="val 514"/>
                  </a:avLst>
                </a:prstGeom>
                <a:solidFill>
                  <a:srgbClr val="C0C0C0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 anchorCtr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tabLst>
                      <a:tab pos="0" algn="l"/>
                      <a:tab pos="414726" algn="l"/>
                      <a:tab pos="829452" algn="l"/>
                      <a:tab pos="1244178" algn="l"/>
                      <a:tab pos="1658904" algn="l"/>
                      <a:tab pos="2073631" algn="l"/>
                      <a:tab pos="2488357" algn="l"/>
                      <a:tab pos="2903083" algn="l"/>
                      <a:tab pos="3317809" algn="l"/>
                      <a:tab pos="3732535" algn="l"/>
                      <a:tab pos="4147261" algn="l"/>
                      <a:tab pos="4561987" algn="l"/>
                      <a:tab pos="4976713" algn="l"/>
                      <a:tab pos="5391440" algn="l"/>
                      <a:tab pos="5806166" algn="l"/>
                      <a:tab pos="6220892" algn="l"/>
                      <a:tab pos="6635618" algn="l"/>
                      <a:tab pos="7050344" algn="l"/>
                      <a:tab pos="7465070" algn="l"/>
                      <a:tab pos="7879796" algn="l"/>
                      <a:tab pos="8294522" algn="l"/>
                    </a:tabLst>
                  </a:pPr>
                  <a:r>
                    <a:rPr lang="en-GB" sz="1500" dirty="0">
                      <a:solidFill>
                        <a:srgbClr val="000000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PC</a:t>
                  </a:r>
                </a:p>
              </p:txBody>
            </p:sp>
            <p:sp>
              <p:nvSpPr>
                <p:cNvPr id="74" name="AutoShape 34"/>
                <p:cNvSpPr>
                  <a:spLocks noChangeArrowheads="1"/>
                </p:cNvSpPr>
                <p:nvPr/>
              </p:nvSpPr>
              <p:spPr bwMode="auto">
                <a:xfrm>
                  <a:off x="4965" y="3488"/>
                  <a:ext cx="900" cy="195"/>
                </a:xfrm>
                <a:prstGeom prst="roundRect">
                  <a:avLst>
                    <a:gd name="adj" fmla="val 514"/>
                  </a:avLst>
                </a:prstGeom>
                <a:solidFill>
                  <a:srgbClr val="C0C0C0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 anchorCtr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tabLst>
                      <a:tab pos="0" algn="l"/>
                      <a:tab pos="414726" algn="l"/>
                      <a:tab pos="829452" algn="l"/>
                      <a:tab pos="1244178" algn="l"/>
                      <a:tab pos="1658904" algn="l"/>
                      <a:tab pos="2073631" algn="l"/>
                      <a:tab pos="2488357" algn="l"/>
                      <a:tab pos="2903083" algn="l"/>
                      <a:tab pos="3317809" algn="l"/>
                      <a:tab pos="3732535" algn="l"/>
                      <a:tab pos="4147261" algn="l"/>
                      <a:tab pos="4561987" algn="l"/>
                      <a:tab pos="4976713" algn="l"/>
                      <a:tab pos="5391440" algn="l"/>
                      <a:tab pos="5806166" algn="l"/>
                      <a:tab pos="6220892" algn="l"/>
                      <a:tab pos="6635618" algn="l"/>
                      <a:tab pos="7050344" algn="l"/>
                      <a:tab pos="7465070" algn="l"/>
                      <a:tab pos="7879796" algn="l"/>
                      <a:tab pos="8294522" algn="l"/>
                    </a:tabLst>
                  </a:pPr>
                  <a:r>
                    <a:rPr lang="en-GB" sz="1500" dirty="0">
                      <a:solidFill>
                        <a:srgbClr val="000000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Registers</a:t>
                  </a:r>
                </a:p>
              </p:txBody>
            </p:sp>
          </p:grpSp>
          <p:sp>
            <p:nvSpPr>
              <p:cNvPr id="72" name="Text Box 35"/>
              <p:cNvSpPr txBox="1">
                <a:spLocks noChangeArrowheads="1"/>
              </p:cNvSpPr>
              <p:nvPr/>
            </p:nvSpPr>
            <p:spPr bwMode="auto">
              <a:xfrm>
                <a:off x="4926" y="2843"/>
                <a:ext cx="994" cy="29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PID 4923</a:t>
                </a:r>
              </a:p>
              <a:p>
                <a:pPr algn="ctr">
                  <a:lnSpc>
                    <a:spcPct val="90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State: Waiting</a:t>
                </a:r>
              </a:p>
            </p:txBody>
          </p:sp>
        </p:grpSp>
        <p:cxnSp>
          <p:nvCxnSpPr>
            <p:cNvPr id="69" name="AutoShape 36"/>
            <p:cNvCxnSpPr>
              <a:cxnSpLocks noChangeShapeType="1"/>
            </p:cNvCxnSpPr>
            <p:nvPr/>
          </p:nvCxnSpPr>
          <p:spPr bwMode="auto">
            <a:xfrm flipV="1">
              <a:off x="4529" y="3292"/>
              <a:ext cx="326" cy="2"/>
            </a:xfrm>
            <a:prstGeom prst="straightConnector1">
              <a:avLst/>
            </a:prstGeom>
            <a:noFill/>
            <a:ln w="9360">
              <a:solidFill>
                <a:srgbClr val="6B4794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75" name="Text Box 37"/>
          <p:cNvSpPr txBox="1">
            <a:spLocks noChangeArrowheads="1"/>
          </p:cNvSpPr>
          <p:nvPr/>
        </p:nvSpPr>
        <p:spPr bwMode="auto">
          <a:xfrm>
            <a:off x="665280" y="3460267"/>
            <a:ext cx="129024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6B4794"/>
                </a:solidFill>
                <a:latin typeface="Calibri" charset="0"/>
                <a:ea typeface="Calibri" charset="0"/>
                <a:cs typeface="Calibri" charset="0"/>
              </a:rPr>
              <a:t>Ready queue</a:t>
            </a:r>
          </a:p>
        </p:txBody>
      </p:sp>
      <p:sp>
        <p:nvSpPr>
          <p:cNvPr id="76" name="Text Box 38"/>
          <p:cNvSpPr txBox="1">
            <a:spLocks noChangeArrowheads="1"/>
          </p:cNvSpPr>
          <p:nvPr/>
        </p:nvSpPr>
        <p:spPr bwMode="auto">
          <a:xfrm>
            <a:off x="351361" y="5077557"/>
            <a:ext cx="152496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6B4794"/>
                </a:solidFill>
                <a:latin typeface="Calibri" charset="0"/>
                <a:ea typeface="Calibri" charset="0"/>
                <a:cs typeface="Calibri" charset="0"/>
              </a:rPr>
              <a:t>Disk I/O queue</a:t>
            </a:r>
          </a:p>
        </p:txBody>
      </p:sp>
      <p:cxnSp>
        <p:nvCxnSpPr>
          <p:cNvPr id="77" name="AutoShape 39"/>
          <p:cNvCxnSpPr>
            <a:cxnSpLocks noChangeShapeType="1"/>
          </p:cNvCxnSpPr>
          <p:nvPr/>
        </p:nvCxnSpPr>
        <p:spPr bwMode="auto">
          <a:xfrm flipV="1">
            <a:off x="1955520" y="3579799"/>
            <a:ext cx="800640" cy="1441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cxnSp>
        <p:nvCxnSpPr>
          <p:cNvPr id="78" name="AutoShape 40"/>
          <p:cNvCxnSpPr>
            <a:cxnSpLocks noChangeShapeType="1"/>
          </p:cNvCxnSpPr>
          <p:nvPr/>
        </p:nvCxnSpPr>
        <p:spPr bwMode="auto">
          <a:xfrm flipV="1">
            <a:off x="1876320" y="5197090"/>
            <a:ext cx="879840" cy="1440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State Queue Transitions</a:t>
            </a:r>
            <a:endParaRPr lang="en-GB" dirty="0"/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PCBs move between these queues as their state changes</a:t>
            </a:r>
          </a:p>
          <a:p>
            <a:pPr lvl="1"/>
            <a:r>
              <a:rPr lang="en-GB"/>
              <a:t>When scheduling a process, pop the head off of the ready queue</a:t>
            </a:r>
          </a:p>
          <a:p>
            <a:pPr lvl="1"/>
            <a:r>
              <a:rPr lang="en-GB"/>
              <a:t>When I/O has completed, move PCB from waiting queue to ready queue</a:t>
            </a:r>
            <a:endParaRPr lang="en-GB" dirty="0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756160" y="2889968"/>
            <a:ext cx="1608480" cy="1379665"/>
            <a:chOff x="1914" y="1691"/>
            <a:chExt cx="1117" cy="958"/>
          </a:xfrm>
        </p:grpSpPr>
        <p:sp>
          <p:nvSpPr>
            <p:cNvPr id="64558" name="AutoShape 4"/>
            <p:cNvSpPr>
              <a:spLocks noChangeArrowheads="1"/>
            </p:cNvSpPr>
            <p:nvPr/>
          </p:nvSpPr>
          <p:spPr bwMode="auto">
            <a:xfrm>
              <a:off x="1914" y="1691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3" name="Group 5"/>
            <p:cNvGrpSpPr>
              <a:grpSpLocks/>
            </p:cNvGrpSpPr>
            <p:nvPr/>
          </p:nvGrpSpPr>
          <p:grpSpPr bwMode="auto">
            <a:xfrm>
              <a:off x="2023" y="2089"/>
              <a:ext cx="898" cy="472"/>
              <a:chOff x="2023" y="2089"/>
              <a:chExt cx="898" cy="472"/>
            </a:xfrm>
          </p:grpSpPr>
          <p:sp>
            <p:nvSpPr>
              <p:cNvPr id="64561" name="AutoShape 6"/>
              <p:cNvSpPr>
                <a:spLocks noChangeArrowheads="1"/>
              </p:cNvSpPr>
              <p:nvPr/>
            </p:nvSpPr>
            <p:spPr bwMode="auto">
              <a:xfrm>
                <a:off x="2023" y="2089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64562" name="AutoShape 7"/>
              <p:cNvSpPr>
                <a:spLocks noChangeArrowheads="1"/>
              </p:cNvSpPr>
              <p:nvPr/>
            </p:nvSpPr>
            <p:spPr bwMode="auto">
              <a:xfrm>
                <a:off x="2023" y="2367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64560" name="Text Box 8"/>
            <p:cNvSpPr txBox="1">
              <a:spLocks noChangeArrowheads="1"/>
            </p:cNvSpPr>
            <p:nvPr/>
          </p:nvSpPr>
          <p:spPr bwMode="auto">
            <a:xfrm>
              <a:off x="1984" y="1721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4277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Ready</a:t>
              </a:r>
            </a:p>
          </p:txBody>
        </p:sp>
      </p:grpSp>
      <p:grpSp>
        <p:nvGrpSpPr>
          <p:cNvPr id="4" name="Group 9"/>
          <p:cNvGrpSpPr>
            <a:grpSpLocks/>
          </p:cNvGrpSpPr>
          <p:nvPr/>
        </p:nvGrpSpPr>
        <p:grpSpPr bwMode="auto">
          <a:xfrm>
            <a:off x="2756160" y="4507257"/>
            <a:ext cx="1608480" cy="1379665"/>
            <a:chOff x="1914" y="2814"/>
            <a:chExt cx="1117" cy="958"/>
          </a:xfrm>
        </p:grpSpPr>
        <p:sp>
          <p:nvSpPr>
            <p:cNvPr id="64553" name="AutoShape 10"/>
            <p:cNvSpPr>
              <a:spLocks noChangeArrowheads="1"/>
            </p:cNvSpPr>
            <p:nvPr/>
          </p:nvSpPr>
          <p:spPr bwMode="auto">
            <a:xfrm>
              <a:off x="1914" y="2814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5" name="Group 11"/>
            <p:cNvGrpSpPr>
              <a:grpSpLocks/>
            </p:cNvGrpSpPr>
            <p:nvPr/>
          </p:nvGrpSpPr>
          <p:grpSpPr bwMode="auto">
            <a:xfrm>
              <a:off x="2023" y="3214"/>
              <a:ext cx="898" cy="470"/>
              <a:chOff x="2023" y="3214"/>
              <a:chExt cx="898" cy="470"/>
            </a:xfrm>
          </p:grpSpPr>
          <p:sp>
            <p:nvSpPr>
              <p:cNvPr id="64556" name="AutoShape 12"/>
              <p:cNvSpPr>
                <a:spLocks noChangeArrowheads="1"/>
              </p:cNvSpPr>
              <p:nvPr/>
            </p:nvSpPr>
            <p:spPr bwMode="auto">
              <a:xfrm>
                <a:off x="2023" y="3214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64557" name="AutoShape 13"/>
              <p:cNvSpPr>
                <a:spLocks noChangeArrowheads="1"/>
              </p:cNvSpPr>
              <p:nvPr/>
            </p:nvSpPr>
            <p:spPr bwMode="auto">
              <a:xfrm>
                <a:off x="2023" y="3490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64555" name="Text Box 14"/>
            <p:cNvSpPr txBox="1">
              <a:spLocks noChangeArrowheads="1"/>
            </p:cNvSpPr>
            <p:nvPr/>
          </p:nvSpPr>
          <p:spPr bwMode="auto">
            <a:xfrm>
              <a:off x="1984" y="2844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4110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Waiting</a:t>
              </a:r>
            </a:p>
          </p:txBody>
        </p:sp>
      </p:grpSp>
      <p:grpSp>
        <p:nvGrpSpPr>
          <p:cNvPr id="6" name="Group 15"/>
          <p:cNvGrpSpPr>
            <a:grpSpLocks/>
          </p:cNvGrpSpPr>
          <p:nvPr/>
        </p:nvGrpSpPr>
        <p:grpSpPr bwMode="auto">
          <a:xfrm>
            <a:off x="4911841" y="4508697"/>
            <a:ext cx="1608480" cy="1379665"/>
            <a:chOff x="3411" y="2815"/>
            <a:chExt cx="1117" cy="958"/>
          </a:xfrm>
        </p:grpSpPr>
        <p:sp>
          <p:nvSpPr>
            <p:cNvPr id="64548" name="AutoShape 16"/>
            <p:cNvSpPr>
              <a:spLocks noChangeArrowheads="1"/>
            </p:cNvSpPr>
            <p:nvPr/>
          </p:nvSpPr>
          <p:spPr bwMode="auto">
            <a:xfrm>
              <a:off x="3411" y="2815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7" name="Group 17"/>
            <p:cNvGrpSpPr>
              <a:grpSpLocks/>
            </p:cNvGrpSpPr>
            <p:nvPr/>
          </p:nvGrpSpPr>
          <p:grpSpPr bwMode="auto">
            <a:xfrm>
              <a:off x="3520" y="3213"/>
              <a:ext cx="898" cy="471"/>
              <a:chOff x="3520" y="3213"/>
              <a:chExt cx="898" cy="471"/>
            </a:xfrm>
          </p:grpSpPr>
          <p:sp>
            <p:nvSpPr>
              <p:cNvPr id="64551" name="AutoShape 18"/>
              <p:cNvSpPr>
                <a:spLocks noChangeArrowheads="1"/>
              </p:cNvSpPr>
              <p:nvPr/>
            </p:nvSpPr>
            <p:spPr bwMode="auto">
              <a:xfrm>
                <a:off x="3520" y="3213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64552" name="AutoShape 19"/>
              <p:cNvSpPr>
                <a:spLocks noChangeArrowheads="1"/>
              </p:cNvSpPr>
              <p:nvPr/>
            </p:nvSpPr>
            <p:spPr bwMode="auto">
              <a:xfrm>
                <a:off x="3520" y="3490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64550" name="Text Box 20"/>
            <p:cNvSpPr txBox="1">
              <a:spLocks noChangeArrowheads="1"/>
            </p:cNvSpPr>
            <p:nvPr/>
          </p:nvSpPr>
          <p:spPr bwMode="auto">
            <a:xfrm>
              <a:off x="3481" y="2845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4002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Waiting</a:t>
              </a:r>
            </a:p>
          </p:txBody>
        </p:sp>
      </p:grpSp>
      <p:grpSp>
        <p:nvGrpSpPr>
          <p:cNvPr id="8" name="Group 21"/>
          <p:cNvGrpSpPr>
            <a:grpSpLocks/>
          </p:cNvGrpSpPr>
          <p:nvPr/>
        </p:nvGrpSpPr>
        <p:grpSpPr bwMode="auto">
          <a:xfrm>
            <a:off x="4911841" y="2889968"/>
            <a:ext cx="1608480" cy="1379665"/>
            <a:chOff x="3411" y="1691"/>
            <a:chExt cx="1117" cy="958"/>
          </a:xfrm>
        </p:grpSpPr>
        <p:sp>
          <p:nvSpPr>
            <p:cNvPr id="64543" name="AutoShape 22"/>
            <p:cNvSpPr>
              <a:spLocks noChangeArrowheads="1"/>
            </p:cNvSpPr>
            <p:nvPr/>
          </p:nvSpPr>
          <p:spPr bwMode="auto">
            <a:xfrm>
              <a:off x="3411" y="1691"/>
              <a:ext cx="1118" cy="959"/>
            </a:xfrm>
            <a:prstGeom prst="roundRect">
              <a:avLst>
                <a:gd name="adj" fmla="val 102"/>
              </a:avLst>
            </a:prstGeom>
            <a:solidFill>
              <a:srgbClr val="E6E6E6"/>
            </a:solidFill>
            <a:ln w="936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hangingPunct="0">
                <a:lnSpc>
                  <a:spcPct val="94000"/>
                </a:lnSpc>
                <a:buClr>
                  <a:srgbClr val="000000"/>
                </a:buClr>
                <a:buSzPct val="45000"/>
                <a:buFont typeface="Wingdings" charset="2"/>
                <a:buNone/>
              </a:pPr>
              <a:endParaRPr lang="tr-TR">
                <a:latin typeface="Calibri" charset="0"/>
                <a:ea typeface="Calibri" charset="0"/>
                <a:cs typeface="Calibri" charset="0"/>
              </a:endParaRPr>
            </a:p>
          </p:txBody>
        </p:sp>
        <p:grpSp>
          <p:nvGrpSpPr>
            <p:cNvPr id="9" name="Group 23"/>
            <p:cNvGrpSpPr>
              <a:grpSpLocks/>
            </p:cNvGrpSpPr>
            <p:nvPr/>
          </p:nvGrpSpPr>
          <p:grpSpPr bwMode="auto">
            <a:xfrm>
              <a:off x="3520" y="2089"/>
              <a:ext cx="898" cy="472"/>
              <a:chOff x="3520" y="2089"/>
              <a:chExt cx="898" cy="472"/>
            </a:xfrm>
          </p:grpSpPr>
          <p:sp>
            <p:nvSpPr>
              <p:cNvPr id="64546" name="AutoShape 24"/>
              <p:cNvSpPr>
                <a:spLocks noChangeArrowheads="1"/>
              </p:cNvSpPr>
              <p:nvPr/>
            </p:nvSpPr>
            <p:spPr bwMode="auto">
              <a:xfrm>
                <a:off x="3520" y="2089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PC</a:t>
                </a:r>
              </a:p>
            </p:txBody>
          </p:sp>
          <p:sp>
            <p:nvSpPr>
              <p:cNvPr id="64547" name="AutoShape 25"/>
              <p:cNvSpPr>
                <a:spLocks noChangeArrowheads="1"/>
              </p:cNvSpPr>
              <p:nvPr/>
            </p:nvSpPr>
            <p:spPr bwMode="auto">
              <a:xfrm>
                <a:off x="3520" y="2367"/>
                <a:ext cx="899" cy="195"/>
              </a:xfrm>
              <a:prstGeom prst="roundRect">
                <a:avLst>
                  <a:gd name="adj" fmla="val 514"/>
                </a:avLst>
              </a:prstGeom>
              <a:solidFill>
                <a:srgbClr val="C0C0C0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lIns="0" tIns="0" rIns="0" bIns="0" anchor="ctr" anchorCtr="1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Registers</a:t>
                </a:r>
              </a:p>
            </p:txBody>
          </p:sp>
        </p:grpSp>
        <p:sp>
          <p:nvSpPr>
            <p:cNvPr id="64545" name="Text Box 26"/>
            <p:cNvSpPr txBox="1">
              <a:spLocks noChangeArrowheads="1"/>
            </p:cNvSpPr>
            <p:nvPr/>
          </p:nvSpPr>
          <p:spPr bwMode="auto">
            <a:xfrm>
              <a:off x="3481" y="1721"/>
              <a:ext cx="993" cy="294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>
                <a:lnSpc>
                  <a:spcPct val="93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PID 4391</a:t>
              </a:r>
            </a:p>
            <a:p>
              <a:pPr algn="ctr">
                <a:lnSpc>
                  <a:spcPct val="90000"/>
                </a:lnSpc>
                <a:buClr>
                  <a:srgbClr val="000000"/>
                </a:buClr>
                <a:buSzPct val="45000"/>
                <a:tabLst>
                  <a:tab pos="0" algn="l"/>
                  <a:tab pos="414726" algn="l"/>
                  <a:tab pos="829452" algn="l"/>
                  <a:tab pos="1244178" algn="l"/>
                  <a:tab pos="1658904" algn="l"/>
                  <a:tab pos="2073631" algn="l"/>
                  <a:tab pos="2488357" algn="l"/>
                  <a:tab pos="2903083" algn="l"/>
                  <a:tab pos="3317809" algn="l"/>
                  <a:tab pos="3732535" algn="l"/>
                  <a:tab pos="4147261" algn="l"/>
                  <a:tab pos="4561987" algn="l"/>
                  <a:tab pos="4976713" algn="l"/>
                  <a:tab pos="5391440" algn="l"/>
                  <a:tab pos="5806166" algn="l"/>
                  <a:tab pos="6220892" algn="l"/>
                  <a:tab pos="6635618" algn="l"/>
                  <a:tab pos="7050344" algn="l"/>
                  <a:tab pos="7465070" algn="l"/>
                  <a:tab pos="7879796" algn="l"/>
                  <a:tab pos="8294522" algn="l"/>
                </a:tabLst>
              </a:pPr>
              <a:r>
                <a:rPr lang="en-GB" sz="1500" dirty="0">
                  <a:solidFill>
                    <a:srgbClr val="000000"/>
                  </a:solidFill>
                  <a:latin typeface="Calibri" charset="0"/>
                  <a:ea typeface="Calibri" charset="0"/>
                  <a:cs typeface="Calibri" charset="0"/>
                </a:rPr>
                <a:t>State: Ready</a:t>
              </a:r>
            </a:p>
          </p:txBody>
        </p:sp>
      </p:grpSp>
      <p:cxnSp>
        <p:nvCxnSpPr>
          <p:cNvPr id="64520" name="AutoShape 27"/>
          <p:cNvCxnSpPr>
            <a:cxnSpLocks noChangeShapeType="1"/>
          </p:cNvCxnSpPr>
          <p:nvPr/>
        </p:nvCxnSpPr>
        <p:spPr bwMode="auto">
          <a:xfrm>
            <a:off x="4366081" y="3579799"/>
            <a:ext cx="545760" cy="1441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cxnSp>
        <p:nvCxnSpPr>
          <p:cNvPr id="64521" name="AutoShape 28"/>
          <p:cNvCxnSpPr>
            <a:cxnSpLocks noChangeShapeType="1"/>
          </p:cNvCxnSpPr>
          <p:nvPr/>
        </p:nvCxnSpPr>
        <p:spPr bwMode="auto">
          <a:xfrm>
            <a:off x="4366081" y="5197090"/>
            <a:ext cx="545760" cy="1440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grpSp>
        <p:nvGrpSpPr>
          <p:cNvPr id="10" name="Group 29"/>
          <p:cNvGrpSpPr>
            <a:grpSpLocks/>
          </p:cNvGrpSpPr>
          <p:nvPr/>
        </p:nvGrpSpPr>
        <p:grpSpPr bwMode="auto">
          <a:xfrm>
            <a:off x="6521760" y="4505817"/>
            <a:ext cx="2079360" cy="1379665"/>
            <a:chOff x="4529" y="2813"/>
            <a:chExt cx="1444" cy="958"/>
          </a:xfrm>
        </p:grpSpPr>
        <p:grpSp>
          <p:nvGrpSpPr>
            <p:cNvPr id="11" name="Group 30"/>
            <p:cNvGrpSpPr>
              <a:grpSpLocks/>
            </p:cNvGrpSpPr>
            <p:nvPr/>
          </p:nvGrpSpPr>
          <p:grpSpPr bwMode="auto">
            <a:xfrm>
              <a:off x="4855" y="2813"/>
              <a:ext cx="1118" cy="958"/>
              <a:chOff x="4855" y="2813"/>
              <a:chExt cx="1118" cy="958"/>
            </a:xfrm>
          </p:grpSpPr>
          <p:sp>
            <p:nvSpPr>
              <p:cNvPr id="64538" name="AutoShape 31"/>
              <p:cNvSpPr>
                <a:spLocks noChangeArrowheads="1"/>
              </p:cNvSpPr>
              <p:nvPr/>
            </p:nvSpPr>
            <p:spPr bwMode="auto">
              <a:xfrm>
                <a:off x="4855" y="2813"/>
                <a:ext cx="1119" cy="959"/>
              </a:xfrm>
              <a:prstGeom prst="roundRect">
                <a:avLst>
                  <a:gd name="adj" fmla="val 102"/>
                </a:avLst>
              </a:prstGeom>
              <a:solidFill>
                <a:srgbClr val="E6E6E6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hangingPunct="0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2"/>
                  <a:buNone/>
                </a:pPr>
                <a:endParaRPr lang="tr-TR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12" name="Group 32"/>
              <p:cNvGrpSpPr>
                <a:grpSpLocks/>
              </p:cNvGrpSpPr>
              <p:nvPr/>
            </p:nvGrpSpPr>
            <p:grpSpPr bwMode="auto">
              <a:xfrm>
                <a:off x="4965" y="3211"/>
                <a:ext cx="899" cy="471"/>
                <a:chOff x="4965" y="3211"/>
                <a:chExt cx="899" cy="471"/>
              </a:xfrm>
            </p:grpSpPr>
            <p:sp>
              <p:nvSpPr>
                <p:cNvPr id="64541" name="AutoShape 33"/>
                <p:cNvSpPr>
                  <a:spLocks noChangeArrowheads="1"/>
                </p:cNvSpPr>
                <p:nvPr/>
              </p:nvSpPr>
              <p:spPr bwMode="auto">
                <a:xfrm>
                  <a:off x="4965" y="3211"/>
                  <a:ext cx="900" cy="195"/>
                </a:xfrm>
                <a:prstGeom prst="roundRect">
                  <a:avLst>
                    <a:gd name="adj" fmla="val 514"/>
                  </a:avLst>
                </a:prstGeom>
                <a:solidFill>
                  <a:srgbClr val="C0C0C0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 anchorCtr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tabLst>
                      <a:tab pos="0" algn="l"/>
                      <a:tab pos="414726" algn="l"/>
                      <a:tab pos="829452" algn="l"/>
                      <a:tab pos="1244178" algn="l"/>
                      <a:tab pos="1658904" algn="l"/>
                      <a:tab pos="2073631" algn="l"/>
                      <a:tab pos="2488357" algn="l"/>
                      <a:tab pos="2903083" algn="l"/>
                      <a:tab pos="3317809" algn="l"/>
                      <a:tab pos="3732535" algn="l"/>
                      <a:tab pos="4147261" algn="l"/>
                      <a:tab pos="4561987" algn="l"/>
                      <a:tab pos="4976713" algn="l"/>
                      <a:tab pos="5391440" algn="l"/>
                      <a:tab pos="5806166" algn="l"/>
                      <a:tab pos="6220892" algn="l"/>
                      <a:tab pos="6635618" algn="l"/>
                      <a:tab pos="7050344" algn="l"/>
                      <a:tab pos="7465070" algn="l"/>
                      <a:tab pos="7879796" algn="l"/>
                      <a:tab pos="8294522" algn="l"/>
                    </a:tabLst>
                  </a:pPr>
                  <a:r>
                    <a:rPr lang="en-GB" sz="1500" dirty="0">
                      <a:solidFill>
                        <a:srgbClr val="000000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PC</a:t>
                  </a:r>
                </a:p>
              </p:txBody>
            </p:sp>
            <p:sp>
              <p:nvSpPr>
                <p:cNvPr id="64542" name="AutoShape 34"/>
                <p:cNvSpPr>
                  <a:spLocks noChangeArrowheads="1"/>
                </p:cNvSpPr>
                <p:nvPr/>
              </p:nvSpPr>
              <p:spPr bwMode="auto">
                <a:xfrm>
                  <a:off x="4965" y="3488"/>
                  <a:ext cx="900" cy="195"/>
                </a:xfrm>
                <a:prstGeom prst="roundRect">
                  <a:avLst>
                    <a:gd name="adj" fmla="val 514"/>
                  </a:avLst>
                </a:prstGeom>
                <a:solidFill>
                  <a:srgbClr val="C0C0C0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 anchorCtr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tabLst>
                      <a:tab pos="0" algn="l"/>
                      <a:tab pos="414726" algn="l"/>
                      <a:tab pos="829452" algn="l"/>
                      <a:tab pos="1244178" algn="l"/>
                      <a:tab pos="1658904" algn="l"/>
                      <a:tab pos="2073631" algn="l"/>
                      <a:tab pos="2488357" algn="l"/>
                      <a:tab pos="2903083" algn="l"/>
                      <a:tab pos="3317809" algn="l"/>
                      <a:tab pos="3732535" algn="l"/>
                      <a:tab pos="4147261" algn="l"/>
                      <a:tab pos="4561987" algn="l"/>
                      <a:tab pos="4976713" algn="l"/>
                      <a:tab pos="5391440" algn="l"/>
                      <a:tab pos="5806166" algn="l"/>
                      <a:tab pos="6220892" algn="l"/>
                      <a:tab pos="6635618" algn="l"/>
                      <a:tab pos="7050344" algn="l"/>
                      <a:tab pos="7465070" algn="l"/>
                      <a:tab pos="7879796" algn="l"/>
                      <a:tab pos="8294522" algn="l"/>
                    </a:tabLst>
                  </a:pPr>
                  <a:r>
                    <a:rPr lang="en-GB" sz="1500" dirty="0">
                      <a:solidFill>
                        <a:srgbClr val="000000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Registers</a:t>
                  </a:r>
                </a:p>
              </p:txBody>
            </p:sp>
          </p:grpSp>
          <p:sp>
            <p:nvSpPr>
              <p:cNvPr id="64540" name="Text Box 35"/>
              <p:cNvSpPr txBox="1">
                <a:spLocks noChangeArrowheads="1"/>
              </p:cNvSpPr>
              <p:nvPr/>
            </p:nvSpPr>
            <p:spPr bwMode="auto">
              <a:xfrm>
                <a:off x="4926" y="2843"/>
                <a:ext cx="994" cy="29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PID 4923</a:t>
                </a:r>
              </a:p>
              <a:p>
                <a:pPr algn="ctr">
                  <a:lnSpc>
                    <a:spcPct val="90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State: Waiting</a:t>
                </a:r>
              </a:p>
            </p:txBody>
          </p:sp>
        </p:grpSp>
        <p:cxnSp>
          <p:nvCxnSpPr>
            <p:cNvPr id="64537" name="AutoShape 36"/>
            <p:cNvCxnSpPr>
              <a:cxnSpLocks noChangeShapeType="1"/>
            </p:cNvCxnSpPr>
            <p:nvPr/>
          </p:nvCxnSpPr>
          <p:spPr bwMode="auto">
            <a:xfrm flipV="1">
              <a:off x="4529" y="3292"/>
              <a:ext cx="326" cy="2"/>
            </a:xfrm>
            <a:prstGeom prst="straightConnector1">
              <a:avLst/>
            </a:prstGeom>
            <a:noFill/>
            <a:ln w="9360">
              <a:solidFill>
                <a:srgbClr val="6B4794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64523" name="Text Box 37"/>
          <p:cNvSpPr txBox="1">
            <a:spLocks noChangeArrowheads="1"/>
          </p:cNvSpPr>
          <p:nvPr/>
        </p:nvSpPr>
        <p:spPr bwMode="auto">
          <a:xfrm>
            <a:off x="665280" y="3460267"/>
            <a:ext cx="129024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6B4794"/>
                </a:solidFill>
                <a:latin typeface="Calibri" charset="0"/>
                <a:ea typeface="Calibri" charset="0"/>
                <a:cs typeface="Calibri" charset="0"/>
              </a:rPr>
              <a:t>Ready queue</a:t>
            </a:r>
          </a:p>
        </p:txBody>
      </p:sp>
      <p:sp>
        <p:nvSpPr>
          <p:cNvPr id="64524" name="Text Box 38"/>
          <p:cNvSpPr txBox="1">
            <a:spLocks noChangeArrowheads="1"/>
          </p:cNvSpPr>
          <p:nvPr/>
        </p:nvSpPr>
        <p:spPr bwMode="auto">
          <a:xfrm>
            <a:off x="351361" y="5077557"/>
            <a:ext cx="152496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6B4794"/>
                </a:solidFill>
                <a:latin typeface="Calibri" charset="0"/>
                <a:ea typeface="Calibri" charset="0"/>
                <a:cs typeface="Calibri" charset="0"/>
              </a:rPr>
              <a:t>Disk I/O queue</a:t>
            </a:r>
          </a:p>
        </p:txBody>
      </p:sp>
      <p:cxnSp>
        <p:nvCxnSpPr>
          <p:cNvPr id="64525" name="AutoShape 39"/>
          <p:cNvCxnSpPr>
            <a:cxnSpLocks noChangeShapeType="1"/>
            <a:stCxn id="64523" idx="3"/>
          </p:cNvCxnSpPr>
          <p:nvPr/>
        </p:nvCxnSpPr>
        <p:spPr bwMode="auto">
          <a:xfrm flipV="1">
            <a:off x="1955520" y="3579799"/>
            <a:ext cx="800640" cy="1441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cxnSp>
        <p:nvCxnSpPr>
          <p:cNvPr id="64526" name="AutoShape 40"/>
          <p:cNvCxnSpPr>
            <a:cxnSpLocks noChangeShapeType="1"/>
            <a:stCxn id="64524" idx="3"/>
          </p:cNvCxnSpPr>
          <p:nvPr/>
        </p:nvCxnSpPr>
        <p:spPr bwMode="auto">
          <a:xfrm flipV="1">
            <a:off x="1876320" y="5197090"/>
            <a:ext cx="879840" cy="1440"/>
          </a:xfrm>
          <a:prstGeom prst="straightConnector1">
            <a:avLst/>
          </a:prstGeom>
          <a:noFill/>
          <a:ln w="9360">
            <a:solidFill>
              <a:srgbClr val="6B4794"/>
            </a:solidFill>
            <a:miter lim="800000"/>
            <a:headEnd/>
            <a:tailEnd type="triangle" w="med" len="med"/>
          </a:ln>
        </p:spPr>
      </p:cxnSp>
      <p:grpSp>
        <p:nvGrpSpPr>
          <p:cNvPr id="13" name="Group 41"/>
          <p:cNvGrpSpPr>
            <a:grpSpLocks/>
          </p:cNvGrpSpPr>
          <p:nvPr/>
        </p:nvGrpSpPr>
        <p:grpSpPr bwMode="auto">
          <a:xfrm>
            <a:off x="6523201" y="2889968"/>
            <a:ext cx="2077920" cy="1379665"/>
            <a:chOff x="4530" y="1691"/>
            <a:chExt cx="1443" cy="958"/>
          </a:xfrm>
        </p:grpSpPr>
        <p:grpSp>
          <p:nvGrpSpPr>
            <p:cNvPr id="14" name="Group 42"/>
            <p:cNvGrpSpPr>
              <a:grpSpLocks/>
            </p:cNvGrpSpPr>
            <p:nvPr/>
          </p:nvGrpSpPr>
          <p:grpSpPr bwMode="auto">
            <a:xfrm>
              <a:off x="4855" y="1691"/>
              <a:ext cx="1118" cy="958"/>
              <a:chOff x="4855" y="1691"/>
              <a:chExt cx="1118" cy="958"/>
            </a:xfrm>
          </p:grpSpPr>
          <p:sp>
            <p:nvSpPr>
              <p:cNvPr id="64531" name="AutoShape 43"/>
              <p:cNvSpPr>
                <a:spLocks noChangeArrowheads="1"/>
              </p:cNvSpPr>
              <p:nvPr/>
            </p:nvSpPr>
            <p:spPr bwMode="auto">
              <a:xfrm>
                <a:off x="4855" y="1691"/>
                <a:ext cx="1119" cy="959"/>
              </a:xfrm>
              <a:prstGeom prst="roundRect">
                <a:avLst>
                  <a:gd name="adj" fmla="val 102"/>
                </a:avLst>
              </a:prstGeom>
              <a:solidFill>
                <a:srgbClr val="E6E6E6"/>
              </a:solidFill>
              <a:ln w="936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hangingPunct="0">
                  <a:lnSpc>
                    <a:spcPct val="94000"/>
                  </a:lnSpc>
                  <a:buClr>
                    <a:srgbClr val="000000"/>
                  </a:buClr>
                  <a:buSzPct val="45000"/>
                  <a:buFont typeface="Wingdings" charset="2"/>
                  <a:buNone/>
                </a:pPr>
                <a:endParaRPr lang="tr-TR">
                  <a:latin typeface="Calibri" charset="0"/>
                  <a:ea typeface="Calibri" charset="0"/>
                  <a:cs typeface="Calibri" charset="0"/>
                </a:endParaRPr>
              </a:p>
            </p:txBody>
          </p:sp>
          <p:grpSp>
            <p:nvGrpSpPr>
              <p:cNvPr id="15" name="Group 44"/>
              <p:cNvGrpSpPr>
                <a:grpSpLocks/>
              </p:cNvGrpSpPr>
              <p:nvPr/>
            </p:nvGrpSpPr>
            <p:grpSpPr bwMode="auto">
              <a:xfrm>
                <a:off x="4965" y="2089"/>
                <a:ext cx="899" cy="472"/>
                <a:chOff x="4965" y="2089"/>
                <a:chExt cx="899" cy="472"/>
              </a:xfrm>
            </p:grpSpPr>
            <p:sp>
              <p:nvSpPr>
                <p:cNvPr id="64534" name="AutoShape 45"/>
                <p:cNvSpPr>
                  <a:spLocks noChangeArrowheads="1"/>
                </p:cNvSpPr>
                <p:nvPr/>
              </p:nvSpPr>
              <p:spPr bwMode="auto">
                <a:xfrm>
                  <a:off x="4965" y="2089"/>
                  <a:ext cx="900" cy="195"/>
                </a:xfrm>
                <a:prstGeom prst="roundRect">
                  <a:avLst>
                    <a:gd name="adj" fmla="val 514"/>
                  </a:avLst>
                </a:prstGeom>
                <a:solidFill>
                  <a:srgbClr val="C0C0C0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 anchorCtr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tabLst>
                      <a:tab pos="0" algn="l"/>
                      <a:tab pos="414726" algn="l"/>
                      <a:tab pos="829452" algn="l"/>
                      <a:tab pos="1244178" algn="l"/>
                      <a:tab pos="1658904" algn="l"/>
                      <a:tab pos="2073631" algn="l"/>
                      <a:tab pos="2488357" algn="l"/>
                      <a:tab pos="2903083" algn="l"/>
                      <a:tab pos="3317809" algn="l"/>
                      <a:tab pos="3732535" algn="l"/>
                      <a:tab pos="4147261" algn="l"/>
                      <a:tab pos="4561987" algn="l"/>
                      <a:tab pos="4976713" algn="l"/>
                      <a:tab pos="5391440" algn="l"/>
                      <a:tab pos="5806166" algn="l"/>
                      <a:tab pos="6220892" algn="l"/>
                      <a:tab pos="6635618" algn="l"/>
                      <a:tab pos="7050344" algn="l"/>
                      <a:tab pos="7465070" algn="l"/>
                      <a:tab pos="7879796" algn="l"/>
                      <a:tab pos="8294522" algn="l"/>
                    </a:tabLst>
                  </a:pPr>
                  <a:r>
                    <a:rPr lang="en-GB" sz="1500" dirty="0">
                      <a:solidFill>
                        <a:srgbClr val="000000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PC</a:t>
                  </a:r>
                </a:p>
              </p:txBody>
            </p:sp>
            <p:sp>
              <p:nvSpPr>
                <p:cNvPr id="64535" name="AutoShape 46"/>
                <p:cNvSpPr>
                  <a:spLocks noChangeArrowheads="1"/>
                </p:cNvSpPr>
                <p:nvPr/>
              </p:nvSpPr>
              <p:spPr bwMode="auto">
                <a:xfrm>
                  <a:off x="4965" y="2367"/>
                  <a:ext cx="900" cy="195"/>
                </a:xfrm>
                <a:prstGeom prst="roundRect">
                  <a:avLst>
                    <a:gd name="adj" fmla="val 514"/>
                  </a:avLst>
                </a:prstGeom>
                <a:solidFill>
                  <a:srgbClr val="C0C0C0"/>
                </a:solidFill>
                <a:ln w="936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lIns="0" tIns="0" rIns="0" bIns="0" anchor="ctr" anchorCtr="1">
                  <a:prstTxWarp prst="textNoShape">
                    <a:avLst/>
                  </a:prstTxWarp>
                </a:bodyPr>
                <a:lstStyle/>
                <a:p>
                  <a:pPr algn="ctr">
                    <a:lnSpc>
                      <a:spcPct val="93000"/>
                    </a:lnSpc>
                    <a:buClr>
                      <a:srgbClr val="000000"/>
                    </a:buClr>
                    <a:buSzPct val="45000"/>
                    <a:tabLst>
                      <a:tab pos="0" algn="l"/>
                      <a:tab pos="414726" algn="l"/>
                      <a:tab pos="829452" algn="l"/>
                      <a:tab pos="1244178" algn="l"/>
                      <a:tab pos="1658904" algn="l"/>
                      <a:tab pos="2073631" algn="l"/>
                      <a:tab pos="2488357" algn="l"/>
                      <a:tab pos="2903083" algn="l"/>
                      <a:tab pos="3317809" algn="l"/>
                      <a:tab pos="3732535" algn="l"/>
                      <a:tab pos="4147261" algn="l"/>
                      <a:tab pos="4561987" algn="l"/>
                      <a:tab pos="4976713" algn="l"/>
                      <a:tab pos="5391440" algn="l"/>
                      <a:tab pos="5806166" algn="l"/>
                      <a:tab pos="6220892" algn="l"/>
                      <a:tab pos="6635618" algn="l"/>
                      <a:tab pos="7050344" algn="l"/>
                      <a:tab pos="7465070" algn="l"/>
                      <a:tab pos="7879796" algn="l"/>
                      <a:tab pos="8294522" algn="l"/>
                    </a:tabLst>
                  </a:pPr>
                  <a:r>
                    <a:rPr lang="en-GB" sz="1500" dirty="0">
                      <a:solidFill>
                        <a:srgbClr val="000000"/>
                      </a:solidFill>
                      <a:latin typeface="Calibri" charset="0"/>
                      <a:ea typeface="Calibri" charset="0"/>
                      <a:cs typeface="Calibri" charset="0"/>
                    </a:rPr>
                    <a:t>Registers</a:t>
                  </a:r>
                </a:p>
              </p:txBody>
            </p:sp>
          </p:grpSp>
          <p:sp>
            <p:nvSpPr>
              <p:cNvPr id="64533" name="Text Box 47"/>
              <p:cNvSpPr txBox="1">
                <a:spLocks noChangeArrowheads="1"/>
              </p:cNvSpPr>
              <p:nvPr/>
            </p:nvSpPr>
            <p:spPr bwMode="auto">
              <a:xfrm>
                <a:off x="4926" y="1721"/>
                <a:ext cx="994" cy="294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0" tIns="0" rIns="0" bIns="0">
                <a:prstTxWarp prst="textNoShape">
                  <a:avLst/>
                </a:prstTxWarp>
              </a:bodyPr>
              <a:lstStyle/>
              <a:p>
                <a:pPr algn="ctr">
                  <a:lnSpc>
                    <a:spcPct val="93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PID 4923</a:t>
                </a:r>
              </a:p>
              <a:p>
                <a:pPr algn="ctr">
                  <a:lnSpc>
                    <a:spcPct val="90000"/>
                  </a:lnSpc>
                  <a:buClr>
                    <a:srgbClr val="000000"/>
                  </a:buClr>
                  <a:buSzPct val="45000"/>
                  <a:tabLst>
                    <a:tab pos="0" algn="l"/>
                    <a:tab pos="414726" algn="l"/>
                    <a:tab pos="829452" algn="l"/>
                    <a:tab pos="1244178" algn="l"/>
                    <a:tab pos="1658904" algn="l"/>
                    <a:tab pos="2073631" algn="l"/>
                    <a:tab pos="2488357" algn="l"/>
                    <a:tab pos="2903083" algn="l"/>
                    <a:tab pos="3317809" algn="l"/>
                    <a:tab pos="3732535" algn="l"/>
                    <a:tab pos="4147261" algn="l"/>
                    <a:tab pos="4561987" algn="l"/>
                    <a:tab pos="4976713" algn="l"/>
                    <a:tab pos="5391440" algn="l"/>
                    <a:tab pos="5806166" algn="l"/>
                    <a:tab pos="6220892" algn="l"/>
                    <a:tab pos="6635618" algn="l"/>
                    <a:tab pos="7050344" algn="l"/>
                    <a:tab pos="7465070" algn="l"/>
                    <a:tab pos="7879796" algn="l"/>
                    <a:tab pos="8294522" algn="l"/>
                  </a:tabLst>
                </a:pPr>
                <a:r>
                  <a:rPr lang="en-GB" sz="1500" dirty="0">
                    <a:solidFill>
                      <a:srgbClr val="000000"/>
                    </a:solidFill>
                    <a:latin typeface="Calibri" charset="0"/>
                    <a:ea typeface="Calibri" charset="0"/>
                    <a:cs typeface="Calibri" charset="0"/>
                  </a:rPr>
                  <a:t>State: Ready</a:t>
                </a:r>
              </a:p>
            </p:txBody>
          </p:sp>
        </p:grpSp>
        <p:cxnSp>
          <p:nvCxnSpPr>
            <p:cNvPr id="64530" name="AutoShape 48"/>
            <p:cNvCxnSpPr>
              <a:cxnSpLocks noChangeShapeType="1"/>
            </p:cNvCxnSpPr>
            <p:nvPr/>
          </p:nvCxnSpPr>
          <p:spPr bwMode="auto">
            <a:xfrm flipV="1">
              <a:off x="4530" y="2170"/>
              <a:ext cx="325" cy="1"/>
            </a:xfrm>
            <a:prstGeom prst="straightConnector1">
              <a:avLst/>
            </a:prstGeom>
            <a:noFill/>
            <a:ln w="9360">
              <a:solidFill>
                <a:srgbClr val="6B4794"/>
              </a:solidFill>
              <a:miter lim="800000"/>
              <a:headEnd/>
              <a:tailEnd type="triangle" w="med" len="med"/>
            </a:ln>
          </p:spPr>
        </p:cxnSp>
      </p:grpSp>
      <p:sp>
        <p:nvSpPr>
          <p:cNvPr id="22577" name="Text Box 49"/>
          <p:cNvSpPr txBox="1">
            <a:spLocks noChangeArrowheads="1"/>
          </p:cNvSpPr>
          <p:nvPr/>
        </p:nvSpPr>
        <p:spPr bwMode="auto">
          <a:xfrm>
            <a:off x="6727681" y="6006455"/>
            <a:ext cx="2164320" cy="24194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45000"/>
              <a:tabLst>
                <a:tab pos="0" algn="l"/>
                <a:tab pos="414726" algn="l"/>
                <a:tab pos="829452" algn="l"/>
                <a:tab pos="1244178" algn="l"/>
                <a:tab pos="1658904" algn="l"/>
                <a:tab pos="2073631" algn="l"/>
                <a:tab pos="2488357" algn="l"/>
                <a:tab pos="2903083" algn="l"/>
                <a:tab pos="3317809" algn="l"/>
                <a:tab pos="3732535" algn="l"/>
                <a:tab pos="4147261" algn="l"/>
                <a:tab pos="4561987" algn="l"/>
                <a:tab pos="4976713" algn="l"/>
                <a:tab pos="5391440" algn="l"/>
                <a:tab pos="5806166" algn="l"/>
                <a:tab pos="6220892" algn="l"/>
                <a:tab pos="6635618" algn="l"/>
                <a:tab pos="7050344" algn="l"/>
                <a:tab pos="7465070" algn="l"/>
                <a:tab pos="7879796" algn="l"/>
                <a:tab pos="8294522" algn="l"/>
              </a:tabLst>
            </a:pPr>
            <a:r>
              <a:rPr lang="en-GB" sz="1600" dirty="0">
                <a:solidFill>
                  <a:srgbClr val="993333"/>
                </a:solidFill>
                <a:latin typeface="Calibri" charset="0"/>
                <a:ea typeface="Calibri" charset="0"/>
                <a:cs typeface="Calibri" charset="0"/>
              </a:rPr>
              <a:t>Disk I/O completes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2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378" name="Rectangle 2"/>
          <p:cNvSpPr>
            <a:spLocks noGrp="1" noChangeArrowheads="1"/>
          </p:cNvSpPr>
          <p:nvPr>
            <p:ph type="title"/>
          </p:nvPr>
        </p:nvSpPr>
        <p:spPr>
          <a:xfrm>
            <a:off x="406400" y="493712"/>
            <a:ext cx="6070600" cy="573088"/>
          </a:xfrm>
        </p:spPr>
        <p:txBody>
          <a:bodyPr/>
          <a:lstStyle/>
          <a:p>
            <a:r>
              <a:rPr lang="en-US" dirty="0"/>
              <a:t>Concurrent Processes</a:t>
            </a:r>
          </a:p>
        </p:txBody>
      </p:sp>
      <p:sp>
        <p:nvSpPr>
          <p:cNvPr id="485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09575" y="1219200"/>
            <a:ext cx="7896225" cy="2590800"/>
          </a:xfrm>
        </p:spPr>
        <p:txBody>
          <a:bodyPr/>
          <a:lstStyle/>
          <a:p>
            <a:r>
              <a:rPr lang="en-US" dirty="0"/>
              <a:t>Each process is a logical control flow. </a:t>
            </a:r>
          </a:p>
          <a:p>
            <a:r>
              <a:rPr lang="en-US" dirty="0"/>
              <a:t>Two processes </a:t>
            </a:r>
            <a:r>
              <a:rPr lang="en-US" i="1" dirty="0"/>
              <a:t>run </a:t>
            </a:r>
            <a:r>
              <a:rPr lang="en-US" i="1" dirty="0">
                <a:solidFill>
                  <a:srgbClr val="C00000"/>
                </a:solidFill>
              </a:rPr>
              <a:t>concurrently</a:t>
            </a:r>
            <a:r>
              <a:rPr lang="en-US" dirty="0"/>
              <a:t> (</a:t>
            </a:r>
            <a:r>
              <a:rPr lang="en-US" i="1" dirty="0"/>
              <a:t>are concurrent)</a:t>
            </a:r>
            <a:r>
              <a:rPr lang="en-US" dirty="0"/>
              <a:t> if their flows overlap in time</a:t>
            </a:r>
          </a:p>
          <a:p>
            <a:r>
              <a:rPr lang="en-US" dirty="0"/>
              <a:t>Otherwise, they are </a:t>
            </a:r>
            <a:r>
              <a:rPr lang="en-US" i="1" dirty="0">
                <a:solidFill>
                  <a:srgbClr val="C00000"/>
                </a:solidFill>
              </a:rPr>
              <a:t>sequential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Examples (running on single core):</a:t>
            </a:r>
          </a:p>
          <a:p>
            <a:pPr lvl="1"/>
            <a:r>
              <a:rPr lang="en-US" dirty="0"/>
              <a:t>Concurrent: A &amp; B, A &amp; C</a:t>
            </a:r>
          </a:p>
          <a:p>
            <a:pPr lvl="1"/>
            <a:r>
              <a:rPr lang="en-US" dirty="0"/>
              <a:t>Sequential: B &amp; C</a:t>
            </a:r>
          </a:p>
        </p:txBody>
      </p:sp>
      <p:sp>
        <p:nvSpPr>
          <p:cNvPr id="485383" name="Line 7"/>
          <p:cNvSpPr>
            <a:spLocks noChangeShapeType="1"/>
          </p:cNvSpPr>
          <p:nvPr/>
        </p:nvSpPr>
        <p:spPr bwMode="auto">
          <a:xfrm>
            <a:off x="3124200" y="4648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84" name="Text Box 8"/>
          <p:cNvSpPr txBox="1">
            <a:spLocks noChangeArrowheads="1"/>
          </p:cNvSpPr>
          <p:nvPr/>
        </p:nvSpPr>
        <p:spPr bwMode="auto">
          <a:xfrm>
            <a:off x="2622332" y="4267200"/>
            <a:ext cx="99969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485385" name="Text Box 9"/>
          <p:cNvSpPr txBox="1">
            <a:spLocks noChangeArrowheads="1"/>
          </p:cNvSpPr>
          <p:nvPr/>
        </p:nvSpPr>
        <p:spPr bwMode="auto">
          <a:xfrm>
            <a:off x="4146332" y="4267200"/>
            <a:ext cx="99007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485386" name="Text Box 10"/>
          <p:cNvSpPr txBox="1">
            <a:spLocks noChangeArrowheads="1"/>
          </p:cNvSpPr>
          <p:nvPr/>
        </p:nvSpPr>
        <p:spPr bwMode="auto">
          <a:xfrm>
            <a:off x="5670332" y="4267200"/>
            <a:ext cx="98366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C</a:t>
            </a:r>
          </a:p>
        </p:txBody>
      </p:sp>
      <p:sp>
        <p:nvSpPr>
          <p:cNvPr id="485387" name="Line 11"/>
          <p:cNvSpPr>
            <a:spLocks noChangeShapeType="1"/>
          </p:cNvSpPr>
          <p:nvPr/>
        </p:nvSpPr>
        <p:spPr bwMode="auto">
          <a:xfrm>
            <a:off x="4648200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88" name="Line 12"/>
          <p:cNvSpPr>
            <a:spLocks noChangeShapeType="1"/>
          </p:cNvSpPr>
          <p:nvPr/>
        </p:nvSpPr>
        <p:spPr bwMode="auto">
          <a:xfrm>
            <a:off x="6172200" y="5257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89" name="Line 13"/>
          <p:cNvSpPr>
            <a:spLocks noChangeShapeType="1"/>
          </p:cNvSpPr>
          <p:nvPr/>
        </p:nvSpPr>
        <p:spPr bwMode="auto">
          <a:xfrm>
            <a:off x="3124200" y="55626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0" name="Line 14"/>
          <p:cNvSpPr>
            <a:spLocks noChangeShapeType="1"/>
          </p:cNvSpPr>
          <p:nvPr/>
        </p:nvSpPr>
        <p:spPr bwMode="auto">
          <a:xfrm>
            <a:off x="6172200" y="5867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1" name="Line 15"/>
          <p:cNvSpPr>
            <a:spLocks noChangeShapeType="1"/>
          </p:cNvSpPr>
          <p:nvPr/>
        </p:nvSpPr>
        <p:spPr bwMode="auto">
          <a:xfrm>
            <a:off x="2667000" y="49530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2" name="Line 16"/>
          <p:cNvSpPr>
            <a:spLocks noChangeShapeType="1"/>
          </p:cNvSpPr>
          <p:nvPr/>
        </p:nvSpPr>
        <p:spPr bwMode="auto">
          <a:xfrm>
            <a:off x="2667000" y="52578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3" name="Line 17"/>
          <p:cNvSpPr>
            <a:spLocks noChangeShapeType="1"/>
          </p:cNvSpPr>
          <p:nvPr/>
        </p:nvSpPr>
        <p:spPr bwMode="auto">
          <a:xfrm>
            <a:off x="2667000" y="55626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4" name="Line 18"/>
          <p:cNvSpPr>
            <a:spLocks noChangeShapeType="1"/>
          </p:cNvSpPr>
          <p:nvPr/>
        </p:nvSpPr>
        <p:spPr bwMode="auto">
          <a:xfrm>
            <a:off x="2667000" y="58674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5395" name="Line 19"/>
          <p:cNvSpPr>
            <a:spLocks noChangeShapeType="1"/>
          </p:cNvSpPr>
          <p:nvPr/>
        </p:nvSpPr>
        <p:spPr bwMode="auto">
          <a:xfrm>
            <a:off x="2667000" y="61722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0" name="Text Box 1031"/>
          <p:cNvSpPr txBox="1">
            <a:spLocks noChangeArrowheads="1"/>
          </p:cNvSpPr>
          <p:nvPr/>
        </p:nvSpPr>
        <p:spPr bwMode="auto">
          <a:xfrm>
            <a:off x="1010947" y="5177135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21" name="Down Arrow 20"/>
          <p:cNvSpPr/>
          <p:nvPr/>
        </p:nvSpPr>
        <p:spPr bwMode="auto">
          <a:xfrm>
            <a:off x="1752600" y="4800600"/>
            <a:ext cx="457200" cy="16002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85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3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5383" grpId="0" animBg="1"/>
      <p:bldP spid="485384" grpId="0"/>
      <p:bldP spid="485385" grpId="0"/>
      <p:bldP spid="485386" grpId="0"/>
      <p:bldP spid="485387" grpId="0" animBg="1"/>
      <p:bldP spid="485388" grpId="0" animBg="1"/>
      <p:bldP spid="485389" grpId="0" animBg="1"/>
      <p:bldP spid="485390" grpId="0" animBg="1"/>
      <p:bldP spid="485391" grpId="0" animBg="1"/>
      <p:bldP spid="485392" grpId="0" animBg="1"/>
      <p:bldP spid="485393" grpId="0" animBg="1"/>
      <p:bldP spid="485394" grpId="0" animBg="1"/>
      <p:bldP spid="485395" grpId="0" animBg="1"/>
      <p:bldP spid="20" grpId="0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533400"/>
            <a:ext cx="8458200" cy="573088"/>
          </a:xfrm>
        </p:spPr>
        <p:txBody>
          <a:bodyPr/>
          <a:lstStyle/>
          <a:p>
            <a:r>
              <a:rPr lang="en-US"/>
              <a:t>User View of Concurrent Processes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0031" y="1285875"/>
            <a:ext cx="7896225" cy="1990725"/>
          </a:xfrm>
        </p:spPr>
        <p:txBody>
          <a:bodyPr/>
          <a:lstStyle/>
          <a:p>
            <a:r>
              <a:rPr lang="en-US" dirty="0"/>
              <a:t>Control flows for concurrent processes are physically disjoint in time</a:t>
            </a:r>
          </a:p>
          <a:p>
            <a:endParaRPr lang="en-US" dirty="0"/>
          </a:p>
          <a:p>
            <a:r>
              <a:rPr lang="en-US" dirty="0"/>
              <a:t>However, we can think of concurrent processes as running in parallel with each other</a:t>
            </a:r>
          </a:p>
        </p:txBody>
      </p:sp>
      <p:sp>
        <p:nvSpPr>
          <p:cNvPr id="486405" name="Text Box 5"/>
          <p:cNvSpPr txBox="1">
            <a:spLocks noChangeArrowheads="1"/>
          </p:cNvSpPr>
          <p:nvPr/>
        </p:nvSpPr>
        <p:spPr bwMode="auto">
          <a:xfrm>
            <a:off x="1219200" y="4311650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486406" name="Line 6"/>
          <p:cNvSpPr>
            <a:spLocks noChangeShapeType="1"/>
          </p:cNvSpPr>
          <p:nvPr/>
        </p:nvSpPr>
        <p:spPr bwMode="auto">
          <a:xfrm>
            <a:off x="3276600" y="4191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07" name="Text Box 7"/>
          <p:cNvSpPr txBox="1">
            <a:spLocks noChangeArrowheads="1"/>
          </p:cNvSpPr>
          <p:nvPr/>
        </p:nvSpPr>
        <p:spPr bwMode="auto">
          <a:xfrm>
            <a:off x="2709863" y="3810000"/>
            <a:ext cx="99969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486408" name="Text Box 8"/>
          <p:cNvSpPr txBox="1">
            <a:spLocks noChangeArrowheads="1"/>
          </p:cNvSpPr>
          <p:nvPr/>
        </p:nvSpPr>
        <p:spPr bwMode="auto">
          <a:xfrm>
            <a:off x="4233863" y="3810000"/>
            <a:ext cx="99007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486409" name="Text Box 9"/>
          <p:cNvSpPr txBox="1">
            <a:spLocks noChangeArrowheads="1"/>
          </p:cNvSpPr>
          <p:nvPr/>
        </p:nvSpPr>
        <p:spPr bwMode="auto">
          <a:xfrm>
            <a:off x="5757863" y="3810000"/>
            <a:ext cx="98366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solidFill>
                  <a:srgbClr val="C00000"/>
                </a:solidFill>
                <a:latin typeface="Calibri" pitchFamily="34" charset="0"/>
              </a:rPr>
              <a:t>Process C</a:t>
            </a:r>
          </a:p>
        </p:txBody>
      </p:sp>
      <p:sp>
        <p:nvSpPr>
          <p:cNvPr id="486410" name="Line 10"/>
          <p:cNvSpPr>
            <a:spLocks noChangeShapeType="1"/>
          </p:cNvSpPr>
          <p:nvPr/>
        </p:nvSpPr>
        <p:spPr bwMode="auto">
          <a:xfrm>
            <a:off x="4800600" y="43434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1" name="Line 11"/>
          <p:cNvSpPr>
            <a:spLocks noChangeShapeType="1"/>
          </p:cNvSpPr>
          <p:nvPr/>
        </p:nvSpPr>
        <p:spPr bwMode="auto">
          <a:xfrm>
            <a:off x="6324600" y="46482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2" name="Line 12"/>
          <p:cNvSpPr>
            <a:spLocks noChangeShapeType="1"/>
          </p:cNvSpPr>
          <p:nvPr/>
        </p:nvSpPr>
        <p:spPr bwMode="auto">
          <a:xfrm>
            <a:off x="3276600" y="4495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3" name="Line 13"/>
          <p:cNvSpPr>
            <a:spLocks noChangeShapeType="1"/>
          </p:cNvSpPr>
          <p:nvPr/>
        </p:nvSpPr>
        <p:spPr bwMode="auto">
          <a:xfrm>
            <a:off x="2819400" y="41910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4" name="Line 14"/>
          <p:cNvSpPr>
            <a:spLocks noChangeShapeType="1"/>
          </p:cNvSpPr>
          <p:nvPr/>
        </p:nvSpPr>
        <p:spPr bwMode="auto">
          <a:xfrm>
            <a:off x="2819400" y="48006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5" name="Line 15"/>
          <p:cNvSpPr>
            <a:spLocks noChangeShapeType="1"/>
          </p:cNvSpPr>
          <p:nvPr/>
        </p:nvSpPr>
        <p:spPr bwMode="auto">
          <a:xfrm>
            <a:off x="6324600" y="49530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6" name="Line 16"/>
          <p:cNvSpPr>
            <a:spLocks noChangeShapeType="1"/>
          </p:cNvSpPr>
          <p:nvPr/>
        </p:nvSpPr>
        <p:spPr bwMode="auto">
          <a:xfrm>
            <a:off x="2819400" y="43434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486417" name="Line 17"/>
          <p:cNvSpPr>
            <a:spLocks noChangeShapeType="1"/>
          </p:cNvSpPr>
          <p:nvPr/>
        </p:nvSpPr>
        <p:spPr bwMode="auto">
          <a:xfrm>
            <a:off x="2819400" y="4648200"/>
            <a:ext cx="4038600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Down Arrow 17"/>
          <p:cNvSpPr/>
          <p:nvPr/>
        </p:nvSpPr>
        <p:spPr bwMode="auto">
          <a:xfrm>
            <a:off x="1981200" y="4000500"/>
            <a:ext cx="457200" cy="1257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88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6" y="493712"/>
            <a:ext cx="7159078" cy="573088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Creating Processes</a:t>
            </a:r>
            <a:endParaRPr lang="en-US" dirty="0"/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844" y="1282244"/>
            <a:ext cx="8015287" cy="5270956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i="1" dirty="0">
                <a:latin typeface="Calibri"/>
                <a:cs typeface="Calibri"/>
              </a:rPr>
              <a:t>Parent process </a:t>
            </a:r>
            <a:r>
              <a:rPr lang="en-US" dirty="0">
                <a:latin typeface="Calibri"/>
                <a:cs typeface="Calibri"/>
              </a:rPr>
              <a:t>creates a new running </a:t>
            </a:r>
            <a:r>
              <a:rPr lang="en-US" i="1" dirty="0">
                <a:latin typeface="Calibri"/>
                <a:cs typeface="Calibri"/>
              </a:rPr>
              <a:t>child process </a:t>
            </a:r>
            <a:r>
              <a:rPr lang="en-US" dirty="0">
                <a:latin typeface="Calibri"/>
                <a:cs typeface="Calibri"/>
              </a:rPr>
              <a:t>by calling </a:t>
            </a:r>
            <a:r>
              <a:rPr lang="en-US" dirty="0">
                <a:latin typeface="Courier New"/>
                <a:cs typeface="Courier New"/>
              </a:rPr>
              <a:t>fork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urier New"/>
              <a:cs typeface="Courier Ne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09E69E-8877-EF45-B36B-3FA32F1E1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2107" y="5791200"/>
            <a:ext cx="800100" cy="1066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86CA7EB-7285-5588-70D6-85BAE7D1B3E9}"/>
              </a:ext>
            </a:extLst>
          </p:cNvPr>
          <p:cNvSpPr txBox="1"/>
          <p:nvPr/>
        </p:nvSpPr>
        <p:spPr>
          <a:xfrm>
            <a:off x="580786" y="5994956"/>
            <a:ext cx="670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800" dirty="0">
                <a:latin typeface="Calibri" pitchFamily="34" charset="0"/>
              </a:rPr>
              <a:t>(*) </a:t>
            </a:r>
            <a:r>
              <a:rPr lang="tr-TR" sz="1800" dirty="0" err="1">
                <a:latin typeface="Calibri" pitchFamily="34" charset="0"/>
              </a:rPr>
              <a:t>See</a:t>
            </a:r>
            <a:r>
              <a:rPr lang="tr-TR" sz="1800" dirty="0">
                <a:latin typeface="Calibri" pitchFamily="34" charset="0"/>
              </a:rPr>
              <a:t> </a:t>
            </a:r>
            <a:r>
              <a:rPr lang="tr-TR" sz="1800" dirty="0">
                <a:latin typeface="Calibri" pitchFamily="34" charset="0"/>
                <a:hlinkClick r:id="rId4"/>
              </a:rPr>
              <a:t>https://www.youtube.com/watch?v=QPXsYOPex4s</a:t>
            </a:r>
            <a:r>
              <a:rPr lang="tr-TR" sz="1800" dirty="0">
                <a:latin typeface="Calibri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60829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 2"/>
          <p:cNvSpPr>
            <a:spLocks noGrp="1" noChangeArrowheads="1"/>
          </p:cNvSpPr>
          <p:nvPr>
            <p:ph type="title"/>
          </p:nvPr>
        </p:nvSpPr>
        <p:spPr>
          <a:xfrm>
            <a:off x="352426" y="493712"/>
            <a:ext cx="7159078" cy="573088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Creating Processes</a:t>
            </a:r>
            <a:endParaRPr lang="en-US" dirty="0"/>
          </a:p>
        </p:txBody>
      </p:sp>
      <p:sp>
        <p:nvSpPr>
          <p:cNvPr id="4894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7844" y="1282244"/>
            <a:ext cx="8015287" cy="5270956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en-US" i="1" dirty="0">
                <a:latin typeface="Calibri"/>
                <a:cs typeface="Calibri"/>
              </a:rPr>
              <a:t>Parent process </a:t>
            </a:r>
            <a:r>
              <a:rPr lang="en-US" dirty="0">
                <a:latin typeface="Calibri"/>
                <a:cs typeface="Calibri"/>
              </a:rPr>
              <a:t>creates a new running </a:t>
            </a:r>
            <a:r>
              <a:rPr lang="en-US" i="1" dirty="0">
                <a:latin typeface="Calibri"/>
                <a:cs typeface="Calibri"/>
              </a:rPr>
              <a:t>child process </a:t>
            </a:r>
            <a:r>
              <a:rPr lang="en-US" dirty="0">
                <a:latin typeface="Calibri"/>
                <a:cs typeface="Calibri"/>
              </a:rPr>
              <a:t>by calling </a:t>
            </a:r>
            <a:r>
              <a:rPr lang="en-US" dirty="0">
                <a:latin typeface="Courier New"/>
                <a:cs typeface="Courier New"/>
              </a:rPr>
              <a:t>fork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>
              <a:latin typeface="Courier New"/>
              <a:cs typeface="Courier New"/>
            </a:endParaRPr>
          </a:p>
          <a:p>
            <a:pPr>
              <a:lnSpc>
                <a:spcPct val="110000"/>
              </a:lnSpc>
            </a:pPr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fork(void)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sz="2400" dirty="0"/>
              <a:t>Returns 0 to the child process, child’s PID to parent process</a:t>
            </a:r>
            <a:endParaRPr lang="en-US" sz="2400" dirty="0">
              <a:latin typeface="Calibri"/>
              <a:cs typeface="Calibri"/>
            </a:endParaRPr>
          </a:p>
          <a:p>
            <a:pPr lvl="1">
              <a:lnSpc>
                <a:spcPct val="120000"/>
              </a:lnSpc>
            </a:pPr>
            <a:r>
              <a:rPr lang="en-US" sz="2400" dirty="0">
                <a:latin typeface="Calibri"/>
                <a:cs typeface="Calibri"/>
              </a:rPr>
              <a:t>Child is </a:t>
            </a:r>
            <a:r>
              <a:rPr lang="en-US" sz="2400" i="1" dirty="0">
                <a:latin typeface="Calibri"/>
                <a:cs typeface="Calibri"/>
              </a:rPr>
              <a:t>almost</a:t>
            </a:r>
            <a:r>
              <a:rPr lang="en-US" sz="2400" dirty="0">
                <a:latin typeface="Calibri"/>
                <a:cs typeface="Calibri"/>
              </a:rPr>
              <a:t> identical to parent:</a:t>
            </a:r>
          </a:p>
          <a:p>
            <a:pPr lvl="2">
              <a:lnSpc>
                <a:spcPct val="120000"/>
              </a:lnSpc>
            </a:pPr>
            <a:r>
              <a:rPr lang="en-US" sz="2400" dirty="0">
                <a:latin typeface="Calibri"/>
                <a:cs typeface="Calibri"/>
              </a:rPr>
              <a:t>Child get an identical (but separate) copy of the parent’s virtual address space.</a:t>
            </a:r>
          </a:p>
          <a:p>
            <a:pPr lvl="2">
              <a:lnSpc>
                <a:spcPct val="120000"/>
              </a:lnSpc>
            </a:pPr>
            <a:r>
              <a:rPr lang="en-US" sz="2400" dirty="0">
                <a:latin typeface="Calibri"/>
                <a:cs typeface="Calibri"/>
              </a:rPr>
              <a:t>Child gets identical copies of the parent’s open file descriptors</a:t>
            </a:r>
          </a:p>
          <a:p>
            <a:pPr lvl="2">
              <a:lnSpc>
                <a:spcPct val="120000"/>
              </a:lnSpc>
            </a:pPr>
            <a:r>
              <a:rPr lang="en-US" sz="2400" dirty="0">
                <a:latin typeface="Calibri"/>
                <a:cs typeface="Calibri"/>
              </a:rPr>
              <a:t>Child has a different PID than the parent</a:t>
            </a:r>
          </a:p>
          <a:p>
            <a:pPr lvl="2">
              <a:lnSpc>
                <a:spcPct val="110000"/>
              </a:lnSpc>
            </a:pPr>
            <a:endParaRPr lang="en-US" dirty="0">
              <a:latin typeface="Calibri"/>
              <a:cs typeface="Calibri"/>
            </a:endParaRPr>
          </a:p>
          <a:p>
            <a:pPr>
              <a:lnSpc>
                <a:spcPct val="110000"/>
              </a:lnSpc>
            </a:pP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is interesting (and often confusing) because </a:t>
            </a:r>
            <a:br>
              <a:rPr lang="en-US" dirty="0"/>
            </a:br>
            <a:r>
              <a:rPr lang="en-US" dirty="0"/>
              <a:t>it is called </a:t>
            </a:r>
            <a:r>
              <a:rPr lang="en-US" i="1" dirty="0">
                <a:solidFill>
                  <a:srgbClr val="C00000"/>
                </a:solidFill>
              </a:rPr>
              <a:t>once</a:t>
            </a:r>
            <a:r>
              <a:rPr lang="en-US" i="1" dirty="0"/>
              <a:t> </a:t>
            </a:r>
            <a:r>
              <a:rPr lang="en-US" dirty="0"/>
              <a:t>but returns </a:t>
            </a:r>
            <a:r>
              <a:rPr lang="en-US" i="1" dirty="0">
                <a:solidFill>
                  <a:srgbClr val="C00000"/>
                </a:solidFill>
              </a:rPr>
              <a:t>twice</a:t>
            </a:r>
          </a:p>
        </p:txBody>
      </p:sp>
      <p:sp>
        <p:nvSpPr>
          <p:cNvPr id="2" name="Rectangle 1"/>
          <p:cNvSpPr/>
          <p:nvPr/>
        </p:nvSpPr>
        <p:spPr>
          <a:xfrm>
            <a:off x="371473" y="6306979"/>
            <a:ext cx="7620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  <a:hlinkClick r:id="rId3"/>
              </a:rPr>
              <a:t>https://www.cdn.geeksforgeeks.org/fork-system-call/</a:t>
            </a:r>
            <a:r>
              <a:rPr lang="tr-TR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361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2"/>
            <a:ext cx="5699125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</a:t>
            </a:r>
          </a:p>
        </p:txBody>
      </p:sp>
      <p:sp>
        <p:nvSpPr>
          <p:cNvPr id="490499" name="Text Box 3"/>
          <p:cNvSpPr txBox="1">
            <a:spLocks noChangeArrowheads="1"/>
          </p:cNvSpPr>
          <p:nvPr/>
        </p:nvSpPr>
        <p:spPr bwMode="auto">
          <a:xfrm>
            <a:off x="226540" y="1524000"/>
            <a:ext cx="4955060" cy="3785652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char**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/>
                <a:cs typeface="Courier New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= 1;</a:t>
            </a:r>
          </a:p>
          <a:p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fork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== 0) {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++x);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/>
                <a:cs typeface="Courier New"/>
              </a:rPr>
              <a:t>/* Parent */</a:t>
            </a:r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--x);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36944" y="5638800"/>
            <a:ext cx="1782456" cy="79132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114306" y="497633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257800" y="1358444"/>
            <a:ext cx="3810000" cy="5194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Calibri"/>
                <a:cs typeface="Calibri"/>
              </a:rPr>
              <a:t>Call once, return twice</a:t>
            </a:r>
          </a:p>
          <a:p>
            <a:r>
              <a:rPr lang="en-US" dirty="0">
                <a:latin typeface="Calibri"/>
                <a:cs typeface="Calibri"/>
              </a:rPr>
              <a:t>Concurrent execution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Can’t predict execution order of parent and child</a:t>
            </a:r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3048000" y="5638800"/>
            <a:ext cx="1786364" cy="788935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parent: x=0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029200" y="5638800"/>
            <a:ext cx="1782456" cy="79132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7010400" y="5638800"/>
            <a:ext cx="1782456" cy="79132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540399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2"/>
            <a:ext cx="5699125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36944" y="5638800"/>
            <a:ext cx="1782456" cy="79132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114306" y="497633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257800" y="1358444"/>
            <a:ext cx="3810000" cy="5194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Calibri"/>
                <a:cs typeface="Calibri"/>
              </a:rPr>
              <a:t>Call once, return twice</a:t>
            </a:r>
          </a:p>
          <a:p>
            <a:r>
              <a:rPr lang="en-US" dirty="0">
                <a:latin typeface="Calibri"/>
                <a:cs typeface="Calibri"/>
              </a:rPr>
              <a:t>Concurrent execution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Can’t predict execution order of parent and child</a:t>
            </a:r>
          </a:p>
          <a:p>
            <a:r>
              <a:rPr lang="en-US" dirty="0">
                <a:latin typeface="Calibri"/>
                <a:cs typeface="Calibri"/>
              </a:rPr>
              <a:t>Duplicate but separate address space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>
                <a:latin typeface="Calibri"/>
                <a:cs typeface="Calibri"/>
              </a:rPr>
              <a:t> has a value of 1 when fork returns in parent and child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Subsequent changes to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>
                <a:latin typeface="Calibri"/>
                <a:cs typeface="Calibri"/>
              </a:rPr>
              <a:t> are independent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41870" y="1019062"/>
            <a:ext cx="4955060" cy="427809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char**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/>
                <a:cs typeface="Courier New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= 1;</a:t>
            </a:r>
          </a:p>
          <a:p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fork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== 0) {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++x);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++x);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/>
                <a:cs typeface="Courier New"/>
              </a:rPr>
              <a:t>/* Parent */</a:t>
            </a:r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--x);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--x);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1036944" y="5297156"/>
            <a:ext cx="1786364" cy="1483356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parent: x=-1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x=3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5847712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49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2"/>
            <a:ext cx="5699125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</a:t>
            </a:r>
          </a:p>
        </p:txBody>
      </p:sp>
      <p:sp>
        <p:nvSpPr>
          <p:cNvPr id="6" name="Text Box 4"/>
          <p:cNvSpPr txBox="1">
            <a:spLocks noChangeArrowheads="1"/>
          </p:cNvSpPr>
          <p:nvPr/>
        </p:nvSpPr>
        <p:spPr bwMode="auto">
          <a:xfrm>
            <a:off x="1036944" y="5638800"/>
            <a:ext cx="1782456" cy="791320"/>
          </a:xfrm>
          <a:prstGeom prst="rect">
            <a:avLst/>
          </a:prstGeom>
          <a:solidFill>
            <a:srgbClr val="E6E6E6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/>
                <a:ea typeface="msgothic" charset="0"/>
                <a:cs typeface="Courier New"/>
              </a:rPr>
              <a:t>linux</a:t>
            </a:r>
            <a:r>
              <a:rPr lang="en-GB" sz="1600" dirty="0">
                <a:latin typeface="Courier New"/>
                <a:ea typeface="msgothic" charset="0"/>
                <a:cs typeface="Courier New"/>
              </a:rPr>
              <a:t>&gt; ./fork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/>
                <a:ea typeface="msgothic" charset="0"/>
                <a:cs typeface="Courier New"/>
              </a:rPr>
              <a:t>parent: x=0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>
                <a:latin typeface="Courier New"/>
                <a:ea typeface="msgothic" charset="0"/>
                <a:cs typeface="Courier New"/>
              </a:rPr>
              <a:t>child : x=2</a:t>
            </a:r>
            <a:endParaRPr lang="en-GB" sz="1600" b="1" dirty="0">
              <a:latin typeface="Courier New"/>
              <a:ea typeface="msgothic" charset="0"/>
              <a:cs typeface="Courier New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4114306" y="497633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 bwMode="auto">
          <a:xfrm>
            <a:off x="5257800" y="1358444"/>
            <a:ext cx="3810000" cy="5194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r>
              <a:rPr lang="en-US" dirty="0">
                <a:latin typeface="Calibri"/>
                <a:cs typeface="Calibri"/>
              </a:rPr>
              <a:t>Call once, return twice</a:t>
            </a:r>
          </a:p>
          <a:p>
            <a:r>
              <a:rPr lang="en-US" dirty="0">
                <a:latin typeface="Calibri"/>
                <a:cs typeface="Calibri"/>
              </a:rPr>
              <a:t>Concurrent execution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Can’t predict execution order of parent and child</a:t>
            </a:r>
          </a:p>
          <a:p>
            <a:r>
              <a:rPr lang="en-US" dirty="0">
                <a:latin typeface="Calibri"/>
                <a:cs typeface="Calibri"/>
              </a:rPr>
              <a:t>Duplicate but separate address space</a:t>
            </a:r>
          </a:p>
          <a:p>
            <a:pPr lvl="1"/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>
                <a:latin typeface="Calibri"/>
                <a:cs typeface="Calibri"/>
              </a:rPr>
              <a:t> has a value of 1 when fork returns in parent and child</a:t>
            </a:r>
          </a:p>
          <a:p>
            <a:pPr lvl="1"/>
            <a:r>
              <a:rPr lang="en-US" dirty="0">
                <a:latin typeface="Calibri"/>
                <a:cs typeface="Calibri"/>
              </a:rPr>
              <a:t>Subsequent changes to </a:t>
            </a:r>
            <a:r>
              <a:rPr lang="en-US" dirty="0">
                <a:latin typeface="Courier New"/>
                <a:cs typeface="Courier New"/>
              </a:rPr>
              <a:t>x</a:t>
            </a:r>
            <a:r>
              <a:rPr lang="en-US" dirty="0">
                <a:latin typeface="Calibri"/>
                <a:cs typeface="Calibri"/>
              </a:rPr>
              <a:t> are independent</a:t>
            </a:r>
          </a:p>
          <a:p>
            <a:r>
              <a:rPr lang="en-US" dirty="0">
                <a:latin typeface="Calibri"/>
                <a:cs typeface="Calibri"/>
              </a:rPr>
              <a:t>Shared open files</a:t>
            </a:r>
          </a:p>
          <a:p>
            <a:pPr lvl="1"/>
            <a:r>
              <a:rPr lang="en-US" dirty="0" err="1">
                <a:latin typeface="Courier New"/>
                <a:cs typeface="Courier New"/>
              </a:rPr>
              <a:t>stdout</a:t>
            </a:r>
            <a:r>
              <a:rPr lang="en-US" dirty="0">
                <a:latin typeface="Calibri"/>
                <a:cs typeface="Calibri"/>
              </a:rPr>
              <a:t> is the same in both parent and child</a:t>
            </a:r>
          </a:p>
        </p:txBody>
      </p:sp>
      <p:sp>
        <p:nvSpPr>
          <p:cNvPr id="9" name="Text Box 3"/>
          <p:cNvSpPr txBox="1">
            <a:spLocks noChangeArrowheads="1"/>
          </p:cNvSpPr>
          <p:nvPr/>
        </p:nvSpPr>
        <p:spPr bwMode="auto">
          <a:xfrm>
            <a:off x="341870" y="1019062"/>
            <a:ext cx="4955060" cy="427809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char**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/>
                <a:cs typeface="Courier New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= 1;</a:t>
            </a:r>
          </a:p>
          <a:p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fork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== 0) {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++x);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/* </a:t>
            </a:r>
            <a:r>
              <a:rPr lang="en-US" sz="1600" dirty="0" err="1">
                <a:solidFill>
                  <a:srgbClr val="FF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FF0000"/>
                </a:solidFill>
                <a:latin typeface="Courier New"/>
                <a:cs typeface="Courier New"/>
              </a:rPr>
              <a:t>("child : x=%d\n", ++x); */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/>
                <a:cs typeface="Courier New"/>
              </a:rPr>
              <a:t>/* Parent */</a:t>
            </a:r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--x);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--x);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77132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with Process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19" y="1362075"/>
            <a:ext cx="8558382" cy="4657725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i="1" dirty="0"/>
              <a:t>process graph </a:t>
            </a:r>
            <a:r>
              <a:rPr lang="en-US" dirty="0"/>
              <a:t>is a useful tool for capturing the partial ordering of statements in a concurrent program:</a:t>
            </a:r>
          </a:p>
          <a:p>
            <a:pPr lvl="1"/>
            <a:r>
              <a:rPr lang="en-US" dirty="0"/>
              <a:t>Each vertex is the execution of a statement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 -&gt; b </a:t>
            </a:r>
            <a:r>
              <a:rPr lang="en-US" dirty="0"/>
              <a:t>means </a:t>
            </a:r>
            <a:r>
              <a:rPr lang="en-US" b="1" dirty="0">
                <a:latin typeface="Courier New"/>
                <a:cs typeface="Courier New"/>
              </a:rPr>
              <a:t>a</a:t>
            </a:r>
            <a:r>
              <a:rPr lang="en-US" dirty="0"/>
              <a:t> happens before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</a:p>
          <a:p>
            <a:pPr lvl="1"/>
            <a:r>
              <a:rPr lang="en-US" dirty="0"/>
              <a:t>Edges can be labeled with current value of variables</a:t>
            </a:r>
          </a:p>
          <a:p>
            <a:pPr lvl="1"/>
            <a:r>
              <a:rPr lang="en-US" b="1" dirty="0" err="1">
                <a:latin typeface="Courier New"/>
                <a:cs typeface="Courier New"/>
              </a:rPr>
              <a:t>printf</a:t>
            </a:r>
            <a:r>
              <a:rPr lang="en-US" dirty="0"/>
              <a:t> vertices can be labeled with output</a:t>
            </a:r>
          </a:p>
          <a:p>
            <a:pPr lvl="1"/>
            <a:r>
              <a:rPr lang="en-US" dirty="0"/>
              <a:t>Each graph begins with a vertex with no in-edges </a:t>
            </a:r>
            <a:endParaRPr lang="en-US" dirty="0">
              <a:latin typeface="Courier New"/>
              <a:cs typeface="Courier New"/>
            </a:endParaRPr>
          </a:p>
          <a:p>
            <a:r>
              <a:rPr lang="en-US" dirty="0"/>
              <a:t>Any </a:t>
            </a:r>
            <a:r>
              <a:rPr lang="en-US" i="1" dirty="0"/>
              <a:t>topological sort </a:t>
            </a:r>
            <a:r>
              <a:rPr lang="en-US" dirty="0"/>
              <a:t>of the graph corresponds to a feasible total ordering. </a:t>
            </a:r>
          </a:p>
          <a:p>
            <a:pPr lvl="1"/>
            <a:r>
              <a:rPr lang="en-US" dirty="0"/>
              <a:t>Total ordering of vertices where all edges point from left to right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58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Graph Example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76200" y="1472148"/>
            <a:ext cx="4998484" cy="3785652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main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argc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char**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argv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/>
                <a:cs typeface="Courier New"/>
              </a:rPr>
              <a:t>x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= 1;</a:t>
            </a:r>
          </a:p>
          <a:p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fork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();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== 0) { 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++x);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>
                <a:solidFill>
                  <a:srgbClr val="CB2418"/>
                </a:solidFill>
                <a:latin typeface="Courier New"/>
                <a:cs typeface="Courier New"/>
              </a:rPr>
              <a:t>/* Parent */</a:t>
            </a:r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"parent: x=%d\n"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--x); 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return 0;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4" name="Text Box 407"/>
          <p:cNvSpPr txBox="1">
            <a:spLocks noChangeArrowheads="1"/>
          </p:cNvSpPr>
          <p:nvPr/>
        </p:nvSpPr>
        <p:spPr bwMode="auto">
          <a:xfrm>
            <a:off x="6068150" y="2514600"/>
            <a:ext cx="1834033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child: </a:t>
            </a:r>
            <a:r>
              <a:rPr lang="en-US" sz="1600" dirty="0" err="1">
                <a:solidFill>
                  <a:srgbClr val="FF0000"/>
                </a:solidFill>
                <a:latin typeface="Courier New" charset="0"/>
              </a:rPr>
              <a:t>x</a:t>
            </a:r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=2</a:t>
            </a:r>
          </a:p>
        </p:txBody>
      </p:sp>
      <p:sp>
        <p:nvSpPr>
          <p:cNvPr id="5" name="Oval 4"/>
          <p:cNvSpPr>
            <a:spLocks noChangeAspect="1"/>
          </p:cNvSpPr>
          <p:nvPr/>
        </p:nvSpPr>
        <p:spPr>
          <a:xfrm>
            <a:off x="5192739" y="342815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6" name="TextBox 5"/>
          <p:cNvSpPr txBox="1"/>
          <p:nvPr/>
        </p:nvSpPr>
        <p:spPr>
          <a:xfrm>
            <a:off x="4931297" y="3468791"/>
            <a:ext cx="677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main</a:t>
            </a:r>
          </a:p>
        </p:txBody>
      </p:sp>
      <p:sp>
        <p:nvSpPr>
          <p:cNvPr id="7" name="Oval 6"/>
          <p:cNvSpPr>
            <a:spLocks noChangeAspect="1"/>
          </p:cNvSpPr>
          <p:nvPr/>
        </p:nvSpPr>
        <p:spPr>
          <a:xfrm>
            <a:off x="6106851" y="342815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8" name="Oval 7"/>
          <p:cNvSpPr>
            <a:spLocks noChangeAspect="1"/>
          </p:cNvSpPr>
          <p:nvPr/>
        </p:nvSpPr>
        <p:spPr>
          <a:xfrm>
            <a:off x="7037185" y="3428152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9" name="TextBox 8"/>
          <p:cNvSpPr txBox="1"/>
          <p:nvPr/>
        </p:nvSpPr>
        <p:spPr>
          <a:xfrm>
            <a:off x="5820629" y="3468791"/>
            <a:ext cx="7325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fork</a:t>
            </a:r>
          </a:p>
        </p:txBody>
      </p:sp>
      <p:cxnSp>
        <p:nvCxnSpPr>
          <p:cNvPr id="10" name="Elbow Connector 35"/>
          <p:cNvCxnSpPr>
            <a:stCxn id="9" idx="0"/>
          </p:cNvCxnSpPr>
          <p:nvPr/>
        </p:nvCxnSpPr>
        <p:spPr>
          <a:xfrm rot="5400000" flipH="1" flipV="1">
            <a:off x="6282528" y="2732784"/>
            <a:ext cx="640394" cy="831621"/>
          </a:xfrm>
          <a:prstGeom prst="bentConnector2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>
            <a:spLocks noChangeAspect="1"/>
          </p:cNvSpPr>
          <p:nvPr/>
        </p:nvSpPr>
        <p:spPr>
          <a:xfrm>
            <a:off x="7021652" y="278339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cxnSp>
        <p:nvCxnSpPr>
          <p:cNvPr id="12" name="Straight Arrow Connector 11"/>
          <p:cNvCxnSpPr/>
          <p:nvPr/>
        </p:nvCxnSpPr>
        <p:spPr>
          <a:xfrm flipV="1">
            <a:off x="6198291" y="3472178"/>
            <a:ext cx="838894" cy="3388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5284179" y="3472178"/>
            <a:ext cx="838894" cy="3388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607830" y="3468791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urier New"/>
                <a:cs typeface="Courier New"/>
              </a:rPr>
              <a:t>printf</a:t>
            </a:r>
            <a:endParaRPr lang="en-US" sz="1600" b="1" dirty="0">
              <a:latin typeface="Courier New"/>
              <a:cs typeface="Courier New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07731" y="2811249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>
                <a:latin typeface="Courier New"/>
                <a:cs typeface="Courier New"/>
              </a:rPr>
              <a:t>printf</a:t>
            </a:r>
            <a:endParaRPr lang="en-US" sz="1600" b="1" dirty="0">
              <a:latin typeface="Courier New"/>
              <a:cs typeface="Courier New"/>
            </a:endParaRPr>
          </a:p>
        </p:txBody>
      </p:sp>
      <p:sp>
        <p:nvSpPr>
          <p:cNvPr id="16" name="Text Box 407"/>
          <p:cNvSpPr txBox="1">
            <a:spLocks noChangeArrowheads="1"/>
          </p:cNvSpPr>
          <p:nvPr/>
        </p:nvSpPr>
        <p:spPr bwMode="auto">
          <a:xfrm>
            <a:off x="5298814" y="3156378"/>
            <a:ext cx="79533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 err="1">
                <a:latin typeface="Courier New" charset="0"/>
              </a:rPr>
              <a:t>x</a:t>
            </a:r>
            <a:r>
              <a:rPr lang="en-US" sz="1600" dirty="0">
                <a:latin typeface="Courier New" charset="0"/>
              </a:rPr>
              <a:t>==1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7103855" y="2828395"/>
            <a:ext cx="874528" cy="915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>
            <a:spLocks noChangeAspect="1"/>
          </p:cNvSpPr>
          <p:nvPr/>
        </p:nvSpPr>
        <p:spPr>
          <a:xfrm>
            <a:off x="7975351" y="2783390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" name="TextBox 18"/>
          <p:cNvSpPr txBox="1"/>
          <p:nvPr/>
        </p:nvSpPr>
        <p:spPr>
          <a:xfrm>
            <a:off x="7542234" y="2811249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exit</a:t>
            </a:r>
          </a:p>
        </p:txBody>
      </p:sp>
      <p:sp>
        <p:nvSpPr>
          <p:cNvPr id="20" name="Text Box 407"/>
          <p:cNvSpPr txBox="1">
            <a:spLocks noChangeArrowheads="1"/>
          </p:cNvSpPr>
          <p:nvPr/>
        </p:nvSpPr>
        <p:spPr bwMode="auto">
          <a:xfrm>
            <a:off x="6144350" y="3137103"/>
            <a:ext cx="1834033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parent: </a:t>
            </a:r>
            <a:r>
              <a:rPr lang="en-US" sz="1600" dirty="0" err="1">
                <a:solidFill>
                  <a:srgbClr val="FF0000"/>
                </a:solidFill>
                <a:latin typeface="Courier New" charset="0"/>
              </a:rPr>
              <a:t>x</a:t>
            </a:r>
            <a:r>
              <a:rPr lang="en-US" sz="1600" dirty="0">
                <a:solidFill>
                  <a:srgbClr val="FF0000"/>
                </a:solidFill>
                <a:latin typeface="Courier New" charset="0"/>
              </a:rPr>
              <a:t>=0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V="1">
            <a:off x="7103855" y="3464113"/>
            <a:ext cx="874528" cy="400"/>
          </a:xfrm>
          <a:prstGeom prst="straightConnector1">
            <a:avLst/>
          </a:prstGeom>
          <a:ln w="12700" cmpd="sng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>
            <a:spLocks noChangeAspect="1"/>
          </p:cNvSpPr>
          <p:nvPr/>
        </p:nvSpPr>
        <p:spPr>
          <a:xfrm>
            <a:off x="7975351" y="3418593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3" name="TextBox 22"/>
          <p:cNvSpPr txBox="1"/>
          <p:nvPr/>
        </p:nvSpPr>
        <p:spPr>
          <a:xfrm>
            <a:off x="7542234" y="3446452"/>
            <a:ext cx="947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latin typeface="Courier New"/>
                <a:cs typeface="Courier New"/>
              </a:rPr>
              <a:t>exit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0434" y="3290992"/>
            <a:ext cx="8381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Arial"/>
                <a:cs typeface="Arial"/>
              </a:rPr>
              <a:t>Parent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8912" y="2641972"/>
            <a:ext cx="7012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i="1" dirty="0">
                <a:latin typeface="Arial"/>
                <a:cs typeface="Arial"/>
              </a:rPr>
              <a:t>Child</a:t>
            </a:r>
          </a:p>
        </p:txBody>
      </p:sp>
      <p:sp>
        <p:nvSpPr>
          <p:cNvPr id="29" name="Rectangle 3"/>
          <p:cNvSpPr>
            <a:spLocks noChangeArrowheads="1"/>
          </p:cNvSpPr>
          <p:nvPr/>
        </p:nvSpPr>
        <p:spPr bwMode="auto">
          <a:xfrm>
            <a:off x="3963966" y="490013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5715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Interpreting Process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62075"/>
            <a:ext cx="4700023" cy="3895725"/>
          </a:xfrm>
        </p:spPr>
        <p:txBody>
          <a:bodyPr/>
          <a:lstStyle/>
          <a:p>
            <a:r>
              <a:rPr lang="en-US" dirty="0"/>
              <a:t>Original graph: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Relabeled graph: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767182" y="1831455"/>
            <a:ext cx="4085241" cy="1292745"/>
            <a:chOff x="2748382" y="2974455"/>
            <a:chExt cx="4085241" cy="1292745"/>
          </a:xfrm>
        </p:grpSpPr>
        <p:sp>
          <p:nvSpPr>
            <p:cNvPr id="5" name="Text Box 407"/>
            <p:cNvSpPr txBox="1">
              <a:spLocks noChangeArrowheads="1"/>
            </p:cNvSpPr>
            <p:nvPr/>
          </p:nvSpPr>
          <p:spPr bwMode="auto">
            <a:xfrm>
              <a:off x="3885235" y="2974455"/>
              <a:ext cx="1834033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child: </a:t>
              </a:r>
              <a:r>
                <a:rPr lang="en-US" sz="1600" dirty="0" err="1">
                  <a:solidFill>
                    <a:srgbClr val="FF0000"/>
                  </a:solidFill>
                  <a:latin typeface="Courier New" charset="0"/>
                </a:rPr>
                <a:t>x</a:t>
              </a:r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=2</a:t>
              </a:r>
            </a:p>
          </p:txBody>
        </p:sp>
        <p:sp>
          <p:nvSpPr>
            <p:cNvPr id="6" name="Oval 5"/>
            <p:cNvSpPr>
              <a:spLocks noChangeAspect="1"/>
            </p:cNvSpPr>
            <p:nvPr/>
          </p:nvSpPr>
          <p:spPr>
            <a:xfrm>
              <a:off x="3009824" y="388800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748382" y="3928646"/>
              <a:ext cx="677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main</a:t>
              </a:r>
            </a:p>
          </p:txBody>
        </p:sp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3923936" y="388800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4854270" y="388800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637714" y="3928646"/>
              <a:ext cx="73816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11" name="Elbow Connector 35"/>
            <p:cNvCxnSpPr>
              <a:stCxn id="10" idx="0"/>
            </p:cNvCxnSpPr>
            <p:nvPr/>
          </p:nvCxnSpPr>
          <p:spPr>
            <a:xfrm rot="5400000" flipH="1" flipV="1">
              <a:off x="4101011" y="3194038"/>
              <a:ext cx="640393" cy="828825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/>
            <p:cNvSpPr>
              <a:spLocks noChangeAspect="1"/>
            </p:cNvSpPr>
            <p:nvPr/>
          </p:nvSpPr>
          <p:spPr>
            <a:xfrm>
              <a:off x="4838737" y="324324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V="1">
              <a:off x="4015376" y="39320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flipV="1">
              <a:off x="3101264" y="39320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4424915" y="39286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24816" y="3271104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17" name="Text Box 407"/>
            <p:cNvSpPr txBox="1">
              <a:spLocks noChangeArrowheads="1"/>
            </p:cNvSpPr>
            <p:nvPr/>
          </p:nvSpPr>
          <p:spPr bwMode="auto">
            <a:xfrm>
              <a:off x="3115899" y="3616233"/>
              <a:ext cx="795337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 err="1">
                  <a:latin typeface="Courier New" charset="0"/>
                </a:rPr>
                <a:t>x</a:t>
              </a:r>
              <a:r>
                <a:rPr lang="en-US" sz="1600" dirty="0">
                  <a:latin typeface="Courier New" charset="0"/>
                </a:rPr>
                <a:t>==1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 flipV="1">
              <a:off x="4920940" y="3288765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/>
            <p:cNvSpPr>
              <a:spLocks noChangeAspect="1"/>
            </p:cNvSpPr>
            <p:nvPr/>
          </p:nvSpPr>
          <p:spPr>
            <a:xfrm>
              <a:off x="6319518" y="324324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886401" y="3271104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exit</a:t>
              </a:r>
            </a:p>
          </p:txBody>
        </p:sp>
        <p:sp>
          <p:nvSpPr>
            <p:cNvPr id="21" name="Text Box 407"/>
            <p:cNvSpPr txBox="1">
              <a:spLocks noChangeArrowheads="1"/>
            </p:cNvSpPr>
            <p:nvPr/>
          </p:nvSpPr>
          <p:spPr bwMode="auto">
            <a:xfrm>
              <a:off x="3961435" y="3596958"/>
              <a:ext cx="1834033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parent: </a:t>
              </a:r>
              <a:r>
                <a:rPr lang="en-US" sz="1600" dirty="0" err="1">
                  <a:solidFill>
                    <a:srgbClr val="FF0000"/>
                  </a:solidFill>
                  <a:latin typeface="Courier New" charset="0"/>
                </a:rPr>
                <a:t>x</a:t>
              </a:r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=0</a:t>
              </a:r>
            </a:p>
          </p:txBody>
        </p:sp>
        <p:cxnSp>
          <p:nvCxnSpPr>
            <p:cNvPr id="22" name="Straight Arrow Connector 21"/>
            <p:cNvCxnSpPr/>
            <p:nvPr/>
          </p:nvCxnSpPr>
          <p:spPr>
            <a:xfrm flipV="1">
              <a:off x="4920940" y="3923968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/>
            <p:cNvSpPr>
              <a:spLocks noChangeAspect="1"/>
            </p:cNvSpPr>
            <p:nvPr/>
          </p:nvSpPr>
          <p:spPr>
            <a:xfrm>
              <a:off x="6319518" y="387844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886401" y="3906307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exit</a:t>
              </a:r>
            </a:p>
          </p:txBody>
        </p:sp>
      </p:grpSp>
      <p:grpSp>
        <p:nvGrpSpPr>
          <p:cNvPr id="54" name="Group 53"/>
          <p:cNvGrpSpPr/>
          <p:nvPr/>
        </p:nvGrpSpPr>
        <p:grpSpPr>
          <a:xfrm>
            <a:off x="900055" y="4035852"/>
            <a:ext cx="3900545" cy="993348"/>
            <a:chOff x="410379" y="3386287"/>
            <a:chExt cx="3900545" cy="993348"/>
          </a:xfrm>
        </p:grpSpPr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487125" y="403667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0379" y="4041081"/>
              <a:ext cx="3077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a</a:t>
              </a:r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1401237" y="403667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2" name="Oval 31"/>
            <p:cNvSpPr>
              <a:spLocks noChangeAspect="1"/>
            </p:cNvSpPr>
            <p:nvPr/>
          </p:nvSpPr>
          <p:spPr>
            <a:xfrm>
              <a:off x="2331571" y="4036678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115015" y="4041081"/>
              <a:ext cx="667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b</a:t>
              </a:r>
            </a:p>
          </p:txBody>
        </p:sp>
        <p:cxnSp>
          <p:nvCxnSpPr>
            <p:cNvPr id="34" name="Elbow Connector 35"/>
            <p:cNvCxnSpPr>
              <a:stCxn id="33" idx="0"/>
            </p:cNvCxnSpPr>
            <p:nvPr/>
          </p:nvCxnSpPr>
          <p:spPr>
            <a:xfrm rot="5400000" flipH="1" flipV="1">
              <a:off x="1578795" y="3306955"/>
              <a:ext cx="604159" cy="864094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>
              <a:spLocks noChangeAspect="1"/>
            </p:cNvSpPr>
            <p:nvPr/>
          </p:nvSpPr>
          <p:spPr>
            <a:xfrm>
              <a:off x="2316038" y="3391916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1492677" y="4080704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 flipV="1">
              <a:off x="578565" y="4080704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2398241" y="3437436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3796819" y="3391916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63702" y="3386287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</a:t>
              </a:r>
            </a:p>
          </p:txBody>
        </p:sp>
        <p:cxnSp>
          <p:nvCxnSpPr>
            <p:cNvPr id="45" name="Straight Arrow Connector 44"/>
            <p:cNvCxnSpPr/>
            <p:nvPr/>
          </p:nvCxnSpPr>
          <p:spPr>
            <a:xfrm flipV="1">
              <a:off x="2398241" y="4072639"/>
              <a:ext cx="1407322" cy="40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3796819" y="402711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3363702" y="4041081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d</a:t>
              </a: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057400" y="4041081"/>
              <a:ext cx="6676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urier New"/>
                  <a:cs typeface="Courier New"/>
                </a:rPr>
                <a:t>c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1905000" y="3386287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urier New"/>
                  <a:cs typeface="Courier New"/>
                </a:rPr>
                <a:t>e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5709045" y="3434318"/>
            <a:ext cx="3230523" cy="1442482"/>
            <a:chOff x="5709045" y="3581400"/>
            <a:chExt cx="3230523" cy="1442482"/>
          </a:xfrm>
        </p:grpSpPr>
        <p:sp>
          <p:nvSpPr>
            <p:cNvPr id="27" name="TextBox 26"/>
            <p:cNvSpPr txBox="1"/>
            <p:nvPr/>
          </p:nvSpPr>
          <p:spPr>
            <a:xfrm>
              <a:off x="5709045" y="4654550"/>
              <a:ext cx="2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265035" y="4654550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830943" y="4654550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e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7396851" y="4654550"/>
              <a:ext cx="281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c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935483" y="4654550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f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8454465" y="4654550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d</a:t>
              </a:r>
            </a:p>
          </p:txBody>
        </p:sp>
        <p:cxnSp>
          <p:nvCxnSpPr>
            <p:cNvPr id="38" name="Curved Connector 37"/>
            <p:cNvCxnSpPr>
              <a:stCxn id="27" idx="0"/>
              <a:endCxn id="48" idx="0"/>
            </p:cNvCxnSpPr>
            <p:nvPr/>
          </p:nvCxnSpPr>
          <p:spPr bwMode="auto">
            <a:xfrm rot="5400000" flipH="1" flipV="1">
              <a:off x="6138828" y="4374076"/>
              <a:ext cx="12700" cy="560949"/>
            </a:xfrm>
            <a:prstGeom prst="curvedConnector3">
              <a:avLst>
                <a:gd name="adj1" fmla="val 32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40" name="Curved Connector 39"/>
            <p:cNvCxnSpPr>
              <a:stCxn id="48" idx="0"/>
              <a:endCxn id="49" idx="0"/>
            </p:cNvCxnSpPr>
            <p:nvPr/>
          </p:nvCxnSpPr>
          <p:spPr bwMode="auto">
            <a:xfrm rot="5400000" flipH="1" flipV="1">
              <a:off x="6702257" y="4371596"/>
              <a:ext cx="12700" cy="565908"/>
            </a:xfrm>
            <a:prstGeom prst="curvedConnector3">
              <a:avLst>
                <a:gd name="adj1" fmla="val 41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6" name="Curved Connector 55"/>
            <p:cNvCxnSpPr>
              <a:stCxn id="49" idx="0"/>
              <a:endCxn id="52" idx="0"/>
            </p:cNvCxnSpPr>
            <p:nvPr/>
          </p:nvCxnSpPr>
          <p:spPr bwMode="auto">
            <a:xfrm rot="5400000" flipH="1" flipV="1">
              <a:off x="7525749" y="4114012"/>
              <a:ext cx="12700" cy="1081077"/>
            </a:xfrm>
            <a:prstGeom prst="curvedConnector3">
              <a:avLst>
                <a:gd name="adj1" fmla="val 36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58" name="Curved Connector 57"/>
            <p:cNvCxnSpPr>
              <a:stCxn id="48" idx="0"/>
              <a:endCxn id="51" idx="0"/>
            </p:cNvCxnSpPr>
            <p:nvPr/>
          </p:nvCxnSpPr>
          <p:spPr bwMode="auto">
            <a:xfrm rot="5400000" flipH="1" flipV="1">
              <a:off x="6978392" y="4095461"/>
              <a:ext cx="12700" cy="1118178"/>
            </a:xfrm>
            <a:prstGeom prst="curvedConnector3">
              <a:avLst>
                <a:gd name="adj1" fmla="val 37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60" name="Curved Connector 59"/>
            <p:cNvCxnSpPr>
              <a:stCxn id="51" idx="0"/>
              <a:endCxn id="55" idx="0"/>
            </p:cNvCxnSpPr>
            <p:nvPr/>
          </p:nvCxnSpPr>
          <p:spPr bwMode="auto">
            <a:xfrm rot="5400000" flipH="1" flipV="1">
              <a:off x="8073107" y="4118924"/>
              <a:ext cx="12700" cy="1071252"/>
            </a:xfrm>
            <a:prstGeom prst="curvedConnector3">
              <a:avLst>
                <a:gd name="adj1" fmla="val 39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98" name="TextBox 97"/>
            <p:cNvSpPr txBox="1"/>
            <p:nvPr/>
          </p:nvSpPr>
          <p:spPr>
            <a:xfrm>
              <a:off x="5791200" y="3581400"/>
              <a:ext cx="314836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Feasible total ordering:</a:t>
              </a:r>
            </a:p>
          </p:txBody>
        </p:sp>
      </p:grpSp>
      <p:grpSp>
        <p:nvGrpSpPr>
          <p:cNvPr id="101" name="Group 100"/>
          <p:cNvGrpSpPr/>
          <p:nvPr/>
        </p:nvGrpSpPr>
        <p:grpSpPr>
          <a:xfrm>
            <a:off x="5709045" y="5181600"/>
            <a:ext cx="3402003" cy="1371600"/>
            <a:chOff x="5709045" y="5105400"/>
            <a:chExt cx="3402003" cy="1371600"/>
          </a:xfrm>
        </p:grpSpPr>
        <p:sp>
          <p:nvSpPr>
            <p:cNvPr id="74" name="TextBox 73"/>
            <p:cNvSpPr txBox="1"/>
            <p:nvPr/>
          </p:nvSpPr>
          <p:spPr>
            <a:xfrm>
              <a:off x="5709045" y="6107668"/>
              <a:ext cx="2986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a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265035" y="6107668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b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991310" y="6107668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e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85186" y="6107668"/>
              <a:ext cx="2812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c</a:t>
              </a: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928245" y="6107668"/>
              <a:ext cx="2616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f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454465" y="6107668"/>
              <a:ext cx="3085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latin typeface="Calibri" pitchFamily="34" charset="0"/>
                </a:rPr>
                <a:t>d</a:t>
              </a:r>
            </a:p>
          </p:txBody>
        </p:sp>
        <p:cxnSp>
          <p:nvCxnSpPr>
            <p:cNvPr id="80" name="Curved Connector 79"/>
            <p:cNvCxnSpPr>
              <a:stCxn id="74" idx="0"/>
              <a:endCxn id="75" idx="0"/>
            </p:cNvCxnSpPr>
            <p:nvPr/>
          </p:nvCxnSpPr>
          <p:spPr bwMode="auto">
            <a:xfrm rot="5400000" flipH="1" flipV="1">
              <a:off x="6138828" y="5827194"/>
              <a:ext cx="12700" cy="560949"/>
            </a:xfrm>
            <a:prstGeom prst="curvedConnector3">
              <a:avLst>
                <a:gd name="adj1" fmla="val 33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1" name="Curved Connector 80"/>
            <p:cNvCxnSpPr>
              <a:stCxn id="75" idx="0"/>
              <a:endCxn id="76" idx="0"/>
            </p:cNvCxnSpPr>
            <p:nvPr/>
          </p:nvCxnSpPr>
          <p:spPr bwMode="auto">
            <a:xfrm rot="5400000" flipH="1" flipV="1">
              <a:off x="7282440" y="5244531"/>
              <a:ext cx="12700" cy="1726275"/>
            </a:xfrm>
            <a:prstGeom prst="curvedConnector3">
              <a:avLst>
                <a:gd name="adj1" fmla="val 35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2" name="Curved Connector 81"/>
            <p:cNvCxnSpPr>
              <a:stCxn id="76" idx="0"/>
              <a:endCxn id="78" idx="0"/>
            </p:cNvCxnSpPr>
            <p:nvPr/>
          </p:nvCxnSpPr>
          <p:spPr bwMode="auto">
            <a:xfrm rot="16200000" flipV="1">
              <a:off x="7602314" y="5564404"/>
              <a:ext cx="12700" cy="1086528"/>
            </a:xfrm>
            <a:prstGeom prst="curvedConnector3">
              <a:avLst>
                <a:gd name="adj1" fmla="val 420000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3" name="Curved Connector 82"/>
            <p:cNvCxnSpPr>
              <a:stCxn id="75" idx="0"/>
              <a:endCxn id="77" idx="0"/>
            </p:cNvCxnSpPr>
            <p:nvPr/>
          </p:nvCxnSpPr>
          <p:spPr bwMode="auto">
            <a:xfrm rot="5400000" flipH="1" flipV="1">
              <a:off x="7022559" y="5504412"/>
              <a:ext cx="12700" cy="1206513"/>
            </a:xfrm>
            <a:prstGeom prst="curvedConnector3">
              <a:avLst>
                <a:gd name="adj1" fmla="val 36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cxnSp>
          <p:nvCxnSpPr>
            <p:cNvPr id="84" name="Curved Connector 83"/>
            <p:cNvCxnSpPr>
              <a:stCxn id="77" idx="0"/>
              <a:endCxn id="79" idx="0"/>
            </p:cNvCxnSpPr>
            <p:nvPr/>
          </p:nvCxnSpPr>
          <p:spPr bwMode="auto">
            <a:xfrm rot="5400000" flipH="1" flipV="1">
              <a:off x="8117274" y="5616210"/>
              <a:ext cx="12700" cy="982917"/>
            </a:xfrm>
            <a:prstGeom prst="curvedConnector3">
              <a:avLst>
                <a:gd name="adj1" fmla="val 3900000"/>
              </a:avLst>
            </a:prstGeom>
            <a:noFill/>
            <a:ln w="254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lg" len="lg"/>
            </a:ln>
            <a:effectLst/>
          </p:spPr>
        </p:cxnSp>
        <p:sp>
          <p:nvSpPr>
            <p:cNvPr id="99" name="TextBox 98"/>
            <p:cNvSpPr txBox="1"/>
            <p:nvPr/>
          </p:nvSpPr>
          <p:spPr>
            <a:xfrm>
              <a:off x="5759349" y="5105400"/>
              <a:ext cx="33516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libri" pitchFamily="34" charset="0"/>
                </a:rPr>
                <a:t>Infeasible total ordering: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3532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534400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Example: Two consecutive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s</a:t>
            </a:r>
          </a:p>
        </p:txBody>
      </p:sp>
      <p:sp>
        <p:nvSpPr>
          <p:cNvPr id="491523" name="Text Box 3"/>
          <p:cNvSpPr txBox="1">
            <a:spLocks noChangeArrowheads="1"/>
          </p:cNvSpPr>
          <p:nvPr/>
        </p:nvSpPr>
        <p:spPr bwMode="auto">
          <a:xfrm>
            <a:off x="228600" y="1676400"/>
            <a:ext cx="3009511" cy="230832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Courier New"/>
                <a:cs typeface="Courier New"/>
              </a:rPr>
              <a:t>fork2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"L0\n"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a-DK" sz="1800" dirty="0">
                <a:solidFill>
                  <a:srgbClr val="000000"/>
                </a:solidFill>
                <a:latin typeface="Courier New"/>
                <a:cs typeface="Courier New"/>
              </a:rPr>
              <a:t>    fork();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"L1\n"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a-DK" sz="1800" dirty="0">
                <a:solidFill>
                  <a:srgbClr val="000000"/>
                </a:solidFill>
                <a:latin typeface="Courier New"/>
                <a:cs typeface="Courier New"/>
              </a:rPr>
              <a:t>    fork();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Courier New"/>
                <a:cs typeface="Courier New"/>
              </a:rPr>
              <a:t>"Bye\n"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3588921" y="1295400"/>
            <a:ext cx="4640679" cy="2667000"/>
            <a:chOff x="3124200" y="3505200"/>
            <a:chExt cx="4640679" cy="2667000"/>
          </a:xfrm>
        </p:grpSpPr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3511276" y="57962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124200" y="5833646"/>
              <a:ext cx="9284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66" name="Oval 65"/>
            <p:cNvSpPr>
              <a:spLocks noChangeAspect="1"/>
            </p:cNvSpPr>
            <p:nvPr/>
          </p:nvSpPr>
          <p:spPr>
            <a:xfrm>
              <a:off x="5365188" y="57835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/>
            <p:cNvSpPr>
              <a:spLocks noChangeAspect="1"/>
            </p:cNvSpPr>
            <p:nvPr/>
          </p:nvSpPr>
          <p:spPr>
            <a:xfrm>
              <a:off x="6295522" y="57869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15812" y="5820946"/>
              <a:ext cx="9502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70" name="Elbow Connector 35"/>
            <p:cNvCxnSpPr/>
            <p:nvPr/>
          </p:nvCxnSpPr>
          <p:spPr>
            <a:xfrm rot="5400000" flipH="1" flipV="1">
              <a:off x="6465299" y="5057784"/>
              <a:ext cx="640392" cy="885933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/>
            <p:cNvSpPr>
              <a:spLocks noChangeAspect="1"/>
            </p:cNvSpPr>
            <p:nvPr/>
          </p:nvSpPr>
          <p:spPr>
            <a:xfrm>
              <a:off x="7244278" y="512212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2" name="Straight Arrow Connector 71"/>
            <p:cNvCxnSpPr/>
            <p:nvPr/>
          </p:nvCxnSpPr>
          <p:spPr>
            <a:xfrm flipV="1">
              <a:off x="5456628" y="58259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Arrow Connector 72"/>
            <p:cNvCxnSpPr/>
            <p:nvPr/>
          </p:nvCxnSpPr>
          <p:spPr>
            <a:xfrm flipV="1">
              <a:off x="3602716" y="58352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5866167" y="58209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817657" y="5105400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76" name="Straight Arrow Connector 75"/>
            <p:cNvCxnSpPr/>
            <p:nvPr/>
          </p:nvCxnSpPr>
          <p:spPr>
            <a:xfrm flipV="1">
              <a:off x="6381242" y="58191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9" name="Oval 78"/>
            <p:cNvSpPr>
              <a:spLocks noChangeAspect="1"/>
            </p:cNvSpPr>
            <p:nvPr/>
          </p:nvSpPr>
          <p:spPr>
            <a:xfrm>
              <a:off x="7220136" y="57670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6787989" y="58209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82" name="Oval 81"/>
            <p:cNvSpPr>
              <a:spLocks noChangeAspect="1"/>
            </p:cNvSpPr>
            <p:nvPr/>
          </p:nvSpPr>
          <p:spPr>
            <a:xfrm>
              <a:off x="4438088" y="57962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151866" y="5833646"/>
              <a:ext cx="7339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84" name="Straight Arrow Connector 83"/>
            <p:cNvCxnSpPr/>
            <p:nvPr/>
          </p:nvCxnSpPr>
          <p:spPr>
            <a:xfrm flipV="1">
              <a:off x="4529528" y="5828457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Elbow Connector 35"/>
            <p:cNvCxnSpPr>
              <a:endCxn id="86" idx="2"/>
            </p:cNvCxnSpPr>
            <p:nvPr/>
          </p:nvCxnSpPr>
          <p:spPr>
            <a:xfrm rot="5400000" flipH="1" flipV="1">
              <a:off x="4294242" y="4725345"/>
              <a:ext cx="1262381" cy="879511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Oval 85"/>
            <p:cNvSpPr>
              <a:spLocks noChangeAspect="1"/>
            </p:cNvSpPr>
            <p:nvPr/>
          </p:nvSpPr>
          <p:spPr>
            <a:xfrm>
              <a:off x="5365188" y="44881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/>
            <p:cNvSpPr>
              <a:spLocks noChangeAspect="1"/>
            </p:cNvSpPr>
            <p:nvPr/>
          </p:nvSpPr>
          <p:spPr>
            <a:xfrm>
              <a:off x="6295522" y="44915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4878277" y="4495800"/>
              <a:ext cx="101703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90" name="Elbow Connector 35"/>
            <p:cNvCxnSpPr/>
            <p:nvPr/>
          </p:nvCxnSpPr>
          <p:spPr>
            <a:xfrm rot="5400000" flipH="1" flipV="1">
              <a:off x="6476216" y="3743554"/>
              <a:ext cx="640396" cy="864095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Oval 90"/>
            <p:cNvSpPr>
              <a:spLocks noChangeAspect="1"/>
            </p:cNvSpPr>
            <p:nvPr/>
          </p:nvSpPr>
          <p:spPr>
            <a:xfrm>
              <a:off x="7244278" y="3796982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2" name="Straight Arrow Connector 91"/>
            <p:cNvCxnSpPr/>
            <p:nvPr/>
          </p:nvCxnSpPr>
          <p:spPr>
            <a:xfrm flipV="1">
              <a:off x="5456628" y="45305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Box 92"/>
            <p:cNvSpPr txBox="1"/>
            <p:nvPr/>
          </p:nvSpPr>
          <p:spPr>
            <a:xfrm>
              <a:off x="5866167" y="45255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94" name="TextBox 93"/>
            <p:cNvSpPr txBox="1"/>
            <p:nvPr/>
          </p:nvSpPr>
          <p:spPr>
            <a:xfrm>
              <a:off x="6817657" y="3846512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flipV="1">
              <a:off x="6381242" y="45237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/>
            <p:cNvSpPr>
              <a:spLocks noChangeAspect="1"/>
            </p:cNvSpPr>
            <p:nvPr/>
          </p:nvSpPr>
          <p:spPr>
            <a:xfrm>
              <a:off x="7220136" y="44716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TextBox 98"/>
            <p:cNvSpPr txBox="1"/>
            <p:nvPr/>
          </p:nvSpPr>
          <p:spPr>
            <a:xfrm>
              <a:off x="6787989" y="4525546"/>
              <a:ext cx="9472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 err="1">
                  <a:latin typeface="Courier New"/>
                  <a:cs typeface="Courier New"/>
                </a:rPr>
                <a:t>printf</a:t>
              </a:r>
              <a:endParaRPr lang="en-US" sz="1600" b="1" dirty="0">
                <a:latin typeface="Courier New"/>
                <a:cs typeface="Courier New"/>
              </a:endParaRPr>
            </a:p>
          </p:txBody>
        </p:sp>
        <p:sp>
          <p:nvSpPr>
            <p:cNvPr id="102" name="Text Box 407"/>
            <p:cNvSpPr txBox="1">
              <a:spLocks noChangeArrowheads="1"/>
            </p:cNvSpPr>
            <p:nvPr/>
          </p:nvSpPr>
          <p:spPr bwMode="auto">
            <a:xfrm>
              <a:off x="6913523" y="3505200"/>
              <a:ext cx="795337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Bye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3379073" y="5528846"/>
              <a:ext cx="430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L0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7034547" y="4800600"/>
              <a:ext cx="5540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5207873" y="5496311"/>
              <a:ext cx="430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5207873" y="4191000"/>
              <a:ext cx="43092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5452646"/>
              <a:ext cx="55405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118" name="Text Box 407"/>
            <p:cNvSpPr txBox="1">
              <a:spLocks noChangeArrowheads="1"/>
            </p:cNvSpPr>
            <p:nvPr/>
          </p:nvSpPr>
          <p:spPr bwMode="auto">
            <a:xfrm>
              <a:off x="6858000" y="4157246"/>
              <a:ext cx="795337" cy="338554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 wrap="square">
              <a:prstTxWarp prst="textNoShape">
                <a:avLst/>
              </a:prstTxWarp>
              <a:spAutoFit/>
            </a:bodyPr>
            <a:lstStyle/>
            <a:p>
              <a:pPr algn="ctr"/>
              <a:r>
                <a:rPr lang="en-US" sz="1600" dirty="0">
                  <a:solidFill>
                    <a:srgbClr val="FF0000"/>
                  </a:solidFill>
                  <a:latin typeface="Courier New" charset="0"/>
                </a:rPr>
                <a:t>Bye</a:t>
              </a:r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3747618" y="4267200"/>
            <a:ext cx="173793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54050" y="4267200"/>
            <a:ext cx="189043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</p:txBody>
      </p:sp>
      <p:sp>
        <p:nvSpPr>
          <p:cNvPr id="122" name="Rectangle 3"/>
          <p:cNvSpPr>
            <a:spLocks noChangeArrowheads="1"/>
          </p:cNvSpPr>
          <p:nvPr/>
        </p:nvSpPr>
        <p:spPr bwMode="auto">
          <a:xfrm>
            <a:off x="2090478" y="3640774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062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029551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Example: Nested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s in parent</a:t>
            </a:r>
          </a:p>
        </p:txBody>
      </p:sp>
      <p:sp>
        <p:nvSpPr>
          <p:cNvPr id="58" name="Text Box 3"/>
          <p:cNvSpPr txBox="1">
            <a:spLocks noChangeArrowheads="1"/>
          </p:cNvSpPr>
          <p:nvPr/>
        </p:nvSpPr>
        <p:spPr bwMode="auto">
          <a:xfrm>
            <a:off x="152400" y="1447800"/>
            <a:ext cx="3979165" cy="313932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Courier New"/>
                <a:cs typeface="Courier New"/>
              </a:rPr>
              <a:t>fork4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"L0\n"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(fork() != 0) 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"L1\n"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8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(fork() != 0) 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    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"L2\n"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	}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Courier New"/>
                <a:cs typeface="Courier New"/>
              </a:rPr>
              <a:t>"Bye\n"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grpSp>
        <p:nvGrpSpPr>
          <p:cNvPr id="2" name="Group 1"/>
          <p:cNvGrpSpPr>
            <a:grpSpLocks noChangeAspect="1"/>
          </p:cNvGrpSpPr>
          <p:nvPr/>
        </p:nvGrpSpPr>
        <p:grpSpPr>
          <a:xfrm>
            <a:off x="4090164" y="2068202"/>
            <a:ext cx="4863336" cy="1213951"/>
            <a:chOff x="2767585" y="4328459"/>
            <a:chExt cx="5721572" cy="1428183"/>
          </a:xfrm>
        </p:grpSpPr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3206476" y="53390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67585" y="5376446"/>
              <a:ext cx="1032089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30" name="Oval 29"/>
            <p:cNvSpPr>
              <a:spLocks noChangeAspect="1"/>
            </p:cNvSpPr>
            <p:nvPr/>
          </p:nvSpPr>
          <p:spPr>
            <a:xfrm>
              <a:off x="5060388" y="53263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1" name="Oval 30"/>
            <p:cNvSpPr>
              <a:spLocks noChangeAspect="1"/>
            </p:cNvSpPr>
            <p:nvPr/>
          </p:nvSpPr>
          <p:spPr>
            <a:xfrm>
              <a:off x="5990722" y="53297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611011" y="5363746"/>
              <a:ext cx="1084145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33" name="Elbow Connector 35"/>
            <p:cNvCxnSpPr/>
            <p:nvPr/>
          </p:nvCxnSpPr>
          <p:spPr>
            <a:xfrm rot="5400000" flipH="1" flipV="1">
              <a:off x="6160499" y="4600584"/>
              <a:ext cx="640392" cy="885933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/>
            <p:cNvSpPr>
              <a:spLocks noChangeAspect="1"/>
            </p:cNvSpPr>
            <p:nvPr/>
          </p:nvSpPr>
          <p:spPr>
            <a:xfrm>
              <a:off x="6939478" y="466492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V="1">
              <a:off x="5151828" y="53687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 flipV="1">
              <a:off x="3297916" y="5378033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5561367" y="5363746"/>
              <a:ext cx="947222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512857" y="4648200"/>
              <a:ext cx="1128428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 flipV="1">
              <a:off x="6076442" y="53619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6915336" y="53098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435216" y="5363746"/>
              <a:ext cx="1192488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4133288" y="53390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847065" y="5376446"/>
              <a:ext cx="763947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 flipV="1">
              <a:off x="4224728" y="5371257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35"/>
            <p:cNvCxnSpPr>
              <a:stCxn id="43" idx="0"/>
            </p:cNvCxnSpPr>
            <p:nvPr/>
          </p:nvCxnSpPr>
          <p:spPr>
            <a:xfrm rot="5400000" flipH="1" flipV="1">
              <a:off x="4307401" y="4620228"/>
              <a:ext cx="677858" cy="834582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Oval 45"/>
            <p:cNvSpPr>
              <a:spLocks noChangeAspect="1"/>
            </p:cNvSpPr>
            <p:nvPr/>
          </p:nvSpPr>
          <p:spPr>
            <a:xfrm>
              <a:off x="5060388" y="46278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4573477" y="4622800"/>
              <a:ext cx="1121679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80" name="TextBox 79"/>
            <p:cNvSpPr txBox="1"/>
            <p:nvPr/>
          </p:nvSpPr>
          <p:spPr>
            <a:xfrm>
              <a:off x="3045305" y="4994354"/>
              <a:ext cx="488866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L0</a:t>
              </a:r>
            </a:p>
          </p:txBody>
        </p:sp>
        <p:sp>
          <p:nvSpPr>
            <p:cNvPr id="81" name="TextBox 80"/>
            <p:cNvSpPr txBox="1"/>
            <p:nvPr/>
          </p:nvSpPr>
          <p:spPr>
            <a:xfrm>
              <a:off x="6694440" y="4328459"/>
              <a:ext cx="624672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82" name="TextBox 81"/>
            <p:cNvSpPr txBox="1"/>
            <p:nvPr/>
          </p:nvSpPr>
          <p:spPr>
            <a:xfrm>
              <a:off x="4874105" y="4994354"/>
              <a:ext cx="488866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83" name="TextBox 82"/>
            <p:cNvSpPr txBox="1"/>
            <p:nvPr/>
          </p:nvSpPr>
          <p:spPr>
            <a:xfrm>
              <a:off x="4806202" y="4328459"/>
              <a:ext cx="624672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6738196" y="4994354"/>
              <a:ext cx="488866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L2</a:t>
              </a:r>
            </a:p>
          </p:txBody>
        </p:sp>
        <p:cxnSp>
          <p:nvCxnSpPr>
            <p:cNvPr id="86" name="Straight Arrow Connector 85"/>
            <p:cNvCxnSpPr/>
            <p:nvPr/>
          </p:nvCxnSpPr>
          <p:spPr>
            <a:xfrm flipV="1">
              <a:off x="7009706" y="5346700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Oval 86"/>
            <p:cNvSpPr>
              <a:spLocks noChangeAspect="1"/>
            </p:cNvSpPr>
            <p:nvPr/>
          </p:nvSpPr>
          <p:spPr>
            <a:xfrm>
              <a:off x="7848600" y="5289981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88" name="TextBox 87"/>
            <p:cNvSpPr txBox="1"/>
            <p:nvPr/>
          </p:nvSpPr>
          <p:spPr>
            <a:xfrm>
              <a:off x="7430411" y="5350088"/>
              <a:ext cx="1058746" cy="380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89" name="TextBox 88"/>
            <p:cNvSpPr txBox="1"/>
            <p:nvPr/>
          </p:nvSpPr>
          <p:spPr>
            <a:xfrm>
              <a:off x="7627705" y="4994354"/>
              <a:ext cx="624672" cy="3801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4357218" y="4089400"/>
            <a:ext cx="17379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L2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84250" y="4089400"/>
            <a:ext cx="18904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L2</a:t>
            </a:r>
          </a:p>
        </p:txBody>
      </p:sp>
      <p:sp>
        <p:nvSpPr>
          <p:cNvPr id="92" name="Rectangle 3"/>
          <p:cNvSpPr>
            <a:spLocks noChangeArrowheads="1"/>
          </p:cNvSpPr>
          <p:nvPr/>
        </p:nvSpPr>
        <p:spPr bwMode="auto">
          <a:xfrm>
            <a:off x="2915978" y="4224974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894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9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 2"/>
          <p:cNvSpPr>
            <a:spLocks noGrp="1" noChangeArrowheads="1"/>
          </p:cNvSpPr>
          <p:nvPr>
            <p:ph type="title"/>
          </p:nvPr>
        </p:nvSpPr>
        <p:spPr>
          <a:xfrm>
            <a:off x="380999" y="457200"/>
            <a:ext cx="8434737" cy="573088"/>
          </a:xfrm>
        </p:spPr>
        <p:txBody>
          <a:bodyPr/>
          <a:lstStyle/>
          <a:p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 Example: Nested </a:t>
            </a:r>
            <a:r>
              <a:rPr lang="en-US" dirty="0">
                <a:latin typeface="Courier New"/>
                <a:cs typeface="Courier New"/>
              </a:rPr>
              <a:t>fork</a:t>
            </a:r>
            <a:r>
              <a:rPr lang="en-US" dirty="0"/>
              <a:t>s in children</a:t>
            </a:r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173493" y="1536690"/>
            <a:ext cx="3979165" cy="3139321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Courier New"/>
                <a:cs typeface="Courier New"/>
              </a:rPr>
              <a:t>fork5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"L0\n"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"L1\n"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8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        printf(</a:t>
            </a:r>
            <a:r>
              <a:rPr lang="ro-RO" sz="1800" dirty="0">
                <a:solidFill>
                  <a:srgbClr val="9D206F"/>
                </a:solidFill>
                <a:latin typeface="Courier New"/>
                <a:cs typeface="Courier New"/>
              </a:rPr>
              <a:t>"L2\n"</a:t>
            </a:r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    }</a:t>
            </a:r>
          </a:p>
          <a:p>
            <a:r>
              <a:rPr lang="ro-RO" sz="18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8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800" dirty="0">
                <a:solidFill>
                  <a:srgbClr val="9D206F"/>
                </a:solidFill>
                <a:latin typeface="Courier New"/>
                <a:cs typeface="Courier New"/>
              </a:rPr>
              <a:t>"Bye\n"</a:t>
            </a:r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153664" y="1799014"/>
            <a:ext cx="4863336" cy="1782386"/>
            <a:chOff x="4153664" y="1487067"/>
            <a:chExt cx="4863336" cy="1782386"/>
          </a:xfrm>
        </p:grpSpPr>
        <p:sp>
          <p:nvSpPr>
            <p:cNvPr id="49" name="Oval 48"/>
            <p:cNvSpPr>
              <a:spLocks noChangeAspect="1"/>
            </p:cNvSpPr>
            <p:nvPr/>
          </p:nvSpPr>
          <p:spPr>
            <a:xfrm>
              <a:off x="4526721" y="2914534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53664" y="2946288"/>
              <a:ext cx="87727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6102546" y="2903739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6893330" y="2335164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5720576" y="2935493"/>
              <a:ext cx="92152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54" name="Elbow Connector 35"/>
            <p:cNvCxnSpPr/>
            <p:nvPr/>
          </p:nvCxnSpPr>
          <p:spPr>
            <a:xfrm rot="5400000" flipH="1" flipV="1">
              <a:off x="7037642" y="1715351"/>
              <a:ext cx="544331" cy="753043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7699773" y="1770045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cxnSp>
          <p:nvCxnSpPr>
            <p:cNvPr id="56" name="Straight Arrow Connector 55"/>
            <p:cNvCxnSpPr/>
            <p:nvPr/>
          </p:nvCxnSpPr>
          <p:spPr>
            <a:xfrm flipV="1">
              <a:off x="6180270" y="2368266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/>
            <p:nvPr/>
          </p:nvCxnSpPr>
          <p:spPr>
            <a:xfrm flipV="1">
              <a:off x="4604445" y="2947637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6528379" y="2305691"/>
              <a:ext cx="80513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7337145" y="1755826"/>
              <a:ext cx="95916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60" name="Straight Arrow Connector 59"/>
            <p:cNvCxnSpPr/>
            <p:nvPr/>
          </p:nvCxnSpPr>
          <p:spPr>
            <a:xfrm flipV="1">
              <a:off x="6966192" y="2362507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679252" y="2318247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7271150" y="2305691"/>
              <a:ext cx="101361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5314512" y="2914534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071222" y="2946288"/>
              <a:ext cx="649355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65" name="Straight Arrow Connector 64"/>
            <p:cNvCxnSpPr/>
            <p:nvPr/>
          </p:nvCxnSpPr>
          <p:spPr>
            <a:xfrm flipV="1">
              <a:off x="5392235" y="2941877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Elbow Connector 35"/>
            <p:cNvCxnSpPr>
              <a:stCxn id="64" idx="0"/>
            </p:cNvCxnSpPr>
            <p:nvPr/>
          </p:nvCxnSpPr>
          <p:spPr>
            <a:xfrm rot="5400000" flipH="1" flipV="1">
              <a:off x="5462509" y="2303503"/>
              <a:ext cx="576177" cy="709395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Oval 66"/>
            <p:cNvSpPr>
              <a:spLocks noChangeAspect="1"/>
            </p:cNvSpPr>
            <p:nvPr/>
          </p:nvSpPr>
          <p:spPr>
            <a:xfrm>
              <a:off x="6102546" y="2310017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562600" y="2305691"/>
              <a:ext cx="990551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389726" y="2621511"/>
              <a:ext cx="41553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L0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7549209" y="1487067"/>
              <a:ext cx="41553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L2</a:t>
              </a: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886489" y="2621511"/>
              <a:ext cx="53097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944206" y="2055502"/>
              <a:ext cx="41553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L1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7470966" y="2050056"/>
              <a:ext cx="53097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  <p:cxnSp>
          <p:nvCxnSpPr>
            <p:cNvPr id="74" name="Straight Arrow Connector 73"/>
            <p:cNvCxnSpPr/>
            <p:nvPr/>
          </p:nvCxnSpPr>
          <p:spPr>
            <a:xfrm flipV="1">
              <a:off x="7759467" y="1816191"/>
              <a:ext cx="713060" cy="2880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Oval 74"/>
            <p:cNvSpPr>
              <a:spLocks noChangeAspect="1"/>
            </p:cNvSpPr>
            <p:nvPr/>
          </p:nvSpPr>
          <p:spPr>
            <a:xfrm>
              <a:off x="8472527" y="1767980"/>
              <a:ext cx="77724" cy="7772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8117066" y="1755826"/>
              <a:ext cx="899934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8284766" y="1487067"/>
              <a:ext cx="53097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</p:grpSp>
      <p:sp>
        <p:nvSpPr>
          <p:cNvPr id="78" name="TextBox 77"/>
          <p:cNvSpPr txBox="1"/>
          <p:nvPr/>
        </p:nvSpPr>
        <p:spPr>
          <a:xfrm>
            <a:off x="4420718" y="4089400"/>
            <a:ext cx="1737938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L2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47750" y="4089400"/>
            <a:ext cx="189043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L0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L1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L2</a:t>
            </a:r>
          </a:p>
        </p:txBody>
      </p:sp>
      <p:sp>
        <p:nvSpPr>
          <p:cNvPr id="80" name="Rectangle 3"/>
          <p:cNvSpPr>
            <a:spLocks noChangeArrowheads="1"/>
          </p:cNvSpPr>
          <p:nvPr/>
        </p:nvSpPr>
        <p:spPr bwMode="auto">
          <a:xfrm>
            <a:off x="2904610" y="4318348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14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" grpId="0"/>
      <p:bldP spid="7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Why have fork() at all?</a:t>
            </a:r>
            <a:endParaRPr lang="en-GB" dirty="0"/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Why make a copy of the parent process?</a:t>
            </a:r>
          </a:p>
          <a:p>
            <a:r>
              <a:rPr lang="en-GB" dirty="0"/>
              <a:t>Don't you usually want to start a new program instead?</a:t>
            </a:r>
          </a:p>
          <a:p>
            <a:r>
              <a:rPr lang="en-GB" dirty="0"/>
              <a:t>Where might “cloning” the parent be useful?</a:t>
            </a:r>
          </a:p>
          <a:p>
            <a:pPr lvl="1"/>
            <a:r>
              <a:rPr lang="en-GB" dirty="0"/>
              <a:t>Web server – make a copy for each incoming connection</a:t>
            </a:r>
          </a:p>
          <a:p>
            <a:pPr lvl="1"/>
            <a:r>
              <a:rPr lang="en-GB" dirty="0"/>
              <a:t>Parallel processing – set up initial state, fork off multiple copies to do work</a:t>
            </a:r>
          </a:p>
          <a:p>
            <a:r>
              <a:rPr lang="en-GB" dirty="0"/>
              <a:t>UNIX philosophy: System calls should be minimal.</a:t>
            </a:r>
          </a:p>
          <a:p>
            <a:pPr lvl="1"/>
            <a:r>
              <a:rPr lang="en-GB" dirty="0"/>
              <a:t>Don't overload system calls with extra functionality if it is not always needed.</a:t>
            </a:r>
          </a:p>
          <a:p>
            <a:pPr lvl="1"/>
            <a:r>
              <a:rPr lang="en-GB" dirty="0"/>
              <a:t>Better to provide a flexible set of simple primitives and let programmers combine them in useful ways.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14683" algn="l"/>
                <a:tab pos="829366" algn="l"/>
                <a:tab pos="1244049" algn="l"/>
                <a:tab pos="1658732" algn="l"/>
                <a:tab pos="2073416" algn="l"/>
                <a:tab pos="2488099" algn="l"/>
                <a:tab pos="2902782" algn="l"/>
                <a:tab pos="3317465" algn="l"/>
                <a:tab pos="3732148" algn="l"/>
                <a:tab pos="4146831" algn="l"/>
                <a:tab pos="4561514" algn="l"/>
                <a:tab pos="4976197" algn="l"/>
                <a:tab pos="5390881" algn="l"/>
                <a:tab pos="5805564" algn="l"/>
                <a:tab pos="6220247" algn="l"/>
                <a:tab pos="6634930" algn="l"/>
                <a:tab pos="7049613" algn="l"/>
                <a:tab pos="7464296" algn="l"/>
                <a:tab pos="7878979" algn="l"/>
                <a:tab pos="8293662" algn="l"/>
              </a:tabLst>
            </a:pPr>
            <a:r>
              <a:rPr lang="en-GB" dirty="0">
                <a:cs typeface="MS Gothic" charset="0"/>
              </a:rPr>
              <a:t>What if </a:t>
            </a:r>
            <a:r>
              <a:rPr lang="en-GB" dirty="0" err="1">
                <a:latin typeface="Courier New" charset="0"/>
                <a:ea typeface="Courier New" charset="0"/>
                <a:cs typeface="Courier New" charset="0"/>
              </a:rPr>
              <a:t>fork</a:t>
            </a:r>
            <a:r>
              <a:rPr lang="en-GB" dirty="0" err="1">
                <a:cs typeface="MS Gothic" charset="0"/>
              </a:rPr>
              <a:t>’ing</a:t>
            </a:r>
            <a:r>
              <a:rPr lang="en-GB" dirty="0">
                <a:cs typeface="MS Gothic" charset="0"/>
              </a:rPr>
              <a:t> gets out of control?</a:t>
            </a:r>
          </a:p>
        </p:txBody>
      </p:sp>
      <p:pic>
        <p:nvPicPr>
          <p:cNvPr id="8704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3400" y="1752600"/>
            <a:ext cx="8182080" cy="420380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33400" y="4479074"/>
            <a:ext cx="2528256" cy="1477328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void </a:t>
            </a:r>
            <a:r>
              <a:rPr lang="en-US" sz="1800" dirty="0" err="1">
                <a:latin typeface="Courier New" pitchFamily="49" charset="0"/>
              </a:rPr>
              <a:t>forkbomb</a:t>
            </a:r>
            <a:r>
              <a:rPr lang="en-US" sz="1800" dirty="0">
                <a:latin typeface="Courier New" pitchFamily="49" charset="0"/>
              </a:rPr>
              <a:t>() {</a:t>
            </a:r>
          </a:p>
          <a:p>
            <a:r>
              <a:rPr lang="en-US" sz="1800" dirty="0">
                <a:latin typeface="Courier New" pitchFamily="49" charset="0"/>
              </a:rPr>
              <a:t>   while (1)</a:t>
            </a:r>
          </a:p>
          <a:p>
            <a:r>
              <a:rPr lang="en-US" sz="1800" dirty="0">
                <a:latin typeface="Courier New" pitchFamily="49" charset="0"/>
              </a:rPr>
              <a:t>   	fork();</a:t>
            </a:r>
          </a:p>
          <a:p>
            <a:r>
              <a:rPr lang="en-US" sz="1800" dirty="0">
                <a:latin typeface="Courier New" pitchFamily="49" charset="0"/>
              </a:rPr>
              <a:t>}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>
              <a:lnSpc>
                <a:spcPct val="93000"/>
              </a:lnSpc>
              <a:tabLst>
                <a:tab pos="0" algn="l"/>
                <a:tab pos="414683" algn="l"/>
                <a:tab pos="829366" algn="l"/>
                <a:tab pos="1244049" algn="l"/>
                <a:tab pos="1658732" algn="l"/>
                <a:tab pos="2073416" algn="l"/>
                <a:tab pos="2488099" algn="l"/>
                <a:tab pos="2902782" algn="l"/>
                <a:tab pos="3317465" algn="l"/>
                <a:tab pos="3732148" algn="l"/>
                <a:tab pos="4146831" algn="l"/>
                <a:tab pos="4561514" algn="l"/>
                <a:tab pos="4976197" algn="l"/>
                <a:tab pos="5390881" algn="l"/>
                <a:tab pos="5805564" algn="l"/>
                <a:tab pos="6220247" algn="l"/>
                <a:tab pos="6634930" algn="l"/>
                <a:tab pos="7049613" algn="l"/>
                <a:tab pos="7464296" algn="l"/>
                <a:tab pos="7878979" algn="l"/>
                <a:tab pos="8293662" algn="l"/>
              </a:tabLst>
            </a:pPr>
            <a:r>
              <a:rPr lang="en-GB" dirty="0">
                <a:cs typeface="MS Gothic" charset="0"/>
              </a:rPr>
              <a:t>Memory concerns</a:t>
            </a:r>
          </a:p>
        </p:txBody>
      </p:sp>
      <p:sp>
        <p:nvSpPr>
          <p:cNvPr id="8909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>
              <a:buFont typeface="Wingdings" charset="2"/>
              <a:buChar char=""/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OS aggressively tries to share memory between processes.</a:t>
            </a:r>
          </a:p>
          <a:p>
            <a:pPr lvl="1" eaLnBrk="1"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Especially processes that are </a:t>
            </a:r>
            <a:r>
              <a:rPr lang="en-GB" b="1" dirty="0" err="1">
                <a:latin typeface="Courier New" charset="0"/>
                <a:ea typeface="Courier New" charset="0"/>
                <a:cs typeface="Courier New" charset="0"/>
              </a:rPr>
              <a:t>fork()</a:t>
            </a:r>
            <a:r>
              <a:rPr lang="en-GB" dirty="0" err="1">
                <a:cs typeface="MS Gothic" charset="0"/>
              </a:rPr>
              <a:t>'d</a:t>
            </a:r>
            <a:r>
              <a:rPr lang="en-GB" dirty="0">
                <a:cs typeface="MS Gothic" charset="0"/>
              </a:rPr>
              <a:t> copies of each other</a:t>
            </a:r>
          </a:p>
          <a:p>
            <a:pPr eaLnBrk="1">
              <a:buFont typeface="Wingdings" charset="2"/>
              <a:buChar char=""/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Copies of a parent process do not actually get a private copy of the address space...</a:t>
            </a:r>
          </a:p>
          <a:p>
            <a:pPr lvl="1" eaLnBrk="1"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... though that is the illusion that each process gets.</a:t>
            </a:r>
          </a:p>
          <a:p>
            <a:pPr lvl="1" eaLnBrk="1"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Instead, they share the same physical memory, until one of them makes a change.</a:t>
            </a:r>
          </a:p>
          <a:p>
            <a:pPr eaLnBrk="1">
              <a:buFont typeface="Wingdings" charset="2"/>
              <a:buChar char=""/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The virtual memory system is behind these tricks.</a:t>
            </a:r>
          </a:p>
          <a:p>
            <a:pPr lvl="1" eaLnBrk="1">
              <a:tabLst>
                <a:tab pos="260617" algn="l"/>
                <a:tab pos="411803" algn="l"/>
                <a:tab pos="826486" algn="l"/>
                <a:tab pos="1241170" algn="l"/>
                <a:tab pos="1655852" algn="l"/>
                <a:tab pos="2070536" algn="l"/>
                <a:tab pos="2485219" algn="l"/>
                <a:tab pos="2899903" algn="l"/>
                <a:tab pos="3314585" algn="l"/>
                <a:tab pos="3729269" algn="l"/>
                <a:tab pos="4143951" algn="l"/>
                <a:tab pos="4558635" algn="l"/>
                <a:tab pos="4973317" algn="l"/>
                <a:tab pos="5388002" algn="l"/>
                <a:tab pos="5802684" algn="l"/>
                <a:tab pos="6217368" algn="l"/>
                <a:tab pos="6632050" algn="l"/>
                <a:tab pos="7046734" algn="l"/>
                <a:tab pos="7461416" algn="l"/>
                <a:tab pos="7876100" algn="l"/>
                <a:tab pos="8290782" algn="l"/>
              </a:tabLst>
            </a:pPr>
            <a:r>
              <a:rPr lang="en-GB" dirty="0">
                <a:cs typeface="MS Gothic" charset="0"/>
              </a:rPr>
              <a:t>We will discuss this in much detail later in the course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Terminating Processes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875" y="1362075"/>
            <a:ext cx="8518525" cy="1533525"/>
          </a:xfrm>
        </p:spPr>
        <p:txBody>
          <a:bodyPr/>
          <a:lstStyle/>
          <a:p>
            <a:r>
              <a:rPr lang="en-US" dirty="0"/>
              <a:t>Process becomes terminated for one of three reasons:</a:t>
            </a:r>
          </a:p>
          <a:p>
            <a:pPr lvl="1"/>
            <a:r>
              <a:rPr lang="en-US" dirty="0"/>
              <a:t>Receiving a signal whose default action is to terminate (more later)</a:t>
            </a:r>
          </a:p>
          <a:p>
            <a:pPr lvl="1"/>
            <a:r>
              <a:rPr lang="en-US" dirty="0"/>
              <a:t>Returning from the </a:t>
            </a:r>
            <a:r>
              <a:rPr lang="en-US" b="1" dirty="0">
                <a:latin typeface="Courier New"/>
                <a:cs typeface="Courier New"/>
              </a:rPr>
              <a:t>main</a:t>
            </a:r>
            <a:r>
              <a:rPr lang="en-US" dirty="0"/>
              <a:t> routine</a:t>
            </a:r>
          </a:p>
          <a:p>
            <a:pPr lvl="1"/>
            <a:r>
              <a:rPr lang="en-US" dirty="0"/>
              <a:t>Calling the </a:t>
            </a:r>
            <a:r>
              <a:rPr lang="en-US" b="1" dirty="0">
                <a:latin typeface="Courier New"/>
                <a:cs typeface="Courier New"/>
              </a:rPr>
              <a:t>exit</a:t>
            </a:r>
            <a:r>
              <a:rPr lang="en-US" dirty="0"/>
              <a:t> function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5160961" y="3947552"/>
            <a:ext cx="3906839" cy="2677656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800" dirty="0">
                <a:latin typeface="Courier New" pitchFamily="49" charset="0"/>
              </a:rPr>
              <a:t>void cleanup(void) {</a:t>
            </a:r>
          </a:p>
          <a:p>
            <a:r>
              <a:rPr lang="en-US" sz="1800" dirty="0">
                <a:latin typeface="Courier New" pitchFamily="49" charset="0"/>
              </a:rPr>
              <a:t>   printf("cleaning up\n");</a:t>
            </a:r>
          </a:p>
          <a:p>
            <a:r>
              <a:rPr lang="en-US" sz="1800" dirty="0">
                <a:latin typeface="Courier New" pitchFamily="49" charset="0"/>
              </a:rPr>
              <a:t>}</a:t>
            </a:r>
          </a:p>
          <a:p>
            <a:endParaRPr lang="en-US" sz="1800" dirty="0">
              <a:latin typeface="Courier New" pitchFamily="49" charset="0"/>
            </a:endParaRPr>
          </a:p>
          <a:p>
            <a:r>
              <a:rPr lang="en-US" sz="1800" dirty="0">
                <a:latin typeface="Courier New" pitchFamily="49" charset="0"/>
              </a:rPr>
              <a:t>void fork() {</a:t>
            </a:r>
          </a:p>
          <a:p>
            <a:r>
              <a:rPr lang="en-US" sz="1800" dirty="0">
                <a:latin typeface="Courier New" pitchFamily="49" charset="0"/>
              </a:rPr>
              <a:t>   atexit(cleanup);</a:t>
            </a:r>
          </a:p>
          <a:p>
            <a:r>
              <a:rPr lang="en-US" sz="1800" dirty="0">
                <a:latin typeface="Courier New" pitchFamily="49" charset="0"/>
              </a:rPr>
              <a:t>   fork();</a:t>
            </a:r>
          </a:p>
          <a:p>
            <a:r>
              <a:rPr lang="en-US" sz="1800" dirty="0">
                <a:latin typeface="Courier New" pitchFamily="49" charset="0"/>
              </a:rPr>
              <a:t>   exit(0);</a:t>
            </a:r>
          </a:p>
          <a:p>
            <a:r>
              <a:rPr lang="en-US" sz="1800" dirty="0">
                <a:latin typeface="Courier New" pitchFamily="49" charset="0"/>
              </a:rPr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357018" y="2667000"/>
            <a:ext cx="4724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itchFamily="18" charset="2"/>
              <a:buChar char="¢"/>
              <a:defRPr sz="2400" b="1">
                <a:solidFill>
                  <a:schemeClr val="tx1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/>
            <a:endParaRPr lang="en-US" b="0" kern="0" dirty="0"/>
          </a:p>
          <a:p>
            <a:r>
              <a:rPr lang="en-US" kern="0" dirty="0">
                <a:latin typeface="Courier New"/>
                <a:cs typeface="Courier New"/>
              </a:rPr>
              <a:t>void exit(</a:t>
            </a:r>
            <a:r>
              <a:rPr lang="en-US" kern="0" dirty="0" err="1">
                <a:latin typeface="Courier New"/>
                <a:cs typeface="Courier New"/>
              </a:rPr>
              <a:t>int</a:t>
            </a:r>
            <a:r>
              <a:rPr lang="en-US" kern="0" dirty="0">
                <a:latin typeface="Courier New"/>
                <a:cs typeface="Courier New"/>
              </a:rPr>
              <a:t> status)</a:t>
            </a:r>
          </a:p>
          <a:p>
            <a:pPr lvl="1"/>
            <a:r>
              <a:rPr lang="en-US" b="0" kern="0" dirty="0"/>
              <a:t>Terminates with an </a:t>
            </a:r>
            <a:r>
              <a:rPr lang="en-US" b="0" i="1" kern="0" dirty="0"/>
              <a:t>exit status </a:t>
            </a:r>
            <a:r>
              <a:rPr lang="en-US" b="0" kern="0" dirty="0"/>
              <a:t>of </a:t>
            </a:r>
            <a:r>
              <a:rPr lang="en-US" b="1" kern="0" dirty="0">
                <a:latin typeface="Courier New"/>
                <a:cs typeface="Courier New"/>
              </a:rPr>
              <a:t>status</a:t>
            </a:r>
          </a:p>
          <a:p>
            <a:pPr lvl="1"/>
            <a:r>
              <a:rPr lang="en-US" b="0" kern="0" dirty="0">
                <a:latin typeface="Calibri"/>
                <a:cs typeface="Calibri"/>
              </a:rPr>
              <a:t>Convention:</a:t>
            </a:r>
            <a:r>
              <a:rPr lang="en-US" b="0" kern="0" dirty="0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lang="en-US" b="0" kern="0" dirty="0">
                <a:latin typeface="Calibri"/>
                <a:cs typeface="Calibri"/>
              </a:rPr>
              <a:t>normal return status is 0, nonzero on error</a:t>
            </a:r>
          </a:p>
          <a:p>
            <a:pPr lvl="1"/>
            <a:r>
              <a:rPr lang="en-US" b="0" kern="0" dirty="0">
                <a:latin typeface="Calibri"/>
                <a:cs typeface="Calibri"/>
              </a:rPr>
              <a:t>Another way to explicitly set the exit status is to return an integer value from the main routine</a:t>
            </a:r>
          </a:p>
          <a:p>
            <a:pPr lvl="1"/>
            <a:endParaRPr lang="en-US" b="0" kern="0" dirty="0">
              <a:latin typeface="Calibri"/>
              <a:cs typeface="Calibri"/>
            </a:endParaRPr>
          </a:p>
          <a:p>
            <a:r>
              <a:rPr lang="en-US" kern="0" dirty="0">
                <a:latin typeface="Courier New"/>
                <a:cs typeface="Courier New"/>
              </a:rPr>
              <a:t>exit</a:t>
            </a:r>
            <a:r>
              <a:rPr lang="en-US" kern="0" dirty="0">
                <a:latin typeface="Calibri"/>
                <a:cs typeface="Calibri"/>
              </a:rPr>
              <a:t> is called </a:t>
            </a:r>
            <a:r>
              <a:rPr lang="en-US" kern="0" dirty="0">
                <a:solidFill>
                  <a:srgbClr val="FF0000"/>
                </a:solidFill>
                <a:latin typeface="Calibri"/>
                <a:cs typeface="Calibri"/>
              </a:rPr>
              <a:t>once</a:t>
            </a:r>
            <a:r>
              <a:rPr lang="en-US" kern="0" dirty="0">
                <a:latin typeface="Calibri"/>
                <a:cs typeface="Calibri"/>
              </a:rPr>
              <a:t> but </a:t>
            </a:r>
            <a:r>
              <a:rPr lang="en-US" kern="0" dirty="0">
                <a:solidFill>
                  <a:srgbClr val="FF0000"/>
                </a:solidFill>
                <a:latin typeface="Calibri"/>
                <a:cs typeface="Calibri"/>
              </a:rPr>
              <a:t>never </a:t>
            </a:r>
            <a:r>
              <a:rPr lang="en-US" kern="0" dirty="0">
                <a:latin typeface="Calibri"/>
                <a:cs typeface="Calibri"/>
              </a:rPr>
              <a:t>returns.</a:t>
            </a:r>
          </a:p>
          <a:p>
            <a:endParaRPr lang="en-US" kern="0" dirty="0"/>
          </a:p>
          <a:p>
            <a:endParaRPr lang="en-US" kern="0" dirty="0"/>
          </a:p>
        </p:txBody>
      </p:sp>
      <p:sp>
        <p:nvSpPr>
          <p:cNvPr id="6" name="Rectangle 5"/>
          <p:cNvSpPr/>
          <p:nvPr/>
        </p:nvSpPr>
        <p:spPr>
          <a:xfrm>
            <a:off x="4992635" y="3124200"/>
            <a:ext cx="395255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000" kern="0" dirty="0" err="1">
                <a:latin typeface="Courier New" pitchFamily="49" charset="0"/>
              </a:rPr>
              <a:t>atexit</a:t>
            </a:r>
            <a:r>
              <a:rPr lang="en-US" sz="2000" kern="0" dirty="0">
                <a:latin typeface="Courier New" pitchFamily="49" charset="0"/>
              </a:rPr>
              <a:t>()</a:t>
            </a:r>
            <a:r>
              <a:rPr lang="en-US" sz="2000" kern="0" dirty="0"/>
              <a:t> </a:t>
            </a:r>
            <a:r>
              <a:rPr lang="en-US" sz="2000" b="0" kern="0" dirty="0">
                <a:latin typeface="Calibri" charset="0"/>
                <a:ea typeface="Calibri" charset="0"/>
                <a:cs typeface="Calibri" charset="0"/>
              </a:rPr>
              <a:t>registers functions to be executed upon exit</a:t>
            </a:r>
          </a:p>
        </p:txBody>
      </p:sp>
    </p:spTree>
    <p:extLst>
      <p:ext uri="{BB962C8B-B14F-4D97-AF65-F5344CB8AC3E}">
        <p14:creationId xmlns:p14="http://schemas.microsoft.com/office/powerpoint/2010/main" val="3625988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642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17512"/>
            <a:ext cx="6997700" cy="573088"/>
          </a:xfrm>
        </p:spPr>
        <p:txBody>
          <a:bodyPr/>
          <a:lstStyle/>
          <a:p>
            <a:r>
              <a:rPr lang="en-US" dirty="0"/>
              <a:t>Reaping Child Processes</a:t>
            </a:r>
          </a:p>
        </p:txBody>
      </p:sp>
      <p:sp>
        <p:nvSpPr>
          <p:cNvPr id="496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59679" y="1098550"/>
            <a:ext cx="8307387" cy="5454650"/>
          </a:xfrm>
        </p:spPr>
        <p:txBody>
          <a:bodyPr/>
          <a:lstStyle/>
          <a:p>
            <a:r>
              <a:rPr lang="en-US" dirty="0"/>
              <a:t>Idea</a:t>
            </a:r>
          </a:p>
          <a:p>
            <a:pPr lvl="1"/>
            <a:r>
              <a:rPr lang="en-US" dirty="0"/>
              <a:t>When process terminates, it still consumes system resources</a:t>
            </a:r>
          </a:p>
          <a:p>
            <a:pPr lvl="2"/>
            <a:r>
              <a:rPr lang="en-US" dirty="0"/>
              <a:t>Examples: Exit status, various OS tables</a:t>
            </a:r>
          </a:p>
          <a:p>
            <a:pPr lvl="1"/>
            <a:r>
              <a:rPr lang="en-US" dirty="0"/>
              <a:t>Called a “zombie”</a:t>
            </a:r>
          </a:p>
          <a:p>
            <a:pPr lvl="2"/>
            <a:r>
              <a:rPr lang="en-US" dirty="0"/>
              <a:t>Living corpse, half alive and half dead</a:t>
            </a:r>
          </a:p>
          <a:p>
            <a:r>
              <a:rPr lang="en-US" dirty="0"/>
              <a:t>Reaping</a:t>
            </a:r>
          </a:p>
          <a:p>
            <a:pPr lvl="1"/>
            <a:r>
              <a:rPr lang="en-US" dirty="0"/>
              <a:t>Performed by parent on terminated child (using </a:t>
            </a:r>
            <a:r>
              <a:rPr lang="en-US" b="1" dirty="0">
                <a:latin typeface="Courier New"/>
                <a:cs typeface="Courier New"/>
              </a:rPr>
              <a:t>wait</a:t>
            </a:r>
            <a:r>
              <a:rPr lang="en-US" dirty="0"/>
              <a:t> or </a:t>
            </a:r>
            <a:r>
              <a:rPr lang="en-US" b="1" dirty="0" err="1">
                <a:latin typeface="Courier New"/>
                <a:cs typeface="Courier New"/>
              </a:rPr>
              <a:t>waitpid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Parent is given exit status information</a:t>
            </a:r>
          </a:p>
          <a:p>
            <a:pPr lvl="1"/>
            <a:r>
              <a:rPr lang="en-US" dirty="0"/>
              <a:t>Kernel then deletes zombie child process</a:t>
            </a:r>
          </a:p>
          <a:p>
            <a:r>
              <a:rPr lang="en-US" dirty="0"/>
              <a:t>What if parent doesn’t reap?</a:t>
            </a:r>
          </a:p>
          <a:p>
            <a:pPr lvl="1"/>
            <a:r>
              <a:rPr lang="en-US" dirty="0"/>
              <a:t>If any parent terminates without reaping a child, then the orphaned child will be reaped by </a:t>
            </a:r>
            <a:r>
              <a:rPr lang="en-US" b="1" dirty="0">
                <a:latin typeface="Courier New" pitchFamily="49" charset="0"/>
              </a:rPr>
              <a:t>init</a:t>
            </a:r>
            <a:r>
              <a:rPr lang="en-US" dirty="0"/>
              <a:t> process (</a:t>
            </a:r>
            <a:r>
              <a:rPr lang="en-US" dirty="0" err="1"/>
              <a:t>pid</a:t>
            </a:r>
            <a:r>
              <a:rPr lang="en-US" dirty="0"/>
              <a:t> == 1)</a:t>
            </a:r>
          </a:p>
          <a:p>
            <a:pPr lvl="1"/>
            <a:r>
              <a:rPr lang="en-US" dirty="0"/>
              <a:t>So, only need explicit reaping in long-running processes</a:t>
            </a:r>
          </a:p>
          <a:p>
            <a:pPr lvl="2"/>
            <a:r>
              <a:rPr lang="en-US" dirty="0"/>
              <a:t>e.g., shells and servers</a:t>
            </a:r>
          </a:p>
        </p:txBody>
      </p:sp>
    </p:spTree>
    <p:extLst>
      <p:ext uri="{BB962C8B-B14F-4D97-AF65-F5344CB8AC3E}">
        <p14:creationId xmlns:p14="http://schemas.microsoft.com/office/powerpoint/2010/main" val="172171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666" name="Text Box 2"/>
          <p:cNvSpPr txBox="1">
            <a:spLocks noChangeArrowheads="1"/>
          </p:cNvSpPr>
          <p:nvPr/>
        </p:nvSpPr>
        <p:spPr bwMode="auto">
          <a:xfrm>
            <a:off x="152400" y="2438400"/>
            <a:ext cx="4998484" cy="2554545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7 &amp;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[1]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Parent, PID =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Child, PID = 6640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6639 ttyp9    00:00:03 forks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6640 ttyp9    00:00:00 forks &lt;defunct&gt;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6641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97667" name="Rectangle 3"/>
          <p:cNvSpPr>
            <a:spLocks noGrp="1" noChangeArrowheads="1"/>
          </p:cNvSpPr>
          <p:nvPr>
            <p:ph type="title"/>
          </p:nvPr>
        </p:nvSpPr>
        <p:spPr>
          <a:xfrm>
            <a:off x="381000" y="504825"/>
            <a:ext cx="2006600" cy="1095375"/>
          </a:xfrm>
        </p:spPr>
        <p:txBody>
          <a:bodyPr/>
          <a:lstStyle/>
          <a:p>
            <a:pPr marL="0" indent="0"/>
            <a:r>
              <a:rPr lang="en-US" dirty="0"/>
              <a:t>Zombie</a:t>
            </a:r>
            <a:br>
              <a:rPr lang="en-US" dirty="0"/>
            </a:br>
            <a:r>
              <a:rPr lang="en-US" dirty="0"/>
              <a:t>Example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796007" y="2586714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152400" y="2438400"/>
            <a:ext cx="3764172" cy="1077218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7 &amp;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[1]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Parent, PID =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Child, PID = 6640</a:t>
            </a: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52400" y="2438400"/>
            <a:ext cx="4998484" cy="4003675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7 &amp;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[1]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Parent, PID =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Child, PID = 6640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6639 ttyp9    00:00:03 forks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6640 ttyp9    00:00:00 forks &lt;defunct&gt;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6641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</a:t>
            </a:r>
            <a:r>
              <a:rPr lang="en-US" sz="1600" i="1" dirty="0">
                <a:latin typeface="Courier New" pitchFamily="49" charset="0"/>
              </a:rPr>
              <a:t> kill 6639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[1]    Terminated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6642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9766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5638800" y="3994150"/>
            <a:ext cx="3505200" cy="2635250"/>
          </a:xfrm>
        </p:spPr>
        <p:txBody>
          <a:bodyPr/>
          <a:lstStyle/>
          <a:p>
            <a:r>
              <a:rPr lang="en-US" sz="2000" dirty="0" err="1">
                <a:latin typeface="Courier New" pitchFamily="49" charset="0"/>
              </a:rPr>
              <a:t>ps</a:t>
            </a:r>
            <a:r>
              <a:rPr lang="en-US" sz="2000" b="0" dirty="0"/>
              <a:t> shows child process as “defunct” (i.e., a zombie)</a:t>
            </a:r>
          </a:p>
          <a:p>
            <a:endParaRPr lang="en-US" sz="2000" b="0" dirty="0"/>
          </a:p>
          <a:p>
            <a:r>
              <a:rPr lang="en-US" sz="2000" b="0" dirty="0"/>
              <a:t>Killing parent allows child to be reaped by </a:t>
            </a:r>
            <a:r>
              <a:rPr lang="en-US" sz="2000" dirty="0">
                <a:latin typeface="Courier New" pitchFamily="49" charset="0"/>
              </a:rPr>
              <a:t>init</a:t>
            </a:r>
          </a:p>
        </p:txBody>
      </p:sp>
      <p:cxnSp>
        <p:nvCxnSpPr>
          <p:cNvPr id="3" name="Straight Arrow Connector 2"/>
          <p:cNvCxnSpPr/>
          <p:nvPr/>
        </p:nvCxnSpPr>
        <p:spPr bwMode="auto">
          <a:xfrm flipH="1">
            <a:off x="5067300" y="4419600"/>
            <a:ext cx="800101" cy="1524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1" name="Group 10"/>
          <p:cNvGrpSpPr/>
          <p:nvPr/>
        </p:nvGrpSpPr>
        <p:grpSpPr>
          <a:xfrm>
            <a:off x="3733800" y="5410200"/>
            <a:ext cx="2041080" cy="914400"/>
            <a:chOff x="3733800" y="5410200"/>
            <a:chExt cx="2041080" cy="914400"/>
          </a:xfrm>
        </p:grpSpPr>
        <p:cxnSp>
          <p:nvCxnSpPr>
            <p:cNvPr id="5" name="Straight Arrow Connector 4"/>
            <p:cNvCxnSpPr/>
            <p:nvPr/>
          </p:nvCxnSpPr>
          <p:spPr bwMode="auto">
            <a:xfrm flipH="1">
              <a:off x="4038600" y="5410200"/>
              <a:ext cx="1736280" cy="723900"/>
            </a:xfrm>
            <a:prstGeom prst="straightConnector1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9" name="Right Brace 8"/>
            <p:cNvSpPr/>
            <p:nvPr/>
          </p:nvSpPr>
          <p:spPr bwMode="auto">
            <a:xfrm>
              <a:off x="3733800" y="5943600"/>
              <a:ext cx="228600" cy="381000"/>
            </a:xfrm>
            <a:prstGeom prst="rightBrac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97669" name="Text Box 5"/>
          <p:cNvSpPr txBox="1">
            <a:spLocks noChangeArrowheads="1"/>
          </p:cNvSpPr>
          <p:nvPr/>
        </p:nvSpPr>
        <p:spPr bwMode="auto">
          <a:xfrm>
            <a:off x="2547938" y="482164"/>
            <a:ext cx="6453885" cy="2462213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400" dirty="0">
                <a:solidFill>
                  <a:srgbClr val="4A00FF"/>
                </a:solidFill>
                <a:latin typeface="Courier New"/>
                <a:cs typeface="Courier New"/>
              </a:rPr>
              <a:t>fork7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()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4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4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4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4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400" dirty="0">
                <a:solidFill>
                  <a:srgbClr val="9D206F"/>
                </a:solidFill>
                <a:latin typeface="Courier New"/>
                <a:cs typeface="Courier New"/>
              </a:rPr>
              <a:t>"Terminating Child, PID = %d\n"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400" dirty="0" err="1">
                <a:solidFill>
                  <a:srgbClr val="000000"/>
                </a:solidFill>
                <a:latin typeface="Courier New"/>
                <a:cs typeface="Courier New"/>
              </a:rPr>
              <a:t>getpid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    exit(0);</a:t>
            </a:r>
          </a:p>
          <a:p>
            <a:r>
              <a:rPr lang="da-DK" sz="1400" dirty="0">
                <a:solidFill>
                  <a:srgbClr val="000000"/>
                </a:solidFill>
                <a:latin typeface="Courier New"/>
                <a:cs typeface="Courier New"/>
              </a:rPr>
              <a:t>    } </a:t>
            </a:r>
            <a:r>
              <a:rPr lang="da-DK" sz="1400" dirty="0" err="1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r>
              <a:rPr lang="da-DK" sz="1400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</a:p>
          <a:p>
            <a:r>
              <a:rPr lang="da-DK" sz="14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4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da-DK" sz="14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4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da-DK" sz="1400" dirty="0" err="1">
                <a:solidFill>
                  <a:srgbClr val="9D206F"/>
                </a:solidFill>
                <a:latin typeface="Courier New"/>
                <a:cs typeface="Courier New"/>
              </a:rPr>
              <a:t>Running</a:t>
            </a:r>
            <a:r>
              <a:rPr lang="da-DK" sz="1400" dirty="0">
                <a:solidFill>
                  <a:srgbClr val="9D206F"/>
                </a:solidFill>
                <a:latin typeface="Courier New"/>
                <a:cs typeface="Courier New"/>
              </a:rPr>
              <a:t> </a:t>
            </a:r>
            <a:r>
              <a:rPr lang="da-DK" sz="1400" dirty="0" err="1">
                <a:solidFill>
                  <a:srgbClr val="9D206F"/>
                </a:solidFill>
                <a:latin typeface="Courier New"/>
                <a:cs typeface="Courier New"/>
              </a:rPr>
              <a:t>Parent</a:t>
            </a:r>
            <a:r>
              <a:rPr lang="da-DK" sz="1400" dirty="0">
                <a:solidFill>
                  <a:srgbClr val="9D206F"/>
                </a:solidFill>
                <a:latin typeface="Courier New"/>
                <a:cs typeface="Courier New"/>
              </a:rPr>
              <a:t>, PID = %d\n"</a:t>
            </a:r>
            <a:r>
              <a:rPr lang="da-DK" sz="14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da-DK" sz="1400" dirty="0" err="1">
                <a:solidFill>
                  <a:srgbClr val="000000"/>
                </a:solidFill>
                <a:latin typeface="Courier New"/>
                <a:cs typeface="Courier New"/>
              </a:rPr>
              <a:t>getpid</a:t>
            </a:r>
            <a:r>
              <a:rPr lang="da-DK" sz="1400" dirty="0">
                <a:solidFill>
                  <a:srgbClr val="000000"/>
                </a:solidFill>
                <a:latin typeface="Courier New"/>
                <a:cs typeface="Courier New"/>
              </a:rPr>
              <a:t>());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4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(1)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        ; </a:t>
            </a:r>
            <a:r>
              <a:rPr lang="en-US" sz="1400" dirty="0">
                <a:solidFill>
                  <a:srgbClr val="CB2418"/>
                </a:solidFill>
                <a:latin typeface="Courier New"/>
                <a:cs typeface="Courier New"/>
              </a:rPr>
              <a:t>/* Infinite loop */</a:t>
            </a:r>
            <a:endParaRPr lang="en-US" sz="14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4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3542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6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7666" grpId="0" animBg="1"/>
      <p:bldP spid="12" grpId="0" animBg="1"/>
      <p:bldP spid="1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690" name="Text Box 2"/>
          <p:cNvSpPr txBox="1">
            <a:spLocks noChangeArrowheads="1"/>
          </p:cNvSpPr>
          <p:nvPr/>
        </p:nvSpPr>
        <p:spPr bwMode="auto">
          <a:xfrm>
            <a:off x="228600" y="3352800"/>
            <a:ext cx="3887603" cy="830997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8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Parent, PID = 6675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Child, PID = 6676</a:t>
            </a:r>
          </a:p>
        </p:txBody>
      </p:sp>
      <p:sp>
        <p:nvSpPr>
          <p:cNvPr id="498691" name="Rectangle 3"/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3657600" cy="1617663"/>
          </a:xfrm>
        </p:spPr>
        <p:txBody>
          <a:bodyPr/>
          <a:lstStyle/>
          <a:p>
            <a:pPr marL="0" indent="0"/>
            <a:r>
              <a:rPr lang="en-US" dirty="0"/>
              <a:t>Non-</a:t>
            </a:r>
            <a:br>
              <a:rPr lang="en-US" dirty="0"/>
            </a:br>
            <a:r>
              <a:rPr lang="en-US" dirty="0"/>
              <a:t>terminating</a:t>
            </a:r>
            <a:br>
              <a:rPr lang="en-US" dirty="0"/>
            </a:br>
            <a:r>
              <a:rPr lang="en-US" dirty="0"/>
              <a:t>Child Example</a:t>
            </a:r>
          </a:p>
        </p:txBody>
      </p:sp>
      <p:sp>
        <p:nvSpPr>
          <p:cNvPr id="49869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356100" y="3765550"/>
            <a:ext cx="4330700" cy="2711450"/>
          </a:xfrm>
        </p:spPr>
        <p:txBody>
          <a:bodyPr/>
          <a:lstStyle/>
          <a:p>
            <a:r>
              <a:rPr lang="en-US" sz="2000" b="0" dirty="0"/>
              <a:t>Child process still active even though parent has terminated</a:t>
            </a:r>
          </a:p>
          <a:p>
            <a:endParaRPr lang="en-US" sz="2000" b="0" dirty="0"/>
          </a:p>
          <a:p>
            <a:r>
              <a:rPr lang="en-US" sz="2000" b="0" dirty="0"/>
              <a:t>Must kill child explicitly, or else will keep running indefinitely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824769" y="3258881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228600" y="3352800"/>
            <a:ext cx="3887603" cy="2062103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8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Parent, PID = 6675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Child, PID = 6676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6676 ttyp9    00:00:06 forks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6677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10" name="Text Box 2"/>
          <p:cNvSpPr txBox="1">
            <a:spLocks noChangeArrowheads="1"/>
          </p:cNvSpPr>
          <p:nvPr/>
        </p:nvSpPr>
        <p:spPr bwMode="auto">
          <a:xfrm>
            <a:off x="228600" y="3352800"/>
            <a:ext cx="3851275" cy="3270250"/>
          </a:xfrm>
          <a:prstGeom prst="rect">
            <a:avLst/>
          </a:prstGeom>
          <a:solidFill>
            <a:srgbClr val="DDDDDD"/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>
                <a:latin typeface="Courier New" pitchFamily="49" charset="0"/>
              </a:rPr>
              <a:t>./forks 8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Terminating Parent, PID = 6675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Running Child, PID = 6676</a:t>
            </a:r>
          </a:p>
          <a:p>
            <a:pPr algn="l">
              <a:lnSpc>
                <a:spcPct val="100000"/>
              </a:lnSpc>
            </a:pPr>
            <a:r>
              <a:rPr lang="en-US" sz="1600" dirty="0" err="1">
                <a:latin typeface="Courier New" pitchFamily="49" charset="0"/>
              </a:rPr>
              <a:t>linux</a:t>
            </a:r>
            <a:r>
              <a:rPr lang="en-US" sz="1600" dirty="0">
                <a:latin typeface="Courier New" pitchFamily="49" charset="0"/>
              </a:rPr>
              <a:t>&gt; </a:t>
            </a:r>
            <a:r>
              <a:rPr lang="en-US" sz="1600" i="1" dirty="0" err="1">
                <a:latin typeface="Courier New" pitchFamily="49" charset="0"/>
              </a:rPr>
              <a:t>ps</a:t>
            </a:r>
            <a:endParaRPr lang="en-US" sz="1600" i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6676 ttyp9    00:00:06 forks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6677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i="1" dirty="0" err="1">
                <a:latin typeface="Courier New" pitchFamily="49" charset="0"/>
              </a:rPr>
              <a:t>linux</a:t>
            </a:r>
            <a:r>
              <a:rPr lang="en-US" sz="1600" i="1" dirty="0">
                <a:latin typeface="Courier New" pitchFamily="49" charset="0"/>
              </a:rPr>
              <a:t>&gt;</a:t>
            </a:r>
            <a:r>
              <a:rPr lang="en-US" sz="1600" dirty="0">
                <a:latin typeface="Courier New" pitchFamily="49" charset="0"/>
              </a:rPr>
              <a:t> kill 6676</a:t>
            </a:r>
          </a:p>
          <a:p>
            <a:pPr algn="l">
              <a:lnSpc>
                <a:spcPct val="100000"/>
              </a:lnSpc>
            </a:pPr>
            <a:r>
              <a:rPr lang="en-US" sz="1600" i="1" dirty="0" err="1">
                <a:latin typeface="Courier New" pitchFamily="49" charset="0"/>
              </a:rPr>
              <a:t>linux</a:t>
            </a:r>
            <a:r>
              <a:rPr lang="en-US" sz="1600" i="1" dirty="0">
                <a:latin typeface="Courier New" pitchFamily="49" charset="0"/>
              </a:rPr>
              <a:t>&gt;</a:t>
            </a:r>
            <a:r>
              <a:rPr lang="en-US" sz="1600" dirty="0">
                <a:latin typeface="Courier New" pitchFamily="49" charset="0"/>
              </a:rPr>
              <a:t>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 PID TTY          TIME CMD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6585 ttyp9    00:00:00 </a:t>
            </a:r>
            <a:r>
              <a:rPr lang="en-US" sz="1600" dirty="0" err="1">
                <a:latin typeface="Courier New" pitchFamily="49" charset="0"/>
              </a:rPr>
              <a:t>tcsh</a:t>
            </a:r>
            <a:endParaRPr lang="en-US" sz="1600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urier New" pitchFamily="49" charset="0"/>
              </a:rPr>
              <a:t> 6678 ttyp9    00:00:00 </a:t>
            </a:r>
            <a:r>
              <a:rPr lang="en-US" sz="1600" dirty="0" err="1">
                <a:latin typeface="Courier New" pitchFamily="49" charset="0"/>
              </a:rPr>
              <a:t>ps</a:t>
            </a:r>
            <a:endParaRPr lang="en-US" sz="1600" dirty="0">
              <a:latin typeface="Courier New" pitchFamily="49" charset="0"/>
            </a:endParaRPr>
          </a:p>
        </p:txBody>
      </p:sp>
      <p:sp>
        <p:nvSpPr>
          <p:cNvPr id="498693" name="Text Box 5"/>
          <p:cNvSpPr txBox="1">
            <a:spLocks noChangeArrowheads="1"/>
          </p:cNvSpPr>
          <p:nvPr/>
        </p:nvSpPr>
        <p:spPr bwMode="auto">
          <a:xfrm>
            <a:off x="3276600" y="279400"/>
            <a:ext cx="5743580" cy="3323987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5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500" dirty="0">
                <a:solidFill>
                  <a:srgbClr val="4A00FF"/>
                </a:solidFill>
                <a:latin typeface="Courier New"/>
                <a:cs typeface="Courier New"/>
              </a:rPr>
              <a:t>fork8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()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5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500" dirty="0">
                <a:solidFill>
                  <a:srgbClr val="9D206F"/>
                </a:solidFill>
                <a:latin typeface="Courier New"/>
                <a:cs typeface="Courier New"/>
              </a:rPr>
              <a:t>"Running Child, PID = %d\n"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is-I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 getpid());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500" dirty="0">
                <a:solidFill>
                  <a:srgbClr val="C200FF"/>
                </a:solidFill>
                <a:latin typeface="Courier New"/>
                <a:cs typeface="Courier New"/>
              </a:rPr>
              <a:t>while</a:t>
            </a:r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(1)</a:t>
            </a:r>
          </a:p>
          <a:p>
            <a:r>
              <a:rPr lang="en-U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; </a:t>
            </a:r>
            <a:r>
              <a:rPr lang="en-US" sz="1500" dirty="0">
                <a:solidFill>
                  <a:srgbClr val="CB2418"/>
                </a:solidFill>
                <a:latin typeface="Courier New"/>
                <a:cs typeface="Courier New"/>
              </a:rPr>
              <a:t>/* Infinite loop */</a:t>
            </a:r>
            <a:endParaRPr lang="en-US" sz="15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500" dirty="0">
                <a:solidFill>
                  <a:srgbClr val="000000"/>
                </a:solidFill>
                <a:latin typeface="Courier New"/>
                <a:cs typeface="Courier New"/>
              </a:rPr>
              <a:t>    } </a:t>
            </a:r>
            <a:r>
              <a:rPr lang="da-DK" sz="1500" dirty="0" err="1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r>
              <a:rPr lang="da-DK" sz="1500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</a:p>
          <a:p>
            <a:r>
              <a:rPr lang="da-DK" sz="15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5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da-DK" sz="15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500" dirty="0">
                <a:solidFill>
                  <a:srgbClr val="9D206F"/>
                </a:solidFill>
                <a:latin typeface="Courier New"/>
                <a:cs typeface="Courier New"/>
              </a:rPr>
              <a:t>"</a:t>
            </a:r>
            <a:r>
              <a:rPr lang="da-DK" sz="1500" dirty="0" err="1">
                <a:solidFill>
                  <a:srgbClr val="9D206F"/>
                </a:solidFill>
                <a:latin typeface="Courier New"/>
                <a:cs typeface="Courier New"/>
              </a:rPr>
              <a:t>Terminating</a:t>
            </a:r>
            <a:r>
              <a:rPr lang="da-DK" sz="1500" dirty="0">
                <a:solidFill>
                  <a:srgbClr val="9D206F"/>
                </a:solidFill>
                <a:latin typeface="Courier New"/>
                <a:cs typeface="Courier New"/>
              </a:rPr>
              <a:t> </a:t>
            </a:r>
            <a:r>
              <a:rPr lang="da-DK" sz="1500" dirty="0" err="1">
                <a:solidFill>
                  <a:srgbClr val="9D206F"/>
                </a:solidFill>
                <a:latin typeface="Courier New"/>
                <a:cs typeface="Courier New"/>
              </a:rPr>
              <a:t>Parent</a:t>
            </a:r>
            <a:r>
              <a:rPr lang="da-DK" sz="1500" dirty="0">
                <a:solidFill>
                  <a:srgbClr val="9D206F"/>
                </a:solidFill>
                <a:latin typeface="Courier New"/>
                <a:cs typeface="Courier New"/>
              </a:rPr>
              <a:t>, PID = %d\n"</a:t>
            </a:r>
            <a:r>
              <a:rPr lang="da-DK" sz="15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is-IS" sz="1500" dirty="0">
                <a:solidFill>
                  <a:srgbClr val="000000"/>
                </a:solidFill>
                <a:latin typeface="Courier New"/>
                <a:cs typeface="Courier New"/>
              </a:rPr>
              <a:t>               getpid());</a:t>
            </a:r>
          </a:p>
          <a:p>
            <a:r>
              <a:rPr lang="is-IS" sz="1500" dirty="0">
                <a:solidFill>
                  <a:srgbClr val="000000"/>
                </a:solidFill>
                <a:latin typeface="Courier New"/>
                <a:cs typeface="Courier New"/>
              </a:rPr>
              <a:t>        exit(0);</a:t>
            </a:r>
          </a:p>
          <a:p>
            <a:r>
              <a:rPr lang="is-IS" sz="15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is-IS" sz="15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cxnSp>
        <p:nvCxnSpPr>
          <p:cNvPr id="5" name="Straight Arrow Connector 4"/>
          <p:cNvCxnSpPr/>
          <p:nvPr/>
        </p:nvCxnSpPr>
        <p:spPr bwMode="auto">
          <a:xfrm flipH="1">
            <a:off x="3810000" y="4038600"/>
            <a:ext cx="622300" cy="9144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>
            <a:off x="2362200" y="5029200"/>
            <a:ext cx="2070100" cy="45720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88804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6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8690" grpId="0" animBg="1"/>
      <p:bldP spid="9" grpId="0" animBg="1"/>
      <p:bldP spid="10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05800" cy="573088"/>
          </a:xfrm>
        </p:spPr>
        <p:txBody>
          <a:bodyPr/>
          <a:lstStyle/>
          <a:p>
            <a:r>
              <a:rPr lang="en-US" dirty="0">
                <a:latin typeface="Courier New" pitchFamily="49" charset="0"/>
              </a:rPr>
              <a:t>wait</a:t>
            </a:r>
            <a:r>
              <a:rPr lang="en-US" dirty="0"/>
              <a:t>: Synchronizing with Children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255000" cy="2209800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Parent reaps a child by calling the </a:t>
            </a:r>
            <a:r>
              <a:rPr lang="en-US" dirty="0">
                <a:latin typeface="Courier New"/>
                <a:cs typeface="Courier New"/>
              </a:rPr>
              <a:t>wait </a:t>
            </a:r>
            <a:r>
              <a:rPr lang="en-US" dirty="0">
                <a:latin typeface="Calibri"/>
                <a:cs typeface="Calibri"/>
              </a:rPr>
              <a:t>function</a:t>
            </a:r>
          </a:p>
          <a:p>
            <a:pPr>
              <a:buNone/>
            </a:pPr>
            <a:endParaRPr lang="en-US" dirty="0">
              <a:latin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wait(int</a:t>
            </a:r>
            <a:r>
              <a:rPr lang="en-US" dirty="0">
                <a:latin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</a:rPr>
              <a:t>child_status</a:t>
            </a:r>
            <a:r>
              <a:rPr lang="en-US" dirty="0">
                <a:latin typeface="Courier New" pitchFamily="49" charset="0"/>
              </a:rPr>
              <a:t>)</a:t>
            </a:r>
            <a:endParaRPr lang="en-US" dirty="0"/>
          </a:p>
          <a:p>
            <a:pPr lvl="1"/>
            <a:r>
              <a:rPr lang="en-US" dirty="0"/>
              <a:t>Suspends current process until </a:t>
            </a:r>
            <a:r>
              <a:rPr lang="en-US" u="sng" dirty="0"/>
              <a:t>one of its children </a:t>
            </a:r>
            <a:r>
              <a:rPr lang="en-US" dirty="0"/>
              <a:t>terminates</a:t>
            </a:r>
          </a:p>
        </p:txBody>
      </p:sp>
      <p:sp>
        <p:nvSpPr>
          <p:cNvPr id="5" name="Rectangle 4"/>
          <p:cNvSpPr/>
          <p:nvPr/>
        </p:nvSpPr>
        <p:spPr bwMode="auto">
          <a:xfrm>
            <a:off x="381000" y="4191000"/>
            <a:ext cx="4876800" cy="2286000"/>
          </a:xfrm>
          <a:prstGeom prst="rect">
            <a:avLst/>
          </a:prstGeom>
          <a:solidFill>
            <a:srgbClr val="E9E1C9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482382" y="4191000"/>
            <a:ext cx="2052276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Parent Process</a:t>
            </a: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173772" y="4191000"/>
            <a:ext cx="1779228" cy="45909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Kernel code</a:t>
            </a:r>
          </a:p>
        </p:txBody>
      </p:sp>
      <p:sp>
        <p:nvSpPr>
          <p:cNvPr id="8" name="Line 6"/>
          <p:cNvSpPr>
            <a:spLocks noChangeShapeType="1"/>
          </p:cNvSpPr>
          <p:nvPr/>
        </p:nvSpPr>
        <p:spPr bwMode="auto">
          <a:xfrm>
            <a:off x="1296770" y="4713287"/>
            <a:ext cx="0" cy="5984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1303120" y="5318125"/>
            <a:ext cx="2806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 flipV="1">
            <a:off x="1290420" y="5387975"/>
            <a:ext cx="2832100" cy="5461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>
            <a:off x="1290420" y="5414962"/>
            <a:ext cx="6350" cy="9096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" name="Rectangle 11"/>
          <p:cNvSpPr>
            <a:spLocks noChangeArrowheads="1"/>
          </p:cNvSpPr>
          <p:nvPr/>
        </p:nvSpPr>
        <p:spPr bwMode="auto">
          <a:xfrm>
            <a:off x="2165132" y="4953000"/>
            <a:ext cx="1142586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Exception</a:t>
            </a:r>
          </a:p>
        </p:txBody>
      </p:sp>
      <p:sp>
        <p:nvSpPr>
          <p:cNvPr id="15" name="Rectangle 13"/>
          <p:cNvSpPr>
            <a:spLocks noChangeArrowheads="1"/>
          </p:cNvSpPr>
          <p:nvPr/>
        </p:nvSpPr>
        <p:spPr bwMode="auto">
          <a:xfrm>
            <a:off x="2165132" y="5719762"/>
            <a:ext cx="914772" cy="366759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0479" tIns="44446" rIns="90479" bIns="44446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800" b="0" i="1" dirty="0">
                <a:latin typeface="Calibri" pitchFamily="34" charset="0"/>
              </a:rPr>
              <a:t>Returns</a:t>
            </a:r>
            <a:endParaRPr lang="en-US" sz="1800" b="0" dirty="0">
              <a:latin typeface="Calibri" pitchFamily="34" charset="0"/>
            </a:endParaRPr>
          </a:p>
        </p:txBody>
      </p:sp>
      <p:sp>
        <p:nvSpPr>
          <p:cNvPr id="16" name="Text Box 15"/>
          <p:cNvSpPr txBox="1">
            <a:spLocks noChangeArrowheads="1"/>
          </p:cNvSpPr>
          <p:nvPr/>
        </p:nvSpPr>
        <p:spPr bwMode="auto">
          <a:xfrm>
            <a:off x="685800" y="5086513"/>
            <a:ext cx="650689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 err="1">
                <a:latin typeface="Calibri" pitchFamily="34" charset="0"/>
              </a:rPr>
              <a:t>syscall</a:t>
            </a:r>
            <a:endParaRPr lang="en-US" sz="1400" b="0" dirty="0">
              <a:latin typeface="Calibri" pitchFamily="34" charset="0"/>
            </a:endParaRPr>
          </a:p>
        </p:txBody>
      </p:sp>
      <p:sp>
        <p:nvSpPr>
          <p:cNvPr id="17" name="Text Box 16"/>
          <p:cNvSpPr txBox="1">
            <a:spLocks noChangeArrowheads="1"/>
          </p:cNvSpPr>
          <p:nvPr/>
        </p:nvSpPr>
        <p:spPr bwMode="auto">
          <a:xfrm>
            <a:off x="782334" y="5291872"/>
            <a:ext cx="319318" cy="307777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 b="0" dirty="0">
                <a:latin typeface="Calibri" pitchFamily="34" charset="0"/>
              </a:rPr>
              <a:t>…</a:t>
            </a:r>
          </a:p>
        </p:txBody>
      </p:sp>
      <p:sp>
        <p:nvSpPr>
          <p:cNvPr id="3" name="Freeform 2"/>
          <p:cNvSpPr/>
          <p:nvPr/>
        </p:nvSpPr>
        <p:spPr bwMode="auto">
          <a:xfrm>
            <a:off x="3885945" y="5322570"/>
            <a:ext cx="511006" cy="624840"/>
          </a:xfrm>
          <a:custGeom>
            <a:avLst/>
            <a:gdLst>
              <a:gd name="connsiteX0" fmla="*/ 247905 w 511006"/>
              <a:gd name="connsiteY0" fmla="*/ 0 h 624840"/>
              <a:gd name="connsiteX1" fmla="*/ 263145 w 511006"/>
              <a:gd name="connsiteY1" fmla="*/ 49530 h 624840"/>
              <a:gd name="connsiteX2" fmla="*/ 278385 w 511006"/>
              <a:gd name="connsiteY2" fmla="*/ 53340 h 624840"/>
              <a:gd name="connsiteX3" fmla="*/ 289815 w 511006"/>
              <a:gd name="connsiteY3" fmla="*/ 60960 h 624840"/>
              <a:gd name="connsiteX4" fmla="*/ 301245 w 511006"/>
              <a:gd name="connsiteY4" fmla="*/ 64770 h 624840"/>
              <a:gd name="connsiteX5" fmla="*/ 327915 w 511006"/>
              <a:gd name="connsiteY5" fmla="*/ 72390 h 624840"/>
              <a:gd name="connsiteX6" fmla="*/ 358395 w 511006"/>
              <a:gd name="connsiteY6" fmla="*/ 87630 h 624840"/>
              <a:gd name="connsiteX7" fmla="*/ 369825 w 511006"/>
              <a:gd name="connsiteY7" fmla="*/ 91440 h 624840"/>
              <a:gd name="connsiteX8" fmla="*/ 388875 w 511006"/>
              <a:gd name="connsiteY8" fmla="*/ 102870 h 624840"/>
              <a:gd name="connsiteX9" fmla="*/ 411735 w 511006"/>
              <a:gd name="connsiteY9" fmla="*/ 118110 h 624840"/>
              <a:gd name="connsiteX10" fmla="*/ 442215 w 511006"/>
              <a:gd name="connsiteY10" fmla="*/ 133350 h 624840"/>
              <a:gd name="connsiteX11" fmla="*/ 453645 w 511006"/>
              <a:gd name="connsiteY11" fmla="*/ 140970 h 624840"/>
              <a:gd name="connsiteX12" fmla="*/ 468885 w 511006"/>
              <a:gd name="connsiteY12" fmla="*/ 148590 h 624840"/>
              <a:gd name="connsiteX13" fmla="*/ 484125 w 511006"/>
              <a:gd name="connsiteY13" fmla="*/ 160020 h 624840"/>
              <a:gd name="connsiteX14" fmla="*/ 495555 w 511006"/>
              <a:gd name="connsiteY14" fmla="*/ 171450 h 624840"/>
              <a:gd name="connsiteX15" fmla="*/ 506985 w 511006"/>
              <a:gd name="connsiteY15" fmla="*/ 175260 h 624840"/>
              <a:gd name="connsiteX16" fmla="*/ 510795 w 511006"/>
              <a:gd name="connsiteY16" fmla="*/ 194310 h 624840"/>
              <a:gd name="connsiteX17" fmla="*/ 487935 w 511006"/>
              <a:gd name="connsiteY17" fmla="*/ 251460 h 624840"/>
              <a:gd name="connsiteX18" fmla="*/ 476505 w 511006"/>
              <a:gd name="connsiteY18" fmla="*/ 262890 h 624840"/>
              <a:gd name="connsiteX19" fmla="*/ 461265 w 511006"/>
              <a:gd name="connsiteY19" fmla="*/ 285750 h 624840"/>
              <a:gd name="connsiteX20" fmla="*/ 438405 w 511006"/>
              <a:gd name="connsiteY20" fmla="*/ 300990 h 624840"/>
              <a:gd name="connsiteX21" fmla="*/ 404115 w 511006"/>
              <a:gd name="connsiteY21" fmla="*/ 293370 h 624840"/>
              <a:gd name="connsiteX22" fmla="*/ 392685 w 511006"/>
              <a:gd name="connsiteY22" fmla="*/ 285750 h 624840"/>
              <a:gd name="connsiteX23" fmla="*/ 369825 w 511006"/>
              <a:gd name="connsiteY23" fmla="*/ 278130 h 624840"/>
              <a:gd name="connsiteX24" fmla="*/ 346965 w 511006"/>
              <a:gd name="connsiteY24" fmla="*/ 262890 h 624840"/>
              <a:gd name="connsiteX25" fmla="*/ 335535 w 511006"/>
              <a:gd name="connsiteY25" fmla="*/ 255270 h 624840"/>
              <a:gd name="connsiteX26" fmla="*/ 320295 w 511006"/>
              <a:gd name="connsiteY26" fmla="*/ 251460 h 624840"/>
              <a:gd name="connsiteX27" fmla="*/ 308865 w 511006"/>
              <a:gd name="connsiteY27" fmla="*/ 243840 h 624840"/>
              <a:gd name="connsiteX28" fmla="*/ 270765 w 511006"/>
              <a:gd name="connsiteY28" fmla="*/ 232410 h 624840"/>
              <a:gd name="connsiteX29" fmla="*/ 259335 w 511006"/>
              <a:gd name="connsiteY29" fmla="*/ 224790 h 624840"/>
              <a:gd name="connsiteX30" fmla="*/ 247905 w 511006"/>
              <a:gd name="connsiteY30" fmla="*/ 220980 h 624840"/>
              <a:gd name="connsiteX31" fmla="*/ 202185 w 511006"/>
              <a:gd name="connsiteY31" fmla="*/ 213360 h 624840"/>
              <a:gd name="connsiteX32" fmla="*/ 148845 w 511006"/>
              <a:gd name="connsiteY32" fmla="*/ 205740 h 624840"/>
              <a:gd name="connsiteX33" fmla="*/ 34545 w 511006"/>
              <a:gd name="connsiteY33" fmla="*/ 209550 h 624840"/>
              <a:gd name="connsiteX34" fmla="*/ 19305 w 511006"/>
              <a:gd name="connsiteY34" fmla="*/ 217170 h 624840"/>
              <a:gd name="connsiteX35" fmla="*/ 4065 w 511006"/>
              <a:gd name="connsiteY35" fmla="*/ 220980 h 624840"/>
              <a:gd name="connsiteX36" fmla="*/ 255 w 511006"/>
              <a:gd name="connsiteY36" fmla="*/ 232410 h 624840"/>
              <a:gd name="connsiteX37" fmla="*/ 26925 w 511006"/>
              <a:gd name="connsiteY37" fmla="*/ 259080 h 624840"/>
              <a:gd name="connsiteX38" fmla="*/ 45975 w 511006"/>
              <a:gd name="connsiteY38" fmla="*/ 281940 h 624840"/>
              <a:gd name="connsiteX39" fmla="*/ 57405 w 511006"/>
              <a:gd name="connsiteY39" fmla="*/ 289560 h 624840"/>
              <a:gd name="connsiteX40" fmla="*/ 76455 w 511006"/>
              <a:gd name="connsiteY40" fmla="*/ 308610 h 624840"/>
              <a:gd name="connsiteX41" fmla="*/ 118365 w 511006"/>
              <a:gd name="connsiteY41" fmla="*/ 335280 h 624840"/>
              <a:gd name="connsiteX42" fmla="*/ 148845 w 511006"/>
              <a:gd name="connsiteY42" fmla="*/ 354330 h 624840"/>
              <a:gd name="connsiteX43" fmla="*/ 167895 w 511006"/>
              <a:gd name="connsiteY43" fmla="*/ 361950 h 624840"/>
              <a:gd name="connsiteX44" fmla="*/ 202185 w 511006"/>
              <a:gd name="connsiteY44" fmla="*/ 377190 h 624840"/>
              <a:gd name="connsiteX45" fmla="*/ 228855 w 511006"/>
              <a:gd name="connsiteY45" fmla="*/ 396240 h 624840"/>
              <a:gd name="connsiteX46" fmla="*/ 244095 w 511006"/>
              <a:gd name="connsiteY46" fmla="*/ 400050 h 624840"/>
              <a:gd name="connsiteX47" fmla="*/ 255525 w 511006"/>
              <a:gd name="connsiteY47" fmla="*/ 411480 h 624840"/>
              <a:gd name="connsiteX48" fmla="*/ 259335 w 511006"/>
              <a:gd name="connsiteY48" fmla="*/ 495300 h 624840"/>
              <a:gd name="connsiteX49" fmla="*/ 251715 w 511006"/>
              <a:gd name="connsiteY49" fmla="*/ 518160 h 624840"/>
              <a:gd name="connsiteX50" fmla="*/ 247905 w 511006"/>
              <a:gd name="connsiteY50" fmla="*/ 567690 h 624840"/>
              <a:gd name="connsiteX51" fmla="*/ 240285 w 511006"/>
              <a:gd name="connsiteY51" fmla="*/ 594360 h 624840"/>
              <a:gd name="connsiteX52" fmla="*/ 251715 w 511006"/>
              <a:gd name="connsiteY52" fmla="*/ 624840 h 624840"/>
              <a:gd name="connsiteX0" fmla="*/ 247905 w 511006"/>
              <a:gd name="connsiteY0" fmla="*/ 0 h 624840"/>
              <a:gd name="connsiteX1" fmla="*/ 263145 w 511006"/>
              <a:gd name="connsiteY1" fmla="*/ 49530 h 624840"/>
              <a:gd name="connsiteX2" fmla="*/ 278385 w 511006"/>
              <a:gd name="connsiteY2" fmla="*/ 53340 h 624840"/>
              <a:gd name="connsiteX3" fmla="*/ 289815 w 511006"/>
              <a:gd name="connsiteY3" fmla="*/ 60960 h 624840"/>
              <a:gd name="connsiteX4" fmla="*/ 301245 w 511006"/>
              <a:gd name="connsiteY4" fmla="*/ 64770 h 624840"/>
              <a:gd name="connsiteX5" fmla="*/ 327915 w 511006"/>
              <a:gd name="connsiteY5" fmla="*/ 72390 h 624840"/>
              <a:gd name="connsiteX6" fmla="*/ 358395 w 511006"/>
              <a:gd name="connsiteY6" fmla="*/ 87630 h 624840"/>
              <a:gd name="connsiteX7" fmla="*/ 369825 w 511006"/>
              <a:gd name="connsiteY7" fmla="*/ 91440 h 624840"/>
              <a:gd name="connsiteX8" fmla="*/ 388875 w 511006"/>
              <a:gd name="connsiteY8" fmla="*/ 102870 h 624840"/>
              <a:gd name="connsiteX9" fmla="*/ 411735 w 511006"/>
              <a:gd name="connsiteY9" fmla="*/ 118110 h 624840"/>
              <a:gd name="connsiteX10" fmla="*/ 442215 w 511006"/>
              <a:gd name="connsiteY10" fmla="*/ 133350 h 624840"/>
              <a:gd name="connsiteX11" fmla="*/ 453645 w 511006"/>
              <a:gd name="connsiteY11" fmla="*/ 140970 h 624840"/>
              <a:gd name="connsiteX12" fmla="*/ 468885 w 511006"/>
              <a:gd name="connsiteY12" fmla="*/ 148590 h 624840"/>
              <a:gd name="connsiteX13" fmla="*/ 484125 w 511006"/>
              <a:gd name="connsiteY13" fmla="*/ 160020 h 624840"/>
              <a:gd name="connsiteX14" fmla="*/ 495555 w 511006"/>
              <a:gd name="connsiteY14" fmla="*/ 171450 h 624840"/>
              <a:gd name="connsiteX15" fmla="*/ 506985 w 511006"/>
              <a:gd name="connsiteY15" fmla="*/ 175260 h 624840"/>
              <a:gd name="connsiteX16" fmla="*/ 510795 w 511006"/>
              <a:gd name="connsiteY16" fmla="*/ 194310 h 624840"/>
              <a:gd name="connsiteX17" fmla="*/ 487935 w 511006"/>
              <a:gd name="connsiteY17" fmla="*/ 251460 h 624840"/>
              <a:gd name="connsiteX18" fmla="*/ 476505 w 511006"/>
              <a:gd name="connsiteY18" fmla="*/ 262890 h 624840"/>
              <a:gd name="connsiteX19" fmla="*/ 461265 w 511006"/>
              <a:gd name="connsiteY19" fmla="*/ 285750 h 624840"/>
              <a:gd name="connsiteX20" fmla="*/ 438405 w 511006"/>
              <a:gd name="connsiteY20" fmla="*/ 300990 h 624840"/>
              <a:gd name="connsiteX21" fmla="*/ 404115 w 511006"/>
              <a:gd name="connsiteY21" fmla="*/ 293370 h 624840"/>
              <a:gd name="connsiteX22" fmla="*/ 392685 w 511006"/>
              <a:gd name="connsiteY22" fmla="*/ 285750 h 624840"/>
              <a:gd name="connsiteX23" fmla="*/ 369825 w 511006"/>
              <a:gd name="connsiteY23" fmla="*/ 278130 h 624840"/>
              <a:gd name="connsiteX24" fmla="*/ 346965 w 511006"/>
              <a:gd name="connsiteY24" fmla="*/ 262890 h 624840"/>
              <a:gd name="connsiteX25" fmla="*/ 335535 w 511006"/>
              <a:gd name="connsiteY25" fmla="*/ 255270 h 624840"/>
              <a:gd name="connsiteX26" fmla="*/ 320295 w 511006"/>
              <a:gd name="connsiteY26" fmla="*/ 251460 h 624840"/>
              <a:gd name="connsiteX27" fmla="*/ 308865 w 511006"/>
              <a:gd name="connsiteY27" fmla="*/ 243840 h 624840"/>
              <a:gd name="connsiteX28" fmla="*/ 270765 w 511006"/>
              <a:gd name="connsiteY28" fmla="*/ 232410 h 624840"/>
              <a:gd name="connsiteX29" fmla="*/ 259335 w 511006"/>
              <a:gd name="connsiteY29" fmla="*/ 224790 h 624840"/>
              <a:gd name="connsiteX30" fmla="*/ 247905 w 511006"/>
              <a:gd name="connsiteY30" fmla="*/ 220980 h 624840"/>
              <a:gd name="connsiteX31" fmla="*/ 202185 w 511006"/>
              <a:gd name="connsiteY31" fmla="*/ 213360 h 624840"/>
              <a:gd name="connsiteX32" fmla="*/ 148845 w 511006"/>
              <a:gd name="connsiteY32" fmla="*/ 205740 h 624840"/>
              <a:gd name="connsiteX33" fmla="*/ 34545 w 511006"/>
              <a:gd name="connsiteY33" fmla="*/ 209550 h 624840"/>
              <a:gd name="connsiteX34" fmla="*/ 19305 w 511006"/>
              <a:gd name="connsiteY34" fmla="*/ 217170 h 624840"/>
              <a:gd name="connsiteX35" fmla="*/ 4065 w 511006"/>
              <a:gd name="connsiteY35" fmla="*/ 220980 h 624840"/>
              <a:gd name="connsiteX36" fmla="*/ 255 w 511006"/>
              <a:gd name="connsiteY36" fmla="*/ 232410 h 624840"/>
              <a:gd name="connsiteX37" fmla="*/ 26925 w 511006"/>
              <a:gd name="connsiteY37" fmla="*/ 259080 h 624840"/>
              <a:gd name="connsiteX38" fmla="*/ 45975 w 511006"/>
              <a:gd name="connsiteY38" fmla="*/ 281940 h 624840"/>
              <a:gd name="connsiteX39" fmla="*/ 57405 w 511006"/>
              <a:gd name="connsiteY39" fmla="*/ 289560 h 624840"/>
              <a:gd name="connsiteX40" fmla="*/ 76455 w 511006"/>
              <a:gd name="connsiteY40" fmla="*/ 308610 h 624840"/>
              <a:gd name="connsiteX41" fmla="*/ 118365 w 511006"/>
              <a:gd name="connsiteY41" fmla="*/ 335280 h 624840"/>
              <a:gd name="connsiteX42" fmla="*/ 148845 w 511006"/>
              <a:gd name="connsiteY42" fmla="*/ 354330 h 624840"/>
              <a:gd name="connsiteX43" fmla="*/ 167895 w 511006"/>
              <a:gd name="connsiteY43" fmla="*/ 361950 h 624840"/>
              <a:gd name="connsiteX44" fmla="*/ 202185 w 511006"/>
              <a:gd name="connsiteY44" fmla="*/ 377190 h 624840"/>
              <a:gd name="connsiteX45" fmla="*/ 228855 w 511006"/>
              <a:gd name="connsiteY45" fmla="*/ 396240 h 624840"/>
              <a:gd name="connsiteX46" fmla="*/ 244095 w 511006"/>
              <a:gd name="connsiteY46" fmla="*/ 400050 h 624840"/>
              <a:gd name="connsiteX47" fmla="*/ 255525 w 511006"/>
              <a:gd name="connsiteY47" fmla="*/ 411480 h 624840"/>
              <a:gd name="connsiteX48" fmla="*/ 259335 w 511006"/>
              <a:gd name="connsiteY48" fmla="*/ 495300 h 624840"/>
              <a:gd name="connsiteX49" fmla="*/ 251715 w 511006"/>
              <a:gd name="connsiteY49" fmla="*/ 518160 h 624840"/>
              <a:gd name="connsiteX50" fmla="*/ 247905 w 511006"/>
              <a:gd name="connsiteY50" fmla="*/ 567690 h 624840"/>
              <a:gd name="connsiteX51" fmla="*/ 251715 w 511006"/>
              <a:gd name="connsiteY51" fmla="*/ 624840 h 624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511006" h="624840">
                <a:moveTo>
                  <a:pt x="247905" y="0"/>
                </a:moveTo>
                <a:cubicBezTo>
                  <a:pt x="250049" y="21437"/>
                  <a:pt x="243620" y="38373"/>
                  <a:pt x="263145" y="49530"/>
                </a:cubicBezTo>
                <a:cubicBezTo>
                  <a:pt x="267691" y="52128"/>
                  <a:pt x="273305" y="52070"/>
                  <a:pt x="278385" y="53340"/>
                </a:cubicBezTo>
                <a:cubicBezTo>
                  <a:pt x="282195" y="55880"/>
                  <a:pt x="285719" y="58912"/>
                  <a:pt x="289815" y="60960"/>
                </a:cubicBezTo>
                <a:cubicBezTo>
                  <a:pt x="293407" y="62756"/>
                  <a:pt x="297383" y="63667"/>
                  <a:pt x="301245" y="64770"/>
                </a:cubicBezTo>
                <a:cubicBezTo>
                  <a:pt x="309080" y="67008"/>
                  <a:pt x="320185" y="68877"/>
                  <a:pt x="327915" y="72390"/>
                </a:cubicBezTo>
                <a:cubicBezTo>
                  <a:pt x="338256" y="77090"/>
                  <a:pt x="347619" y="84038"/>
                  <a:pt x="358395" y="87630"/>
                </a:cubicBezTo>
                <a:cubicBezTo>
                  <a:pt x="362205" y="88900"/>
                  <a:pt x="366233" y="89644"/>
                  <a:pt x="369825" y="91440"/>
                </a:cubicBezTo>
                <a:cubicBezTo>
                  <a:pt x="376449" y="94752"/>
                  <a:pt x="382627" y="98894"/>
                  <a:pt x="388875" y="102870"/>
                </a:cubicBezTo>
                <a:cubicBezTo>
                  <a:pt x="396601" y="107787"/>
                  <a:pt x="403544" y="114014"/>
                  <a:pt x="411735" y="118110"/>
                </a:cubicBezTo>
                <a:cubicBezTo>
                  <a:pt x="421895" y="123190"/>
                  <a:pt x="432764" y="127049"/>
                  <a:pt x="442215" y="133350"/>
                </a:cubicBezTo>
                <a:cubicBezTo>
                  <a:pt x="446025" y="135890"/>
                  <a:pt x="449669" y="138698"/>
                  <a:pt x="453645" y="140970"/>
                </a:cubicBezTo>
                <a:cubicBezTo>
                  <a:pt x="458576" y="143788"/>
                  <a:pt x="464069" y="145580"/>
                  <a:pt x="468885" y="148590"/>
                </a:cubicBezTo>
                <a:cubicBezTo>
                  <a:pt x="474270" y="151955"/>
                  <a:pt x="479304" y="155887"/>
                  <a:pt x="484125" y="160020"/>
                </a:cubicBezTo>
                <a:cubicBezTo>
                  <a:pt x="488216" y="163527"/>
                  <a:pt x="491072" y="168461"/>
                  <a:pt x="495555" y="171450"/>
                </a:cubicBezTo>
                <a:cubicBezTo>
                  <a:pt x="498897" y="173678"/>
                  <a:pt x="503175" y="173990"/>
                  <a:pt x="506985" y="175260"/>
                </a:cubicBezTo>
                <a:cubicBezTo>
                  <a:pt x="508255" y="181610"/>
                  <a:pt x="511920" y="187933"/>
                  <a:pt x="510795" y="194310"/>
                </a:cubicBezTo>
                <a:cubicBezTo>
                  <a:pt x="507965" y="210346"/>
                  <a:pt x="500516" y="236363"/>
                  <a:pt x="487935" y="251460"/>
                </a:cubicBezTo>
                <a:cubicBezTo>
                  <a:pt x="484486" y="255599"/>
                  <a:pt x="479813" y="258637"/>
                  <a:pt x="476505" y="262890"/>
                </a:cubicBezTo>
                <a:cubicBezTo>
                  <a:pt x="470882" y="270119"/>
                  <a:pt x="468885" y="280670"/>
                  <a:pt x="461265" y="285750"/>
                </a:cubicBezTo>
                <a:lnTo>
                  <a:pt x="438405" y="300990"/>
                </a:lnTo>
                <a:cubicBezTo>
                  <a:pt x="435015" y="300312"/>
                  <a:pt x="408823" y="295388"/>
                  <a:pt x="404115" y="293370"/>
                </a:cubicBezTo>
                <a:cubicBezTo>
                  <a:pt x="399906" y="291566"/>
                  <a:pt x="396869" y="287610"/>
                  <a:pt x="392685" y="285750"/>
                </a:cubicBezTo>
                <a:cubicBezTo>
                  <a:pt x="385345" y="282488"/>
                  <a:pt x="376508" y="282585"/>
                  <a:pt x="369825" y="278130"/>
                </a:cubicBezTo>
                <a:lnTo>
                  <a:pt x="346965" y="262890"/>
                </a:lnTo>
                <a:cubicBezTo>
                  <a:pt x="343155" y="260350"/>
                  <a:pt x="339977" y="256381"/>
                  <a:pt x="335535" y="255270"/>
                </a:cubicBezTo>
                <a:lnTo>
                  <a:pt x="320295" y="251460"/>
                </a:lnTo>
                <a:cubicBezTo>
                  <a:pt x="316485" y="248920"/>
                  <a:pt x="313049" y="245700"/>
                  <a:pt x="308865" y="243840"/>
                </a:cubicBezTo>
                <a:cubicBezTo>
                  <a:pt x="296939" y="238539"/>
                  <a:pt x="283431" y="235576"/>
                  <a:pt x="270765" y="232410"/>
                </a:cubicBezTo>
                <a:cubicBezTo>
                  <a:pt x="266955" y="229870"/>
                  <a:pt x="263431" y="226838"/>
                  <a:pt x="259335" y="224790"/>
                </a:cubicBezTo>
                <a:cubicBezTo>
                  <a:pt x="255743" y="222994"/>
                  <a:pt x="251843" y="221768"/>
                  <a:pt x="247905" y="220980"/>
                </a:cubicBezTo>
                <a:cubicBezTo>
                  <a:pt x="232755" y="217950"/>
                  <a:pt x="217516" y="215276"/>
                  <a:pt x="202185" y="213360"/>
                </a:cubicBezTo>
                <a:cubicBezTo>
                  <a:pt x="164040" y="208592"/>
                  <a:pt x="181805" y="211233"/>
                  <a:pt x="148845" y="205740"/>
                </a:cubicBezTo>
                <a:cubicBezTo>
                  <a:pt x="110745" y="207010"/>
                  <a:pt x="72519" y="206199"/>
                  <a:pt x="34545" y="209550"/>
                </a:cubicBezTo>
                <a:cubicBezTo>
                  <a:pt x="28887" y="210049"/>
                  <a:pt x="24623" y="215176"/>
                  <a:pt x="19305" y="217170"/>
                </a:cubicBezTo>
                <a:cubicBezTo>
                  <a:pt x="14402" y="219009"/>
                  <a:pt x="9145" y="219710"/>
                  <a:pt x="4065" y="220980"/>
                </a:cubicBezTo>
                <a:cubicBezTo>
                  <a:pt x="2795" y="224790"/>
                  <a:pt x="-1015" y="228600"/>
                  <a:pt x="255" y="232410"/>
                </a:cubicBezTo>
                <a:cubicBezTo>
                  <a:pt x="7897" y="255336"/>
                  <a:pt x="11116" y="253810"/>
                  <a:pt x="26925" y="259080"/>
                </a:cubicBezTo>
                <a:cubicBezTo>
                  <a:pt x="34417" y="270319"/>
                  <a:pt x="34974" y="272773"/>
                  <a:pt x="45975" y="281940"/>
                </a:cubicBezTo>
                <a:cubicBezTo>
                  <a:pt x="49493" y="284871"/>
                  <a:pt x="53959" y="286545"/>
                  <a:pt x="57405" y="289560"/>
                </a:cubicBezTo>
                <a:cubicBezTo>
                  <a:pt x="64163" y="295474"/>
                  <a:pt x="69505" y="302923"/>
                  <a:pt x="76455" y="308610"/>
                </a:cubicBezTo>
                <a:cubicBezTo>
                  <a:pt x="87020" y="317254"/>
                  <a:pt x="106386" y="327793"/>
                  <a:pt x="118365" y="335280"/>
                </a:cubicBezTo>
                <a:cubicBezTo>
                  <a:pt x="128525" y="341630"/>
                  <a:pt x="137721" y="349880"/>
                  <a:pt x="148845" y="354330"/>
                </a:cubicBezTo>
                <a:cubicBezTo>
                  <a:pt x="155195" y="356870"/>
                  <a:pt x="161778" y="358891"/>
                  <a:pt x="167895" y="361950"/>
                </a:cubicBezTo>
                <a:cubicBezTo>
                  <a:pt x="200851" y="378428"/>
                  <a:pt x="173103" y="369919"/>
                  <a:pt x="202185" y="377190"/>
                </a:cubicBezTo>
                <a:cubicBezTo>
                  <a:pt x="203920" y="378491"/>
                  <a:pt x="224522" y="394383"/>
                  <a:pt x="228855" y="396240"/>
                </a:cubicBezTo>
                <a:cubicBezTo>
                  <a:pt x="233668" y="398303"/>
                  <a:pt x="239015" y="398780"/>
                  <a:pt x="244095" y="400050"/>
                </a:cubicBezTo>
                <a:cubicBezTo>
                  <a:pt x="247905" y="403860"/>
                  <a:pt x="252076" y="407341"/>
                  <a:pt x="255525" y="411480"/>
                </a:cubicBezTo>
                <a:cubicBezTo>
                  <a:pt x="276351" y="436471"/>
                  <a:pt x="264427" y="452868"/>
                  <a:pt x="259335" y="495300"/>
                </a:cubicBezTo>
                <a:cubicBezTo>
                  <a:pt x="258378" y="503275"/>
                  <a:pt x="251715" y="518160"/>
                  <a:pt x="251715" y="518160"/>
                </a:cubicBezTo>
                <a:cubicBezTo>
                  <a:pt x="250445" y="534670"/>
                  <a:pt x="247905" y="549910"/>
                  <a:pt x="247905" y="567690"/>
                </a:cubicBezTo>
                <a:cubicBezTo>
                  <a:pt x="247905" y="585470"/>
                  <a:pt x="250921" y="612934"/>
                  <a:pt x="251715" y="624840"/>
                </a:cubicBezTo>
              </a:path>
            </a:pathLst>
          </a:custGeom>
          <a:noFill/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72000" y="5034825"/>
            <a:ext cx="3657600" cy="1200329"/>
          </a:xfrm>
          <a:prstGeom prst="rect">
            <a:avLst/>
          </a:prstGeom>
          <a:solidFill>
            <a:srgbClr val="E9E1C9"/>
          </a:solidFill>
        </p:spPr>
        <p:txBody>
          <a:bodyPr wrap="square" rtlCol="0">
            <a:spAutoFit/>
          </a:bodyPr>
          <a:lstStyle/>
          <a:p>
            <a:r>
              <a:rPr lang="en-US" b="0" dirty="0">
                <a:latin typeface="Calibri" pitchFamily="34" charset="0"/>
              </a:rPr>
              <a:t>And, potentially other user processes, including a child of parent</a:t>
            </a:r>
          </a:p>
        </p:txBody>
      </p:sp>
    </p:spTree>
    <p:extLst>
      <p:ext uri="{BB962C8B-B14F-4D97-AF65-F5344CB8AC3E}">
        <p14:creationId xmlns:p14="http://schemas.microsoft.com/office/powerpoint/2010/main" val="105076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71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8305800" cy="573088"/>
          </a:xfrm>
        </p:spPr>
        <p:txBody>
          <a:bodyPr/>
          <a:lstStyle/>
          <a:p>
            <a:r>
              <a:rPr lang="en-US" dirty="0">
                <a:latin typeface="Courier New" pitchFamily="49" charset="0"/>
              </a:rPr>
              <a:t>wait</a:t>
            </a:r>
            <a:r>
              <a:rPr lang="en-US" dirty="0"/>
              <a:t>: Synchronizing with Children</a:t>
            </a:r>
          </a:p>
        </p:txBody>
      </p:sp>
      <p:sp>
        <p:nvSpPr>
          <p:cNvPr id="4997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95400"/>
            <a:ext cx="8255000" cy="5105400"/>
          </a:xfrm>
        </p:spPr>
        <p:txBody>
          <a:bodyPr/>
          <a:lstStyle/>
          <a:p>
            <a:r>
              <a:rPr lang="en-US" dirty="0">
                <a:latin typeface="Calibri"/>
                <a:cs typeface="Calibri"/>
              </a:rPr>
              <a:t>Parent reaps a child by calling the </a:t>
            </a:r>
            <a:r>
              <a:rPr lang="en-US" dirty="0">
                <a:latin typeface="Courier New"/>
                <a:cs typeface="Courier New"/>
              </a:rPr>
              <a:t>wait </a:t>
            </a:r>
            <a:r>
              <a:rPr lang="en-US" dirty="0">
                <a:latin typeface="Calibri"/>
                <a:cs typeface="Calibri"/>
              </a:rPr>
              <a:t>function</a:t>
            </a:r>
          </a:p>
          <a:p>
            <a:pPr>
              <a:buNone/>
            </a:pPr>
            <a:endParaRPr lang="en-US" dirty="0">
              <a:latin typeface="Courier New" pitchFamily="49" charset="0"/>
            </a:endParaRPr>
          </a:p>
          <a:p>
            <a:r>
              <a:rPr lang="en-US" dirty="0" err="1">
                <a:latin typeface="Courier New" pitchFamily="49" charset="0"/>
              </a:rPr>
              <a:t>int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wait(int</a:t>
            </a:r>
            <a:r>
              <a:rPr lang="en-US" dirty="0">
                <a:latin typeface="Courier New" pitchFamily="49" charset="0"/>
              </a:rPr>
              <a:t> *</a:t>
            </a:r>
            <a:r>
              <a:rPr lang="en-US" dirty="0" err="1">
                <a:latin typeface="Courier New" pitchFamily="49" charset="0"/>
              </a:rPr>
              <a:t>child_status</a:t>
            </a:r>
            <a:r>
              <a:rPr lang="en-US" dirty="0">
                <a:latin typeface="Courier New" pitchFamily="49" charset="0"/>
              </a:rPr>
              <a:t>)</a:t>
            </a:r>
            <a:endParaRPr lang="en-US" dirty="0"/>
          </a:p>
          <a:p>
            <a:pPr lvl="1"/>
            <a:r>
              <a:rPr lang="en-US" dirty="0"/>
              <a:t>Suspends current process until one of its children terminates</a:t>
            </a:r>
          </a:p>
          <a:p>
            <a:pPr lvl="1"/>
            <a:r>
              <a:rPr lang="en-US" dirty="0"/>
              <a:t>Return value is the </a:t>
            </a:r>
            <a:r>
              <a:rPr lang="en-US" b="1" dirty="0" err="1">
                <a:latin typeface="Courier New" pitchFamily="49" charset="0"/>
              </a:rPr>
              <a:t>pid</a:t>
            </a:r>
            <a:r>
              <a:rPr lang="en-US" dirty="0"/>
              <a:t> of the child process that terminated</a:t>
            </a:r>
          </a:p>
          <a:p>
            <a:pPr lvl="1"/>
            <a:r>
              <a:rPr lang="en-US" dirty="0"/>
              <a:t>If </a:t>
            </a:r>
            <a:r>
              <a:rPr lang="en-US" b="1" dirty="0" err="1">
                <a:latin typeface="Courier New" pitchFamily="49" charset="0"/>
              </a:rPr>
              <a:t>child_status</a:t>
            </a:r>
            <a:r>
              <a:rPr lang="en-US" b="1" dirty="0"/>
              <a:t> </a:t>
            </a:r>
            <a:r>
              <a:rPr lang="en-US" b="1" dirty="0">
                <a:latin typeface="Courier New" pitchFamily="49" charset="0"/>
              </a:rPr>
              <a:t>!= NULL</a:t>
            </a:r>
            <a:r>
              <a:rPr lang="en-US" dirty="0"/>
              <a:t>, then the integer it points to will be set to  a value that indicates reason the child terminated and the exit status:</a:t>
            </a:r>
          </a:p>
          <a:p>
            <a:pPr lvl="2"/>
            <a:r>
              <a:rPr lang="en-US" dirty="0"/>
              <a:t>Checked using macros defined in </a:t>
            </a:r>
            <a:r>
              <a:rPr lang="en-US" b="1" dirty="0" err="1">
                <a:latin typeface="Courier New"/>
                <a:cs typeface="Courier New"/>
              </a:rPr>
              <a:t>wait.h</a:t>
            </a:r>
            <a:endParaRPr lang="en-US" b="1" dirty="0">
              <a:latin typeface="Courier New"/>
              <a:cs typeface="Courier New"/>
            </a:endParaRPr>
          </a:p>
          <a:p>
            <a:pPr lvl="3"/>
            <a:r>
              <a:rPr lang="en-US" b="1" dirty="0">
                <a:latin typeface="Courier New"/>
                <a:cs typeface="Courier New"/>
              </a:rPr>
              <a:t>WIFEXITED, WEXITSTATUS, WIFSIGNALED, WTERMSIG, WIFSTOPPED, WSTOPSIG, WIFCONTINUED</a:t>
            </a:r>
          </a:p>
          <a:p>
            <a:pPr lvl="3"/>
            <a:r>
              <a:rPr lang="en-US" dirty="0">
                <a:latin typeface="Calibri"/>
                <a:cs typeface="Calibri"/>
              </a:rPr>
              <a:t>See man pages for details</a:t>
            </a:r>
          </a:p>
        </p:txBody>
      </p:sp>
    </p:spTree>
    <p:extLst>
      <p:ext uri="{BB962C8B-B14F-4D97-AF65-F5344CB8AC3E}">
        <p14:creationId xmlns:p14="http://schemas.microsoft.com/office/powerpoint/2010/main" val="10149237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completion status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WIFEXITED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</a:t>
            </a:r>
          </a:p>
          <a:p>
            <a:pPr lvl="1"/>
            <a:r>
              <a:rPr lang="en-US" dirty="0"/>
              <a:t>returns a nonzero value if the child process terminated normally with exit or _exit.</a:t>
            </a:r>
          </a:p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 WEXITSTATUS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</a:t>
            </a:r>
          </a:p>
          <a:p>
            <a:pPr lvl="1"/>
            <a:r>
              <a:rPr lang="en-US" dirty="0"/>
              <a:t>If WIFEXITED is true of </a:t>
            </a:r>
            <a:r>
              <a:rPr lang="en-US" i="1" dirty="0"/>
              <a:t>status</a:t>
            </a:r>
            <a:r>
              <a:rPr lang="en-US" dirty="0"/>
              <a:t>, this macro returns the low-order 8 bits of the exit status value from the child process.</a:t>
            </a:r>
          </a:p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WIFSIGNALED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</a:t>
            </a:r>
          </a:p>
          <a:p>
            <a:pPr lvl="1"/>
            <a:r>
              <a:rPr lang="en-US" dirty="0"/>
              <a:t>returns a nonzero value if the child process terminated because it received a signal that was not handled</a:t>
            </a:r>
          </a:p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WTERMSIG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</a:t>
            </a:r>
          </a:p>
          <a:p>
            <a:pPr lvl="1"/>
            <a:r>
              <a:rPr lang="en-US" dirty="0"/>
              <a:t>If WIFSIGNALED is true of </a:t>
            </a:r>
            <a:r>
              <a:rPr lang="en-US" i="1" dirty="0"/>
              <a:t>status</a:t>
            </a:r>
            <a:r>
              <a:rPr lang="en-US" dirty="0"/>
              <a:t>, this macro returns the signal number of the signal that terminated the child process.</a:t>
            </a:r>
          </a:p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WCOREDUMP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 </a:t>
            </a:r>
          </a:p>
          <a:p>
            <a:pPr lvl="1"/>
            <a:r>
              <a:rPr lang="en-US" dirty="0"/>
              <a:t>Returns a nonzero value if the child process terminated and produced a core dump.</a:t>
            </a:r>
          </a:p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WIFSTOPPED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</a:t>
            </a:r>
            <a:r>
              <a:rPr lang="en-US" b="0" i="1" dirty="0"/>
              <a:t> </a:t>
            </a:r>
          </a:p>
          <a:p>
            <a:pPr lvl="1"/>
            <a:r>
              <a:rPr lang="en-US" dirty="0"/>
              <a:t>returns a nonzero value if the child process is stopped. </a:t>
            </a:r>
          </a:p>
          <a:p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WSTOPSIG (</a:t>
            </a:r>
            <a:r>
              <a:rPr lang="en-US" dirty="0" err="1">
                <a:latin typeface="Courier New" charset="0"/>
                <a:ea typeface="Courier New" charset="0"/>
                <a:cs typeface="Courier New" charset="0"/>
              </a:rPr>
              <a:t>int</a:t>
            </a:r>
            <a:r>
              <a:rPr lang="en-US" dirty="0">
                <a:latin typeface="Courier New" charset="0"/>
                <a:ea typeface="Courier New" charset="0"/>
                <a:cs typeface="Courier New" charset="0"/>
              </a:rPr>
              <a:t> status) </a:t>
            </a:r>
          </a:p>
          <a:p>
            <a:pPr lvl="1"/>
            <a:r>
              <a:rPr lang="en-US" dirty="0"/>
              <a:t>If WIFSTOPPED is true of </a:t>
            </a:r>
            <a:r>
              <a:rPr lang="en-US" i="1" dirty="0"/>
              <a:t>status</a:t>
            </a:r>
            <a:r>
              <a:rPr lang="en-US" dirty="0"/>
              <a:t>, this macro returns the signal number of the signal that caused the child process to stop. 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0600" y="6180236"/>
            <a:ext cx="80772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Calibri" charset="0"/>
                <a:ea typeface="Calibri" charset="0"/>
                <a:cs typeface="Calibri" charset="0"/>
                <a:hlinkClick r:id="rId2"/>
              </a:rPr>
              <a:t>http://</a:t>
            </a:r>
            <a:r>
              <a:rPr lang="en-US" sz="1400" dirty="0" err="1">
                <a:latin typeface="Calibri" charset="0"/>
                <a:ea typeface="Calibri" charset="0"/>
                <a:cs typeface="Calibri" charset="0"/>
                <a:hlinkClick r:id="rId2"/>
              </a:rPr>
              <a:t>www.gnu.org</a:t>
            </a:r>
            <a:r>
              <a:rPr lang="en-US" sz="1400" dirty="0">
                <a:latin typeface="Calibri" charset="0"/>
                <a:ea typeface="Calibri" charset="0"/>
                <a:cs typeface="Calibri" charset="0"/>
                <a:hlinkClick r:id="rId2"/>
              </a:rPr>
              <a:t>/software/</a:t>
            </a:r>
            <a:r>
              <a:rPr lang="en-US" sz="1400" dirty="0" err="1">
                <a:latin typeface="Calibri" charset="0"/>
                <a:ea typeface="Calibri" charset="0"/>
                <a:cs typeface="Calibri" charset="0"/>
                <a:hlinkClick r:id="rId2"/>
              </a:rPr>
              <a:t>libc</a:t>
            </a:r>
            <a:r>
              <a:rPr lang="en-US" sz="1400" dirty="0">
                <a:latin typeface="Calibri" charset="0"/>
                <a:ea typeface="Calibri" charset="0"/>
                <a:cs typeface="Calibri" charset="0"/>
                <a:hlinkClick r:id="rId2"/>
              </a:rPr>
              <a:t>/manual/</a:t>
            </a:r>
            <a:r>
              <a:rPr lang="en-US" sz="1400" dirty="0" err="1">
                <a:latin typeface="Calibri" charset="0"/>
                <a:ea typeface="Calibri" charset="0"/>
                <a:cs typeface="Calibri" charset="0"/>
                <a:hlinkClick r:id="rId2"/>
              </a:rPr>
              <a:t>html_node</a:t>
            </a:r>
            <a:r>
              <a:rPr lang="en-US" sz="1400" dirty="0">
                <a:latin typeface="Calibri" charset="0"/>
                <a:ea typeface="Calibri" charset="0"/>
                <a:cs typeface="Calibri" charset="0"/>
                <a:hlinkClick r:id="rId2"/>
              </a:rPr>
              <a:t>/Process-Completion-</a:t>
            </a:r>
            <a:r>
              <a:rPr lang="en-US" sz="1400" dirty="0" err="1">
                <a:latin typeface="Calibri" charset="0"/>
                <a:ea typeface="Calibri" charset="0"/>
                <a:cs typeface="Calibri" charset="0"/>
                <a:hlinkClick r:id="rId2"/>
              </a:rPr>
              <a:t>Status.html</a:t>
            </a:r>
            <a:endParaRPr lang="en-US" sz="1400" dirty="0">
              <a:latin typeface="Calibri" charset="0"/>
              <a:ea typeface="Calibri" charset="0"/>
              <a:cs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81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ourier New" pitchFamily="49" charset="0"/>
              </a:rPr>
              <a:t>wait</a:t>
            </a:r>
            <a:r>
              <a:rPr lang="en-US"/>
              <a:t>: Synchronizing with Children</a:t>
            </a:r>
          </a:p>
        </p:txBody>
      </p:sp>
      <p:sp>
        <p:nvSpPr>
          <p:cNvPr id="506884" name="Text Box 4"/>
          <p:cNvSpPr txBox="1">
            <a:spLocks noChangeArrowheads="1"/>
          </p:cNvSpPr>
          <p:nvPr/>
        </p:nvSpPr>
        <p:spPr bwMode="auto">
          <a:xfrm>
            <a:off x="152400" y="1507391"/>
            <a:ext cx="5743580" cy="3293209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fork9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child_status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(fork() == 0) {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"HC: hello from child\n"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	exit(0);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}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"HP: </a:t>
            </a:r>
            <a:r>
              <a:rPr lang="da-DK" sz="1600" dirty="0" err="1">
                <a:solidFill>
                  <a:srgbClr val="9D206F"/>
                </a:solidFill>
                <a:latin typeface="Courier New"/>
                <a:cs typeface="Courier New"/>
              </a:rPr>
              <a:t>hello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 from </a:t>
            </a:r>
            <a:r>
              <a:rPr lang="da-DK" sz="1600" dirty="0" err="1">
                <a:solidFill>
                  <a:srgbClr val="9D206F"/>
                </a:solidFill>
                <a:latin typeface="Courier New"/>
                <a:cs typeface="Courier New"/>
              </a:rPr>
              <a:t>parent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\n"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wait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(&amp;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"CT: </a:t>
            </a:r>
            <a:r>
              <a:rPr lang="da-DK" sz="1600" dirty="0" err="1">
                <a:solidFill>
                  <a:srgbClr val="9D206F"/>
                </a:solidFill>
                <a:latin typeface="Courier New"/>
                <a:cs typeface="Courier New"/>
              </a:rPr>
              <a:t>child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 has </a:t>
            </a:r>
            <a:r>
              <a:rPr lang="da-DK" sz="1600" dirty="0" err="1">
                <a:solidFill>
                  <a:srgbClr val="9D206F"/>
                </a:solidFill>
                <a:latin typeface="Courier New"/>
                <a:cs typeface="Courier New"/>
              </a:rPr>
              <a:t>terminated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\n"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"Bye\n"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5936076" y="1959174"/>
            <a:ext cx="3131724" cy="1850826"/>
            <a:chOff x="4592180" y="4635500"/>
            <a:chExt cx="3367445" cy="1990135"/>
          </a:xfrm>
        </p:grpSpPr>
        <p:sp>
          <p:nvSpPr>
            <p:cNvPr id="28" name="Oval 27"/>
            <p:cNvSpPr>
              <a:spLocks noChangeAspect="1"/>
            </p:cNvSpPr>
            <p:nvPr/>
          </p:nvSpPr>
          <p:spPr>
            <a:xfrm>
              <a:off x="5709180" y="62280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29" name="Oval 28"/>
            <p:cNvSpPr>
              <a:spLocks noChangeAspect="1"/>
            </p:cNvSpPr>
            <p:nvPr/>
          </p:nvSpPr>
          <p:spPr>
            <a:xfrm>
              <a:off x="6639514" y="62314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259804" y="6265446"/>
              <a:ext cx="950256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 flipV="1">
              <a:off x="5800620" y="62704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6210159" y="6265446"/>
              <a:ext cx="947223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wait</a:t>
              </a:r>
            </a:p>
          </p:txBody>
        </p:sp>
        <p:cxnSp>
          <p:nvCxnSpPr>
            <p:cNvPr id="37" name="Straight Arrow Connector 36"/>
            <p:cNvCxnSpPr/>
            <p:nvPr/>
          </p:nvCxnSpPr>
          <p:spPr>
            <a:xfrm flipV="1">
              <a:off x="6725234" y="6263645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37"/>
            <p:cNvSpPr>
              <a:spLocks noChangeAspect="1"/>
            </p:cNvSpPr>
            <p:nvPr/>
          </p:nvSpPr>
          <p:spPr>
            <a:xfrm>
              <a:off x="7564128" y="6211575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012402" y="6265446"/>
              <a:ext cx="947223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sp>
          <p:nvSpPr>
            <p:cNvPr id="40" name="Oval 39"/>
            <p:cNvSpPr>
              <a:spLocks noChangeAspect="1"/>
            </p:cNvSpPr>
            <p:nvPr/>
          </p:nvSpPr>
          <p:spPr>
            <a:xfrm>
              <a:off x="4782080" y="62407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4592180" y="6278146"/>
              <a:ext cx="799809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fork</a:t>
              </a:r>
            </a:p>
          </p:txBody>
        </p:sp>
        <p:cxnSp>
          <p:nvCxnSpPr>
            <p:cNvPr id="42" name="Straight Arrow Connector 41"/>
            <p:cNvCxnSpPr/>
            <p:nvPr/>
          </p:nvCxnSpPr>
          <p:spPr>
            <a:xfrm flipV="1">
              <a:off x="4873520" y="6272957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Elbow Connector 35"/>
            <p:cNvCxnSpPr>
              <a:endCxn id="44" idx="2"/>
            </p:cNvCxnSpPr>
            <p:nvPr/>
          </p:nvCxnSpPr>
          <p:spPr>
            <a:xfrm rot="5400000" flipH="1" flipV="1">
              <a:off x="4638234" y="5169845"/>
              <a:ext cx="1262381" cy="879511"/>
            </a:xfrm>
            <a:prstGeom prst="bentConnector2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Oval 43"/>
            <p:cNvSpPr>
              <a:spLocks noChangeAspect="1"/>
            </p:cNvSpPr>
            <p:nvPr/>
          </p:nvSpPr>
          <p:spPr>
            <a:xfrm>
              <a:off x="5709180" y="4932689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6639514" y="4936077"/>
              <a:ext cx="91440" cy="9144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50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222269" y="4940300"/>
              <a:ext cx="1017034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 err="1">
                  <a:latin typeface="Courier New"/>
                  <a:cs typeface="Courier New"/>
                </a:rPr>
                <a:t>printf</a:t>
              </a:r>
              <a:endParaRPr lang="en-US" sz="1500" b="1" dirty="0">
                <a:latin typeface="Courier New"/>
                <a:cs typeface="Courier New"/>
              </a:endParaRPr>
            </a:p>
          </p:txBody>
        </p:sp>
        <p:cxnSp>
          <p:nvCxnSpPr>
            <p:cNvPr id="49" name="Straight Arrow Connector 48"/>
            <p:cNvCxnSpPr/>
            <p:nvPr/>
          </p:nvCxnSpPr>
          <p:spPr>
            <a:xfrm flipV="1">
              <a:off x="5800620" y="4975021"/>
              <a:ext cx="838894" cy="3388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endCxn id="29" idx="7"/>
            </p:cNvCxnSpPr>
            <p:nvPr/>
          </p:nvCxnSpPr>
          <p:spPr>
            <a:xfrm flipH="1">
              <a:off x="6717563" y="4971633"/>
              <a:ext cx="7671" cy="1273235"/>
            </a:xfrm>
            <a:prstGeom prst="straightConnector1">
              <a:avLst/>
            </a:prstGeom>
            <a:ln w="12700" cmpd="sng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TextBox 53"/>
            <p:cNvSpPr txBox="1"/>
            <p:nvPr/>
          </p:nvSpPr>
          <p:spPr>
            <a:xfrm>
              <a:off x="6242981" y="4639856"/>
              <a:ext cx="947223" cy="34748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500" b="1" dirty="0">
                  <a:latin typeface="Courier New"/>
                  <a:cs typeface="Courier New"/>
                </a:rPr>
                <a:t>exit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5543922" y="5940811"/>
              <a:ext cx="446813" cy="347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HP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5543922" y="4635500"/>
              <a:ext cx="446813" cy="34748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HC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7308765" y="5626100"/>
              <a:ext cx="570937" cy="5956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CT</a:t>
              </a:r>
            </a:p>
            <a:p>
              <a:pPr algn="ctr"/>
              <a:r>
                <a:rPr lang="en-US" sz="1500" b="1" dirty="0">
                  <a:solidFill>
                    <a:srgbClr val="FF0000"/>
                  </a:solidFill>
                  <a:latin typeface="Courier New"/>
                  <a:cs typeface="Courier New"/>
                </a:rPr>
                <a:t>Bye</a:t>
              </a:r>
            </a:p>
          </p:txBody>
        </p:sp>
      </p:grpSp>
      <p:sp>
        <p:nvSpPr>
          <p:cNvPr id="62" name="Rectangle 3"/>
          <p:cNvSpPr>
            <a:spLocks noChangeArrowheads="1"/>
          </p:cNvSpPr>
          <p:nvPr/>
        </p:nvSpPr>
        <p:spPr bwMode="auto">
          <a:xfrm>
            <a:off x="4800600" y="4495800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3124200" y="4999672"/>
            <a:ext cx="17379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HC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HP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CT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024964" y="4999672"/>
            <a:ext cx="189043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Infeasible output: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HP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CT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HC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24200" y="4999672"/>
            <a:ext cx="27432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Feasible output(s):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HC	HP 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HP	HC 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CT	CT </a:t>
            </a:r>
          </a:p>
          <a:p>
            <a:r>
              <a:rPr lang="en-US" sz="1800" dirty="0">
                <a:solidFill>
                  <a:srgbClr val="FF0000"/>
                </a:solidFill>
                <a:latin typeface="Courier New"/>
                <a:cs typeface="Courier New"/>
              </a:rPr>
              <a:t>Bye	Bye	</a:t>
            </a:r>
          </a:p>
        </p:txBody>
      </p:sp>
    </p:spTree>
    <p:extLst>
      <p:ext uri="{BB962C8B-B14F-4D97-AF65-F5344CB8AC3E}">
        <p14:creationId xmlns:p14="http://schemas.microsoft.com/office/powerpoint/2010/main" val="90138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3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73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81000"/>
            <a:ext cx="6553200" cy="573088"/>
          </a:xfrm>
        </p:spPr>
        <p:txBody>
          <a:bodyPr/>
          <a:lstStyle/>
          <a:p>
            <a:r>
              <a:rPr lang="en-US" dirty="0">
                <a:latin typeface="Courier New" pitchFamily="49" charset="0"/>
              </a:rPr>
              <a:t>Another wait </a:t>
            </a:r>
            <a:r>
              <a:rPr lang="en-US" dirty="0"/>
              <a:t>Example</a:t>
            </a:r>
          </a:p>
        </p:txBody>
      </p:sp>
      <p:sp>
        <p:nvSpPr>
          <p:cNvPr id="500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7578" y="1052512"/>
            <a:ext cx="8307388" cy="1233488"/>
          </a:xfrm>
        </p:spPr>
        <p:txBody>
          <a:bodyPr/>
          <a:lstStyle/>
          <a:p>
            <a:r>
              <a:rPr lang="en-US" sz="2000" b="0" dirty="0"/>
              <a:t>If multiple children completed, will take in arbitrary order</a:t>
            </a:r>
          </a:p>
          <a:p>
            <a:r>
              <a:rPr lang="en-US" sz="2000" b="0" dirty="0"/>
              <a:t>Can use macros WIFEXITED and WEXITSTATUS to get information about exit status</a:t>
            </a:r>
          </a:p>
        </p:txBody>
      </p:sp>
      <p:sp>
        <p:nvSpPr>
          <p:cNvPr id="500740" name="Text Box 4"/>
          <p:cNvSpPr txBox="1">
            <a:spLocks noChangeArrowheads="1"/>
          </p:cNvSpPr>
          <p:nvPr/>
        </p:nvSpPr>
        <p:spPr bwMode="auto">
          <a:xfrm>
            <a:off x="497084" y="2275106"/>
            <a:ext cx="7967145" cy="427809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fork10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() 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[N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];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>
                <a:solidFill>
                  <a:srgbClr val="C1651C"/>
                </a:solidFill>
                <a:latin typeface="Courier New"/>
                <a:cs typeface="Courier New"/>
              </a:rPr>
              <a:t>i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child_status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fi-FI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(i = 0; i &lt; N; i++)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nb-NO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[i] = fork()) == 0) {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exit(100+i); </a:t>
            </a:r>
            <a:r>
              <a:rPr lang="nb-NO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0;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&lt; N;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i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++) { </a:t>
            </a:r>
            <a:r>
              <a:rPr lang="en-US" sz="1600" dirty="0">
                <a:solidFill>
                  <a:srgbClr val="CB2418"/>
                </a:solidFill>
                <a:latin typeface="Courier New"/>
                <a:cs typeface="Courier New"/>
              </a:rPr>
              <a:t>/* Parent */</a:t>
            </a:r>
            <a:endParaRPr lang="en-US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 err="1">
                <a:solidFill>
                  <a:srgbClr val="C1651C"/>
                </a:solidFill>
                <a:latin typeface="Courier New"/>
                <a:cs typeface="Courier New"/>
              </a:rPr>
              <a:t>wpid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= wait(&amp;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en-US" sz="1600" dirty="0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(WIFEXITED(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%d terminated with exit status %d\n"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wpid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WEXITSTATUS(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hu-HU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hu-HU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endParaRPr lang="hu-HU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%d terminate abnormally\n"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258413" y="6195537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624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62" name="Rectangle 2"/>
          <p:cNvSpPr>
            <a:spLocks noGrp="1" noChangeArrowheads="1"/>
          </p:cNvSpPr>
          <p:nvPr>
            <p:ph type="title"/>
          </p:nvPr>
        </p:nvSpPr>
        <p:spPr>
          <a:xfrm>
            <a:off x="367844" y="493712"/>
            <a:ext cx="8839200" cy="573088"/>
          </a:xfrm>
        </p:spPr>
        <p:txBody>
          <a:bodyPr/>
          <a:lstStyle/>
          <a:p>
            <a:r>
              <a:rPr lang="en-US" sz="3400" dirty="0" err="1">
                <a:latin typeface="Courier New" pitchFamily="49" charset="0"/>
              </a:rPr>
              <a:t>waitpid</a:t>
            </a:r>
            <a:r>
              <a:rPr lang="en-US" sz="3400" dirty="0"/>
              <a:t>: Waiting for a Specific Process</a:t>
            </a:r>
            <a:endParaRPr lang="en-US" sz="3400" dirty="0">
              <a:latin typeface="Courier New" pitchFamily="49" charset="0"/>
            </a:endParaRPr>
          </a:p>
        </p:txBody>
      </p:sp>
      <p:sp>
        <p:nvSpPr>
          <p:cNvPr id="5017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62966"/>
            <a:ext cx="8610600" cy="1099234"/>
          </a:xfrm>
        </p:spPr>
        <p:txBody>
          <a:bodyPr/>
          <a:lstStyle/>
          <a:p>
            <a:r>
              <a:rPr lang="en-US" sz="2000" dirty="0" err="1">
                <a:latin typeface="Courier New" pitchFamily="49" charset="0"/>
              </a:rPr>
              <a:t>pid_t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waitpid</a:t>
            </a:r>
            <a:r>
              <a:rPr lang="en-US" sz="2000" dirty="0">
                <a:latin typeface="Courier New" pitchFamily="49" charset="0"/>
              </a:rPr>
              <a:t>(</a:t>
            </a:r>
            <a:r>
              <a:rPr lang="en-US" sz="2000" dirty="0" err="1">
                <a:latin typeface="Courier New" pitchFamily="49" charset="0"/>
              </a:rPr>
              <a:t>pid_t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pid</a:t>
            </a:r>
            <a:r>
              <a:rPr lang="en-US" sz="2000" dirty="0">
                <a:latin typeface="Courier New" pitchFamily="49" charset="0"/>
              </a:rPr>
              <a:t>, 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*status, </a:t>
            </a:r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options)</a:t>
            </a:r>
          </a:p>
          <a:p>
            <a:pPr lvl="1"/>
            <a:r>
              <a:rPr lang="en-US" dirty="0"/>
              <a:t>Suspends current process until specific process terminates</a:t>
            </a:r>
          </a:p>
          <a:p>
            <a:pPr lvl="1"/>
            <a:r>
              <a:rPr lang="en-US" dirty="0"/>
              <a:t>Various options (see man page)</a:t>
            </a:r>
          </a:p>
        </p:txBody>
      </p:sp>
      <p:sp>
        <p:nvSpPr>
          <p:cNvPr id="501764" name="Text Box 4"/>
          <p:cNvSpPr txBox="1">
            <a:spLocks noChangeArrowheads="1"/>
          </p:cNvSpPr>
          <p:nvPr/>
        </p:nvSpPr>
        <p:spPr bwMode="auto">
          <a:xfrm>
            <a:off x="485286" y="2461716"/>
            <a:ext cx="7967145" cy="4278094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2D961E"/>
                </a:solidFill>
                <a:latin typeface="Courier New"/>
                <a:cs typeface="Courier New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en-US" sz="1600" dirty="0">
                <a:solidFill>
                  <a:srgbClr val="4A00FF"/>
                </a:solidFill>
                <a:latin typeface="Courier New"/>
                <a:cs typeface="Courier New"/>
              </a:rPr>
              <a:t>fork11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() {</a:t>
            </a:r>
          </a:p>
          <a:p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i-FI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i-FI" sz="1600" dirty="0" err="1">
                <a:solidFill>
                  <a:srgbClr val="C1651C"/>
                </a:solidFill>
                <a:latin typeface="Courier New"/>
                <a:cs typeface="Courier New"/>
              </a:rPr>
              <a:t>pid</a:t>
            </a:r>
            <a:r>
              <a:rPr lang="fi-FI" sz="1600" dirty="0" err="1">
                <a:solidFill>
                  <a:srgbClr val="000000"/>
                </a:solidFill>
                <a:latin typeface="Courier New"/>
                <a:cs typeface="Courier New"/>
              </a:rPr>
              <a:t>[N</a:t>
            </a:r>
            <a:r>
              <a:rPr lang="fi-FI" sz="1600" dirty="0">
                <a:solidFill>
                  <a:srgbClr val="000000"/>
                </a:solidFill>
                <a:latin typeface="Courier New"/>
                <a:cs typeface="Courier New"/>
              </a:rPr>
              <a:t>];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>
                <a:solidFill>
                  <a:srgbClr val="C1651C"/>
                </a:solidFill>
                <a:latin typeface="Courier New"/>
                <a:cs typeface="Courier New"/>
              </a:rPr>
              <a:t>i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fr-FR" sz="1600" dirty="0" err="1">
                <a:solidFill>
                  <a:srgbClr val="2D961E"/>
                </a:solidFill>
                <a:latin typeface="Courier New"/>
                <a:cs typeface="Courier New"/>
              </a:rPr>
              <a:t>int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fr-FR" sz="1600" dirty="0" err="1">
                <a:solidFill>
                  <a:srgbClr val="C1651C"/>
                </a:solidFill>
                <a:latin typeface="Courier New"/>
                <a:cs typeface="Courier New"/>
              </a:rPr>
              <a:t>child_status</a:t>
            </a:r>
            <a:r>
              <a:rPr lang="fr-FR" sz="1600" dirty="0">
                <a:solidFill>
                  <a:srgbClr val="000000"/>
                </a:solidFill>
                <a:latin typeface="Courier New"/>
                <a:cs typeface="Courier New"/>
              </a:rPr>
              <a:t>;</a:t>
            </a:r>
          </a:p>
          <a:p>
            <a:endParaRPr lang="fr-FR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(i = 0; i &lt; N; i++)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nb-NO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((</a:t>
            </a:r>
            <a:r>
              <a:rPr lang="nb-NO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[i] = fork()) == 0)</a:t>
            </a:r>
          </a:p>
          <a:p>
            <a:r>
              <a:rPr lang="nb-NO" sz="1600" dirty="0">
                <a:solidFill>
                  <a:srgbClr val="000000"/>
                </a:solidFill>
                <a:latin typeface="Courier New"/>
                <a:cs typeface="Courier New"/>
              </a:rPr>
              <a:t>            exit(100+i); </a:t>
            </a:r>
            <a:r>
              <a:rPr lang="nb-NO" sz="1600" dirty="0">
                <a:solidFill>
                  <a:srgbClr val="CB2418"/>
                </a:solidFill>
                <a:latin typeface="Courier New"/>
                <a:cs typeface="Courier New"/>
              </a:rPr>
              <a:t>/* Child */</a:t>
            </a:r>
            <a:endParaRPr lang="nb-NO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</a:t>
            </a:r>
            <a:r>
              <a:rPr lang="da-DK" sz="1600" dirty="0">
                <a:solidFill>
                  <a:srgbClr val="C200FF"/>
                </a:solidFill>
                <a:latin typeface="Courier New"/>
                <a:cs typeface="Courier New"/>
              </a:rPr>
              <a:t>for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(i = N-1; i &gt;= 0; i--) {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2D961E"/>
                </a:solidFill>
                <a:latin typeface="Courier New"/>
                <a:cs typeface="Courier New"/>
              </a:rPr>
              <a:t>pid_t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</a:t>
            </a:r>
            <a:r>
              <a:rPr lang="da-DK" sz="1600" dirty="0" err="1">
                <a:solidFill>
                  <a:srgbClr val="C1651C"/>
                </a:solidFill>
                <a:latin typeface="Courier New"/>
                <a:cs typeface="Courier New"/>
              </a:rPr>
              <a:t>wpid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=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waitpid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pid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[i], &amp;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 0);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da-DK" sz="1600" dirty="0" err="1">
                <a:solidFill>
                  <a:srgbClr val="C200FF"/>
                </a:solidFill>
                <a:latin typeface="Courier New"/>
                <a:cs typeface="Courier New"/>
              </a:rPr>
              <a:t>if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(WIFEXITED(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))</a:t>
            </a:r>
          </a:p>
          <a:p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da-DK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"Child %d </a:t>
            </a:r>
            <a:r>
              <a:rPr lang="da-DK" sz="1600" dirty="0" err="1">
                <a:solidFill>
                  <a:srgbClr val="9D206F"/>
                </a:solidFill>
                <a:latin typeface="Courier New"/>
                <a:cs typeface="Courier New"/>
              </a:rPr>
              <a:t>terminated</a:t>
            </a:r>
            <a:r>
              <a:rPr lang="da-DK" sz="1600" dirty="0">
                <a:solidFill>
                  <a:srgbClr val="9D206F"/>
                </a:solidFill>
                <a:latin typeface="Courier New"/>
                <a:cs typeface="Courier New"/>
              </a:rPr>
              <a:t> with exit status %d\n"</a:t>
            </a:r>
            <a:r>
              <a:rPr lang="da-DK" sz="1600" dirty="0">
                <a:solidFill>
                  <a:srgbClr val="000000"/>
                </a:solidFill>
                <a:latin typeface="Courier New"/>
                <a:cs typeface="Courier New"/>
              </a:rPr>
              <a:t>,</a:t>
            </a:r>
          </a:p>
          <a:p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                   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wpid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, WEXITSTATUS(</a:t>
            </a:r>
            <a:r>
              <a:rPr lang="pl-PL" sz="1600" dirty="0" err="1">
                <a:solidFill>
                  <a:srgbClr val="000000"/>
                </a:solidFill>
                <a:latin typeface="Courier New"/>
                <a:cs typeface="Courier New"/>
              </a:rPr>
              <a:t>child_status</a:t>
            </a:r>
            <a:r>
              <a:rPr lang="pl-PL" sz="1600" dirty="0">
                <a:solidFill>
                  <a:srgbClr val="000000"/>
                </a:solidFill>
                <a:latin typeface="Courier New"/>
                <a:cs typeface="Courier New"/>
              </a:rPr>
              <a:t>));</a:t>
            </a:r>
          </a:p>
          <a:p>
            <a:r>
              <a:rPr lang="hu-HU" sz="1600" dirty="0">
                <a:solidFill>
                  <a:srgbClr val="000000"/>
                </a:solidFill>
                <a:latin typeface="Courier New"/>
                <a:cs typeface="Courier New"/>
              </a:rPr>
              <a:t>        </a:t>
            </a:r>
            <a:r>
              <a:rPr lang="hu-HU" sz="1600" dirty="0">
                <a:solidFill>
                  <a:srgbClr val="C200FF"/>
                </a:solidFill>
                <a:latin typeface="Courier New"/>
                <a:cs typeface="Courier New"/>
              </a:rPr>
              <a:t>else</a:t>
            </a:r>
            <a:endParaRPr lang="hu-HU" sz="1600" dirty="0">
              <a:solidFill>
                <a:srgbClr val="000000"/>
              </a:solidFill>
              <a:latin typeface="Courier New"/>
              <a:cs typeface="Courier New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(</a:t>
            </a:r>
            <a:r>
              <a:rPr lang="en-US" sz="1600" dirty="0">
                <a:solidFill>
                  <a:srgbClr val="9D206F"/>
                </a:solidFill>
                <a:latin typeface="Courier New"/>
                <a:cs typeface="Courier New"/>
              </a:rPr>
              <a:t>"Child %d terminate abnormally\n"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urier New"/>
                <a:cs typeface="Courier New"/>
              </a:rPr>
              <a:t>wpid</a:t>
            </a:r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    }</a:t>
            </a:r>
          </a:p>
          <a:p>
            <a:r>
              <a:rPr lang="en-US" sz="1600" dirty="0">
                <a:solidFill>
                  <a:srgbClr val="000000"/>
                </a:solidFill>
                <a:latin typeface="Courier New"/>
                <a:cs typeface="Courier New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246615" y="6382147"/>
            <a:ext cx="1205816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forks.c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619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573088"/>
          </a:xfrm>
        </p:spPr>
        <p:txBody>
          <a:bodyPr/>
          <a:lstStyle/>
          <a:p>
            <a:r>
              <a:rPr lang="en-US" sz="3400" dirty="0" err="1">
                <a:latin typeface="Courier New" pitchFamily="49" charset="0"/>
              </a:rPr>
              <a:t>execve</a:t>
            </a:r>
            <a:r>
              <a:rPr lang="en-US" sz="3400" dirty="0">
                <a:latin typeface="Courier" pitchFamily="49" charset="0"/>
              </a:rPr>
              <a:t>:</a:t>
            </a:r>
            <a:r>
              <a:rPr lang="en-US" sz="3400" dirty="0"/>
              <a:t> Loading and Running Programs</a:t>
            </a:r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71600"/>
            <a:ext cx="8763000" cy="5410200"/>
          </a:xfrm>
        </p:spPr>
        <p:txBody>
          <a:bodyPr/>
          <a:lstStyle/>
          <a:p>
            <a:r>
              <a:rPr lang="en-US" sz="2000" dirty="0" err="1">
                <a:latin typeface="Courier New"/>
                <a:cs typeface="Courier New"/>
              </a:rPr>
              <a:t>int</a:t>
            </a:r>
            <a:r>
              <a:rPr lang="en-US" sz="2000" dirty="0">
                <a:latin typeface="Courier New"/>
                <a:cs typeface="Courier New"/>
              </a:rPr>
              <a:t> </a:t>
            </a:r>
            <a:r>
              <a:rPr lang="en-US" sz="2000" dirty="0" err="1">
                <a:latin typeface="Courier New"/>
                <a:cs typeface="Courier New"/>
              </a:rPr>
              <a:t>execve</a:t>
            </a:r>
            <a:r>
              <a:rPr lang="en-US" sz="2000" dirty="0">
                <a:latin typeface="Courier New"/>
                <a:cs typeface="Courier New"/>
              </a:rPr>
              <a:t>(char *filename, char *</a:t>
            </a:r>
            <a:r>
              <a:rPr lang="en-US" sz="2000" dirty="0" err="1">
                <a:latin typeface="Courier New"/>
                <a:cs typeface="Courier New"/>
              </a:rPr>
              <a:t>argv</a:t>
            </a:r>
            <a:r>
              <a:rPr lang="en-US" sz="2000" dirty="0">
                <a:latin typeface="Courier New"/>
                <a:cs typeface="Courier New"/>
              </a:rPr>
              <a:t>[], char *</a:t>
            </a:r>
            <a:r>
              <a:rPr lang="en-US" sz="2000" dirty="0" err="1">
                <a:latin typeface="Courier New"/>
                <a:cs typeface="Courier New"/>
              </a:rPr>
              <a:t>envp</a:t>
            </a:r>
            <a:r>
              <a:rPr lang="en-US" sz="2000" dirty="0">
                <a:latin typeface="Courier New"/>
                <a:cs typeface="Courier New"/>
              </a:rPr>
              <a:t>[])</a:t>
            </a:r>
            <a:endParaRPr lang="en-US" dirty="0"/>
          </a:p>
          <a:p>
            <a:r>
              <a:rPr lang="en-US" dirty="0"/>
              <a:t>Loads and runs in the current process:</a:t>
            </a:r>
          </a:p>
          <a:p>
            <a:pPr lvl="1"/>
            <a:r>
              <a:rPr lang="en-US" dirty="0"/>
              <a:t>Executable  file </a:t>
            </a:r>
            <a:r>
              <a:rPr lang="en-US" b="1" dirty="0">
                <a:latin typeface="Courier New" pitchFamily="49" charset="0"/>
                <a:ea typeface="+mn-ea"/>
                <a:cs typeface="+mn-cs"/>
              </a:rPr>
              <a:t>filename</a:t>
            </a:r>
          </a:p>
          <a:p>
            <a:pPr lvl="2"/>
            <a:r>
              <a:rPr lang="en-US" dirty="0">
                <a:latin typeface="Calibri"/>
                <a:ea typeface="+mn-ea"/>
                <a:cs typeface="Calibri"/>
              </a:rPr>
              <a:t>Can be object file or script file beginning with </a:t>
            </a:r>
            <a:r>
              <a:rPr lang="en-US" dirty="0">
                <a:latin typeface="Courier New"/>
                <a:ea typeface="+mn-ea"/>
                <a:cs typeface="Courier New"/>
              </a:rPr>
              <a:t>#!interpreter          </a:t>
            </a:r>
            <a:r>
              <a:rPr lang="en-US" dirty="0">
                <a:latin typeface="Calibri"/>
                <a:ea typeface="+mn-ea"/>
                <a:cs typeface="Calibri"/>
              </a:rPr>
              <a:t>(e.g., </a:t>
            </a:r>
            <a:r>
              <a:rPr lang="en-US" dirty="0">
                <a:latin typeface="Courier New"/>
                <a:ea typeface="+mn-ea"/>
                <a:cs typeface="Courier New"/>
              </a:rPr>
              <a:t>#!/bin/bash</a:t>
            </a:r>
            <a:r>
              <a:rPr lang="en-US" dirty="0">
                <a:latin typeface="Calibri"/>
                <a:ea typeface="+mn-ea"/>
                <a:cs typeface="Calibri"/>
              </a:rPr>
              <a:t>)</a:t>
            </a:r>
            <a:endParaRPr lang="en-US" dirty="0">
              <a:latin typeface="Courier New"/>
              <a:ea typeface="+mn-ea"/>
              <a:cs typeface="Courier New"/>
            </a:endParaRPr>
          </a:p>
          <a:p>
            <a:pPr lvl="1"/>
            <a:r>
              <a:rPr lang="en-US" dirty="0"/>
              <a:t>…with argument list </a:t>
            </a:r>
            <a:r>
              <a:rPr lang="en-US" b="1" dirty="0" err="1">
                <a:latin typeface="Courier New" pitchFamily="49" charset="0"/>
                <a:ea typeface="+mn-ea"/>
                <a:cs typeface="+mn-cs"/>
              </a:rPr>
              <a:t>argv</a:t>
            </a:r>
            <a:endParaRPr lang="en-US" b="1" dirty="0">
              <a:latin typeface="Courier New" pitchFamily="49" charset="0"/>
              <a:ea typeface="+mn-ea"/>
              <a:cs typeface="+mn-cs"/>
            </a:endParaRPr>
          </a:p>
          <a:p>
            <a:pPr lvl="2"/>
            <a:r>
              <a:rPr lang="en-US" dirty="0">
                <a:latin typeface="Calibri"/>
                <a:ea typeface="+mn-ea"/>
                <a:cs typeface="Calibri"/>
              </a:rPr>
              <a:t>By convention </a:t>
            </a:r>
            <a:r>
              <a:rPr lang="en-US" b="1" dirty="0" err="1">
                <a:latin typeface="Courier New" pitchFamily="49" charset="0"/>
                <a:ea typeface="+mn-ea"/>
                <a:cs typeface="+mn-cs"/>
              </a:rPr>
              <a:t>argv</a:t>
            </a:r>
            <a:r>
              <a:rPr lang="en-US" b="1" dirty="0">
                <a:latin typeface="Courier New" pitchFamily="49" charset="0"/>
                <a:ea typeface="+mn-ea"/>
                <a:cs typeface="+mn-cs"/>
              </a:rPr>
              <a:t>[0]==filename</a:t>
            </a:r>
          </a:p>
          <a:p>
            <a:pPr lvl="1"/>
            <a:r>
              <a:rPr lang="en-US" dirty="0"/>
              <a:t>…and  environment variable </a:t>
            </a:r>
            <a:r>
              <a:rPr lang="en-US" dirty="0">
                <a:latin typeface="Calibri"/>
                <a:ea typeface="+mn-ea"/>
                <a:cs typeface="Calibri"/>
              </a:rPr>
              <a:t>list</a:t>
            </a:r>
            <a:r>
              <a:rPr lang="en-US" b="1" dirty="0">
                <a:latin typeface="Courier New" pitchFamily="49" charset="0"/>
                <a:ea typeface="+mn-ea"/>
                <a:cs typeface="+mn-cs"/>
              </a:rPr>
              <a:t> </a:t>
            </a:r>
            <a:r>
              <a:rPr lang="en-US" b="1" dirty="0" err="1">
                <a:latin typeface="Courier New" pitchFamily="49" charset="0"/>
                <a:ea typeface="+mn-ea"/>
                <a:cs typeface="+mn-cs"/>
              </a:rPr>
              <a:t>envp</a:t>
            </a:r>
            <a:endParaRPr lang="en-US" b="1" dirty="0">
              <a:latin typeface="Courier New" pitchFamily="49" charset="0"/>
              <a:ea typeface="+mn-ea"/>
              <a:cs typeface="+mn-cs"/>
            </a:endParaRPr>
          </a:p>
          <a:p>
            <a:pPr lvl="2"/>
            <a:r>
              <a:rPr lang="en-US" dirty="0"/>
              <a:t>“name=value” strings (e.g., </a:t>
            </a:r>
            <a:r>
              <a:rPr lang="en-US" dirty="0">
                <a:latin typeface="Courier New"/>
                <a:cs typeface="Courier New"/>
              </a:rPr>
              <a:t>USER=</a:t>
            </a:r>
            <a:r>
              <a:rPr lang="en-US" dirty="0" err="1">
                <a:latin typeface="Courier New"/>
                <a:cs typeface="Courier New"/>
              </a:rPr>
              <a:t>droh</a:t>
            </a:r>
            <a:r>
              <a:rPr lang="en-US" dirty="0"/>
              <a:t>)</a:t>
            </a:r>
          </a:p>
          <a:p>
            <a:pPr lvl="2"/>
            <a:r>
              <a:rPr lang="en-US" dirty="0" err="1">
                <a:latin typeface="Courier New"/>
                <a:cs typeface="Courier New"/>
              </a:rPr>
              <a:t>getenv</a:t>
            </a:r>
            <a:r>
              <a:rPr lang="en-US" dirty="0">
                <a:latin typeface="Courier New"/>
                <a:cs typeface="Courier New"/>
              </a:rPr>
              <a:t>, </a:t>
            </a:r>
            <a:r>
              <a:rPr lang="en-US" dirty="0" err="1">
                <a:latin typeface="Courier New"/>
                <a:cs typeface="Courier New"/>
              </a:rPr>
              <a:t>putenv</a:t>
            </a:r>
            <a:r>
              <a:rPr lang="en-US" dirty="0">
                <a:latin typeface="Courier New"/>
                <a:cs typeface="Courier New"/>
              </a:rPr>
              <a:t>, </a:t>
            </a:r>
            <a:r>
              <a:rPr lang="en-US" dirty="0" err="1">
                <a:latin typeface="Courier New"/>
                <a:cs typeface="Courier New"/>
              </a:rPr>
              <a:t>printenv</a:t>
            </a:r>
            <a:endParaRPr lang="en-US" b="1" dirty="0">
              <a:latin typeface="Courier New" pitchFamily="49" charset="0"/>
              <a:ea typeface="+mn-ea"/>
              <a:cs typeface="+mn-cs"/>
            </a:endParaRPr>
          </a:p>
          <a:p>
            <a:r>
              <a:rPr lang="en-US" dirty="0"/>
              <a:t>Overwrites code, data, and stack</a:t>
            </a:r>
          </a:p>
          <a:p>
            <a:pPr lvl="1"/>
            <a:r>
              <a:rPr lang="en-US" dirty="0"/>
              <a:t>Retains PID, open files and signal context</a:t>
            </a:r>
          </a:p>
          <a:p>
            <a:r>
              <a:rPr lang="en-US" dirty="0"/>
              <a:t>Called </a:t>
            </a:r>
            <a:r>
              <a:rPr lang="en-US" dirty="0">
                <a:solidFill>
                  <a:srgbClr val="FF0000"/>
                </a:solidFill>
              </a:rPr>
              <a:t>once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never </a:t>
            </a:r>
            <a:r>
              <a:rPr lang="en-US" dirty="0"/>
              <a:t>returns</a:t>
            </a:r>
          </a:p>
          <a:p>
            <a:pPr lvl="1"/>
            <a:r>
              <a:rPr lang="en-US" dirty="0"/>
              <a:t>…except if there is an error</a:t>
            </a:r>
          </a:p>
        </p:txBody>
      </p:sp>
    </p:spTree>
    <p:extLst>
      <p:ext uri="{BB962C8B-B14F-4D97-AF65-F5344CB8AC3E}">
        <p14:creationId xmlns:p14="http://schemas.microsoft.com/office/powerpoint/2010/main" val="24372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8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Courier New" charset="0"/>
                <a:ea typeface="Courier New" charset="0"/>
                <a:cs typeface="Courier New" charset="0"/>
              </a:rPr>
              <a:t>fork() </a:t>
            </a:r>
            <a:r>
              <a:rPr lang="en-GB" dirty="0"/>
              <a:t>and </a:t>
            </a:r>
            <a:r>
              <a:rPr lang="en-GB" dirty="0" err="1">
                <a:latin typeface="Courier New" charset="0"/>
                <a:ea typeface="Courier New" charset="0"/>
                <a:cs typeface="Courier New" charset="0"/>
              </a:rPr>
              <a:t>execve</a:t>
            </a:r>
            <a:r>
              <a:rPr lang="en-GB" dirty="0">
                <a:latin typeface="Courier New" charset="0"/>
                <a:ea typeface="Courier New" charset="0"/>
                <a:cs typeface="Courier New" charset="0"/>
              </a:rPr>
              <a:t>()</a:t>
            </a:r>
          </a:p>
        </p:txBody>
      </p:sp>
      <p:sp>
        <p:nvSpPr>
          <p:cNvPr id="93187" name="Rectangle 2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>
                <a:latin typeface="Courier New" charset="0"/>
                <a:ea typeface="Courier New" charset="0"/>
                <a:cs typeface="Courier New" charset="0"/>
              </a:rPr>
              <a:t>execve</a:t>
            </a:r>
            <a:r>
              <a:rPr lang="en-GB" dirty="0">
                <a:latin typeface="Courier New" charset="0"/>
                <a:ea typeface="Courier New" charset="0"/>
                <a:cs typeface="Courier New" charset="0"/>
              </a:rPr>
              <a:t>() </a:t>
            </a:r>
            <a:r>
              <a:rPr lang="en-GB" dirty="0"/>
              <a:t>does not fork a new process!</a:t>
            </a:r>
          </a:p>
          <a:p>
            <a:pPr lvl="1"/>
            <a:r>
              <a:rPr lang="en-GB" dirty="0"/>
              <a:t>Rather, it replaces the address space and CPU state of the current process</a:t>
            </a:r>
          </a:p>
          <a:p>
            <a:pPr lvl="1"/>
            <a:r>
              <a:rPr lang="en-GB" dirty="0"/>
              <a:t>Loads the new address space from the executable file and starts it from </a:t>
            </a:r>
            <a:r>
              <a:rPr lang="en-GB" b="1" dirty="0">
                <a:latin typeface="Courier New" charset="0"/>
                <a:ea typeface="Courier New" charset="0"/>
                <a:cs typeface="Courier New" charset="0"/>
              </a:rPr>
              <a:t>main()</a:t>
            </a:r>
            <a:r>
              <a:rPr lang="x-none" dirty="0"/>
              <a:t>‏</a:t>
            </a:r>
            <a:endParaRPr lang="en-GB" dirty="0"/>
          </a:p>
          <a:p>
            <a:pPr lvl="1"/>
            <a:r>
              <a:rPr lang="en-GB" dirty="0"/>
              <a:t>So, to start a new program, use </a:t>
            </a:r>
            <a:r>
              <a:rPr lang="en-GB" b="1" dirty="0">
                <a:latin typeface="Courier New" charset="0"/>
                <a:ea typeface="Courier New" charset="0"/>
                <a:cs typeface="Courier New" charset="0"/>
              </a:rPr>
              <a:t>fork() </a:t>
            </a:r>
            <a:r>
              <a:rPr lang="en-GB" dirty="0"/>
              <a:t>followed by </a:t>
            </a:r>
            <a:r>
              <a:rPr lang="en-GB" b="1" dirty="0" err="1">
                <a:latin typeface="Courier New" charset="0"/>
                <a:ea typeface="Courier New" charset="0"/>
                <a:cs typeface="Courier New" charset="0"/>
              </a:rPr>
              <a:t>execve</a:t>
            </a:r>
            <a:r>
              <a:rPr lang="en-GB" b="1" dirty="0">
                <a:latin typeface="Courier New" charset="0"/>
                <a:ea typeface="Courier New" charset="0"/>
                <a:cs typeface="Courier New" charset="0"/>
              </a:rPr>
              <a:t>()</a:t>
            </a:r>
            <a:r>
              <a:rPr lang="x-none" dirty="0"/>
              <a:t>‏</a:t>
            </a:r>
            <a:endParaRPr lang="en-GB" dirty="0"/>
          </a:p>
        </p:txBody>
      </p:sp>
      <p:pic>
        <p:nvPicPr>
          <p:cNvPr id="368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80800" y="3762027"/>
            <a:ext cx="2773440" cy="202917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81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610600" cy="573088"/>
          </a:xfrm>
        </p:spPr>
        <p:txBody>
          <a:bodyPr/>
          <a:lstStyle/>
          <a:p>
            <a:r>
              <a:rPr lang="en-US" sz="3400" dirty="0" err="1">
                <a:latin typeface="Courier New" pitchFamily="49" charset="0"/>
              </a:rPr>
              <a:t>execl</a:t>
            </a:r>
            <a:r>
              <a:rPr lang="en-US" sz="3400" dirty="0">
                <a:latin typeface="Courier New" pitchFamily="49" charset="0"/>
              </a:rPr>
              <a:t> </a:t>
            </a:r>
            <a:r>
              <a:rPr lang="en-US" sz="3400" dirty="0"/>
              <a:t>and</a:t>
            </a:r>
            <a:r>
              <a:rPr lang="en-US" sz="3400" dirty="0">
                <a:latin typeface="Courier New" pitchFamily="49" charset="0"/>
              </a:rPr>
              <a:t> exec</a:t>
            </a:r>
            <a:r>
              <a:rPr lang="en-US" sz="3400" dirty="0"/>
              <a:t> Family</a:t>
            </a:r>
          </a:p>
        </p:txBody>
      </p:sp>
      <p:sp>
        <p:nvSpPr>
          <p:cNvPr id="503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143000"/>
            <a:ext cx="8318500" cy="5410200"/>
          </a:xfrm>
        </p:spPr>
        <p:txBody>
          <a:bodyPr/>
          <a:lstStyle/>
          <a:p>
            <a:r>
              <a:rPr lang="en-US" sz="2000" dirty="0" err="1">
                <a:latin typeface="Courier New" pitchFamily="49" charset="0"/>
              </a:rPr>
              <a:t>int</a:t>
            </a:r>
            <a:r>
              <a:rPr lang="en-US" sz="2000" dirty="0">
                <a:latin typeface="Courier New" pitchFamily="49" charset="0"/>
              </a:rPr>
              <a:t> </a:t>
            </a:r>
            <a:r>
              <a:rPr lang="en-US" sz="2000" dirty="0" err="1">
                <a:latin typeface="Courier New" pitchFamily="49" charset="0"/>
              </a:rPr>
              <a:t>execl</a:t>
            </a:r>
            <a:r>
              <a:rPr lang="en-US" sz="2000" dirty="0">
                <a:latin typeface="Courier New" pitchFamily="49" charset="0"/>
              </a:rPr>
              <a:t>(char *path, char *arg0, char *arg1, …, 0)</a:t>
            </a:r>
            <a:endParaRPr lang="en-US" dirty="0"/>
          </a:p>
          <a:p>
            <a:r>
              <a:rPr lang="en-US" dirty="0"/>
              <a:t>Loads and runs executable at </a:t>
            </a:r>
            <a:r>
              <a:rPr lang="en-US" dirty="0">
                <a:latin typeface="Courier New" pitchFamily="49" charset="0"/>
              </a:rPr>
              <a:t>path</a:t>
            </a:r>
            <a:r>
              <a:rPr lang="en-US" dirty="0"/>
              <a:t> with </a:t>
            </a:r>
            <a:r>
              <a:rPr lang="en-US" dirty="0" err="1"/>
              <a:t>args</a:t>
            </a:r>
            <a:r>
              <a:rPr lang="en-US" dirty="0"/>
              <a:t> </a:t>
            </a:r>
            <a:r>
              <a:rPr lang="en-US" dirty="0">
                <a:latin typeface="Courier New" pitchFamily="49" charset="0"/>
              </a:rPr>
              <a:t>arg0</a:t>
            </a:r>
            <a:r>
              <a:rPr lang="en-US" dirty="0"/>
              <a:t>, </a:t>
            </a:r>
            <a:r>
              <a:rPr lang="en-US" dirty="0">
                <a:latin typeface="Courier New" pitchFamily="49" charset="0"/>
              </a:rPr>
              <a:t>arg1</a:t>
            </a:r>
            <a:r>
              <a:rPr lang="en-US" dirty="0"/>
              <a:t>, …</a:t>
            </a:r>
          </a:p>
          <a:p>
            <a:pPr lvl="1"/>
            <a:r>
              <a:rPr lang="en-US" b="1" dirty="0">
                <a:latin typeface="Courier New" pitchFamily="49" charset="0"/>
              </a:rPr>
              <a:t>path</a:t>
            </a:r>
            <a:r>
              <a:rPr lang="en-US" dirty="0"/>
              <a:t> is the complete path of an executable object file</a:t>
            </a:r>
          </a:p>
          <a:p>
            <a:pPr lvl="1"/>
            <a:r>
              <a:rPr lang="en-US" dirty="0"/>
              <a:t>By convention,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b="1" dirty="0">
                <a:latin typeface="Courier New" pitchFamily="49" charset="0"/>
              </a:rPr>
              <a:t>arg0</a:t>
            </a:r>
            <a:r>
              <a:rPr lang="en-US" b="1" dirty="0"/>
              <a:t> </a:t>
            </a:r>
            <a:r>
              <a:rPr lang="en-US" dirty="0"/>
              <a:t>is the name of the executable object file</a:t>
            </a:r>
          </a:p>
          <a:p>
            <a:pPr lvl="1"/>
            <a:r>
              <a:rPr lang="en-US" dirty="0"/>
              <a:t>“Real” arguments to the program start with </a:t>
            </a:r>
            <a:r>
              <a:rPr lang="en-US" b="1" dirty="0">
                <a:latin typeface="Courier New" pitchFamily="49" charset="0"/>
              </a:rPr>
              <a:t>arg1</a:t>
            </a:r>
            <a:r>
              <a:rPr lang="en-US" dirty="0"/>
              <a:t>, etc.</a:t>
            </a:r>
          </a:p>
          <a:p>
            <a:pPr lvl="1"/>
            <a:r>
              <a:rPr lang="en-US" dirty="0"/>
              <a:t>List of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</a:t>
            </a:r>
            <a:r>
              <a:rPr lang="en-US" dirty="0" err="1"/>
              <a:t>s</a:t>
            </a:r>
            <a:r>
              <a:rPr lang="en-US" dirty="0"/>
              <a:t> is terminated by a </a:t>
            </a:r>
            <a:r>
              <a:rPr lang="en-US" b="1" dirty="0">
                <a:latin typeface="Courier New" pitchFamily="49" charset="0"/>
              </a:rPr>
              <a:t>(char *)0</a:t>
            </a:r>
            <a:r>
              <a:rPr lang="en-US" b="1" dirty="0"/>
              <a:t> </a:t>
            </a:r>
            <a:r>
              <a:rPr lang="en-US" dirty="0"/>
              <a:t>argument</a:t>
            </a:r>
          </a:p>
          <a:p>
            <a:pPr lvl="1"/>
            <a:r>
              <a:rPr lang="en-US" dirty="0"/>
              <a:t>Environment taken from </a:t>
            </a:r>
            <a:r>
              <a:rPr lang="en-US" b="1" dirty="0">
                <a:latin typeface="Courier New" pitchFamily="49" charset="0"/>
              </a:rPr>
              <a:t>char **environ</a:t>
            </a:r>
            <a:r>
              <a:rPr lang="en-US" dirty="0"/>
              <a:t>, which points to an array of “name=value” strings: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USER=ganger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LOGNAME=ganger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HOME=/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afs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/cs.cmu.edu/user/ganger</a:t>
            </a:r>
          </a:p>
          <a:p>
            <a:r>
              <a:rPr lang="en-US" dirty="0"/>
              <a:t>Returns </a:t>
            </a:r>
            <a:r>
              <a:rPr lang="en-US" dirty="0">
                <a:latin typeface="Courier New" pitchFamily="49" charset="0"/>
              </a:rPr>
              <a:t>-1</a:t>
            </a:r>
            <a:r>
              <a:rPr lang="en-US" dirty="0"/>
              <a:t> if error, </a:t>
            </a:r>
            <a:r>
              <a:rPr lang="en-US" i="1" dirty="0">
                <a:solidFill>
                  <a:srgbClr val="990000"/>
                </a:solidFill>
              </a:rPr>
              <a:t>otherwise doesn’t return</a:t>
            </a:r>
            <a:r>
              <a:rPr lang="en-US" dirty="0"/>
              <a:t>!</a:t>
            </a:r>
          </a:p>
          <a:p>
            <a:r>
              <a:rPr lang="en-US" dirty="0"/>
              <a:t>Family of functions includes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execv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</a:rPr>
              <a:t>execve</a:t>
            </a:r>
            <a:r>
              <a:rPr lang="en-US" dirty="0"/>
              <a:t> (base function),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 err="1">
                <a:latin typeface="Courier New" pitchFamily="49" charset="0"/>
              </a:rPr>
              <a:t>execvp</a:t>
            </a:r>
            <a:r>
              <a:rPr lang="en-US" dirty="0">
                <a:latin typeface="Courier New" pitchFamily="49" charset="0"/>
              </a:rPr>
              <a:t>, </a:t>
            </a:r>
            <a:r>
              <a:rPr lang="en-US" dirty="0" err="1">
                <a:latin typeface="Courier New" pitchFamily="49" charset="0"/>
              </a:rPr>
              <a:t>execl</a:t>
            </a:r>
            <a:r>
              <a:rPr lang="en-US" dirty="0"/>
              <a:t>, </a:t>
            </a:r>
            <a:r>
              <a:rPr lang="en-US" dirty="0" err="1">
                <a:latin typeface="Courier New" pitchFamily="49" charset="0"/>
              </a:rPr>
              <a:t>execle</a:t>
            </a:r>
            <a:r>
              <a:rPr lang="en-US" dirty="0"/>
              <a:t>, and </a:t>
            </a:r>
            <a:r>
              <a:rPr lang="en-US" dirty="0" err="1">
                <a:latin typeface="Courier New" pitchFamily="49" charset="0"/>
              </a:rPr>
              <a:t>execlp</a:t>
            </a:r>
            <a:endParaRPr lang="en-US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0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610600" cy="573088"/>
          </a:xfrm>
        </p:spPr>
        <p:txBody>
          <a:bodyPr/>
          <a:lstStyle/>
          <a:p>
            <a:r>
              <a:rPr lang="en-US" sz="3400" dirty="0">
                <a:latin typeface="Courier New" pitchFamily="49" charset="0"/>
              </a:rPr>
              <a:t>exec</a:t>
            </a:r>
            <a:r>
              <a:rPr lang="en-US" sz="3400" dirty="0">
                <a:latin typeface="Courier" pitchFamily="49" charset="0"/>
              </a:rPr>
              <a:t>:</a:t>
            </a:r>
            <a:r>
              <a:rPr lang="en-US" sz="3400" dirty="0"/>
              <a:t> Using fork followed by exec</a:t>
            </a:r>
          </a:p>
        </p:txBody>
      </p:sp>
      <p:sp>
        <p:nvSpPr>
          <p:cNvPr id="557060" name="Text Box 4"/>
          <p:cNvSpPr txBox="1">
            <a:spLocks noChangeArrowheads="1"/>
          </p:cNvSpPr>
          <p:nvPr/>
        </p:nvSpPr>
        <p:spPr bwMode="auto">
          <a:xfrm>
            <a:off x="237319" y="1524000"/>
            <a:ext cx="8669361" cy="4037708"/>
          </a:xfrm>
          <a:prstGeom prst="rect">
            <a:avLst/>
          </a:prstGeom>
          <a:solidFill>
            <a:srgbClr val="F6F5BD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marL="338138" indent="-338138" eaLnBrk="1">
              <a:lnSpc>
                <a:spcPct val="89000"/>
              </a:lnSpc>
              <a:spcBef>
                <a:spcPts val="500"/>
              </a:spcBef>
              <a:buClr>
                <a:srgbClr val="000000"/>
              </a:buClr>
              <a:buSzPct val="100000"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 err="1">
                <a:latin typeface="Courier New" charset="0"/>
              </a:rPr>
              <a:t>int</a:t>
            </a:r>
            <a:r>
              <a:rPr lang="en-GB" altLang="x-none" sz="1600" dirty="0">
                <a:latin typeface="Courier New" charset="0"/>
              </a:rPr>
              <a:t> main(</a:t>
            </a:r>
            <a:r>
              <a:rPr lang="en-GB" altLang="x-none" sz="1600" dirty="0" err="1">
                <a:latin typeface="Courier New" charset="0"/>
              </a:rPr>
              <a:t>int</a:t>
            </a:r>
            <a:r>
              <a:rPr lang="en-GB" altLang="x-none" sz="1600" dirty="0">
                <a:latin typeface="Courier New" charset="0"/>
              </a:rPr>
              <a:t> </a:t>
            </a:r>
            <a:r>
              <a:rPr lang="en-GB" altLang="x-none" sz="1600" dirty="0" err="1">
                <a:latin typeface="Courier New" charset="0"/>
              </a:rPr>
              <a:t>argc</a:t>
            </a:r>
            <a:r>
              <a:rPr lang="en-GB" altLang="x-none" sz="1600" dirty="0">
                <a:latin typeface="Courier New" charset="0"/>
              </a:rPr>
              <a:t>, char **</a:t>
            </a:r>
            <a:r>
              <a:rPr lang="en-GB" altLang="x-none" sz="1600" dirty="0" err="1">
                <a:latin typeface="Courier New" charset="0"/>
              </a:rPr>
              <a:t>argv</a:t>
            </a:r>
            <a:r>
              <a:rPr lang="en-GB" altLang="x-none" sz="1600" dirty="0">
                <a:latin typeface="Courier New" charset="0"/>
              </a:rPr>
              <a:t>) {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 err="1">
                <a:latin typeface="Courier New" charset="0"/>
              </a:rPr>
              <a:t>int</a:t>
            </a:r>
            <a:r>
              <a:rPr lang="en-GB" altLang="x-none" sz="1600" dirty="0">
                <a:latin typeface="Courier New" charset="0"/>
              </a:rPr>
              <a:t> </a:t>
            </a:r>
            <a:r>
              <a:rPr lang="en-GB" altLang="x-none" sz="1600" dirty="0" err="1">
                <a:solidFill>
                  <a:srgbClr val="993333"/>
                </a:solidFill>
                <a:latin typeface="Courier New" charset="0"/>
              </a:rPr>
              <a:t>rv</a:t>
            </a:r>
            <a:r>
              <a:rPr lang="en-GB" altLang="x-none" sz="1600" dirty="0">
                <a:latin typeface="Courier New" charset="0"/>
              </a:rPr>
              <a:t>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if (fork()) {   </a:t>
            </a:r>
            <a:r>
              <a:rPr lang="en-GB" altLang="x-none" sz="1600" i="1" dirty="0">
                <a:solidFill>
                  <a:srgbClr val="2323DC"/>
                </a:solidFill>
                <a:latin typeface="Courier New" charset="0"/>
              </a:rPr>
              <a:t>/* Parent process */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wait(&amp;</a:t>
            </a:r>
            <a:r>
              <a:rPr lang="en-GB" altLang="x-none" sz="1600" dirty="0" err="1">
                <a:latin typeface="Courier New" charset="0"/>
              </a:rPr>
              <a:t>rv</a:t>
            </a:r>
            <a:r>
              <a:rPr lang="en-GB" altLang="x-none" sz="1600" dirty="0">
                <a:latin typeface="Courier New" charset="0"/>
              </a:rPr>
              <a:t>);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} else {       </a:t>
            </a:r>
            <a:r>
              <a:rPr lang="en-GB" altLang="x-none" sz="1600" i="1" dirty="0">
                <a:solidFill>
                  <a:srgbClr val="2323DC"/>
                </a:solidFill>
                <a:latin typeface="Courier New" charset="0"/>
              </a:rPr>
              <a:t>/* Child process */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char *</a:t>
            </a:r>
            <a:r>
              <a:rPr lang="en-GB" altLang="x-none" sz="1600" dirty="0" err="1">
                <a:latin typeface="Courier New" charset="0"/>
              </a:rPr>
              <a:t>newargs</a:t>
            </a:r>
            <a:r>
              <a:rPr lang="en-GB" altLang="x-none" sz="1600" dirty="0">
                <a:latin typeface="Courier New" charset="0"/>
              </a:rPr>
              <a:t>[3];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</a:t>
            </a:r>
            <a:r>
              <a:rPr lang="en-GB" altLang="x-none" sz="1600" dirty="0" err="1">
                <a:latin typeface="Courier New" charset="0"/>
              </a:rPr>
              <a:t>printf</a:t>
            </a:r>
            <a:r>
              <a:rPr lang="en-GB" altLang="x-none" sz="1600" dirty="0">
                <a:latin typeface="Courier New" charset="0"/>
              </a:rPr>
              <a:t>(“Hello, I am the child process.\n”);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</a:t>
            </a:r>
            <a:r>
              <a:rPr lang="en-GB" altLang="x-none" sz="1600" dirty="0" err="1">
                <a:latin typeface="Courier New" charset="0"/>
              </a:rPr>
              <a:t>newargs</a:t>
            </a:r>
            <a:r>
              <a:rPr lang="en-GB" altLang="x-none" sz="1600" dirty="0">
                <a:latin typeface="Courier New" charset="0"/>
              </a:rPr>
              <a:t>[0] = “/bin/echo”;   </a:t>
            </a:r>
            <a:r>
              <a:rPr lang="en-GB" altLang="x-none" sz="1600" i="1" dirty="0">
                <a:solidFill>
                  <a:srgbClr val="2323DC"/>
                </a:solidFill>
                <a:latin typeface="Courier New" charset="0"/>
              </a:rPr>
              <a:t>/* Convention! Not required!! */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</a:t>
            </a:r>
            <a:r>
              <a:rPr lang="en-GB" altLang="x-none" sz="1600" dirty="0" err="1">
                <a:latin typeface="Courier New" charset="0"/>
              </a:rPr>
              <a:t>newargs</a:t>
            </a:r>
            <a:r>
              <a:rPr lang="en-GB" altLang="x-none" sz="1600" dirty="0">
                <a:latin typeface="Courier New" charset="0"/>
              </a:rPr>
              <a:t>[1] = “some random string”;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</a:t>
            </a:r>
            <a:r>
              <a:rPr lang="en-GB" altLang="x-none" sz="1600" dirty="0" err="1">
                <a:latin typeface="Courier New" charset="0"/>
              </a:rPr>
              <a:t>newargs</a:t>
            </a:r>
            <a:r>
              <a:rPr lang="en-GB" altLang="x-none" sz="1600" dirty="0">
                <a:latin typeface="Courier New" charset="0"/>
              </a:rPr>
              <a:t>[2] = NULL;          </a:t>
            </a:r>
            <a:r>
              <a:rPr lang="en-GB" altLang="x-none" sz="1600" i="1" dirty="0">
                <a:solidFill>
                  <a:srgbClr val="2323DC"/>
                </a:solidFill>
                <a:latin typeface="Courier New" charset="0"/>
              </a:rPr>
              <a:t>/* Indicate end of </a:t>
            </a:r>
            <a:r>
              <a:rPr lang="en-GB" altLang="x-none" sz="1600" i="1" dirty="0" err="1">
                <a:solidFill>
                  <a:srgbClr val="2323DC"/>
                </a:solidFill>
                <a:latin typeface="Courier New" charset="0"/>
              </a:rPr>
              <a:t>args</a:t>
            </a:r>
            <a:r>
              <a:rPr lang="en-GB" altLang="x-none" sz="1600" i="1" dirty="0">
                <a:solidFill>
                  <a:srgbClr val="2323DC"/>
                </a:solidFill>
                <a:latin typeface="Courier New" charset="0"/>
              </a:rPr>
              <a:t> array */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if (</a:t>
            </a:r>
            <a:r>
              <a:rPr lang="en-GB" altLang="x-none" sz="1600" dirty="0" err="1">
                <a:solidFill>
                  <a:srgbClr val="993333"/>
                </a:solidFill>
                <a:latin typeface="Courier New" charset="0"/>
              </a:rPr>
              <a:t>execv</a:t>
            </a:r>
            <a:r>
              <a:rPr lang="en-GB" altLang="x-none" sz="1600" dirty="0">
                <a:latin typeface="Courier New" charset="0"/>
              </a:rPr>
              <a:t>(“/bin/echo”, </a:t>
            </a:r>
            <a:r>
              <a:rPr lang="en-GB" altLang="x-none" sz="1600" dirty="0" err="1">
                <a:latin typeface="Courier New" charset="0"/>
              </a:rPr>
              <a:t>newargs</a:t>
            </a:r>
            <a:r>
              <a:rPr lang="en-GB" altLang="x-none" sz="1600" dirty="0">
                <a:latin typeface="Courier New" charset="0"/>
              </a:rPr>
              <a:t>)) {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    </a:t>
            </a:r>
            <a:r>
              <a:rPr lang="en-GB" altLang="x-none" sz="1600" dirty="0" err="1">
                <a:latin typeface="Courier New" charset="0"/>
              </a:rPr>
              <a:t>printf</a:t>
            </a:r>
            <a:r>
              <a:rPr lang="en-GB" altLang="x-none" sz="1600" dirty="0">
                <a:latin typeface="Courier New" charset="0"/>
              </a:rPr>
              <a:t>(“warning: </a:t>
            </a:r>
            <a:r>
              <a:rPr lang="en-GB" altLang="x-none" sz="1600" dirty="0" err="1">
                <a:latin typeface="Courier New" charset="0"/>
              </a:rPr>
              <a:t>execve</a:t>
            </a:r>
            <a:r>
              <a:rPr lang="en-GB" altLang="x-none" sz="1600" dirty="0">
                <a:latin typeface="Courier New" charset="0"/>
              </a:rPr>
              <a:t> returned an error.\n”); exit(-1);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}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</a:t>
            </a:r>
            <a:r>
              <a:rPr lang="en-GB" altLang="x-none" sz="1600" dirty="0" err="1">
                <a:latin typeface="Courier New" charset="0"/>
              </a:rPr>
              <a:t>printf</a:t>
            </a:r>
            <a:r>
              <a:rPr lang="en-GB" altLang="x-none" sz="1600" dirty="0">
                <a:latin typeface="Courier New" charset="0"/>
              </a:rPr>
              <a:t>(“Child process should never get here\n”);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    exit(42);</a:t>
            </a:r>
          </a:p>
          <a:p>
            <a:pPr marL="738188" lvl="1" indent="-28098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1600" dirty="0">
                <a:latin typeface="Courier New" charset="0"/>
              </a:rPr>
              <a:t>}</a:t>
            </a:r>
          </a:p>
          <a:p>
            <a:pPr marL="338138" indent="-338138" eaLnBrk="1">
              <a:lnSpc>
                <a:spcPct val="93000"/>
              </a:lnSpc>
              <a:buClr>
                <a:srgbClr val="000000"/>
              </a:buClr>
              <a:buSzPct val="100000"/>
              <a:buFont typeface="Arial" charset="0"/>
              <a:buNone/>
              <a:tabLst>
                <a:tab pos="338138" algn="l"/>
                <a:tab pos="504825" algn="l"/>
                <a:tab pos="962025" algn="l"/>
                <a:tab pos="1419225" algn="l"/>
                <a:tab pos="1876425" algn="l"/>
                <a:tab pos="2333625" algn="l"/>
                <a:tab pos="2790825" algn="l"/>
                <a:tab pos="3248025" algn="l"/>
                <a:tab pos="3705225" algn="l"/>
                <a:tab pos="4162425" algn="l"/>
                <a:tab pos="4619625" algn="l"/>
                <a:tab pos="5076825" algn="l"/>
                <a:tab pos="5534025" algn="l"/>
                <a:tab pos="5991225" algn="l"/>
                <a:tab pos="6448425" algn="l"/>
                <a:tab pos="6905625" algn="l"/>
                <a:tab pos="7362825" algn="l"/>
                <a:tab pos="7820025" algn="l"/>
                <a:tab pos="8277225" algn="l"/>
                <a:tab pos="8734425" algn="l"/>
                <a:tab pos="9191625" algn="l"/>
              </a:tabLst>
            </a:pPr>
            <a:r>
              <a:rPr lang="en-GB" altLang="x-none" sz="2000" dirty="0">
                <a:latin typeface="Courier New" charset="0"/>
              </a:rPr>
              <a:t>}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exec</a:t>
            </a:r>
            <a:r>
              <a:rPr lang="tr-TR" dirty="0"/>
              <a:t>() </a:t>
            </a:r>
            <a:r>
              <a:rPr lang="tr-TR" dirty="0" err="1"/>
              <a:t>function</a:t>
            </a:r>
            <a:r>
              <a:rPr lang="tr-TR" dirty="0"/>
              <a:t> </a:t>
            </a:r>
            <a:r>
              <a:rPr lang="tr-TR" dirty="0" err="1"/>
              <a:t>family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dirty="0"/>
              <a:t>The suffix’s determine the arguments</a:t>
            </a:r>
          </a:p>
          <a:p>
            <a:pPr lvl="1"/>
            <a:r>
              <a:rPr lang="en-US" b="1" dirty="0">
                <a:latin typeface="Courier" pitchFamily="2" charset="0"/>
              </a:rPr>
              <a:t>l</a:t>
            </a:r>
            <a:r>
              <a:rPr lang="en-US" b="0" dirty="0"/>
              <a:t> : arguments are passed as a list of strings to the main()</a:t>
            </a:r>
          </a:p>
          <a:p>
            <a:pPr lvl="1"/>
            <a:r>
              <a:rPr lang="en-US" b="1" dirty="0">
                <a:latin typeface="Courier" pitchFamily="2" charset="0"/>
              </a:rPr>
              <a:t>v</a:t>
            </a:r>
            <a:r>
              <a:rPr lang="en-US" b="0" dirty="0"/>
              <a:t> : arguments are passed as an array of strings to the main()</a:t>
            </a:r>
          </a:p>
          <a:p>
            <a:pPr lvl="1"/>
            <a:r>
              <a:rPr lang="en-US" b="1" dirty="0">
                <a:latin typeface="Courier" pitchFamily="2" charset="0"/>
              </a:rPr>
              <a:t>p</a:t>
            </a:r>
            <a:r>
              <a:rPr lang="en-US" b="0" dirty="0"/>
              <a:t> : path/s to search for the new running program</a:t>
            </a:r>
          </a:p>
          <a:p>
            <a:pPr lvl="1"/>
            <a:r>
              <a:rPr lang="en-US" b="1" dirty="0">
                <a:latin typeface="Courier" pitchFamily="2" charset="0"/>
              </a:rPr>
              <a:t>e</a:t>
            </a:r>
            <a:r>
              <a:rPr lang="en-US" b="0" dirty="0"/>
              <a:t> : the environment can be specified by the caller</a:t>
            </a:r>
          </a:p>
          <a:p>
            <a:r>
              <a:rPr lang="en-US" b="0" dirty="0"/>
              <a:t>One can mix them with different combinations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execl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*path, 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</a:t>
            </a:r>
            <a:r>
              <a:rPr lang="en-US" sz="1500" b="1" dirty="0" err="1">
                <a:latin typeface="Courier" pitchFamily="2" charset="0"/>
              </a:rPr>
              <a:t>arg</a:t>
            </a:r>
            <a:r>
              <a:rPr lang="en-US" sz="1500" b="1" dirty="0">
                <a:latin typeface="Courier" pitchFamily="2" charset="0"/>
              </a:rPr>
              <a:t>, ...);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execlp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*file, 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</a:t>
            </a:r>
            <a:r>
              <a:rPr lang="en-US" sz="1500" b="1" dirty="0" err="1">
                <a:latin typeface="Courier" pitchFamily="2" charset="0"/>
              </a:rPr>
              <a:t>arg</a:t>
            </a:r>
            <a:r>
              <a:rPr lang="en-US" sz="1500" b="1" dirty="0">
                <a:latin typeface="Courier" pitchFamily="2" charset="0"/>
              </a:rPr>
              <a:t>, ...);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execle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*path, 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</a:t>
            </a:r>
            <a:r>
              <a:rPr lang="en-US" sz="1500" b="1" dirty="0" err="1">
                <a:latin typeface="Courier" pitchFamily="2" charset="0"/>
              </a:rPr>
              <a:t>arg</a:t>
            </a:r>
            <a:r>
              <a:rPr lang="en-US" sz="1500" b="1" dirty="0">
                <a:latin typeface="Courier" pitchFamily="2" charset="0"/>
              </a:rPr>
              <a:t>, ..., char * 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envp</a:t>
            </a:r>
            <a:r>
              <a:rPr lang="en-US" sz="1500" b="1" dirty="0">
                <a:latin typeface="Courier" pitchFamily="2" charset="0"/>
              </a:rPr>
              <a:t>[]);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execv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*path, char *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argv</a:t>
            </a:r>
            <a:r>
              <a:rPr lang="en-US" sz="1500" b="1" dirty="0">
                <a:latin typeface="Courier" pitchFamily="2" charset="0"/>
              </a:rPr>
              <a:t>[]);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execve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*path, char *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 </a:t>
            </a:r>
            <a:r>
              <a:rPr lang="en-US" sz="1500" b="1" dirty="0" err="1">
                <a:latin typeface="Courier" pitchFamily="2" charset="0"/>
              </a:rPr>
              <a:t>argv</a:t>
            </a:r>
            <a:r>
              <a:rPr lang="en-US" sz="1500" b="1" dirty="0">
                <a:latin typeface="Courier" pitchFamily="2" charset="0"/>
              </a:rPr>
              <a:t>[], char *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 </a:t>
            </a:r>
            <a:r>
              <a:rPr lang="en-US" sz="1500" b="1" dirty="0" err="1">
                <a:latin typeface="Courier" pitchFamily="2" charset="0"/>
              </a:rPr>
              <a:t>envp</a:t>
            </a:r>
            <a:r>
              <a:rPr lang="en-US" sz="1500" b="1" dirty="0">
                <a:latin typeface="Courier" pitchFamily="2" charset="0"/>
              </a:rPr>
              <a:t>[]);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execvp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*file, char *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argv</a:t>
            </a:r>
            <a:r>
              <a:rPr lang="en-US" sz="1500" b="1" dirty="0">
                <a:latin typeface="Courier" pitchFamily="2" charset="0"/>
              </a:rPr>
              <a:t>[]);</a:t>
            </a:r>
          </a:p>
          <a:p>
            <a:pPr lvl="1"/>
            <a:r>
              <a:rPr lang="en-US" sz="1500" b="1" dirty="0" err="1">
                <a:latin typeface="Courier" pitchFamily="2" charset="0"/>
              </a:rPr>
              <a:t>int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execvpe</a:t>
            </a:r>
            <a:r>
              <a:rPr lang="en-US" sz="1500" b="1" dirty="0">
                <a:latin typeface="Courier" pitchFamily="2" charset="0"/>
              </a:rPr>
              <a:t>(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char *file, char *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argv</a:t>
            </a:r>
            <a:r>
              <a:rPr lang="en-US" sz="1500" b="1" dirty="0">
                <a:latin typeface="Courier" pitchFamily="2" charset="0"/>
              </a:rPr>
              <a:t>[], char *</a:t>
            </a:r>
            <a:r>
              <a:rPr lang="en-US" sz="1500" b="1" dirty="0" err="1">
                <a:latin typeface="Courier" pitchFamily="2" charset="0"/>
              </a:rPr>
              <a:t>const</a:t>
            </a:r>
            <a:r>
              <a:rPr lang="en-US" sz="1500" b="1" dirty="0">
                <a:latin typeface="Courier" pitchFamily="2" charset="0"/>
              </a:rPr>
              <a:t> </a:t>
            </a:r>
            <a:r>
              <a:rPr lang="en-US" sz="1500" b="1" dirty="0" err="1">
                <a:latin typeface="Courier" pitchFamily="2" charset="0"/>
              </a:rPr>
              <a:t>envp</a:t>
            </a:r>
            <a:r>
              <a:rPr lang="en-US" sz="1500" b="1" dirty="0">
                <a:latin typeface="Courier" pitchFamily="2" charset="0"/>
              </a:rPr>
              <a:t>[]);</a:t>
            </a:r>
          </a:p>
          <a:p>
            <a:r>
              <a:rPr lang="en-US" b="0" dirty="0"/>
              <a:t>The initial argument is always the name of a file to be executed.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0314140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Environment </a:t>
            </a:r>
            <a:r>
              <a:rPr lang="tr-TR" dirty="0" err="1"/>
              <a:t>variables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An </a:t>
            </a:r>
            <a:r>
              <a:rPr lang="en-US" dirty="0"/>
              <a:t>environment variable</a:t>
            </a:r>
            <a:r>
              <a:rPr lang="en-US" b="0" dirty="0"/>
              <a:t> is a </a:t>
            </a:r>
            <a:r>
              <a:rPr lang="en-US" b="0" dirty="0">
                <a:hlinkClick r:id="rId2" tooltip="Name resolution (programming languages)"/>
              </a:rPr>
              <a:t>dynamic-named</a:t>
            </a:r>
            <a:r>
              <a:rPr lang="en-US" b="0" dirty="0"/>
              <a:t> </a:t>
            </a:r>
            <a:r>
              <a:rPr lang="en-US" b="0" dirty="0">
                <a:hlinkClick r:id="rId3" tooltip="Value (computer science)"/>
              </a:rPr>
              <a:t>value</a:t>
            </a:r>
            <a:r>
              <a:rPr lang="en-US" b="0" dirty="0"/>
              <a:t> that can affect the way running </a:t>
            </a:r>
            <a:r>
              <a:rPr lang="en-US" b="0" dirty="0">
                <a:hlinkClick r:id="rId4" tooltip="Process (computing)"/>
              </a:rPr>
              <a:t>processes</a:t>
            </a:r>
            <a:r>
              <a:rPr lang="en-US" b="0" dirty="0"/>
              <a:t> will behave on a computer.</a:t>
            </a:r>
          </a:p>
          <a:p>
            <a:r>
              <a:rPr lang="en-US" b="0" dirty="0"/>
              <a:t>They are part of the environment in which a process runs. For example, </a:t>
            </a:r>
          </a:p>
          <a:p>
            <a:pPr lvl="1"/>
            <a:r>
              <a:rPr lang="en-US" b="0" dirty="0"/>
              <a:t>a running process can query the value of the TEMP environment variable to discover a suitable location to store </a:t>
            </a:r>
            <a:r>
              <a:rPr lang="en-US" b="0" dirty="0">
                <a:hlinkClick r:id="rId5" tooltip="Temporary file"/>
              </a:rPr>
              <a:t>temporary files</a:t>
            </a:r>
            <a:r>
              <a:rPr lang="en-US" b="0" dirty="0"/>
              <a:t>, </a:t>
            </a:r>
          </a:p>
          <a:p>
            <a:pPr lvl="1"/>
            <a:r>
              <a:rPr lang="en-US" b="0" dirty="0"/>
              <a:t>or the HOME or USERPROFILE variable to find the </a:t>
            </a:r>
            <a:r>
              <a:rPr lang="en-US" b="0" dirty="0">
                <a:hlinkClick r:id="rId6" tooltip="Directory structure"/>
              </a:rPr>
              <a:t>directory structure</a:t>
            </a:r>
            <a:r>
              <a:rPr lang="en-US" b="0" dirty="0"/>
              <a:t> owned by the user running the process</a:t>
            </a:r>
          </a:p>
          <a:p>
            <a:pPr lvl="1"/>
            <a:endParaRPr lang="en-US" dirty="0"/>
          </a:p>
          <a:p>
            <a:r>
              <a:rPr lang="en-US" b="0" dirty="0"/>
              <a:t>In Unix, use </a:t>
            </a:r>
            <a:r>
              <a:rPr lang="en-US" dirty="0" err="1">
                <a:latin typeface="Courier" charset="0"/>
                <a:ea typeface="Courier" charset="0"/>
                <a:cs typeface="Courier" charset="0"/>
              </a:rPr>
              <a:t>printenv</a:t>
            </a:r>
            <a:r>
              <a:rPr lang="en-US" b="0" dirty="0"/>
              <a:t> in your shell to get the full list.</a:t>
            </a:r>
          </a:p>
          <a:p>
            <a:endParaRPr lang="tr-TR" dirty="0"/>
          </a:p>
        </p:txBody>
      </p:sp>
      <p:sp>
        <p:nvSpPr>
          <p:cNvPr id="4" name="Rectangle 3"/>
          <p:cNvSpPr/>
          <p:nvPr/>
        </p:nvSpPr>
        <p:spPr>
          <a:xfrm>
            <a:off x="710111" y="6060303"/>
            <a:ext cx="7239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dirty="0">
                <a:latin typeface="Calibri" charset="0"/>
                <a:ea typeface="Calibri" charset="0"/>
                <a:cs typeface="Calibri" charset="0"/>
                <a:hlinkClick r:id="rId7"/>
              </a:rPr>
              <a:t>https://en.wikipedia.org/wiki/Environment_variable</a:t>
            </a:r>
            <a:r>
              <a:rPr lang="tr-TR" dirty="0">
                <a:latin typeface="Calibri" charset="0"/>
                <a:ea typeface="Calibri" charset="0"/>
                <a:cs typeface="Calibri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231738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96" name="Rectangle 20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Linux Process Hierarchy</a:t>
            </a:r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2895600" y="35814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Calibri" charset="0"/>
                <a:ea typeface="Calibri" charset="0"/>
                <a:cs typeface="Calibri" charset="0"/>
              </a:rPr>
              <a:t>Login shell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2895600" y="45720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alibri" charset="0"/>
                <a:ea typeface="Calibri" charset="0"/>
                <a:cs typeface="Calibri" charset="0"/>
              </a:rPr>
              <a:t>Child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838200" y="45720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alibri" charset="0"/>
                <a:ea typeface="Calibri" charset="0"/>
                <a:cs typeface="Calibri" charset="0"/>
              </a:rPr>
              <a:t>Child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3962400" y="57150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alibri" charset="0"/>
                <a:ea typeface="Calibri" charset="0"/>
                <a:cs typeface="Calibri" charset="0"/>
              </a:rPr>
              <a:t>Grandchild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1752600" y="57150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alibri" charset="0"/>
                <a:ea typeface="Calibri" charset="0"/>
                <a:cs typeface="Calibri" charset="0"/>
              </a:rPr>
              <a:t>Grandchild</a:t>
            </a:r>
          </a:p>
        </p:txBody>
      </p:sp>
      <p:sp>
        <p:nvSpPr>
          <p:cNvPr id="23561" name="Line 9"/>
          <p:cNvSpPr>
            <a:spLocks noChangeShapeType="1"/>
          </p:cNvSpPr>
          <p:nvPr/>
        </p:nvSpPr>
        <p:spPr bwMode="auto">
          <a:xfrm flipH="1">
            <a:off x="2209800" y="4038600"/>
            <a:ext cx="9906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/>
          </a:p>
        </p:txBody>
      </p:sp>
      <p:sp>
        <p:nvSpPr>
          <p:cNvPr id="23563" name="Oval 12"/>
          <p:cNvSpPr>
            <a:spLocks noChangeArrowheads="1"/>
          </p:cNvSpPr>
          <p:nvPr/>
        </p:nvSpPr>
        <p:spPr bwMode="auto">
          <a:xfrm>
            <a:off x="3657600" y="1447800"/>
            <a:ext cx="1676400" cy="5334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Courier New" charset="0"/>
              </a:rPr>
              <a:t>[0]</a:t>
            </a:r>
          </a:p>
        </p:txBody>
      </p:sp>
      <p:sp>
        <p:nvSpPr>
          <p:cNvPr id="23564" name="Line 13"/>
          <p:cNvSpPr>
            <a:spLocks noChangeShapeType="1"/>
          </p:cNvSpPr>
          <p:nvPr/>
        </p:nvSpPr>
        <p:spPr bwMode="auto">
          <a:xfrm flipH="1">
            <a:off x="4495800" y="19812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n>
                <a:solidFill>
                  <a:schemeClr val="tx1"/>
                </a:solidFill>
                <a:prstDash val="dot"/>
              </a:ln>
            </a:endParaRPr>
          </a:p>
        </p:txBody>
      </p:sp>
      <p:sp>
        <p:nvSpPr>
          <p:cNvPr id="23565" name="Line 14"/>
          <p:cNvSpPr>
            <a:spLocks noChangeShapeType="1"/>
          </p:cNvSpPr>
          <p:nvPr/>
        </p:nvSpPr>
        <p:spPr bwMode="auto">
          <a:xfrm flipH="1">
            <a:off x="4038600" y="2971800"/>
            <a:ext cx="3810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/>
          </a:p>
        </p:txBody>
      </p:sp>
      <p:sp>
        <p:nvSpPr>
          <p:cNvPr id="23566" name="Line 15"/>
          <p:cNvSpPr>
            <a:spLocks noChangeShapeType="1"/>
          </p:cNvSpPr>
          <p:nvPr/>
        </p:nvSpPr>
        <p:spPr bwMode="auto">
          <a:xfrm flipH="1">
            <a:off x="3733800" y="4114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567" name="Line 16"/>
          <p:cNvSpPr>
            <a:spLocks noChangeShapeType="1"/>
          </p:cNvSpPr>
          <p:nvPr/>
        </p:nvSpPr>
        <p:spPr bwMode="auto">
          <a:xfrm>
            <a:off x="3886200" y="5105400"/>
            <a:ext cx="9144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568" name="Line 17"/>
          <p:cNvSpPr>
            <a:spLocks noChangeShapeType="1"/>
          </p:cNvSpPr>
          <p:nvPr/>
        </p:nvSpPr>
        <p:spPr bwMode="auto">
          <a:xfrm flipH="1">
            <a:off x="2667000" y="5105400"/>
            <a:ext cx="838200" cy="6096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3569" name="Line 18"/>
          <p:cNvSpPr>
            <a:spLocks noChangeShapeType="1"/>
          </p:cNvSpPr>
          <p:nvPr/>
        </p:nvSpPr>
        <p:spPr bwMode="auto">
          <a:xfrm flipH="1">
            <a:off x="1981200" y="2819400"/>
            <a:ext cx="1752600" cy="685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/>
          </a:p>
        </p:txBody>
      </p:sp>
      <p:sp>
        <p:nvSpPr>
          <p:cNvPr id="23570" name="Oval 19"/>
          <p:cNvSpPr>
            <a:spLocks noChangeArrowheads="1"/>
          </p:cNvSpPr>
          <p:nvPr/>
        </p:nvSpPr>
        <p:spPr bwMode="auto">
          <a:xfrm>
            <a:off x="76200" y="3352800"/>
            <a:ext cx="2133600" cy="76200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tx1"/>
            </a:solidFill>
            <a:prstDash val="sysDot"/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latin typeface="Calibri" charset="0"/>
                <a:ea typeface="Calibri" charset="0"/>
                <a:cs typeface="Calibri" charset="0"/>
              </a:rPr>
              <a:t>Daemon</a:t>
            </a:r>
          </a:p>
          <a:p>
            <a:pPr algn="ctr">
              <a:lnSpc>
                <a:spcPct val="100000"/>
              </a:lnSpc>
            </a:pPr>
            <a:r>
              <a:rPr lang="en-US" sz="2000" b="1" dirty="0"/>
              <a:t>e.g. </a:t>
            </a:r>
            <a:r>
              <a:rPr lang="en-US" sz="2000" b="1" dirty="0" err="1">
                <a:latin typeface="Courier New" charset="0"/>
              </a:rPr>
              <a:t>httpd</a:t>
            </a:r>
            <a:endParaRPr lang="en-US" sz="2000" b="1" dirty="0">
              <a:latin typeface="Courier New" charset="0"/>
            </a:endParaRPr>
          </a:p>
        </p:txBody>
      </p:sp>
      <p:sp>
        <p:nvSpPr>
          <p:cNvPr id="23571" name="Oval 11"/>
          <p:cNvSpPr>
            <a:spLocks noChangeArrowheads="1"/>
          </p:cNvSpPr>
          <p:nvPr/>
        </p:nvSpPr>
        <p:spPr bwMode="auto">
          <a:xfrm>
            <a:off x="3657600" y="2438400"/>
            <a:ext cx="1676400" cy="533400"/>
          </a:xfrm>
          <a:prstGeom prst="ellipse">
            <a:avLst/>
          </a:prstGeom>
          <a:solidFill>
            <a:srgbClr val="CCFFCC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ourier New" charset="0"/>
              </a:rPr>
              <a:t>init [1]</a:t>
            </a:r>
          </a:p>
        </p:txBody>
      </p:sp>
      <p:sp>
        <p:nvSpPr>
          <p:cNvPr id="20" name="Oval 3"/>
          <p:cNvSpPr>
            <a:spLocks noChangeArrowheads="1"/>
          </p:cNvSpPr>
          <p:nvPr/>
        </p:nvSpPr>
        <p:spPr bwMode="auto">
          <a:xfrm>
            <a:off x="5638800" y="35814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alibri" charset="0"/>
                <a:ea typeface="Calibri" charset="0"/>
                <a:cs typeface="Calibri" charset="0"/>
              </a:rPr>
              <a:t>Login shell</a:t>
            </a: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4914900" y="2959100"/>
            <a:ext cx="402019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/>
          </a:p>
        </p:txBody>
      </p:sp>
      <p:sp>
        <p:nvSpPr>
          <p:cNvPr id="22" name="Oval 5"/>
          <p:cNvSpPr>
            <a:spLocks noChangeArrowheads="1"/>
          </p:cNvSpPr>
          <p:nvPr/>
        </p:nvSpPr>
        <p:spPr bwMode="auto">
          <a:xfrm>
            <a:off x="5664200" y="4572000"/>
            <a:ext cx="1676400" cy="533400"/>
          </a:xfrm>
          <a:prstGeom prst="ellipse">
            <a:avLst/>
          </a:prstGeom>
          <a:solidFill>
            <a:srgbClr val="F6F5BD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>
              <a:lnSpc>
                <a:spcPct val="100000"/>
              </a:lnSpc>
            </a:pPr>
            <a:r>
              <a:rPr lang="en-US" sz="2000" b="1">
                <a:latin typeface="Calibri" charset="0"/>
                <a:ea typeface="Calibri" charset="0"/>
                <a:cs typeface="Calibri" charset="0"/>
              </a:rPr>
              <a:t>Child</a:t>
            </a:r>
          </a:p>
        </p:txBody>
      </p:sp>
      <p:sp>
        <p:nvSpPr>
          <p:cNvPr id="23" name="Line 15"/>
          <p:cNvSpPr>
            <a:spLocks noChangeShapeType="1"/>
          </p:cNvSpPr>
          <p:nvPr/>
        </p:nvSpPr>
        <p:spPr bwMode="auto">
          <a:xfrm flipH="1">
            <a:off x="6502400" y="4114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876800" y="3276600"/>
            <a:ext cx="440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…</a:t>
            </a:r>
          </a:p>
        </p:txBody>
      </p:sp>
      <p:sp>
        <p:nvSpPr>
          <p:cNvPr id="3" name="TextBox 2"/>
          <p:cNvSpPr txBox="1"/>
          <p:nvPr/>
        </p:nvSpPr>
        <p:spPr>
          <a:xfrm rot="13380000">
            <a:off x="5216566" y="3224857"/>
            <a:ext cx="348886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…</a:t>
            </a: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 flipH="1">
            <a:off x="3581400" y="3416300"/>
            <a:ext cx="228600" cy="1651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/>
          </a:p>
        </p:txBody>
      </p:sp>
      <p:sp>
        <p:nvSpPr>
          <p:cNvPr id="29" name="TextBox 28"/>
          <p:cNvSpPr txBox="1"/>
          <p:nvPr/>
        </p:nvSpPr>
        <p:spPr>
          <a:xfrm rot="8700000" flipH="1">
            <a:off x="3807148" y="3224857"/>
            <a:ext cx="348886" cy="3657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…</a:t>
            </a:r>
          </a:p>
        </p:txBody>
      </p:sp>
      <p:sp>
        <p:nvSpPr>
          <p:cNvPr id="30" name="Line 14"/>
          <p:cNvSpPr>
            <a:spLocks noChangeShapeType="1"/>
          </p:cNvSpPr>
          <p:nvPr/>
        </p:nvSpPr>
        <p:spPr bwMode="auto">
          <a:xfrm>
            <a:off x="5562600" y="3450570"/>
            <a:ext cx="304800" cy="2098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endParaRPr lang="en-US" sz="2000">
              <a:latin typeface="Calibri" charset="0"/>
              <a:ea typeface="Calibri" charset="0"/>
              <a:cs typeface="Calibri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48400" y="5715000"/>
            <a:ext cx="279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Calibri" pitchFamily="34" charset="0"/>
              </a:rPr>
              <a:t>Note: you can view the hierarchy using the Linux </a:t>
            </a:r>
            <a:r>
              <a:rPr lang="en-US" sz="1800" b="0" dirty="0" err="1">
                <a:latin typeface="Courier New"/>
                <a:cs typeface="Courier New"/>
              </a:rPr>
              <a:t>pstree</a:t>
            </a:r>
            <a:r>
              <a:rPr lang="en-US" sz="1800" dirty="0">
                <a:latin typeface="Calibri" pitchFamily="34" charset="0"/>
              </a:rPr>
              <a:t> command</a:t>
            </a:r>
          </a:p>
        </p:txBody>
      </p:sp>
    </p:spTree>
    <p:extLst>
      <p:ext uri="{BB962C8B-B14F-4D97-AF65-F5344CB8AC3E}">
        <p14:creationId xmlns:p14="http://schemas.microsoft.com/office/powerpoint/2010/main" val="11506144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930" name="Rectangle 2"/>
          <p:cNvSpPr>
            <a:spLocks noGrp="1" noChangeArrowheads="1"/>
          </p:cNvSpPr>
          <p:nvPr>
            <p:ph type="title"/>
          </p:nvPr>
        </p:nvSpPr>
        <p:spPr>
          <a:xfrm>
            <a:off x="463778" y="493712"/>
            <a:ext cx="5384800" cy="573088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08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50950"/>
            <a:ext cx="7620000" cy="545465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Process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is an instance of program in execution 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At any given time, a system has multiple active processes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Only one can execute at a time, though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Each process appears to have total control of </a:t>
            </a:r>
            <a:br>
              <a:rPr lang="en-US" dirty="0"/>
            </a:br>
            <a:r>
              <a:rPr lang="en-US" dirty="0"/>
              <a:t>processor + private memory space</a:t>
            </a:r>
          </a:p>
          <a:p>
            <a:pPr>
              <a:lnSpc>
                <a:spcPct val="120000"/>
              </a:lnSpc>
            </a:pPr>
            <a:r>
              <a:rPr lang="en-US" dirty="0"/>
              <a:t>Spawning processes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Call to </a:t>
            </a:r>
            <a:r>
              <a:rPr lang="en-US" b="1" dirty="0">
                <a:latin typeface="Courier New" pitchFamily="49" charset="0"/>
              </a:rPr>
              <a:t>fork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One call, two returns</a:t>
            </a:r>
          </a:p>
          <a:p>
            <a:pPr>
              <a:lnSpc>
                <a:spcPct val="120000"/>
              </a:lnSpc>
            </a:pPr>
            <a:r>
              <a:rPr lang="en-US" dirty="0"/>
              <a:t>Process completion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Call </a:t>
            </a:r>
            <a:r>
              <a:rPr lang="en-US" b="1" dirty="0">
                <a:latin typeface="Courier New" pitchFamily="49" charset="0"/>
              </a:rPr>
              <a:t>exit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One call, no return</a:t>
            </a:r>
            <a:endParaRPr lang="en-US" dirty="0">
              <a:latin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/>
              <a:t>Reaping and waiting for Processes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Call </a:t>
            </a:r>
            <a:r>
              <a:rPr lang="en-US" b="1" dirty="0">
                <a:latin typeface="Courier New" pitchFamily="49" charset="0"/>
              </a:rPr>
              <a:t>wait</a:t>
            </a:r>
            <a:r>
              <a:rPr lang="en-US" dirty="0"/>
              <a:t> or </a:t>
            </a:r>
            <a:r>
              <a:rPr lang="en-US" b="1" dirty="0" err="1">
                <a:latin typeface="Courier New" pitchFamily="49" charset="0"/>
              </a:rPr>
              <a:t>waitpid</a:t>
            </a:r>
            <a:endParaRPr lang="en-US" b="1" dirty="0">
              <a:latin typeface="Courier New" pitchFamily="49" charset="0"/>
            </a:endParaRPr>
          </a:p>
          <a:p>
            <a:pPr>
              <a:lnSpc>
                <a:spcPct val="120000"/>
              </a:lnSpc>
            </a:pPr>
            <a:r>
              <a:rPr lang="en-US" dirty="0"/>
              <a:t>Loading and running Programs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Call </a:t>
            </a:r>
            <a:r>
              <a:rPr lang="en-US" b="1" dirty="0" err="1">
                <a:latin typeface="Courier New" pitchFamily="49" charset="0"/>
              </a:rPr>
              <a:t>execl</a:t>
            </a:r>
            <a:r>
              <a:rPr lang="en-US" dirty="0">
                <a:latin typeface="Courier New" pitchFamily="49" charset="0"/>
              </a:rPr>
              <a:t> </a:t>
            </a:r>
            <a:r>
              <a:rPr lang="en-US" dirty="0"/>
              <a:t>(or variant)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One call, (normally) no return</a:t>
            </a:r>
            <a:endParaRPr lang="en-US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POINTINIT" val=""/>
  <p:tag name="USEAMSFONTS" val="True"/>
  <p:tag name="EMBEDFONTS" val="False"/>
  <p:tag name="USEBOLDAMS" val="False"/>
  <p:tag name="DEFAULTDISPLAYSOURCE" val="\documentclass{slides}\pagestyle{empty}&#10;\begin{document}&#10;&#10;\end{document}&#10;"/>
  <p:tag name="TEX2PS" val="latex $(base).tex; dvips -D $(res) -E -o $(base).ps $(base).dvi"/>
  <p:tag name="EXTERNALEDITCOMMAND" val="notepad %"/>
  <p:tag name="GHOSTSCRIPTCOMMAND" val="gswin32c"/>
  <p:tag name="DEFAULTBITMAP" val="pngmono"/>
  <p:tag name="DEFAULTBLEND" val="False"/>
  <p:tag name="DEFAULTTRANSPARENT" val="False"/>
  <p:tag name="DEFAULTWORKAROUNDTRANSPARENCYBUG" val="False"/>
  <p:tag name="DEFAULTRESOLUTION" val="1200"/>
  <p:tag name="DEFAULTMAGNIFICATION" val="0.8"/>
  <p:tag name="DEFAULTFONTSIZE" val="10"/>
  <p:tag name="DEFAULTWIDTH" val="418"/>
  <p:tag name="DEFAULTHEIGHT" val="316"/>
</p:tagLst>
</file>

<file path=ppt/theme/theme1.xml><?xml version="1.0" encoding="utf-8"?>
<a:theme xmlns:a="http://schemas.openxmlformats.org/drawingml/2006/main" name="template2007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00000"/>
      </a:hlink>
      <a:folHlink>
        <a:srgbClr val="C00000"/>
      </a:folHlink>
    </a:clrScheme>
    <a:fontScheme name="Custom 1">
      <a:majorFont>
        <a:latin typeface="Arial Narrow"/>
        <a:ea typeface=""/>
        <a:cs typeface=""/>
      </a:majorFont>
      <a:minorFont>
        <a:latin typeface="Arial Narr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arrow" w="med" len="med"/>
        </a:ln>
        <a:effectLst/>
      </a:spPr>
      <a:bodyPr rtlCol="0" anchor="ctr"/>
      <a:lstStyle>
        <a:defPPr algn="ctr">
          <a:defRPr/>
        </a:defPPr>
      </a:lstStyle>
    </a:spDef>
    <a:lnDef>
      <a:spPr bwMode="auto"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none" rtlCol="0">
        <a:spAutoFit/>
      </a:bodyPr>
      <a:lstStyle>
        <a:defPPr>
          <a:defRPr sz="1800" dirty="0" smtClean="0">
            <a:latin typeface="Calibri" pitchFamily="34" charset="0"/>
          </a:defRPr>
        </a:defPPr>
      </a:lstStyle>
    </a:txDef>
  </a:objectDefaults>
  <a:extraClrSchemeLst>
    <a:extraClrScheme>
      <a:clrScheme name="class1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lass1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lass1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template2007</Template>
  <TotalTime>11076</TotalTime>
  <Words>5491</Words>
  <Application>Microsoft Macintosh PowerPoint</Application>
  <PresentationFormat>On-screen Show (4:3)</PresentationFormat>
  <Paragraphs>1052</Paragraphs>
  <Slides>51</Slides>
  <Notes>43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62" baseType="lpstr">
      <vt:lpstr>MS Gothic</vt:lpstr>
      <vt:lpstr>Arial</vt:lpstr>
      <vt:lpstr>Arial Narrow</vt:lpstr>
      <vt:lpstr>Bitstream Vera Serif</vt:lpstr>
      <vt:lpstr>Calibri</vt:lpstr>
      <vt:lpstr>Courier</vt:lpstr>
      <vt:lpstr>Courier New</vt:lpstr>
      <vt:lpstr>Times New Roman</vt:lpstr>
      <vt:lpstr>Wingdings</vt:lpstr>
      <vt:lpstr>Wingdings 2</vt:lpstr>
      <vt:lpstr>template2007</vt:lpstr>
      <vt:lpstr>Processes</vt:lpstr>
      <vt:lpstr>Processes</vt:lpstr>
      <vt:lpstr>What is a process?</vt:lpstr>
      <vt:lpstr>Process Address Space</vt:lpstr>
      <vt:lpstr>Process Address Space</vt:lpstr>
      <vt:lpstr>Execution State (context) of a Process</vt:lpstr>
      <vt:lpstr>Process State (Context) Transitions</vt:lpstr>
      <vt:lpstr>Process Control Block</vt:lpstr>
      <vt:lpstr>PowerPoint Presentation</vt:lpstr>
      <vt:lpstr>Context Switching</vt:lpstr>
      <vt:lpstr>Context Switching in Linux</vt:lpstr>
      <vt:lpstr>Context Switching in Linux</vt:lpstr>
      <vt:lpstr>Context Switching in Linux</vt:lpstr>
      <vt:lpstr>Context Switching in Linux</vt:lpstr>
      <vt:lpstr>Context Switch Overhead</vt:lpstr>
      <vt:lpstr>State Queues</vt:lpstr>
      <vt:lpstr>State Queue Transitions</vt:lpstr>
      <vt:lpstr>Concurrent Processes</vt:lpstr>
      <vt:lpstr>User View of Concurrent Processes</vt:lpstr>
      <vt:lpstr>Creating Processes</vt:lpstr>
      <vt:lpstr>Creating Processes</vt:lpstr>
      <vt:lpstr>fork Example</vt:lpstr>
      <vt:lpstr>fork Example</vt:lpstr>
      <vt:lpstr>fork Example</vt:lpstr>
      <vt:lpstr>Modeling fork with Process Graphs</vt:lpstr>
      <vt:lpstr>Process Graph Example</vt:lpstr>
      <vt:lpstr>Interpreting Process Graphs</vt:lpstr>
      <vt:lpstr>fork Example: Two consecutive forks</vt:lpstr>
      <vt:lpstr>fork Example: Nested forks in parent</vt:lpstr>
      <vt:lpstr>fork Example: Nested forks in children</vt:lpstr>
      <vt:lpstr>Why have fork() at all?</vt:lpstr>
      <vt:lpstr>What if fork’ing gets out of control?</vt:lpstr>
      <vt:lpstr>Memory concerns</vt:lpstr>
      <vt:lpstr>Terminating Processes </vt:lpstr>
      <vt:lpstr>Reaping Child Processes</vt:lpstr>
      <vt:lpstr>Zombie Example</vt:lpstr>
      <vt:lpstr>Non- terminating Child Example</vt:lpstr>
      <vt:lpstr>wait: Synchronizing with Children</vt:lpstr>
      <vt:lpstr>wait: Synchronizing with Children</vt:lpstr>
      <vt:lpstr>Process completion status</vt:lpstr>
      <vt:lpstr>wait: Synchronizing with Children</vt:lpstr>
      <vt:lpstr>Another wait Example</vt:lpstr>
      <vt:lpstr>waitpid: Waiting for a Specific Process</vt:lpstr>
      <vt:lpstr>execve: Loading and Running Programs</vt:lpstr>
      <vt:lpstr>fork() and execve()</vt:lpstr>
      <vt:lpstr>execl and exec Family</vt:lpstr>
      <vt:lpstr>exec: Using fork followed by exec</vt:lpstr>
      <vt:lpstr>exec() function family</vt:lpstr>
      <vt:lpstr>Environment variables</vt:lpstr>
      <vt:lpstr>Linux Process Hierarchy</vt:lpstr>
      <vt:lpstr>Summary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Erol Sahin</cp:lastModifiedBy>
  <cp:revision>527</cp:revision>
  <cp:lastPrinted>1999-09-20T15:19:18Z</cp:lastPrinted>
  <dcterms:created xsi:type="dcterms:W3CDTF">2013-02-26T08:07:57Z</dcterms:created>
  <dcterms:modified xsi:type="dcterms:W3CDTF">2024-03-07T07:20:11Z</dcterms:modified>
</cp:coreProperties>
</file>