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651" r:id="rId2"/>
    <p:sldId id="1647" r:id="rId3"/>
    <p:sldId id="1653" r:id="rId4"/>
    <p:sldId id="1654" r:id="rId5"/>
    <p:sldId id="1652" r:id="rId6"/>
    <p:sldId id="1656" r:id="rId7"/>
    <p:sldId id="1629" r:id="rId8"/>
    <p:sldId id="1632" r:id="rId9"/>
    <p:sldId id="1633" r:id="rId10"/>
    <p:sldId id="1634" r:id="rId11"/>
    <p:sldId id="1635" r:id="rId12"/>
    <p:sldId id="1650" r:id="rId13"/>
    <p:sldId id="1637" r:id="rId14"/>
    <p:sldId id="1636" r:id="rId15"/>
    <p:sldId id="1639" r:id="rId16"/>
  </p:sldIdLst>
  <p:sldSz cx="9144000" cy="6858000" type="screen4x3"/>
  <p:notesSz cx="7302500" cy="95869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5EE"/>
    <a:srgbClr val="DDCE9F"/>
    <a:srgbClr val="008000"/>
    <a:srgbClr val="E2AC00"/>
    <a:srgbClr val="D5F1CF"/>
    <a:srgbClr val="F1C7C7"/>
    <a:srgbClr val="F6F5BD"/>
    <a:srgbClr val="990000"/>
    <a:srgbClr val="E9E1C9"/>
    <a:srgbClr val="DED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4"/>
    <p:restoredTop sz="93355"/>
  </p:normalViewPr>
  <p:slideViewPr>
    <p:cSldViewPr snapToGrid="0">
      <p:cViewPr varScale="1">
        <p:scale>
          <a:sx n="93" d="100"/>
          <a:sy n="93" d="100"/>
        </p:scale>
        <p:origin x="5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7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 dirty="0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6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8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5877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9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9941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10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11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975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13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6733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14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8733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>
                <a:solidFill>
                  <a:srgbClr val="FFFFFF"/>
                </a:solidFill>
              </a:rPr>
              <a:t>18/02/08</a:t>
            </a:r>
          </a:p>
        </p:txBody>
      </p:sp>
      <p:sp>
        <p:nvSpPr>
          <p:cNvPr id="152579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C07E75B-BCC1-B948-A19A-DF2015AACE83}" type="slidenum">
              <a:rPr lang="en-GB" altLang="en-US" sz="1100">
                <a:solidFill>
                  <a:srgbClr val="FFFFFF"/>
                </a:solidFill>
              </a:rPr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15</a:t>
            </a:fld>
            <a:endParaRPr lang="en-GB" altLang="en-US" sz="1100">
              <a:solidFill>
                <a:srgbClr val="FFFFFF"/>
              </a:solidFill>
            </a:endParaRPr>
          </a:p>
        </p:txBody>
      </p:sp>
      <p:sp>
        <p:nvSpPr>
          <p:cNvPr id="152580" name="Text Box 1"/>
          <p:cNvSpPr txBox="1">
            <a:spLocks noChangeArrowheads="1"/>
          </p:cNvSpPr>
          <p:nvPr/>
        </p:nvSpPr>
        <p:spPr bwMode="auto">
          <a:xfrm>
            <a:off x="1150938" y="684213"/>
            <a:ext cx="4575175" cy="34321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rgbClr val="FFFFFF"/>
              </a:solidFill>
              <a:latin typeface="Bitstream Vera Serif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body"/>
          </p:nvPr>
        </p:nvSpPr>
        <p:spPr>
          <a:xfrm>
            <a:off x="688975" y="4351338"/>
            <a:ext cx="5497513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110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there are no customers to be served, the barber goes to sleep.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881" y="1509935"/>
            <a:ext cx="3736800" cy="248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33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Autofit/>
          </a:bodyPr>
          <a:lstStyle/>
          <a:p>
            <a:r>
              <a:rPr lang="en-US" altLang="en-US" sz="2200" dirty="0">
                <a:highlight>
                  <a:srgbClr val="FFFF00"/>
                </a:highlight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r>
              <a:rPr lang="en-US" altLang="en-US" sz="2200" dirty="0">
                <a:ea typeface="ＭＳ Ｐゴシック" charset="-128"/>
              </a:rPr>
              <a:t>If there are no customers to be served, the barber goes to sleep. </a:t>
            </a:r>
          </a:p>
          <a:p>
            <a:r>
              <a:rPr lang="en-US" altLang="en-US" sz="2200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r>
              <a:rPr lang="en-US" altLang="en-US" sz="2200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r>
              <a:rPr lang="en-US" altLang="en-US" sz="2200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556" y="0"/>
            <a:ext cx="1902443" cy="126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19AABB8-494F-4C4F-9D21-E8EEE62CF6A1}"/>
              </a:ext>
            </a:extLst>
          </p:cNvPr>
          <p:cNvSpPr/>
          <p:nvPr/>
        </p:nvSpPr>
        <p:spPr bwMode="auto">
          <a:xfrm>
            <a:off x="5986395" y="1133182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D4071-D8FA-45C9-BFC8-4953F0DC3412}"/>
              </a:ext>
            </a:extLst>
          </p:cNvPr>
          <p:cNvGrpSpPr/>
          <p:nvPr/>
        </p:nvGrpSpPr>
        <p:grpSpPr>
          <a:xfrm>
            <a:off x="5584591" y="2258383"/>
            <a:ext cx="2717630" cy="4001268"/>
            <a:chOff x="5584591" y="2258383"/>
            <a:chExt cx="2717630" cy="400126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4DEFDC-BF4C-446A-98E5-EE4E727D4F31}"/>
                </a:ext>
              </a:extLst>
            </p:cNvPr>
            <p:cNvCxnSpPr/>
            <p:nvPr/>
          </p:nvCxnSpPr>
          <p:spPr bwMode="auto">
            <a:xfrm>
              <a:off x="5584591" y="2258384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A288CD-8D3C-4891-B5EE-EEBD18FAEA14}"/>
                </a:ext>
              </a:extLst>
            </p:cNvPr>
            <p:cNvCxnSpPr/>
            <p:nvPr/>
          </p:nvCxnSpPr>
          <p:spPr bwMode="auto">
            <a:xfrm>
              <a:off x="8284602" y="2258383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1ADD05-02BE-46C5-A2F1-D852C35322A2}"/>
                </a:ext>
              </a:extLst>
            </p:cNvPr>
            <p:cNvCxnSpPr/>
            <p:nvPr/>
          </p:nvCxnSpPr>
          <p:spPr bwMode="auto">
            <a:xfrm flipH="1">
              <a:off x="5584591" y="6259651"/>
              <a:ext cx="2700011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9D84CE-2B06-4DD1-81E1-5132F9DB67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87049" y="2266082"/>
              <a:ext cx="191517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79A68E-5791-475F-9CB8-A08D25875CF9}"/>
                </a:ext>
              </a:extLst>
            </p:cNvPr>
            <p:cNvSpPr/>
            <p:nvPr/>
          </p:nvSpPr>
          <p:spPr bwMode="auto">
            <a:xfrm>
              <a:off x="7585900" y="299377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B4D55C-2FEB-4879-AA2C-6EEDEA131878}"/>
                </a:ext>
              </a:extLst>
            </p:cNvPr>
            <p:cNvSpPr/>
            <p:nvPr/>
          </p:nvSpPr>
          <p:spPr bwMode="auto">
            <a:xfrm>
              <a:off x="6718205" y="5185038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01EA7E-8E5A-49BF-A66B-C2F87F396B69}"/>
                </a:ext>
              </a:extLst>
            </p:cNvPr>
            <p:cNvSpPr/>
            <p:nvPr/>
          </p:nvSpPr>
          <p:spPr bwMode="auto">
            <a:xfrm>
              <a:off x="7585900" y="2376651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4EE3C3-9948-4FA3-9529-592060FE2F9A}"/>
                </a:ext>
              </a:extLst>
            </p:cNvPr>
            <p:cNvSpPr/>
            <p:nvPr/>
          </p:nvSpPr>
          <p:spPr bwMode="auto">
            <a:xfrm>
              <a:off x="7585899" y="386586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7E39F-578A-4AEA-93CB-4B52F36FC487}"/>
                </a:ext>
              </a:extLst>
            </p:cNvPr>
            <p:cNvSpPr/>
            <p:nvPr/>
          </p:nvSpPr>
          <p:spPr bwMode="auto">
            <a:xfrm>
              <a:off x="5984528" y="5301915"/>
              <a:ext cx="330005" cy="28873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5DB156-1660-40B2-B03F-969953F51373}"/>
              </a:ext>
            </a:extLst>
          </p:cNvPr>
          <p:cNvCxnSpPr>
            <a:cxnSpLocks/>
          </p:cNvCxnSpPr>
          <p:nvPr/>
        </p:nvCxnSpPr>
        <p:spPr bwMode="auto">
          <a:xfrm>
            <a:off x="7701189" y="3559431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E87F38-82CD-4DB5-B9B2-9084A333DDFE}"/>
              </a:ext>
            </a:extLst>
          </p:cNvPr>
          <p:cNvCxnSpPr>
            <a:cxnSpLocks/>
          </p:cNvCxnSpPr>
          <p:nvPr/>
        </p:nvCxnSpPr>
        <p:spPr bwMode="auto">
          <a:xfrm>
            <a:off x="8101095" y="3530105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69EEA9F-529F-4969-9D9A-229F3A21290C}"/>
              </a:ext>
            </a:extLst>
          </p:cNvPr>
          <p:cNvSpPr/>
          <p:nvPr/>
        </p:nvSpPr>
        <p:spPr>
          <a:xfrm>
            <a:off x="8261646" y="2585251"/>
            <a:ext cx="95301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14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</a:p>
          <a:p>
            <a:pPr algn="ctr"/>
            <a:r>
              <a:rPr lang="en-US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chairs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 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  <a:endParaRPr lang="en-US" sz="1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B373EF-9F96-4ACD-A270-C93A06C566A6}"/>
              </a:ext>
            </a:extLst>
          </p:cNvPr>
          <p:cNvSpPr/>
          <p:nvPr/>
        </p:nvSpPr>
        <p:spPr>
          <a:xfrm>
            <a:off x="7441571" y="5099308"/>
            <a:ext cx="8306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Barber</a:t>
            </a:r>
          </a:p>
          <a:p>
            <a:r>
              <a:rPr lang="en-US" altLang="en-US" sz="1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chair</a:t>
            </a:r>
            <a:endParaRPr lang="en-US" sz="1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469359-8BEB-4DEA-9747-591EE85D2962}"/>
              </a:ext>
            </a:extLst>
          </p:cNvPr>
          <p:cNvSpPr/>
          <p:nvPr/>
        </p:nvSpPr>
        <p:spPr>
          <a:xfrm>
            <a:off x="5789664" y="5571151"/>
            <a:ext cx="830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Barber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992D7E-8310-497E-9E87-A762CECCC952}"/>
              </a:ext>
            </a:extLst>
          </p:cNvPr>
          <p:cNvSpPr/>
          <p:nvPr/>
        </p:nvSpPr>
        <p:spPr>
          <a:xfrm>
            <a:off x="6347736" y="1460098"/>
            <a:ext cx="1193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9512968-0F17-4CE9-A12C-A9B90444A8CB}"/>
              </a:ext>
            </a:extLst>
          </p:cNvPr>
          <p:cNvSpPr/>
          <p:nvPr/>
        </p:nvSpPr>
        <p:spPr bwMode="auto">
          <a:xfrm>
            <a:off x="5772150" y="1596718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7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Autofit/>
          </a:bodyPr>
          <a:lstStyle/>
          <a:p>
            <a:r>
              <a:rPr lang="en-US" altLang="en-US" sz="2200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r>
              <a:rPr lang="en-US" altLang="en-US" sz="2200" dirty="0">
                <a:highlight>
                  <a:srgbClr val="FFFF00"/>
                </a:highlight>
                <a:ea typeface="ＭＳ Ｐゴシック" charset="-128"/>
              </a:rPr>
              <a:t>If there are no customers to be served, the barber goes to sleep. </a:t>
            </a:r>
          </a:p>
          <a:p>
            <a:r>
              <a:rPr lang="en-US" altLang="en-US" sz="2200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r>
              <a:rPr lang="en-US" altLang="en-US" sz="2200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r>
              <a:rPr lang="en-US" altLang="en-US" sz="2200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556" y="0"/>
            <a:ext cx="1902443" cy="126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19AABB8-494F-4C4F-9D21-E8EEE62CF6A1}"/>
              </a:ext>
            </a:extLst>
          </p:cNvPr>
          <p:cNvSpPr/>
          <p:nvPr/>
        </p:nvSpPr>
        <p:spPr bwMode="auto">
          <a:xfrm>
            <a:off x="5986395" y="1133182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D4071-D8FA-45C9-BFC8-4953F0DC3412}"/>
              </a:ext>
            </a:extLst>
          </p:cNvPr>
          <p:cNvGrpSpPr/>
          <p:nvPr/>
        </p:nvGrpSpPr>
        <p:grpSpPr>
          <a:xfrm>
            <a:off x="5584591" y="2258383"/>
            <a:ext cx="2717630" cy="4001268"/>
            <a:chOff x="5584591" y="2258383"/>
            <a:chExt cx="2717630" cy="400126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4DEFDC-BF4C-446A-98E5-EE4E727D4F31}"/>
                </a:ext>
              </a:extLst>
            </p:cNvPr>
            <p:cNvCxnSpPr/>
            <p:nvPr/>
          </p:nvCxnSpPr>
          <p:spPr bwMode="auto">
            <a:xfrm>
              <a:off x="5584591" y="2258384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A288CD-8D3C-4891-B5EE-EEBD18FAEA14}"/>
                </a:ext>
              </a:extLst>
            </p:cNvPr>
            <p:cNvCxnSpPr/>
            <p:nvPr/>
          </p:nvCxnSpPr>
          <p:spPr bwMode="auto">
            <a:xfrm>
              <a:off x="8284602" y="2258383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1ADD05-02BE-46C5-A2F1-D852C35322A2}"/>
                </a:ext>
              </a:extLst>
            </p:cNvPr>
            <p:cNvCxnSpPr/>
            <p:nvPr/>
          </p:nvCxnSpPr>
          <p:spPr bwMode="auto">
            <a:xfrm flipH="1">
              <a:off x="5584591" y="6259651"/>
              <a:ext cx="2700011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9D84CE-2B06-4DD1-81E1-5132F9DB67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87049" y="2266082"/>
              <a:ext cx="191517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79A68E-5791-475F-9CB8-A08D25875CF9}"/>
                </a:ext>
              </a:extLst>
            </p:cNvPr>
            <p:cNvSpPr/>
            <p:nvPr/>
          </p:nvSpPr>
          <p:spPr bwMode="auto">
            <a:xfrm>
              <a:off x="7585900" y="299377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B4D55C-2FEB-4879-AA2C-6EEDEA131878}"/>
                </a:ext>
              </a:extLst>
            </p:cNvPr>
            <p:cNvSpPr/>
            <p:nvPr/>
          </p:nvSpPr>
          <p:spPr bwMode="auto">
            <a:xfrm>
              <a:off x="6718205" y="5185038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01EA7E-8E5A-49BF-A66B-C2F87F396B69}"/>
                </a:ext>
              </a:extLst>
            </p:cNvPr>
            <p:cNvSpPr/>
            <p:nvPr/>
          </p:nvSpPr>
          <p:spPr bwMode="auto">
            <a:xfrm>
              <a:off x="7585900" y="2376651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4EE3C3-9948-4FA3-9529-592060FE2F9A}"/>
                </a:ext>
              </a:extLst>
            </p:cNvPr>
            <p:cNvSpPr/>
            <p:nvPr/>
          </p:nvSpPr>
          <p:spPr bwMode="auto">
            <a:xfrm>
              <a:off x="7585899" y="386586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7E39F-578A-4AEA-93CB-4B52F36FC487}"/>
                </a:ext>
              </a:extLst>
            </p:cNvPr>
            <p:cNvSpPr/>
            <p:nvPr/>
          </p:nvSpPr>
          <p:spPr bwMode="auto">
            <a:xfrm>
              <a:off x="5984528" y="5301915"/>
              <a:ext cx="330005" cy="28873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5DB156-1660-40B2-B03F-969953F51373}"/>
              </a:ext>
            </a:extLst>
          </p:cNvPr>
          <p:cNvCxnSpPr>
            <a:cxnSpLocks/>
          </p:cNvCxnSpPr>
          <p:nvPr/>
        </p:nvCxnSpPr>
        <p:spPr bwMode="auto">
          <a:xfrm>
            <a:off x="7701189" y="3559431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E87F38-82CD-4DB5-B9B2-9084A333DDFE}"/>
              </a:ext>
            </a:extLst>
          </p:cNvPr>
          <p:cNvCxnSpPr>
            <a:cxnSpLocks/>
          </p:cNvCxnSpPr>
          <p:nvPr/>
        </p:nvCxnSpPr>
        <p:spPr bwMode="auto">
          <a:xfrm>
            <a:off x="8101095" y="3530105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A0DA21-2C13-441B-BDDF-6867EBEFB75C}"/>
              </a:ext>
            </a:extLst>
          </p:cNvPr>
          <p:cNvGrpSpPr/>
          <p:nvPr/>
        </p:nvGrpSpPr>
        <p:grpSpPr>
          <a:xfrm>
            <a:off x="6125713" y="4951718"/>
            <a:ext cx="423550" cy="471468"/>
            <a:chOff x="3241053" y="5605394"/>
            <a:chExt cx="423550" cy="47146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D6D34A-7652-4D2B-A27D-3E0D6A6EFAF8}"/>
                </a:ext>
              </a:extLst>
            </p:cNvPr>
            <p:cNvSpPr/>
            <p:nvPr/>
          </p:nvSpPr>
          <p:spPr>
            <a:xfrm>
              <a:off x="3241053" y="570753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8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486D52-DB14-47CA-9105-30E4D93AEB1E}"/>
                </a:ext>
              </a:extLst>
            </p:cNvPr>
            <p:cNvSpPr/>
            <p:nvPr/>
          </p:nvSpPr>
          <p:spPr>
            <a:xfrm>
              <a:off x="3343013" y="5660232"/>
              <a:ext cx="2712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4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82D4910-3456-41F7-86F4-045E063F136A}"/>
                </a:ext>
              </a:extLst>
            </p:cNvPr>
            <p:cNvSpPr/>
            <p:nvPr/>
          </p:nvSpPr>
          <p:spPr>
            <a:xfrm>
              <a:off x="3425435" y="5605394"/>
              <a:ext cx="23916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900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44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Autofit/>
          </a:bodyPr>
          <a:lstStyle/>
          <a:p>
            <a:r>
              <a:rPr lang="en-US" altLang="en-US" sz="2200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r>
              <a:rPr lang="en-US" altLang="en-US" sz="2200" dirty="0">
                <a:ea typeface="ＭＳ Ｐゴシック" charset="-128"/>
              </a:rPr>
              <a:t>If there are no customers to be served, the barber goes to sleep. </a:t>
            </a:r>
          </a:p>
          <a:p>
            <a:r>
              <a:rPr lang="en-US" altLang="en-US" sz="2200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r>
              <a:rPr lang="en-US" altLang="en-US" sz="2200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r>
              <a:rPr lang="en-US" altLang="en-US" sz="2200" dirty="0">
                <a:highlight>
                  <a:srgbClr val="FFFF00"/>
                </a:highlight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556" y="0"/>
            <a:ext cx="1902443" cy="126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19AABB8-494F-4C4F-9D21-E8EEE62CF6A1}"/>
              </a:ext>
            </a:extLst>
          </p:cNvPr>
          <p:cNvSpPr/>
          <p:nvPr/>
        </p:nvSpPr>
        <p:spPr bwMode="auto">
          <a:xfrm>
            <a:off x="6917239" y="5315980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D4071-D8FA-45C9-BFC8-4953F0DC3412}"/>
              </a:ext>
            </a:extLst>
          </p:cNvPr>
          <p:cNvGrpSpPr/>
          <p:nvPr/>
        </p:nvGrpSpPr>
        <p:grpSpPr>
          <a:xfrm>
            <a:off x="5584591" y="2258383"/>
            <a:ext cx="2717630" cy="4001268"/>
            <a:chOff x="5584591" y="2258383"/>
            <a:chExt cx="2717630" cy="400126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4DEFDC-BF4C-446A-98E5-EE4E727D4F31}"/>
                </a:ext>
              </a:extLst>
            </p:cNvPr>
            <p:cNvCxnSpPr/>
            <p:nvPr/>
          </p:nvCxnSpPr>
          <p:spPr bwMode="auto">
            <a:xfrm>
              <a:off x="5584591" y="2258384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A288CD-8D3C-4891-B5EE-EEBD18FAEA14}"/>
                </a:ext>
              </a:extLst>
            </p:cNvPr>
            <p:cNvCxnSpPr/>
            <p:nvPr/>
          </p:nvCxnSpPr>
          <p:spPr bwMode="auto">
            <a:xfrm>
              <a:off x="8284602" y="2258383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1ADD05-02BE-46C5-A2F1-D852C35322A2}"/>
                </a:ext>
              </a:extLst>
            </p:cNvPr>
            <p:cNvCxnSpPr/>
            <p:nvPr/>
          </p:nvCxnSpPr>
          <p:spPr bwMode="auto">
            <a:xfrm flipH="1">
              <a:off x="5584591" y="6259651"/>
              <a:ext cx="2700011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9D84CE-2B06-4DD1-81E1-5132F9DB67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87049" y="2266082"/>
              <a:ext cx="191517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79A68E-5791-475F-9CB8-A08D25875CF9}"/>
                </a:ext>
              </a:extLst>
            </p:cNvPr>
            <p:cNvSpPr/>
            <p:nvPr/>
          </p:nvSpPr>
          <p:spPr bwMode="auto">
            <a:xfrm>
              <a:off x="7585900" y="299377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B4D55C-2FEB-4879-AA2C-6EEDEA131878}"/>
                </a:ext>
              </a:extLst>
            </p:cNvPr>
            <p:cNvSpPr/>
            <p:nvPr/>
          </p:nvSpPr>
          <p:spPr bwMode="auto">
            <a:xfrm>
              <a:off x="6718205" y="5185038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01EA7E-8E5A-49BF-A66B-C2F87F396B69}"/>
                </a:ext>
              </a:extLst>
            </p:cNvPr>
            <p:cNvSpPr/>
            <p:nvPr/>
          </p:nvSpPr>
          <p:spPr bwMode="auto">
            <a:xfrm>
              <a:off x="7585900" y="2376651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4EE3C3-9948-4FA3-9529-592060FE2F9A}"/>
                </a:ext>
              </a:extLst>
            </p:cNvPr>
            <p:cNvSpPr/>
            <p:nvPr/>
          </p:nvSpPr>
          <p:spPr bwMode="auto">
            <a:xfrm>
              <a:off x="7585899" y="386586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7E39F-578A-4AEA-93CB-4B52F36FC487}"/>
                </a:ext>
              </a:extLst>
            </p:cNvPr>
            <p:cNvSpPr/>
            <p:nvPr/>
          </p:nvSpPr>
          <p:spPr bwMode="auto">
            <a:xfrm>
              <a:off x="5984528" y="5301915"/>
              <a:ext cx="330005" cy="28873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5DB156-1660-40B2-B03F-969953F51373}"/>
              </a:ext>
            </a:extLst>
          </p:cNvPr>
          <p:cNvCxnSpPr>
            <a:cxnSpLocks/>
          </p:cNvCxnSpPr>
          <p:nvPr/>
        </p:nvCxnSpPr>
        <p:spPr bwMode="auto">
          <a:xfrm>
            <a:off x="7701189" y="3559431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E87F38-82CD-4DB5-B9B2-9084A333DDFE}"/>
              </a:ext>
            </a:extLst>
          </p:cNvPr>
          <p:cNvCxnSpPr>
            <a:cxnSpLocks/>
          </p:cNvCxnSpPr>
          <p:nvPr/>
        </p:nvCxnSpPr>
        <p:spPr bwMode="auto">
          <a:xfrm>
            <a:off x="8101095" y="3530105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Arrow: Curved Right 26">
            <a:extLst>
              <a:ext uri="{FF2B5EF4-FFF2-40B4-BE49-F238E27FC236}">
                <a16:creationId xmlns:a16="http://schemas.microsoft.com/office/drawing/2014/main" id="{A00784E0-C5E3-45E3-B318-5E8AB81435CA}"/>
              </a:ext>
            </a:extLst>
          </p:cNvPr>
          <p:cNvSpPr/>
          <p:nvPr/>
        </p:nvSpPr>
        <p:spPr bwMode="auto">
          <a:xfrm>
            <a:off x="6073904" y="1744165"/>
            <a:ext cx="603868" cy="3544197"/>
          </a:xfrm>
          <a:prstGeom prst="curvedRightArrow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ightning Bolt 27">
            <a:extLst>
              <a:ext uri="{FF2B5EF4-FFF2-40B4-BE49-F238E27FC236}">
                <a16:creationId xmlns:a16="http://schemas.microsoft.com/office/drawing/2014/main" id="{829C2ADA-B207-49EB-ABAC-1512A361A9B7}"/>
              </a:ext>
            </a:extLst>
          </p:cNvPr>
          <p:cNvSpPr/>
          <p:nvPr/>
        </p:nvSpPr>
        <p:spPr bwMode="auto">
          <a:xfrm flipH="1">
            <a:off x="6149530" y="4908884"/>
            <a:ext cx="187958" cy="393030"/>
          </a:xfrm>
          <a:prstGeom prst="lightningBolt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there are no customers to be served, the barber goes to sleep.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highlight>
                  <a:srgbClr val="FFFF00"/>
                </a:highlight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556" y="0"/>
            <a:ext cx="1902443" cy="126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19AABB8-494F-4C4F-9D21-E8EEE62CF6A1}"/>
              </a:ext>
            </a:extLst>
          </p:cNvPr>
          <p:cNvSpPr/>
          <p:nvPr/>
        </p:nvSpPr>
        <p:spPr bwMode="auto">
          <a:xfrm>
            <a:off x="6840818" y="5301914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D4071-D8FA-45C9-BFC8-4953F0DC3412}"/>
              </a:ext>
            </a:extLst>
          </p:cNvPr>
          <p:cNvGrpSpPr/>
          <p:nvPr/>
        </p:nvGrpSpPr>
        <p:grpSpPr>
          <a:xfrm>
            <a:off x="5584591" y="2258383"/>
            <a:ext cx="2717630" cy="4001268"/>
            <a:chOff x="5584591" y="2258383"/>
            <a:chExt cx="2717630" cy="400126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4DEFDC-BF4C-446A-98E5-EE4E727D4F31}"/>
                </a:ext>
              </a:extLst>
            </p:cNvPr>
            <p:cNvCxnSpPr/>
            <p:nvPr/>
          </p:nvCxnSpPr>
          <p:spPr bwMode="auto">
            <a:xfrm>
              <a:off x="5584591" y="2258384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A288CD-8D3C-4891-B5EE-EEBD18FAEA14}"/>
                </a:ext>
              </a:extLst>
            </p:cNvPr>
            <p:cNvCxnSpPr/>
            <p:nvPr/>
          </p:nvCxnSpPr>
          <p:spPr bwMode="auto">
            <a:xfrm>
              <a:off x="8284602" y="2258383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1ADD05-02BE-46C5-A2F1-D852C35322A2}"/>
                </a:ext>
              </a:extLst>
            </p:cNvPr>
            <p:cNvCxnSpPr/>
            <p:nvPr/>
          </p:nvCxnSpPr>
          <p:spPr bwMode="auto">
            <a:xfrm flipH="1">
              <a:off x="5584591" y="6259651"/>
              <a:ext cx="2700011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9D84CE-2B06-4DD1-81E1-5132F9DB67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87049" y="2266082"/>
              <a:ext cx="191517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79A68E-5791-475F-9CB8-A08D25875CF9}"/>
                </a:ext>
              </a:extLst>
            </p:cNvPr>
            <p:cNvSpPr/>
            <p:nvPr/>
          </p:nvSpPr>
          <p:spPr bwMode="auto">
            <a:xfrm>
              <a:off x="7585900" y="299377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B4D55C-2FEB-4879-AA2C-6EEDEA131878}"/>
                </a:ext>
              </a:extLst>
            </p:cNvPr>
            <p:cNvSpPr/>
            <p:nvPr/>
          </p:nvSpPr>
          <p:spPr bwMode="auto">
            <a:xfrm>
              <a:off x="6718205" y="5185038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01EA7E-8E5A-49BF-A66B-C2F87F396B69}"/>
                </a:ext>
              </a:extLst>
            </p:cNvPr>
            <p:cNvSpPr/>
            <p:nvPr/>
          </p:nvSpPr>
          <p:spPr bwMode="auto">
            <a:xfrm>
              <a:off x="7585900" y="2376651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4EE3C3-9948-4FA3-9529-592060FE2F9A}"/>
                </a:ext>
              </a:extLst>
            </p:cNvPr>
            <p:cNvSpPr/>
            <p:nvPr/>
          </p:nvSpPr>
          <p:spPr bwMode="auto">
            <a:xfrm>
              <a:off x="7585899" y="386586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7E39F-578A-4AEA-93CB-4B52F36FC487}"/>
                </a:ext>
              </a:extLst>
            </p:cNvPr>
            <p:cNvSpPr/>
            <p:nvPr/>
          </p:nvSpPr>
          <p:spPr bwMode="auto">
            <a:xfrm>
              <a:off x="5984528" y="5301915"/>
              <a:ext cx="330005" cy="28873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5DB156-1660-40B2-B03F-969953F51373}"/>
              </a:ext>
            </a:extLst>
          </p:cNvPr>
          <p:cNvCxnSpPr>
            <a:cxnSpLocks/>
          </p:cNvCxnSpPr>
          <p:nvPr/>
        </p:nvCxnSpPr>
        <p:spPr bwMode="auto">
          <a:xfrm>
            <a:off x="7701189" y="3559431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E87F38-82CD-4DB5-B9B2-9084A333DDFE}"/>
              </a:ext>
            </a:extLst>
          </p:cNvPr>
          <p:cNvCxnSpPr>
            <a:cxnSpLocks/>
          </p:cNvCxnSpPr>
          <p:nvPr/>
        </p:nvCxnSpPr>
        <p:spPr bwMode="auto">
          <a:xfrm>
            <a:off x="8101095" y="3530105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B7088E0-0B7E-423F-92C8-5F160A51266A}"/>
              </a:ext>
            </a:extLst>
          </p:cNvPr>
          <p:cNvGrpSpPr/>
          <p:nvPr/>
        </p:nvGrpSpPr>
        <p:grpSpPr>
          <a:xfrm>
            <a:off x="7764353" y="2102819"/>
            <a:ext cx="568780" cy="699270"/>
            <a:chOff x="7764353" y="2102819"/>
            <a:chExt cx="568780" cy="6992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206897-8F08-49D1-A47E-127379CCA2B8}"/>
                </a:ext>
              </a:extLst>
            </p:cNvPr>
            <p:cNvSpPr/>
            <p:nvPr/>
          </p:nvSpPr>
          <p:spPr bwMode="auto">
            <a:xfrm>
              <a:off x="7764353" y="2513352"/>
              <a:ext cx="330005" cy="288737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B58666D-85D4-4032-8CF7-4B70FABE34DD}"/>
                </a:ext>
              </a:extLst>
            </p:cNvPr>
            <p:cNvGrpSpPr/>
            <p:nvPr/>
          </p:nvGrpSpPr>
          <p:grpSpPr>
            <a:xfrm>
              <a:off x="7909583" y="2102819"/>
              <a:ext cx="423550" cy="471468"/>
              <a:chOff x="3241053" y="5605394"/>
              <a:chExt cx="423550" cy="47146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7A2464F-F5AD-498D-8452-183B76BA55D8}"/>
                  </a:ext>
                </a:extLst>
              </p:cNvPr>
              <p:cNvSpPr/>
              <p:nvPr/>
            </p:nvSpPr>
            <p:spPr>
              <a:xfrm>
                <a:off x="3241053" y="5707530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951DB1A-7246-4966-9C15-307E51C53B9D}"/>
                  </a:ext>
                </a:extLst>
              </p:cNvPr>
              <p:cNvSpPr/>
              <p:nvPr/>
            </p:nvSpPr>
            <p:spPr>
              <a:xfrm>
                <a:off x="3343013" y="5660232"/>
                <a:ext cx="2712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B1B643F-3CA7-46EB-8C52-FDE7245BB128}"/>
                  </a:ext>
                </a:extLst>
              </p:cNvPr>
              <p:cNvSpPr/>
              <p:nvPr/>
            </p:nvSpPr>
            <p:spPr>
              <a:xfrm>
                <a:off x="3425435" y="5605394"/>
                <a:ext cx="23916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9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E2B366-81AC-4763-82E3-061362B95B9F}"/>
              </a:ext>
            </a:extLst>
          </p:cNvPr>
          <p:cNvGrpSpPr/>
          <p:nvPr/>
        </p:nvGrpSpPr>
        <p:grpSpPr>
          <a:xfrm>
            <a:off x="7816705" y="2697111"/>
            <a:ext cx="568780" cy="699270"/>
            <a:chOff x="7764353" y="2102819"/>
            <a:chExt cx="568780" cy="69927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A5A46A7-DF36-44B9-A1C4-5554D7AC2210}"/>
                </a:ext>
              </a:extLst>
            </p:cNvPr>
            <p:cNvSpPr/>
            <p:nvPr/>
          </p:nvSpPr>
          <p:spPr bwMode="auto">
            <a:xfrm>
              <a:off x="7764353" y="2513352"/>
              <a:ext cx="330005" cy="288737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4062B8-E8E7-41CA-A413-DE18D33E8577}"/>
                </a:ext>
              </a:extLst>
            </p:cNvPr>
            <p:cNvGrpSpPr/>
            <p:nvPr/>
          </p:nvGrpSpPr>
          <p:grpSpPr>
            <a:xfrm>
              <a:off x="7909583" y="2102819"/>
              <a:ext cx="423550" cy="471468"/>
              <a:chOff x="3241053" y="5605394"/>
              <a:chExt cx="423550" cy="471468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4F71DF-319A-4802-AE1D-2F933F9692CD}"/>
                  </a:ext>
                </a:extLst>
              </p:cNvPr>
              <p:cNvSpPr/>
              <p:nvPr/>
            </p:nvSpPr>
            <p:spPr>
              <a:xfrm>
                <a:off x="3241053" y="5707530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C7AF3-FB9B-4721-93B4-042BBA09409F}"/>
                  </a:ext>
                </a:extLst>
              </p:cNvPr>
              <p:cNvSpPr/>
              <p:nvPr/>
            </p:nvSpPr>
            <p:spPr>
              <a:xfrm>
                <a:off x="3343013" y="5660232"/>
                <a:ext cx="2712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075807-F3C3-4428-AC71-55D193E55F24}"/>
                  </a:ext>
                </a:extLst>
              </p:cNvPr>
              <p:cNvSpPr/>
              <p:nvPr/>
            </p:nvSpPr>
            <p:spPr>
              <a:xfrm>
                <a:off x="3425435" y="5605394"/>
                <a:ext cx="23916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9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</p:grpSp>
      </p:grpSp>
      <p:sp>
        <p:nvSpPr>
          <p:cNvPr id="10" name="Arrow: Bent 9">
            <a:extLst>
              <a:ext uri="{FF2B5EF4-FFF2-40B4-BE49-F238E27FC236}">
                <a16:creationId xmlns:a16="http://schemas.microsoft.com/office/drawing/2014/main" id="{B52D1E99-473F-41CE-8F25-3F890FB07D3E}"/>
              </a:ext>
            </a:extLst>
          </p:cNvPr>
          <p:cNvSpPr/>
          <p:nvPr/>
        </p:nvSpPr>
        <p:spPr bwMode="auto">
          <a:xfrm flipV="1">
            <a:off x="5916773" y="2048810"/>
            <a:ext cx="1548663" cy="713151"/>
          </a:xfrm>
          <a:prstGeom prst="bentArrow">
            <a:avLst>
              <a:gd name="adj1" fmla="val 10539"/>
              <a:gd name="adj2" fmla="val 25000"/>
              <a:gd name="adj3" fmla="val 25000"/>
              <a:gd name="adj4" fmla="val 43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32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there are no customers to be served, the barber goes to sleep.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highlight>
                  <a:srgbClr val="FFFF00"/>
                </a:highlight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556" y="0"/>
            <a:ext cx="1902443" cy="126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19AABB8-494F-4C4F-9D21-E8EEE62CF6A1}"/>
              </a:ext>
            </a:extLst>
          </p:cNvPr>
          <p:cNvSpPr/>
          <p:nvPr/>
        </p:nvSpPr>
        <p:spPr bwMode="auto">
          <a:xfrm>
            <a:off x="6840818" y="5301914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9D4071-D8FA-45C9-BFC8-4953F0DC3412}"/>
              </a:ext>
            </a:extLst>
          </p:cNvPr>
          <p:cNvGrpSpPr/>
          <p:nvPr/>
        </p:nvGrpSpPr>
        <p:grpSpPr>
          <a:xfrm>
            <a:off x="5584591" y="2258383"/>
            <a:ext cx="2717630" cy="4001268"/>
            <a:chOff x="5584591" y="2258383"/>
            <a:chExt cx="2717630" cy="400126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4DEFDC-BF4C-446A-98E5-EE4E727D4F31}"/>
                </a:ext>
              </a:extLst>
            </p:cNvPr>
            <p:cNvCxnSpPr/>
            <p:nvPr/>
          </p:nvCxnSpPr>
          <p:spPr bwMode="auto">
            <a:xfrm>
              <a:off x="5584591" y="2258384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A288CD-8D3C-4891-B5EE-EEBD18FAEA14}"/>
                </a:ext>
              </a:extLst>
            </p:cNvPr>
            <p:cNvCxnSpPr/>
            <p:nvPr/>
          </p:nvCxnSpPr>
          <p:spPr bwMode="auto">
            <a:xfrm>
              <a:off x="8284602" y="2258383"/>
              <a:ext cx="0" cy="400126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1ADD05-02BE-46C5-A2F1-D852C35322A2}"/>
                </a:ext>
              </a:extLst>
            </p:cNvPr>
            <p:cNvCxnSpPr/>
            <p:nvPr/>
          </p:nvCxnSpPr>
          <p:spPr bwMode="auto">
            <a:xfrm flipH="1">
              <a:off x="5584591" y="6259651"/>
              <a:ext cx="2700011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C9D84CE-2B06-4DD1-81E1-5132F9DB67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87049" y="2266082"/>
              <a:ext cx="191517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B79A68E-5791-475F-9CB8-A08D25875CF9}"/>
                </a:ext>
              </a:extLst>
            </p:cNvPr>
            <p:cNvSpPr/>
            <p:nvPr/>
          </p:nvSpPr>
          <p:spPr bwMode="auto">
            <a:xfrm>
              <a:off x="7585900" y="299377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EB4D55C-2FEB-4879-AA2C-6EEDEA131878}"/>
                </a:ext>
              </a:extLst>
            </p:cNvPr>
            <p:cNvSpPr/>
            <p:nvPr/>
          </p:nvSpPr>
          <p:spPr bwMode="auto">
            <a:xfrm>
              <a:off x="6718205" y="5185038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C01EA7E-8E5A-49BF-A66B-C2F87F396B69}"/>
                </a:ext>
              </a:extLst>
            </p:cNvPr>
            <p:cNvSpPr/>
            <p:nvPr/>
          </p:nvSpPr>
          <p:spPr bwMode="auto">
            <a:xfrm>
              <a:off x="7585900" y="2376651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4EE3C3-9948-4FA3-9529-592060FE2F9A}"/>
                </a:ext>
              </a:extLst>
            </p:cNvPr>
            <p:cNvSpPr/>
            <p:nvPr/>
          </p:nvSpPr>
          <p:spPr bwMode="auto">
            <a:xfrm>
              <a:off x="7585899" y="3865862"/>
              <a:ext cx="675747" cy="522492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7E39F-578A-4AEA-93CB-4B52F36FC487}"/>
                </a:ext>
              </a:extLst>
            </p:cNvPr>
            <p:cNvSpPr/>
            <p:nvPr/>
          </p:nvSpPr>
          <p:spPr bwMode="auto">
            <a:xfrm>
              <a:off x="5984528" y="5301915"/>
              <a:ext cx="330005" cy="288737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5DB156-1660-40B2-B03F-969953F51373}"/>
              </a:ext>
            </a:extLst>
          </p:cNvPr>
          <p:cNvCxnSpPr>
            <a:cxnSpLocks/>
          </p:cNvCxnSpPr>
          <p:nvPr/>
        </p:nvCxnSpPr>
        <p:spPr bwMode="auto">
          <a:xfrm>
            <a:off x="7701189" y="3559431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E87F38-82CD-4DB5-B9B2-9084A333DDFE}"/>
              </a:ext>
            </a:extLst>
          </p:cNvPr>
          <p:cNvCxnSpPr>
            <a:cxnSpLocks/>
          </p:cNvCxnSpPr>
          <p:nvPr/>
        </p:nvCxnSpPr>
        <p:spPr bwMode="auto">
          <a:xfrm>
            <a:off x="8101095" y="3530105"/>
            <a:ext cx="1" cy="2632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B7088E0-0B7E-423F-92C8-5F160A51266A}"/>
              </a:ext>
            </a:extLst>
          </p:cNvPr>
          <p:cNvGrpSpPr/>
          <p:nvPr/>
        </p:nvGrpSpPr>
        <p:grpSpPr>
          <a:xfrm>
            <a:off x="7764353" y="2102819"/>
            <a:ext cx="568780" cy="699270"/>
            <a:chOff x="7764353" y="2102819"/>
            <a:chExt cx="568780" cy="6992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206897-8F08-49D1-A47E-127379CCA2B8}"/>
                </a:ext>
              </a:extLst>
            </p:cNvPr>
            <p:cNvSpPr/>
            <p:nvPr/>
          </p:nvSpPr>
          <p:spPr bwMode="auto">
            <a:xfrm>
              <a:off x="7764353" y="2513352"/>
              <a:ext cx="330005" cy="288737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B58666D-85D4-4032-8CF7-4B70FABE34DD}"/>
                </a:ext>
              </a:extLst>
            </p:cNvPr>
            <p:cNvGrpSpPr/>
            <p:nvPr/>
          </p:nvGrpSpPr>
          <p:grpSpPr>
            <a:xfrm>
              <a:off x="7909583" y="2102819"/>
              <a:ext cx="423550" cy="471468"/>
              <a:chOff x="3241053" y="5605394"/>
              <a:chExt cx="423550" cy="47146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7A2464F-F5AD-498D-8452-183B76BA55D8}"/>
                  </a:ext>
                </a:extLst>
              </p:cNvPr>
              <p:cNvSpPr/>
              <p:nvPr/>
            </p:nvSpPr>
            <p:spPr>
              <a:xfrm>
                <a:off x="3241053" y="5707530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951DB1A-7246-4966-9C15-307E51C53B9D}"/>
                  </a:ext>
                </a:extLst>
              </p:cNvPr>
              <p:cNvSpPr/>
              <p:nvPr/>
            </p:nvSpPr>
            <p:spPr>
              <a:xfrm>
                <a:off x="3343013" y="5660232"/>
                <a:ext cx="2712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B1B643F-3CA7-46EB-8C52-FDE7245BB128}"/>
                  </a:ext>
                </a:extLst>
              </p:cNvPr>
              <p:cNvSpPr/>
              <p:nvPr/>
            </p:nvSpPr>
            <p:spPr>
              <a:xfrm>
                <a:off x="3425435" y="5605394"/>
                <a:ext cx="23916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9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E2B366-81AC-4763-82E3-061362B95B9F}"/>
              </a:ext>
            </a:extLst>
          </p:cNvPr>
          <p:cNvGrpSpPr/>
          <p:nvPr/>
        </p:nvGrpSpPr>
        <p:grpSpPr>
          <a:xfrm>
            <a:off x="7816705" y="2697111"/>
            <a:ext cx="568780" cy="699270"/>
            <a:chOff x="7764353" y="2102819"/>
            <a:chExt cx="568780" cy="69927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A5A46A7-DF36-44B9-A1C4-5554D7AC2210}"/>
                </a:ext>
              </a:extLst>
            </p:cNvPr>
            <p:cNvSpPr/>
            <p:nvPr/>
          </p:nvSpPr>
          <p:spPr bwMode="auto">
            <a:xfrm>
              <a:off x="7764353" y="2513352"/>
              <a:ext cx="330005" cy="288737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4062B8-E8E7-41CA-A413-DE18D33E8577}"/>
                </a:ext>
              </a:extLst>
            </p:cNvPr>
            <p:cNvGrpSpPr/>
            <p:nvPr/>
          </p:nvGrpSpPr>
          <p:grpSpPr>
            <a:xfrm>
              <a:off x="7909583" y="2102819"/>
              <a:ext cx="423550" cy="471468"/>
              <a:chOff x="3241053" y="5605394"/>
              <a:chExt cx="423550" cy="471468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4F71DF-319A-4802-AE1D-2F933F9692CD}"/>
                  </a:ext>
                </a:extLst>
              </p:cNvPr>
              <p:cNvSpPr/>
              <p:nvPr/>
            </p:nvSpPr>
            <p:spPr>
              <a:xfrm>
                <a:off x="3241053" y="5707530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8AC7AF3-FB9B-4721-93B4-042BBA09409F}"/>
                  </a:ext>
                </a:extLst>
              </p:cNvPr>
              <p:cNvSpPr/>
              <p:nvPr/>
            </p:nvSpPr>
            <p:spPr>
              <a:xfrm>
                <a:off x="3343013" y="5660232"/>
                <a:ext cx="2712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075807-F3C3-4428-AC71-55D193E55F24}"/>
                  </a:ext>
                </a:extLst>
              </p:cNvPr>
              <p:cNvSpPr/>
              <p:nvPr/>
            </p:nvSpPr>
            <p:spPr>
              <a:xfrm>
                <a:off x="3425435" y="5605394"/>
                <a:ext cx="23916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9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BD93F0-E27C-46F0-9653-A431CF03D3B6}"/>
              </a:ext>
            </a:extLst>
          </p:cNvPr>
          <p:cNvGrpSpPr/>
          <p:nvPr/>
        </p:nvGrpSpPr>
        <p:grpSpPr>
          <a:xfrm>
            <a:off x="7825182" y="3568142"/>
            <a:ext cx="568780" cy="699270"/>
            <a:chOff x="7764353" y="2102819"/>
            <a:chExt cx="568780" cy="69927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44A34D3-CA7F-4BC0-B790-81A89C78C767}"/>
                </a:ext>
              </a:extLst>
            </p:cNvPr>
            <p:cNvSpPr/>
            <p:nvPr/>
          </p:nvSpPr>
          <p:spPr bwMode="auto">
            <a:xfrm>
              <a:off x="7764353" y="2513352"/>
              <a:ext cx="330005" cy="288737"/>
            </a:xfrm>
            <a:prstGeom prst="ellipse">
              <a:avLst/>
            </a:prstGeom>
            <a:solidFill>
              <a:srgbClr val="0080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FD8B94-854C-4747-8E15-B977DF287364}"/>
                </a:ext>
              </a:extLst>
            </p:cNvPr>
            <p:cNvGrpSpPr/>
            <p:nvPr/>
          </p:nvGrpSpPr>
          <p:grpSpPr>
            <a:xfrm>
              <a:off x="7909583" y="2102819"/>
              <a:ext cx="423550" cy="471468"/>
              <a:chOff x="3241053" y="5605394"/>
              <a:chExt cx="423550" cy="471468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1B7E770-6E45-4E69-BA6F-A0CB864799FA}"/>
                  </a:ext>
                </a:extLst>
              </p:cNvPr>
              <p:cNvSpPr/>
              <p:nvPr/>
            </p:nvSpPr>
            <p:spPr>
              <a:xfrm>
                <a:off x="3241053" y="5707530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8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C6728D-7A2F-437E-8815-8B9F98F440C8}"/>
                  </a:ext>
                </a:extLst>
              </p:cNvPr>
              <p:cNvSpPr/>
              <p:nvPr/>
            </p:nvSpPr>
            <p:spPr>
              <a:xfrm>
                <a:off x="3343013" y="5660232"/>
                <a:ext cx="2712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14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8FFE6BC-89F2-452D-BF9E-667F9D8DAC25}"/>
                  </a:ext>
                </a:extLst>
              </p:cNvPr>
              <p:cNvSpPr/>
              <p:nvPr/>
            </p:nvSpPr>
            <p:spPr>
              <a:xfrm>
                <a:off x="3425435" y="5605394"/>
                <a:ext cx="239168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9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</a:p>
            </p:txBody>
          </p:sp>
        </p:grp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167C85D-6FD6-4308-9163-A06AAF0D0ECB}"/>
              </a:ext>
            </a:extLst>
          </p:cNvPr>
          <p:cNvSpPr/>
          <p:nvPr/>
        </p:nvSpPr>
        <p:spPr bwMode="auto">
          <a:xfrm>
            <a:off x="5652709" y="1782689"/>
            <a:ext cx="330005" cy="288737"/>
          </a:xfrm>
          <a:prstGeom prst="ellipse">
            <a:avLst/>
          </a:prstGeom>
          <a:solidFill>
            <a:srgbClr val="008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0CE78D49-10B7-4BC9-95AA-CF3FB44FBD30}"/>
              </a:ext>
            </a:extLst>
          </p:cNvPr>
          <p:cNvSpPr/>
          <p:nvPr/>
        </p:nvSpPr>
        <p:spPr bwMode="auto">
          <a:xfrm>
            <a:off x="5884134" y="2157657"/>
            <a:ext cx="471997" cy="355693"/>
          </a:xfrm>
          <a:prstGeom prst="curvedUpArrow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n>
                <a:solidFill>
                  <a:srgbClr val="008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4580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92093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931569"/>
            <a:ext cx="4078080" cy="1881854"/>
            <a:chOff x="743007" y="2043436"/>
            <a:chExt cx="4078080" cy="1881854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1606406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barberThread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while(TRUE){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 err="1">
                  <a:latin typeface="Courier New" charset="0"/>
                </a:rPr>
                <a:t>cutHair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4350236"/>
            <a:ext cx="4078080" cy="2507764"/>
          </a:xfrm>
        </p:spPr>
        <p:txBody>
          <a:bodyPr/>
          <a:lstStyle/>
          <a:p>
            <a:r>
              <a:rPr lang="en-US" sz="1400" b="0" dirty="0"/>
              <a:t>If there are no customers to be served, the barber goes to sleep. </a:t>
            </a:r>
          </a:p>
          <a:p>
            <a:r>
              <a:rPr lang="en-US" sz="1400" b="0" dirty="0"/>
              <a:t>If a customer enters the barber shop and all chairs are occupied, then the customer leaves the shop. </a:t>
            </a:r>
          </a:p>
          <a:p>
            <a:r>
              <a:rPr lang="en-US" sz="1400" b="0" dirty="0"/>
              <a:t>If the barber is busy, but chairs are available, then the customer sits in one of the free chairs. </a:t>
            </a:r>
          </a:p>
          <a:p>
            <a:r>
              <a:rPr lang="en-US" sz="1400" b="0" dirty="0"/>
              <a:t>If the barber is asleep, the customer wakes up the barber.</a:t>
            </a:r>
          </a:p>
          <a:p>
            <a:r>
              <a:rPr lang="en-US" sz="1400" b="0" dirty="0"/>
              <a:t>Protect waiting counter against race conditions.</a:t>
            </a:r>
          </a:p>
          <a:p>
            <a:endParaRPr lang="en-US" sz="1400" b="0" dirty="0"/>
          </a:p>
          <a:p>
            <a:pPr marL="0" indent="0">
              <a:buNone/>
            </a:pPr>
            <a:endParaRPr lang="en-US" sz="1400" b="0" dirty="0"/>
          </a:p>
        </p:txBody>
      </p:sp>
      <p:grpSp>
        <p:nvGrpSpPr>
          <p:cNvPr id="10" name="Group 9"/>
          <p:cNvGrpSpPr/>
          <p:nvPr/>
        </p:nvGrpSpPr>
        <p:grpSpPr>
          <a:xfrm>
            <a:off x="4078080" y="1949941"/>
            <a:ext cx="4783818" cy="4602992"/>
            <a:chOff x="743006" y="2073327"/>
            <a:chExt cx="4078081" cy="3750638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3505081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43006" y="2073327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20316" y="581867"/>
            <a:ext cx="9023684" cy="133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N        // number of chairs in the shop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customer;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(customers, 0); // number of waiting customers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barber;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(barber, 0);   // number of waiting barbers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; 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, 1);    // for mutual exclusion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       //customers who are sitting in chairs</a:t>
            </a:r>
          </a:p>
        </p:txBody>
      </p:sp>
    </p:spTree>
    <p:extLst>
      <p:ext uri="{BB962C8B-B14F-4D97-AF65-F5344CB8AC3E}">
        <p14:creationId xmlns:p14="http://schemas.microsoft.com/office/powerpoint/2010/main" val="35709848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92093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931569"/>
            <a:ext cx="4078080" cy="1881854"/>
            <a:chOff x="743007" y="2043436"/>
            <a:chExt cx="4078080" cy="1881854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1606406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barberThread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while(TRUE){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wait(customers);</a:t>
              </a: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 err="1">
                  <a:latin typeface="Courier New" charset="0"/>
                </a:rPr>
                <a:t>cutHair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0316" y="581867"/>
            <a:ext cx="9023684" cy="133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N        // number of chairs in the shop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customers;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(customers, 0); // number of waiting customers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barber;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(barber, 0);   // number of waiting barbers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; 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, 1);    // for mutual exclusion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       //customers who are sitting in chairs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78080" y="1949941"/>
            <a:ext cx="4796774" cy="4602992"/>
            <a:chOff x="743006" y="2073327"/>
            <a:chExt cx="4078081" cy="3750638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3505081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43006" y="2073327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0" y="4350236"/>
            <a:ext cx="4078080" cy="250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b="0" kern="0" dirty="0">
                <a:solidFill>
                  <a:srgbClr val="FF0000"/>
                </a:solidFill>
              </a:rPr>
              <a:t>If there are no customers to be served, the barber goes to sleep</a:t>
            </a:r>
            <a:r>
              <a:rPr lang="en-US" sz="1400" b="0" kern="0" dirty="0"/>
              <a:t>. </a:t>
            </a:r>
          </a:p>
          <a:p>
            <a:r>
              <a:rPr lang="en-US" sz="1400" b="0" kern="0" dirty="0"/>
              <a:t>If a customer enters the barber shop and all chairs are occupied, then the customer leaves the shop. </a:t>
            </a:r>
          </a:p>
          <a:p>
            <a:r>
              <a:rPr lang="en-US" sz="1400" b="0" kern="0" dirty="0"/>
              <a:t>If the barber is busy, but chairs are available, then the customer sits in one of the free chairs. </a:t>
            </a:r>
          </a:p>
          <a:p>
            <a:r>
              <a:rPr lang="en-US" sz="1400" b="0" kern="0" dirty="0"/>
              <a:t>If the barber is asleep, the customer wakes up the barber.</a:t>
            </a:r>
          </a:p>
          <a:p>
            <a:r>
              <a:rPr lang="en-US" sz="1400" b="0" kern="0" dirty="0"/>
              <a:t>Protect waiting counter against race conditions.</a:t>
            </a:r>
          </a:p>
          <a:p>
            <a:endParaRPr lang="en-US" sz="1400" b="0" kern="0" dirty="0"/>
          </a:p>
          <a:p>
            <a:pPr marL="0" indent="0">
              <a:buFont typeface="Wingdings 2" pitchFamily="18" charset="2"/>
              <a:buNone/>
            </a:pPr>
            <a:endParaRPr lang="en-US" sz="1400" b="0" kern="0" dirty="0"/>
          </a:p>
        </p:txBody>
      </p:sp>
    </p:spTree>
    <p:extLst>
      <p:ext uri="{BB962C8B-B14F-4D97-AF65-F5344CB8AC3E}">
        <p14:creationId xmlns:p14="http://schemas.microsoft.com/office/powerpoint/2010/main" val="24207772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92093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931569"/>
            <a:ext cx="4078080" cy="1881854"/>
            <a:chOff x="743007" y="2043436"/>
            <a:chExt cx="4078080" cy="1881854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1606406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barberThread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while(TRUE){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wait(customers);</a:t>
              </a: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 err="1">
                  <a:latin typeface="Courier New" charset="0"/>
                </a:rPr>
                <a:t>cutHair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0316" y="581867"/>
            <a:ext cx="9023684" cy="133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N        // number of chairs in the shop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customers;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(customers, 0); // number of waiting customers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barber;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(barber, 0);   // number of waiting barbers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; 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, 1);    // for mutual exclusion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       //customers who are sitting in chairs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78080" y="1949941"/>
            <a:ext cx="4796774" cy="4602992"/>
            <a:chOff x="743006" y="2073327"/>
            <a:chExt cx="4078081" cy="3750638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3505081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signal(customers);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43006" y="2073327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0" y="4350236"/>
            <a:ext cx="4078080" cy="250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b="0" kern="0" dirty="0">
                <a:solidFill>
                  <a:srgbClr val="FF0000"/>
                </a:solidFill>
              </a:rPr>
              <a:t>If there are no customers to be served, the barber goes to sleep</a:t>
            </a:r>
            <a:r>
              <a:rPr lang="en-US" sz="1400" b="0" kern="0" dirty="0"/>
              <a:t>. </a:t>
            </a:r>
          </a:p>
          <a:p>
            <a:r>
              <a:rPr lang="en-US" sz="1400" b="0" kern="0" dirty="0"/>
              <a:t>If a customer enters the barber shop and all chairs are occupied, then the customer leaves the shop. </a:t>
            </a:r>
          </a:p>
          <a:p>
            <a:r>
              <a:rPr lang="en-US" sz="1400" b="0" kern="0" dirty="0"/>
              <a:t>If the barber is busy, but chairs are available, then the customer sits in one of the free chairs. </a:t>
            </a:r>
          </a:p>
          <a:p>
            <a:r>
              <a:rPr lang="en-US" sz="1400" b="0" kern="0" dirty="0">
                <a:solidFill>
                  <a:srgbClr val="FF0000"/>
                </a:solidFill>
              </a:rPr>
              <a:t>If the barber is asleep, the customer wakes up the barber.</a:t>
            </a:r>
          </a:p>
          <a:p>
            <a:r>
              <a:rPr lang="en-US" sz="1400" b="0" kern="0" dirty="0"/>
              <a:t>Protect waiting counter against race conditions.</a:t>
            </a:r>
          </a:p>
          <a:p>
            <a:endParaRPr lang="en-US" sz="1400" b="0" kern="0" dirty="0">
              <a:solidFill>
                <a:srgbClr val="FF0000"/>
              </a:solidFill>
            </a:endParaRPr>
          </a:p>
          <a:p>
            <a:pPr marL="0" indent="0">
              <a:buFont typeface="Wingdings 2" pitchFamily="18" charset="2"/>
              <a:buNone/>
            </a:pPr>
            <a:endParaRPr lang="en-US" sz="1400" b="0" kern="0" dirty="0"/>
          </a:p>
        </p:txBody>
      </p:sp>
    </p:spTree>
    <p:extLst>
      <p:ext uri="{BB962C8B-B14F-4D97-AF65-F5344CB8AC3E}">
        <p14:creationId xmlns:p14="http://schemas.microsoft.com/office/powerpoint/2010/main" val="33571764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92093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931569"/>
            <a:ext cx="4078080" cy="1881854"/>
            <a:chOff x="743007" y="2043436"/>
            <a:chExt cx="4078080" cy="1881854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1606406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barberThread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while(TRUE){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FF0000"/>
                  </a:solidFill>
                  <a:latin typeface="Courier New" charset="0"/>
                </a:rPr>
                <a:t>		signal(barber);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wait(customers);</a:t>
              </a: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 err="1">
                  <a:latin typeface="Courier New" charset="0"/>
                </a:rPr>
                <a:t>cutHair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0316" y="581867"/>
            <a:ext cx="9023684" cy="133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N        // number of chairs in the shop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customers;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(customers, 0); // number of waiting customers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barber;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(barber, 0);   // number of waiting barbers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; 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, 1);    // for mutual exclusion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       //customers who are sitting in chairs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78080" y="1949941"/>
            <a:ext cx="4796774" cy="4602992"/>
            <a:chOff x="743006" y="2073327"/>
            <a:chExt cx="4078081" cy="3750638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3505081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if (waiting &lt; CHAIRS){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	waiting++;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signal(customers);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FF0000"/>
                  </a:solidFill>
                  <a:latin typeface="Courier New" charset="0"/>
                </a:rPr>
                <a:t>			wait(barber);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solidFill>
                  <a:srgbClr val="FF0000"/>
                </a:solidFill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waiting--;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}else{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	exit();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}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43006" y="2073327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0" y="4350236"/>
            <a:ext cx="4078080" cy="250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b="0" kern="0" dirty="0">
                <a:solidFill>
                  <a:srgbClr val="FF0000"/>
                </a:solidFill>
              </a:rPr>
              <a:t>If there are no customers to be served, the barber goes to sleep</a:t>
            </a:r>
            <a:r>
              <a:rPr lang="en-US" sz="1400" b="0" kern="0" dirty="0"/>
              <a:t>. </a:t>
            </a:r>
          </a:p>
          <a:p>
            <a:r>
              <a:rPr lang="en-US" sz="1400" b="0" kern="0" dirty="0"/>
              <a:t>If a customer enters the barber shop and all chairs are occupied, then the customer leaves the shop. </a:t>
            </a:r>
          </a:p>
          <a:p>
            <a:r>
              <a:rPr lang="en-US" sz="1400" b="0" kern="0" dirty="0"/>
              <a:t>If the barber is busy, but chairs are available, then the customer sits in one of the free chairs. </a:t>
            </a:r>
          </a:p>
          <a:p>
            <a:r>
              <a:rPr lang="en-US" sz="1400" b="0" kern="0" dirty="0">
                <a:solidFill>
                  <a:srgbClr val="FF0000"/>
                </a:solidFill>
              </a:rPr>
              <a:t>If the barber is asleep, the customer wakes up the barber.</a:t>
            </a:r>
          </a:p>
          <a:p>
            <a:r>
              <a:rPr lang="en-US" sz="1400" b="0" kern="0" dirty="0"/>
              <a:t>Protect waiting counter against race conditions.</a:t>
            </a:r>
          </a:p>
          <a:p>
            <a:pPr marL="0" indent="0">
              <a:buFont typeface="Wingdings 2" pitchFamily="18" charset="2"/>
              <a:buNone/>
            </a:pPr>
            <a:endParaRPr lang="en-US" sz="1400" b="0" kern="0" dirty="0"/>
          </a:p>
        </p:txBody>
      </p:sp>
    </p:spTree>
    <p:extLst>
      <p:ext uri="{BB962C8B-B14F-4D97-AF65-F5344CB8AC3E}">
        <p14:creationId xmlns:p14="http://schemas.microsoft.com/office/powerpoint/2010/main" val="1951697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264316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1931569"/>
            <a:ext cx="4078080" cy="1881854"/>
            <a:chOff x="743007" y="2043436"/>
            <a:chExt cx="4078080" cy="1881854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1606406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barberThread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while(TRUE){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FF0000"/>
                  </a:solidFill>
                  <a:latin typeface="Courier New" charset="0"/>
                </a:rPr>
                <a:t>		signal(barber);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wait(customers);</a:t>
              </a: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 err="1">
                  <a:latin typeface="Courier New" charset="0"/>
                </a:rPr>
                <a:t>cutHair</a:t>
              </a:r>
              <a:r>
                <a:rPr lang="en-GB" altLang="en-US" sz="1451" dirty="0"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0316" y="581867"/>
            <a:ext cx="9023684" cy="1337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N        // number of chairs in the shop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customers;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(customers, 0); // number of waiting customers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barber;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(barber, 0);   // number of waiting barbers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semaphore 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;    </a:t>
            </a:r>
            <a:r>
              <a:rPr lang="en-US" altLang="en-US" sz="1451" dirty="0" err="1">
                <a:latin typeface="Courier New" charset="0"/>
              </a:rPr>
              <a:t>init</a:t>
            </a:r>
            <a:r>
              <a:rPr lang="en-US" altLang="en-US" sz="1451" dirty="0">
                <a:latin typeface="Courier New" charset="0"/>
              </a:rPr>
              <a:t>(</a:t>
            </a:r>
            <a:r>
              <a:rPr lang="en-US" altLang="en-US" sz="1451" dirty="0" err="1">
                <a:latin typeface="Courier New" charset="0"/>
              </a:rPr>
              <a:t>mutex</a:t>
            </a:r>
            <a:r>
              <a:rPr lang="en-US" altLang="en-US" sz="1451" dirty="0">
                <a:latin typeface="Courier New" charset="0"/>
              </a:rPr>
              <a:t>, 1);    // for mutual exclusion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       //customers who are sitting in chairs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78080" y="1949941"/>
            <a:ext cx="4796774" cy="4602992"/>
            <a:chOff x="743006" y="2073327"/>
            <a:chExt cx="4078081" cy="3750638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743007" y="2318884"/>
              <a:ext cx="4078080" cy="3505081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B0F0"/>
                  </a:solidFill>
                  <a:latin typeface="Courier New" charset="0"/>
                </a:rPr>
                <a:t>		wait(mutex);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if (waiting &lt; CHAIRS){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	waiting++;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signal(customers);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B0F0"/>
                  </a:solidFill>
                  <a:latin typeface="Courier New" charset="0"/>
                </a:rPr>
                <a:t>			signal(mutex)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FF0000"/>
                  </a:solidFill>
                  <a:latin typeface="Courier New" charset="0"/>
                </a:rPr>
                <a:t>			wait(barber);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B0F0"/>
                  </a:solidFill>
                  <a:latin typeface="Courier New" charset="0"/>
                </a:rPr>
                <a:t>			wait(mutex);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	waiting--;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B0F0"/>
                  </a:solidFill>
                  <a:latin typeface="Courier New" charset="0"/>
                </a:rPr>
                <a:t>			signal(mutex);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solidFill>
                    <a:srgbClr val="008000"/>
                  </a:solidFill>
                  <a:latin typeface="Courier New" charset="0"/>
                </a:rPr>
                <a:t>getHairCut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	}else{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rgbClr val="00B0F0"/>
                  </a:solidFill>
                  <a:latin typeface="Courier New" charset="0"/>
                </a:rPr>
                <a:t>			signal(mutex);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exit();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rgbClr val="008000"/>
                  </a:solidFill>
                  <a:latin typeface="Courier New" charset="0"/>
                </a:rPr>
                <a:t>	}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43006" y="2073327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0" y="4350236"/>
            <a:ext cx="4078080" cy="250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b="0" kern="0" dirty="0"/>
              <a:t>If there are no customers to be served, the barber goes to sleep. </a:t>
            </a:r>
          </a:p>
          <a:p>
            <a:r>
              <a:rPr lang="en-US" sz="1400" b="0" kern="0" dirty="0"/>
              <a:t>If a customer enters the barber shop and all chairs are occupied, then the customer leaves the shop. </a:t>
            </a:r>
          </a:p>
          <a:p>
            <a:r>
              <a:rPr lang="en-US" sz="1400" b="0" kern="0" dirty="0"/>
              <a:t>If the barber is busy, but chairs are available, then the customer sits in one of the free chairs. </a:t>
            </a:r>
          </a:p>
          <a:p>
            <a:r>
              <a:rPr lang="en-US" sz="1400" b="0" kern="0" dirty="0"/>
              <a:t>If the barber is asleep, the customer wakes up the barber.</a:t>
            </a:r>
          </a:p>
          <a:p>
            <a:r>
              <a:rPr lang="en-US" sz="1400" b="0" kern="0" dirty="0">
                <a:solidFill>
                  <a:srgbClr val="FF0000"/>
                </a:solidFill>
              </a:rPr>
              <a:t>Protect waiting counter against race conditions.</a:t>
            </a:r>
          </a:p>
          <a:p>
            <a:pPr marL="0" indent="0">
              <a:buFont typeface="Wingdings 2" pitchFamily="18" charset="2"/>
              <a:buNone/>
            </a:pPr>
            <a:endParaRPr lang="en-US" sz="1400" b="0" kern="0" dirty="0"/>
          </a:p>
        </p:txBody>
      </p:sp>
    </p:spTree>
    <p:extLst>
      <p:ext uri="{BB962C8B-B14F-4D97-AF65-F5344CB8AC3E}">
        <p14:creationId xmlns:p14="http://schemas.microsoft.com/office/powerpoint/2010/main" val="2373312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Checking your code</a:t>
            </a:r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B: Does the Barber sleep when there are no customers.</a:t>
            </a:r>
          </a:p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BC: Does the first customer wake up the sleeping barber and have his haircut.</a:t>
            </a:r>
          </a:p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BCC: Does the second customer waits for the barber while he is giving a haircut to the first customer.</a:t>
            </a:r>
          </a:p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BCCCCCCC: Does the 7</a:t>
            </a:r>
            <a:r>
              <a:rPr lang="en-US" altLang="en-US" baseline="30000" dirty="0">
                <a:ea typeface="ＭＳ Ｐゴシック" charset="-128"/>
              </a:rPr>
              <a:t>th</a:t>
            </a:r>
            <a:r>
              <a:rPr lang="en-US" altLang="en-US" dirty="0">
                <a:ea typeface="ＭＳ Ｐゴシック" charset="-128"/>
              </a:rPr>
              <a:t> customer (first  customer having a haircut, the next 5 customers waiting), exits without getting a haircut?</a:t>
            </a:r>
          </a:p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BCCCCC: Does the barber wake up a waiting customer after finishing the haircut of the first customer?</a:t>
            </a:r>
          </a:p>
          <a:p>
            <a:pPr marL="553681" indent="-457200">
              <a:buSzPct val="100000"/>
              <a:buFont typeface="+mj-lt"/>
              <a:buAutoNum type="arabicPeriod"/>
            </a:pPr>
            <a:endParaRPr lang="en-US" altLang="en-US" dirty="0">
              <a:ea typeface="ＭＳ Ｐゴシック" charset="-128"/>
            </a:endParaRPr>
          </a:p>
          <a:p>
            <a:pPr marL="553681" indent="-457200">
              <a:buSzPct val="100000"/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Finally, is the solution efficient? Sending more notify signals than needed, or using more variables is not good practice.</a:t>
            </a:r>
          </a:p>
        </p:txBody>
      </p:sp>
    </p:spTree>
    <p:extLst>
      <p:ext uri="{BB962C8B-B14F-4D97-AF65-F5344CB8AC3E}">
        <p14:creationId xmlns:p14="http://schemas.microsoft.com/office/powerpoint/2010/main" val="1391373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-180133"/>
            <a:ext cx="9264316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 – Mesa monitors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270" y="372294"/>
            <a:ext cx="9023684" cy="396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no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5 // number of chairs in the shop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monitor </a:t>
            </a:r>
            <a:r>
              <a:rPr lang="en-US" altLang="en-US" sz="1451" dirty="0" err="1">
                <a:latin typeface="Courier New" charset="0"/>
              </a:rPr>
              <a:t>BarberShop</a:t>
            </a:r>
            <a:r>
              <a:rPr lang="en-US" altLang="en-US" sz="1451" dirty="0">
                <a:latin typeface="Courier New" charset="0"/>
              </a:rPr>
              <a:t>{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  condition </a:t>
            </a:r>
            <a:r>
              <a:rPr lang="en-US" altLang="en-US" sz="1451" dirty="0" err="1">
                <a:latin typeface="Courier New" charset="0"/>
              </a:rPr>
              <a:t>waitingForCustomers</a:t>
            </a:r>
            <a:r>
              <a:rPr lang="en-US" altLang="en-US" sz="1451" dirty="0">
                <a:latin typeface="Courier New" charset="0"/>
              </a:rPr>
              <a:t>, </a:t>
            </a:r>
            <a:r>
              <a:rPr lang="en-US" altLang="en-US" sz="1451" dirty="0" err="1">
                <a:latin typeface="Courier New" charset="0"/>
              </a:rPr>
              <a:t>waitingForBarbers</a:t>
            </a:r>
            <a:r>
              <a:rPr lang="en-US" altLang="en-US" sz="1451" dirty="0">
                <a:latin typeface="Courier New" charset="0"/>
              </a:rPr>
              <a:t>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  </a:t>
            </a: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// number of waiting customers in chairs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}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75959" y="2631983"/>
            <a:ext cx="8625155" cy="1349156"/>
          </a:xfrm>
          <a:prstGeom prst="rect">
            <a:avLst/>
          </a:prstGeom>
          <a:solidFill>
            <a:srgbClr val="FF0000">
              <a:alpha val="20000"/>
            </a:srgb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void customer(){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….		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</a:t>
            </a:r>
            <a:r>
              <a:rPr lang="en-GB" altLang="en-US" sz="1451" dirty="0" err="1">
                <a:latin typeface="Courier New" charset="0"/>
              </a:rPr>
              <a:t>getHairCut</a:t>
            </a:r>
            <a:r>
              <a:rPr lang="en-GB" altLang="en-US" sz="1451" dirty="0">
                <a:latin typeface="Courier New" charset="0"/>
              </a:rPr>
              <a:t>();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….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}		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8036A471-EC4F-8345-9DA7-CAEA65C9D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0" y="4226018"/>
            <a:ext cx="9023684" cy="2154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void </a:t>
            </a:r>
            <a:r>
              <a:rPr lang="en-US" altLang="en-US" sz="1451" dirty="0" err="1">
                <a:latin typeface="Courier New" charset="0"/>
              </a:rPr>
              <a:t>barberThread</a:t>
            </a:r>
            <a:r>
              <a:rPr lang="en-US" altLang="en-US" sz="1451" dirty="0">
                <a:latin typeface="Courier New" charset="0"/>
              </a:rPr>
              <a:t>(){     </a:t>
            </a:r>
            <a:r>
              <a:rPr lang="en-US" altLang="en-US" sz="1451" dirty="0">
                <a:solidFill>
                  <a:srgbClr val="FF0000"/>
                </a:solidFill>
                <a:latin typeface="Courier New" charset="0"/>
              </a:rPr>
              <a:t>// Only one instance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while(1){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	</a:t>
            </a:r>
            <a:r>
              <a:rPr lang="en-US" altLang="en-US" sz="1451" dirty="0" err="1">
                <a:latin typeface="Courier New" charset="0"/>
              </a:rPr>
              <a:t>BarberShop.barber</a:t>
            </a:r>
            <a:r>
              <a:rPr lang="en-US" altLang="en-US" sz="1451" dirty="0">
                <a:latin typeface="Courier New" charset="0"/>
              </a:rPr>
              <a:t>();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	</a:t>
            </a:r>
            <a:r>
              <a:rPr lang="en-GB" altLang="en-US" sz="1451" dirty="0">
                <a:latin typeface="Courier New" charset="0"/>
              </a:rPr>
              <a:t> </a:t>
            </a:r>
            <a:r>
              <a:rPr lang="en-GB" altLang="en-US" sz="1451" dirty="0" err="1">
                <a:latin typeface="Courier New" charset="0"/>
              </a:rPr>
              <a:t>cutHair</a:t>
            </a:r>
            <a:r>
              <a:rPr lang="en-GB" altLang="en-US" sz="1451" dirty="0">
                <a:latin typeface="Courier New" charset="0"/>
              </a:rPr>
              <a:t>();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}</a:t>
            </a:r>
            <a:r>
              <a:rPr lang="en-US" altLang="en-US" sz="1451" dirty="0">
                <a:latin typeface="Courier New" charset="0"/>
              </a:rPr>
              <a:t>}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void </a:t>
            </a:r>
            <a:r>
              <a:rPr lang="en-US" altLang="en-US" sz="1451" dirty="0" err="1">
                <a:latin typeface="Courier New" charset="0"/>
              </a:rPr>
              <a:t>customerThread</a:t>
            </a:r>
            <a:r>
              <a:rPr lang="en-US" altLang="en-US" sz="1451" dirty="0">
                <a:latin typeface="Courier New" charset="0"/>
              </a:rPr>
              <a:t>(){   </a:t>
            </a:r>
            <a:r>
              <a:rPr lang="en-US" altLang="en-US" sz="1451" dirty="0">
                <a:solidFill>
                  <a:srgbClr val="FF0000"/>
                </a:solidFill>
                <a:latin typeface="Courier New" charset="0"/>
              </a:rPr>
              <a:t>// multiple instances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</a:t>
            </a:r>
            <a:r>
              <a:rPr lang="en-US" altLang="en-US" sz="1451" dirty="0" err="1">
                <a:latin typeface="Courier New" charset="0"/>
              </a:rPr>
              <a:t>BarberShop.customer</a:t>
            </a:r>
            <a:r>
              <a:rPr lang="en-US" altLang="en-US" sz="1451" dirty="0">
                <a:latin typeface="Courier New" charset="0"/>
              </a:rPr>
              <a:t>();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} 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75960" y="1551234"/>
            <a:ext cx="8625154" cy="1080749"/>
          </a:xfrm>
          <a:prstGeom prst="rect">
            <a:avLst/>
          </a:prstGeom>
          <a:solidFill>
            <a:srgbClr val="F6F5BD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void barber(){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……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		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>
                <a:latin typeface="Courier New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914138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-180133"/>
            <a:ext cx="9264316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 – Mesa monitors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915" y="1551437"/>
            <a:ext cx="8988357" cy="2117369"/>
            <a:chOff x="743007" y="2043436"/>
            <a:chExt cx="4078080" cy="2856090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55568"/>
              <a:ext cx="4078080" cy="2543958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barber(){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if (!waiting) //while not needed since there is at most one barber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</a:t>
              </a:r>
              <a:r>
                <a:rPr lang="en-GB" altLang="en-US" sz="1451" dirty="0" err="1">
                  <a:solidFill>
                    <a:schemeClr val="accent2"/>
                  </a:solidFill>
                  <a:latin typeface="Courier New" charset="0"/>
                </a:rPr>
                <a:t>waitingForCustomers.wait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else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</a:t>
              </a:r>
              <a:r>
                <a:rPr lang="en-GB" altLang="en-US" sz="1451" dirty="0" err="1">
                  <a:solidFill>
                    <a:schemeClr val="accent2"/>
                  </a:solidFill>
                  <a:latin typeface="Courier New" charset="0"/>
                </a:rPr>
                <a:t>waitingForBarbers.notify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// </a:t>
              </a:r>
              <a:r>
                <a:rPr lang="en-GB" altLang="en-US" sz="1451" dirty="0" err="1">
                  <a:solidFill>
                    <a:schemeClr val="bg2"/>
                  </a:solidFill>
                  <a:latin typeface="Courier New" charset="0"/>
                </a:rPr>
                <a:t>cutHair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(); This function is executed in the </a:t>
              </a:r>
              <a:r>
                <a:rPr lang="en-GB" altLang="en-US" sz="1451" dirty="0" err="1">
                  <a:solidFill>
                    <a:schemeClr val="bg2"/>
                  </a:solidFill>
                  <a:latin typeface="Courier New" charset="0"/>
                </a:rPr>
                <a:t>thread.See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 previous slide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 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270" y="470485"/>
            <a:ext cx="9023684" cy="10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5 // number of chairs in the shop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monitor </a:t>
            </a:r>
            <a:r>
              <a:rPr lang="en-US" altLang="en-US" sz="1451" dirty="0" err="1">
                <a:latin typeface="Courier New" charset="0"/>
              </a:rPr>
              <a:t>BarberShop</a:t>
            </a:r>
            <a:r>
              <a:rPr lang="en-US" altLang="en-US" sz="1451" dirty="0">
                <a:latin typeface="Courier New" charset="0"/>
              </a:rPr>
              <a:t>{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condition </a:t>
            </a:r>
            <a:r>
              <a:rPr lang="en-US" altLang="en-US" sz="1451" dirty="0" err="1">
                <a:latin typeface="Courier New" charset="0"/>
              </a:rPr>
              <a:t>waitingForCustomers</a:t>
            </a:r>
            <a:r>
              <a:rPr lang="en-US" altLang="en-US" sz="1451" dirty="0">
                <a:latin typeface="Courier New" charset="0"/>
              </a:rPr>
              <a:t>, </a:t>
            </a:r>
            <a:r>
              <a:rPr lang="en-US" altLang="en-US" sz="1451" dirty="0" err="1">
                <a:latin typeface="Courier New" charset="0"/>
              </a:rPr>
              <a:t>waitingForBarbers</a:t>
            </a:r>
            <a:r>
              <a:rPr lang="en-US" altLang="en-US" sz="1451" dirty="0">
                <a:latin typeface="Courier New" charset="0"/>
              </a:rPr>
              <a:t>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</a:t>
            </a: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// number of waiting customers in chairs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5755" y="3668806"/>
            <a:ext cx="8952675" cy="2951285"/>
            <a:chOff x="-2790224" y="4543852"/>
            <a:chExt cx="7611310" cy="2404784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-2790224" y="4755784"/>
              <a:ext cx="7611310" cy="2192852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square"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GB" altLang="en-US" sz="1451" dirty="0">
                <a:latin typeface="Courier New" charset="0"/>
              </a:endParaRP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 // may not be executed if all chairs are full. }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}		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-2790224" y="4543852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9496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-180133"/>
            <a:ext cx="9264316" cy="76200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Barbershop Solution – Mesa monitors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915" y="1551437"/>
            <a:ext cx="8988357" cy="2117370"/>
            <a:chOff x="743007" y="2043436"/>
            <a:chExt cx="4078080" cy="2856091"/>
          </a:xfrm>
        </p:grpSpPr>
        <p:sp>
          <p:nvSpPr>
            <p:cNvPr id="6" name="Text Box 2"/>
            <p:cNvSpPr txBox="1">
              <a:spLocks noChangeArrowheads="1"/>
            </p:cNvSpPr>
            <p:nvPr/>
          </p:nvSpPr>
          <p:spPr bwMode="auto">
            <a:xfrm>
              <a:off x="743007" y="2355568"/>
              <a:ext cx="4078080" cy="2543959"/>
            </a:xfrm>
            <a:prstGeom prst="rect">
              <a:avLst/>
            </a:prstGeom>
            <a:solidFill>
              <a:srgbClr val="F6F5BD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barber(){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if (!waiting) //while not needed since there is at most one barber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			</a:t>
              </a:r>
              <a:r>
                <a:rPr lang="en-GB" altLang="en-US" sz="1451" dirty="0" err="1">
                  <a:solidFill>
                    <a:schemeClr val="tx1"/>
                  </a:solidFill>
                  <a:latin typeface="Courier New" charset="0"/>
                </a:rPr>
                <a:t>waitingForCustomers.wait</a:t>
              </a: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		else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			</a:t>
              </a:r>
              <a:r>
                <a:rPr lang="en-GB" altLang="en-US" sz="1451" dirty="0" err="1">
                  <a:solidFill>
                    <a:schemeClr val="tx1"/>
                  </a:solidFill>
                  <a:latin typeface="Courier New" charset="0"/>
                </a:rPr>
                <a:t>waitingForBarbers.notify</a:t>
              </a:r>
              <a:r>
                <a:rPr lang="en-GB" altLang="en-US" sz="1451" dirty="0">
                  <a:solidFill>
                    <a:schemeClr val="tx1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// </a:t>
              </a:r>
              <a:r>
                <a:rPr lang="en-GB" altLang="en-US" sz="1451" dirty="0" err="1">
                  <a:solidFill>
                    <a:schemeClr val="bg2"/>
                  </a:solidFill>
                  <a:latin typeface="Courier New" charset="0"/>
                </a:rPr>
                <a:t>cutHair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(); This function is executed in the </a:t>
              </a:r>
              <a:r>
                <a:rPr lang="en-GB" altLang="en-US" sz="1451" dirty="0" err="1">
                  <a:solidFill>
                    <a:schemeClr val="bg2"/>
                  </a:solidFill>
                  <a:latin typeface="Courier New" charset="0"/>
                </a:rPr>
                <a:t>thread.See</a:t>
              </a:r>
              <a:r>
                <a:rPr lang="en-GB" altLang="en-US" sz="1451" dirty="0">
                  <a:solidFill>
                    <a:schemeClr val="bg2"/>
                  </a:solidFill>
                  <a:latin typeface="Courier New" charset="0"/>
                </a:rPr>
                <a:t> previous slide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} 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43007" y="2043436"/>
              <a:ext cx="1813536" cy="275448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Barber (n=1)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270" y="470485"/>
            <a:ext cx="9023684" cy="10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square"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#define CHAIRS 5 // number of chairs in the shop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monitor </a:t>
            </a:r>
            <a:r>
              <a:rPr lang="en-US" altLang="en-US" sz="1451" dirty="0" err="1">
                <a:latin typeface="Courier New" charset="0"/>
              </a:rPr>
              <a:t>BarberShop</a:t>
            </a:r>
            <a:r>
              <a:rPr lang="en-US" altLang="en-US" sz="1451" dirty="0">
                <a:latin typeface="Courier New" charset="0"/>
              </a:rPr>
              <a:t>{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condition </a:t>
            </a:r>
            <a:r>
              <a:rPr lang="en-US" altLang="en-US" sz="1451" dirty="0" err="1">
                <a:latin typeface="Courier New" charset="0"/>
              </a:rPr>
              <a:t>waitingForCustomers</a:t>
            </a:r>
            <a:r>
              <a:rPr lang="en-US" altLang="en-US" sz="1451" dirty="0">
                <a:latin typeface="Courier New" charset="0"/>
              </a:rPr>
              <a:t>, </a:t>
            </a:r>
            <a:r>
              <a:rPr lang="en-US" altLang="en-US" sz="1451" dirty="0" err="1">
                <a:latin typeface="Courier New" charset="0"/>
              </a:rPr>
              <a:t>waitingForBarbers</a:t>
            </a:r>
            <a:r>
              <a:rPr lang="en-US" altLang="en-US" sz="1451" dirty="0">
                <a:latin typeface="Courier New" charset="0"/>
              </a:rPr>
              <a:t>; 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>
                <a:latin typeface="Courier New" charset="0"/>
              </a:rPr>
              <a:t>		</a:t>
            </a:r>
            <a:r>
              <a:rPr lang="en-US" altLang="en-US" sz="1451" dirty="0" err="1">
                <a:latin typeface="Courier New" charset="0"/>
              </a:rPr>
              <a:t>int</a:t>
            </a:r>
            <a:r>
              <a:rPr lang="en-US" altLang="en-US" sz="1451" dirty="0">
                <a:latin typeface="Courier New" charset="0"/>
              </a:rPr>
              <a:t> waiting = 0; // number of waiting customers in chairs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5755" y="3668807"/>
            <a:ext cx="8952675" cy="3219692"/>
            <a:chOff x="-2790224" y="4543852"/>
            <a:chExt cx="7611310" cy="2623489"/>
          </a:xfrm>
          <a:solidFill>
            <a:srgbClr val="FF0000">
              <a:alpha val="20000"/>
            </a:srgbClr>
          </a:solidFill>
        </p:grpSpPr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-2790224" y="4755784"/>
              <a:ext cx="7611310" cy="2411557"/>
            </a:xfrm>
            <a:prstGeom prst="rect">
              <a:avLst/>
            </a:prstGeom>
            <a:grp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square" lIns="41472" tIns="42452" rIns="41472" bIns="42452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void </a:t>
              </a:r>
              <a:r>
                <a:rPr lang="en-GB" altLang="en-US" sz="1451" dirty="0" err="1">
                  <a:latin typeface="Courier New" charset="0"/>
                </a:rPr>
                <a:t>customerThread</a:t>
              </a:r>
              <a:r>
                <a:rPr lang="en-GB" altLang="en-US" sz="1451" dirty="0">
                  <a:latin typeface="Courier New" charset="0"/>
                </a:rPr>
                <a:t>(){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if (waiting &lt; CHAIRS){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waiting++;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if (waiting == 1)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	</a:t>
              </a:r>
              <a:r>
                <a:rPr lang="en-GB" altLang="en-US" sz="1451" dirty="0" err="1">
                  <a:solidFill>
                    <a:schemeClr val="accent2"/>
                  </a:solidFill>
                  <a:latin typeface="Courier New" charset="0"/>
                </a:rPr>
                <a:t>waitingForCustomers.notify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else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	</a:t>
              </a:r>
              <a:r>
                <a:rPr lang="en-GB" altLang="en-US" sz="1451" dirty="0" err="1">
                  <a:solidFill>
                    <a:schemeClr val="accent2"/>
                  </a:solidFill>
                  <a:latin typeface="Courier New" charset="0"/>
                </a:rPr>
                <a:t>waitingForBarbers.wait</a:t>
              </a: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();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solidFill>
                    <a:schemeClr val="accent2"/>
                  </a:solidFill>
                  <a:latin typeface="Courier New" charset="0"/>
                </a:rPr>
                <a:t>			waiting--;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	</a:t>
              </a:r>
              <a:r>
                <a:rPr lang="en-GB" altLang="en-US" sz="1451" dirty="0" err="1">
                  <a:latin typeface="Courier New" charset="0"/>
                </a:rPr>
                <a:t>getHairCut</a:t>
              </a:r>
              <a:r>
                <a:rPr lang="en-GB" altLang="en-US" sz="1451" dirty="0">
                  <a:latin typeface="Courier New" charset="0"/>
                </a:rPr>
                <a:t>(); // may not be executed if all chairs are full. } 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	}</a:t>
              </a:r>
            </a:p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451" dirty="0">
                  <a:latin typeface="Courier New" charset="0"/>
                </a:rPr>
                <a:t>	}		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-2790224" y="4543852"/>
              <a:ext cx="2741878" cy="2156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29" tIns="45714" rIns="91429" bIns="45714" anchor="ctr">
              <a:spAutoFit/>
            </a:bodyPr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  <a:cs typeface="MS Gothic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i="1">
                  <a:solidFill>
                    <a:srgbClr val="2300DC"/>
                  </a:solidFill>
                  <a:latin typeface="Arial" charset="0"/>
                  <a:ea typeface="MS Gothic" charset="-128"/>
                  <a:cs typeface="MS Gothic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287338" algn="l"/>
                  <a:tab pos="454025" algn="l"/>
                  <a:tab pos="911225" algn="l"/>
                  <a:tab pos="1368425" algn="l"/>
                  <a:tab pos="1825625" algn="l"/>
                  <a:tab pos="2282825" algn="l"/>
                  <a:tab pos="2740025" algn="l"/>
                  <a:tab pos="3197225" algn="l"/>
                  <a:tab pos="3654425" algn="l"/>
                  <a:tab pos="4111625" algn="l"/>
                  <a:tab pos="4568825" algn="l"/>
                  <a:tab pos="5026025" algn="l"/>
                  <a:tab pos="5483225" algn="l"/>
                  <a:tab pos="5940425" algn="l"/>
                  <a:tab pos="6397625" algn="l"/>
                  <a:tab pos="6854825" algn="l"/>
                  <a:tab pos="7312025" algn="l"/>
                  <a:tab pos="7769225" algn="l"/>
                  <a:tab pos="8226425" algn="l"/>
                  <a:tab pos="8683625" algn="l"/>
                  <a:tab pos="9140825" algn="l"/>
                  <a:tab pos="94107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MS Gothic" charset="-128"/>
                  <a:cs typeface="MS Gothic" charset="-128"/>
                </a:defRPr>
              </a:lvl9pPr>
            </a:lstStyle>
            <a:p>
              <a:pPr eaLnBrk="1">
                <a:lnSpc>
                  <a:spcPct val="80000"/>
                </a:lnSpc>
                <a:spcBef>
                  <a:spcPts val="68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altLang="en-US" sz="1400" dirty="0">
                  <a:latin typeface="Courier New" charset="0"/>
                </a:rPr>
                <a:t>Customer threads (n&gt;=0 )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5387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5040</TotalTime>
  <Words>2207</Words>
  <Application>Microsoft Office PowerPoint</Application>
  <PresentationFormat>On-screen Show (4:3)</PresentationFormat>
  <Paragraphs>344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MS Gothic</vt:lpstr>
      <vt:lpstr>ＭＳ Ｐゴシック</vt:lpstr>
      <vt:lpstr>Arial</vt:lpstr>
      <vt:lpstr>Arial Narrow</vt:lpstr>
      <vt:lpstr>Bitstream Vera Serif</vt:lpstr>
      <vt:lpstr>Calibri</vt:lpstr>
      <vt:lpstr>Courier New</vt:lpstr>
      <vt:lpstr>Times New Roman</vt:lpstr>
      <vt:lpstr>Wingdings</vt:lpstr>
      <vt:lpstr>Wingdings 2</vt:lpstr>
      <vt:lpstr>template2007</vt:lpstr>
      <vt:lpstr>Barbershop problem</vt:lpstr>
      <vt:lpstr>Barbershop problem</vt:lpstr>
      <vt:lpstr>Barbershop problem</vt:lpstr>
      <vt:lpstr>Barbershop problem</vt:lpstr>
      <vt:lpstr>Barbershop problem</vt:lpstr>
      <vt:lpstr>Barbershop problem</vt:lpstr>
      <vt:lpstr>Barbershop Solution</vt:lpstr>
      <vt:lpstr>Barbershop Solution</vt:lpstr>
      <vt:lpstr>Barbershop Solution</vt:lpstr>
      <vt:lpstr>Barbershop Solution</vt:lpstr>
      <vt:lpstr>Barbershop Solution </vt:lpstr>
      <vt:lpstr>Checking your code</vt:lpstr>
      <vt:lpstr>Barbershop Solution – Mesa monitors</vt:lpstr>
      <vt:lpstr>Barbershop Solution – Mesa monitors</vt:lpstr>
      <vt:lpstr>Barbershop Solution – Mesa monitors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Communication: Intro + Pipes</dc:title>
  <dc:creator>erol sahin</dc:creator>
  <cp:lastModifiedBy>GÖKNAR UZAY ŞAHİN</cp:lastModifiedBy>
  <cp:revision>123</cp:revision>
  <cp:lastPrinted>2024-03-31T08:36:32Z</cp:lastPrinted>
  <dcterms:modified xsi:type="dcterms:W3CDTF">2024-03-31T08:46:02Z</dcterms:modified>
</cp:coreProperties>
</file>