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1"/>
  </p:notesMasterIdLst>
  <p:handoutMasterIdLst>
    <p:handoutMasterId r:id="rId12"/>
  </p:handoutMasterIdLst>
  <p:sldIdLst>
    <p:sldId id="1537" r:id="rId2"/>
    <p:sldId id="1547" r:id="rId3"/>
    <p:sldId id="1577" r:id="rId4"/>
    <p:sldId id="1578" r:id="rId5"/>
    <p:sldId id="1579" r:id="rId6"/>
    <p:sldId id="1580" r:id="rId7"/>
    <p:sldId id="1581" r:id="rId8"/>
    <p:sldId id="1582" r:id="rId9"/>
    <p:sldId id="1583" r:id="rId10"/>
  </p:sldIdLst>
  <p:sldSz cx="9144000" cy="6858000" type="screen4x3"/>
  <p:notesSz cx="7302500" cy="9586913"/>
  <p:custDataLst>
    <p:tags r:id="rId13"/>
  </p:custDataLst>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0E0"/>
    <a:srgbClr val="0070C0"/>
    <a:srgbClr val="F6F5BD"/>
    <a:srgbClr val="F1C7C7"/>
    <a:srgbClr val="990000"/>
    <a:srgbClr val="D5F1CF"/>
    <a:srgbClr val="E9E1C9"/>
    <a:srgbClr val="DED8C4"/>
    <a:srgbClr val="E7DDBB"/>
    <a:srgbClr val="DDCE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36"/>
    <p:restoredTop sz="95431"/>
  </p:normalViewPr>
  <p:slideViewPr>
    <p:cSldViewPr snapToGrid="0">
      <p:cViewPr varScale="1">
        <p:scale>
          <a:sx n="130" d="100"/>
          <a:sy n="130" d="100"/>
        </p:scale>
        <p:origin x="192" y="200"/>
      </p:cViewPr>
      <p:guideLst>
        <p:guide orient="horz" pos="2160"/>
        <p:guide pos="2880"/>
      </p:guideLst>
    </p:cSldViewPr>
  </p:slideViewPr>
  <p:notesTextViewPr>
    <p:cViewPr>
      <p:scale>
        <a:sx n="100" d="100"/>
        <a:sy n="100" d="100"/>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defTabSz="965200">
              <a:defRPr sz="1200" smtClean="0">
                <a:latin typeface="Times New Roman" pitchFamily="18" charset="0"/>
              </a:defRPr>
            </a:lvl1pPr>
          </a:lstStyle>
          <a:p>
            <a:pPr>
              <a:defRPr/>
            </a:pPr>
            <a:r>
              <a:rPr lang="en-US"/>
              <a:t>DAC 2001 Tutorial</a:t>
            </a:r>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algn="r" defTabSz="965200">
              <a:defRPr sz="1200" smtClean="0">
                <a:latin typeface="Times New Roman"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defTabSz="965200">
              <a:defRPr sz="1200" smtClean="0">
                <a:latin typeface="Times New Roman" pitchFamily="18" charset="0"/>
                <a:cs typeface="Times New Roman" pitchFamily="18" charset="0"/>
              </a:defRPr>
            </a:lvl1pPr>
          </a:lstStyle>
          <a:p>
            <a:pPr>
              <a:defRPr/>
            </a:pPr>
            <a:r>
              <a:rPr lang="en-US"/>
              <a:t>©R.A. Rutenbar, 2001</a:t>
            </a:r>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algn="r" defTabSz="965200">
              <a:defRPr sz="1200" smtClean="0">
                <a:latin typeface="Times New Roman" pitchFamily="18" charset="0"/>
              </a:defRPr>
            </a:lvl1pPr>
          </a:lstStyle>
          <a:p>
            <a:pPr>
              <a:defRPr/>
            </a:pPr>
            <a:fld id="{83587096-7852-44F5-9A71-D621B1FF2472}" type="slidenum">
              <a:rPr lang="en-US"/>
              <a:pPr>
                <a:defRPr/>
              </a:pPr>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40F64717-A5A5-4C4E-9291-2F18B7410B06}"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Slide Number Placeholder 3"/>
          <p:cNvSpPr>
            <a:spLocks noGrp="1"/>
          </p:cNvSpPr>
          <p:nvPr>
            <p:ph type="sldNum" sz="quarter" idx="5"/>
          </p:nvPr>
        </p:nvSpPr>
        <p:spPr>
          <a:noFill/>
        </p:spPr>
        <p:txBody>
          <a:bodyPr/>
          <a:lstStyle/>
          <a:p>
            <a:fld id="{7F803353-72E2-470C-8E67-87750F01FAF1}" type="slidenum">
              <a:rPr lang="en-US"/>
              <a:pPr/>
              <a:t>1</a:t>
            </a:fld>
            <a:endParaRPr lang="en-US"/>
          </a:p>
        </p:txBody>
      </p:sp>
    </p:spTree>
    <p:extLst>
      <p:ext uri="{BB962C8B-B14F-4D97-AF65-F5344CB8AC3E}">
        <p14:creationId xmlns:p14="http://schemas.microsoft.com/office/powerpoint/2010/main" val="838382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a:t>Click to edit Master title style</a:t>
            </a:r>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709" y="54678"/>
            <a:ext cx="8634582" cy="762000"/>
          </a:xfrm>
        </p:spPr>
        <p:txBody>
          <a:bodyPr/>
          <a:lstStyle>
            <a:lvl1pPr>
              <a:defRPr sz="3200">
                <a:latin typeface="Calibri" pitchFamily="34" charset="0"/>
              </a:defRPr>
            </a:lvl1pPr>
          </a:lstStyle>
          <a:p>
            <a:r>
              <a:rPr lang="en-US" dirty="0"/>
              <a:t>Click to edit Master title style</a:t>
            </a:r>
          </a:p>
        </p:txBody>
      </p:sp>
      <p:sp>
        <p:nvSpPr>
          <p:cNvPr id="4" name="Rectangle 3">
            <a:extLst>
              <a:ext uri="{FF2B5EF4-FFF2-40B4-BE49-F238E27FC236}">
                <a16:creationId xmlns:a16="http://schemas.microsoft.com/office/drawing/2014/main" id="{B9553154-7FD6-4B4A-A4DA-6347605DDA43}"/>
              </a:ext>
            </a:extLst>
          </p:cNvPr>
          <p:cNvSpPr/>
          <p:nvPr userDrawn="1"/>
        </p:nvSpPr>
        <p:spPr bwMode="auto">
          <a:xfrm>
            <a:off x="0" y="816678"/>
            <a:ext cx="9144000" cy="6041322"/>
          </a:xfrm>
          <a:prstGeom prst="rect">
            <a:avLst/>
          </a:prstGeom>
          <a:solidFill>
            <a:srgbClr val="FF0000">
              <a:alpha val="26000"/>
            </a:srgbClr>
          </a:solidFill>
          <a:ln w="0" cap="flat" cmpd="sng" algn="ctr">
            <a:noFill/>
            <a:prstDash val="solid"/>
            <a:round/>
            <a:headEnd type="none" w="med" len="med"/>
            <a:tailEnd type="arrow" w="med" len="med"/>
          </a:ln>
          <a:effectLst/>
        </p:spPr>
        <p:txBody>
          <a:bodyPr rtlCol="0" anchor="ctr"/>
          <a:lstStyle/>
          <a:p>
            <a:pPr algn="ctr"/>
            <a:endParaRPr lang="en-US" dirty="0"/>
          </a:p>
        </p:txBody>
      </p:sp>
      <p:sp>
        <p:nvSpPr>
          <p:cNvPr id="6" name="Text Box 14">
            <a:extLst>
              <a:ext uri="{FF2B5EF4-FFF2-40B4-BE49-F238E27FC236}">
                <a16:creationId xmlns:a16="http://schemas.microsoft.com/office/drawing/2014/main" id="{F7A1A83F-606B-4389-B7E3-AFF08AEC89D9}"/>
              </a:ext>
            </a:extLst>
          </p:cNvPr>
          <p:cNvSpPr txBox="1">
            <a:spLocks noChangeArrowheads="1"/>
          </p:cNvSpPr>
          <p:nvPr userDrawn="1"/>
        </p:nvSpPr>
        <p:spPr bwMode="auto">
          <a:xfrm>
            <a:off x="773505" y="889757"/>
            <a:ext cx="2147063" cy="584775"/>
          </a:xfrm>
          <a:prstGeom prst="rect">
            <a:avLst/>
          </a:prstGeom>
          <a:noFill/>
          <a:ln w="12700">
            <a:noFill/>
            <a:miter lim="800000"/>
            <a:headEnd/>
            <a:tailEnd/>
          </a:ln>
          <a:effectLst/>
        </p:spPr>
        <p:txBody>
          <a:bodyPr wrap="none" anchor="ctr">
            <a:spAutoFit/>
          </a:bodyPr>
          <a:lstStyle/>
          <a:p>
            <a:pPr algn="ctr">
              <a:lnSpc>
                <a:spcPct val="100000"/>
              </a:lnSpc>
            </a:pPr>
            <a:r>
              <a:rPr lang="en-US" sz="1600" dirty="0">
                <a:solidFill>
                  <a:srgbClr val="C00000"/>
                </a:solidFill>
                <a:latin typeface="Calibri" pitchFamily="34" charset="0"/>
              </a:rPr>
              <a:t>Descriptor table</a:t>
            </a:r>
          </a:p>
          <a:p>
            <a:pPr algn="ctr">
              <a:lnSpc>
                <a:spcPct val="100000"/>
              </a:lnSpc>
            </a:pPr>
            <a:r>
              <a:rPr lang="en-US" sz="1600" dirty="0">
                <a:latin typeface="Calibri" pitchFamily="34" charset="0"/>
              </a:rPr>
              <a:t>[one table per process]</a:t>
            </a:r>
          </a:p>
        </p:txBody>
      </p:sp>
      <p:sp>
        <p:nvSpPr>
          <p:cNvPr id="7" name="Text Box 15">
            <a:extLst>
              <a:ext uri="{FF2B5EF4-FFF2-40B4-BE49-F238E27FC236}">
                <a16:creationId xmlns:a16="http://schemas.microsoft.com/office/drawing/2014/main" id="{08E4DBD4-2751-4167-B607-54FB0FE874EC}"/>
              </a:ext>
            </a:extLst>
          </p:cNvPr>
          <p:cNvSpPr txBox="1">
            <a:spLocks noChangeArrowheads="1"/>
          </p:cNvSpPr>
          <p:nvPr userDrawn="1"/>
        </p:nvSpPr>
        <p:spPr bwMode="auto">
          <a:xfrm>
            <a:off x="3330152" y="889757"/>
            <a:ext cx="2273892" cy="584775"/>
          </a:xfrm>
          <a:prstGeom prst="rect">
            <a:avLst/>
          </a:prstGeom>
          <a:noFill/>
          <a:ln w="12700">
            <a:noFill/>
            <a:miter lim="800000"/>
            <a:headEnd/>
            <a:tailEnd/>
          </a:ln>
          <a:effectLst/>
        </p:spPr>
        <p:txBody>
          <a:bodyPr wrap="none" anchor="ctr">
            <a:spAutoFit/>
          </a:bodyPr>
          <a:lstStyle/>
          <a:p>
            <a:pPr algn="ctr">
              <a:lnSpc>
                <a:spcPct val="100000"/>
              </a:lnSpc>
            </a:pPr>
            <a:r>
              <a:rPr lang="en-US" sz="1600" dirty="0">
                <a:solidFill>
                  <a:srgbClr val="C00000"/>
                </a:solidFill>
                <a:latin typeface="Calibri" pitchFamily="34" charset="0"/>
              </a:rPr>
              <a:t>Open file table </a:t>
            </a:r>
          </a:p>
          <a:p>
            <a:pPr algn="ctr">
              <a:lnSpc>
                <a:spcPct val="100000"/>
              </a:lnSpc>
            </a:pPr>
            <a:r>
              <a:rPr lang="en-US" sz="1600" dirty="0">
                <a:latin typeface="Calibri" pitchFamily="34" charset="0"/>
              </a:rPr>
              <a:t>[shared by all processes]</a:t>
            </a:r>
          </a:p>
        </p:txBody>
      </p:sp>
      <p:sp>
        <p:nvSpPr>
          <p:cNvPr id="9" name="TextBox 8">
            <a:extLst>
              <a:ext uri="{FF2B5EF4-FFF2-40B4-BE49-F238E27FC236}">
                <a16:creationId xmlns:a16="http://schemas.microsoft.com/office/drawing/2014/main" id="{14441FB0-7AB7-491B-843A-CE649142613B}"/>
              </a:ext>
            </a:extLst>
          </p:cNvPr>
          <p:cNvSpPr txBox="1"/>
          <p:nvPr userDrawn="1"/>
        </p:nvSpPr>
        <p:spPr>
          <a:xfrm>
            <a:off x="0" y="828201"/>
            <a:ext cx="938382" cy="646331"/>
          </a:xfrm>
          <a:prstGeom prst="rect">
            <a:avLst/>
          </a:prstGeom>
          <a:noFill/>
        </p:spPr>
        <p:txBody>
          <a:bodyPr wrap="square" rtlCol="0">
            <a:spAutoFit/>
          </a:bodyPr>
          <a:lstStyle/>
          <a:p>
            <a:r>
              <a:rPr lang="en-US" sz="1800" dirty="0">
                <a:solidFill>
                  <a:srgbClr val="FF0000"/>
                </a:solidFill>
                <a:latin typeface="Calibri" pitchFamily="34" charset="0"/>
              </a:rPr>
              <a:t>KERNEL SPACE</a:t>
            </a:r>
          </a:p>
        </p:txBody>
      </p:sp>
    </p:spTree>
    <p:extLst>
      <p:ext uri="{BB962C8B-B14F-4D97-AF65-F5344CB8AC3E}">
        <p14:creationId xmlns:p14="http://schemas.microsoft.com/office/powerpoint/2010/main" val="101442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709" y="54678"/>
            <a:ext cx="8634582" cy="762000"/>
          </a:xfrm>
        </p:spPr>
        <p:txBody>
          <a:bodyPr/>
          <a:lstStyle>
            <a:lvl1pPr>
              <a:defRPr sz="3200">
                <a:latin typeface="Calibri" pitchFamily="34" charset="0"/>
              </a:defRPr>
            </a:lvl1pPr>
          </a:lstStyle>
          <a:p>
            <a:r>
              <a:rPr lang="en-US" dirty="0"/>
              <a:t>Click to edit Master title style</a:t>
            </a:r>
          </a:p>
        </p:txBody>
      </p:sp>
      <p:sp>
        <p:nvSpPr>
          <p:cNvPr id="4" name="Rectangle 3">
            <a:extLst>
              <a:ext uri="{FF2B5EF4-FFF2-40B4-BE49-F238E27FC236}">
                <a16:creationId xmlns:a16="http://schemas.microsoft.com/office/drawing/2014/main" id="{B9553154-7FD6-4B4A-A4DA-6347605DDA43}"/>
              </a:ext>
            </a:extLst>
          </p:cNvPr>
          <p:cNvSpPr/>
          <p:nvPr userDrawn="1"/>
        </p:nvSpPr>
        <p:spPr bwMode="auto">
          <a:xfrm>
            <a:off x="0" y="1295400"/>
            <a:ext cx="9144000" cy="5562600"/>
          </a:xfrm>
          <a:prstGeom prst="rect">
            <a:avLst/>
          </a:prstGeom>
          <a:solidFill>
            <a:srgbClr val="FF0000">
              <a:alpha val="26000"/>
            </a:srgbClr>
          </a:solidFill>
          <a:ln w="0" cap="flat" cmpd="sng" algn="ctr">
            <a:noFill/>
            <a:prstDash val="solid"/>
            <a:round/>
            <a:headEnd type="none" w="med" len="med"/>
            <a:tailEnd type="arrow" w="med" len="med"/>
          </a:ln>
          <a:effectLst/>
        </p:spPr>
        <p:txBody>
          <a:bodyPr rtlCol="0" anchor="ctr"/>
          <a:lstStyle/>
          <a:p>
            <a:pPr algn="ctr"/>
            <a:endParaRPr lang="en-US" dirty="0"/>
          </a:p>
        </p:txBody>
      </p:sp>
      <p:sp>
        <p:nvSpPr>
          <p:cNvPr id="5" name="Rectangle 4">
            <a:extLst>
              <a:ext uri="{FF2B5EF4-FFF2-40B4-BE49-F238E27FC236}">
                <a16:creationId xmlns:a16="http://schemas.microsoft.com/office/drawing/2014/main" id="{071783BA-B528-40AD-B71D-EC30F9710A11}"/>
              </a:ext>
            </a:extLst>
          </p:cNvPr>
          <p:cNvSpPr/>
          <p:nvPr userDrawn="1"/>
        </p:nvSpPr>
        <p:spPr bwMode="auto">
          <a:xfrm>
            <a:off x="0" y="820395"/>
            <a:ext cx="9144000" cy="475005"/>
          </a:xfrm>
          <a:prstGeom prst="rect">
            <a:avLst/>
          </a:prstGeom>
          <a:solidFill>
            <a:schemeClr val="accent2">
              <a:lumMod val="60000"/>
              <a:lumOff val="40000"/>
              <a:alpha val="26000"/>
            </a:schemeClr>
          </a:solidFill>
          <a:ln w="0" cap="flat" cmpd="sng" algn="ctr">
            <a:noFill/>
            <a:prstDash val="solid"/>
            <a:round/>
            <a:headEnd type="none" w="med" len="med"/>
            <a:tailEnd type="arrow" w="med" len="med"/>
          </a:ln>
          <a:effectLst/>
        </p:spPr>
        <p:txBody>
          <a:bodyPr rtlCol="0" anchor="ctr"/>
          <a:lstStyle/>
          <a:p>
            <a:pPr algn="ctr"/>
            <a:endParaRPr lang="en-US" dirty="0"/>
          </a:p>
        </p:txBody>
      </p:sp>
      <p:sp>
        <p:nvSpPr>
          <p:cNvPr id="9" name="TextBox 8">
            <a:extLst>
              <a:ext uri="{FF2B5EF4-FFF2-40B4-BE49-F238E27FC236}">
                <a16:creationId xmlns:a16="http://schemas.microsoft.com/office/drawing/2014/main" id="{14441FB0-7AB7-491B-843A-CE649142613B}"/>
              </a:ext>
            </a:extLst>
          </p:cNvPr>
          <p:cNvSpPr txBox="1"/>
          <p:nvPr userDrawn="1"/>
        </p:nvSpPr>
        <p:spPr>
          <a:xfrm>
            <a:off x="0" y="1306923"/>
            <a:ext cx="938382" cy="646331"/>
          </a:xfrm>
          <a:prstGeom prst="rect">
            <a:avLst/>
          </a:prstGeom>
          <a:noFill/>
        </p:spPr>
        <p:txBody>
          <a:bodyPr wrap="square" rtlCol="0">
            <a:spAutoFit/>
          </a:bodyPr>
          <a:lstStyle/>
          <a:p>
            <a:r>
              <a:rPr lang="en-US" sz="1800" dirty="0">
                <a:solidFill>
                  <a:srgbClr val="FF0000"/>
                </a:solidFill>
                <a:latin typeface="Calibri" pitchFamily="34" charset="0"/>
              </a:rPr>
              <a:t>KERNEL SPACE</a:t>
            </a:r>
          </a:p>
        </p:txBody>
      </p:sp>
      <p:sp>
        <p:nvSpPr>
          <p:cNvPr id="14" name="TextBox 13">
            <a:extLst>
              <a:ext uri="{FF2B5EF4-FFF2-40B4-BE49-F238E27FC236}">
                <a16:creationId xmlns:a16="http://schemas.microsoft.com/office/drawing/2014/main" id="{063B736E-8453-49D4-B1AD-BD88466F28D4}"/>
              </a:ext>
            </a:extLst>
          </p:cNvPr>
          <p:cNvSpPr txBox="1"/>
          <p:nvPr userDrawn="1"/>
        </p:nvSpPr>
        <p:spPr>
          <a:xfrm>
            <a:off x="0" y="852989"/>
            <a:ext cx="1712792" cy="369332"/>
          </a:xfrm>
          <a:prstGeom prst="rect">
            <a:avLst/>
          </a:prstGeom>
          <a:noFill/>
        </p:spPr>
        <p:txBody>
          <a:bodyPr wrap="square" rtlCol="0">
            <a:spAutoFit/>
          </a:bodyPr>
          <a:lstStyle/>
          <a:p>
            <a:r>
              <a:rPr lang="en-US" sz="1800" dirty="0">
                <a:solidFill>
                  <a:schemeClr val="accent6">
                    <a:lumMod val="75000"/>
                  </a:schemeClr>
                </a:solidFill>
                <a:latin typeface="Calibri" pitchFamily="34" charset="0"/>
              </a:rPr>
              <a:t>USER SPACE</a:t>
            </a:r>
          </a:p>
        </p:txBody>
      </p:sp>
    </p:spTree>
    <p:extLst>
      <p:ext uri="{BB962C8B-B14F-4D97-AF65-F5344CB8AC3E}">
        <p14:creationId xmlns:p14="http://schemas.microsoft.com/office/powerpoint/2010/main" val="354708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DE99B-2BE2-4E56-982D-B96E08BFACEC}"/>
              </a:ext>
            </a:extLst>
          </p:cNvPr>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B1F46336-0534-47F6-8AD7-B727364891BD}"/>
              </a:ext>
            </a:extLst>
          </p:cNvPr>
          <p:cNvSpPr/>
          <p:nvPr userDrawn="1"/>
        </p:nvSpPr>
        <p:spPr bwMode="auto">
          <a:xfrm>
            <a:off x="1" y="1197678"/>
            <a:ext cx="9144000" cy="2231322"/>
          </a:xfrm>
          <a:prstGeom prst="rect">
            <a:avLst/>
          </a:prstGeom>
          <a:solidFill>
            <a:schemeClr val="accent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dirty="0"/>
          </a:p>
        </p:txBody>
      </p:sp>
      <p:sp>
        <p:nvSpPr>
          <p:cNvPr id="4" name="Rectangle 3">
            <a:extLst>
              <a:ext uri="{FF2B5EF4-FFF2-40B4-BE49-F238E27FC236}">
                <a16:creationId xmlns:a16="http://schemas.microsoft.com/office/drawing/2014/main" id="{359D3043-5670-4AA9-B140-5FB3B30FD7A0}"/>
              </a:ext>
            </a:extLst>
          </p:cNvPr>
          <p:cNvSpPr/>
          <p:nvPr userDrawn="1"/>
        </p:nvSpPr>
        <p:spPr bwMode="auto">
          <a:xfrm>
            <a:off x="1" y="3429000"/>
            <a:ext cx="9144000" cy="3429000"/>
          </a:xfrm>
          <a:prstGeom prst="rect">
            <a:avLst/>
          </a:prstGeom>
          <a:solidFill>
            <a:srgbClr val="F1C7C7"/>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5" name="TextBox 4">
            <a:extLst>
              <a:ext uri="{FF2B5EF4-FFF2-40B4-BE49-F238E27FC236}">
                <a16:creationId xmlns:a16="http://schemas.microsoft.com/office/drawing/2014/main" id="{B8729FA1-5E95-452B-98B4-5A9F814F2DFA}"/>
              </a:ext>
            </a:extLst>
          </p:cNvPr>
          <p:cNvSpPr txBox="1"/>
          <p:nvPr userDrawn="1"/>
        </p:nvSpPr>
        <p:spPr>
          <a:xfrm>
            <a:off x="3420" y="3409950"/>
            <a:ext cx="1712792" cy="369332"/>
          </a:xfrm>
          <a:prstGeom prst="rect">
            <a:avLst/>
          </a:prstGeom>
          <a:noFill/>
        </p:spPr>
        <p:txBody>
          <a:bodyPr wrap="square" rtlCol="0">
            <a:spAutoFit/>
          </a:bodyPr>
          <a:lstStyle/>
          <a:p>
            <a:r>
              <a:rPr lang="en-US" sz="1800" dirty="0">
                <a:solidFill>
                  <a:srgbClr val="FF0000"/>
                </a:solidFill>
                <a:latin typeface="Calibri" pitchFamily="34" charset="0"/>
              </a:rPr>
              <a:t>KERNEL SPACE</a:t>
            </a:r>
          </a:p>
        </p:txBody>
      </p:sp>
      <p:sp>
        <p:nvSpPr>
          <p:cNvPr id="6" name="TextBox 5">
            <a:extLst>
              <a:ext uri="{FF2B5EF4-FFF2-40B4-BE49-F238E27FC236}">
                <a16:creationId xmlns:a16="http://schemas.microsoft.com/office/drawing/2014/main" id="{A676AD27-50AA-49F4-BB01-6E0282D4B724}"/>
              </a:ext>
            </a:extLst>
          </p:cNvPr>
          <p:cNvSpPr txBox="1"/>
          <p:nvPr userDrawn="1"/>
        </p:nvSpPr>
        <p:spPr>
          <a:xfrm>
            <a:off x="3420" y="1321503"/>
            <a:ext cx="1712792" cy="369332"/>
          </a:xfrm>
          <a:prstGeom prst="rect">
            <a:avLst/>
          </a:prstGeom>
          <a:noFill/>
        </p:spPr>
        <p:txBody>
          <a:bodyPr wrap="square" rtlCol="0">
            <a:spAutoFit/>
          </a:bodyPr>
          <a:lstStyle/>
          <a:p>
            <a:r>
              <a:rPr lang="en-US" sz="1800" dirty="0">
                <a:solidFill>
                  <a:schemeClr val="accent6">
                    <a:lumMod val="75000"/>
                  </a:schemeClr>
                </a:solidFill>
                <a:latin typeface="Calibri" pitchFamily="34" charset="0"/>
              </a:rPr>
              <a:t>USER SPACE</a:t>
            </a:r>
          </a:p>
        </p:txBody>
      </p:sp>
      <p:sp>
        <p:nvSpPr>
          <p:cNvPr id="7" name="Rectangle 6">
            <a:extLst>
              <a:ext uri="{FF2B5EF4-FFF2-40B4-BE49-F238E27FC236}">
                <a16:creationId xmlns:a16="http://schemas.microsoft.com/office/drawing/2014/main" id="{8B76232C-E577-4AD7-AD8B-9C47E9B8C73C}"/>
              </a:ext>
            </a:extLst>
          </p:cNvPr>
          <p:cNvSpPr/>
          <p:nvPr userDrawn="1"/>
        </p:nvSpPr>
        <p:spPr bwMode="auto">
          <a:xfrm>
            <a:off x="1259008" y="1465599"/>
            <a:ext cx="2743196" cy="1782426"/>
          </a:xfrm>
          <a:prstGeom prst="rect">
            <a:avLst/>
          </a:prstGeom>
          <a:solidFill>
            <a:srgbClr val="FFC000"/>
          </a:solidFill>
          <a:ln w="25400" cap="flat" cmpd="sng" algn="ctr">
            <a:noFill/>
            <a:prstDash val="solid"/>
            <a:round/>
            <a:headEnd type="none" w="med" len="med"/>
            <a:tailEnd type="arrow" w="med" len="med"/>
          </a:ln>
          <a:effectLst/>
        </p:spPr>
        <p:txBody>
          <a:bodyPr rtlCol="0" anchor="ctr"/>
          <a:lstStyle/>
          <a:p>
            <a:pPr algn="l"/>
            <a:endParaRPr lang="en-US" dirty="0"/>
          </a:p>
        </p:txBody>
      </p:sp>
      <p:sp>
        <p:nvSpPr>
          <p:cNvPr id="8" name="Rectangle 7">
            <a:extLst>
              <a:ext uri="{FF2B5EF4-FFF2-40B4-BE49-F238E27FC236}">
                <a16:creationId xmlns:a16="http://schemas.microsoft.com/office/drawing/2014/main" id="{B3C2E1D2-E2C1-41F7-AA0E-571A15629A5C}"/>
              </a:ext>
            </a:extLst>
          </p:cNvPr>
          <p:cNvSpPr/>
          <p:nvPr userDrawn="1"/>
        </p:nvSpPr>
        <p:spPr bwMode="auto">
          <a:xfrm>
            <a:off x="4230807" y="1484649"/>
            <a:ext cx="2743196" cy="1782426"/>
          </a:xfrm>
          <a:prstGeom prst="rect">
            <a:avLst/>
          </a:prstGeom>
          <a:solidFill>
            <a:srgbClr val="0070C0"/>
          </a:solidFill>
          <a:ln w="25400" cap="flat" cmpd="sng" algn="ctr">
            <a:noFill/>
            <a:prstDash val="solid"/>
            <a:round/>
            <a:headEnd type="none" w="med" len="med"/>
            <a:tailEnd type="arrow" w="med" len="med"/>
          </a:ln>
          <a:effectLst/>
        </p:spPr>
        <p:txBody>
          <a:bodyPr rtlCol="0" anchor="ctr"/>
          <a:lstStyle/>
          <a:p>
            <a:pPr algn="ctr"/>
            <a:endParaRPr lang="en-US" dirty="0"/>
          </a:p>
        </p:txBody>
      </p:sp>
      <p:sp>
        <p:nvSpPr>
          <p:cNvPr id="9" name="Rectangle 8">
            <a:extLst>
              <a:ext uri="{FF2B5EF4-FFF2-40B4-BE49-F238E27FC236}">
                <a16:creationId xmlns:a16="http://schemas.microsoft.com/office/drawing/2014/main" id="{41403B13-C3DF-48C4-9A80-B5462025A231}"/>
              </a:ext>
            </a:extLst>
          </p:cNvPr>
          <p:cNvSpPr/>
          <p:nvPr userDrawn="1"/>
        </p:nvSpPr>
        <p:spPr bwMode="auto">
          <a:xfrm>
            <a:off x="7202606" y="1484649"/>
            <a:ext cx="1712792" cy="1763376"/>
          </a:xfrm>
          <a:prstGeom prst="rect">
            <a:avLst/>
          </a:prstGeom>
          <a:solidFill>
            <a:srgbClr val="00B050"/>
          </a:solidFill>
          <a:ln w="25400" cap="flat" cmpd="sng" algn="ctr">
            <a:noFill/>
            <a:prstDash val="solid"/>
            <a:round/>
            <a:headEnd type="none" w="med" len="med"/>
            <a:tailEnd type="arrow" w="med" len="med"/>
          </a:ln>
          <a:effectLst/>
        </p:spPr>
        <p:txBody>
          <a:bodyPr rtlCol="0" anchor="ctr"/>
          <a:lstStyle/>
          <a:p>
            <a:pPr algn="ctr"/>
            <a:endParaRPr lang="en-US" dirty="0"/>
          </a:p>
        </p:txBody>
      </p:sp>
      <p:graphicFrame>
        <p:nvGraphicFramePr>
          <p:cNvPr id="10" name="Table 9">
            <a:extLst>
              <a:ext uri="{FF2B5EF4-FFF2-40B4-BE49-F238E27FC236}">
                <a16:creationId xmlns:a16="http://schemas.microsoft.com/office/drawing/2014/main" id="{78D8BDC6-1EBC-44BD-B44B-9D7CADE3D39E}"/>
              </a:ext>
            </a:extLst>
          </p:cNvPr>
          <p:cNvGraphicFramePr>
            <a:graphicFrameLocks noGrp="1"/>
          </p:cNvGraphicFramePr>
          <p:nvPr userDrawn="1">
            <p:extLst>
              <p:ext uri="{D42A27DB-BD31-4B8C-83A1-F6EECF244321}">
                <p14:modId xmlns:p14="http://schemas.microsoft.com/office/powerpoint/2010/main" val="3066796837"/>
              </p:ext>
            </p:extLst>
          </p:nvPr>
        </p:nvGraphicFramePr>
        <p:xfrm>
          <a:off x="2971800" y="4366827"/>
          <a:ext cx="3771904" cy="1112520"/>
        </p:xfrm>
        <a:graphic>
          <a:graphicData uri="http://schemas.openxmlformats.org/drawingml/2006/table">
            <a:tbl>
              <a:tblPr firstRow="1" bandRow="1">
                <a:tableStyleId>{10A1B5D5-9B99-4C35-A422-299274C87663}</a:tableStyleId>
              </a:tblPr>
              <a:tblGrid>
                <a:gridCol w="471488">
                  <a:extLst>
                    <a:ext uri="{9D8B030D-6E8A-4147-A177-3AD203B41FA5}">
                      <a16:colId xmlns:a16="http://schemas.microsoft.com/office/drawing/2014/main" val="2577927595"/>
                    </a:ext>
                  </a:extLst>
                </a:gridCol>
                <a:gridCol w="471488">
                  <a:extLst>
                    <a:ext uri="{9D8B030D-6E8A-4147-A177-3AD203B41FA5}">
                      <a16:colId xmlns:a16="http://schemas.microsoft.com/office/drawing/2014/main" val="606433411"/>
                    </a:ext>
                  </a:extLst>
                </a:gridCol>
                <a:gridCol w="471488">
                  <a:extLst>
                    <a:ext uri="{9D8B030D-6E8A-4147-A177-3AD203B41FA5}">
                      <a16:colId xmlns:a16="http://schemas.microsoft.com/office/drawing/2014/main" val="1935148469"/>
                    </a:ext>
                  </a:extLst>
                </a:gridCol>
                <a:gridCol w="471488">
                  <a:extLst>
                    <a:ext uri="{9D8B030D-6E8A-4147-A177-3AD203B41FA5}">
                      <a16:colId xmlns:a16="http://schemas.microsoft.com/office/drawing/2014/main" val="1423664982"/>
                    </a:ext>
                  </a:extLst>
                </a:gridCol>
                <a:gridCol w="471488">
                  <a:extLst>
                    <a:ext uri="{9D8B030D-6E8A-4147-A177-3AD203B41FA5}">
                      <a16:colId xmlns:a16="http://schemas.microsoft.com/office/drawing/2014/main" val="333306239"/>
                    </a:ext>
                  </a:extLst>
                </a:gridCol>
                <a:gridCol w="471488">
                  <a:extLst>
                    <a:ext uri="{9D8B030D-6E8A-4147-A177-3AD203B41FA5}">
                      <a16:colId xmlns:a16="http://schemas.microsoft.com/office/drawing/2014/main" val="2126573887"/>
                    </a:ext>
                  </a:extLst>
                </a:gridCol>
                <a:gridCol w="471488">
                  <a:extLst>
                    <a:ext uri="{9D8B030D-6E8A-4147-A177-3AD203B41FA5}">
                      <a16:colId xmlns:a16="http://schemas.microsoft.com/office/drawing/2014/main" val="1892678628"/>
                    </a:ext>
                  </a:extLst>
                </a:gridCol>
                <a:gridCol w="471488">
                  <a:extLst>
                    <a:ext uri="{9D8B030D-6E8A-4147-A177-3AD203B41FA5}">
                      <a16:colId xmlns:a16="http://schemas.microsoft.com/office/drawing/2014/main" val="4207627259"/>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82798785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78295229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548155084"/>
                  </a:ext>
                </a:extLst>
              </a:tr>
            </a:tbl>
          </a:graphicData>
        </a:graphic>
      </p:graphicFrame>
      <p:graphicFrame>
        <p:nvGraphicFramePr>
          <p:cNvPr id="14" name="Table 13">
            <a:extLst>
              <a:ext uri="{FF2B5EF4-FFF2-40B4-BE49-F238E27FC236}">
                <a16:creationId xmlns:a16="http://schemas.microsoft.com/office/drawing/2014/main" id="{D12A690C-2798-41CB-9736-A4C49458C9CF}"/>
              </a:ext>
            </a:extLst>
          </p:cNvPr>
          <p:cNvGraphicFramePr>
            <a:graphicFrameLocks noGrp="1"/>
          </p:cNvGraphicFramePr>
          <p:nvPr userDrawn="1">
            <p:extLst>
              <p:ext uri="{D42A27DB-BD31-4B8C-83A1-F6EECF244321}">
                <p14:modId xmlns:p14="http://schemas.microsoft.com/office/powerpoint/2010/main" val="438517322"/>
              </p:ext>
            </p:extLst>
          </p:nvPr>
        </p:nvGraphicFramePr>
        <p:xfrm>
          <a:off x="2971800" y="3985107"/>
          <a:ext cx="3771904" cy="370840"/>
        </p:xfrm>
        <a:graphic>
          <a:graphicData uri="http://schemas.openxmlformats.org/drawingml/2006/table">
            <a:tbl>
              <a:tblPr firstRow="1" bandRow="1">
                <a:tableStyleId>{10A1B5D5-9B99-4C35-A422-299274C87663}</a:tableStyleId>
              </a:tblPr>
              <a:tblGrid>
                <a:gridCol w="471488">
                  <a:extLst>
                    <a:ext uri="{9D8B030D-6E8A-4147-A177-3AD203B41FA5}">
                      <a16:colId xmlns:a16="http://schemas.microsoft.com/office/drawing/2014/main" val="2577927595"/>
                    </a:ext>
                  </a:extLst>
                </a:gridCol>
                <a:gridCol w="471488">
                  <a:extLst>
                    <a:ext uri="{9D8B030D-6E8A-4147-A177-3AD203B41FA5}">
                      <a16:colId xmlns:a16="http://schemas.microsoft.com/office/drawing/2014/main" val="606433411"/>
                    </a:ext>
                  </a:extLst>
                </a:gridCol>
                <a:gridCol w="471488">
                  <a:extLst>
                    <a:ext uri="{9D8B030D-6E8A-4147-A177-3AD203B41FA5}">
                      <a16:colId xmlns:a16="http://schemas.microsoft.com/office/drawing/2014/main" val="1935148469"/>
                    </a:ext>
                  </a:extLst>
                </a:gridCol>
                <a:gridCol w="471488">
                  <a:extLst>
                    <a:ext uri="{9D8B030D-6E8A-4147-A177-3AD203B41FA5}">
                      <a16:colId xmlns:a16="http://schemas.microsoft.com/office/drawing/2014/main" val="1423664982"/>
                    </a:ext>
                  </a:extLst>
                </a:gridCol>
                <a:gridCol w="471488">
                  <a:extLst>
                    <a:ext uri="{9D8B030D-6E8A-4147-A177-3AD203B41FA5}">
                      <a16:colId xmlns:a16="http://schemas.microsoft.com/office/drawing/2014/main" val="333306239"/>
                    </a:ext>
                  </a:extLst>
                </a:gridCol>
                <a:gridCol w="471488">
                  <a:extLst>
                    <a:ext uri="{9D8B030D-6E8A-4147-A177-3AD203B41FA5}">
                      <a16:colId xmlns:a16="http://schemas.microsoft.com/office/drawing/2014/main" val="2126573887"/>
                    </a:ext>
                  </a:extLst>
                </a:gridCol>
                <a:gridCol w="471488">
                  <a:extLst>
                    <a:ext uri="{9D8B030D-6E8A-4147-A177-3AD203B41FA5}">
                      <a16:colId xmlns:a16="http://schemas.microsoft.com/office/drawing/2014/main" val="1892678628"/>
                    </a:ext>
                  </a:extLst>
                </a:gridCol>
                <a:gridCol w="471488">
                  <a:extLst>
                    <a:ext uri="{9D8B030D-6E8A-4147-A177-3AD203B41FA5}">
                      <a16:colId xmlns:a16="http://schemas.microsoft.com/office/drawing/2014/main" val="4207627259"/>
                    </a:ext>
                  </a:extLst>
                </a:gridCol>
              </a:tblGrid>
              <a:tr h="370840">
                <a:tc>
                  <a:txBody>
                    <a:bodyPr/>
                    <a:lstStyle/>
                    <a:p>
                      <a:pPr algn="ctr"/>
                      <a:r>
                        <a:rPr lang="en-US"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87853"/>
                  </a:ext>
                </a:extLst>
              </a:tr>
            </a:tbl>
          </a:graphicData>
        </a:graphic>
      </p:graphicFrame>
      <p:sp>
        <p:nvSpPr>
          <p:cNvPr id="15" name="TextBox 14">
            <a:extLst>
              <a:ext uri="{FF2B5EF4-FFF2-40B4-BE49-F238E27FC236}">
                <a16:creationId xmlns:a16="http://schemas.microsoft.com/office/drawing/2014/main" id="{D07AA301-0FE2-46F6-A62D-3EF038D0BCCA}"/>
              </a:ext>
            </a:extLst>
          </p:cNvPr>
          <p:cNvSpPr txBox="1"/>
          <p:nvPr userDrawn="1"/>
        </p:nvSpPr>
        <p:spPr>
          <a:xfrm>
            <a:off x="3831615" y="3652690"/>
            <a:ext cx="1712792" cy="369332"/>
          </a:xfrm>
          <a:prstGeom prst="rect">
            <a:avLst/>
          </a:prstGeom>
          <a:noFill/>
        </p:spPr>
        <p:txBody>
          <a:bodyPr wrap="square" rtlCol="0">
            <a:spAutoFit/>
          </a:bodyPr>
          <a:lstStyle/>
          <a:p>
            <a:pPr algn="r"/>
            <a:r>
              <a:rPr lang="en-US" sz="1800" dirty="0">
                <a:solidFill>
                  <a:schemeClr val="tx1"/>
                </a:solidFill>
                <a:latin typeface="Calibri" pitchFamily="34" charset="0"/>
              </a:rPr>
              <a:t>Signal number</a:t>
            </a:r>
          </a:p>
        </p:txBody>
      </p:sp>
      <p:sp>
        <p:nvSpPr>
          <p:cNvPr id="16" name="TextBox 15">
            <a:extLst>
              <a:ext uri="{FF2B5EF4-FFF2-40B4-BE49-F238E27FC236}">
                <a16:creationId xmlns:a16="http://schemas.microsoft.com/office/drawing/2014/main" id="{0F039F43-C14B-4507-976D-9E0ADE2751DD}"/>
              </a:ext>
            </a:extLst>
          </p:cNvPr>
          <p:cNvSpPr txBox="1"/>
          <p:nvPr userDrawn="1"/>
        </p:nvSpPr>
        <p:spPr>
          <a:xfrm>
            <a:off x="1270000" y="1485431"/>
            <a:ext cx="2012474" cy="369332"/>
          </a:xfrm>
          <a:prstGeom prst="rect">
            <a:avLst/>
          </a:prstGeom>
          <a:noFill/>
        </p:spPr>
        <p:txBody>
          <a:bodyPr wrap="none" rtlCol="0">
            <a:spAutoFit/>
          </a:bodyPr>
          <a:lstStyle/>
          <a:p>
            <a:r>
              <a:rPr lang="en-US" sz="1800" dirty="0">
                <a:latin typeface="Calibri" pitchFamily="34" charset="0"/>
              </a:rPr>
              <a:t>Process A (pid:123)</a:t>
            </a:r>
          </a:p>
        </p:txBody>
      </p:sp>
      <p:sp>
        <p:nvSpPr>
          <p:cNvPr id="17" name="TextBox 16">
            <a:extLst>
              <a:ext uri="{FF2B5EF4-FFF2-40B4-BE49-F238E27FC236}">
                <a16:creationId xmlns:a16="http://schemas.microsoft.com/office/drawing/2014/main" id="{B49E8358-A7F0-46E8-9044-1E1E28F79566}"/>
              </a:ext>
            </a:extLst>
          </p:cNvPr>
          <p:cNvSpPr txBox="1"/>
          <p:nvPr userDrawn="1"/>
        </p:nvSpPr>
        <p:spPr>
          <a:xfrm>
            <a:off x="4309172" y="1485431"/>
            <a:ext cx="2055756" cy="369332"/>
          </a:xfrm>
          <a:prstGeom prst="rect">
            <a:avLst/>
          </a:prstGeom>
          <a:noFill/>
        </p:spPr>
        <p:txBody>
          <a:bodyPr wrap="none" rtlCol="0">
            <a:spAutoFit/>
          </a:bodyPr>
          <a:lstStyle/>
          <a:p>
            <a:r>
              <a:rPr lang="en-US" sz="1800" dirty="0">
                <a:latin typeface="Calibri" pitchFamily="34" charset="0"/>
              </a:rPr>
              <a:t>Process B (</a:t>
            </a:r>
            <a:r>
              <a:rPr lang="en-US" sz="1800" dirty="0" err="1">
                <a:latin typeface="Calibri" pitchFamily="34" charset="0"/>
              </a:rPr>
              <a:t>pid</a:t>
            </a:r>
            <a:r>
              <a:rPr lang="en-US" sz="1800" dirty="0">
                <a:latin typeface="Calibri" pitchFamily="34" charset="0"/>
              </a:rPr>
              <a:t>: 456)</a:t>
            </a:r>
          </a:p>
        </p:txBody>
      </p:sp>
      <p:sp>
        <p:nvSpPr>
          <p:cNvPr id="18" name="TextBox 17">
            <a:extLst>
              <a:ext uri="{FF2B5EF4-FFF2-40B4-BE49-F238E27FC236}">
                <a16:creationId xmlns:a16="http://schemas.microsoft.com/office/drawing/2014/main" id="{6C6F4CD5-DC3B-421C-A3E2-A43B0E121046}"/>
              </a:ext>
            </a:extLst>
          </p:cNvPr>
          <p:cNvSpPr txBox="1"/>
          <p:nvPr userDrawn="1"/>
        </p:nvSpPr>
        <p:spPr>
          <a:xfrm>
            <a:off x="7142546" y="1485431"/>
            <a:ext cx="1866601" cy="369332"/>
          </a:xfrm>
          <a:prstGeom prst="rect">
            <a:avLst/>
          </a:prstGeom>
          <a:noFill/>
        </p:spPr>
        <p:txBody>
          <a:bodyPr wrap="none" rtlCol="0">
            <a:spAutoFit/>
          </a:bodyPr>
          <a:lstStyle/>
          <a:p>
            <a:r>
              <a:rPr lang="en-US" sz="1800" dirty="0">
                <a:latin typeface="Calibri" pitchFamily="34" charset="0"/>
              </a:rPr>
              <a:t>Process C (</a:t>
            </a:r>
            <a:r>
              <a:rPr lang="en-US" sz="1800" dirty="0" err="1">
                <a:latin typeface="Calibri" pitchFamily="34" charset="0"/>
              </a:rPr>
              <a:t>pid</a:t>
            </a:r>
            <a:r>
              <a:rPr lang="en-US" sz="1800" dirty="0">
                <a:latin typeface="Calibri" pitchFamily="34" charset="0"/>
              </a:rPr>
              <a:t> 11)</a:t>
            </a:r>
          </a:p>
        </p:txBody>
      </p:sp>
      <p:graphicFrame>
        <p:nvGraphicFramePr>
          <p:cNvPr id="19" name="Table 18">
            <a:extLst>
              <a:ext uri="{FF2B5EF4-FFF2-40B4-BE49-F238E27FC236}">
                <a16:creationId xmlns:a16="http://schemas.microsoft.com/office/drawing/2014/main" id="{3714AF33-86C9-4677-9AAC-03102CFB57EF}"/>
              </a:ext>
            </a:extLst>
          </p:cNvPr>
          <p:cNvGraphicFramePr>
            <a:graphicFrameLocks noGrp="1"/>
          </p:cNvGraphicFramePr>
          <p:nvPr userDrawn="1">
            <p:extLst>
              <p:ext uri="{D42A27DB-BD31-4B8C-83A1-F6EECF244321}">
                <p14:modId xmlns:p14="http://schemas.microsoft.com/office/powerpoint/2010/main" val="786882015"/>
              </p:ext>
            </p:extLst>
          </p:nvPr>
        </p:nvGraphicFramePr>
        <p:xfrm>
          <a:off x="2971800" y="5596259"/>
          <a:ext cx="3771904" cy="1112520"/>
        </p:xfrm>
        <a:graphic>
          <a:graphicData uri="http://schemas.openxmlformats.org/drawingml/2006/table">
            <a:tbl>
              <a:tblPr firstRow="1" bandRow="1">
                <a:tableStyleId>{10A1B5D5-9B99-4C35-A422-299274C87663}</a:tableStyleId>
              </a:tblPr>
              <a:tblGrid>
                <a:gridCol w="471488">
                  <a:extLst>
                    <a:ext uri="{9D8B030D-6E8A-4147-A177-3AD203B41FA5}">
                      <a16:colId xmlns:a16="http://schemas.microsoft.com/office/drawing/2014/main" val="2577927595"/>
                    </a:ext>
                  </a:extLst>
                </a:gridCol>
                <a:gridCol w="471488">
                  <a:extLst>
                    <a:ext uri="{9D8B030D-6E8A-4147-A177-3AD203B41FA5}">
                      <a16:colId xmlns:a16="http://schemas.microsoft.com/office/drawing/2014/main" val="606433411"/>
                    </a:ext>
                  </a:extLst>
                </a:gridCol>
                <a:gridCol w="471488">
                  <a:extLst>
                    <a:ext uri="{9D8B030D-6E8A-4147-A177-3AD203B41FA5}">
                      <a16:colId xmlns:a16="http://schemas.microsoft.com/office/drawing/2014/main" val="1935148469"/>
                    </a:ext>
                  </a:extLst>
                </a:gridCol>
                <a:gridCol w="471488">
                  <a:extLst>
                    <a:ext uri="{9D8B030D-6E8A-4147-A177-3AD203B41FA5}">
                      <a16:colId xmlns:a16="http://schemas.microsoft.com/office/drawing/2014/main" val="1423664982"/>
                    </a:ext>
                  </a:extLst>
                </a:gridCol>
                <a:gridCol w="471488">
                  <a:extLst>
                    <a:ext uri="{9D8B030D-6E8A-4147-A177-3AD203B41FA5}">
                      <a16:colId xmlns:a16="http://schemas.microsoft.com/office/drawing/2014/main" val="333306239"/>
                    </a:ext>
                  </a:extLst>
                </a:gridCol>
                <a:gridCol w="471488">
                  <a:extLst>
                    <a:ext uri="{9D8B030D-6E8A-4147-A177-3AD203B41FA5}">
                      <a16:colId xmlns:a16="http://schemas.microsoft.com/office/drawing/2014/main" val="2126573887"/>
                    </a:ext>
                  </a:extLst>
                </a:gridCol>
                <a:gridCol w="471488">
                  <a:extLst>
                    <a:ext uri="{9D8B030D-6E8A-4147-A177-3AD203B41FA5}">
                      <a16:colId xmlns:a16="http://schemas.microsoft.com/office/drawing/2014/main" val="1892678628"/>
                    </a:ext>
                  </a:extLst>
                </a:gridCol>
                <a:gridCol w="471488">
                  <a:extLst>
                    <a:ext uri="{9D8B030D-6E8A-4147-A177-3AD203B41FA5}">
                      <a16:colId xmlns:a16="http://schemas.microsoft.com/office/drawing/2014/main" val="4207627259"/>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798785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295229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8155084"/>
                  </a:ext>
                </a:extLst>
              </a:tr>
            </a:tbl>
          </a:graphicData>
        </a:graphic>
      </p:graphicFrame>
    </p:spTree>
    <p:extLst>
      <p:ext uri="{BB962C8B-B14F-4D97-AF65-F5344CB8AC3E}">
        <p14:creationId xmlns:p14="http://schemas.microsoft.com/office/powerpoint/2010/main" val="24695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libri" pitchFamily="34" charset="0"/>
              </a:defRPr>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2488" y="1362075"/>
            <a:ext cx="3871912"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lvl1pPr>
              <a:defRPr>
                <a:latin typeface="Calibri" pitchFamily="34" charset="0"/>
              </a:defRPr>
            </a:lvl1pPr>
          </a:lstStyle>
          <a:p>
            <a:r>
              <a:rPr lang="en-US"/>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rgbClr val="E0E0E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C145BC-05AB-4D97-917D-42ACCA3CFAF0}"/>
              </a:ext>
            </a:extLst>
          </p:cNvPr>
          <p:cNvPicPr>
            <a:picLocks noChangeAspect="1"/>
          </p:cNvPicPr>
          <p:nvPr userDrawn="1"/>
        </p:nvPicPr>
        <p:blipFill rotWithShape="1">
          <a:blip r:embed="rId2"/>
          <a:srcRect l="29422"/>
          <a:stretch/>
        </p:blipFill>
        <p:spPr>
          <a:xfrm>
            <a:off x="4096251" y="0"/>
            <a:ext cx="5047749" cy="6858000"/>
          </a:xfrm>
          <a:prstGeom prst="rect">
            <a:avLst/>
          </a:prstGeom>
        </p:spPr>
      </p:pic>
      <p:sp>
        <p:nvSpPr>
          <p:cNvPr id="2" name="Title 1"/>
          <p:cNvSpPr>
            <a:spLocks noGrp="1"/>
          </p:cNvSpPr>
          <p:nvPr>
            <p:ph type="title"/>
          </p:nvPr>
        </p:nvSpPr>
        <p:spPr>
          <a:xfrm>
            <a:off x="2768600" y="89470"/>
            <a:ext cx="6261100" cy="762000"/>
          </a:xfrm>
        </p:spPr>
        <p:txBody>
          <a:bodyPr/>
          <a:lstStyle>
            <a:lvl1pPr>
              <a:defRPr sz="2400">
                <a:latin typeface="Calibri" pitchFamily="34" charset="0"/>
              </a:defRPr>
            </a:lvl1pPr>
          </a:lstStyle>
          <a:p>
            <a:r>
              <a:rPr lang="en-US" dirty="0"/>
              <a:t>Click to edit Master title style</a:t>
            </a:r>
          </a:p>
        </p:txBody>
      </p:sp>
    </p:spTree>
    <p:extLst>
      <p:ext uri="{BB962C8B-B14F-4D97-AF65-F5344CB8AC3E}">
        <p14:creationId xmlns:p14="http://schemas.microsoft.com/office/powerpoint/2010/main" val="3261651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libri" pitchFamily="34" charset="0"/>
              </a:defRPr>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libri" pitchFamily="34" charset="0"/>
              </a:defRPr>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lvl1pPr>
              <a:defRPr>
                <a:latin typeface="Calibri" pitchFamily="34" charset="0"/>
              </a:defRPr>
            </a:lvl1pPr>
          </a:lstStyle>
          <a:p>
            <a:r>
              <a:rPr lang="en-US"/>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2488" y="1362075"/>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2488" y="3924300"/>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a:t>Click to edit Master title style</a:t>
            </a:r>
          </a:p>
        </p:txBody>
      </p:sp>
      <p:sp>
        <p:nvSpPr>
          <p:cNvPr id="3" name="Text Placeholder 2"/>
          <p:cNvSpPr>
            <a:spLocks noGrp="1"/>
          </p:cNvSpPr>
          <p:nvPr>
            <p:ph type="body"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2488" y="1362075"/>
            <a:ext cx="3871912"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74090" y="371182"/>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8195"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Box 5"/>
          <p:cNvSpPr txBox="1">
            <a:spLocks noChangeArrowheads="1"/>
          </p:cNvSpPr>
          <p:nvPr/>
        </p:nvSpPr>
        <p:spPr bwMode="auto">
          <a:xfrm>
            <a:off x="7897813" y="-26988"/>
            <a:ext cx="1309687" cy="277813"/>
          </a:xfrm>
          <a:prstGeom prst="rect">
            <a:avLst/>
          </a:prstGeom>
          <a:noFill/>
          <a:ln w="25400">
            <a:noFill/>
            <a:miter lim="800000"/>
            <a:headEnd/>
            <a:tailEnd/>
          </a:ln>
          <a:effectLst/>
        </p:spPr>
        <p:txBody>
          <a:bodyPr>
            <a:spAutoFit/>
          </a:bodyPr>
          <a:lstStyle/>
          <a:p>
            <a:pPr>
              <a:defRPr/>
            </a:pPr>
            <a:r>
              <a:rPr lang="en-US" sz="1200">
                <a:solidFill>
                  <a:schemeClr val="bg1"/>
                </a:solidFill>
                <a:latin typeface="Times New Roman" pitchFamily="18" charset="0"/>
              </a:rPr>
              <a:t>Carnegie Mellon</a:t>
            </a:r>
          </a:p>
        </p:txBody>
      </p:sp>
    </p:spTree>
  </p:cSld>
  <p:clrMap bg1="lt1" tx1="dk1" bg2="lt2" tx2="dk2" accent1="accent1" accent2="accent2" accent3="accent3" accent4="accent4" accent5="accent5" accent6="accent6" hlink="hlink" folHlink="folHlink"/>
  <p:sldLayoutIdLst>
    <p:sldLayoutId id="2147483661" r:id="rId1"/>
    <p:sldLayoutId id="2147483660" r:id="rId2"/>
    <p:sldLayoutId id="2147483662" r:id="rId3"/>
    <p:sldLayoutId id="2147483663" r:id="rId4"/>
    <p:sldLayoutId id="2147483664" r:id="rId5"/>
    <p:sldLayoutId id="2147483659" r:id="rId6"/>
    <p:sldLayoutId id="2147483658" r:id="rId7"/>
    <p:sldLayoutId id="2147483657" r:id="rId8"/>
    <p:sldLayoutId id="2147483656" r:id="rId9"/>
    <p:sldLayoutId id="2147483665" r:id="rId10"/>
    <p:sldLayoutId id="2147483655" r:id="rId11"/>
    <p:sldLayoutId id="2147483654" r:id="rId12"/>
    <p:sldLayoutId id="2147483653" r:id="rId13"/>
    <p:sldLayoutId id="2147483652" r:id="rId14"/>
    <p:sldLayoutId id="2147483651" r:id="rId15"/>
    <p:sldLayoutId id="2147483650" r:id="rId16"/>
    <p:sldLayoutId id="2147483649" r:id="rId17"/>
  </p:sldLayoutIdLst>
  <p:txStyles>
    <p:title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QPXsYOPex4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itsfoss.com/linux-man-page-guid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linuxuni.com/how-to-read-a-linux-man-pag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708150"/>
            <a:ext cx="7772400" cy="1470025"/>
          </a:xfrm>
        </p:spPr>
        <p:txBody>
          <a:bodyPr/>
          <a:lstStyle/>
          <a:p>
            <a:pPr marL="0" indent="0"/>
            <a:r>
              <a:rPr lang="en-US" dirty="0"/>
              <a:t>RTFM (Read The F**king(*) Manual)</a:t>
            </a:r>
            <a:br>
              <a:rPr lang="en-US" dirty="0"/>
            </a:br>
            <a:r>
              <a:rPr lang="en-US" dirty="0"/>
              <a:t>- How to</a:t>
            </a:r>
            <a:endParaRPr lang="en-US" sz="2000" b="0" dirty="0"/>
          </a:p>
        </p:txBody>
      </p:sp>
      <p:sp>
        <p:nvSpPr>
          <p:cNvPr id="2" name="TextBox 1">
            <a:extLst>
              <a:ext uri="{FF2B5EF4-FFF2-40B4-BE49-F238E27FC236}">
                <a16:creationId xmlns:a16="http://schemas.microsoft.com/office/drawing/2014/main" id="{5B8A1AA9-B88E-0B3F-AA9B-C058F4E225FD}"/>
              </a:ext>
            </a:extLst>
          </p:cNvPr>
          <p:cNvSpPr txBox="1"/>
          <p:nvPr/>
        </p:nvSpPr>
        <p:spPr>
          <a:xfrm>
            <a:off x="1031131" y="5321030"/>
            <a:ext cx="6702357" cy="369332"/>
          </a:xfrm>
          <a:prstGeom prst="rect">
            <a:avLst/>
          </a:prstGeom>
          <a:noFill/>
        </p:spPr>
        <p:txBody>
          <a:bodyPr wrap="square" rtlCol="0">
            <a:spAutoFit/>
          </a:bodyPr>
          <a:lstStyle/>
          <a:p>
            <a:r>
              <a:rPr lang="tr-TR" sz="1800" dirty="0">
                <a:latin typeface="Calibri" pitchFamily="34" charset="0"/>
              </a:rPr>
              <a:t>(*) </a:t>
            </a:r>
            <a:r>
              <a:rPr lang="tr-TR" sz="1800" dirty="0" err="1">
                <a:latin typeface="Calibri" pitchFamily="34" charset="0"/>
              </a:rPr>
              <a:t>See</a:t>
            </a:r>
            <a:r>
              <a:rPr lang="tr-TR" sz="1800" dirty="0">
                <a:latin typeface="Calibri" pitchFamily="34" charset="0"/>
              </a:rPr>
              <a:t> </a:t>
            </a:r>
            <a:r>
              <a:rPr lang="tr-TR" sz="1800" dirty="0">
                <a:latin typeface="Calibri" pitchFamily="34" charset="0"/>
                <a:hlinkClick r:id="rId3"/>
              </a:rPr>
              <a:t>https://www.youtube.com/watch?v=QPXsYOPex4s</a:t>
            </a:r>
            <a:r>
              <a:rPr lang="tr-TR" sz="1800" dirty="0">
                <a:latin typeface="Calibri" pitchFamily="34" charset="0"/>
              </a:rPr>
              <a:t> </a:t>
            </a:r>
          </a:p>
        </p:txBody>
      </p:sp>
    </p:spTree>
    <p:extLst>
      <p:ext uri="{BB962C8B-B14F-4D97-AF65-F5344CB8AC3E}">
        <p14:creationId xmlns:p14="http://schemas.microsoft.com/office/powerpoint/2010/main" val="13868377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t>
            </a:r>
            <a:r>
              <a:rPr lang="en-US" dirty="0" err="1"/>
              <a:t>ual</a:t>
            </a:r>
            <a:r>
              <a:rPr lang="en-US" dirty="0"/>
              <a:t>)</a:t>
            </a:r>
          </a:p>
        </p:txBody>
      </p:sp>
      <p:sp>
        <p:nvSpPr>
          <p:cNvPr id="3" name="Content Placeholder 2"/>
          <p:cNvSpPr>
            <a:spLocks noGrp="1"/>
          </p:cNvSpPr>
          <p:nvPr>
            <p:ph idx="1"/>
          </p:nvPr>
        </p:nvSpPr>
        <p:spPr/>
        <p:txBody>
          <a:bodyPr>
            <a:normAutofit fontScale="55000" lnSpcReduction="20000"/>
          </a:bodyPr>
          <a:lstStyle/>
          <a:p>
            <a:pPr>
              <a:lnSpc>
                <a:spcPct val="120000"/>
              </a:lnSpc>
            </a:pPr>
            <a:r>
              <a:rPr lang="en-US" b="0" i="0" dirty="0">
                <a:solidFill>
                  <a:srgbClr val="4A474B"/>
                </a:solidFill>
                <a:effectLst/>
                <a:highlight>
                  <a:srgbClr val="FFFFFF"/>
                </a:highlight>
                <a:latin typeface="Lato" panose="020F0502020204030203" pitchFamily="34" charset="0"/>
              </a:rPr>
              <a:t>Man pages aren’t like a story where you start from the beginning and read straight through to the end – it pays to pick the bits you need out of them while skipping the parts that aren’t relevant. The trick is to know how to find the relevant bits. </a:t>
            </a:r>
          </a:p>
          <a:p>
            <a:pPr algn="l">
              <a:lnSpc>
                <a:spcPct val="120000"/>
              </a:lnSpc>
            </a:pPr>
            <a:r>
              <a:rPr lang="en-US" b="0" i="0" dirty="0">
                <a:solidFill>
                  <a:srgbClr val="4A474B"/>
                </a:solidFill>
                <a:effectLst/>
                <a:highlight>
                  <a:srgbClr val="FFFFFF"/>
                </a:highlight>
                <a:latin typeface="Lato" panose="020F0502020204030203" pitchFamily="34" charset="0"/>
              </a:rPr>
              <a:t>Assuming you know roughly what you want to do the place to start is with the description, in particular the description of what the program actually does. This should tell you whether the program will do what you want, or whether you should go looking for something else that will. Read the general description in full to find this out.</a:t>
            </a:r>
          </a:p>
          <a:p>
            <a:pPr algn="l">
              <a:lnSpc>
                <a:spcPct val="120000"/>
              </a:lnSpc>
            </a:pPr>
            <a:r>
              <a:rPr lang="en-US" b="0" i="0" dirty="0">
                <a:solidFill>
                  <a:srgbClr val="4A474B"/>
                </a:solidFill>
                <a:effectLst/>
                <a:highlight>
                  <a:srgbClr val="FFFFFF"/>
                </a:highlight>
                <a:latin typeface="Lato" panose="020F0502020204030203" pitchFamily="34" charset="0"/>
              </a:rPr>
              <a:t>Once you’ve decided to give this program a try you should quickly flick through the list of options looking for keywords. For example, if you want to know how to list all files in a directory look for the keyword ‘all’, and quickly read about any options that look relevant. This can be helped using the search function, which can be brought up by hitting the ‘/’ key and typing in the search term. You can jump to the next instance of the term using ‘n’, and the previous instance using ‘N’.</a:t>
            </a:r>
          </a:p>
          <a:p>
            <a:pPr algn="l">
              <a:lnSpc>
                <a:spcPct val="120000"/>
              </a:lnSpc>
            </a:pPr>
            <a:r>
              <a:rPr lang="en-US" b="0" i="0" dirty="0">
                <a:solidFill>
                  <a:srgbClr val="4A474B"/>
                </a:solidFill>
                <a:effectLst/>
                <a:highlight>
                  <a:srgbClr val="FFFFFF"/>
                </a:highlight>
                <a:latin typeface="Lato" panose="020F0502020204030203" pitchFamily="34" charset="0"/>
              </a:rPr>
              <a:t>Check to see if there are any examples listed, and if there are, base your command line on the example that seems most relevant. If there aren’t any, start with the plain command name and build from there.</a:t>
            </a:r>
          </a:p>
          <a:p>
            <a:pPr algn="l">
              <a:lnSpc>
                <a:spcPct val="120000"/>
              </a:lnSpc>
            </a:pPr>
            <a:r>
              <a:rPr lang="en-US" b="0" i="0" dirty="0">
                <a:solidFill>
                  <a:srgbClr val="4A474B"/>
                </a:solidFill>
                <a:effectLst/>
                <a:highlight>
                  <a:srgbClr val="FFFFFF"/>
                </a:highlight>
                <a:latin typeface="Lato" panose="020F0502020204030203" pitchFamily="34" charset="0"/>
              </a:rPr>
              <a:t>If there is an option allowing you to do a dry run – i.e. to run your command without any actual changes being made – you should make use of it. Unix commands are very unforgiving, and if you make even a trivial typo it can have disastrous consequences (some time you should try running ‘rm -rf * ~’, but only on a machine where you don’t mind losing your home directory ;-).</a:t>
            </a:r>
          </a:p>
          <a:p>
            <a:pPr algn="l">
              <a:lnSpc>
                <a:spcPct val="120000"/>
              </a:lnSpc>
            </a:pPr>
            <a:r>
              <a:rPr lang="en-US" b="0" i="0" dirty="0">
                <a:solidFill>
                  <a:srgbClr val="4A474B"/>
                </a:solidFill>
                <a:effectLst/>
                <a:highlight>
                  <a:srgbClr val="FFFFFF"/>
                </a:highlight>
                <a:latin typeface="Lato" panose="020F0502020204030203" pitchFamily="34" charset="0"/>
              </a:rPr>
              <a:t>Finally, if you find that you need more information or that the program doesn’t do what you wanted, you should look at the ‘see also’ section to try and find something that will.</a:t>
            </a:r>
          </a:p>
          <a:p>
            <a:pPr>
              <a:lnSpc>
                <a:spcPct val="120000"/>
              </a:lnSpc>
            </a:pPr>
            <a:endParaRPr lang="en-US" dirty="0"/>
          </a:p>
        </p:txBody>
      </p:sp>
    </p:spTree>
    <p:extLst>
      <p:ext uri="{BB962C8B-B14F-4D97-AF65-F5344CB8AC3E}">
        <p14:creationId xmlns:p14="http://schemas.microsoft.com/office/powerpoint/2010/main" val="267953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9E272-F53A-F676-B07E-2617FCACCC12}"/>
              </a:ext>
            </a:extLst>
          </p:cNvPr>
          <p:cNvSpPr>
            <a:spLocks noGrp="1"/>
          </p:cNvSpPr>
          <p:nvPr>
            <p:ph type="title"/>
          </p:nvPr>
        </p:nvSpPr>
        <p:spPr/>
        <p:txBody>
          <a:bodyPr/>
          <a:lstStyle/>
          <a:p>
            <a:r>
              <a:rPr lang="tr-TR" dirty="0" err="1"/>
              <a:t>man</a:t>
            </a:r>
            <a:r>
              <a:rPr lang="tr-TR" dirty="0"/>
              <a:t>  -  how </a:t>
            </a:r>
            <a:r>
              <a:rPr lang="tr-TR" dirty="0" err="1"/>
              <a:t>to</a:t>
            </a:r>
            <a:r>
              <a:rPr lang="tr-TR" dirty="0"/>
              <a:t> RTFM!</a:t>
            </a:r>
          </a:p>
        </p:txBody>
      </p:sp>
      <p:sp>
        <p:nvSpPr>
          <p:cNvPr id="3" name="Content Placeholder 2">
            <a:extLst>
              <a:ext uri="{FF2B5EF4-FFF2-40B4-BE49-F238E27FC236}">
                <a16:creationId xmlns:a16="http://schemas.microsoft.com/office/drawing/2014/main" id="{1D797EE9-CF21-368B-BA3A-A8568B8753AB}"/>
              </a:ext>
            </a:extLst>
          </p:cNvPr>
          <p:cNvSpPr>
            <a:spLocks noGrp="1"/>
          </p:cNvSpPr>
          <p:nvPr>
            <p:ph idx="1"/>
          </p:nvPr>
        </p:nvSpPr>
        <p:spPr/>
        <p:txBody>
          <a:bodyPr/>
          <a:lstStyle/>
          <a:p>
            <a:r>
              <a:rPr lang="tr-TR" dirty="0"/>
              <a:t>&gt; </a:t>
            </a:r>
            <a:r>
              <a:rPr lang="tr-TR" dirty="0" err="1"/>
              <a:t>man</a:t>
            </a:r>
            <a:r>
              <a:rPr lang="tr-TR" dirty="0"/>
              <a:t> </a:t>
            </a:r>
            <a:r>
              <a:rPr lang="tr-TR" dirty="0" err="1"/>
              <a:t>man</a:t>
            </a:r>
            <a:endParaRPr lang="tr-TR" dirty="0"/>
          </a:p>
          <a:p>
            <a:r>
              <a:rPr lang="tr-TR" dirty="0"/>
              <a:t>&gt; </a:t>
            </a:r>
            <a:r>
              <a:rPr lang="tr-TR" dirty="0" err="1"/>
              <a:t>man</a:t>
            </a:r>
            <a:r>
              <a:rPr lang="tr-TR" dirty="0"/>
              <a:t> n </a:t>
            </a:r>
            <a:r>
              <a:rPr lang="tr-TR" dirty="0" err="1"/>
              <a:t>open</a:t>
            </a:r>
            <a:r>
              <a:rPr lang="tr-TR" dirty="0"/>
              <a:t> </a:t>
            </a:r>
          </a:p>
          <a:p>
            <a:pPr lvl="1"/>
            <a:r>
              <a:rPr lang="tr-TR" dirty="0"/>
              <a:t>n:</a:t>
            </a:r>
          </a:p>
          <a:p>
            <a:pPr lvl="2"/>
            <a:r>
              <a:rPr lang="tr-TR" dirty="0"/>
              <a:t>1 : Shell </a:t>
            </a:r>
            <a:r>
              <a:rPr lang="tr-TR" dirty="0" err="1"/>
              <a:t>commands</a:t>
            </a:r>
            <a:r>
              <a:rPr lang="tr-TR" dirty="0"/>
              <a:t> </a:t>
            </a:r>
            <a:r>
              <a:rPr lang="tr-TR" dirty="0" err="1"/>
              <a:t>and</a:t>
            </a:r>
            <a:r>
              <a:rPr lang="tr-TR" dirty="0"/>
              <a:t> </a:t>
            </a:r>
            <a:r>
              <a:rPr lang="tr-TR" dirty="0" err="1"/>
              <a:t>applications</a:t>
            </a:r>
            <a:endParaRPr lang="tr-TR" dirty="0"/>
          </a:p>
          <a:p>
            <a:pPr lvl="2"/>
            <a:r>
              <a:rPr lang="tr-TR" dirty="0"/>
              <a:t>2 : Basic </a:t>
            </a:r>
            <a:r>
              <a:rPr lang="tr-TR" dirty="0" err="1"/>
              <a:t>kernel</a:t>
            </a:r>
            <a:r>
              <a:rPr lang="tr-TR" dirty="0"/>
              <a:t> </a:t>
            </a:r>
            <a:r>
              <a:rPr lang="tr-TR" dirty="0" err="1"/>
              <a:t>services</a:t>
            </a:r>
            <a:r>
              <a:rPr lang="tr-TR" dirty="0"/>
              <a:t> – </a:t>
            </a:r>
            <a:r>
              <a:rPr lang="tr-TR" dirty="0" err="1"/>
              <a:t>system</a:t>
            </a:r>
            <a:r>
              <a:rPr lang="tr-TR" dirty="0"/>
              <a:t> </a:t>
            </a:r>
            <a:r>
              <a:rPr lang="tr-TR" dirty="0" err="1"/>
              <a:t>calls</a:t>
            </a:r>
            <a:r>
              <a:rPr lang="tr-TR" dirty="0"/>
              <a:t> </a:t>
            </a:r>
            <a:r>
              <a:rPr lang="tr-TR" dirty="0" err="1"/>
              <a:t>and</a:t>
            </a:r>
            <a:r>
              <a:rPr lang="tr-TR" dirty="0"/>
              <a:t> </a:t>
            </a:r>
            <a:r>
              <a:rPr lang="tr-TR" dirty="0" err="1"/>
              <a:t>error</a:t>
            </a:r>
            <a:r>
              <a:rPr lang="tr-TR" dirty="0"/>
              <a:t> </a:t>
            </a:r>
            <a:r>
              <a:rPr lang="tr-TR" dirty="0" err="1"/>
              <a:t>codes</a:t>
            </a:r>
            <a:endParaRPr lang="tr-TR" dirty="0"/>
          </a:p>
          <a:p>
            <a:pPr lvl="2"/>
            <a:r>
              <a:rPr lang="tr-TR" dirty="0"/>
              <a:t>3 : Library </a:t>
            </a:r>
            <a:r>
              <a:rPr lang="tr-TR" dirty="0" err="1"/>
              <a:t>information</a:t>
            </a:r>
            <a:r>
              <a:rPr lang="tr-TR" dirty="0"/>
              <a:t> </a:t>
            </a:r>
            <a:r>
              <a:rPr lang="tr-TR" dirty="0" err="1"/>
              <a:t>for</a:t>
            </a:r>
            <a:r>
              <a:rPr lang="tr-TR" dirty="0"/>
              <a:t> </a:t>
            </a:r>
            <a:r>
              <a:rPr lang="tr-TR" dirty="0" err="1"/>
              <a:t>programmers</a:t>
            </a:r>
            <a:endParaRPr lang="tr-TR" dirty="0"/>
          </a:p>
          <a:p>
            <a:endParaRPr lang="tr-TR" dirty="0"/>
          </a:p>
        </p:txBody>
      </p:sp>
      <p:sp>
        <p:nvSpPr>
          <p:cNvPr id="5" name="TextBox 4">
            <a:extLst>
              <a:ext uri="{FF2B5EF4-FFF2-40B4-BE49-F238E27FC236}">
                <a16:creationId xmlns:a16="http://schemas.microsoft.com/office/drawing/2014/main" id="{AB6716B4-D598-C238-B9B1-FC5FF97D9816}"/>
              </a:ext>
            </a:extLst>
          </p:cNvPr>
          <p:cNvSpPr txBox="1"/>
          <p:nvPr/>
        </p:nvSpPr>
        <p:spPr>
          <a:xfrm>
            <a:off x="396875" y="6103292"/>
            <a:ext cx="7059267" cy="461665"/>
          </a:xfrm>
          <a:prstGeom prst="rect">
            <a:avLst/>
          </a:prstGeom>
          <a:noFill/>
        </p:spPr>
        <p:txBody>
          <a:bodyPr wrap="square">
            <a:spAutoFit/>
          </a:bodyPr>
          <a:lstStyle/>
          <a:p>
            <a:r>
              <a:rPr lang="tr-TR" dirty="0"/>
              <a:t> </a:t>
            </a:r>
            <a:r>
              <a:rPr lang="tr-TR" dirty="0">
                <a:hlinkClick r:id="rId2"/>
              </a:rPr>
              <a:t>https://itsfoss.com/linux-man-page-guide/</a:t>
            </a:r>
            <a:r>
              <a:rPr lang="tr-TR" dirty="0"/>
              <a:t> </a:t>
            </a:r>
          </a:p>
        </p:txBody>
      </p:sp>
    </p:spTree>
    <p:extLst>
      <p:ext uri="{BB962C8B-B14F-4D97-AF65-F5344CB8AC3E}">
        <p14:creationId xmlns:p14="http://schemas.microsoft.com/office/powerpoint/2010/main" val="3410968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71E8-AD0B-B8C0-026B-FB89BD7B1547}"/>
              </a:ext>
            </a:extLst>
          </p:cNvPr>
          <p:cNvSpPr>
            <a:spLocks noGrp="1"/>
          </p:cNvSpPr>
          <p:nvPr>
            <p:ph type="title"/>
          </p:nvPr>
        </p:nvSpPr>
        <p:spPr/>
        <p:txBody>
          <a:bodyPr/>
          <a:lstStyle/>
          <a:p>
            <a:r>
              <a:rPr lang="tr-TR" dirty="0"/>
              <a:t>Man </a:t>
            </a:r>
            <a:r>
              <a:rPr lang="tr-TR" dirty="0" err="1"/>
              <a:t>mmap</a:t>
            </a:r>
            <a:endParaRPr lang="tr-TR" dirty="0"/>
          </a:p>
        </p:txBody>
      </p:sp>
      <p:pic>
        <p:nvPicPr>
          <p:cNvPr id="4" name="Content Placeholder 3">
            <a:extLst>
              <a:ext uri="{FF2B5EF4-FFF2-40B4-BE49-F238E27FC236}">
                <a16:creationId xmlns:a16="http://schemas.microsoft.com/office/drawing/2014/main" id="{201AB889-8543-6DDA-AEA6-B2BD788F8789}"/>
              </a:ext>
            </a:extLst>
          </p:cNvPr>
          <p:cNvPicPr>
            <a:picLocks noGrp="1" noChangeAspect="1"/>
          </p:cNvPicPr>
          <p:nvPr>
            <p:ph idx="1"/>
          </p:nvPr>
        </p:nvPicPr>
        <p:blipFill>
          <a:blip r:embed="rId2"/>
          <a:stretch>
            <a:fillRect/>
          </a:stretch>
        </p:blipFill>
        <p:spPr>
          <a:xfrm>
            <a:off x="1354281" y="1362075"/>
            <a:ext cx="5981413" cy="4972050"/>
          </a:xfrm>
          <a:prstGeom prst="rect">
            <a:avLst/>
          </a:prstGeom>
        </p:spPr>
      </p:pic>
    </p:spTree>
    <p:extLst>
      <p:ext uri="{BB962C8B-B14F-4D97-AF65-F5344CB8AC3E}">
        <p14:creationId xmlns:p14="http://schemas.microsoft.com/office/powerpoint/2010/main" val="2812351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3D906-2C37-4F3C-F470-3A917344C412}"/>
              </a:ext>
            </a:extLst>
          </p:cNvPr>
          <p:cNvSpPr>
            <a:spLocks noGrp="1"/>
          </p:cNvSpPr>
          <p:nvPr>
            <p:ph type="title"/>
          </p:nvPr>
        </p:nvSpPr>
        <p:spPr/>
        <p:txBody>
          <a:bodyPr/>
          <a:lstStyle/>
          <a:p>
            <a:r>
              <a:rPr lang="tr-TR" dirty="0" err="1"/>
              <a:t>Structure</a:t>
            </a:r>
            <a:r>
              <a:rPr lang="tr-TR" dirty="0"/>
              <a:t> of a Linux </a:t>
            </a:r>
            <a:r>
              <a:rPr lang="tr-TR" dirty="0" err="1"/>
              <a:t>man</a:t>
            </a:r>
            <a:r>
              <a:rPr lang="tr-TR" dirty="0"/>
              <a:t> </a:t>
            </a:r>
            <a:r>
              <a:rPr lang="tr-TR" dirty="0" err="1"/>
              <a:t>page</a:t>
            </a:r>
            <a:endParaRPr lang="tr-TR" dirty="0"/>
          </a:p>
        </p:txBody>
      </p:sp>
      <p:sp>
        <p:nvSpPr>
          <p:cNvPr id="3" name="Content Placeholder 2">
            <a:extLst>
              <a:ext uri="{FF2B5EF4-FFF2-40B4-BE49-F238E27FC236}">
                <a16:creationId xmlns:a16="http://schemas.microsoft.com/office/drawing/2014/main" id="{6DA63A74-644B-F7A3-74FD-F08C2360CE84}"/>
              </a:ext>
            </a:extLst>
          </p:cNvPr>
          <p:cNvSpPr>
            <a:spLocks noGrp="1"/>
          </p:cNvSpPr>
          <p:nvPr>
            <p:ph idx="1"/>
          </p:nvPr>
        </p:nvSpPr>
        <p:spPr/>
        <p:txBody>
          <a:bodyPr/>
          <a:lstStyle/>
          <a:p>
            <a:r>
              <a:rPr lang="en-US" b="0" i="0" dirty="0">
                <a:solidFill>
                  <a:srgbClr val="4A474B"/>
                </a:solidFill>
                <a:effectLst/>
                <a:highlight>
                  <a:srgbClr val="FFFFFF"/>
                </a:highlight>
                <a:latin typeface="Lato" panose="020F0502020204030203" pitchFamily="34" charset="0"/>
              </a:rPr>
              <a:t>a synopsis, </a:t>
            </a:r>
          </a:p>
          <a:p>
            <a:r>
              <a:rPr lang="en-US" b="0" i="0" dirty="0">
                <a:solidFill>
                  <a:srgbClr val="4A474B"/>
                </a:solidFill>
                <a:effectLst/>
                <a:highlight>
                  <a:srgbClr val="FFFFFF"/>
                </a:highlight>
                <a:latin typeface="Lato" panose="020F0502020204030203" pitchFamily="34" charset="0"/>
              </a:rPr>
              <a:t>detailed description section, </a:t>
            </a:r>
          </a:p>
          <a:p>
            <a:r>
              <a:rPr lang="en-US" b="0" i="0" dirty="0">
                <a:solidFill>
                  <a:srgbClr val="4A474B"/>
                </a:solidFill>
                <a:effectLst/>
                <a:highlight>
                  <a:srgbClr val="FFFFFF"/>
                </a:highlight>
                <a:latin typeface="Lato" panose="020F0502020204030203" pitchFamily="34" charset="0"/>
              </a:rPr>
              <a:t>end-matter boilerplate.</a:t>
            </a:r>
            <a:endParaRPr lang="tr-TR" dirty="0"/>
          </a:p>
        </p:txBody>
      </p:sp>
      <p:sp>
        <p:nvSpPr>
          <p:cNvPr id="5" name="TextBox 4">
            <a:extLst>
              <a:ext uri="{FF2B5EF4-FFF2-40B4-BE49-F238E27FC236}">
                <a16:creationId xmlns:a16="http://schemas.microsoft.com/office/drawing/2014/main" id="{274EEA6C-EB88-FB1D-50BA-08329EADE2E8}"/>
              </a:ext>
            </a:extLst>
          </p:cNvPr>
          <p:cNvSpPr txBox="1"/>
          <p:nvPr/>
        </p:nvSpPr>
        <p:spPr>
          <a:xfrm>
            <a:off x="2472360" y="5393924"/>
            <a:ext cx="4606786" cy="830997"/>
          </a:xfrm>
          <a:prstGeom prst="rect">
            <a:avLst/>
          </a:prstGeom>
          <a:noFill/>
        </p:spPr>
        <p:txBody>
          <a:bodyPr wrap="square">
            <a:spAutoFit/>
          </a:bodyPr>
          <a:lstStyle/>
          <a:p>
            <a:r>
              <a:rPr lang="tr-TR" dirty="0"/>
              <a:t> </a:t>
            </a:r>
            <a:r>
              <a:rPr lang="tr-TR" dirty="0">
                <a:hlinkClick r:id="rId2"/>
              </a:rPr>
              <a:t>https://linuxuni.com/how-to-read-a-linux-man-page/</a:t>
            </a:r>
            <a:r>
              <a:rPr lang="tr-TR" dirty="0"/>
              <a:t> </a:t>
            </a:r>
          </a:p>
        </p:txBody>
      </p:sp>
    </p:spTree>
    <p:extLst>
      <p:ext uri="{BB962C8B-B14F-4D97-AF65-F5344CB8AC3E}">
        <p14:creationId xmlns:p14="http://schemas.microsoft.com/office/powerpoint/2010/main" val="4083607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0677-0935-6744-AA20-E5C7D312BB72}"/>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057D1EFF-96E9-4EAA-3DEE-D7ADF4CF22F0}"/>
              </a:ext>
            </a:extLst>
          </p:cNvPr>
          <p:cNvSpPr>
            <a:spLocks noGrp="1"/>
          </p:cNvSpPr>
          <p:nvPr>
            <p:ph idx="1"/>
          </p:nvPr>
        </p:nvSpPr>
        <p:spPr/>
        <p:txBody>
          <a:bodyPr>
            <a:normAutofit fontScale="92500" lnSpcReduction="10000"/>
          </a:bodyPr>
          <a:lstStyle/>
          <a:p>
            <a:pPr algn="l"/>
            <a:r>
              <a:rPr lang="en-US" b="0" i="0" dirty="0">
                <a:solidFill>
                  <a:srgbClr val="4A474B"/>
                </a:solidFill>
                <a:effectLst/>
                <a:highlight>
                  <a:srgbClr val="FFFFFF"/>
                </a:highlight>
                <a:latin typeface="Lato" panose="020F0502020204030203" pitchFamily="34" charset="0"/>
              </a:rPr>
              <a:t>The synopsis is a brief and rather cryptic summary of how the program can be used. It lists all the options and arguments that the program </a:t>
            </a:r>
            <a:r>
              <a:rPr lang="en-US" b="0" i="0" dirty="0" err="1">
                <a:solidFill>
                  <a:srgbClr val="4A474B"/>
                </a:solidFill>
                <a:effectLst/>
                <a:highlight>
                  <a:srgbClr val="FFFFFF"/>
                </a:highlight>
                <a:latin typeface="Lato" panose="020F0502020204030203" pitchFamily="34" charset="0"/>
              </a:rPr>
              <a:t>recognises</a:t>
            </a:r>
            <a:r>
              <a:rPr lang="en-US" b="0" i="0" dirty="0">
                <a:solidFill>
                  <a:srgbClr val="4A474B"/>
                </a:solidFill>
                <a:effectLst/>
                <a:highlight>
                  <a:srgbClr val="FFFFFF"/>
                </a:highlight>
                <a:latin typeface="Lato" panose="020F0502020204030203" pitchFamily="34" charset="0"/>
              </a:rPr>
              <a:t> and gives a brief indication of how they can be combined. Options are the ‘-b’ or ‘–blah’ part of the synopsis – they let you modify the </a:t>
            </a:r>
            <a:r>
              <a:rPr lang="en-US" b="0" i="0" dirty="0" err="1">
                <a:solidFill>
                  <a:srgbClr val="4A474B"/>
                </a:solidFill>
                <a:effectLst/>
                <a:highlight>
                  <a:srgbClr val="FFFFFF"/>
                </a:highlight>
                <a:latin typeface="Lato" panose="020F0502020204030203" pitchFamily="34" charset="0"/>
              </a:rPr>
              <a:t>behaviour</a:t>
            </a:r>
            <a:r>
              <a:rPr lang="en-US" b="0" i="0" dirty="0">
                <a:solidFill>
                  <a:srgbClr val="4A474B"/>
                </a:solidFill>
                <a:effectLst/>
                <a:highlight>
                  <a:srgbClr val="FFFFFF"/>
                </a:highlight>
                <a:latin typeface="Lato" panose="020F0502020204030203" pitchFamily="34" charset="0"/>
              </a:rPr>
              <a:t> of the program, and come in short (-b) and long (–blah) forms. Options can take arguments, either in the form ‘-b foo’ or ‘–blah=foo’. Mutually exclusive alternatives are described with the ‘|’ character – i.e. ‘</a:t>
            </a:r>
            <a:r>
              <a:rPr lang="en-US" b="0" i="0" dirty="0" err="1">
                <a:solidFill>
                  <a:srgbClr val="4A474B"/>
                </a:solidFill>
                <a:effectLst/>
                <a:highlight>
                  <a:srgbClr val="FFFFFF"/>
                </a:highlight>
                <a:latin typeface="Lato" panose="020F0502020204030203" pitchFamily="34" charset="0"/>
              </a:rPr>
              <a:t>foo|bar</a:t>
            </a:r>
            <a:r>
              <a:rPr lang="en-US" b="0" i="0" dirty="0">
                <a:solidFill>
                  <a:srgbClr val="4A474B"/>
                </a:solidFill>
                <a:effectLst/>
                <a:highlight>
                  <a:srgbClr val="FFFFFF"/>
                </a:highlight>
                <a:latin typeface="Lato" panose="020F0502020204030203" pitchFamily="34" charset="0"/>
              </a:rPr>
              <a:t>’. Finally, when an option or argument is optional this is indicated by surrounding it in square brackets.</a:t>
            </a:r>
          </a:p>
          <a:p>
            <a:pPr algn="l"/>
            <a:r>
              <a:rPr lang="en-US" b="0" i="0" dirty="0">
                <a:solidFill>
                  <a:srgbClr val="4A474B"/>
                </a:solidFill>
                <a:effectLst/>
                <a:highlight>
                  <a:srgbClr val="FFFFFF"/>
                </a:highlight>
                <a:latin typeface="Lato" panose="020F0502020204030203" pitchFamily="34" charset="0"/>
              </a:rPr>
              <a:t>Fortunately, you can mostly ignore the synopsis – it’s most useful as a reference once you’re already familiar with using a program. Before you reach that point the most useful section of a man page is the description.</a:t>
            </a:r>
          </a:p>
          <a:p>
            <a:endParaRPr lang="tr-TR" dirty="0"/>
          </a:p>
        </p:txBody>
      </p:sp>
    </p:spTree>
    <p:extLst>
      <p:ext uri="{BB962C8B-B14F-4D97-AF65-F5344CB8AC3E}">
        <p14:creationId xmlns:p14="http://schemas.microsoft.com/office/powerpoint/2010/main" val="2617390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AE2EF-2494-BF55-165E-8640F6CDFAE9}"/>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0B60F7AF-1447-2D6A-F8FE-6345C4739AF0}"/>
              </a:ext>
            </a:extLst>
          </p:cNvPr>
          <p:cNvSpPr>
            <a:spLocks noGrp="1"/>
          </p:cNvSpPr>
          <p:nvPr>
            <p:ph idx="1"/>
          </p:nvPr>
        </p:nvSpPr>
        <p:spPr/>
        <p:txBody>
          <a:bodyPr>
            <a:normAutofit fontScale="77500" lnSpcReduction="20000"/>
          </a:bodyPr>
          <a:lstStyle/>
          <a:p>
            <a:pPr algn="l"/>
            <a:r>
              <a:rPr lang="en-US" b="0" i="0" dirty="0">
                <a:solidFill>
                  <a:srgbClr val="4A474B"/>
                </a:solidFill>
                <a:effectLst/>
                <a:highlight>
                  <a:srgbClr val="FFFFFF"/>
                </a:highlight>
                <a:latin typeface="Lato" panose="020F0502020204030203" pitchFamily="34" charset="0"/>
              </a:rPr>
              <a:t>The description section contains a detailed description of what the application does, along with a list of all the options, arguments, and what they do. This is the real guts of the man page – when you’re trying to figure out how to make the program do what you want, you’ll spend most of your time looking through the description, reading the information about each option and figuring out whether it helps you toward your goal.</a:t>
            </a:r>
          </a:p>
          <a:p>
            <a:pPr algn="l"/>
            <a:r>
              <a:rPr lang="en-US" b="0" i="0" dirty="0">
                <a:solidFill>
                  <a:srgbClr val="4A474B"/>
                </a:solidFill>
                <a:effectLst/>
                <a:highlight>
                  <a:srgbClr val="FFFFFF"/>
                </a:highlight>
                <a:latin typeface="Lato" panose="020F0502020204030203" pitchFamily="34" charset="0"/>
              </a:rPr>
              <a:t>This section may be broken out into a number of parts, with some extra bits on top of the basic description. The most useful of these extras is an examples section, with a set of examples of how the program is actually used. These examples can be a lifesaver – if they’re included in the man page the best way to use them is to as the basis for your command line. Copy the example and then replace the example file names and so on with your details.</a:t>
            </a:r>
          </a:p>
          <a:p>
            <a:pPr algn="l"/>
            <a:r>
              <a:rPr lang="en-US" b="0" i="0" dirty="0">
                <a:solidFill>
                  <a:srgbClr val="4A474B"/>
                </a:solidFill>
                <a:effectLst/>
                <a:highlight>
                  <a:srgbClr val="FFFFFF"/>
                </a:highlight>
                <a:latin typeface="Lato" panose="020F0502020204030203" pitchFamily="34" charset="0"/>
              </a:rPr>
              <a:t>Quite often there will be information about bugs or odd </a:t>
            </a:r>
            <a:r>
              <a:rPr lang="en-US" b="0" i="0" dirty="0" err="1">
                <a:solidFill>
                  <a:srgbClr val="4A474B"/>
                </a:solidFill>
                <a:effectLst/>
                <a:highlight>
                  <a:srgbClr val="FFFFFF"/>
                </a:highlight>
                <a:latin typeface="Lato" panose="020F0502020204030203" pitchFamily="34" charset="0"/>
              </a:rPr>
              <a:t>behaviour</a:t>
            </a:r>
            <a:r>
              <a:rPr lang="en-US" b="0" i="0" dirty="0">
                <a:solidFill>
                  <a:srgbClr val="4A474B"/>
                </a:solidFill>
                <a:effectLst/>
                <a:highlight>
                  <a:srgbClr val="FFFFFF"/>
                </a:highlight>
                <a:latin typeface="Lato" panose="020F0502020204030203" pitchFamily="34" charset="0"/>
              </a:rPr>
              <a:t>, error messages, environment variables, and other snippets like this. Most of it isn’t very relevant to everyday use, since it documents special cases or things that are only relevant for advanced users. However, it’s always nice to know that the information is there for those odd times when you might need it.</a:t>
            </a:r>
          </a:p>
          <a:p>
            <a:endParaRPr lang="tr-TR" dirty="0"/>
          </a:p>
        </p:txBody>
      </p:sp>
    </p:spTree>
    <p:extLst>
      <p:ext uri="{BB962C8B-B14F-4D97-AF65-F5344CB8AC3E}">
        <p14:creationId xmlns:p14="http://schemas.microsoft.com/office/powerpoint/2010/main" val="3590748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F998-8E57-35EC-C476-1A85C6C601E5}"/>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86C9FA19-237A-FE3D-1D36-3CEAE0FBDE36}"/>
              </a:ext>
            </a:extLst>
          </p:cNvPr>
          <p:cNvSpPr>
            <a:spLocks noGrp="1"/>
          </p:cNvSpPr>
          <p:nvPr>
            <p:ph idx="1"/>
          </p:nvPr>
        </p:nvSpPr>
        <p:spPr/>
        <p:txBody>
          <a:bodyPr>
            <a:normAutofit fontScale="92500" lnSpcReduction="20000"/>
          </a:bodyPr>
          <a:lstStyle/>
          <a:p>
            <a:pPr algn="l"/>
            <a:r>
              <a:rPr lang="en-US" b="0" i="0" dirty="0">
                <a:solidFill>
                  <a:srgbClr val="4A474B"/>
                </a:solidFill>
                <a:effectLst/>
                <a:highlight>
                  <a:srgbClr val="FFFFFF"/>
                </a:highlight>
                <a:latin typeface="Lato" panose="020F0502020204030203" pitchFamily="34" charset="0"/>
              </a:rPr>
              <a:t>At the end of the man page is a bunch of meta-data about the document itself – the authors, copyright information, and frequently some contact information about the document authors and the program authors. A big thing here is an email address or other contact information for reporting bugs – in general the developers of a program love to be told about bugs, and will be very helpful in fixing them once they’re told. It’s a good way to help them out – you may not be able to write code for them, but if they don’t hear about bugs they’ll never be able to fix them.</a:t>
            </a:r>
          </a:p>
          <a:p>
            <a:pPr algn="l"/>
            <a:r>
              <a:rPr lang="en-US" b="0" i="0" dirty="0">
                <a:solidFill>
                  <a:srgbClr val="4A474B"/>
                </a:solidFill>
                <a:effectLst/>
                <a:highlight>
                  <a:srgbClr val="FFFFFF"/>
                </a:highlight>
                <a:latin typeface="Lato" panose="020F0502020204030203" pitchFamily="34" charset="0"/>
              </a:rPr>
              <a:t>The final part of the man page is one of the most useful: the ‘see also’ section. This is a list of related applications and man pages: generally you can simply use the man program to read this documentation, the same as the man page you’re reading in the first place. There may also be links to other documentation, on-line or in books or similar, which can also be useful.</a:t>
            </a:r>
          </a:p>
          <a:p>
            <a:endParaRPr lang="tr-TR" dirty="0"/>
          </a:p>
        </p:txBody>
      </p:sp>
    </p:spTree>
    <p:extLst>
      <p:ext uri="{BB962C8B-B14F-4D97-AF65-F5344CB8AC3E}">
        <p14:creationId xmlns:p14="http://schemas.microsoft.com/office/powerpoint/2010/main" val="222246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39D0-DED8-3894-4570-A6C0C96D4326}"/>
              </a:ext>
            </a:extLst>
          </p:cNvPr>
          <p:cNvSpPr>
            <a:spLocks noGrp="1"/>
          </p:cNvSpPr>
          <p:nvPr>
            <p:ph type="title"/>
          </p:nvPr>
        </p:nvSpPr>
        <p:spPr/>
        <p:txBody>
          <a:bodyPr/>
          <a:lstStyle/>
          <a:p>
            <a:r>
              <a:rPr lang="tr-TR" dirty="0" err="1"/>
              <a:t>Apropos</a:t>
            </a:r>
            <a:endParaRPr lang="tr-TR" dirty="0"/>
          </a:p>
        </p:txBody>
      </p:sp>
      <p:sp>
        <p:nvSpPr>
          <p:cNvPr id="3" name="Content Placeholder 2">
            <a:extLst>
              <a:ext uri="{FF2B5EF4-FFF2-40B4-BE49-F238E27FC236}">
                <a16:creationId xmlns:a16="http://schemas.microsoft.com/office/drawing/2014/main" id="{40778BA5-8A69-6604-B8B5-C1055FC4FD34}"/>
              </a:ext>
            </a:extLst>
          </p:cNvPr>
          <p:cNvSpPr>
            <a:spLocks noGrp="1"/>
          </p:cNvSpPr>
          <p:nvPr>
            <p:ph idx="1"/>
          </p:nvPr>
        </p:nvSpPr>
        <p:spPr/>
        <p:txBody>
          <a:bodyPr>
            <a:normAutofit fontScale="85000" lnSpcReduction="10000"/>
          </a:bodyPr>
          <a:lstStyle/>
          <a:p>
            <a:pPr algn="l"/>
            <a:r>
              <a:rPr lang="en-US" b="0" i="0" dirty="0">
                <a:solidFill>
                  <a:srgbClr val="4A474B"/>
                </a:solidFill>
                <a:effectLst/>
                <a:highlight>
                  <a:srgbClr val="FFFFFF"/>
                </a:highlight>
                <a:latin typeface="Lato" panose="020F0502020204030203" pitchFamily="34" charset="0"/>
              </a:rPr>
              <a:t>So how do you decide what man page to read in the first place? This is where being able to search the man database is useful, and that’s what apropos does. To search for a keyword in every man page on the system, simply type ‘apropos word’, and let it run. It will print out the name of all the man pages that contain the word you search for along with a short description, which you can then browse through to find likely looking candidates. Just be aware that there are often enormous numbers of man pages on a Linux system, so you can easily get hundreds of lines of output! The same functionality can be accessed by running ‘man -k’.</a:t>
            </a:r>
          </a:p>
          <a:p>
            <a:pPr algn="l"/>
            <a:r>
              <a:rPr lang="en-US" b="0" i="0" dirty="0">
                <a:solidFill>
                  <a:srgbClr val="4A474B"/>
                </a:solidFill>
                <a:effectLst/>
                <a:highlight>
                  <a:srgbClr val="FFFFFF"/>
                </a:highlight>
                <a:latin typeface="Lato" panose="020F0502020204030203" pitchFamily="34" charset="0"/>
              </a:rPr>
              <a:t>The only other thing to remember about apropos is that it only searches the man pages of installed programs – to find documentation for programs that aren’t installed you’ll probably need to hit Google and have a look on-line. Fortunately, various groups have put the full set of man pages up on their web servers, so using Google you can often find exactly the same thing you’d find if it was installed on your computer.</a:t>
            </a:r>
          </a:p>
          <a:p>
            <a:endParaRPr lang="tr-TR" dirty="0"/>
          </a:p>
        </p:txBody>
      </p:sp>
    </p:spTree>
    <p:extLst>
      <p:ext uri="{BB962C8B-B14F-4D97-AF65-F5344CB8AC3E}">
        <p14:creationId xmlns:p14="http://schemas.microsoft.com/office/powerpoint/2010/main" val="4588752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lgn="ctr">
          <a:solidFill>
            <a:schemeClr val="tx1"/>
          </a:solidFill>
          <a:prstDash val="solid"/>
          <a:round/>
          <a:headEnd type="none" w="med" len="med"/>
          <a:tailEnd type="arrow" w="med" len="med"/>
        </a:ln>
        <a:effectLst/>
      </a:spPr>
      <a:bodyPr rtlCol="0" anchor="ctr"/>
      <a:lstStyle>
        <a:defPPr algn="ctr">
          <a:defRPr/>
        </a:defPPr>
      </a:lstStyle>
    </a:spDef>
    <a:lnDef>
      <a:spPr bwMode="auto">
        <a:noFill/>
        <a:ln w="25400" cap="flat" cmpd="sng" algn="ctr">
          <a:solidFill>
            <a:schemeClr val="tx1"/>
          </a:solidFill>
          <a:prstDash val="solid"/>
          <a:round/>
          <a:headEnd type="none" w="med" len="med"/>
          <a:tailEnd type="none" w="med" len="med"/>
        </a:ln>
        <a:effectLst/>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4881</TotalTime>
  <Words>1323</Words>
  <Application>Microsoft Macintosh PowerPoint</Application>
  <PresentationFormat>On-screen Show (4:3)</PresentationFormat>
  <Paragraphs>34</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Arial Narrow</vt:lpstr>
      <vt:lpstr>Calibri</vt:lpstr>
      <vt:lpstr>Lato</vt:lpstr>
      <vt:lpstr>Times New Roman</vt:lpstr>
      <vt:lpstr>Wingdings</vt:lpstr>
      <vt:lpstr>Wingdings 2</vt:lpstr>
      <vt:lpstr>template2007</vt:lpstr>
      <vt:lpstr>RTFM (Read The F**king(*) Manual) - How to</vt:lpstr>
      <vt:lpstr>man(ual)</vt:lpstr>
      <vt:lpstr>man  -  how to RTFM!</vt:lpstr>
      <vt:lpstr>Man mmap</vt:lpstr>
      <vt:lpstr>Structure of a Linux man page</vt:lpstr>
      <vt:lpstr>PowerPoint Presentation</vt:lpstr>
      <vt:lpstr>PowerPoint Presentation</vt:lpstr>
      <vt:lpstr>PowerPoint Presentation</vt:lpstr>
      <vt:lpstr>Apropos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Inter-Process Communication: Intro + Pipes</dc:title>
  <cp:lastModifiedBy>Erol Sahin</cp:lastModifiedBy>
  <cp:revision>99</cp:revision>
  <cp:lastPrinted>2022-03-25T10:22:52Z</cp:lastPrinted>
  <dcterms:modified xsi:type="dcterms:W3CDTF">2025-02-25T07:37:08Z</dcterms:modified>
</cp:coreProperties>
</file>