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notesMasterIdLst>
    <p:notesMasterId r:id="rId19"/>
  </p:notesMasterIdLst>
  <p:sldIdLst>
    <p:sldId id="256" r:id="rId2"/>
    <p:sldId id="418" r:id="rId3"/>
    <p:sldId id="273" r:id="rId4"/>
    <p:sldId id="422" r:id="rId5"/>
    <p:sldId id="420" r:id="rId6"/>
    <p:sldId id="423" r:id="rId7"/>
    <p:sldId id="421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</p:sldIdLst>
  <p:sldSz cx="10080625" cy="7559675"/>
  <p:notesSz cx="7772400" cy="10058400"/>
  <p:defaultTextStyle>
    <a:defPPr>
      <a:defRPr lang="en-US"/>
    </a:defPPr>
    <a:lvl1pPr marL="0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68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36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04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72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41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10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078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46" algn="l" defTabSz="45686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EFF"/>
    <a:srgbClr val="B6C7FF"/>
    <a:srgbClr val="FEFFDE"/>
    <a:srgbClr val="8198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8" autoAdjust="0"/>
    <p:restoredTop sz="94762" autoAdjust="0"/>
  </p:normalViewPr>
  <p:slideViewPr>
    <p:cSldViewPr snapToGrid="0" snapToObjects="1">
      <p:cViewPr varScale="1">
        <p:scale>
          <a:sx n="110" d="100"/>
          <a:sy n="110" d="100"/>
        </p:scale>
        <p:origin x="2096" y="176"/>
      </p:cViewPr>
      <p:guideLst>
        <p:guide orient="horz" pos="2381"/>
        <p:guide pos="3175"/>
      </p:guideLst>
    </p:cSldViewPr>
  </p:slideViewPr>
  <p:outlineViewPr>
    <p:cViewPr>
      <p:scale>
        <a:sx n="33" d="100"/>
        <a:sy n="33" d="100"/>
      </p:scale>
      <p:origin x="0" y="96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6A33A-D8BA-DE44-9376-66A40D573CD6}" type="datetimeFigureOut">
              <a:rPr lang="en-US" smtClean="0"/>
              <a:t>5/27/25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754063"/>
            <a:ext cx="5029200" cy="3771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778375"/>
            <a:ext cx="6216650" cy="4525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71D14-698D-D04E-9B44-6B5985FA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3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83970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28E6E6F3-45D0-324A-BCD4-86AF4D35F20A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</a:t>
            </a:fld>
            <a:endParaRPr lang="en-GB" altLang="en-US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875" y="4778375"/>
            <a:ext cx="6216650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defTabSz="914400"/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0268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3837DC7E-B2D1-DB43-8927-9887C58F42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F9157B1-BA7F-D344-AF0B-36070C12DC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4C34BEE0-8033-6341-B190-67F0F1D6E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741211-6CD0-B940-8BFF-FBC71905483F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5607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92162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734AC8DF-6C70-3941-95BC-CCFD84CE4187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4</a:t>
            </a:fld>
            <a:endParaRPr lang="en-GB" altLang="en-US" sz="13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7313" y="752475"/>
            <a:ext cx="5029200" cy="3771900"/>
          </a:xfrm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672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88066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B973A12-2154-E046-8707-36A891866A9E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5</a:t>
            </a:fld>
            <a:endParaRPr lang="en-GB" altLang="en-US" sz="13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7313" y="752475"/>
            <a:ext cx="5029200" cy="3771900"/>
          </a:xfrm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8456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94210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A85DC589-C766-C944-8BE1-989E19915AF3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6</a:t>
            </a:fld>
            <a:endParaRPr lang="en-GB" altLang="en-US" sz="13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875" y="4778375"/>
            <a:ext cx="6216650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defTabSz="914400"/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962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90114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F786CD24-FCE1-0E4E-B998-D8305F4F4CA2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7</a:t>
            </a:fld>
            <a:endParaRPr lang="en-GB" altLang="en-US" sz="13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4775" y="755650"/>
            <a:ext cx="5024438" cy="3768725"/>
          </a:xfrm>
          <a:ln w="12700" cap="flat">
            <a:solidFill>
              <a:srgbClr val="000000"/>
            </a:solidFill>
            <a:round/>
            <a:headEnd/>
            <a:tailEnd/>
          </a:ln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875" y="4778375"/>
            <a:ext cx="6216650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102590" tIns="51296" rIns="102590" bIns="51296"/>
          <a:lstStyle/>
          <a:p>
            <a:pPr defTabSz="914400"/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7725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96258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EBDCEF36-213E-BD4A-B277-FCA1565FFDA9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8</a:t>
            </a:fld>
            <a:endParaRPr lang="en-GB" altLang="en-US" sz="13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875" y="4778375"/>
            <a:ext cx="6216650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defTabSz="914400"/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6125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98306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250787EE-7107-0E44-A770-553844530A2A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9</a:t>
            </a:fld>
            <a:endParaRPr lang="en-GB" altLang="en-US" sz="13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7313" y="752475"/>
            <a:ext cx="5029200" cy="3771900"/>
          </a:xfrm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7514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6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18/02/08</a:t>
            </a:r>
          </a:p>
        </p:txBody>
      </p:sp>
      <p:sp>
        <p:nvSpPr>
          <p:cNvPr id="100355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62000" algn="l"/>
                <a:tab pos="1525588" algn="l"/>
                <a:tab pos="2287588" algn="l"/>
                <a:tab pos="3051175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A2688BC8-03B3-6542-903D-0BC676FCB5E5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10</a:t>
            </a:fld>
            <a:endParaRPr lang="en-GB" altLang="en-US" sz="1300"/>
          </a:p>
        </p:txBody>
      </p:sp>
      <p:sp>
        <p:nvSpPr>
          <p:cNvPr id="100356" name="Text Box 1"/>
          <p:cNvSpPr txBox="1">
            <a:spLocks noChangeArrowheads="1"/>
          </p:cNvSpPr>
          <p:nvPr/>
        </p:nvSpPr>
        <p:spPr bwMode="auto">
          <a:xfrm>
            <a:off x="4402138" y="9553575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9034" tIns="49707" rIns="99034" bIns="49707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1">
              <a:lnSpc>
                <a:spcPct val="89000"/>
              </a:lnSpc>
              <a:spcBef>
                <a:spcPct val="0"/>
              </a:spcBef>
              <a:buSzPct val="45000"/>
              <a:buFont typeface="Wingdings" charset="2"/>
              <a:buNone/>
            </a:pPr>
            <a:fld id="{DD45477F-4F25-D041-9FCE-D89750195903}" type="slidenum">
              <a:rPr lang="en-GB" altLang="en-US" sz="1300">
                <a:latin typeface="Bitstream Vera Serif" charset="0"/>
              </a:rPr>
              <a:pPr algn="r" eaLnBrk="1">
                <a:lnSpc>
                  <a:spcPct val="89000"/>
                </a:lnSpc>
                <a:spcBef>
                  <a:spcPct val="0"/>
                </a:spcBef>
                <a:buSzPct val="45000"/>
                <a:buFont typeface="Wingdings" charset="2"/>
                <a:buNone/>
              </a:pPr>
              <a:t>10</a:t>
            </a:fld>
            <a:endParaRPr lang="en-GB" altLang="en-US" sz="1300">
              <a:latin typeface="Bitstream Vera Serif" charset="0"/>
            </a:endParaRPr>
          </a:p>
        </p:txBody>
      </p:sp>
      <p:sp>
        <p:nvSpPr>
          <p:cNvPr id="100357" name="Text Box 2"/>
          <p:cNvSpPr txBox="1">
            <a:spLocks noChangeArrowheads="1"/>
          </p:cNvSpPr>
          <p:nvPr/>
        </p:nvSpPr>
        <p:spPr bwMode="auto">
          <a:xfrm>
            <a:off x="0" y="9553575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9034" tIns="49707" rIns="99034" bIns="49707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89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en-US" altLang="en-US" sz="1300">
              <a:latin typeface="Bitstream Vera Serif" charset="0"/>
            </a:endParaRPr>
          </a:p>
        </p:txBody>
      </p:sp>
      <p:sp>
        <p:nvSpPr>
          <p:cNvPr id="100358" name="Text Box 3"/>
          <p:cNvSpPr txBox="1">
            <a:spLocks noChangeArrowheads="1"/>
          </p:cNvSpPr>
          <p:nvPr/>
        </p:nvSpPr>
        <p:spPr bwMode="auto">
          <a:xfrm>
            <a:off x="0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9034" tIns="49707" rIns="99034" bIns="49707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89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en-US" altLang="en-US" sz="1300">
              <a:latin typeface="Bitstream Vera Serif" charset="0"/>
            </a:endParaRPr>
          </a:p>
        </p:txBody>
      </p:sp>
      <p:sp>
        <p:nvSpPr>
          <p:cNvPr id="100359" name="Text Box 4"/>
          <p:cNvSpPr txBox="1">
            <a:spLocks noChangeArrowheads="1"/>
          </p:cNvSpPr>
          <p:nvPr/>
        </p:nvSpPr>
        <p:spPr bwMode="auto">
          <a:xfrm>
            <a:off x="4402138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9034" tIns="49707" rIns="99034" bIns="49707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r" eaLnBrk="1">
              <a:lnSpc>
                <a:spcPct val="89000"/>
              </a:lnSpc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>
                <a:latin typeface="Bitstream Vera Serif" charset="0"/>
              </a:rPr>
              <a:t>21/02/08</a:t>
            </a:r>
          </a:p>
        </p:txBody>
      </p:sp>
      <p:sp>
        <p:nvSpPr>
          <p:cNvPr id="100360" name="Text Box 5"/>
          <p:cNvSpPr txBox="1">
            <a:spLocks noChangeArrowheads="1"/>
          </p:cNvSpPr>
          <p:nvPr/>
        </p:nvSpPr>
        <p:spPr bwMode="auto">
          <a:xfrm>
            <a:off x="1335088" y="755650"/>
            <a:ext cx="5102225" cy="37719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6378" tIns="48189" rIns="96378" bIns="48189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89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en-US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100361" name="Text Box 6"/>
          <p:cNvSpPr>
            <a:spLocks noGrp="1" noChangeArrowheads="1"/>
          </p:cNvSpPr>
          <p:nvPr>
            <p:ph type="body"/>
          </p:nvPr>
        </p:nvSpPr>
        <p:spPr>
          <a:xfrm>
            <a:off x="777875" y="4776788"/>
            <a:ext cx="6213475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5349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102402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1D89F1AC-22AB-C44C-B753-F7627BB55746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11</a:t>
            </a:fld>
            <a:endParaRPr lang="en-GB" altLang="en-US" sz="13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7313" y="752475"/>
            <a:ext cx="5029200" cy="3771900"/>
          </a:xfrm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9253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104450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620C2A85-CA3F-6949-95A0-5AEE32E3E2F8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12</a:t>
            </a:fld>
            <a:endParaRPr lang="en-GB" altLang="en-US" sz="13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7313" y="752475"/>
            <a:ext cx="5029200" cy="3771900"/>
          </a:xfrm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77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106498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703DCAFD-5731-5E4D-9406-4F64024931CB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13</a:t>
            </a:fld>
            <a:endParaRPr lang="en-GB" altLang="en-US" sz="13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7313" y="752475"/>
            <a:ext cx="5029200" cy="3771900"/>
          </a:xfrm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7820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108546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B7FF67D7-B502-754A-B431-E0369957E967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14</a:t>
            </a:fld>
            <a:endParaRPr lang="en-GB" altLang="en-US" sz="13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7313" y="752475"/>
            <a:ext cx="5029200" cy="3771900"/>
          </a:xfrm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4629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110594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5AE57044-4981-5149-B9DC-6A8987BDC063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15</a:t>
            </a:fld>
            <a:endParaRPr lang="en-GB" altLang="en-US" sz="13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875" y="4778375"/>
            <a:ext cx="6216650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defTabSz="914400"/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6134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0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300"/>
              <a:t>13/03/07</a:t>
            </a:r>
          </a:p>
        </p:txBody>
      </p:sp>
      <p:sp>
        <p:nvSpPr>
          <p:cNvPr id="112642" name="Rectangle 24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26E41025-2BB9-7D47-92A5-360A06AC0D3F}" type="slidenum">
              <a:rPr lang="en-GB" altLang="en-US" sz="13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16</a:t>
            </a:fld>
            <a:endParaRPr lang="en-GB" altLang="en-US" sz="13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7313" y="752475"/>
            <a:ext cx="5029200" cy="3771900"/>
          </a:xfrm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6946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882769"/>
            <a:ext cx="8568531" cy="162043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6047" y="4283817"/>
            <a:ext cx="8463902" cy="1931917"/>
          </a:xfrm>
        </p:spPr>
        <p:txBody>
          <a:bodyPr/>
          <a:lstStyle>
            <a:lvl1pPr marL="0" indent="0" algn="l">
              <a:buNone/>
              <a:defRPr sz="2200" b="0">
                <a:latin typeface="Calibri" pitchFamily="34" charset="0"/>
              </a:defRPr>
            </a:lvl1pPr>
            <a:lvl2pPr marL="503920" indent="0" algn="ctr">
              <a:buNone/>
              <a:defRPr/>
            </a:lvl2pPr>
            <a:lvl3pPr marL="1007838" indent="0" algn="ctr">
              <a:buNone/>
              <a:defRPr/>
            </a:lvl3pPr>
            <a:lvl4pPr marL="1511758" indent="0" algn="ctr">
              <a:buNone/>
              <a:defRPr/>
            </a:lvl4pPr>
            <a:lvl5pPr marL="2015677" indent="0" algn="ctr">
              <a:buNone/>
              <a:defRPr/>
            </a:lvl5pPr>
            <a:lvl6pPr marL="2519597" indent="0" algn="ctr">
              <a:buNone/>
              <a:defRPr/>
            </a:lvl6pPr>
            <a:lvl7pPr marL="3023515" indent="0" algn="ctr">
              <a:buNone/>
              <a:defRPr/>
            </a:lvl7pPr>
            <a:lvl8pPr marL="3527435" indent="0" algn="ctr">
              <a:buNone/>
              <a:defRPr/>
            </a:lvl8pPr>
            <a:lvl9pPr marL="4031354" indent="0" algn="ctr">
              <a:buNone/>
              <a:defRPr/>
            </a:lvl9pPr>
          </a:lstStyle>
          <a:p>
            <a:r>
              <a:rPr lang="tr-TR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89" y="480254"/>
            <a:ext cx="8369755" cy="83996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4857793"/>
            <a:ext cx="8568531" cy="1501435"/>
          </a:xfrm>
        </p:spPr>
        <p:txBody>
          <a:bodyPr anchor="t"/>
          <a:lstStyle>
            <a:lvl1pPr algn="l">
              <a:defRPr sz="4400" b="1" cap="all"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3204115"/>
            <a:ext cx="8568531" cy="1653678"/>
          </a:xfrm>
        </p:spPr>
        <p:txBody>
          <a:bodyPr anchor="b"/>
          <a:lstStyle>
            <a:lvl1pPr marL="0" indent="0">
              <a:buNone/>
              <a:defRPr sz="2200">
                <a:latin typeface="Calibri" pitchFamily="34" charset="0"/>
              </a:defRPr>
            </a:lvl1pPr>
            <a:lvl2pPr marL="503920" indent="0">
              <a:buNone/>
              <a:defRPr sz="2000"/>
            </a:lvl2pPr>
            <a:lvl3pPr marL="1007838" indent="0">
              <a:buNone/>
              <a:defRPr sz="1800"/>
            </a:lvl3pPr>
            <a:lvl4pPr marL="1511758" indent="0">
              <a:buNone/>
              <a:defRPr sz="1500"/>
            </a:lvl4pPr>
            <a:lvl5pPr marL="2015677" indent="0">
              <a:buNone/>
              <a:defRPr sz="1500"/>
            </a:lvl5pPr>
            <a:lvl6pPr marL="2519597" indent="0">
              <a:buNone/>
              <a:defRPr sz="1500"/>
            </a:lvl6pPr>
            <a:lvl7pPr marL="3023515" indent="0">
              <a:buNone/>
              <a:defRPr sz="1500"/>
            </a:lvl7pPr>
            <a:lvl8pPr marL="3527435" indent="0">
              <a:buNone/>
              <a:defRPr sz="1500"/>
            </a:lvl8pPr>
            <a:lvl9pPr marL="4031354" indent="0">
              <a:buNone/>
              <a:defRPr sz="15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3545" y="1501436"/>
            <a:ext cx="4268515" cy="5480764"/>
          </a:xfrm>
        </p:spPr>
        <p:txBody>
          <a:bodyPr/>
          <a:lstStyle>
            <a:lvl1pPr>
              <a:defRPr sz="3100">
                <a:latin typeface="Calibri" pitchFamily="34" charset="0"/>
              </a:defRPr>
            </a:lvl1pPr>
            <a:lvl2pPr>
              <a:defRPr sz="2600">
                <a:latin typeface="Calibri" pitchFamily="34" charset="0"/>
              </a:defRPr>
            </a:lvl2pPr>
            <a:lvl3pPr>
              <a:defRPr sz="22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0069" y="1501436"/>
            <a:ext cx="4268514" cy="5480764"/>
          </a:xfrm>
        </p:spPr>
        <p:txBody>
          <a:bodyPr/>
          <a:lstStyle>
            <a:lvl1pPr>
              <a:defRPr sz="3100">
                <a:latin typeface="Calibri" pitchFamily="34" charset="0"/>
              </a:defRPr>
            </a:lvl1pPr>
            <a:lvl2pPr>
              <a:defRPr sz="2600">
                <a:latin typeface="Calibri" pitchFamily="34" charset="0"/>
              </a:defRPr>
            </a:lvl2pPr>
            <a:lvl3pPr>
              <a:defRPr sz="22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92179"/>
            <a:ext cx="4454027" cy="705219"/>
          </a:xfrm>
        </p:spPr>
        <p:txBody>
          <a:bodyPr anchor="b"/>
          <a:lstStyle>
            <a:lvl1pPr marL="0" indent="0">
              <a:buNone/>
              <a:defRPr sz="2600" b="1">
                <a:latin typeface="Calibri" pitchFamily="34" charset="0"/>
              </a:defRPr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>
                <a:latin typeface="Calibri" pitchFamily="34" charset="0"/>
              </a:defRPr>
            </a:lvl1pPr>
            <a:lvl2pPr>
              <a:defRPr sz="22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692179"/>
            <a:ext cx="4455776" cy="705219"/>
          </a:xfrm>
        </p:spPr>
        <p:txBody>
          <a:bodyPr anchor="b"/>
          <a:lstStyle>
            <a:lvl1pPr marL="0" indent="0">
              <a:buNone/>
              <a:defRPr sz="2600" b="1">
                <a:latin typeface="Calibri" pitchFamily="34" charset="0"/>
              </a:defRPr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>
                <a:latin typeface="Calibri" pitchFamily="34" charset="0"/>
              </a:defRPr>
            </a:lvl1pPr>
            <a:lvl2pPr>
              <a:defRPr sz="22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09" y="490607"/>
            <a:ext cx="8369019" cy="83996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3" y="300987"/>
            <a:ext cx="3316456" cy="1280945"/>
          </a:xfrm>
        </p:spPr>
        <p:txBody>
          <a:bodyPr anchor="b"/>
          <a:lstStyle>
            <a:lvl1pPr algn="l">
              <a:defRPr sz="2200" b="1"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6" y="300989"/>
            <a:ext cx="5635349" cy="6451973"/>
          </a:xfrm>
        </p:spPr>
        <p:txBody>
          <a:bodyPr/>
          <a:lstStyle>
            <a:lvl1pPr>
              <a:defRPr sz="3500">
                <a:latin typeface="Calibri" pitchFamily="34" charset="0"/>
              </a:defRPr>
            </a:lvl1pPr>
            <a:lvl2pPr>
              <a:defRPr sz="3100">
                <a:latin typeface="Calibri" pitchFamily="34" charset="0"/>
              </a:defRPr>
            </a:lvl2pPr>
            <a:lvl3pPr>
              <a:defRPr sz="2600">
                <a:latin typeface="Calibri" pitchFamily="34" charset="0"/>
              </a:defRPr>
            </a:lvl3pPr>
            <a:lvl4pPr>
              <a:defRPr sz="2200">
                <a:latin typeface="Calibri" pitchFamily="34" charset="0"/>
              </a:defRPr>
            </a:lvl4pPr>
            <a:lvl5pPr>
              <a:defRPr sz="2200">
                <a:latin typeface="Calibri" pitchFamily="34" charset="0"/>
              </a:defRPr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3" y="1581934"/>
            <a:ext cx="3316456" cy="5171028"/>
          </a:xfrm>
        </p:spPr>
        <p:txBody>
          <a:bodyPr/>
          <a:lstStyle>
            <a:lvl1pPr marL="0" indent="0">
              <a:buNone/>
              <a:defRPr sz="1500">
                <a:latin typeface="Calibri" pitchFamily="34" charset="0"/>
              </a:defRPr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>
                <a:latin typeface="Calibri" pitchFamily="34" charset="0"/>
              </a:defRPr>
            </a:lvl1pPr>
            <a:lvl2pPr marL="503920" indent="0">
              <a:buNone/>
              <a:defRPr sz="3100"/>
            </a:lvl2pPr>
            <a:lvl3pPr marL="1007838" indent="0">
              <a:buNone/>
              <a:defRPr sz="2600"/>
            </a:lvl3pPr>
            <a:lvl4pPr marL="1511758" indent="0">
              <a:buNone/>
              <a:defRPr sz="2200"/>
            </a:lvl4pPr>
            <a:lvl5pPr marL="2015677" indent="0">
              <a:buNone/>
              <a:defRPr sz="2200"/>
            </a:lvl5pPr>
            <a:lvl6pPr marL="2519597" indent="0">
              <a:buNone/>
              <a:defRPr sz="2200"/>
            </a:lvl6pPr>
            <a:lvl7pPr marL="3023515" indent="0">
              <a:buNone/>
              <a:defRPr sz="2200"/>
            </a:lvl7pPr>
            <a:lvl8pPr marL="3527435" indent="0">
              <a:buNone/>
              <a:defRPr sz="2200"/>
            </a:lvl8pPr>
            <a:lvl9pPr marL="4031354" indent="0">
              <a:buNone/>
              <a:defRPr sz="2200"/>
            </a:lvl9pPr>
          </a:lstStyle>
          <a:p>
            <a:pPr lvl="0"/>
            <a:r>
              <a:rPr lang="tr-TR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>
                <a:latin typeface="Calibri" pitchFamily="34" charset="0"/>
              </a:defRPr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70728" y="251991"/>
            <a:ext cx="2409899" cy="6730211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7528" y="251991"/>
            <a:ext cx="7065189" cy="6730211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29" y="251989"/>
            <a:ext cx="9643098" cy="83996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3545" y="1501436"/>
            <a:ext cx="4268515" cy="548076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0069" y="1501437"/>
            <a:ext cx="4268514" cy="265638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0069" y="4325814"/>
            <a:ext cx="4268514" cy="265638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529" y="251989"/>
            <a:ext cx="9643098" cy="83996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545" y="1501436"/>
            <a:ext cx="4268515" cy="548076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0069" y="1501436"/>
            <a:ext cx="4268514" cy="548076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2410" y="409159"/>
            <a:ext cx="8369019" cy="839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7529" y="1501436"/>
            <a:ext cx="8705040" cy="5480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0783" tIns="50392" rIns="100783" bIns="503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706792" y="-29747"/>
            <a:ext cx="1443839" cy="3062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100783" tIns="50392" rIns="100783" bIns="50392">
            <a:spAutoFit/>
          </a:bodyPr>
          <a:lstStyle/>
          <a:p>
            <a:pPr>
              <a:defRPr/>
            </a:pPr>
            <a:r>
              <a:rPr lang="en-US" sz="130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xStyles>
    <p:titleStyle>
      <a:lvl1pPr marL="131230" indent="-13123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31230" indent="-13123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 Narrow" pitchFamily="34" charset="0"/>
        </a:defRPr>
      </a:lvl2pPr>
      <a:lvl3pPr marL="131230" indent="-13123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 Narrow" pitchFamily="34" charset="0"/>
        </a:defRPr>
      </a:lvl3pPr>
      <a:lvl4pPr marL="131230" indent="-13123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 Narrow" pitchFamily="34" charset="0"/>
        </a:defRPr>
      </a:lvl4pPr>
      <a:lvl5pPr marL="131230" indent="-13123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 Narrow" pitchFamily="34" charset="0"/>
        </a:defRPr>
      </a:lvl5pPr>
      <a:lvl6pPr marL="63515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 Narrow" pitchFamily="34" charset="0"/>
        </a:defRPr>
      </a:lvl6pPr>
      <a:lvl7pPr marL="1139068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 Narrow" pitchFamily="34" charset="0"/>
        </a:defRPr>
      </a:lvl7pPr>
      <a:lvl8pPr marL="1642988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 Narrow" pitchFamily="34" charset="0"/>
        </a:defRPr>
      </a:lvl8pPr>
      <a:lvl9pPr marL="2146907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 Narrow" pitchFamily="34" charset="0"/>
        </a:defRPr>
      </a:lvl9pPr>
    </p:titleStyle>
    <p:bodyStyle>
      <a:lvl1pPr marL="377940" indent="-37794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6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818869" indent="-314949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200">
          <a:solidFill>
            <a:schemeClr val="tx1"/>
          </a:solidFill>
          <a:latin typeface="Calibri" pitchFamily="34" charset="0"/>
        </a:defRPr>
      </a:lvl2pPr>
      <a:lvl3pPr marL="1259799" indent="-25196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200">
          <a:solidFill>
            <a:schemeClr val="tx1"/>
          </a:solidFill>
          <a:latin typeface="Calibri" pitchFamily="34" charset="0"/>
        </a:defRPr>
      </a:lvl3pPr>
      <a:lvl4pPr marL="1763717" indent="-251960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Calibri" pitchFamily="34" charset="0"/>
        </a:defRPr>
      </a:lvl4pPr>
      <a:lvl5pPr marL="2267637" indent="-251960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Calibri" pitchFamily="34" charset="0"/>
        </a:defRPr>
      </a:lvl5pPr>
      <a:lvl6pPr marL="2771557" indent="-251960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Arial" charset="0"/>
        </a:defRPr>
      </a:lvl6pPr>
      <a:lvl7pPr marL="3275476" indent="-251960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Arial" charset="0"/>
        </a:defRPr>
      </a:lvl7pPr>
      <a:lvl8pPr marL="3779395" indent="-251960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Arial" charset="0"/>
        </a:defRPr>
      </a:lvl8pPr>
      <a:lvl9pPr marL="4283314" indent="-251960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2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83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75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67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59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51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3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354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groups" TargetMode="External"/><Relationship Id="rId2" Type="http://schemas.openxmlformats.org/officeDocument/2006/relationships/hyperlink" Target="https://www.youtube.com/watch?v=FZR0rG3HKI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L1ie8negCjc" TargetMode="External"/><Relationship Id="rId4" Type="http://schemas.openxmlformats.org/officeDocument/2006/relationships/hyperlink" Target="https://www.youtube.com/watch?v=EnJ7qX9fkc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3" y="301324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n-US" sz="44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3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endParaRPr lang="en-US" sz="32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4" indent="0">
              <a:lnSpc>
                <a:spcPct val="95000"/>
              </a:lnSpc>
            </a:pPr>
            <a:r>
              <a:rPr lang="en-GB" altLang="en-US" sz="3200" dirty="0">
                <a:solidFill>
                  <a:srgbClr val="000000"/>
                </a:solidFill>
                <a:latin typeface="Arial" charset="0"/>
              </a:rPr>
              <a:t>Virtualization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2"/>
          <p:cNvSpPr>
            <a:spLocks noGrp="1"/>
          </p:cNvSpPr>
          <p:nvPr>
            <p:ph type="title" idx="4294967295"/>
          </p:nvPr>
        </p:nvSpPr>
        <p:spPr>
          <a:xfrm>
            <a:off x="739775" y="103188"/>
            <a:ext cx="8596313" cy="781050"/>
          </a:xfrm>
        </p:spPr>
        <p:txBody>
          <a:bodyPr lIns="100794" tIns="50397" rIns="100794" bIns="50397"/>
          <a:lstStyle/>
          <a:p>
            <a:pPr defTabSz="914400" eaLnBrk="1"/>
            <a:r>
              <a:rPr lang="en-US" altLang="en-US">
                <a:ea typeface="ＭＳ Ｐゴシック" charset="-128"/>
              </a:rPr>
              <a:t>Virtualization</a:t>
            </a:r>
          </a:p>
        </p:txBody>
      </p:sp>
      <p:sp>
        <p:nvSpPr>
          <p:cNvPr id="82946" name="Footer Placeholder 3"/>
          <p:cNvSpPr txBox="1">
            <a:spLocks noGrp="1"/>
          </p:cNvSpPr>
          <p:nvPr/>
        </p:nvSpPr>
        <p:spPr bwMode="auto">
          <a:xfrm>
            <a:off x="195263" y="7237413"/>
            <a:ext cx="96059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/>
          <a:lstStyle>
            <a:lvl1pPr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300">
                <a:solidFill>
                  <a:srgbClr val="898989"/>
                </a:solidFill>
                <a:latin typeface="Times New Roman" charset="0"/>
              </a:rPr>
              <a:t>Tanenbaum, Modern Operating Systems 3 e, (c) 2008 Prentice-Hall, Inc. All rights reserved. 0-13-</a:t>
            </a:r>
            <a:r>
              <a:rPr lang="en-US" altLang="en-US" sz="1300" b="1">
                <a:solidFill>
                  <a:srgbClr val="898989"/>
                </a:solidFill>
                <a:latin typeface="Times New Roman" charset="0"/>
              </a:rPr>
              <a:t>6006639</a:t>
            </a:r>
            <a:endParaRPr lang="en-US" altLang="en-US" sz="1300">
              <a:solidFill>
                <a:srgbClr val="898989"/>
              </a:solidFill>
              <a:latin typeface="Times New Roman" charset="0"/>
            </a:endParaRPr>
          </a:p>
        </p:txBody>
      </p:sp>
      <p:sp>
        <p:nvSpPr>
          <p:cNvPr id="82947" name="Rectangle 4"/>
          <p:cNvSpPr>
            <a:spLocks noChangeArrowheads="1"/>
          </p:cNvSpPr>
          <p:nvPr/>
        </p:nvSpPr>
        <p:spPr bwMode="auto">
          <a:xfrm>
            <a:off x="788988" y="1415844"/>
            <a:ext cx="3336925" cy="5564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2575" indent="176213">
              <a:lnSpc>
                <a:spcPct val="90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254125" indent="176213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90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625475" indent="-342900" eaLnBrk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SzPct val="100000"/>
              <a:buFont typeface="Wingdings" charset="2"/>
              <a:buChar char="§"/>
            </a:pPr>
            <a:r>
              <a:rPr lang="en-GB" altLang="en-US" sz="2000" dirty="0"/>
              <a:t>A single computer system hosting multiple virtual machines each potentially running a different OS.</a:t>
            </a:r>
          </a:p>
          <a:p>
            <a:pPr marL="625475" indent="-342900" eaLnBrk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SzPct val="100000"/>
              <a:buFont typeface="Wingdings" charset="2"/>
              <a:buChar char="§"/>
            </a:pPr>
            <a:r>
              <a:rPr lang="en-GB" altLang="en-US" sz="2000" dirty="0"/>
              <a:t>A 40 year old technology dating back to IBM/370 that is making a come-back in the recent years.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SzPct val="100000"/>
              <a:buFont typeface="Wingdings" charset="2"/>
              <a:buChar char="§"/>
            </a:pPr>
            <a:endParaRPr lang="en-GB" altLang="en-US" sz="1600" dirty="0"/>
          </a:p>
        </p:txBody>
      </p:sp>
      <p:pic>
        <p:nvPicPr>
          <p:cNvPr id="829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13" y="884238"/>
            <a:ext cx="4910137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82949" name="Rectangle 6"/>
          <p:cNvSpPr>
            <a:spLocks noChangeArrowheads="1"/>
          </p:cNvSpPr>
          <p:nvPr/>
        </p:nvSpPr>
        <p:spPr bwMode="auto">
          <a:xfrm>
            <a:off x="924232" y="4602480"/>
            <a:ext cx="8916681" cy="2606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2575" indent="176213">
              <a:lnSpc>
                <a:spcPct val="90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254125" indent="176213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90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charset="2"/>
              <a:buChar char=""/>
            </a:pPr>
            <a:r>
              <a:rPr lang="en-GB" altLang="en-US" sz="2000" dirty="0"/>
              <a:t>Robustness against software failures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charset="2"/>
              <a:buChar char=""/>
            </a:pPr>
            <a:r>
              <a:rPr lang="en-GB" altLang="en-US" sz="2000" dirty="0"/>
              <a:t>Able to run legacy applications on OS</a:t>
            </a:r>
            <a:r>
              <a:rPr lang="ja-JP" altLang="en-GB" sz="2000" dirty="0"/>
              <a:t>’</a:t>
            </a:r>
            <a:r>
              <a:rPr lang="en-GB" altLang="ja-JP" sz="2000" dirty="0"/>
              <a:t>s that are not supported on current hardware or available OS</a:t>
            </a:r>
            <a:r>
              <a:rPr lang="ja-JP" altLang="en-GB" sz="2000" dirty="0"/>
              <a:t>’</a:t>
            </a:r>
            <a:r>
              <a:rPr lang="en-GB" altLang="ja-JP" sz="2000" dirty="0"/>
              <a:t>s.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charset="2"/>
              <a:buChar char=""/>
            </a:pPr>
            <a:r>
              <a:rPr lang="en-GB" altLang="en-US" sz="2000" dirty="0"/>
              <a:t>Good for software development that targets different OS</a:t>
            </a:r>
            <a:r>
              <a:rPr lang="ja-JP" altLang="en-GB" sz="2000" dirty="0"/>
              <a:t>’</a:t>
            </a:r>
            <a:r>
              <a:rPr lang="en-GB" altLang="ja-JP" sz="2000" dirty="0"/>
              <a:t>s.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charset="2"/>
              <a:buChar char=""/>
            </a:pPr>
            <a:endParaRPr lang="en-GB" altLang="en-US" sz="2000" dirty="0"/>
          </a:p>
          <a:p>
            <a:pPr lvl="2" eaLnBrk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endParaRPr lang="en-GB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1516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AF8EFCD-8E4E-D847-9AC1-693BA9299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Protection Rings – x86</a:t>
            </a:r>
          </a:p>
        </p:txBody>
      </p:sp>
      <p:cxnSp>
        <p:nvCxnSpPr>
          <p:cNvPr id="10243" name="Straight Connector 4">
            <a:extLst>
              <a:ext uri="{FF2B5EF4-FFF2-40B4-BE49-F238E27FC236}">
                <a16:creationId xmlns:a16="http://schemas.microsoft.com/office/drawing/2014/main" id="{AB1B5F82-E811-CB4C-86B6-8548D1C83B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0511" y="3611844"/>
            <a:ext cx="865162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4" name="TextBox 6">
            <a:extLst>
              <a:ext uri="{FF2B5EF4-FFF2-40B4-BE49-F238E27FC236}">
                <a16:creationId xmlns:a16="http://schemas.microsoft.com/office/drawing/2014/main" id="{7EA26F2A-E196-144F-BD1C-E64BCEFDB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96" y="2687884"/>
            <a:ext cx="4177747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984"/>
              <a:t>User space (lower privilege: ring 3) </a:t>
            </a:r>
          </a:p>
        </p:txBody>
      </p:sp>
      <p:sp>
        <p:nvSpPr>
          <p:cNvPr id="10245" name="TextBox 7">
            <a:extLst>
              <a:ext uri="{FF2B5EF4-FFF2-40B4-BE49-F238E27FC236}">
                <a16:creationId xmlns:a16="http://schemas.microsoft.com/office/drawing/2014/main" id="{DB5EA3D1-E25C-ED44-B6FC-ADEE5659E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396" y="4031827"/>
            <a:ext cx="6192721" cy="1313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984"/>
              <a:t>Kernel space (high privilege: ring 0)</a:t>
            </a:r>
          </a:p>
          <a:p>
            <a:pPr eaLnBrk="1" hangingPunct="1"/>
            <a:endParaRPr lang="en-US" altLang="en-US" sz="1984"/>
          </a:p>
          <a:p>
            <a:pPr eaLnBrk="1" hangingPunct="1"/>
            <a:endParaRPr lang="en-US" altLang="en-US" sz="1984"/>
          </a:p>
          <a:p>
            <a:pPr eaLnBrk="1" hangingPunct="1"/>
            <a:r>
              <a:rPr lang="en-US" altLang="en-US" sz="1984"/>
              <a:t>Have rights to access some special CPU instructions </a:t>
            </a:r>
          </a:p>
        </p:txBody>
      </p:sp>
      <p:sp>
        <p:nvSpPr>
          <p:cNvPr id="10246" name="TextBox 8">
            <a:extLst>
              <a:ext uri="{FF2B5EF4-FFF2-40B4-BE49-F238E27FC236}">
                <a16:creationId xmlns:a16="http://schemas.microsoft.com/office/drawing/2014/main" id="{793379D2-8A47-2E42-8A8A-481DE3770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486" y="2771881"/>
            <a:ext cx="864339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984"/>
              <a:t>APPS</a:t>
            </a:r>
          </a:p>
        </p:txBody>
      </p:sp>
      <p:sp>
        <p:nvSpPr>
          <p:cNvPr id="10247" name="TextBox 9">
            <a:extLst>
              <a:ext uri="{FF2B5EF4-FFF2-40B4-BE49-F238E27FC236}">
                <a16:creationId xmlns:a16="http://schemas.microsoft.com/office/drawing/2014/main" id="{FA4254A3-776A-B044-B559-80727D7D0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03" y="4283816"/>
            <a:ext cx="2230098" cy="70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984"/>
              <a:t>OS</a:t>
            </a:r>
          </a:p>
          <a:p>
            <a:pPr eaLnBrk="1" hangingPunct="1"/>
            <a:r>
              <a:rPr lang="en-US" altLang="en-US" sz="1984"/>
              <a:t>(supervisor mode)</a:t>
            </a:r>
          </a:p>
        </p:txBody>
      </p:sp>
      <p:cxnSp>
        <p:nvCxnSpPr>
          <p:cNvPr id="10248" name="Straight Arrow Connector 11">
            <a:extLst>
              <a:ext uri="{FF2B5EF4-FFF2-40B4-BE49-F238E27FC236}">
                <a16:creationId xmlns:a16="http://schemas.microsoft.com/office/drawing/2014/main" id="{D8EF873D-CADB-0144-A838-CF1B2B39EC1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352427" y="3695841"/>
            <a:ext cx="755968" cy="83996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9" name="TextBox 13">
            <a:extLst>
              <a:ext uri="{FF2B5EF4-FFF2-40B4-BE49-F238E27FC236}">
                <a16:creationId xmlns:a16="http://schemas.microsoft.com/office/drawing/2014/main" id="{8E2F20C1-A429-E44F-B9DE-01F7D715D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2319" y="3294199"/>
            <a:ext cx="2060179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984" dirty="0"/>
              <a:t>System call/ trap</a:t>
            </a:r>
          </a:p>
        </p:txBody>
      </p:sp>
      <p:cxnSp>
        <p:nvCxnSpPr>
          <p:cNvPr id="10250" name="Straight Connector 15">
            <a:extLst>
              <a:ext uri="{FF2B5EF4-FFF2-40B4-BE49-F238E27FC236}">
                <a16:creationId xmlns:a16="http://schemas.microsoft.com/office/drawing/2014/main" id="{F8606173-AAC4-524A-B7A3-6E904188E6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0510" y="5627758"/>
            <a:ext cx="8567632" cy="839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1" name="TextBox 16">
            <a:extLst>
              <a:ext uri="{FF2B5EF4-FFF2-40B4-BE49-F238E27FC236}">
                <a16:creationId xmlns:a16="http://schemas.microsoft.com/office/drawing/2014/main" id="{0EED1C6E-F63A-C648-9046-01CE80F07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482" y="6383726"/>
            <a:ext cx="1287532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984"/>
              <a:t>Hardware</a:t>
            </a:r>
          </a:p>
        </p:txBody>
      </p:sp>
      <p:cxnSp>
        <p:nvCxnSpPr>
          <p:cNvPr id="10252" name="Straight Arrow Connector 18">
            <a:extLst>
              <a:ext uri="{FF2B5EF4-FFF2-40B4-BE49-F238E27FC236}">
                <a16:creationId xmlns:a16="http://schemas.microsoft.com/office/drawing/2014/main" id="{91710029-F876-B340-A620-C207CE28104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268431" y="5543761"/>
            <a:ext cx="755968" cy="41998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3" name="TextBox 20">
            <a:extLst>
              <a:ext uri="{FF2B5EF4-FFF2-40B4-BE49-F238E27FC236}">
                <a16:creationId xmlns:a16="http://schemas.microsoft.com/office/drawing/2014/main" id="{F407B083-8376-8C49-BF53-590306C8A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85" y="5627758"/>
            <a:ext cx="1116011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984" dirty="0"/>
              <a:t>interrupt</a:t>
            </a:r>
          </a:p>
        </p:txBody>
      </p:sp>
      <p:cxnSp>
        <p:nvCxnSpPr>
          <p:cNvPr id="10254" name="Straight Arrow Connector 22">
            <a:extLst>
              <a:ext uri="{FF2B5EF4-FFF2-40B4-BE49-F238E27FC236}">
                <a16:creationId xmlns:a16="http://schemas.microsoft.com/office/drawing/2014/main" id="{596EC26D-E99B-0549-9828-3F0BC4F03DB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4662328" y="5585759"/>
            <a:ext cx="923960" cy="335986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5" name="TextBox 14">
            <a:extLst>
              <a:ext uri="{FF2B5EF4-FFF2-40B4-BE49-F238E27FC236}">
                <a16:creationId xmlns:a16="http://schemas.microsoft.com/office/drawing/2014/main" id="{88D63F63-32E8-7B47-8318-5FDE1634B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493" y="1595931"/>
            <a:ext cx="2135521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984" b="1"/>
              <a:t>Protection rings</a:t>
            </a:r>
          </a:p>
        </p:txBody>
      </p:sp>
      <p:pic>
        <p:nvPicPr>
          <p:cNvPr id="10256" name="Picture 16" descr="http://upload.wikimedia.org/wikipedia/en/thumb/2/2f/Priv_rings.svg/300px-Priv_rings.svg.png">
            <a:extLst>
              <a:ext uri="{FF2B5EF4-FFF2-40B4-BE49-F238E27FC236}">
                <a16:creationId xmlns:a16="http://schemas.microsoft.com/office/drawing/2014/main" id="{006781BE-7B0A-A545-8AEA-F1CF1029D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231" y="839963"/>
            <a:ext cx="3149865" cy="226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4590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>
                <a:ea typeface="ＭＳ Ｐゴシック" charset="-128"/>
              </a:rPr>
              <a:t>Requirements for virtualization</a:t>
            </a:r>
          </a:p>
        </p:txBody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>
                <a:ea typeface="ＭＳ Ｐゴシック" charset="-128"/>
              </a:rPr>
              <a:t>Approach: trap the “privileged instructions” in the user mode 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typically related to kernel functions, such as I/O instructions or instructions that changes MMU settings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emulate them within the guest OS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>
                <a:ea typeface="ＭＳ Ｐゴシック" charset="-128"/>
              </a:rPr>
              <a:t>Requires help from hardware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AMD and Intel CPU’s have created virtualization support after 2005</a:t>
            </a:r>
          </a:p>
          <a:p>
            <a:pPr lvl="2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Containers in which virtual machines can run</a:t>
            </a:r>
          </a:p>
          <a:p>
            <a:pPr lvl="2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The program runs until it creates a trap</a:t>
            </a:r>
          </a:p>
          <a:p>
            <a:pPr lvl="2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Traps handled by the hypervisor to emulate the desired behavior</a:t>
            </a:r>
          </a:p>
        </p:txBody>
      </p:sp>
    </p:spTree>
    <p:extLst>
      <p:ext uri="{BB962C8B-B14F-4D97-AF65-F5344CB8AC3E}">
        <p14:creationId xmlns:p14="http://schemas.microsoft.com/office/powerpoint/2010/main" val="679519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>
                <a:ea typeface="ＭＳ Ｐゴシック" charset="-128"/>
              </a:rPr>
              <a:t>Two approaches</a:t>
            </a:r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589" y="4861387"/>
            <a:ext cx="9483725" cy="2590800"/>
          </a:xfrm>
        </p:spPr>
        <p:txBody>
          <a:bodyPr/>
          <a:lstStyle/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 sz="2000" dirty="0">
                <a:ea typeface="ＭＳ Ｐゴシック" charset="-128"/>
              </a:rPr>
              <a:t>Virtualization is implemented by hypervisors that act just like the real hardware.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 sz="2000" dirty="0">
                <a:ea typeface="ＭＳ Ｐゴシック" charset="-128"/>
              </a:rPr>
              <a:t>Type 1 hypervisor </a:t>
            </a:r>
          </a:p>
          <a:p>
            <a:pPr lvl="1" eaLnBrk="1">
              <a:lnSpc>
                <a:spcPct val="100000"/>
              </a:lnSpc>
            </a:pPr>
            <a:r>
              <a:rPr lang="en-US" altLang="en-US" sz="1600" dirty="0">
                <a:ea typeface="ＭＳ Ｐゴシック" charset="-128"/>
              </a:rPr>
              <a:t>Virtualization is implemented as part of the hosting OS at the kernel level.</a:t>
            </a:r>
          </a:p>
          <a:p>
            <a:pPr lvl="1" eaLnBrk="1">
              <a:lnSpc>
                <a:spcPct val="100000"/>
              </a:lnSpc>
            </a:pPr>
            <a:r>
              <a:rPr lang="en-US" altLang="en-US" sz="1600" dirty="0">
                <a:ea typeface="ＭＳ Ｐゴシック" charset="-128"/>
              </a:rPr>
              <a:t>Support multiple copies of the actual machine, called virtual machines.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 sz="2000" dirty="0">
                <a:ea typeface="ＭＳ Ｐゴシック" charset="-128"/>
              </a:rPr>
              <a:t>Type 2 hypervisor</a:t>
            </a:r>
          </a:p>
          <a:p>
            <a:pPr lvl="1" eaLnBrk="1">
              <a:lnSpc>
                <a:spcPct val="100000"/>
              </a:lnSpc>
            </a:pPr>
            <a:r>
              <a:rPr lang="en-US" altLang="en-US" sz="1600" dirty="0">
                <a:ea typeface="ＭＳ Ｐゴシック" charset="-128"/>
              </a:rPr>
              <a:t>Virtualization is implemented as a user program running at the user level.</a:t>
            </a:r>
          </a:p>
          <a:p>
            <a:pPr lvl="1" eaLnBrk="1">
              <a:lnSpc>
                <a:spcPct val="100000"/>
              </a:lnSpc>
            </a:pPr>
            <a:r>
              <a:rPr lang="en-US" altLang="en-US" sz="1600" dirty="0">
                <a:ea typeface="ＭＳ Ｐゴシック" charset="-128"/>
              </a:rPr>
              <a:t>It “interprets” the machine’s instruction set which also creates a virtual machine. </a:t>
            </a:r>
          </a:p>
        </p:txBody>
      </p:sp>
      <p:pic>
        <p:nvPicPr>
          <p:cNvPr id="87043" name="Picture 4" descr="01-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49" y="1428384"/>
            <a:ext cx="816927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Text Box 5"/>
          <p:cNvSpPr txBox="1">
            <a:spLocks noChangeArrowheads="1"/>
          </p:cNvSpPr>
          <p:nvPr/>
        </p:nvSpPr>
        <p:spPr bwMode="auto">
          <a:xfrm>
            <a:off x="925513" y="4306019"/>
            <a:ext cx="3429000" cy="4556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algn="ctr" defTabSz="914400" eaLnBrk="1"/>
            <a:r>
              <a:rPr lang="en-US" altLang="en-US">
                <a:solidFill>
                  <a:schemeClr val="tx1"/>
                </a:solidFill>
                <a:latin typeface="Arial" charset="0"/>
              </a:rPr>
              <a:t>Hardware</a:t>
            </a:r>
          </a:p>
        </p:txBody>
      </p:sp>
      <p:sp>
        <p:nvSpPr>
          <p:cNvPr id="87045" name="Text Box 6"/>
          <p:cNvSpPr txBox="1">
            <a:spLocks noChangeArrowheads="1"/>
          </p:cNvSpPr>
          <p:nvPr/>
        </p:nvSpPr>
        <p:spPr bwMode="auto">
          <a:xfrm>
            <a:off x="5345113" y="4310782"/>
            <a:ext cx="3581400" cy="45561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algn="ctr" defTabSz="914400" eaLnBrk="1"/>
            <a:r>
              <a:rPr lang="en-US" altLang="en-US">
                <a:solidFill>
                  <a:schemeClr val="tx1"/>
                </a:solidFill>
                <a:latin typeface="Arial" charset="0"/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723409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2"/>
          <p:cNvSpPr>
            <a:spLocks noGrp="1"/>
          </p:cNvSpPr>
          <p:nvPr>
            <p:ph type="title" idx="4294967295"/>
          </p:nvPr>
        </p:nvSpPr>
        <p:spPr>
          <a:xfrm>
            <a:off x="739775" y="103188"/>
            <a:ext cx="8596313" cy="781050"/>
          </a:xfrm>
        </p:spPr>
        <p:txBody>
          <a:bodyPr lIns="100794" tIns="50397" rIns="100794" bIns="50397"/>
          <a:lstStyle/>
          <a:p>
            <a:pPr defTabSz="914400" eaLnBrk="1"/>
            <a:r>
              <a:rPr lang="en-US" altLang="en-US">
                <a:ea typeface="ＭＳ Ｐゴシック" charset="-128"/>
              </a:rPr>
              <a:t>Type 1 Hypervisors</a:t>
            </a:r>
          </a:p>
        </p:txBody>
      </p:sp>
      <p:sp>
        <p:nvSpPr>
          <p:cNvPr id="93186" name="Footer Placeholder 3"/>
          <p:cNvSpPr txBox="1">
            <a:spLocks noGrp="1"/>
          </p:cNvSpPr>
          <p:nvPr/>
        </p:nvSpPr>
        <p:spPr bwMode="auto">
          <a:xfrm>
            <a:off x="195263" y="7237413"/>
            <a:ext cx="96059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/>
          <a:lstStyle>
            <a:lvl1pPr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300">
                <a:solidFill>
                  <a:srgbClr val="898989"/>
                </a:solidFill>
                <a:latin typeface="Times New Roman" charset="0"/>
              </a:rPr>
              <a:t>Tanenbaum, Modern Operating Systems 3 e, (c) 2008 Prentice-Hall, Inc. All rights reserved. 0-13-</a:t>
            </a:r>
            <a:r>
              <a:rPr lang="en-US" altLang="en-US" sz="1300" b="1">
                <a:solidFill>
                  <a:srgbClr val="898989"/>
                </a:solidFill>
                <a:latin typeface="Times New Roman" charset="0"/>
              </a:rPr>
              <a:t>6006639</a:t>
            </a:r>
            <a:endParaRPr lang="en-US" altLang="en-US" sz="1300">
              <a:solidFill>
                <a:srgbClr val="898989"/>
              </a:solidFill>
              <a:latin typeface="Times New Roman" charset="0"/>
            </a:endParaRPr>
          </a:p>
        </p:txBody>
      </p:sp>
      <p:pic>
        <p:nvPicPr>
          <p:cNvPr id="9318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13" y="1189038"/>
            <a:ext cx="6240462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8" name="Rectangle 5"/>
          <p:cNvSpPr>
            <a:spLocks noChangeArrowheads="1"/>
          </p:cNvSpPr>
          <p:nvPr/>
        </p:nvSpPr>
        <p:spPr bwMode="auto">
          <a:xfrm>
            <a:off x="384175" y="1036638"/>
            <a:ext cx="3132138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2575">
              <a:lnSpc>
                <a:spcPct val="90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50888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90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"/>
            </a:pPr>
            <a:r>
              <a:rPr lang="en-US" altLang="en-US" sz="2000"/>
              <a:t>The hypervisor runs on the bare hardware  as part of the OS.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"/>
            </a:pPr>
            <a:r>
              <a:rPr lang="en-US" altLang="en-US" sz="2000"/>
              <a:t>The virtual machine runs as a user process in user mode.</a:t>
            </a:r>
          </a:p>
          <a:p>
            <a:pPr lvl="1" indent="0" eaLnBrk="1">
              <a:lnSpc>
                <a:spcPct val="100000"/>
              </a:lnSpc>
              <a:spcAft>
                <a:spcPct val="0"/>
              </a:spcAft>
            </a:pPr>
            <a:r>
              <a:rPr lang="en-US" altLang="en-US" sz="1600"/>
              <a:t>Is not allowed to execute “privileged instructions”.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"/>
            </a:pPr>
            <a:r>
              <a:rPr lang="en-US" altLang="en-US" sz="2000"/>
              <a:t>The guest OS thinks it is running in kernel mode, although it is in user mode. (virtual kernel mode)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2"/>
              <a:buChar char=""/>
            </a:pPr>
            <a:r>
              <a:rPr lang="en-US" altLang="en-US" sz="1800"/>
              <a:t>When the guest OS executes a “privileged instruction”, it generates a trap (thanks to the VT support from hardware) in the host OS kernel. </a:t>
            </a:r>
            <a:endParaRPr lang="en-US" altLang="en-US"/>
          </a:p>
        </p:txBody>
      </p:sp>
      <p:sp>
        <p:nvSpPr>
          <p:cNvPr id="93189" name="Rectangle 6"/>
          <p:cNvSpPr>
            <a:spLocks noChangeArrowheads="1"/>
          </p:cNvSpPr>
          <p:nvPr/>
        </p:nvSpPr>
        <p:spPr bwMode="auto">
          <a:xfrm>
            <a:off x="3821113" y="3779838"/>
            <a:ext cx="57150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Font typeface="Wingdings" charset="2"/>
              <a:buChar char=""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The hypervisor inspects the instruction if it was issued by the guest OS running in the virtual machine.</a:t>
            </a:r>
          </a:p>
          <a:p>
            <a:pPr defTabSz="914400" eaLnBrk="1">
              <a:lnSpc>
                <a:spcPct val="100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Font typeface="Wingdings" charset="2"/>
              <a:buChar char=""/>
            </a:pPr>
            <a:r>
              <a:rPr lang="en-US" altLang="en-US" sz="2000">
                <a:solidFill>
                  <a:srgbClr val="000000"/>
                </a:solidFill>
                <a:latin typeface="Arial" charset="0"/>
              </a:rPr>
              <a:t>If so, the hypervisor emulates what the real hardware would do when confronted with that “privileged instruction” executed in user mode. </a:t>
            </a:r>
          </a:p>
        </p:txBody>
      </p:sp>
    </p:spTree>
    <p:extLst>
      <p:ext uri="{BB962C8B-B14F-4D97-AF65-F5344CB8AC3E}">
        <p14:creationId xmlns:p14="http://schemas.microsoft.com/office/powerpoint/2010/main" val="874487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ChangeArrowheads="1"/>
          </p:cNvSpPr>
          <p:nvPr/>
        </p:nvSpPr>
        <p:spPr bwMode="auto">
          <a:xfrm>
            <a:off x="0" y="0"/>
            <a:ext cx="1008062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4" tIns="50748" rIns="101494" bIns="50748" anchor="ctr"/>
          <a:lstStyle>
            <a:lvl1pPr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tx1"/>
                </a:solidFill>
                <a:latin typeface="Arial" charset="0"/>
              </a:rPr>
              <a:t>Type I: The structure of IBM VM/370</a:t>
            </a:r>
          </a:p>
        </p:txBody>
      </p:sp>
      <p:sp>
        <p:nvSpPr>
          <p:cNvPr id="89090" name="Rectangle 3"/>
          <p:cNvSpPr>
            <a:spLocks noChangeArrowheads="1"/>
          </p:cNvSpPr>
          <p:nvPr/>
        </p:nvSpPr>
        <p:spPr bwMode="auto">
          <a:xfrm>
            <a:off x="195263" y="7237413"/>
            <a:ext cx="96059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494" tIns="50748" rIns="101494" bIns="50748" anchor="ctr"/>
          <a:lstStyle>
            <a:lvl1pPr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300">
                <a:solidFill>
                  <a:srgbClr val="898989"/>
                </a:solidFill>
                <a:latin typeface="Times New Roman" charset="0"/>
              </a:rPr>
              <a:t>Tanenbaum, Modern Operating Systems 3 e, (c) 2008 Prentice-Hall, Inc. All rights reserved. 0-13-</a:t>
            </a:r>
            <a:r>
              <a:rPr lang="en-US" altLang="en-US" sz="1300" b="1">
                <a:solidFill>
                  <a:srgbClr val="898989"/>
                </a:solidFill>
                <a:latin typeface="Times New Roman" charset="0"/>
              </a:rPr>
              <a:t>6006639</a:t>
            </a:r>
          </a:p>
        </p:txBody>
      </p:sp>
      <p:pic>
        <p:nvPicPr>
          <p:cNvPr id="89091" name="Picture 4" descr="01-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341438"/>
            <a:ext cx="962977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Rectangle 5"/>
          <p:cNvSpPr>
            <a:spLocks noChangeArrowheads="1"/>
          </p:cNvSpPr>
          <p:nvPr/>
        </p:nvSpPr>
        <p:spPr bwMode="auto">
          <a:xfrm>
            <a:off x="696913" y="4313238"/>
            <a:ext cx="9144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2575" indent="17621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tabLst>
                <a:tab pos="282575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eaLnBrk="1">
              <a:lnSpc>
                <a:spcPct val="100000"/>
              </a:lnSpc>
              <a:spcBef>
                <a:spcPts val="600"/>
              </a:spcBef>
              <a:buClr>
                <a:srgbClr val="993333"/>
              </a:buClr>
              <a:buFont typeface="Wingdings" charset="2"/>
              <a:buChar char=""/>
            </a:pPr>
            <a:r>
              <a:rPr lang="en-GB" altLang="en-US" sz="2000">
                <a:solidFill>
                  <a:srgbClr val="000000"/>
                </a:solidFill>
                <a:latin typeface="Arial" charset="0"/>
              </a:rPr>
              <a:t>When a CMS program executed a system call, the call is trapped by the CMS (guest OS)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buClr>
                <a:srgbClr val="993333"/>
              </a:buClr>
              <a:buFont typeface="Wingdings" charset="2"/>
              <a:buChar char=""/>
            </a:pPr>
            <a:r>
              <a:rPr lang="en-GB" altLang="en-US" sz="2000">
                <a:solidFill>
                  <a:srgbClr val="000000"/>
                </a:solidFill>
                <a:latin typeface="Arial" charset="0"/>
              </a:rPr>
              <a:t>CMS then issued the normal hardware I/O instructions for reading its virtual disk, etcetera.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buClr>
                <a:srgbClr val="993333"/>
              </a:buClr>
              <a:buFont typeface="Wingdings" charset="2"/>
              <a:buChar char=""/>
            </a:pPr>
            <a:r>
              <a:rPr lang="en-GB" altLang="en-US" sz="2000">
                <a:solidFill>
                  <a:srgbClr val="000000"/>
                </a:solidFill>
                <a:latin typeface="Arial" charset="0"/>
              </a:rPr>
              <a:t>These I/O instructions were trapped by the VM/370, which then performed them as part of its simulation of the real hardware.</a:t>
            </a:r>
          </a:p>
          <a:p>
            <a:pPr eaLnBrk="1">
              <a:lnSpc>
                <a:spcPct val="100000"/>
              </a:lnSpc>
              <a:spcBef>
                <a:spcPts val="600"/>
              </a:spcBef>
              <a:buClr>
                <a:srgbClr val="993333"/>
              </a:buClr>
              <a:buFont typeface="Wingdings" charset="2"/>
              <a:buChar char=""/>
            </a:pPr>
            <a:r>
              <a:rPr lang="en-GB" altLang="en-US" sz="2000">
                <a:solidFill>
                  <a:srgbClr val="000000"/>
                </a:solidFill>
                <a:latin typeface="Arial" charset="0"/>
              </a:rPr>
              <a:t>In its modern incarnation, z/VM can run multiple OS</a:t>
            </a:r>
            <a:r>
              <a:rPr lang="ja-JP" altLang="en-GB" sz="200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GB" altLang="ja-JP" sz="2000">
                <a:solidFill>
                  <a:srgbClr val="000000"/>
                </a:solidFill>
                <a:latin typeface="Arial" charset="0"/>
              </a:rPr>
              <a:t>s such as AIX</a:t>
            </a:r>
            <a:r>
              <a:rPr lang="ja-JP" altLang="en-GB" sz="200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GB" altLang="ja-JP" sz="2000">
                <a:solidFill>
                  <a:srgbClr val="000000"/>
                </a:solidFill>
                <a:latin typeface="Arial" charset="0"/>
              </a:rPr>
              <a:t>s or Linux.</a:t>
            </a:r>
            <a:endParaRPr lang="en-GB" altLang="en-US" sz="20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989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2"/>
          <p:cNvSpPr>
            <a:spLocks noGrp="1"/>
          </p:cNvSpPr>
          <p:nvPr>
            <p:ph type="title" idx="4294967295"/>
          </p:nvPr>
        </p:nvSpPr>
        <p:spPr>
          <a:xfrm>
            <a:off x="739775" y="103188"/>
            <a:ext cx="8596313" cy="781050"/>
          </a:xfrm>
        </p:spPr>
        <p:txBody>
          <a:bodyPr lIns="100794" tIns="50397" rIns="100794" bIns="50397"/>
          <a:lstStyle/>
          <a:p>
            <a:pPr defTabSz="914400" eaLnBrk="1"/>
            <a:r>
              <a:rPr lang="en-US" altLang="en-US">
                <a:ea typeface="ＭＳ Ｐゴシック" charset="-128"/>
              </a:rPr>
              <a:t>Type 2 Hypervisors</a:t>
            </a:r>
          </a:p>
        </p:txBody>
      </p:sp>
      <p:sp>
        <p:nvSpPr>
          <p:cNvPr id="95234" name="Footer Placeholder 3"/>
          <p:cNvSpPr txBox="1">
            <a:spLocks noGrp="1"/>
          </p:cNvSpPr>
          <p:nvPr/>
        </p:nvSpPr>
        <p:spPr bwMode="auto">
          <a:xfrm>
            <a:off x="195263" y="7237413"/>
            <a:ext cx="96059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/>
          <a:lstStyle>
            <a:lvl1pPr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300">
                <a:solidFill>
                  <a:srgbClr val="898989"/>
                </a:solidFill>
                <a:latin typeface="Times New Roman" charset="0"/>
              </a:rPr>
              <a:t>Tanenbaum, Modern Operating Systems 3 e, (c) 2008 Prentice-Hall, Inc. All rights reserved. 0-13-</a:t>
            </a:r>
            <a:r>
              <a:rPr lang="en-US" altLang="en-US" sz="1300" b="1">
                <a:solidFill>
                  <a:srgbClr val="898989"/>
                </a:solidFill>
                <a:latin typeface="Times New Roman" charset="0"/>
              </a:rPr>
              <a:t>6006639</a:t>
            </a:r>
            <a:endParaRPr lang="en-US" altLang="en-US" sz="1300">
              <a:solidFill>
                <a:srgbClr val="898989"/>
              </a:solidFill>
              <a:latin typeface="Times New Roman" charset="0"/>
            </a:endParaRPr>
          </a:p>
        </p:txBody>
      </p:sp>
      <p:sp>
        <p:nvSpPr>
          <p:cNvPr id="95235" name="Rectangle 4"/>
          <p:cNvSpPr>
            <a:spLocks noChangeArrowheads="1"/>
          </p:cNvSpPr>
          <p:nvPr/>
        </p:nvSpPr>
        <p:spPr bwMode="auto">
          <a:xfrm>
            <a:off x="384175" y="1036638"/>
            <a:ext cx="4579938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2575" indent="-177800">
              <a:lnSpc>
                <a:spcPct val="90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50888" indent="-180975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90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90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 sz="2000"/>
              <a:t>The hypervisor runs as a </a:t>
            </a:r>
            <a:r>
              <a:rPr lang="en-US" altLang="en-US" sz="2000">
                <a:solidFill>
                  <a:srgbClr val="FF0000"/>
                </a:solidFill>
              </a:rPr>
              <a:t>user process</a:t>
            </a:r>
            <a:r>
              <a:rPr lang="en-US" altLang="en-US" sz="2000"/>
              <a:t> on the host OS.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 sz="2000"/>
              <a:t>The virtual machine runs as a user process in user mode.</a:t>
            </a:r>
          </a:p>
          <a:p>
            <a:pPr lvl="1" eaLnBrk="1">
              <a:lnSpc>
                <a:spcPct val="100000"/>
              </a:lnSpc>
            </a:pPr>
            <a:r>
              <a:rPr lang="en-US" altLang="en-US" sz="1600"/>
              <a:t>Is not allowed to execute “privileged instructions”.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 sz="2000"/>
              <a:t>The guest OS thinks it is running in kernel mode, although it is in user mode. (virtual kernel mode)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 sz="1800"/>
              <a:t>When the guest OS executes a “privileged instruction”, the hypervisor emulates it. </a:t>
            </a:r>
            <a:endParaRPr lang="en-US" altLang="en-US"/>
          </a:p>
        </p:txBody>
      </p:sp>
      <p:pic>
        <p:nvPicPr>
          <p:cNvPr id="95236" name="Picture 5" descr="01-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2" b="9248"/>
          <a:stretch>
            <a:fillRect/>
          </a:stretch>
        </p:blipFill>
        <p:spPr bwMode="auto">
          <a:xfrm>
            <a:off x="5040313" y="1036638"/>
            <a:ext cx="3978275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3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Type II: VMware: A case study</a:t>
            </a:r>
            <a:endParaRPr lang="tr-TR" altLang="en-US" dirty="0">
              <a:ea typeface="ＭＳ Ｐゴシック" charset="-128"/>
            </a:endParaRPr>
          </a:p>
        </p:txBody>
      </p:sp>
      <p:sp>
        <p:nvSpPr>
          <p:cNvPr id="972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800402"/>
            <a:ext cx="4960938" cy="5179836"/>
          </a:xfrm>
        </p:spPr>
        <p:txBody>
          <a:bodyPr/>
          <a:lstStyle/>
          <a:p>
            <a:pPr indent="176213" eaLnBrk="1">
              <a:lnSpc>
                <a:spcPct val="100000"/>
              </a:lnSpc>
            </a:pPr>
            <a:r>
              <a:rPr lang="en-US" altLang="en-US" sz="2400" b="0" dirty="0">
                <a:ea typeface="ＭＳ Ｐゴシック" charset="-128"/>
              </a:rPr>
              <a:t>VMware runs as a user program on the host OS, such as Windows or Linux.</a:t>
            </a:r>
          </a:p>
          <a:p>
            <a:pPr indent="176213" eaLnBrk="1">
              <a:lnSpc>
                <a:spcPct val="100000"/>
              </a:lnSpc>
            </a:pPr>
            <a:r>
              <a:rPr lang="en-US" altLang="en-US" sz="2400" b="0" dirty="0">
                <a:ea typeface="ＭＳ Ｐゴシック" charset="-128"/>
              </a:rPr>
              <a:t>When it starts it acts like a newly booted computer, and expects to find a CD-ROM containing an OS. It then installs the (guest) OS on a virtual disk.</a:t>
            </a:r>
          </a:p>
          <a:p>
            <a:pPr indent="176213" eaLnBrk="1">
              <a:lnSpc>
                <a:spcPct val="100000"/>
              </a:lnSpc>
            </a:pPr>
            <a:r>
              <a:rPr lang="en-US" altLang="en-US" sz="2400" b="0" dirty="0">
                <a:ea typeface="ＭＳ Ｐゴシック" charset="-128"/>
              </a:rPr>
              <a:t>Once the guest OS is installed on the virtual disk, it can be booted to run.</a:t>
            </a:r>
          </a:p>
        </p:txBody>
      </p:sp>
      <p:pic>
        <p:nvPicPr>
          <p:cNvPr id="97283" name="Picture 4" descr="vmwar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13" y="1904335"/>
            <a:ext cx="4735512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808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476375" y="103188"/>
            <a:ext cx="8604250" cy="466725"/>
          </a:xfrm>
        </p:spPr>
        <p:txBody>
          <a:bodyPr lIns="90000" tIns="46800" rIns="90000" bIns="46800"/>
          <a:lstStyle/>
          <a:p>
            <a:pPr eaLnBrk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>
                <a:latin typeface="Luxi Sans" charset="0"/>
                <a:ea typeface="ＭＳ Ｐゴシック" charset="-128"/>
              </a:rPr>
              <a:t>VMware Architecture</a:t>
            </a: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" t="3046" r="380" b="4315"/>
          <a:stretch>
            <a:fillRect/>
          </a:stretch>
        </p:blipFill>
        <p:spPr bwMode="auto">
          <a:xfrm>
            <a:off x="1581150" y="1427163"/>
            <a:ext cx="7294563" cy="510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56461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>
                <a:ea typeface="ＭＳ Ｐゴシック" charset="-128"/>
              </a:rPr>
              <a:t>VMware: A case study</a:t>
            </a:r>
            <a:endParaRPr lang="tr-TR" altLang="en-US">
              <a:ea typeface="ＭＳ Ｐゴシック" charset="-128"/>
            </a:endParaRP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582994"/>
            <a:ext cx="4808538" cy="5397244"/>
          </a:xfrm>
        </p:spPr>
        <p:txBody>
          <a:bodyPr/>
          <a:lstStyle/>
          <a:p>
            <a:pPr eaLnBrk="1"/>
            <a:r>
              <a:rPr lang="en-US" altLang="en-US" sz="1800" b="0" dirty="0">
                <a:ea typeface="ＭＳ Ｐゴシック" charset="-128"/>
              </a:rPr>
              <a:t>When executing a binary program, it scans the code looking for basic blocks, that is straight runs of instructions ending in a jump, call, trap or other instructions that change the flow of execution.</a:t>
            </a:r>
          </a:p>
          <a:p>
            <a:pPr eaLnBrk="1"/>
            <a:r>
              <a:rPr lang="en-US" altLang="en-US" sz="1800" b="0" dirty="0">
                <a:ea typeface="ＭＳ Ｐゴシック" charset="-128"/>
              </a:rPr>
              <a:t>The basic block is inspected if it contains any “privileged instructions”. If so, each one is replaced with a call to VMware procedure that handles it. The final instruction is also replaced with a call into VMware.</a:t>
            </a:r>
          </a:p>
          <a:p>
            <a:pPr eaLnBrk="1"/>
            <a:r>
              <a:rPr lang="en-US" altLang="en-US" sz="1800" b="0" dirty="0">
                <a:ea typeface="ＭＳ Ｐゴシック" charset="-128"/>
              </a:rPr>
              <a:t>Once these steps are made, the basic block is cached inside VMware, and then executed.</a:t>
            </a:r>
          </a:p>
          <a:p>
            <a:pPr eaLnBrk="1"/>
            <a:r>
              <a:rPr lang="en-US" altLang="en-US" sz="1800" b="0" dirty="0">
                <a:ea typeface="ＭＳ Ｐゴシック" charset="-128"/>
              </a:rPr>
              <a:t>A basic block not containing any “privileged instructions” will execute as fast as it will on a bare machine, because it is running on the bare machine.</a:t>
            </a:r>
          </a:p>
          <a:p>
            <a:pPr eaLnBrk="1"/>
            <a:r>
              <a:rPr lang="en-US" altLang="en-US" sz="1800" b="0" dirty="0">
                <a:ea typeface="ＭＳ Ｐゴシック" charset="-128"/>
              </a:rPr>
              <a:t>“Privileged instructions” that are caught in this way are emulated. This is known as binary translation.</a:t>
            </a:r>
            <a:endParaRPr lang="tr-TR" altLang="en-US" sz="1800" b="0" dirty="0">
              <a:ea typeface="ＭＳ Ｐゴシック" charset="-128"/>
            </a:endParaRPr>
          </a:p>
        </p:txBody>
      </p:sp>
      <p:pic>
        <p:nvPicPr>
          <p:cNvPr id="101379" name="Picture 4" descr="vmwar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13" y="1688025"/>
            <a:ext cx="4735512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28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>
                <a:ea typeface="ＭＳ Ｐゴシック" charset="-128"/>
              </a:rPr>
              <a:t>VMware: A case study</a:t>
            </a:r>
            <a:endParaRPr lang="tr-TR" altLang="en-US">
              <a:ea typeface="ＭＳ Ｐゴシック" charset="-128"/>
            </a:endParaRPr>
          </a:p>
        </p:txBody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632154"/>
            <a:ext cx="4808538" cy="5348083"/>
          </a:xfrm>
        </p:spPr>
        <p:txBody>
          <a:bodyPr/>
          <a:lstStyle/>
          <a:p>
            <a:pPr eaLnBrk="1"/>
            <a:r>
              <a:rPr lang="en-US" altLang="en-US" sz="2000" b="0" dirty="0">
                <a:ea typeface="ＭＳ Ｐゴシック" charset="-128"/>
              </a:rPr>
              <a:t>After the execution of a basic block is completed, the control returns back to VMware, which picks its successor that comes next.</a:t>
            </a:r>
          </a:p>
          <a:p>
            <a:pPr eaLnBrk="1"/>
            <a:r>
              <a:rPr lang="en-US" altLang="en-US" sz="2000" b="0" dirty="0">
                <a:ea typeface="ＭＳ Ｐゴシック" charset="-128"/>
              </a:rPr>
              <a:t>If the successor is already translated, it can be executed immediately.</a:t>
            </a:r>
          </a:p>
          <a:p>
            <a:pPr eaLnBrk="1"/>
            <a:r>
              <a:rPr lang="en-US" altLang="en-US" sz="2000" b="0" dirty="0">
                <a:ea typeface="ＭＳ Ｐゴシック" charset="-128"/>
              </a:rPr>
              <a:t>Eventually, most of the program will be in cache and will run at close to full speed.</a:t>
            </a:r>
          </a:p>
          <a:p>
            <a:pPr eaLnBrk="1"/>
            <a:endParaRPr lang="en-US" altLang="en-US" sz="2000" b="0" dirty="0">
              <a:ea typeface="ＭＳ Ｐゴシック" charset="-128"/>
            </a:endParaRPr>
          </a:p>
          <a:p>
            <a:pPr eaLnBrk="1"/>
            <a:r>
              <a:rPr lang="en-US" altLang="en-US" sz="2000" b="0" dirty="0">
                <a:ea typeface="ＭＳ Ｐゴシック" charset="-128"/>
              </a:rPr>
              <a:t>There is no need to replace sensitive instructions in user programs. The hardware will ignore them any way.</a:t>
            </a:r>
            <a:endParaRPr lang="tr-TR" altLang="en-US" sz="2000" b="0" dirty="0">
              <a:ea typeface="ＭＳ Ｐゴシック" charset="-128"/>
            </a:endParaRPr>
          </a:p>
        </p:txBody>
      </p:sp>
      <p:pic>
        <p:nvPicPr>
          <p:cNvPr id="103427" name="Picture 4" descr="vmwar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13" y="1727354"/>
            <a:ext cx="4735512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372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>
                <a:ea typeface="ＭＳ Ｐゴシック" charset="-128"/>
              </a:rPr>
              <a:t>Type I vs Type 2 hypervisors</a:t>
            </a:r>
          </a:p>
        </p:txBody>
      </p:sp>
      <p:sp>
        <p:nvSpPr>
          <p:cNvPr id="1054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indent="176213" eaLnBrk="1">
              <a:lnSpc>
                <a:spcPct val="100000"/>
              </a:lnSpc>
              <a:buSzPct val="100000"/>
              <a:buFont typeface="Arial" charset="0"/>
              <a:buChar char="•"/>
            </a:pPr>
            <a:r>
              <a:rPr lang="en-US" altLang="en-US" b="0" dirty="0">
                <a:ea typeface="ＭＳ Ｐゴシック" charset="-128"/>
              </a:rPr>
              <a:t>Unlike what you would expect, Type 1 is not a winner at all times.</a:t>
            </a:r>
          </a:p>
          <a:p>
            <a:pPr indent="176213" eaLnBrk="1">
              <a:lnSpc>
                <a:spcPct val="100000"/>
              </a:lnSpc>
              <a:buSzPct val="100000"/>
              <a:buFont typeface="Arial" charset="0"/>
              <a:buChar char="•"/>
            </a:pPr>
            <a:r>
              <a:rPr lang="en-US" altLang="en-US" b="0" dirty="0">
                <a:ea typeface="ＭＳ Ｐゴシック" charset="-128"/>
              </a:rPr>
              <a:t>It turns our that trap-and-emulate approach creates a lot of overhead due to the handling of the traps (including context switches) and that the binary translation approach (combined with caching of translated blocks) can run faster.</a:t>
            </a:r>
          </a:p>
          <a:p>
            <a:pPr indent="176213" eaLnBrk="1">
              <a:lnSpc>
                <a:spcPct val="100000"/>
              </a:lnSpc>
              <a:buSzPct val="100000"/>
              <a:buFont typeface="Arial" charset="0"/>
              <a:buChar char="•"/>
            </a:pPr>
            <a:r>
              <a:rPr lang="en-US" altLang="en-US" b="0" dirty="0">
                <a:ea typeface="ＭＳ Ｐゴシック" charset="-128"/>
              </a:rPr>
              <a:t>For this reason, some type 1 hypervisors also perform binary translation for speeding up. </a:t>
            </a:r>
          </a:p>
        </p:txBody>
      </p:sp>
    </p:spTree>
    <p:extLst>
      <p:ext uri="{BB962C8B-B14F-4D97-AF65-F5344CB8AC3E}">
        <p14:creationId xmlns:p14="http://schemas.microsoft.com/office/powerpoint/2010/main" val="2146242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>
                <a:ea typeface="ＭＳ Ｐゴシック" charset="-128"/>
              </a:rPr>
              <a:t>Paravirtualization</a:t>
            </a:r>
          </a:p>
        </p:txBody>
      </p:sp>
      <p:sp>
        <p:nvSpPr>
          <p:cNvPr id="1075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indent="0" eaLnBrk="1">
              <a:lnSpc>
                <a:spcPct val="100000"/>
              </a:lnSpc>
            </a:pPr>
            <a:r>
              <a:rPr lang="en-US" altLang="en-US" b="0" dirty="0">
                <a:ea typeface="ＭＳ Ｐゴシック" charset="-128"/>
              </a:rPr>
              <a:t>Both type 1 and type 2 hypervisors work with </a:t>
            </a:r>
            <a:r>
              <a:rPr lang="en-US" altLang="en-US" b="0" dirty="0">
                <a:solidFill>
                  <a:srgbClr val="FF0000"/>
                </a:solidFill>
                <a:ea typeface="ＭＳ Ｐゴシック" charset="-128"/>
              </a:rPr>
              <a:t>unmodified guest OS’s</a:t>
            </a:r>
            <a:r>
              <a:rPr lang="en-US" altLang="en-US" b="0" dirty="0">
                <a:ea typeface="ＭＳ Ｐゴシック" charset="-128"/>
              </a:rPr>
              <a:t>.</a:t>
            </a:r>
          </a:p>
          <a:p>
            <a:pPr indent="0" eaLnBrk="1">
              <a:lnSpc>
                <a:spcPct val="100000"/>
              </a:lnSpc>
            </a:pPr>
            <a:r>
              <a:rPr lang="en-US" altLang="en-US" b="0" dirty="0">
                <a:ea typeface="ＭＳ Ｐゴシック" charset="-128"/>
              </a:rPr>
              <a:t>A recent approach is to modify the source code of the guest OS such that it makes hypervisor calls instead of executing “privileged instructions”.</a:t>
            </a:r>
          </a:p>
          <a:p>
            <a:pPr indent="0" eaLnBrk="1">
              <a:lnSpc>
                <a:spcPct val="100000"/>
              </a:lnSpc>
            </a:pPr>
            <a:r>
              <a:rPr lang="en-US" altLang="en-US" b="0" dirty="0">
                <a:ea typeface="ＭＳ Ｐゴシック" charset="-128"/>
              </a:rPr>
              <a:t>For this the hypervisors have to define an API, as an interface to the guest OS’s.</a:t>
            </a:r>
          </a:p>
          <a:p>
            <a:pPr lvl="1" indent="0" eaLnBrk="1">
              <a:lnSpc>
                <a:spcPct val="100000"/>
              </a:lnSpc>
            </a:pPr>
            <a:r>
              <a:rPr lang="en-US" altLang="en-US" dirty="0">
                <a:ea typeface="ＭＳ Ｐゴシック" charset="-128"/>
              </a:rPr>
              <a:t>But this approach is similar to the microkernel approach. </a:t>
            </a:r>
          </a:p>
          <a:p>
            <a:pPr lvl="1" indent="0" eaLnBrk="1">
              <a:lnSpc>
                <a:spcPct val="100000"/>
              </a:lnSpc>
            </a:pPr>
            <a:r>
              <a:rPr lang="en-US" altLang="en-US" dirty="0">
                <a:ea typeface="ＭＳ Ｐゴシック" charset="-128"/>
              </a:rPr>
              <a:t>A guest OS whose “privileged instructions” are replaced with hypervisor calls is said to be </a:t>
            </a:r>
            <a:r>
              <a:rPr lang="en-US" altLang="en-US" dirty="0" err="1">
                <a:solidFill>
                  <a:srgbClr val="FF0000"/>
                </a:solidFill>
                <a:ea typeface="ＭＳ Ｐゴシック" charset="-128"/>
              </a:rPr>
              <a:t>paravirtualized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8416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Content Placeholder 1"/>
          <p:cNvSpPr>
            <a:spLocks noGrp="1"/>
          </p:cNvSpPr>
          <p:nvPr>
            <p:ph idx="4294967295"/>
          </p:nvPr>
        </p:nvSpPr>
        <p:spPr>
          <a:xfrm>
            <a:off x="385763" y="5761038"/>
            <a:ext cx="9455150" cy="1219200"/>
          </a:xfrm>
        </p:spPr>
        <p:txBody>
          <a:bodyPr lIns="100794" tIns="50397" rIns="100794" bIns="50397"/>
          <a:lstStyle/>
          <a:p>
            <a:pPr marL="609600" indent="-609600" defTabSz="914400" eaLnBrk="1"/>
            <a:r>
              <a:rPr lang="en-US" altLang="en-US" sz="2000">
                <a:ea typeface="ＭＳ Ｐゴシック" charset="-128"/>
              </a:rPr>
              <a:t>A hypervisor supporting both true virtualization and paravirtualization.</a:t>
            </a:r>
          </a:p>
        </p:txBody>
      </p:sp>
      <p:sp>
        <p:nvSpPr>
          <p:cNvPr id="109570" name="Title 2"/>
          <p:cNvSpPr>
            <a:spLocks noGrp="1"/>
          </p:cNvSpPr>
          <p:nvPr>
            <p:ph type="title" idx="4294967295"/>
          </p:nvPr>
        </p:nvSpPr>
        <p:spPr>
          <a:xfrm>
            <a:off x="739775" y="103188"/>
            <a:ext cx="8596313" cy="781050"/>
          </a:xfrm>
        </p:spPr>
        <p:txBody>
          <a:bodyPr lIns="100794" tIns="50397" rIns="100794" bIns="50397"/>
          <a:lstStyle/>
          <a:p>
            <a:pPr defTabSz="914400" eaLnBrk="1"/>
            <a:r>
              <a:rPr lang="en-US" altLang="en-US">
                <a:ea typeface="ＭＳ Ｐゴシック" charset="-128"/>
              </a:rPr>
              <a:t>Paravirtualization</a:t>
            </a:r>
          </a:p>
        </p:txBody>
      </p:sp>
      <p:sp>
        <p:nvSpPr>
          <p:cNvPr id="109571" name="Footer Placeholder 3"/>
          <p:cNvSpPr txBox="1">
            <a:spLocks noGrp="1"/>
          </p:cNvSpPr>
          <p:nvPr/>
        </p:nvSpPr>
        <p:spPr bwMode="auto">
          <a:xfrm>
            <a:off x="195263" y="7237413"/>
            <a:ext cx="96059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 anchor="ctr"/>
          <a:lstStyle>
            <a:lvl1pPr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1pPr>
            <a:lvl2pPr marL="742950" indent="-28575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2pPr>
            <a:lvl3pPr marL="11430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3pPr>
            <a:lvl4pPr marL="16002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4pPr>
            <a:lvl5pPr marL="2057400" indent="-228600" defTabSz="1008063">
              <a:lnSpc>
                <a:spcPct val="89000"/>
              </a:lnSpc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5pPr>
            <a:lvl6pPr marL="25146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6pPr>
            <a:lvl7pPr marL="29718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7pPr>
            <a:lvl8pPr marL="34290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8pPr>
            <a:lvl9pPr marL="3886200" indent="-228600" defTabSz="1008063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charset="2"/>
              <a:defRPr sz="2400">
                <a:solidFill>
                  <a:schemeClr val="bg1"/>
                </a:solidFill>
                <a:latin typeface="Bitstream Vera Serif" charset="0"/>
                <a:ea typeface="ＭＳ Ｐゴシック" charset="-128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1300">
                <a:solidFill>
                  <a:srgbClr val="898989"/>
                </a:solidFill>
                <a:latin typeface="Times New Roman" charset="0"/>
              </a:rPr>
              <a:t>Tanenbaum, Modern Operating Systems 3 e, (c) 2008 Prentice-Hall, Inc. All rights reserved. 0-13-</a:t>
            </a:r>
            <a:r>
              <a:rPr lang="en-US" altLang="en-US" sz="1300" b="1">
                <a:solidFill>
                  <a:srgbClr val="898989"/>
                </a:solidFill>
                <a:latin typeface="Times New Roman" charset="0"/>
              </a:rPr>
              <a:t>6006639</a:t>
            </a:r>
            <a:endParaRPr lang="en-US" altLang="en-US" sz="1300">
              <a:solidFill>
                <a:srgbClr val="898989"/>
              </a:solidFill>
              <a:latin typeface="Times New Roman" charset="0"/>
            </a:endParaRPr>
          </a:p>
        </p:txBody>
      </p:sp>
      <p:pic>
        <p:nvPicPr>
          <p:cNvPr id="1095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1679575"/>
            <a:ext cx="9336087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174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>
                <a:ea typeface="ＭＳ Ｐゴシック" charset="-128"/>
              </a:rPr>
              <a:t>Virtualization issues</a:t>
            </a:r>
          </a:p>
        </p:txBody>
      </p:sp>
      <p:sp>
        <p:nvSpPr>
          <p:cNvPr id="1116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>
                <a:ea typeface="ＭＳ Ｐゴシック" charset="-128"/>
              </a:rPr>
              <a:t>Memory virtualization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How to integrate the paging of the host OS with the paging of the guest OS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>
                <a:ea typeface="ＭＳ Ｐゴシック" charset="-128"/>
              </a:rPr>
              <a:t>I/O virtualization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Do we use the device drivers of the host OS or the guest OS?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>
                <a:ea typeface="ＭＳ Ｐゴシック" charset="-128"/>
              </a:rPr>
              <a:t>Multi-core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Each core can run a number of virtual machines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Sharing memory among virtual machines? </a:t>
            </a:r>
          </a:p>
          <a:p>
            <a:pPr eaLnBrk="1">
              <a:lnSpc>
                <a:spcPct val="100000"/>
              </a:lnSpc>
              <a:buFont typeface="Wingdings" charset="2"/>
              <a:buChar char=""/>
            </a:pPr>
            <a:r>
              <a:rPr lang="en-US" altLang="en-US">
                <a:ea typeface="ＭＳ Ｐゴシック" charset="-128"/>
              </a:rPr>
              <a:t>Licensing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Some software is licensed per-CPU basis.</a:t>
            </a:r>
          </a:p>
          <a:p>
            <a:pPr lvl="1" eaLnBrk="1">
              <a:lnSpc>
                <a:spcPct val="100000"/>
              </a:lnSpc>
            </a:pPr>
            <a:r>
              <a:rPr lang="en-US" altLang="en-US">
                <a:ea typeface="ＭＳ Ｐゴシック" charset="-128"/>
              </a:rPr>
              <a:t>What is you run multiple virtual machines?</a:t>
            </a:r>
          </a:p>
          <a:p>
            <a:pPr eaLnBrk="1">
              <a:lnSpc>
                <a:spcPct val="100000"/>
              </a:lnSpc>
            </a:pPr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6377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0D052-58DA-764E-9775-74ABE2BB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those</a:t>
            </a:r>
            <a:r>
              <a:rPr lang="tr-TR" dirty="0"/>
              <a:t> </a:t>
            </a:r>
            <a:r>
              <a:rPr lang="tr-TR" dirty="0" err="1"/>
              <a:t>who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curious</a:t>
            </a:r>
            <a:r>
              <a:rPr lang="tr-TR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66B3C-3A02-B945-8CB1-11632CAAF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Virtualization</a:t>
            </a:r>
            <a:endParaRPr lang="tr-TR" dirty="0"/>
          </a:p>
          <a:p>
            <a:pPr lvl="1"/>
            <a:r>
              <a:rPr lang="tr-TR" dirty="0">
                <a:hlinkClick r:id="rId2"/>
              </a:rPr>
              <a:t>https://www.youtube.com/watch?v=FZR0rG3HKIk</a:t>
            </a:r>
            <a:endParaRPr lang="tr-TR" dirty="0"/>
          </a:p>
          <a:p>
            <a:r>
              <a:rPr lang="tr-TR" dirty="0" err="1"/>
              <a:t>Cgroups</a:t>
            </a:r>
            <a:endParaRPr lang="tr-TR" dirty="0"/>
          </a:p>
          <a:p>
            <a:pPr lvl="1"/>
            <a:r>
              <a:rPr lang="tr-TR" dirty="0">
                <a:hlinkClick r:id="rId3"/>
              </a:rPr>
              <a:t>https://en.wikipedia.org/wiki/Cgroups</a:t>
            </a:r>
            <a:r>
              <a:rPr lang="tr-TR" dirty="0"/>
              <a:t> </a:t>
            </a:r>
          </a:p>
          <a:p>
            <a:r>
              <a:rPr lang="tr-TR" dirty="0" err="1"/>
              <a:t>Container</a:t>
            </a:r>
            <a:endParaRPr lang="tr-TR" dirty="0"/>
          </a:p>
          <a:p>
            <a:pPr lvl="1"/>
            <a:r>
              <a:rPr lang="tr-TR" dirty="0">
                <a:hlinkClick r:id="rId4"/>
              </a:rPr>
              <a:t>https://www.youtube.com/watch?v=EnJ7qX9fkcU</a:t>
            </a:r>
            <a:endParaRPr lang="tr-TR" dirty="0"/>
          </a:p>
          <a:p>
            <a:r>
              <a:rPr lang="tr-TR" dirty="0" err="1"/>
              <a:t>Containers</a:t>
            </a:r>
            <a:r>
              <a:rPr lang="tr-TR" dirty="0"/>
              <a:t> </a:t>
            </a:r>
            <a:r>
              <a:rPr lang="tr-TR" dirty="0" err="1"/>
              <a:t>versus</a:t>
            </a:r>
            <a:r>
              <a:rPr lang="tr-TR" dirty="0"/>
              <a:t> </a:t>
            </a:r>
            <a:r>
              <a:rPr lang="tr-TR" dirty="0" err="1"/>
              <a:t>Containers</a:t>
            </a:r>
            <a:endParaRPr lang="tr-TR" dirty="0"/>
          </a:p>
          <a:p>
            <a:pPr lvl="1"/>
            <a:r>
              <a:rPr lang="tr-TR" dirty="0">
                <a:hlinkClick r:id="rId5"/>
              </a:rPr>
              <a:t>https://www.youtube.com/watch?v=L1ie8negCjc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74437997"/>
      </p:ext>
    </p:extLst>
  </p:cSld>
  <p:clrMapOvr>
    <a:masterClrMapping/>
  </p:clrMapOvr>
</p:sld>
</file>

<file path=ppt/theme/theme1.xml><?xml version="1.0" encoding="utf-8"?>
<a:theme xmlns:a="http://schemas.openxmlformats.org/drawingml/2006/main" name="CEng334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CEng334.thmx</Template>
  <TotalTime>5846</TotalTime>
  <Words>1339</Words>
  <Application>Microsoft Macintosh PowerPoint</Application>
  <PresentationFormat>Custom</PresentationFormat>
  <Paragraphs>143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ＭＳ Ｐゴシック</vt:lpstr>
      <vt:lpstr>Arial</vt:lpstr>
      <vt:lpstr>Arial Narrow</vt:lpstr>
      <vt:lpstr>Bitstream Vera Serif</vt:lpstr>
      <vt:lpstr>Calibri</vt:lpstr>
      <vt:lpstr>Luxi Sans</vt:lpstr>
      <vt:lpstr>Times New Roman</vt:lpstr>
      <vt:lpstr>Wingdings</vt:lpstr>
      <vt:lpstr>Wingdings 2</vt:lpstr>
      <vt:lpstr>CEng334</vt:lpstr>
      <vt:lpstr>Virtualization</vt:lpstr>
      <vt:lpstr>Virtualization</vt:lpstr>
      <vt:lpstr>Protection Rings – x86</vt:lpstr>
      <vt:lpstr>Requirements for virtualization</vt:lpstr>
      <vt:lpstr>Two approaches</vt:lpstr>
      <vt:lpstr>Type 1 Hypervisors</vt:lpstr>
      <vt:lpstr>PowerPoint Presentation</vt:lpstr>
      <vt:lpstr>Type 2 Hypervisors</vt:lpstr>
      <vt:lpstr>Type II: VMware: A case study</vt:lpstr>
      <vt:lpstr>VMware Architecture</vt:lpstr>
      <vt:lpstr>VMware: A case study</vt:lpstr>
      <vt:lpstr>VMware: A case study</vt:lpstr>
      <vt:lpstr>Type I vs Type 2 hypervisors</vt:lpstr>
      <vt:lpstr>Paravirtualization</vt:lpstr>
      <vt:lpstr>Paravirtualization</vt:lpstr>
      <vt:lpstr>Virtualization issues</vt:lpstr>
      <vt:lpstr>For those who are curious…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Onur Sehitoglu</dc:creator>
  <dc:description/>
  <cp:lastModifiedBy>Erol Sahin</cp:lastModifiedBy>
  <cp:revision>87</cp:revision>
  <dcterms:created xsi:type="dcterms:W3CDTF">2017-05-04T11:34:48Z</dcterms:created>
  <dcterms:modified xsi:type="dcterms:W3CDTF">2025-05-27T07:33:58Z</dcterms:modified>
  <dc:language>en-US</dc:language>
</cp:coreProperties>
</file>