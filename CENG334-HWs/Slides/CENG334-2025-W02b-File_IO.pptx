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1313" r:id="rId2"/>
    <p:sldId id="1314" r:id="rId3"/>
    <p:sldId id="1493" r:id="rId4"/>
    <p:sldId id="1494" r:id="rId5"/>
    <p:sldId id="1495" r:id="rId6"/>
    <p:sldId id="1496" r:id="rId7"/>
    <p:sldId id="1325" r:id="rId8"/>
    <p:sldId id="1504" r:id="rId9"/>
    <p:sldId id="1521" r:id="rId10"/>
    <p:sldId id="1522" r:id="rId11"/>
    <p:sldId id="1523" r:id="rId12"/>
    <p:sldId id="1524" r:id="rId13"/>
    <p:sldId id="1525" r:id="rId14"/>
    <p:sldId id="1526" r:id="rId15"/>
    <p:sldId id="1330" r:id="rId16"/>
    <p:sldId id="1528" r:id="rId17"/>
    <p:sldId id="1533" r:id="rId18"/>
    <p:sldId id="1529" r:id="rId19"/>
    <p:sldId id="1531" r:id="rId20"/>
    <p:sldId id="1534" r:id="rId21"/>
    <p:sldId id="1535" r:id="rId22"/>
    <p:sldId id="1532" r:id="rId23"/>
    <p:sldId id="1502" r:id="rId24"/>
    <p:sldId id="1497" r:id="rId25"/>
    <p:sldId id="1536" r:id="rId26"/>
    <p:sldId id="1498" r:id="rId27"/>
    <p:sldId id="1499" r:id="rId28"/>
    <p:sldId id="1537" r:id="rId29"/>
    <p:sldId id="1500" r:id="rId30"/>
    <p:sldId id="1505" r:id="rId31"/>
    <p:sldId id="1506" r:id="rId32"/>
    <p:sldId id="1507" r:id="rId33"/>
    <p:sldId id="1508" r:id="rId34"/>
    <p:sldId id="1509" r:id="rId35"/>
    <p:sldId id="1510" r:id="rId36"/>
    <p:sldId id="1364" r:id="rId37"/>
    <p:sldId id="1538" r:id="rId38"/>
    <p:sldId id="1518" r:id="rId39"/>
    <p:sldId id="1515" r:id="rId40"/>
    <p:sldId id="1516" r:id="rId41"/>
    <p:sldId id="1517" r:id="rId42"/>
  </p:sldIdLst>
  <p:sldSz cx="9144000" cy="6858000" type="screen4x3"/>
  <p:notesSz cx="7302500" cy="9586913"/>
  <p:custDataLst>
    <p:tags r:id="rId4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7292BE"/>
    <a:srgbClr val="990000"/>
    <a:srgbClr val="D5F1CF"/>
    <a:srgbClr val="F1C7C7"/>
    <a:srgbClr val="E9E1C9"/>
    <a:srgbClr val="F6F5BD"/>
    <a:srgbClr val="DED8C4"/>
    <a:srgbClr val="E7DDBB"/>
    <a:srgbClr val="DDC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4" autoAdjust="0"/>
    <p:restoredTop sz="94081" autoAdjust="0"/>
  </p:normalViewPr>
  <p:slideViewPr>
    <p:cSldViewPr snapToObjects="1">
      <p:cViewPr varScale="1">
        <p:scale>
          <a:sx n="114" d="100"/>
          <a:sy n="114" d="100"/>
        </p:scale>
        <p:origin x="18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1086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286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438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47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98307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6F1D211D-12BC-0246-8E1C-3288A1C96E14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2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98308" name="Text Box 1"/>
          <p:cNvSpPr txBox="1">
            <a:spLocks noChangeArrowheads="1"/>
          </p:cNvSpPr>
          <p:nvPr/>
        </p:nvSpPr>
        <p:spPr bwMode="auto">
          <a:xfrm>
            <a:off x="1147354" y="683195"/>
            <a:ext cx="4571987" cy="34286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98309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379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08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90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924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0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100355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220664DC-8FCE-9B40-8E91-0FF735DECC72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7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100356" name="Text Box 1"/>
          <p:cNvSpPr txBox="1">
            <a:spLocks noChangeArrowheads="1"/>
          </p:cNvSpPr>
          <p:nvPr/>
        </p:nvSpPr>
        <p:spPr bwMode="auto">
          <a:xfrm>
            <a:off x="1147354" y="683195"/>
            <a:ext cx="4571987" cy="34286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100357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932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83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106499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2443DA88-D51C-DC41-ADC0-F7EE5454218F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15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106500" name="Text Box 1"/>
          <p:cNvSpPr txBox="1">
            <a:spLocks noChangeArrowheads="1"/>
          </p:cNvSpPr>
          <p:nvPr/>
        </p:nvSpPr>
        <p:spPr bwMode="auto">
          <a:xfrm>
            <a:off x="1147354" y="683195"/>
            <a:ext cx="4571987" cy="34286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106501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29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2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25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03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560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68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103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5200" cy="3581400"/>
          </a:xfrm>
          <a:ln/>
        </p:spPr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4102"/>
            <a:ext cx="5356434" cy="43131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36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5200" cy="3581400"/>
          </a:xfrm>
          <a:ln/>
        </p:spPr>
      </p:sp>
      <p:sp>
        <p:nvSpPr>
          <p:cNvPr id="78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4102"/>
            <a:ext cx="5356434" cy="43131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800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50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5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681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15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709" y="54678"/>
            <a:ext cx="8634582" cy="762000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553154-7FD6-4B4A-A4DA-6347605DDA43}"/>
              </a:ext>
            </a:extLst>
          </p:cNvPr>
          <p:cNvSpPr/>
          <p:nvPr userDrawn="1"/>
        </p:nvSpPr>
        <p:spPr bwMode="auto">
          <a:xfrm>
            <a:off x="0" y="1295400"/>
            <a:ext cx="9144000" cy="5562600"/>
          </a:xfrm>
          <a:prstGeom prst="rect">
            <a:avLst/>
          </a:prstGeom>
          <a:solidFill>
            <a:srgbClr val="FF0000">
              <a:alpha val="26000"/>
            </a:srgbClr>
          </a:solidFill>
          <a:ln w="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1783BA-B528-40AD-B71D-EC30F9710A11}"/>
              </a:ext>
            </a:extLst>
          </p:cNvPr>
          <p:cNvSpPr/>
          <p:nvPr userDrawn="1"/>
        </p:nvSpPr>
        <p:spPr bwMode="auto">
          <a:xfrm>
            <a:off x="0" y="820395"/>
            <a:ext cx="9144000" cy="475005"/>
          </a:xfrm>
          <a:prstGeom prst="rect">
            <a:avLst/>
          </a:prstGeom>
          <a:solidFill>
            <a:schemeClr val="accent2">
              <a:lumMod val="60000"/>
              <a:lumOff val="40000"/>
              <a:alpha val="26000"/>
            </a:schemeClr>
          </a:solidFill>
          <a:ln w="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F7A1A83F-606B-4389-B7E3-AFF08AEC89D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3505" y="1368479"/>
            <a:ext cx="2147063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</a:rPr>
              <a:t>Descriptor table</a:t>
            </a:r>
          </a:p>
          <a:p>
            <a:pPr algn="ctr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[one table per process]</a:t>
            </a:r>
          </a:p>
        </p:txBody>
      </p:sp>
      <p:sp>
        <p:nvSpPr>
          <p:cNvPr id="7" name="Text Box 15">
            <a:extLst>
              <a:ext uri="{FF2B5EF4-FFF2-40B4-BE49-F238E27FC236}">
                <a16:creationId xmlns:a16="http://schemas.microsoft.com/office/drawing/2014/main" id="{08E4DBD4-2751-4167-B607-54FB0FE874E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30152" y="1368479"/>
            <a:ext cx="2273892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</a:rPr>
              <a:t>Open file table </a:t>
            </a:r>
          </a:p>
          <a:p>
            <a:pPr algn="ctr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[shared by all processes]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D47FC351-D490-490C-B429-43CFCF6D66F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20952" y="1368479"/>
            <a:ext cx="2273892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</a:rPr>
              <a:t>v/</a:t>
            </a:r>
            <a:r>
              <a:rPr lang="en-US" sz="1600" dirty="0" err="1">
                <a:solidFill>
                  <a:srgbClr val="C00000"/>
                </a:solidFill>
                <a:latin typeface="Calibri" pitchFamily="34" charset="0"/>
              </a:rPr>
              <a:t>i</a:t>
            </a:r>
            <a:r>
              <a:rPr lang="en-US" sz="1600" dirty="0">
                <a:solidFill>
                  <a:srgbClr val="C00000"/>
                </a:solidFill>
                <a:latin typeface="Calibri" pitchFamily="34" charset="0"/>
              </a:rPr>
              <a:t>-node table</a:t>
            </a:r>
          </a:p>
          <a:p>
            <a:pPr algn="ctr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[shared by all processes]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441FB0-7AB7-491B-843A-CE649142613B}"/>
              </a:ext>
            </a:extLst>
          </p:cNvPr>
          <p:cNvSpPr txBox="1"/>
          <p:nvPr userDrawn="1"/>
        </p:nvSpPr>
        <p:spPr>
          <a:xfrm>
            <a:off x="0" y="1306923"/>
            <a:ext cx="938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KERNEL SPACE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3B736E-8453-49D4-B1AD-BD88466F28D4}"/>
              </a:ext>
            </a:extLst>
          </p:cNvPr>
          <p:cNvSpPr txBox="1"/>
          <p:nvPr userDrawn="1"/>
        </p:nvSpPr>
        <p:spPr>
          <a:xfrm>
            <a:off x="0" y="852989"/>
            <a:ext cx="171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</a:rPr>
              <a:t>USER SPACE</a:t>
            </a:r>
          </a:p>
        </p:txBody>
      </p:sp>
    </p:spTree>
    <p:extLst>
      <p:ext uri="{BB962C8B-B14F-4D97-AF65-F5344CB8AC3E}">
        <p14:creationId xmlns:p14="http://schemas.microsoft.com/office/powerpoint/2010/main" val="691798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62" r:id="rId3"/>
    <p:sldLayoutId id="2147483659" r:id="rId4"/>
    <p:sldLayoutId id="2147483658" r:id="rId5"/>
    <p:sldLayoutId id="2147483657" r:id="rId6"/>
    <p:sldLayoutId id="2147483656" r:id="rId7"/>
    <p:sldLayoutId id="2147483655" r:id="rId8"/>
    <p:sldLayoutId id="2147483654" r:id="rId9"/>
    <p:sldLayoutId id="2147483653" r:id="rId10"/>
    <p:sldLayoutId id="2147483652" r:id="rId11"/>
    <p:sldLayoutId id="2147483651" r:id="rId12"/>
    <p:sldLayoutId id="2147483650" r:id="rId13"/>
    <p:sldLayoutId id="2147483649" r:id="rId14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ehitoglu.web.tr/filedem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sehitoglu.web.tr/filedemo/" TargetMode="Externa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hyu/Linux_Programming/tree/master/book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csapp.cs.cmu.edu/3e/code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470025"/>
          </a:xfrm>
        </p:spPr>
        <p:txBody>
          <a:bodyPr/>
          <a:lstStyle/>
          <a:p>
            <a:pPr marL="0" indent="0"/>
            <a:r>
              <a:rPr lang="en-US" dirty="0"/>
              <a:t>File Abstraction</a:t>
            </a:r>
            <a:endParaRPr lang="en-US" sz="2000" b="0" dirty="0"/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685800" y="5867400"/>
            <a:ext cx="7678738" cy="533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Most of the following slides are adapted from slides of Randy Bryant of Carnegie Mellon Univ.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CF17A6-CA8A-0680-52FC-7B31E2CB629C}"/>
              </a:ext>
            </a:extLst>
          </p:cNvPr>
          <p:cNvSpPr txBox="1"/>
          <p:nvPr/>
        </p:nvSpPr>
        <p:spPr>
          <a:xfrm>
            <a:off x="533400" y="4919017"/>
            <a:ext cx="4605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 </a:t>
            </a:r>
            <a:r>
              <a:rPr lang="en-TR" dirty="0">
                <a:hlinkClick r:id="rId3"/>
              </a:rPr>
              <a:t>https://sehitoglu.web.tr/filedemo/</a:t>
            </a:r>
            <a:r>
              <a:rPr lang="en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013656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UNIX File Abstraction</a:t>
            </a:r>
            <a:endParaRPr lang="en-GB" dirty="0"/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In UNIX, the file is the basic abstraction used for I/O</a:t>
            </a:r>
          </a:p>
          <a:p>
            <a:pPr lvl="1"/>
            <a:r>
              <a:rPr lang="en-GB"/>
              <a:t> Used to access disks, CDs, DVDs, USB and serial devices, network sockets, even memory!</a:t>
            </a:r>
            <a:endParaRPr lang="en-GB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898525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23237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I/O and C Standard I/O</a:t>
            </a:r>
          </a:p>
        </p:txBody>
      </p:sp>
      <p:sp>
        <p:nvSpPr>
          <p:cNvPr id="67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769" y="1295400"/>
            <a:ext cx="8750300" cy="1371600"/>
          </a:xfrm>
        </p:spPr>
        <p:txBody>
          <a:bodyPr/>
          <a:lstStyle/>
          <a:p>
            <a:r>
              <a:rPr lang="en-US" dirty="0"/>
              <a:t>C Standard</a:t>
            </a:r>
          </a:p>
          <a:p>
            <a:pPr lvl="1"/>
            <a:r>
              <a:rPr lang="en-US" dirty="0"/>
              <a:t>Most useful for reading/writing files in applications</a:t>
            </a:r>
          </a:p>
          <a:p>
            <a:pPr lvl="1"/>
            <a:r>
              <a:rPr lang="en-US" dirty="0"/>
              <a:t>Provides </a:t>
            </a:r>
            <a:r>
              <a:rPr lang="en-US" dirty="0">
                <a:solidFill>
                  <a:schemeClr val="accent2"/>
                </a:solidFill>
              </a:rPr>
              <a:t>buffering</a:t>
            </a:r>
            <a:r>
              <a:rPr lang="en-US" dirty="0"/>
              <a:t> between program and actual files</a:t>
            </a:r>
          </a:p>
          <a:p>
            <a:r>
              <a:rPr lang="en-US" dirty="0"/>
              <a:t>Unix I/O</a:t>
            </a:r>
          </a:p>
          <a:p>
            <a:pPr lvl="1"/>
            <a:r>
              <a:rPr lang="en-US" dirty="0"/>
              <a:t>Lower level</a:t>
            </a:r>
          </a:p>
          <a:p>
            <a:pPr lvl="1"/>
            <a:r>
              <a:rPr lang="en-US" dirty="0"/>
              <a:t>Required for system and network programming</a:t>
            </a:r>
          </a:p>
        </p:txBody>
      </p:sp>
      <p:sp>
        <p:nvSpPr>
          <p:cNvPr id="671748" name="Rectangle 4"/>
          <p:cNvSpPr>
            <a:spLocks noChangeAspect="1" noChangeArrowheads="1"/>
          </p:cNvSpPr>
          <p:nvPr/>
        </p:nvSpPr>
        <p:spPr bwMode="auto">
          <a:xfrm>
            <a:off x="3654425" y="4208463"/>
            <a:ext cx="4041775" cy="157797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671749" name="Rectangle 5"/>
          <p:cNvSpPr>
            <a:spLocks noChangeAspect="1" noChangeArrowheads="1"/>
          </p:cNvSpPr>
          <p:nvPr/>
        </p:nvSpPr>
        <p:spPr bwMode="auto">
          <a:xfrm>
            <a:off x="3654425" y="5786438"/>
            <a:ext cx="4041775" cy="685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Unix I/O functions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(accessed via system calls)</a:t>
            </a:r>
          </a:p>
        </p:txBody>
      </p:sp>
      <p:sp>
        <p:nvSpPr>
          <p:cNvPr id="671750" name="Rectangle 6"/>
          <p:cNvSpPr>
            <a:spLocks noChangeAspect="1" noChangeArrowheads="1"/>
          </p:cNvSpPr>
          <p:nvPr/>
        </p:nvSpPr>
        <p:spPr bwMode="auto">
          <a:xfrm>
            <a:off x="3656313" y="5100638"/>
            <a:ext cx="1447800" cy="685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Standard I/O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functions</a:t>
            </a:r>
          </a:p>
        </p:txBody>
      </p:sp>
      <p:sp>
        <p:nvSpPr>
          <p:cNvPr id="671751" name="Text Box 7"/>
          <p:cNvSpPr txBox="1">
            <a:spLocks noChangeAspect="1" noChangeArrowheads="1"/>
          </p:cNvSpPr>
          <p:nvPr/>
        </p:nvSpPr>
        <p:spPr bwMode="auto">
          <a:xfrm>
            <a:off x="4168839" y="4419600"/>
            <a:ext cx="299396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C application program</a:t>
            </a:r>
          </a:p>
        </p:txBody>
      </p:sp>
      <p:sp>
        <p:nvSpPr>
          <p:cNvPr id="671752" name="Text Box 8"/>
          <p:cNvSpPr txBox="1">
            <a:spLocks noChangeAspect="1" noChangeArrowheads="1"/>
          </p:cNvSpPr>
          <p:nvPr/>
        </p:nvSpPr>
        <p:spPr bwMode="auto">
          <a:xfrm>
            <a:off x="1155700" y="3746500"/>
            <a:ext cx="1989138" cy="1816100"/>
          </a:xfrm>
          <a:prstGeom prst="rect">
            <a:avLst/>
          </a:prstGeom>
          <a:solidFill>
            <a:srgbClr val="D5F1CF"/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fopen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fdopen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fread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fwrite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fscanf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fprintf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sscanf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sprintf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fgets</a:t>
            </a: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fputs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fflush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fseek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fclose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671753" name="Text Box 9"/>
          <p:cNvSpPr txBox="1">
            <a:spLocks noChangeAspect="1" noChangeArrowheads="1"/>
          </p:cNvSpPr>
          <p:nvPr/>
        </p:nvSpPr>
        <p:spPr bwMode="auto">
          <a:xfrm>
            <a:off x="1444625" y="5715000"/>
            <a:ext cx="16637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open   read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write  lseek</a:t>
            </a:r>
          </a:p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stat   close</a:t>
            </a:r>
          </a:p>
        </p:txBody>
      </p:sp>
      <p:sp>
        <p:nvSpPr>
          <p:cNvPr id="671754" name="Line 10"/>
          <p:cNvSpPr>
            <a:spLocks noChangeAspect="1" noChangeShapeType="1"/>
          </p:cNvSpPr>
          <p:nvPr/>
        </p:nvSpPr>
        <p:spPr bwMode="auto">
          <a:xfrm flipH="1" flipV="1">
            <a:off x="3144838" y="6135688"/>
            <a:ext cx="4746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1757" name="Line 13"/>
          <p:cNvSpPr>
            <a:spLocks noChangeShapeType="1"/>
          </p:cNvSpPr>
          <p:nvPr/>
        </p:nvSpPr>
        <p:spPr bwMode="auto">
          <a:xfrm flipH="1" flipV="1">
            <a:off x="3175000" y="4635500"/>
            <a:ext cx="482600" cy="7493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35454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9913"/>
            <a:ext cx="4953000" cy="573087"/>
          </a:xfrm>
        </p:spPr>
        <p:txBody>
          <a:bodyPr/>
          <a:lstStyle/>
          <a:p>
            <a:r>
              <a:rPr lang="en-US" dirty="0"/>
              <a:t>Unix I/O Overview</a:t>
            </a:r>
          </a:p>
        </p:txBody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670925" cy="4972050"/>
          </a:xfrm>
        </p:spPr>
        <p:txBody>
          <a:bodyPr/>
          <a:lstStyle/>
          <a:p>
            <a:r>
              <a:rPr lang="en-US" dirty="0"/>
              <a:t>A Linux </a:t>
            </a:r>
            <a:r>
              <a:rPr lang="en-US" i="1" dirty="0">
                <a:solidFill>
                  <a:srgbClr val="C00000"/>
                </a:solidFill>
              </a:rPr>
              <a:t>file</a:t>
            </a:r>
            <a:r>
              <a:rPr lang="en-US" dirty="0"/>
              <a:t> is a sequence of </a:t>
            </a:r>
            <a:r>
              <a:rPr lang="en-US" i="1" dirty="0"/>
              <a:t>m</a:t>
            </a:r>
            <a:r>
              <a:rPr lang="en-US" dirty="0"/>
              <a:t> bytes:</a:t>
            </a:r>
          </a:p>
          <a:p>
            <a:pPr lvl="1"/>
            <a:r>
              <a:rPr lang="en-US" i="1" dirty="0"/>
              <a:t>B</a:t>
            </a:r>
            <a:r>
              <a:rPr lang="en-US" i="1" baseline="-25000" dirty="0"/>
              <a:t>0 </a:t>
            </a:r>
            <a:r>
              <a:rPr lang="en-US" i="1" dirty="0"/>
              <a:t>, B</a:t>
            </a:r>
            <a:r>
              <a:rPr lang="en-US" i="1" baseline="-25000" dirty="0"/>
              <a:t>1 </a:t>
            </a:r>
            <a:r>
              <a:rPr lang="en-US" i="1" dirty="0"/>
              <a:t>, .... , </a:t>
            </a:r>
            <a:r>
              <a:rPr lang="en-US" i="1" dirty="0" err="1"/>
              <a:t>B</a:t>
            </a:r>
            <a:r>
              <a:rPr lang="en-US" i="1" baseline="-25000" dirty="0" err="1"/>
              <a:t>k</a:t>
            </a:r>
            <a:r>
              <a:rPr lang="en-US" i="1" dirty="0"/>
              <a:t> , .... , B</a:t>
            </a:r>
            <a:r>
              <a:rPr lang="en-US" i="1" baseline="-25000" dirty="0"/>
              <a:t>m-1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Cool fact: All I/O devices are represented as files:</a:t>
            </a:r>
          </a:p>
          <a:p>
            <a:pPr lvl="1"/>
            <a:r>
              <a:rPr lang="en-US" b="1" dirty="0">
                <a:latin typeface="Courier New" pitchFamily="49" charset="0"/>
              </a:rPr>
              <a:t>/dev/sda2</a:t>
            </a:r>
            <a:r>
              <a:rPr lang="en-US" b="1" dirty="0"/>
              <a:t>    </a:t>
            </a:r>
            <a:r>
              <a:rPr lang="en-US" dirty="0"/>
              <a:t>(</a:t>
            </a:r>
            <a:r>
              <a:rPr lang="en-US" b="1" dirty="0">
                <a:latin typeface="Courier New" pitchFamily="49" charset="0"/>
              </a:rPr>
              <a:t>/</a:t>
            </a:r>
            <a:r>
              <a:rPr lang="en-US" b="1" dirty="0" err="1">
                <a:latin typeface="Courier New" pitchFamily="49" charset="0"/>
              </a:rPr>
              <a:t>usr</a:t>
            </a:r>
            <a:r>
              <a:rPr lang="en-US" b="1" dirty="0"/>
              <a:t> </a:t>
            </a:r>
            <a:r>
              <a:rPr lang="en-US" dirty="0"/>
              <a:t>disk partition)</a:t>
            </a:r>
          </a:p>
          <a:p>
            <a:pPr lvl="1"/>
            <a:r>
              <a:rPr lang="en-US" b="1" dirty="0">
                <a:latin typeface="Courier New" pitchFamily="49" charset="0"/>
              </a:rPr>
              <a:t>/dev/tty2</a:t>
            </a:r>
            <a:r>
              <a:rPr lang="en-US" b="1" dirty="0"/>
              <a:t>    </a:t>
            </a:r>
            <a:r>
              <a:rPr lang="en-US" dirty="0"/>
              <a:t>(terminal)</a:t>
            </a:r>
          </a:p>
          <a:p>
            <a:endParaRPr lang="en-US" dirty="0"/>
          </a:p>
          <a:p>
            <a:r>
              <a:rPr lang="en-US" dirty="0"/>
              <a:t>Even the kernel is represented as a file:</a:t>
            </a:r>
          </a:p>
          <a:p>
            <a:pPr lvl="1"/>
            <a:r>
              <a:rPr lang="en-US" b="1" dirty="0">
                <a:latin typeface="Courier New" pitchFamily="49" charset="0"/>
              </a:rPr>
              <a:t>/boot/</a:t>
            </a:r>
            <a:r>
              <a:rPr lang="en-US" b="1" dirty="0">
                <a:latin typeface="Courier New"/>
                <a:cs typeface="Courier New"/>
              </a:rPr>
              <a:t>vmlinuz-3.13.0-55-generic </a:t>
            </a:r>
            <a:r>
              <a:rPr lang="en-US" dirty="0"/>
              <a:t>(kernel image) </a:t>
            </a:r>
          </a:p>
          <a:p>
            <a:pPr lvl="1"/>
            <a:r>
              <a:rPr lang="en-US" b="1" dirty="0">
                <a:latin typeface="Courier New" pitchFamily="49" charset="0"/>
              </a:rPr>
              <a:t>/proc</a:t>
            </a:r>
            <a:r>
              <a:rPr lang="en-US" b="1" dirty="0"/>
              <a:t>             	                                                  </a:t>
            </a:r>
            <a:r>
              <a:rPr lang="en-US" dirty="0"/>
              <a:t>(kernel data structures)</a:t>
            </a:r>
          </a:p>
        </p:txBody>
      </p:sp>
    </p:spTree>
    <p:extLst>
      <p:ext uri="{BB962C8B-B14F-4D97-AF65-F5344CB8AC3E}">
        <p14:creationId xmlns:p14="http://schemas.microsoft.com/office/powerpoint/2010/main" val="160136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37" y="438150"/>
            <a:ext cx="8716963" cy="781050"/>
          </a:xfrm>
        </p:spPr>
        <p:txBody>
          <a:bodyPr/>
          <a:lstStyle/>
          <a:p>
            <a:r>
              <a:rPr lang="en-US" dirty="0"/>
              <a:t>Unix I/O Overview</a:t>
            </a:r>
          </a:p>
        </p:txBody>
      </p:sp>
      <p:sp>
        <p:nvSpPr>
          <p:cNvPr id="75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27150"/>
            <a:ext cx="8307387" cy="4997450"/>
          </a:xfrm>
        </p:spPr>
        <p:txBody>
          <a:bodyPr/>
          <a:lstStyle/>
          <a:p>
            <a:r>
              <a:rPr lang="en-US" dirty="0"/>
              <a:t>Elegant mapping of files to devices allows kernel to export simple interface called </a:t>
            </a:r>
            <a:r>
              <a:rPr lang="en-US" i="1" dirty="0"/>
              <a:t>Unix I/O:</a:t>
            </a:r>
          </a:p>
          <a:p>
            <a:pPr lvl="1"/>
            <a:r>
              <a:rPr lang="en-US" dirty="0"/>
              <a:t>Opening and closing files</a:t>
            </a:r>
          </a:p>
          <a:p>
            <a:pPr lvl="2"/>
            <a:r>
              <a:rPr lang="en-US" b="1" dirty="0">
                <a:latin typeface="Courier New" pitchFamily="49" charset="0"/>
              </a:rPr>
              <a:t>open()</a:t>
            </a:r>
            <a:r>
              <a:rPr lang="en-US" dirty="0"/>
              <a:t>and </a:t>
            </a:r>
            <a:r>
              <a:rPr lang="en-US" b="1" dirty="0">
                <a:latin typeface="Courier New" pitchFamily="49" charset="0"/>
              </a:rPr>
              <a:t>close()</a:t>
            </a:r>
          </a:p>
          <a:p>
            <a:pPr lvl="1"/>
            <a:r>
              <a:rPr lang="en-US" dirty="0"/>
              <a:t>Reading and writing a file</a:t>
            </a:r>
          </a:p>
          <a:p>
            <a:pPr lvl="2"/>
            <a:r>
              <a:rPr lang="en-US" b="1" dirty="0">
                <a:latin typeface="Courier New" pitchFamily="49" charset="0"/>
              </a:rPr>
              <a:t>read()</a:t>
            </a:r>
            <a:r>
              <a:rPr lang="en-US" b="1" dirty="0"/>
              <a:t> </a:t>
            </a:r>
            <a:r>
              <a:rPr lang="en-US" dirty="0"/>
              <a:t>and  </a:t>
            </a:r>
            <a:r>
              <a:rPr lang="en-US" b="1" dirty="0">
                <a:latin typeface="Courier New" pitchFamily="49" charset="0"/>
              </a:rPr>
              <a:t>write()</a:t>
            </a:r>
          </a:p>
          <a:p>
            <a:pPr lvl="1"/>
            <a:r>
              <a:rPr lang="en-US" dirty="0"/>
              <a:t>Changing the </a:t>
            </a:r>
            <a:r>
              <a:rPr lang="en-US" b="1" i="1" dirty="0">
                <a:solidFill>
                  <a:srgbClr val="C00000"/>
                </a:solidFill>
              </a:rPr>
              <a:t>current file position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(seek)</a:t>
            </a:r>
          </a:p>
          <a:p>
            <a:pPr lvl="2"/>
            <a:r>
              <a:rPr lang="en-US" dirty="0"/>
              <a:t>indicates next offset into file to read or write</a:t>
            </a:r>
          </a:p>
          <a:p>
            <a:pPr lvl="2"/>
            <a:r>
              <a:rPr lang="en-US" b="1" dirty="0" err="1">
                <a:latin typeface="Courier New" pitchFamily="49" charset="0"/>
              </a:rPr>
              <a:t>lseek</a:t>
            </a:r>
            <a:r>
              <a:rPr lang="en-US" b="1" dirty="0">
                <a:latin typeface="Courier New" pitchFamily="49" charset="0"/>
              </a:rPr>
              <a:t>()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480752" y="4837710"/>
            <a:ext cx="4767648" cy="1258290"/>
            <a:chOff x="3048000" y="5561999"/>
            <a:chExt cx="4767648" cy="1258290"/>
          </a:xfrm>
        </p:grpSpPr>
        <p:sp>
          <p:nvSpPr>
            <p:cNvPr id="750597" name="Rectangle 5"/>
            <p:cNvSpPr>
              <a:spLocks noChangeArrowheads="1"/>
            </p:cNvSpPr>
            <p:nvPr/>
          </p:nvSpPr>
          <p:spPr bwMode="auto">
            <a:xfrm>
              <a:off x="3048000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  <a:r>
                <a:rPr lang="en-US" sz="1800" baseline="-250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50598" name="Rectangle 6"/>
            <p:cNvSpPr>
              <a:spLocks noChangeArrowheads="1"/>
            </p:cNvSpPr>
            <p:nvPr/>
          </p:nvSpPr>
          <p:spPr bwMode="auto">
            <a:xfrm>
              <a:off x="3481388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  <a:r>
                <a:rPr lang="en-US" sz="1800" baseline="-250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750599" name="Rectangle 7"/>
            <p:cNvSpPr>
              <a:spLocks noChangeArrowheads="1"/>
            </p:cNvSpPr>
            <p:nvPr/>
          </p:nvSpPr>
          <p:spPr bwMode="auto">
            <a:xfrm>
              <a:off x="3914775" y="5562600"/>
              <a:ext cx="1319213" cy="441325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800" dirty="0">
                  <a:latin typeface="Calibri" pitchFamily="34" charset="0"/>
                </a:rPr>
                <a:t>• • •</a:t>
              </a:r>
            </a:p>
          </p:txBody>
        </p:sp>
        <p:sp>
          <p:nvSpPr>
            <p:cNvPr id="750600" name="Rectangle 8"/>
            <p:cNvSpPr>
              <a:spLocks noChangeArrowheads="1"/>
            </p:cNvSpPr>
            <p:nvPr/>
          </p:nvSpPr>
          <p:spPr bwMode="auto">
            <a:xfrm>
              <a:off x="5214938" y="5562600"/>
              <a:ext cx="433388" cy="441325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 anchorCtr="1"/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  <a:r>
                <a:rPr lang="en-US" sz="1800" baseline="-25000" dirty="0">
                  <a:latin typeface="Calibri" pitchFamily="34" charset="0"/>
                </a:rPr>
                <a:t>k-1</a:t>
              </a:r>
            </a:p>
          </p:txBody>
        </p:sp>
        <p:sp>
          <p:nvSpPr>
            <p:cNvPr id="750601" name="Rectangle 9"/>
            <p:cNvSpPr>
              <a:spLocks noChangeArrowheads="1"/>
            </p:cNvSpPr>
            <p:nvPr/>
          </p:nvSpPr>
          <p:spPr bwMode="auto">
            <a:xfrm>
              <a:off x="5638800" y="5562600"/>
              <a:ext cx="433388" cy="44132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 anchorCtr="1"/>
            <a:lstStyle/>
            <a:p>
              <a:r>
                <a:rPr lang="en-US" sz="1800" dirty="0" err="1">
                  <a:latin typeface="Calibri" pitchFamily="34" charset="0"/>
                </a:rPr>
                <a:t>B</a:t>
              </a:r>
              <a:r>
                <a:rPr lang="en-US" sz="1800" baseline="-25000" dirty="0" err="1">
                  <a:latin typeface="Calibri" pitchFamily="34" charset="0"/>
                </a:rPr>
                <a:t>k</a:t>
              </a:r>
              <a:endParaRPr lang="en-US" sz="1800" baseline="-25000" dirty="0">
                <a:latin typeface="Calibri" pitchFamily="34" charset="0"/>
              </a:endParaRPr>
            </a:p>
          </p:txBody>
        </p:sp>
        <p:sp>
          <p:nvSpPr>
            <p:cNvPr id="750602" name="Rectangle 10"/>
            <p:cNvSpPr>
              <a:spLocks noChangeArrowheads="1"/>
            </p:cNvSpPr>
            <p:nvPr/>
          </p:nvSpPr>
          <p:spPr bwMode="auto">
            <a:xfrm>
              <a:off x="6070384" y="5561999"/>
              <a:ext cx="433388" cy="44132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 anchorCtr="1"/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  <a:r>
                <a:rPr lang="en-US" sz="1800" baseline="-25000" dirty="0" err="1">
                  <a:latin typeface="Calibri" pitchFamily="34" charset="0"/>
                </a:rPr>
                <a:t>k+1</a:t>
              </a:r>
            </a:p>
          </p:txBody>
        </p:sp>
        <p:sp>
          <p:nvSpPr>
            <p:cNvPr id="750603" name="Rectangle 11"/>
            <p:cNvSpPr>
              <a:spLocks noChangeArrowheads="1"/>
            </p:cNvSpPr>
            <p:nvPr/>
          </p:nvSpPr>
          <p:spPr bwMode="auto">
            <a:xfrm>
              <a:off x="6496435" y="5562600"/>
              <a:ext cx="1319213" cy="44132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800" dirty="0">
                  <a:latin typeface="Calibri" pitchFamily="34" charset="0"/>
                </a:rPr>
                <a:t>• • •</a:t>
              </a:r>
            </a:p>
          </p:txBody>
        </p:sp>
        <p:sp>
          <p:nvSpPr>
            <p:cNvPr id="750604" name="Line 12"/>
            <p:cNvSpPr>
              <a:spLocks noChangeShapeType="1"/>
            </p:cNvSpPr>
            <p:nvPr/>
          </p:nvSpPr>
          <p:spPr bwMode="auto">
            <a:xfrm flipV="1">
              <a:off x="5851826" y="6011562"/>
              <a:ext cx="0" cy="3810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0605" name="Text Box 13"/>
            <p:cNvSpPr txBox="1">
              <a:spLocks noChangeArrowheads="1"/>
            </p:cNvSpPr>
            <p:nvPr/>
          </p:nvSpPr>
          <p:spPr bwMode="auto">
            <a:xfrm>
              <a:off x="4258962" y="6358624"/>
              <a:ext cx="317593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Current file position = 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151434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>
          <a:xfrm>
            <a:off x="356286" y="493712"/>
            <a:ext cx="6496050" cy="573088"/>
          </a:xfrm>
        </p:spPr>
        <p:txBody>
          <a:bodyPr/>
          <a:lstStyle/>
          <a:p>
            <a:r>
              <a:rPr lang="en-US"/>
              <a:t>Opening Files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6713" y="1296988"/>
            <a:ext cx="8624887" cy="5256212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/>
              <a:t>Opening a file informs the kernel that you are getting ready to access that file</a:t>
            </a:r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r>
              <a:rPr lang="en-US" dirty="0"/>
              <a:t>Returns a small identifying integer </a:t>
            </a:r>
            <a:r>
              <a:rPr lang="en-US" i="1" dirty="0">
                <a:solidFill>
                  <a:srgbClr val="C00000"/>
                </a:solidFill>
              </a:rPr>
              <a:t>file descriptor</a:t>
            </a:r>
          </a:p>
          <a:p>
            <a:pPr lvl="1">
              <a:lnSpc>
                <a:spcPct val="90000"/>
              </a:lnSpc>
            </a:pPr>
            <a:r>
              <a:rPr lang="en-US" b="1" dirty="0" err="1">
                <a:latin typeface="Courier New" pitchFamily="49" charset="0"/>
              </a:rPr>
              <a:t>fd</a:t>
            </a:r>
            <a:r>
              <a:rPr lang="en-US" b="1" dirty="0">
                <a:latin typeface="Courier New" pitchFamily="49" charset="0"/>
              </a:rPr>
              <a:t> == -1</a:t>
            </a:r>
            <a:r>
              <a:rPr lang="en-US" b="1" dirty="0"/>
              <a:t> </a:t>
            </a:r>
            <a:r>
              <a:rPr lang="en-US" dirty="0"/>
              <a:t>indicates that an error occurred</a:t>
            </a:r>
          </a:p>
        </p:txBody>
      </p:sp>
      <p:sp>
        <p:nvSpPr>
          <p:cNvPr id="633860" name="Text Box 4"/>
          <p:cNvSpPr txBox="1">
            <a:spLocks noChangeArrowheads="1"/>
          </p:cNvSpPr>
          <p:nvPr/>
        </p:nvSpPr>
        <p:spPr bwMode="auto">
          <a:xfrm>
            <a:off x="821724" y="2057400"/>
            <a:ext cx="6324600" cy="15843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;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file descriptor */</a:t>
            </a: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if ((</a:t>
            </a:r>
            <a:r>
              <a:rPr lang="en-US" sz="1600" dirty="0" err="1">
                <a:latin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</a:rPr>
              <a:t> = open("/etc/hosts", O_RDONLY)) &lt; 0) {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</a:t>
            </a:r>
            <a:r>
              <a:rPr lang="en-US" sz="1600" dirty="0" err="1">
                <a:latin typeface="Courier New" pitchFamily="49" charset="0"/>
              </a:rPr>
              <a:t>perror</a:t>
            </a:r>
            <a:r>
              <a:rPr lang="en-US" sz="1600" dirty="0">
                <a:latin typeface="Courier New" pitchFamily="49" charset="0"/>
              </a:rPr>
              <a:t>("open");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exit(1);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9792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stdin, stdout, stderr</a:t>
            </a:r>
            <a:endParaRPr lang="en-GB" dirty="0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5241925" cy="4972050"/>
          </a:xfrm>
        </p:spPr>
        <p:txBody>
          <a:bodyPr/>
          <a:lstStyle/>
          <a:p>
            <a:r>
              <a:rPr lang="en-GB" dirty="0"/>
              <a:t>In UNIX, every process has three “special” files already open:</a:t>
            </a:r>
          </a:p>
          <a:p>
            <a:pPr lvl="1"/>
            <a:r>
              <a:rPr lang="en-GB" dirty="0"/>
              <a:t> standard input (</a:t>
            </a:r>
            <a:r>
              <a:rPr lang="en-GB" dirty="0" err="1"/>
              <a:t>stdin</a:t>
            </a:r>
            <a:r>
              <a:rPr lang="en-GB" dirty="0"/>
              <a:t>) – </a:t>
            </a:r>
            <a:r>
              <a:rPr lang="en-GB" dirty="0" err="1"/>
              <a:t>filehandle</a:t>
            </a:r>
            <a:r>
              <a:rPr lang="en-GB" dirty="0"/>
              <a:t> 0</a:t>
            </a:r>
          </a:p>
          <a:p>
            <a:pPr lvl="1"/>
            <a:r>
              <a:rPr lang="en-GB" dirty="0"/>
              <a:t> standard output (</a:t>
            </a:r>
            <a:r>
              <a:rPr lang="en-GB" dirty="0" err="1"/>
              <a:t>stdout</a:t>
            </a:r>
            <a:r>
              <a:rPr lang="en-GB" dirty="0"/>
              <a:t>) – </a:t>
            </a:r>
            <a:r>
              <a:rPr lang="en-GB" dirty="0" err="1"/>
              <a:t>filehandle</a:t>
            </a:r>
            <a:r>
              <a:rPr lang="en-GB" dirty="0"/>
              <a:t> 1</a:t>
            </a:r>
          </a:p>
          <a:p>
            <a:pPr lvl="1"/>
            <a:r>
              <a:rPr lang="en-GB" dirty="0"/>
              <a:t> standard error (</a:t>
            </a:r>
            <a:r>
              <a:rPr lang="en-GB" dirty="0" err="1"/>
              <a:t>stderr</a:t>
            </a:r>
            <a:r>
              <a:rPr lang="en-GB" dirty="0"/>
              <a:t>) – </a:t>
            </a:r>
            <a:r>
              <a:rPr lang="en-GB" dirty="0" err="1"/>
              <a:t>filehandle</a:t>
            </a:r>
            <a:r>
              <a:rPr lang="en-GB" dirty="0"/>
              <a:t> 2</a:t>
            </a:r>
          </a:p>
          <a:p>
            <a:r>
              <a:rPr lang="en-GB" dirty="0"/>
              <a:t>By default, </a:t>
            </a:r>
            <a:r>
              <a:rPr lang="en-GB" dirty="0" err="1"/>
              <a:t>stdin</a:t>
            </a:r>
            <a:r>
              <a:rPr lang="en-GB" dirty="0"/>
              <a:t> and </a:t>
            </a:r>
            <a:r>
              <a:rPr lang="en-GB" dirty="0" err="1"/>
              <a:t>stdout</a:t>
            </a:r>
            <a:r>
              <a:rPr lang="en-GB" dirty="0"/>
              <a:t> are connected to the terminal device of the process.</a:t>
            </a:r>
          </a:p>
          <a:p>
            <a:pPr lvl="1"/>
            <a:r>
              <a:rPr lang="en-GB" dirty="0"/>
              <a:t>Originally, terminals were physically connected to the computer by a serial line</a:t>
            </a:r>
          </a:p>
          <a:p>
            <a:pPr lvl="1"/>
            <a:r>
              <a:rPr lang="en-GB" dirty="0"/>
              <a:t>These days, we use “virtual terminals” using </a:t>
            </a:r>
            <a:r>
              <a:rPr lang="en-GB" dirty="0" err="1"/>
              <a:t>ssh</a:t>
            </a:r>
            <a:endParaRPr lang="en-GB" dirty="0"/>
          </a:p>
        </p:txBody>
      </p:sp>
      <p:pic>
        <p:nvPicPr>
          <p:cNvPr id="9933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7668" y="1627701"/>
            <a:ext cx="3187932" cy="2590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99333" name="Text Box 4"/>
          <p:cNvSpPr txBox="1">
            <a:spLocks noChangeArrowheads="1"/>
          </p:cNvSpPr>
          <p:nvPr/>
        </p:nvSpPr>
        <p:spPr bwMode="auto">
          <a:xfrm>
            <a:off x="6369121" y="4218501"/>
            <a:ext cx="1819898" cy="3534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1639" tIns="42452" rIns="81639" bIns="42452">
            <a:prstTxWarp prst="textNoShape">
              <a:avLst/>
            </a:prstTxWarp>
            <a:spAutoFit/>
          </a:bodyPr>
          <a:lstStyle/>
          <a:p>
            <a:pPr>
              <a:lnSpc>
                <a:spcPct val="96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800" dirty="0">
                <a:solidFill>
                  <a:srgbClr val="000000"/>
                </a:solidFill>
                <a:latin typeface="Arial" charset="0"/>
                <a:ea typeface="MS Gothic" charset="0"/>
                <a:cs typeface="MS Gothic" charset="0"/>
              </a:rPr>
              <a:t>VT100 terminal</a:t>
            </a:r>
          </a:p>
        </p:txBody>
      </p:sp>
    </p:spTree>
    <p:extLst>
      <p:ext uri="{BB962C8B-B14F-4D97-AF65-F5344CB8AC3E}">
        <p14:creationId xmlns:p14="http://schemas.microsoft.com/office/powerpoint/2010/main" val="5594344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I/O Streams</a:t>
            </a:r>
          </a:p>
        </p:txBody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2937" y="1220788"/>
            <a:ext cx="8307387" cy="2970212"/>
          </a:xfrm>
        </p:spPr>
        <p:txBody>
          <a:bodyPr/>
          <a:lstStyle/>
          <a:p>
            <a:r>
              <a:rPr lang="en-US" dirty="0"/>
              <a:t>Standard I/O models open files as </a:t>
            </a:r>
            <a:r>
              <a:rPr lang="en-US" i="1" dirty="0">
                <a:solidFill>
                  <a:srgbClr val="C00000"/>
                </a:solidFill>
              </a:rPr>
              <a:t>streams</a:t>
            </a:r>
          </a:p>
          <a:p>
            <a:pPr lvl="1"/>
            <a:r>
              <a:rPr lang="en-US" dirty="0"/>
              <a:t>Abstraction for a file descriptor and a buffer in memory.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Similar to buffered RIO (later)</a:t>
            </a:r>
          </a:p>
          <a:p>
            <a:r>
              <a:rPr lang="en-US" dirty="0"/>
              <a:t>C programs begin life with three open streams </a:t>
            </a:r>
            <a:br>
              <a:rPr lang="en-US" dirty="0"/>
            </a:br>
            <a:r>
              <a:rPr lang="en-US" dirty="0"/>
              <a:t>(defined in </a:t>
            </a:r>
            <a:r>
              <a:rPr lang="en-US" dirty="0" err="1">
                <a:latin typeface="Courier New" pitchFamily="49" charset="0"/>
              </a:rPr>
              <a:t>stdio.h</a:t>
            </a:r>
            <a:r>
              <a:rPr lang="en-US" dirty="0"/>
              <a:t>)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stdin</a:t>
            </a:r>
            <a:r>
              <a:rPr lang="en-US" dirty="0"/>
              <a:t>  (standard input)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stdout</a:t>
            </a:r>
            <a:r>
              <a:rPr lang="en-US" dirty="0"/>
              <a:t> (standard output)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stderr</a:t>
            </a:r>
            <a:r>
              <a:rPr lang="en-US" dirty="0"/>
              <a:t> (standard error)</a:t>
            </a:r>
          </a:p>
          <a:p>
            <a:pPr lvl="1">
              <a:buFont typeface="Wingdings" pitchFamily="2" charset="2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74820" name="Text Box 4"/>
          <p:cNvSpPr txBox="1">
            <a:spLocks noChangeArrowheads="1"/>
          </p:cNvSpPr>
          <p:nvPr/>
        </p:nvSpPr>
        <p:spPr bwMode="auto">
          <a:xfrm>
            <a:off x="914400" y="4495800"/>
            <a:ext cx="7164388" cy="20574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latin typeface="Courier New" pitchFamily="49" charset="0"/>
              </a:rPr>
              <a:t>#include &lt;</a:t>
            </a:r>
            <a:r>
              <a:rPr lang="en-US" sz="1600" dirty="0" err="1">
                <a:latin typeface="Courier New" pitchFamily="49" charset="0"/>
              </a:rPr>
              <a:t>stdio.h</a:t>
            </a:r>
            <a:r>
              <a:rPr lang="en-US" sz="1600" dirty="0">
                <a:latin typeface="Courier New" pitchFamily="49" charset="0"/>
              </a:rPr>
              <a:t>&gt;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extern FILE *</a:t>
            </a:r>
            <a:r>
              <a:rPr lang="en-US" sz="1600" dirty="0" err="1">
                <a:latin typeface="Courier New" pitchFamily="49" charset="0"/>
              </a:rPr>
              <a:t>stdin</a:t>
            </a:r>
            <a:r>
              <a:rPr lang="en-US" sz="1600" dirty="0">
                <a:latin typeface="Courier New" pitchFamily="49" charset="0"/>
              </a:rPr>
              <a:t>;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standard input  (descriptor 0) */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extern FILE *</a:t>
            </a:r>
            <a:r>
              <a:rPr lang="en-US" sz="1600" dirty="0" err="1">
                <a:latin typeface="Courier New" pitchFamily="49" charset="0"/>
              </a:rPr>
              <a:t>stdout</a:t>
            </a:r>
            <a:r>
              <a:rPr lang="en-US" sz="1600" dirty="0">
                <a:latin typeface="Courier New" pitchFamily="49" charset="0"/>
              </a:rPr>
              <a:t>;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standard output (descriptor 1) */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extern FILE *</a:t>
            </a:r>
            <a:r>
              <a:rPr lang="en-US" sz="1600" dirty="0" err="1">
                <a:latin typeface="Courier New" pitchFamily="49" charset="0"/>
              </a:rPr>
              <a:t>stderr</a:t>
            </a:r>
            <a:r>
              <a:rPr lang="en-US" sz="1600" dirty="0">
                <a:latin typeface="Courier New" pitchFamily="49" charset="0"/>
              </a:rPr>
              <a:t>;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standard error  (descriptor 2) */</a:t>
            </a:r>
          </a:p>
          <a:p>
            <a:pPr algn="l"/>
            <a:endParaRPr lang="en-US" sz="1600" dirty="0">
              <a:latin typeface="Courier New" pitchFamily="49" charset="0"/>
            </a:endParaRPr>
          </a:p>
          <a:p>
            <a:pPr algn="l"/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main() {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fprintf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stdout</a:t>
            </a:r>
            <a:r>
              <a:rPr lang="en-US" sz="1600" dirty="0">
                <a:latin typeface="Courier New" pitchFamily="49" charset="0"/>
              </a:rPr>
              <a:t>, "Hello, world\n");</a:t>
            </a:r>
          </a:p>
          <a:p>
            <a:pPr algn="l"/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784246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Unix Kernel Represents Open Files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7C5DF5-0ACD-47C8-A770-816F995890B5}"/>
              </a:ext>
            </a:extLst>
          </p:cNvPr>
          <p:cNvSpPr/>
          <p:nvPr/>
        </p:nvSpPr>
        <p:spPr>
          <a:xfrm>
            <a:off x="0" y="2057400"/>
            <a:ext cx="13251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0 (stdin)</a:t>
            </a:r>
          </a:p>
          <a:p>
            <a:r>
              <a:rPr lang="en-US" sz="1800" i="1" dirty="0">
                <a:solidFill>
                  <a:srgbClr val="0070C0"/>
                </a:solidFill>
              </a:rPr>
              <a:t>1 (</a:t>
            </a:r>
            <a:r>
              <a:rPr lang="en-US" sz="1800" i="1" dirty="0" err="1">
                <a:solidFill>
                  <a:srgbClr val="0070C0"/>
                </a:solidFill>
              </a:rPr>
              <a:t>stdout</a:t>
            </a:r>
            <a:r>
              <a:rPr lang="en-US" sz="1800" i="1" dirty="0">
                <a:solidFill>
                  <a:srgbClr val="0070C0"/>
                </a:solidFill>
              </a:rPr>
              <a:t>) </a:t>
            </a:r>
          </a:p>
          <a:p>
            <a:r>
              <a:rPr lang="en-US" sz="1800" i="1" dirty="0">
                <a:solidFill>
                  <a:srgbClr val="0070C0"/>
                </a:solidFill>
              </a:rPr>
              <a:t>2 (stderr) points to terminal.</a:t>
            </a: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5A1288D2-DF04-4786-A614-D774C8026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646021"/>
            <a:ext cx="1600200" cy="106010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normAutofit fontScale="925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0070C0"/>
                </a:solidFill>
                <a:latin typeface="Calibri" pitchFamily="34" charset="0"/>
              </a:rPr>
              <a:t>Offset (File position) is maintained per open file</a:t>
            </a:r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F343AEE7-AD30-4A06-9B16-363D6807D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8754" y="4646020"/>
            <a:ext cx="1600200" cy="16785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1800" i="1" dirty="0" err="1">
                <a:solidFill>
                  <a:srgbClr val="0070C0"/>
                </a:solidFill>
                <a:latin typeface="Calibri" pitchFamily="34" charset="0"/>
              </a:rPr>
              <a:t>Nrefs</a:t>
            </a:r>
            <a:r>
              <a:rPr lang="en-US" sz="1800" i="1" dirty="0">
                <a:solidFill>
                  <a:srgbClr val="0070C0"/>
                </a:solidFill>
                <a:latin typeface="Calibri" pitchFamily="34" charset="0"/>
              </a:rPr>
              <a:t> keeps the number of links incoming from the file descriptor tables.</a:t>
            </a: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3FA50255-6BF9-48EC-BB6D-F9F312F2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7877" y="3124200"/>
            <a:ext cx="1600200" cy="16785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800" i="1" dirty="0" err="1">
                <a:solidFill>
                  <a:srgbClr val="0070C0"/>
                </a:solidFill>
                <a:latin typeface="Calibri" pitchFamily="34" charset="0"/>
              </a:rPr>
              <a:t>Tty</a:t>
            </a:r>
            <a:r>
              <a:rPr lang="en-US" sz="1800" i="1" dirty="0">
                <a:solidFill>
                  <a:srgbClr val="0070C0"/>
                </a:solidFill>
                <a:latin typeface="Calibri" pitchFamily="34" charset="0"/>
              </a:rPr>
              <a:t> (teletype) is the terminal represented as a file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D5C73-EDC7-423D-97C7-B7394281C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14356"/>
            <a:ext cx="6144482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3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Unix Kernel Represents Open Files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7C5DF5-0ACD-47C8-A770-816F995890B5}"/>
              </a:ext>
            </a:extLst>
          </p:cNvPr>
          <p:cNvSpPr/>
          <p:nvPr/>
        </p:nvSpPr>
        <p:spPr>
          <a:xfrm>
            <a:off x="46415" y="2743200"/>
            <a:ext cx="13251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fd1=3 </a:t>
            </a:r>
          </a:p>
          <a:p>
            <a:r>
              <a:rPr lang="en-US" sz="1800" i="1" dirty="0">
                <a:solidFill>
                  <a:srgbClr val="0070C0"/>
                </a:solidFill>
              </a:rPr>
              <a:t>points to 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r>
              <a:rPr lang="en-US" sz="1800" i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3FA50255-6BF9-48EC-BB6D-F9F312F2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804" y="4113710"/>
            <a:ext cx="1600200" cy="16785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800" i="1" dirty="0" err="1">
                <a:solidFill>
                  <a:srgbClr val="0070C0"/>
                </a:solidFill>
                <a:latin typeface="Calibri" pitchFamily="34" charset="0"/>
              </a:rPr>
              <a:t>FileA</a:t>
            </a:r>
            <a:r>
              <a:rPr lang="en-US" sz="1800" i="1" dirty="0">
                <a:solidFill>
                  <a:srgbClr val="0070C0"/>
                </a:solidFill>
                <a:latin typeface="Calibri" pitchFamily="34" charset="0"/>
              </a:rPr>
              <a:t> is the opened 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69EC13-55DD-480B-BB7C-F266D5363AC4}"/>
              </a:ext>
            </a:extLst>
          </p:cNvPr>
          <p:cNvSpPr/>
          <p:nvPr/>
        </p:nvSpPr>
        <p:spPr>
          <a:xfrm>
            <a:off x="2286000" y="844941"/>
            <a:ext cx="5310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After: fd1=open(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r>
              <a:rPr lang="en-US" sz="1800" i="1" dirty="0">
                <a:solidFill>
                  <a:srgbClr val="0070C0"/>
                </a:solidFill>
              </a:rPr>
              <a:t>);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586463-2E26-4ACC-8FB8-C5370FB8B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33" y="1881047"/>
            <a:ext cx="6182588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06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Unix Kernel Represents Open Files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7C5DF5-0ACD-47C8-A770-816F995890B5}"/>
              </a:ext>
            </a:extLst>
          </p:cNvPr>
          <p:cNvSpPr/>
          <p:nvPr/>
        </p:nvSpPr>
        <p:spPr>
          <a:xfrm>
            <a:off x="46415" y="2743200"/>
            <a:ext cx="132518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fd1=3 </a:t>
            </a:r>
          </a:p>
          <a:p>
            <a:r>
              <a:rPr lang="en-US" sz="1800" i="1" dirty="0">
                <a:solidFill>
                  <a:srgbClr val="0070C0"/>
                </a:solidFill>
              </a:rPr>
              <a:t>fd2=4</a:t>
            </a:r>
          </a:p>
          <a:p>
            <a:r>
              <a:rPr lang="en-US" sz="1800" i="1" dirty="0">
                <a:solidFill>
                  <a:srgbClr val="0070C0"/>
                </a:solidFill>
              </a:rPr>
              <a:t>both </a:t>
            </a:r>
          </a:p>
          <a:p>
            <a:r>
              <a:rPr lang="en-US" sz="1800" i="1" dirty="0">
                <a:solidFill>
                  <a:srgbClr val="0070C0"/>
                </a:solidFill>
              </a:rPr>
              <a:t>point to 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r>
              <a:rPr lang="en-US" sz="1800" i="1" dirty="0">
                <a:solidFill>
                  <a:srgbClr val="0070C0"/>
                </a:solidFill>
              </a:rPr>
              <a:t>.</a:t>
            </a:r>
          </a:p>
          <a:p>
            <a:endParaRPr lang="en-US" sz="1800" i="1" dirty="0">
              <a:solidFill>
                <a:srgbClr val="0070C0"/>
              </a:solidFill>
            </a:endParaRPr>
          </a:p>
          <a:p>
            <a:r>
              <a:rPr lang="en-US" sz="1800" i="1" dirty="0">
                <a:solidFill>
                  <a:srgbClr val="0070C0"/>
                </a:solidFill>
              </a:rPr>
              <a:t>But they keep separate offset values</a:t>
            </a: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3FA50255-6BF9-48EC-BB6D-F9F312F2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800600"/>
            <a:ext cx="1600200" cy="16785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800" i="1" dirty="0" err="1">
                <a:solidFill>
                  <a:srgbClr val="0070C0"/>
                </a:solidFill>
                <a:latin typeface="Calibri" pitchFamily="34" charset="0"/>
              </a:rPr>
              <a:t>FileA</a:t>
            </a:r>
            <a:r>
              <a:rPr lang="en-US" sz="1800" i="1" dirty="0">
                <a:solidFill>
                  <a:srgbClr val="0070C0"/>
                </a:solidFill>
                <a:latin typeface="Calibri" pitchFamily="34" charset="0"/>
              </a:rPr>
              <a:t> is the opened 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69EC13-55DD-480B-BB7C-F266D5363AC4}"/>
              </a:ext>
            </a:extLst>
          </p:cNvPr>
          <p:cNvSpPr/>
          <p:nvPr/>
        </p:nvSpPr>
        <p:spPr>
          <a:xfrm>
            <a:off x="2286000" y="844941"/>
            <a:ext cx="5310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After: fd1=open(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r>
              <a:rPr lang="en-US" sz="1800" i="1" dirty="0">
                <a:solidFill>
                  <a:srgbClr val="0070C0"/>
                </a:solidFill>
              </a:rPr>
              <a:t>); fd2=open(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r>
              <a:rPr lang="en-US" sz="1800" i="1" dirty="0">
                <a:solidFill>
                  <a:srgbClr val="0070C0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8EF65-864A-48B1-A3DE-488640592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05000"/>
            <a:ext cx="6163535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93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Unix Kernel Represents Open Files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7C5DF5-0ACD-47C8-A770-816F995890B5}"/>
              </a:ext>
            </a:extLst>
          </p:cNvPr>
          <p:cNvSpPr/>
          <p:nvPr/>
        </p:nvSpPr>
        <p:spPr>
          <a:xfrm>
            <a:off x="46416" y="2743200"/>
            <a:ext cx="10818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File </a:t>
            </a:r>
            <a:r>
              <a:rPr lang="en-US" sz="1800" i="1" dirty="0" err="1">
                <a:solidFill>
                  <a:srgbClr val="0070C0"/>
                </a:solidFill>
              </a:rPr>
              <a:t>descriptr</a:t>
            </a:r>
            <a:r>
              <a:rPr lang="en-US" sz="1800" i="1" dirty="0">
                <a:solidFill>
                  <a:srgbClr val="0070C0"/>
                </a:solidFill>
              </a:rPr>
              <a:t> 3 is now set to NULL</a:t>
            </a: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3FA50255-6BF9-48EC-BB6D-F9F312F2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800600"/>
            <a:ext cx="1600200" cy="16785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800" i="1" dirty="0" err="1">
                <a:solidFill>
                  <a:srgbClr val="0070C0"/>
                </a:solidFill>
                <a:latin typeface="Calibri" pitchFamily="34" charset="0"/>
              </a:rPr>
              <a:t>FileA</a:t>
            </a:r>
            <a:r>
              <a:rPr lang="en-US" sz="1800" i="1" dirty="0">
                <a:solidFill>
                  <a:srgbClr val="0070C0"/>
                </a:solidFill>
                <a:latin typeface="Calibri" pitchFamily="34" charset="0"/>
              </a:rPr>
              <a:t> is the opened 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69EC13-55DD-480B-BB7C-F266D5363AC4}"/>
              </a:ext>
            </a:extLst>
          </p:cNvPr>
          <p:cNvSpPr/>
          <p:nvPr/>
        </p:nvSpPr>
        <p:spPr>
          <a:xfrm>
            <a:off x="2286000" y="844941"/>
            <a:ext cx="53107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After: fd1=open(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r>
              <a:rPr lang="en-US" sz="1800" i="1" dirty="0">
                <a:solidFill>
                  <a:srgbClr val="0070C0"/>
                </a:solidFill>
              </a:rPr>
              <a:t>); fd2=open(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r>
              <a:rPr lang="en-US" sz="1800" i="1" dirty="0">
                <a:solidFill>
                  <a:srgbClr val="0070C0"/>
                </a:solidFill>
              </a:rPr>
              <a:t>); close(fd1);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0B69AD-7D1D-46D2-BABE-2955A70DD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85" y="1945567"/>
            <a:ext cx="6125430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59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Unix Kernel Represents Open Files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D5C73-EDC7-423D-97C7-B7394281C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14356"/>
            <a:ext cx="6144482" cy="24196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7BF202-D3FA-497C-B1A3-CE521494F36E}"/>
              </a:ext>
            </a:extLst>
          </p:cNvPr>
          <p:cNvSpPr/>
          <p:nvPr/>
        </p:nvSpPr>
        <p:spPr>
          <a:xfrm>
            <a:off x="2286000" y="844941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After: fd1=open(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r>
              <a:rPr lang="en-US" sz="1800" i="1" dirty="0">
                <a:solidFill>
                  <a:srgbClr val="0070C0"/>
                </a:solidFill>
              </a:rPr>
              <a:t>); fd2=open(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r>
              <a:rPr lang="en-US" sz="1800" i="1" dirty="0">
                <a:solidFill>
                  <a:srgbClr val="0070C0"/>
                </a:solidFill>
              </a:rPr>
              <a:t>); close(fd1); close(fd2);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6BA31-8618-4464-8EA9-D102F7755D57}"/>
              </a:ext>
            </a:extLst>
          </p:cNvPr>
          <p:cNvSpPr/>
          <p:nvPr/>
        </p:nvSpPr>
        <p:spPr>
          <a:xfrm>
            <a:off x="46416" y="2743200"/>
            <a:ext cx="10818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File </a:t>
            </a:r>
            <a:r>
              <a:rPr lang="en-US" sz="1800" i="1" dirty="0" err="1">
                <a:solidFill>
                  <a:srgbClr val="0070C0"/>
                </a:solidFill>
              </a:rPr>
              <a:t>descriptr</a:t>
            </a:r>
            <a:r>
              <a:rPr lang="en-US" sz="1800" i="1" dirty="0">
                <a:solidFill>
                  <a:srgbClr val="0070C0"/>
                </a:solidFill>
              </a:rPr>
              <a:t> 4 is now set to NULL</a:t>
            </a: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880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Unix Kernel Represents Open Files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D5C73-EDC7-423D-97C7-B7394281C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14356"/>
            <a:ext cx="6144482" cy="24196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7BF202-D3FA-497C-B1A3-CE521494F36E}"/>
              </a:ext>
            </a:extLst>
          </p:cNvPr>
          <p:cNvSpPr/>
          <p:nvPr/>
        </p:nvSpPr>
        <p:spPr>
          <a:xfrm>
            <a:off x="2286000" y="844941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After: fd1=open(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r>
              <a:rPr lang="en-US" sz="1800" i="1" dirty="0">
                <a:solidFill>
                  <a:srgbClr val="0070C0"/>
                </a:solidFill>
              </a:rPr>
              <a:t>); fd2=open(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r>
              <a:rPr lang="en-US" sz="1800" i="1" dirty="0">
                <a:solidFill>
                  <a:srgbClr val="0070C0"/>
                </a:solidFill>
              </a:rPr>
              <a:t>); close(fd1); close(fd2);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6BA31-8618-4464-8EA9-D102F7755D57}"/>
              </a:ext>
            </a:extLst>
          </p:cNvPr>
          <p:cNvSpPr/>
          <p:nvPr/>
        </p:nvSpPr>
        <p:spPr>
          <a:xfrm>
            <a:off x="46416" y="2089885"/>
            <a:ext cx="108187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Parent’s</a:t>
            </a:r>
          </a:p>
          <a:p>
            <a:r>
              <a:rPr lang="en-US" sz="1800" i="1" dirty="0">
                <a:solidFill>
                  <a:srgbClr val="0070C0"/>
                </a:solidFill>
              </a:rPr>
              <a:t>File </a:t>
            </a:r>
            <a:r>
              <a:rPr lang="en-US" sz="1800" i="1" dirty="0" err="1">
                <a:solidFill>
                  <a:srgbClr val="0070C0"/>
                </a:solidFill>
              </a:rPr>
              <a:t>descriptr</a:t>
            </a:r>
            <a:r>
              <a:rPr lang="en-US" sz="1800" i="1" dirty="0">
                <a:solidFill>
                  <a:srgbClr val="0070C0"/>
                </a:solidFill>
              </a:rPr>
              <a:t> table</a:t>
            </a: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5594F5-97B2-4634-BB3F-4D3AC9A5DC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335" r="63299"/>
          <a:stretch/>
        </p:blipFill>
        <p:spPr>
          <a:xfrm>
            <a:off x="1053152" y="4064726"/>
            <a:ext cx="2269061" cy="22369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DCA908-4DE7-44C6-BF56-C5B02ECFE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185" y="1874869"/>
            <a:ext cx="4248743" cy="33437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F5B54BD-EC70-4284-AEDE-6CA8DBB118F1}"/>
              </a:ext>
            </a:extLst>
          </p:cNvPr>
          <p:cNvSpPr/>
          <p:nvPr/>
        </p:nvSpPr>
        <p:spPr>
          <a:xfrm>
            <a:off x="15673" y="4064726"/>
            <a:ext cx="108187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..copied into</a:t>
            </a:r>
          </a:p>
          <a:p>
            <a:r>
              <a:rPr lang="en-US" sz="1800" i="1" dirty="0">
                <a:solidFill>
                  <a:srgbClr val="0070C0"/>
                </a:solidFill>
              </a:rPr>
              <a:t>Child’s</a:t>
            </a:r>
          </a:p>
          <a:p>
            <a:r>
              <a:rPr lang="en-US" sz="1800" i="1" dirty="0">
                <a:solidFill>
                  <a:srgbClr val="0070C0"/>
                </a:solidFill>
              </a:rPr>
              <a:t>File </a:t>
            </a:r>
            <a:r>
              <a:rPr lang="en-US" sz="1800" i="1" dirty="0" err="1">
                <a:solidFill>
                  <a:srgbClr val="0070C0"/>
                </a:solidFill>
              </a:rPr>
              <a:t>descriptr</a:t>
            </a:r>
            <a:r>
              <a:rPr lang="en-US" sz="1800" i="1" dirty="0">
                <a:solidFill>
                  <a:srgbClr val="0070C0"/>
                </a:solidFill>
              </a:rPr>
              <a:t> table</a:t>
            </a: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F33433-B41B-9D42-9503-E720835F58F4}"/>
              </a:ext>
            </a:extLst>
          </p:cNvPr>
          <p:cNvSpPr/>
          <p:nvPr/>
        </p:nvSpPr>
        <p:spPr>
          <a:xfrm>
            <a:off x="3867102" y="4439437"/>
            <a:ext cx="27949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Note that </a:t>
            </a:r>
            <a:r>
              <a:rPr lang="en-US" sz="1800" i="1" dirty="0" err="1">
                <a:solidFill>
                  <a:srgbClr val="0070C0"/>
                </a:solidFill>
              </a:rPr>
              <a:t>nrefs</a:t>
            </a:r>
            <a:r>
              <a:rPr lang="en-US" sz="1800" i="1" dirty="0">
                <a:solidFill>
                  <a:srgbClr val="0070C0"/>
                </a:solidFill>
              </a:rPr>
              <a:t> are doubled!</a:t>
            </a:r>
          </a:p>
          <a:p>
            <a:endParaRPr lang="en-US" sz="1800" i="1" dirty="0">
              <a:solidFill>
                <a:srgbClr val="0070C0"/>
              </a:solidFill>
            </a:endParaRPr>
          </a:p>
          <a:p>
            <a:r>
              <a:rPr lang="en-US" sz="1800" i="1" dirty="0">
                <a:solidFill>
                  <a:srgbClr val="0070C0"/>
                </a:solidFill>
              </a:rPr>
              <a:t>Parent and child share the SAME offset!</a:t>
            </a: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225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Shell redirection</a:t>
            </a:r>
            <a:endParaRPr lang="en-GB" dirty="0"/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shell allows </a:t>
            </a:r>
            <a:r>
              <a:rPr lang="en-GB" dirty="0" err="1">
                <a:latin typeface="Courier" pitchFamily="2" charset="0"/>
              </a:rPr>
              <a:t>stdin</a:t>
            </a:r>
            <a:r>
              <a:rPr lang="en-GB" dirty="0"/>
              <a:t>, </a:t>
            </a:r>
            <a:r>
              <a:rPr lang="en-GB" dirty="0" err="1">
                <a:latin typeface="Courier" pitchFamily="2" charset="0"/>
              </a:rPr>
              <a:t>stdout</a:t>
            </a:r>
            <a:r>
              <a:rPr lang="en-GB" dirty="0"/>
              <a:t>, and </a:t>
            </a:r>
            <a:r>
              <a:rPr lang="en-GB" dirty="0" err="1">
                <a:latin typeface="Courier" pitchFamily="2" charset="0"/>
              </a:rPr>
              <a:t>stderr</a:t>
            </a:r>
            <a:r>
              <a:rPr lang="en-GB" dirty="0"/>
              <a:t> to be redirected (say, to or from a file).</a:t>
            </a:r>
          </a:p>
          <a:p>
            <a:pPr lvl="1"/>
            <a:r>
              <a:rPr lang="en-GB" b="1" dirty="0">
                <a:latin typeface="Courier"/>
                <a:cs typeface="Courier"/>
              </a:rPr>
              <a:t>&gt; ./</a:t>
            </a:r>
            <a:r>
              <a:rPr lang="en-GB" b="1" dirty="0" err="1">
                <a:latin typeface="Courier"/>
                <a:cs typeface="Courier"/>
              </a:rPr>
              <a:t>myprogram</a:t>
            </a:r>
            <a:r>
              <a:rPr lang="en-GB" b="1" dirty="0">
                <a:latin typeface="Courier"/>
                <a:cs typeface="Courier"/>
              </a:rPr>
              <a:t> &gt; </a:t>
            </a:r>
            <a:r>
              <a:rPr lang="en-GB" b="1" dirty="0" err="1">
                <a:latin typeface="Courier"/>
                <a:cs typeface="Courier"/>
              </a:rPr>
              <a:t>somefile.txt</a:t>
            </a:r>
            <a:endParaRPr lang="en-GB" b="1" dirty="0">
              <a:latin typeface="Courier"/>
              <a:cs typeface="Courier"/>
            </a:endParaRPr>
          </a:p>
          <a:p>
            <a:pPr lvl="2"/>
            <a:r>
              <a:rPr lang="en-GB" dirty="0"/>
              <a:t>Connects </a:t>
            </a:r>
            <a:r>
              <a:rPr lang="en-GB" dirty="0" err="1"/>
              <a:t>stdout</a:t>
            </a:r>
            <a:r>
              <a:rPr lang="en-GB" dirty="0"/>
              <a:t> of “</a:t>
            </a:r>
            <a:r>
              <a:rPr lang="en-GB" dirty="0" err="1"/>
              <a:t>myprogram</a:t>
            </a:r>
            <a:r>
              <a:rPr lang="en-GB" dirty="0"/>
              <a:t>” to </a:t>
            </a:r>
            <a:r>
              <a:rPr lang="en-GB" dirty="0" err="1"/>
              <a:t>somefile.txt</a:t>
            </a:r>
            <a:endParaRPr lang="en-GB" dirty="0"/>
          </a:p>
          <a:p>
            <a:pPr lvl="1"/>
            <a:r>
              <a:rPr lang="en-GB" b="1" dirty="0">
                <a:latin typeface="Courier"/>
                <a:cs typeface="Courier"/>
              </a:rPr>
              <a:t>&gt; ./</a:t>
            </a:r>
            <a:r>
              <a:rPr lang="en-GB" b="1" dirty="0" err="1">
                <a:latin typeface="Courier"/>
                <a:cs typeface="Courier"/>
              </a:rPr>
              <a:t>myprogram</a:t>
            </a:r>
            <a:r>
              <a:rPr lang="en-GB" b="1" dirty="0">
                <a:latin typeface="Courier"/>
                <a:cs typeface="Courier"/>
              </a:rPr>
              <a:t> &lt; </a:t>
            </a:r>
            <a:r>
              <a:rPr lang="en-GB" b="1" dirty="0" err="1">
                <a:latin typeface="Courier"/>
                <a:cs typeface="Courier"/>
              </a:rPr>
              <a:t>input.txt</a:t>
            </a:r>
            <a:r>
              <a:rPr lang="en-GB" b="1" dirty="0">
                <a:latin typeface="Courier"/>
                <a:cs typeface="Courier"/>
              </a:rPr>
              <a:t> &gt; </a:t>
            </a:r>
            <a:r>
              <a:rPr lang="en-GB" b="1" dirty="0" err="1">
                <a:latin typeface="Courier"/>
                <a:cs typeface="Courier"/>
              </a:rPr>
              <a:t>somefile.txt</a:t>
            </a:r>
            <a:endParaRPr lang="en-GB" b="1" dirty="0">
              <a:latin typeface="Courier"/>
              <a:cs typeface="Courier"/>
            </a:endParaRPr>
          </a:p>
          <a:p>
            <a:pPr lvl="2"/>
            <a:r>
              <a:rPr lang="en-GB" dirty="0"/>
              <a:t>Connects </a:t>
            </a:r>
            <a:r>
              <a:rPr lang="en-GB" dirty="0" err="1"/>
              <a:t>stdin</a:t>
            </a:r>
            <a:r>
              <a:rPr lang="en-GB" dirty="0"/>
              <a:t> to </a:t>
            </a:r>
            <a:r>
              <a:rPr lang="en-GB" dirty="0" err="1"/>
              <a:t>input.txt</a:t>
            </a:r>
            <a:r>
              <a:rPr lang="en-GB" dirty="0"/>
              <a:t> and </a:t>
            </a:r>
            <a:r>
              <a:rPr lang="en-GB" dirty="0" err="1"/>
              <a:t>stdout</a:t>
            </a:r>
            <a:r>
              <a:rPr lang="en-GB" dirty="0"/>
              <a:t> to </a:t>
            </a:r>
            <a:r>
              <a:rPr lang="en-GB" dirty="0" err="1"/>
              <a:t>somefile.txt</a:t>
            </a:r>
            <a:endParaRPr lang="en-GB" dirty="0"/>
          </a:p>
          <a:p>
            <a:pPr lvl="1"/>
            <a:r>
              <a:rPr lang="en-GB" b="1" dirty="0">
                <a:latin typeface="Courier"/>
                <a:cs typeface="Courier"/>
              </a:rPr>
              <a:t>&gt; ./</a:t>
            </a:r>
            <a:r>
              <a:rPr lang="en-GB" b="1" dirty="0" err="1">
                <a:latin typeface="Courier"/>
                <a:cs typeface="Courier"/>
              </a:rPr>
              <a:t>myprogram</a:t>
            </a:r>
            <a:r>
              <a:rPr lang="en-GB" b="1" dirty="0">
                <a:latin typeface="Courier"/>
                <a:cs typeface="Courier"/>
              </a:rPr>
              <a:t> 2&gt; </a:t>
            </a:r>
            <a:r>
              <a:rPr lang="en-GB" b="1" dirty="0" err="1">
                <a:latin typeface="Courier"/>
                <a:cs typeface="Courier"/>
              </a:rPr>
              <a:t>errors.txt</a:t>
            </a:r>
            <a:endParaRPr lang="en-GB" b="1" dirty="0">
              <a:latin typeface="Courier"/>
              <a:cs typeface="Courier"/>
            </a:endParaRPr>
          </a:p>
          <a:p>
            <a:pPr lvl="2"/>
            <a:r>
              <a:rPr lang="en-GB" dirty="0"/>
              <a:t>Connects </a:t>
            </a:r>
            <a:r>
              <a:rPr lang="en-GB" dirty="0" err="1"/>
              <a:t>stderr</a:t>
            </a:r>
            <a:r>
              <a:rPr lang="en-GB" dirty="0"/>
              <a:t> to </a:t>
            </a:r>
            <a:r>
              <a:rPr lang="en-GB" dirty="0" err="1"/>
              <a:t>errors.txt</a:t>
            </a:r>
            <a:endParaRPr lang="en-GB" dirty="0"/>
          </a:p>
          <a:p>
            <a:r>
              <a:rPr lang="en-GB" dirty="0"/>
              <a:t>In this case, the shell simply opens the file, making sure the file handle is 0, 1, or 2, as appropriate.</a:t>
            </a:r>
          </a:p>
          <a:p>
            <a:pPr lvl="1"/>
            <a:r>
              <a:rPr lang="en-GB" dirty="0"/>
              <a:t>Problem: </a:t>
            </a:r>
            <a:r>
              <a:rPr lang="en-GB" b="1" dirty="0">
                <a:latin typeface="Courier"/>
                <a:cs typeface="Courier"/>
              </a:rPr>
              <a:t>open()</a:t>
            </a:r>
            <a:r>
              <a:rPr lang="en-GB" dirty="0"/>
              <a:t> decides what the file handle number is.</a:t>
            </a:r>
          </a:p>
          <a:p>
            <a:pPr lvl="1"/>
            <a:r>
              <a:rPr lang="en-GB" dirty="0"/>
              <a:t>How do we coerce the </a:t>
            </a:r>
            <a:r>
              <a:rPr lang="en-GB" dirty="0" err="1"/>
              <a:t>filehandle</a:t>
            </a:r>
            <a:r>
              <a:rPr lang="en-GB" dirty="0"/>
              <a:t> to be 0, 1, or 2?</a:t>
            </a:r>
          </a:p>
        </p:txBody>
      </p:sp>
    </p:spTree>
    <p:extLst>
      <p:ext uri="{BB962C8B-B14F-4D97-AF65-F5344CB8AC3E}">
        <p14:creationId xmlns:p14="http://schemas.microsoft.com/office/powerpoint/2010/main" val="1497586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redirection: Initial state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D5C73-EDC7-423D-97C7-B7394281C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14356"/>
            <a:ext cx="6144482" cy="24196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7BF202-D3FA-497C-B1A3-CE521494F36E}"/>
              </a:ext>
            </a:extLst>
          </p:cNvPr>
          <p:cNvSpPr/>
          <p:nvPr/>
        </p:nvSpPr>
        <p:spPr>
          <a:xfrm>
            <a:off x="2286000" y="844941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" pitchFamily="2" charset="0"/>
              </a:rPr>
              <a:t>stdout</a:t>
            </a:r>
            <a:r>
              <a:rPr lang="en-US" sz="1800" dirty="0"/>
              <a:t> prints to the display of the terminal as default.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6BA31-8618-4464-8EA9-D102F7755D57}"/>
              </a:ext>
            </a:extLst>
          </p:cNvPr>
          <p:cNvSpPr/>
          <p:nvPr/>
        </p:nvSpPr>
        <p:spPr>
          <a:xfrm>
            <a:off x="46416" y="2743200"/>
            <a:ext cx="10818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File </a:t>
            </a:r>
            <a:r>
              <a:rPr lang="en-US" sz="1800" i="1" dirty="0" err="1">
                <a:solidFill>
                  <a:srgbClr val="0070C0"/>
                </a:solidFill>
              </a:rPr>
              <a:t>descriptr</a:t>
            </a:r>
            <a:r>
              <a:rPr lang="en-US" sz="1800" i="1" dirty="0">
                <a:solidFill>
                  <a:srgbClr val="0070C0"/>
                </a:solidFill>
              </a:rPr>
              <a:t> 4 is now set to NULL</a:t>
            </a: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87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redirection: Desired state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7BF202-D3FA-497C-B1A3-CE521494F36E}"/>
              </a:ext>
            </a:extLst>
          </p:cNvPr>
          <p:cNvSpPr/>
          <p:nvPr/>
        </p:nvSpPr>
        <p:spPr>
          <a:xfrm>
            <a:off x="2286000" y="844941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" pitchFamily="2" charset="0"/>
              </a:rPr>
              <a:t>stdout</a:t>
            </a:r>
            <a:r>
              <a:rPr lang="en-US" sz="1800" dirty="0"/>
              <a:t> prints to </a:t>
            </a:r>
            <a:r>
              <a:rPr lang="en-US" sz="1800" dirty="0" err="1"/>
              <a:t>FileA</a:t>
            </a:r>
            <a:r>
              <a:rPr lang="en-US" sz="1800" dirty="0"/>
              <a:t>.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6BA31-8618-4464-8EA9-D102F7755D57}"/>
              </a:ext>
            </a:extLst>
          </p:cNvPr>
          <p:cNvSpPr/>
          <p:nvPr/>
        </p:nvSpPr>
        <p:spPr>
          <a:xfrm>
            <a:off x="46416" y="2743200"/>
            <a:ext cx="10818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File </a:t>
            </a:r>
            <a:r>
              <a:rPr lang="en-US" sz="1800" i="1" dirty="0" err="1">
                <a:solidFill>
                  <a:srgbClr val="0070C0"/>
                </a:solidFill>
              </a:rPr>
              <a:t>descriptr</a:t>
            </a:r>
            <a:r>
              <a:rPr lang="en-US" sz="1800" i="1" dirty="0">
                <a:solidFill>
                  <a:srgbClr val="0070C0"/>
                </a:solidFill>
              </a:rPr>
              <a:t> 4 is now set to NULL</a:t>
            </a: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2626D6-4F21-E24A-A078-3D2937231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86" y="2057400"/>
            <a:ext cx="6058797" cy="3543648"/>
          </a:xfrm>
          <a:prstGeom prst="rect">
            <a:avLst/>
          </a:prstGeom>
        </p:spPr>
      </p:pic>
      <p:sp>
        <p:nvSpPr>
          <p:cNvPr id="11" name="Content Placeholder 44">
            <a:extLst>
              <a:ext uri="{FF2B5EF4-FFF2-40B4-BE49-F238E27FC236}">
                <a16:creationId xmlns:a16="http://schemas.microsoft.com/office/drawing/2014/main" id="{0BBF071B-C5E9-374B-B25F-CAA10CE03444}"/>
              </a:ext>
            </a:extLst>
          </p:cNvPr>
          <p:cNvSpPr txBox="1">
            <a:spLocks/>
          </p:cNvSpPr>
          <p:nvPr/>
        </p:nvSpPr>
        <p:spPr>
          <a:xfrm>
            <a:off x="381000" y="5885885"/>
            <a:ext cx="8584491" cy="10763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kern="0" dirty="0"/>
              <a:t>But the Descriptor table is kernel space, and we cannot modify it directly.</a:t>
            </a:r>
          </a:p>
          <a:p>
            <a:r>
              <a:rPr lang="en-US" sz="2000" kern="0" dirty="0">
                <a:latin typeface="Calibri" charset="0"/>
                <a:ea typeface="Calibri" charset="0"/>
                <a:cs typeface="Calibri" charset="0"/>
              </a:rPr>
              <a:t>Need to use system calls!</a:t>
            </a:r>
          </a:p>
          <a:p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404905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dup()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D5C73-EDC7-423D-97C7-B7394281C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14356"/>
            <a:ext cx="6144482" cy="24196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7BF202-D3FA-497C-B1A3-CE521494F36E}"/>
              </a:ext>
            </a:extLst>
          </p:cNvPr>
          <p:cNvSpPr/>
          <p:nvPr/>
        </p:nvSpPr>
        <p:spPr>
          <a:xfrm>
            <a:off x="2286000" y="844941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" pitchFamily="2" charset="0"/>
              </a:rPr>
              <a:t>stdout</a:t>
            </a:r>
            <a:r>
              <a:rPr lang="en-US" sz="1800" dirty="0"/>
              <a:t> prints to the display of the terminal as default.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6BA31-8618-4464-8EA9-D102F7755D57}"/>
              </a:ext>
            </a:extLst>
          </p:cNvPr>
          <p:cNvSpPr/>
          <p:nvPr/>
        </p:nvSpPr>
        <p:spPr>
          <a:xfrm>
            <a:off x="46416" y="2743200"/>
            <a:ext cx="10818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File </a:t>
            </a:r>
            <a:r>
              <a:rPr lang="en-US" sz="1800" i="1" dirty="0" err="1">
                <a:solidFill>
                  <a:srgbClr val="0070C0"/>
                </a:solidFill>
              </a:rPr>
              <a:t>descriptr</a:t>
            </a:r>
            <a:r>
              <a:rPr lang="en-US" sz="1800" i="1" dirty="0">
                <a:solidFill>
                  <a:srgbClr val="0070C0"/>
                </a:solidFill>
              </a:rPr>
              <a:t> 4 is now set to NULL</a:t>
            </a: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F3867F4-8F85-934A-A7F6-9A1265629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9346" y="5320561"/>
            <a:ext cx="4879576" cy="138499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</a:rPr>
              <a:t>#include &lt;</a:t>
            </a:r>
            <a:r>
              <a:rPr lang="en-US" sz="1400" dirty="0" err="1">
                <a:latin typeface="Courier New" pitchFamily="49" charset="0"/>
              </a:rPr>
              <a:t>unistd.h</a:t>
            </a:r>
            <a:r>
              <a:rPr lang="en-US" sz="1400" dirty="0">
                <a:latin typeface="Courier New" pitchFamily="49" charset="0"/>
              </a:rPr>
              <a:t>&gt;</a:t>
            </a:r>
          </a:p>
          <a:p>
            <a:r>
              <a:rPr lang="en-US" sz="1400" dirty="0" err="1">
                <a:latin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</a:rPr>
              <a:t>dup(int</a:t>
            </a:r>
            <a:r>
              <a:rPr lang="en-US" sz="1400" dirty="0">
                <a:latin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</a:rPr>
              <a:t>filedes</a:t>
            </a:r>
            <a:r>
              <a:rPr lang="en-US" sz="1400" dirty="0">
                <a:latin typeface="Courier New" pitchFamily="49" charset="0"/>
              </a:rPr>
              <a:t>);</a:t>
            </a:r>
          </a:p>
          <a:p>
            <a:pPr marL="0" lvl="1"/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//</a:t>
            </a:r>
            <a:r>
              <a:rPr lang="en-GB" sz="1400" dirty="0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dup() returns lowest available file descriptor, now referring to whatever </a:t>
            </a:r>
            <a:r>
              <a:rPr lang="en-GB" sz="1400" dirty="0" err="1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filedes</a:t>
            </a:r>
            <a:r>
              <a:rPr lang="en-GB" sz="1400" dirty="0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 refers to</a:t>
            </a:r>
          </a:p>
          <a:p>
            <a:pPr marL="0" lvl="1"/>
            <a:r>
              <a:rPr lang="en-GB" sz="1400" dirty="0" err="1">
                <a:latin typeface="Courier"/>
                <a:ea typeface="MS Gothic" charset="0"/>
                <a:cs typeface="Courier"/>
              </a:rPr>
              <a:t>newfd</a:t>
            </a:r>
            <a:r>
              <a:rPr lang="en-GB" sz="1400" dirty="0">
                <a:latin typeface="Courier"/>
                <a:ea typeface="MS Gothic" charset="0"/>
                <a:cs typeface="Courier"/>
              </a:rPr>
              <a:t> = dup(1); </a:t>
            </a:r>
            <a:r>
              <a:rPr lang="en-GB" sz="1400" dirty="0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// </a:t>
            </a:r>
            <a:r>
              <a:rPr lang="en-GB" sz="1400" dirty="0" err="1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newfd</a:t>
            </a:r>
            <a:r>
              <a:rPr lang="en-GB" sz="1400" dirty="0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 will be 3.</a:t>
            </a:r>
          </a:p>
        </p:txBody>
      </p:sp>
    </p:spTree>
    <p:extLst>
      <p:ext uri="{BB962C8B-B14F-4D97-AF65-F5344CB8AC3E}">
        <p14:creationId xmlns:p14="http://schemas.microsoft.com/office/powerpoint/2010/main" val="4048864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dup()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7BF202-D3FA-497C-B1A3-CE521494F36E}"/>
              </a:ext>
            </a:extLst>
          </p:cNvPr>
          <p:cNvSpPr/>
          <p:nvPr/>
        </p:nvSpPr>
        <p:spPr>
          <a:xfrm>
            <a:off x="2286000" y="844941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" pitchFamily="2" charset="0"/>
              </a:rPr>
              <a:t>Newfd</a:t>
            </a:r>
            <a:r>
              <a:rPr lang="en-US" sz="1800" dirty="0">
                <a:latin typeface="Courier" pitchFamily="2" charset="0"/>
              </a:rPr>
              <a:t>=dup(1);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6BA31-8618-4464-8EA9-D102F7755D57}"/>
              </a:ext>
            </a:extLst>
          </p:cNvPr>
          <p:cNvSpPr/>
          <p:nvPr/>
        </p:nvSpPr>
        <p:spPr>
          <a:xfrm>
            <a:off x="46416" y="2743200"/>
            <a:ext cx="10818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 err="1">
                <a:solidFill>
                  <a:srgbClr val="0070C0"/>
                </a:solidFill>
              </a:rPr>
              <a:t>Newfd</a:t>
            </a:r>
            <a:r>
              <a:rPr lang="en-US" sz="1800" i="1" dirty="0">
                <a:solidFill>
                  <a:srgbClr val="0070C0"/>
                </a:solidFill>
              </a:rPr>
              <a:t>=3 points to </a:t>
            </a:r>
            <a:r>
              <a:rPr lang="en-US" sz="1800" i="1" dirty="0" err="1">
                <a:solidFill>
                  <a:srgbClr val="0070C0"/>
                </a:solidFill>
              </a:rPr>
              <a:t>stdout</a:t>
            </a:r>
            <a:endParaRPr lang="en-US" sz="1800" i="1" dirty="0">
              <a:solidFill>
                <a:srgbClr val="0070C0"/>
              </a:solidFill>
            </a:endParaRP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5FBC5D68-CBA5-D547-9F1B-32EE2FCC7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9346" y="5320561"/>
            <a:ext cx="4879576" cy="138499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</a:rPr>
              <a:t>#include &lt;</a:t>
            </a:r>
            <a:r>
              <a:rPr lang="en-US" sz="1400" dirty="0" err="1">
                <a:latin typeface="Courier New" pitchFamily="49" charset="0"/>
              </a:rPr>
              <a:t>unistd.h</a:t>
            </a:r>
            <a:r>
              <a:rPr lang="en-US" sz="1400" dirty="0">
                <a:latin typeface="Courier New" pitchFamily="49" charset="0"/>
              </a:rPr>
              <a:t>&gt;</a:t>
            </a:r>
          </a:p>
          <a:p>
            <a:r>
              <a:rPr lang="en-US" sz="1400" dirty="0" err="1">
                <a:latin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</a:rPr>
              <a:t>dup(int</a:t>
            </a:r>
            <a:r>
              <a:rPr lang="en-US" sz="1400" dirty="0">
                <a:latin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</a:rPr>
              <a:t>filedes</a:t>
            </a:r>
            <a:r>
              <a:rPr lang="en-US" sz="1400" dirty="0">
                <a:latin typeface="Courier New" pitchFamily="49" charset="0"/>
              </a:rPr>
              <a:t>);</a:t>
            </a:r>
          </a:p>
          <a:p>
            <a:pPr marL="0" lvl="1"/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//</a:t>
            </a:r>
            <a:r>
              <a:rPr lang="en-GB" sz="1400" dirty="0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dup() returns lowest available file descriptor, now referring to whatever </a:t>
            </a:r>
            <a:r>
              <a:rPr lang="en-GB" sz="1400" dirty="0" err="1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filedes</a:t>
            </a:r>
            <a:r>
              <a:rPr lang="en-GB" sz="1400" dirty="0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 refers to</a:t>
            </a:r>
          </a:p>
          <a:p>
            <a:pPr marL="0" lvl="1"/>
            <a:r>
              <a:rPr lang="en-GB" sz="1400" dirty="0" err="1">
                <a:latin typeface="Courier"/>
                <a:ea typeface="MS Gothic" charset="0"/>
                <a:cs typeface="Courier"/>
              </a:rPr>
              <a:t>newfd</a:t>
            </a:r>
            <a:r>
              <a:rPr lang="en-GB" sz="1400" dirty="0">
                <a:latin typeface="Courier"/>
                <a:ea typeface="MS Gothic" charset="0"/>
                <a:cs typeface="Courier"/>
              </a:rPr>
              <a:t> = dup(1); </a:t>
            </a:r>
            <a:r>
              <a:rPr lang="en-GB" sz="1400" dirty="0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// </a:t>
            </a:r>
            <a:r>
              <a:rPr lang="en-GB" sz="1400" dirty="0" err="1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newfd</a:t>
            </a:r>
            <a:r>
              <a:rPr lang="en-GB" sz="1400" dirty="0">
                <a:solidFill>
                  <a:srgbClr val="FF0000"/>
                </a:solidFill>
                <a:latin typeface="Courier"/>
                <a:ea typeface="MS Gothic" charset="0"/>
                <a:cs typeface="Courier"/>
              </a:rPr>
              <a:t> will be 3.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004621-742B-704B-B237-B9C0A3064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86" y="1905000"/>
            <a:ext cx="648306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30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>
            <a:extLst>
              <a:ext uri="{FF2B5EF4-FFF2-40B4-BE49-F238E27FC236}">
                <a16:creationId xmlns:a16="http://schemas.microsoft.com/office/drawing/2014/main" id="{FF563539-1471-2E40-A503-DEFC1D1E5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16" y="5771838"/>
            <a:ext cx="9097584" cy="116955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</a:rPr>
              <a:t>#include &lt;</a:t>
            </a:r>
            <a:r>
              <a:rPr lang="en-US" sz="1400" dirty="0" err="1">
                <a:latin typeface="Courier New" pitchFamily="49" charset="0"/>
              </a:rPr>
              <a:t>unistd.h</a:t>
            </a:r>
            <a:r>
              <a:rPr lang="en-US" sz="1400" dirty="0">
                <a:latin typeface="Courier New" pitchFamily="49" charset="0"/>
              </a:rPr>
              <a:t>&gt;</a:t>
            </a:r>
          </a:p>
          <a:p>
            <a:r>
              <a:rPr lang="en-US" sz="1400" dirty="0" err="1">
                <a:latin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</a:rPr>
              <a:t> dup2(int </a:t>
            </a:r>
            <a:r>
              <a:rPr lang="en-US" sz="1400" dirty="0" err="1">
                <a:latin typeface="Courier New" pitchFamily="49" charset="0"/>
              </a:rPr>
              <a:t>oldfd</a:t>
            </a:r>
            <a:r>
              <a:rPr lang="en-US" sz="1400" dirty="0">
                <a:latin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</a:rPr>
              <a:t>newfd</a:t>
            </a:r>
            <a:r>
              <a:rPr lang="en-US" sz="1400" dirty="0">
                <a:latin typeface="Courier New" pitchFamily="49" charset="0"/>
              </a:rPr>
              <a:t>);</a:t>
            </a:r>
          </a:p>
          <a:p>
            <a:pPr marL="0" lvl="1"/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//Copies descriptor table entry </a:t>
            </a:r>
            <a:r>
              <a:rPr lang="en-US" sz="1400" dirty="0" err="1">
                <a:solidFill>
                  <a:srgbClr val="FF0000"/>
                </a:solidFill>
                <a:latin typeface="Courier"/>
                <a:cs typeface="Courier"/>
              </a:rPr>
              <a:t>oldfd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  to entry </a:t>
            </a:r>
            <a:r>
              <a:rPr lang="en-US" sz="1400" dirty="0" err="1">
                <a:solidFill>
                  <a:srgbClr val="FF0000"/>
                </a:solidFill>
                <a:latin typeface="Courier"/>
                <a:cs typeface="Courier"/>
              </a:rPr>
              <a:t>newfd</a:t>
            </a:r>
            <a:endParaRPr lang="en-US" sz="14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0" lvl="1"/>
            <a:r>
              <a:rPr lang="en-US" sz="1400" dirty="0">
                <a:latin typeface="Courier New" pitchFamily="49" charset="0"/>
              </a:rPr>
              <a:t>int </a:t>
            </a:r>
            <a:r>
              <a:rPr lang="en-US" sz="1400" dirty="0" err="1">
                <a:latin typeface="Courier New" pitchFamily="49" charset="0"/>
              </a:rPr>
              <a:t>foofd</a:t>
            </a:r>
            <a:r>
              <a:rPr lang="en-US" sz="1400" dirty="0">
                <a:latin typeface="Courier New" pitchFamily="49" charset="0"/>
              </a:rPr>
              <a:t> = open(”</a:t>
            </a:r>
            <a:r>
              <a:rPr lang="en-US" sz="1400" dirty="0" err="1">
                <a:latin typeface="Courier New" pitchFamily="49" charset="0"/>
              </a:rPr>
              <a:t>FileA</a:t>
            </a:r>
            <a:r>
              <a:rPr lang="en-US" sz="1400" dirty="0">
                <a:latin typeface="Courier New" pitchFamily="49" charset="0"/>
              </a:rPr>
              <a:t>", O_WRONLY); 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</a:rPr>
              <a:t>//</a:t>
            </a:r>
            <a:r>
              <a:rPr lang="en-US" sz="1400" dirty="0" err="1">
                <a:solidFill>
                  <a:srgbClr val="FF0000"/>
                </a:solidFill>
                <a:latin typeface="Courier New" pitchFamily="49" charset="0"/>
              </a:rPr>
              <a:t>foofd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</a:rPr>
              <a:t> becomes 3.</a:t>
            </a:r>
            <a:endParaRPr lang="en-GB" sz="1400" dirty="0">
              <a:solidFill>
                <a:srgbClr val="FF0000"/>
              </a:solidFill>
              <a:latin typeface="Courier"/>
              <a:ea typeface="MS Gothic" charset="0"/>
              <a:cs typeface="Courier"/>
            </a:endParaRPr>
          </a:p>
          <a:p>
            <a:pPr marL="0" lvl="1"/>
            <a:r>
              <a:rPr lang="en-GB" sz="1400" dirty="0">
                <a:latin typeface="Courier"/>
                <a:ea typeface="MS Gothic" charset="0"/>
                <a:cs typeface="Courier"/>
              </a:rPr>
              <a:t>if (dup2(foofd, </a:t>
            </a:r>
            <a:r>
              <a:rPr lang="en-GB" sz="1400" dirty="0" err="1">
                <a:latin typeface="Courier"/>
                <a:ea typeface="MS Gothic" charset="0"/>
                <a:cs typeface="Courier"/>
              </a:rPr>
              <a:t>stdout</a:t>
            </a:r>
            <a:r>
              <a:rPr lang="en-GB" sz="1400" dirty="0">
                <a:latin typeface="Courier"/>
                <a:ea typeface="MS Gothic" charset="0"/>
                <a:cs typeface="Courier"/>
              </a:rPr>
              <a:t>)&gt;0) </a:t>
            </a:r>
            <a:r>
              <a:rPr lang="en-GB" sz="1400" dirty="0" err="1">
                <a:latin typeface="Courier"/>
                <a:ea typeface="MS Gothic" charset="0"/>
                <a:cs typeface="Courier"/>
              </a:rPr>
              <a:t>printf(“printing</a:t>
            </a:r>
            <a:r>
              <a:rPr lang="en-GB" sz="1400" dirty="0">
                <a:latin typeface="Courier"/>
                <a:ea typeface="MS Gothic" charset="0"/>
                <a:cs typeface="Courier"/>
              </a:rPr>
              <a:t> to </a:t>
            </a:r>
            <a:r>
              <a:rPr lang="en-GB" sz="1400" dirty="0" err="1">
                <a:latin typeface="Courier"/>
                <a:ea typeface="MS Gothic" charset="0"/>
                <a:cs typeface="Courier"/>
              </a:rPr>
              <a:t>foo.txt\n</a:t>
            </a:r>
            <a:r>
              <a:rPr lang="en-GB" sz="1400" dirty="0">
                <a:latin typeface="Courier"/>
                <a:ea typeface="MS Gothic" charset="0"/>
                <a:cs typeface="Courier"/>
              </a:rPr>
              <a:t>”); </a:t>
            </a:r>
            <a:endParaRPr lang="en-GB" sz="1400" dirty="0">
              <a:solidFill>
                <a:srgbClr val="FF0000"/>
              </a:solidFill>
              <a:latin typeface="Courier"/>
              <a:ea typeface="MS Gothic" charset="0"/>
              <a:cs typeface="Courier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redirection – after opening </a:t>
            </a:r>
            <a:r>
              <a:rPr lang="en-US" dirty="0" err="1"/>
              <a:t>FileA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7BF202-D3FA-497C-B1A3-CE521494F36E}"/>
              </a:ext>
            </a:extLst>
          </p:cNvPr>
          <p:cNvSpPr/>
          <p:nvPr/>
        </p:nvSpPr>
        <p:spPr>
          <a:xfrm>
            <a:off x="2286000" y="844941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" pitchFamily="2" charset="0"/>
              </a:rPr>
              <a:t>foofd</a:t>
            </a:r>
            <a:r>
              <a:rPr lang="en-US" sz="1800" dirty="0">
                <a:latin typeface="Courier" pitchFamily="2" charset="0"/>
              </a:rPr>
              <a:t> = open(”</a:t>
            </a:r>
            <a:r>
              <a:rPr lang="en-US" sz="1800" dirty="0" err="1">
                <a:latin typeface="Courier" pitchFamily="2" charset="0"/>
              </a:rPr>
              <a:t>FileA</a:t>
            </a:r>
            <a:r>
              <a:rPr lang="en-US" sz="1800" dirty="0">
                <a:latin typeface="Courier" pitchFamily="2" charset="0"/>
              </a:rPr>
              <a:t>)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6BA31-8618-4464-8EA9-D102F7755D57}"/>
              </a:ext>
            </a:extLst>
          </p:cNvPr>
          <p:cNvSpPr/>
          <p:nvPr/>
        </p:nvSpPr>
        <p:spPr>
          <a:xfrm>
            <a:off x="46416" y="2743200"/>
            <a:ext cx="10818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 err="1">
                <a:solidFill>
                  <a:srgbClr val="0070C0"/>
                </a:solidFill>
              </a:rPr>
              <a:t>foofd</a:t>
            </a:r>
            <a:r>
              <a:rPr lang="en-US" sz="1800" i="1" dirty="0">
                <a:solidFill>
                  <a:srgbClr val="0070C0"/>
                </a:solidFill>
              </a:rPr>
              <a:t>=3 points to </a:t>
            </a:r>
            <a:r>
              <a:rPr lang="en-US" sz="1800" i="1" dirty="0" err="1">
                <a:solidFill>
                  <a:srgbClr val="0070C0"/>
                </a:solidFill>
              </a:rPr>
              <a:t>FileA</a:t>
            </a:r>
            <a:endParaRPr lang="en-US" sz="1800" i="1" dirty="0">
              <a:solidFill>
                <a:srgbClr val="0070C0"/>
              </a:solidFill>
            </a:endParaRP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D45CFF-88AF-2443-BCAF-311548FAB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26700"/>
            <a:ext cx="6182588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28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redirection – after dup2()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7BF202-D3FA-497C-B1A3-CE521494F36E}"/>
              </a:ext>
            </a:extLst>
          </p:cNvPr>
          <p:cNvSpPr/>
          <p:nvPr/>
        </p:nvSpPr>
        <p:spPr>
          <a:xfrm>
            <a:off x="2286000" y="844941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" pitchFamily="2" charset="0"/>
              </a:rPr>
              <a:t>foofd</a:t>
            </a:r>
            <a:r>
              <a:rPr lang="en-US" sz="1800" dirty="0">
                <a:latin typeface="Courier" pitchFamily="2" charset="0"/>
              </a:rPr>
              <a:t> = open(”</a:t>
            </a:r>
            <a:r>
              <a:rPr lang="en-US" sz="1800" dirty="0" err="1">
                <a:latin typeface="Courier" pitchFamily="2" charset="0"/>
              </a:rPr>
              <a:t>FileA</a:t>
            </a:r>
            <a:r>
              <a:rPr lang="en-US" sz="1800" dirty="0">
                <a:latin typeface="Courier" pitchFamily="2" charset="0"/>
              </a:rPr>
              <a:t>)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6BA31-8618-4464-8EA9-D102F7755D57}"/>
              </a:ext>
            </a:extLst>
          </p:cNvPr>
          <p:cNvSpPr/>
          <p:nvPr/>
        </p:nvSpPr>
        <p:spPr>
          <a:xfrm>
            <a:off x="46416" y="2743200"/>
            <a:ext cx="10818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 err="1">
                <a:solidFill>
                  <a:srgbClr val="0070C0"/>
                </a:solidFill>
              </a:rPr>
              <a:t>foofd</a:t>
            </a:r>
            <a:r>
              <a:rPr lang="en-US" sz="1800" i="1" dirty="0">
                <a:solidFill>
                  <a:srgbClr val="0070C0"/>
                </a:solidFill>
              </a:rPr>
              <a:t>=3 points to </a:t>
            </a:r>
            <a:r>
              <a:rPr lang="en-US" sz="1800" i="1" dirty="0" err="1">
                <a:solidFill>
                  <a:srgbClr val="0070C0"/>
                </a:solidFill>
              </a:rPr>
              <a:t>stdout</a:t>
            </a:r>
            <a:endParaRPr lang="en-US" sz="1800" i="1" dirty="0">
              <a:solidFill>
                <a:srgbClr val="0070C0"/>
              </a:solidFill>
            </a:endParaRP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54287982-5B10-D449-9A84-D9C3BF9BF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16" y="5771838"/>
            <a:ext cx="9097584" cy="116955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</a:rPr>
              <a:t>#include &lt;</a:t>
            </a:r>
            <a:r>
              <a:rPr lang="en-US" sz="1400" dirty="0" err="1">
                <a:latin typeface="Courier New" pitchFamily="49" charset="0"/>
              </a:rPr>
              <a:t>unistd.h</a:t>
            </a:r>
            <a:r>
              <a:rPr lang="en-US" sz="1400" dirty="0">
                <a:latin typeface="Courier New" pitchFamily="49" charset="0"/>
              </a:rPr>
              <a:t>&gt;</a:t>
            </a:r>
          </a:p>
          <a:p>
            <a:r>
              <a:rPr lang="en-US" sz="1400" dirty="0" err="1">
                <a:latin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</a:rPr>
              <a:t> dup2(int </a:t>
            </a:r>
            <a:r>
              <a:rPr lang="en-US" sz="1400" dirty="0" err="1">
                <a:latin typeface="Courier New" pitchFamily="49" charset="0"/>
              </a:rPr>
              <a:t>oldfd</a:t>
            </a:r>
            <a:r>
              <a:rPr lang="en-US" sz="1400" dirty="0">
                <a:latin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</a:rPr>
              <a:t>newfd</a:t>
            </a:r>
            <a:r>
              <a:rPr lang="en-US" sz="1400" dirty="0">
                <a:latin typeface="Courier New" pitchFamily="49" charset="0"/>
              </a:rPr>
              <a:t>);</a:t>
            </a:r>
          </a:p>
          <a:p>
            <a:pPr marL="0" lvl="1"/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//Copies descriptor table entry </a:t>
            </a:r>
            <a:r>
              <a:rPr lang="en-US" sz="1400" dirty="0" err="1">
                <a:solidFill>
                  <a:srgbClr val="FF0000"/>
                </a:solidFill>
                <a:latin typeface="Courier"/>
                <a:cs typeface="Courier"/>
              </a:rPr>
              <a:t>oldfd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  to entry </a:t>
            </a:r>
            <a:r>
              <a:rPr lang="en-US" sz="1400" dirty="0" err="1">
                <a:solidFill>
                  <a:srgbClr val="FF0000"/>
                </a:solidFill>
                <a:latin typeface="Courier"/>
                <a:cs typeface="Courier"/>
              </a:rPr>
              <a:t>newfd</a:t>
            </a:r>
            <a:endParaRPr lang="en-US" sz="14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0" lvl="1"/>
            <a:r>
              <a:rPr lang="en-US" sz="1400" dirty="0">
                <a:latin typeface="Courier New" pitchFamily="49" charset="0"/>
              </a:rPr>
              <a:t>int </a:t>
            </a:r>
            <a:r>
              <a:rPr lang="en-US" sz="1400" dirty="0" err="1">
                <a:latin typeface="Courier New" pitchFamily="49" charset="0"/>
              </a:rPr>
              <a:t>foofd</a:t>
            </a:r>
            <a:r>
              <a:rPr lang="en-US" sz="1400" dirty="0">
                <a:latin typeface="Courier New" pitchFamily="49" charset="0"/>
              </a:rPr>
              <a:t> = open(”</a:t>
            </a:r>
            <a:r>
              <a:rPr lang="en-US" sz="1400" dirty="0" err="1">
                <a:latin typeface="Courier New" pitchFamily="49" charset="0"/>
              </a:rPr>
              <a:t>FileA</a:t>
            </a:r>
            <a:r>
              <a:rPr lang="en-US" sz="1400" dirty="0">
                <a:latin typeface="Courier New" pitchFamily="49" charset="0"/>
              </a:rPr>
              <a:t>", O_WRONLY); 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</a:rPr>
              <a:t>//</a:t>
            </a:r>
            <a:r>
              <a:rPr lang="en-US" sz="1400" dirty="0" err="1">
                <a:solidFill>
                  <a:srgbClr val="FF0000"/>
                </a:solidFill>
                <a:latin typeface="Courier New" pitchFamily="49" charset="0"/>
              </a:rPr>
              <a:t>foofd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</a:rPr>
              <a:t> becomes 3.</a:t>
            </a:r>
            <a:endParaRPr lang="en-GB" sz="1400" dirty="0">
              <a:solidFill>
                <a:srgbClr val="FF0000"/>
              </a:solidFill>
              <a:latin typeface="Courier"/>
              <a:ea typeface="MS Gothic" charset="0"/>
              <a:cs typeface="Courier"/>
            </a:endParaRPr>
          </a:p>
          <a:p>
            <a:pPr marL="0" lvl="1"/>
            <a:r>
              <a:rPr lang="en-GB" sz="1400" dirty="0">
                <a:latin typeface="Courier"/>
                <a:ea typeface="MS Gothic" charset="0"/>
                <a:cs typeface="Courier"/>
              </a:rPr>
              <a:t>if (dup2(foofd, </a:t>
            </a:r>
            <a:r>
              <a:rPr lang="en-GB" sz="1400" dirty="0" err="1">
                <a:latin typeface="Courier"/>
                <a:ea typeface="MS Gothic" charset="0"/>
                <a:cs typeface="Courier"/>
              </a:rPr>
              <a:t>stdout</a:t>
            </a:r>
            <a:r>
              <a:rPr lang="en-GB" sz="1400" dirty="0">
                <a:latin typeface="Courier"/>
                <a:ea typeface="MS Gothic" charset="0"/>
                <a:cs typeface="Courier"/>
              </a:rPr>
              <a:t>)&gt;0) </a:t>
            </a:r>
            <a:r>
              <a:rPr lang="en-GB" sz="1400" dirty="0" err="1">
                <a:latin typeface="Courier"/>
                <a:ea typeface="MS Gothic" charset="0"/>
                <a:cs typeface="Courier"/>
              </a:rPr>
              <a:t>printf(“printing</a:t>
            </a:r>
            <a:r>
              <a:rPr lang="en-GB" sz="1400" dirty="0">
                <a:latin typeface="Courier"/>
                <a:ea typeface="MS Gothic" charset="0"/>
                <a:cs typeface="Courier"/>
              </a:rPr>
              <a:t> to </a:t>
            </a:r>
            <a:r>
              <a:rPr lang="en-GB" sz="1400" dirty="0" err="1">
                <a:latin typeface="Courier"/>
                <a:ea typeface="MS Gothic" charset="0"/>
                <a:cs typeface="Courier"/>
              </a:rPr>
              <a:t>foo.txt\n</a:t>
            </a:r>
            <a:r>
              <a:rPr lang="en-GB" sz="1400" dirty="0">
                <a:latin typeface="Courier"/>
                <a:ea typeface="MS Gothic" charset="0"/>
                <a:cs typeface="Courier"/>
              </a:rPr>
              <a:t>”); </a:t>
            </a:r>
            <a:endParaRPr lang="en-GB" sz="1400" dirty="0">
              <a:solidFill>
                <a:srgbClr val="FF0000"/>
              </a:solidFill>
              <a:latin typeface="Courier"/>
              <a:ea typeface="MS Gothic" charset="0"/>
              <a:cs typeface="Courie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54ED96-CFE0-FE45-A45B-C335B2610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471" y="1958648"/>
            <a:ext cx="6034514" cy="389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12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A7E3-4C14-41D7-A055-9D72BF74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redirection – after dup2()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7BF202-D3FA-497C-B1A3-CE521494F36E}"/>
              </a:ext>
            </a:extLst>
          </p:cNvPr>
          <p:cNvSpPr/>
          <p:nvPr/>
        </p:nvSpPr>
        <p:spPr>
          <a:xfrm>
            <a:off x="2286000" y="844941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" pitchFamily="2" charset="0"/>
              </a:rPr>
              <a:t>Newfd</a:t>
            </a:r>
            <a:r>
              <a:rPr lang="en-US" sz="1800" dirty="0">
                <a:latin typeface="Courier" pitchFamily="2" charset="0"/>
              </a:rPr>
              <a:t>=dup(1);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6BA31-8618-4464-8EA9-D102F7755D57}"/>
              </a:ext>
            </a:extLst>
          </p:cNvPr>
          <p:cNvSpPr/>
          <p:nvPr/>
        </p:nvSpPr>
        <p:spPr>
          <a:xfrm>
            <a:off x="46416" y="2743200"/>
            <a:ext cx="10818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 err="1">
                <a:solidFill>
                  <a:srgbClr val="0070C0"/>
                </a:solidFill>
              </a:rPr>
              <a:t>Newfd</a:t>
            </a:r>
            <a:r>
              <a:rPr lang="en-US" sz="1800" i="1" dirty="0">
                <a:solidFill>
                  <a:srgbClr val="0070C0"/>
                </a:solidFill>
              </a:rPr>
              <a:t>=3 points to </a:t>
            </a:r>
            <a:r>
              <a:rPr lang="en-US" sz="1800" i="1" dirty="0" err="1">
                <a:solidFill>
                  <a:srgbClr val="0070C0"/>
                </a:solidFill>
              </a:rPr>
              <a:t>stdout</a:t>
            </a:r>
            <a:endParaRPr lang="en-US" sz="1800" i="1" dirty="0">
              <a:solidFill>
                <a:srgbClr val="0070C0"/>
              </a:solidFill>
            </a:endParaRPr>
          </a:p>
          <a:p>
            <a:endParaRPr lang="en-US" sz="1800" i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004621-742B-704B-B237-B9C0A3064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86" y="1905000"/>
            <a:ext cx="6483064" cy="2743200"/>
          </a:xfrm>
          <a:prstGeom prst="rect">
            <a:avLst/>
          </a:prstGeom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54287982-5B10-D449-9A84-D9C3BF9BF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200955"/>
            <a:ext cx="6400800" cy="138499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</a:rPr>
              <a:t>#include &lt;</a:t>
            </a:r>
            <a:r>
              <a:rPr lang="en-US" sz="1400" dirty="0" err="1">
                <a:latin typeface="Courier New" pitchFamily="49" charset="0"/>
              </a:rPr>
              <a:t>unistd.h</a:t>
            </a:r>
            <a:r>
              <a:rPr lang="en-US" sz="1400" dirty="0">
                <a:latin typeface="Courier New" pitchFamily="49" charset="0"/>
              </a:rPr>
              <a:t>&gt;</a:t>
            </a:r>
          </a:p>
          <a:p>
            <a:r>
              <a:rPr lang="en-US" sz="1400" dirty="0" err="1">
                <a:latin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</a:rPr>
              <a:t> dup2(int </a:t>
            </a:r>
            <a:r>
              <a:rPr lang="en-US" sz="1400" dirty="0" err="1">
                <a:latin typeface="Courier New" pitchFamily="49" charset="0"/>
              </a:rPr>
              <a:t>oldfd</a:t>
            </a:r>
            <a:r>
              <a:rPr lang="en-US" sz="1400" dirty="0">
                <a:latin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</a:rPr>
              <a:t>newfd</a:t>
            </a:r>
            <a:r>
              <a:rPr lang="en-US" sz="1400" dirty="0">
                <a:latin typeface="Courier New" pitchFamily="49" charset="0"/>
              </a:rPr>
              <a:t>);</a:t>
            </a:r>
          </a:p>
          <a:p>
            <a:pPr marL="0" lvl="1"/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//Copies descriptor table entry </a:t>
            </a:r>
            <a:r>
              <a:rPr lang="en-US" sz="1400" dirty="0" err="1">
                <a:solidFill>
                  <a:srgbClr val="FF0000"/>
                </a:solidFill>
                <a:latin typeface="Courier"/>
                <a:cs typeface="Courier"/>
              </a:rPr>
              <a:t>oldfd</a:t>
            </a:r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  to entry </a:t>
            </a:r>
            <a:r>
              <a:rPr lang="en-US" sz="1400" dirty="0" err="1">
                <a:solidFill>
                  <a:srgbClr val="FF0000"/>
                </a:solidFill>
                <a:latin typeface="Courier"/>
                <a:cs typeface="Courier"/>
              </a:rPr>
              <a:t>newfd</a:t>
            </a:r>
            <a:endParaRPr lang="en-US" sz="1400" dirty="0">
              <a:solidFill>
                <a:srgbClr val="FF0000"/>
              </a:solidFill>
              <a:latin typeface="Courier"/>
              <a:cs typeface="Courier"/>
            </a:endParaRPr>
          </a:p>
          <a:p>
            <a:pPr marL="0" lvl="1"/>
            <a:r>
              <a:rPr lang="en-US" sz="1400" dirty="0" err="1">
                <a:latin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</a:rPr>
              <a:t>foofd</a:t>
            </a:r>
            <a:r>
              <a:rPr lang="en-US" sz="1400" dirty="0">
                <a:latin typeface="Courier New" pitchFamily="49" charset="0"/>
              </a:rPr>
              <a:t> = </a:t>
            </a:r>
            <a:r>
              <a:rPr lang="en-US" sz="1400" dirty="0" err="1">
                <a:latin typeface="Courier New" pitchFamily="49" charset="0"/>
              </a:rPr>
              <a:t>open(”foo.txt</a:t>
            </a:r>
            <a:r>
              <a:rPr lang="en-US" sz="1400" dirty="0">
                <a:latin typeface="Courier New" pitchFamily="49" charset="0"/>
              </a:rPr>
              <a:t>", O_WRONLY); 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</a:rPr>
              <a:t>//</a:t>
            </a:r>
            <a:r>
              <a:rPr lang="en-US" sz="1400" dirty="0" err="1">
                <a:solidFill>
                  <a:srgbClr val="FF0000"/>
                </a:solidFill>
                <a:latin typeface="Courier New" pitchFamily="49" charset="0"/>
              </a:rPr>
              <a:t>foofd</a:t>
            </a:r>
            <a:r>
              <a:rPr lang="en-US" sz="1400" dirty="0">
                <a:solidFill>
                  <a:srgbClr val="FF0000"/>
                </a:solidFill>
                <a:latin typeface="Courier New" pitchFamily="49" charset="0"/>
              </a:rPr>
              <a:t> becomes 3.</a:t>
            </a:r>
            <a:endParaRPr lang="en-GB" sz="1400" dirty="0">
              <a:solidFill>
                <a:srgbClr val="FF0000"/>
              </a:solidFill>
              <a:latin typeface="Courier"/>
              <a:ea typeface="MS Gothic" charset="0"/>
              <a:cs typeface="Courier"/>
            </a:endParaRPr>
          </a:p>
          <a:p>
            <a:pPr marL="0" lvl="1"/>
            <a:r>
              <a:rPr lang="en-GB" sz="1400" dirty="0">
                <a:latin typeface="Courier"/>
                <a:ea typeface="MS Gothic" charset="0"/>
                <a:cs typeface="Courier"/>
              </a:rPr>
              <a:t>if (dup2(foofd, </a:t>
            </a:r>
            <a:r>
              <a:rPr lang="en-GB" sz="1400" dirty="0" err="1">
                <a:latin typeface="Courier"/>
                <a:ea typeface="MS Gothic" charset="0"/>
                <a:cs typeface="Courier"/>
              </a:rPr>
              <a:t>stdout</a:t>
            </a:r>
            <a:r>
              <a:rPr lang="en-GB" sz="1400" dirty="0">
                <a:latin typeface="Courier"/>
                <a:ea typeface="MS Gothic" charset="0"/>
                <a:cs typeface="Courier"/>
              </a:rPr>
              <a:t>)&gt;0) </a:t>
            </a:r>
            <a:r>
              <a:rPr lang="en-GB" sz="1400" dirty="0" err="1">
                <a:latin typeface="Courier"/>
                <a:ea typeface="MS Gothic" charset="0"/>
                <a:cs typeface="Courier"/>
              </a:rPr>
              <a:t>printf(“printing</a:t>
            </a:r>
            <a:r>
              <a:rPr lang="en-GB" sz="1400" dirty="0">
                <a:latin typeface="Courier"/>
                <a:ea typeface="MS Gothic" charset="0"/>
                <a:cs typeface="Courier"/>
              </a:rPr>
              <a:t> to </a:t>
            </a:r>
            <a:r>
              <a:rPr lang="en-GB" sz="1400" dirty="0" err="1">
                <a:latin typeface="Courier"/>
                <a:ea typeface="MS Gothic" charset="0"/>
                <a:cs typeface="Courier"/>
              </a:rPr>
              <a:t>foo.txt\n</a:t>
            </a:r>
            <a:r>
              <a:rPr lang="en-GB" sz="1400" dirty="0">
                <a:latin typeface="Courier"/>
                <a:ea typeface="MS Gothic" charset="0"/>
                <a:cs typeface="Courier"/>
              </a:rPr>
              <a:t>”); </a:t>
            </a:r>
            <a:endParaRPr lang="en-GB" sz="1400" dirty="0">
              <a:solidFill>
                <a:srgbClr val="FF0000"/>
              </a:solidFill>
              <a:latin typeface="Courier"/>
              <a:ea typeface="MS Gothic" charset="0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51518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dup()</a:t>
            </a:r>
            <a:r>
              <a:rPr lang="en-US" dirty="0"/>
              <a:t> and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dup2()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705225" cy="20669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dup(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en-US" sz="2000" dirty="0">
                <a:latin typeface="Calibri" charset="0"/>
                <a:ea typeface="Calibri" charset="0"/>
                <a:cs typeface="Calibri" charset="0"/>
              </a:rPr>
              <a:t> returns lowest available file descriptor, now referring to whatever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oldfd</a:t>
            </a:r>
            <a:r>
              <a:rPr lang="en-US" sz="2000" dirty="0">
                <a:latin typeface="Calibri" charset="0"/>
                <a:ea typeface="Calibri" charset="0"/>
                <a:cs typeface="Calibri" charset="0"/>
              </a:rPr>
              <a:t> refers to refers to.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1990725"/>
          </a:xfrm>
        </p:spPr>
        <p:txBody>
          <a:bodyPr/>
          <a:lstStyle/>
          <a:p>
            <a:pPr marL="342900" lvl="1" indent="-342900">
              <a:buSzPct val="60000"/>
              <a:buFont typeface="Wingdings 2" pitchFamily="18" charset="2"/>
              <a:buChar char="¢"/>
            </a:pP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dup2(</a:t>
            </a:r>
            <a:r>
              <a:rPr lang="en-US" sz="2000" b="1" dirty="0" err="1">
                <a:latin typeface="Courier New" charset="0"/>
                <a:ea typeface="Courier New" charset="0"/>
                <a:cs typeface="Courier New" charset="0"/>
              </a:rPr>
              <a:t>oldfd,newfd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)</a:t>
            </a:r>
            <a:r>
              <a:rPr lang="en-US" sz="2000" b="1" dirty="0">
                <a:latin typeface="Calibri" charset="0"/>
                <a:ea typeface="Calibri" charset="0"/>
                <a:cs typeface="Calibri" charset="0"/>
              </a:rPr>
              <a:t> copies descriptor table entry </a:t>
            </a:r>
            <a:r>
              <a:rPr lang="en-US" sz="2000" b="1" dirty="0" err="1">
                <a:latin typeface="Courier New" charset="0"/>
                <a:ea typeface="Courier New" charset="0"/>
                <a:cs typeface="Courier New" charset="0"/>
              </a:rPr>
              <a:t>oldfd</a:t>
            </a:r>
            <a:r>
              <a:rPr lang="en-US" sz="2000" b="1" dirty="0">
                <a:latin typeface="Calibri" charset="0"/>
                <a:ea typeface="Calibri" charset="0"/>
                <a:cs typeface="Calibri" charset="0"/>
              </a:rPr>
              <a:t>  to entry </a:t>
            </a:r>
            <a:r>
              <a:rPr lang="en-US" sz="2000" b="1" dirty="0" err="1">
                <a:latin typeface="Courier New" charset="0"/>
                <a:ea typeface="Courier New" charset="0"/>
                <a:cs typeface="Courier New" charset="0"/>
              </a:rPr>
              <a:t>newfd</a:t>
            </a:r>
            <a:r>
              <a:rPr lang="en-US" sz="2000" b="1" dirty="0">
                <a:latin typeface="Courier New" charset="0"/>
                <a:ea typeface="Courier New" charset="0"/>
                <a:cs typeface="Courier New" charset="0"/>
              </a:rPr>
              <a:t>.</a:t>
            </a:r>
          </a:p>
          <a:p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35178" y="3352800"/>
            <a:ext cx="3757831" cy="280076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en-US" sz="1600" dirty="0">
              <a:latin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</a:rPr>
              <a:t>//Descriptor table</a:t>
            </a:r>
          </a:p>
          <a:p>
            <a:r>
              <a:rPr lang="en-US" sz="1600" dirty="0">
                <a:latin typeface="Courier New" pitchFamily="49" charset="0"/>
              </a:rPr>
              <a:t>void *DT[</a:t>
            </a:r>
            <a:r>
              <a:rPr lang="en-US" sz="1600" dirty="0" err="1">
                <a:latin typeface="Courier New" pitchFamily="49" charset="0"/>
              </a:rPr>
              <a:t>maxFd</a:t>
            </a:r>
            <a:r>
              <a:rPr lang="en-US" sz="1600" dirty="0">
                <a:latin typeface="Courier New" pitchFamily="49" charset="0"/>
              </a:rPr>
              <a:t>];</a:t>
            </a:r>
          </a:p>
          <a:p>
            <a:r>
              <a:rPr lang="en-US" sz="1600" dirty="0">
                <a:latin typeface="Courier New" pitchFamily="49" charset="0"/>
              </a:rPr>
              <a:t>  </a:t>
            </a:r>
          </a:p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dup(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oldfd</a:t>
            </a:r>
            <a:r>
              <a:rPr lang="en-US" sz="1600" dirty="0">
                <a:latin typeface="Courier New" pitchFamily="49" charset="0"/>
              </a:rPr>
              <a:t>){</a:t>
            </a:r>
          </a:p>
          <a:p>
            <a:r>
              <a:rPr lang="en-US" sz="1600" dirty="0">
                <a:latin typeface="Courier New" pitchFamily="49" charset="0"/>
              </a:rPr>
              <a:t>   //get the lowest available </a:t>
            </a:r>
          </a:p>
          <a:p>
            <a:r>
              <a:rPr lang="en-US" sz="1600" dirty="0">
                <a:latin typeface="Courier New" pitchFamily="49" charset="0"/>
              </a:rPr>
              <a:t>   //file descriptor</a:t>
            </a:r>
          </a:p>
          <a:p>
            <a:pPr marL="0" lvl="1"/>
            <a:r>
              <a:rPr lang="en-US" sz="1600" dirty="0">
                <a:latin typeface="Courier"/>
                <a:cs typeface="Courier"/>
              </a:rPr>
              <a:t>   </a:t>
            </a:r>
            <a:r>
              <a:rPr lang="en-US" sz="1600" dirty="0" err="1">
                <a:latin typeface="Courier"/>
                <a:cs typeface="Courier"/>
              </a:rPr>
              <a:t>newfd</a:t>
            </a:r>
            <a:r>
              <a:rPr lang="en-US" sz="1600" dirty="0">
                <a:latin typeface="Courier"/>
                <a:cs typeface="Courier"/>
              </a:rPr>
              <a:t> = </a:t>
            </a:r>
            <a:r>
              <a:rPr lang="en-US" sz="1600" dirty="0" err="1">
                <a:latin typeface="Courier"/>
                <a:cs typeface="Courier"/>
              </a:rPr>
              <a:t>lowestFd</a:t>
            </a:r>
            <a:r>
              <a:rPr lang="en-US" sz="1600" dirty="0">
                <a:latin typeface="Courier"/>
                <a:cs typeface="Courier"/>
              </a:rPr>
              <a:t>(DT);</a:t>
            </a:r>
          </a:p>
          <a:p>
            <a:pPr marL="0" lvl="1"/>
            <a:r>
              <a:rPr lang="en-US" sz="1600" dirty="0">
                <a:latin typeface="Courier"/>
                <a:cs typeface="Courier"/>
              </a:rPr>
              <a:t>   DT(</a:t>
            </a:r>
            <a:r>
              <a:rPr lang="en-US" sz="1600" dirty="0" err="1">
                <a:latin typeface="Courier"/>
                <a:cs typeface="Courier"/>
              </a:rPr>
              <a:t>newfd</a:t>
            </a:r>
            <a:r>
              <a:rPr lang="en-US" sz="1600" dirty="0">
                <a:latin typeface="Courier"/>
                <a:cs typeface="Courier"/>
              </a:rPr>
              <a:t>)=DT(</a:t>
            </a:r>
            <a:r>
              <a:rPr lang="en-US" sz="1600" dirty="0" err="1">
                <a:latin typeface="Courier"/>
                <a:cs typeface="Courier"/>
              </a:rPr>
              <a:t>oldfd</a:t>
            </a:r>
            <a:r>
              <a:rPr lang="en-US" sz="1600" dirty="0">
                <a:latin typeface="Courier"/>
                <a:cs typeface="Courier"/>
              </a:rPr>
              <a:t>); </a:t>
            </a:r>
          </a:p>
          <a:p>
            <a:pPr marL="0" lvl="1"/>
            <a:r>
              <a:rPr lang="en-US" sz="1600" dirty="0">
                <a:latin typeface="Courier"/>
                <a:cs typeface="Courier"/>
              </a:rPr>
              <a:t>   return(</a:t>
            </a:r>
            <a:r>
              <a:rPr lang="en-US" sz="1600" dirty="0" err="1">
                <a:latin typeface="Courier"/>
                <a:cs typeface="Courier"/>
              </a:rPr>
              <a:t>newfd</a:t>
            </a:r>
            <a:r>
              <a:rPr lang="en-US" sz="1600" dirty="0">
                <a:latin typeface="Courier"/>
                <a:cs typeface="Courier"/>
              </a:rPr>
              <a:t>);</a:t>
            </a:r>
          </a:p>
          <a:p>
            <a:pPr marL="0" lvl="1"/>
            <a:r>
              <a:rPr lang="en-US" sz="1600" dirty="0">
                <a:latin typeface="Courier"/>
                <a:ea typeface="MS Gothic" charset="0"/>
                <a:cs typeface="Courier"/>
              </a:rPr>
              <a:t>}</a:t>
            </a:r>
            <a:endParaRPr lang="en-GB" sz="1600" dirty="0">
              <a:latin typeface="Courier"/>
              <a:ea typeface="MS Gothic" charset="0"/>
              <a:cs typeface="Courier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642618" y="2895600"/>
            <a:ext cx="4365898" cy="181588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//Descriptor table</a:t>
            </a:r>
          </a:p>
          <a:p>
            <a:r>
              <a:rPr lang="en-US" sz="1600" dirty="0">
                <a:latin typeface="Courier New" pitchFamily="49" charset="0"/>
              </a:rPr>
              <a:t>void *DT[</a:t>
            </a:r>
            <a:r>
              <a:rPr lang="en-US" sz="1600" dirty="0" err="1">
                <a:latin typeface="Courier New" pitchFamily="49" charset="0"/>
              </a:rPr>
              <a:t>maxFd</a:t>
            </a:r>
            <a:r>
              <a:rPr lang="en-US" sz="1600" dirty="0">
                <a:latin typeface="Courier New" pitchFamily="49" charset="0"/>
              </a:rPr>
              <a:t>];</a:t>
            </a:r>
          </a:p>
          <a:p>
            <a:pPr marL="0" lvl="1"/>
            <a:endParaRPr lang="en-US" sz="1600" dirty="0">
              <a:solidFill>
                <a:srgbClr val="FF0000"/>
              </a:solidFill>
              <a:latin typeface="Courier"/>
              <a:cs typeface="Courier"/>
            </a:endParaRPr>
          </a:p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dup2(int </a:t>
            </a:r>
            <a:r>
              <a:rPr lang="en-US" sz="1600" dirty="0" err="1">
                <a:latin typeface="Courier New" pitchFamily="49" charset="0"/>
              </a:rPr>
              <a:t>oldfd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newfd</a:t>
            </a:r>
            <a:r>
              <a:rPr lang="en-US" sz="1600" dirty="0">
                <a:latin typeface="Courier New" pitchFamily="49" charset="0"/>
              </a:rPr>
              <a:t>){</a:t>
            </a:r>
          </a:p>
          <a:p>
            <a:r>
              <a:rPr lang="en-US" sz="1600" dirty="0">
                <a:latin typeface="Courier New" pitchFamily="49" charset="0"/>
              </a:rPr>
              <a:t>    DP[</a:t>
            </a:r>
            <a:r>
              <a:rPr lang="en-US" sz="1600" dirty="0" err="1">
                <a:latin typeface="Courier New" pitchFamily="49" charset="0"/>
              </a:rPr>
              <a:t>newfd</a:t>
            </a:r>
            <a:r>
              <a:rPr lang="en-US" sz="1600" dirty="0">
                <a:latin typeface="Courier New" pitchFamily="49" charset="0"/>
              </a:rPr>
              <a:t>]=DP[</a:t>
            </a:r>
            <a:r>
              <a:rPr lang="en-US" sz="1600" dirty="0" err="1">
                <a:latin typeface="Courier New" pitchFamily="49" charset="0"/>
              </a:rPr>
              <a:t>oldfd</a:t>
            </a:r>
            <a:r>
              <a:rPr lang="en-US" sz="1600" dirty="0">
                <a:latin typeface="Courier New" pitchFamily="49" charset="0"/>
              </a:rPr>
              <a:t>];</a:t>
            </a:r>
          </a:p>
          <a:p>
            <a:r>
              <a:rPr lang="en-US" sz="1600" dirty="0">
                <a:latin typeface="Courier New" pitchFamily="49" charset="0"/>
              </a:rPr>
              <a:t>    return(</a:t>
            </a:r>
            <a:r>
              <a:rPr lang="en-US" sz="1600" dirty="0" err="1">
                <a:latin typeface="Courier New" pitchFamily="49" charset="0"/>
              </a:rPr>
              <a:t>newfd</a:t>
            </a:r>
            <a:r>
              <a:rPr lang="en-US" sz="1600" dirty="0">
                <a:latin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6342" y="4916335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1600" b="0" dirty="0">
                <a:latin typeface="Calibri" charset="0"/>
                <a:ea typeface="Calibri" charset="0"/>
                <a:cs typeface="Calibri" charset="0"/>
              </a:rPr>
              <a:t>If 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oldfd</a:t>
            </a:r>
            <a:r>
              <a:rPr lang="en-US" sz="1600" b="0" dirty="0">
                <a:latin typeface="Calibri" charset="0"/>
                <a:ea typeface="Calibri" charset="0"/>
                <a:cs typeface="Calibri" charset="0"/>
              </a:rPr>
              <a:t> is not a valid file descriptor, then the call fails, and 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newfd</a:t>
            </a:r>
            <a:r>
              <a:rPr lang="en-US" sz="1600" b="0" dirty="0">
                <a:latin typeface="Calibri" charset="0"/>
                <a:ea typeface="Calibri" charset="0"/>
                <a:cs typeface="Calibri" charset="0"/>
              </a:rPr>
              <a:t> is not closed.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1600" b="0" dirty="0">
                <a:latin typeface="Calibri" charset="0"/>
                <a:ea typeface="Calibri" charset="0"/>
                <a:cs typeface="Calibri" charset="0"/>
              </a:rPr>
              <a:t>If 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oldfd</a:t>
            </a:r>
            <a:r>
              <a:rPr lang="en-US" sz="1600" b="0" dirty="0">
                <a:latin typeface="Calibri" charset="0"/>
                <a:ea typeface="Calibri" charset="0"/>
                <a:cs typeface="Calibri" charset="0"/>
              </a:rPr>
              <a:t> is a valid file descriptor, and 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newfd</a:t>
            </a:r>
            <a:r>
              <a:rPr lang="en-US" sz="1600" b="0" dirty="0">
                <a:latin typeface="Calibri" charset="0"/>
                <a:ea typeface="Calibri" charset="0"/>
                <a:cs typeface="Calibri" charset="0"/>
              </a:rPr>
              <a:t> has the same value as 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oldfd</a:t>
            </a:r>
            <a:r>
              <a:rPr lang="en-US" sz="1600" b="0" dirty="0">
                <a:latin typeface="Calibri" charset="0"/>
                <a:ea typeface="Calibri" charset="0"/>
                <a:cs typeface="Calibri" charset="0"/>
              </a:rPr>
              <a:t>, then 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dup2() </a:t>
            </a:r>
            <a:r>
              <a:rPr lang="en-US" sz="1600" b="0" dirty="0">
                <a:latin typeface="Calibri" charset="0"/>
                <a:ea typeface="Calibri" charset="0"/>
                <a:cs typeface="Calibri" charset="0"/>
              </a:rPr>
              <a:t>does nothing, and returns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 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newfd</a:t>
            </a:r>
            <a:r>
              <a:rPr lang="en-US" sz="1600" b="0" dirty="0">
                <a:latin typeface="Calibri" charset="0"/>
                <a:ea typeface="Calibri" charset="0"/>
                <a:cs typeface="Calibri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1ED92-CC75-19D2-94D9-28F3937A1AD6}"/>
              </a:ext>
            </a:extLst>
          </p:cNvPr>
          <p:cNvSpPr txBox="1"/>
          <p:nvPr/>
        </p:nvSpPr>
        <p:spPr>
          <a:xfrm>
            <a:off x="2180428" y="6335617"/>
            <a:ext cx="4625162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http://sehitoglu.web.tr/filedemo/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3273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08907" y="457200"/>
            <a:ext cx="8277893" cy="762000"/>
          </a:xfrm>
        </p:spPr>
        <p:txBody>
          <a:bodyPr/>
          <a:lstStyle/>
          <a:p>
            <a:r>
              <a:rPr lang="en-US" dirty="0"/>
              <a:t>I/O and Redirection Example 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2" y="5546124"/>
            <a:ext cx="8307388" cy="533400"/>
          </a:xfrm>
        </p:spPr>
        <p:txBody>
          <a:bodyPr/>
          <a:lstStyle/>
          <a:p>
            <a:r>
              <a:rPr lang="en-US" dirty="0"/>
              <a:t>What would this program print for file containing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abcde</a:t>
            </a:r>
            <a:r>
              <a:rPr lang="en-US" dirty="0"/>
              <a:t>”?</a:t>
            </a:r>
          </a:p>
          <a:p>
            <a:endParaRPr lang="en-US" dirty="0"/>
          </a:p>
        </p:txBody>
      </p:sp>
      <p:sp>
        <p:nvSpPr>
          <p:cNvPr id="735236" name="Text Box 4"/>
          <p:cNvSpPr txBox="1">
            <a:spLocks noChangeArrowheads="1"/>
          </p:cNvSpPr>
          <p:nvPr/>
        </p:nvSpPr>
        <p:spPr bwMode="auto">
          <a:xfrm>
            <a:off x="533400" y="1295400"/>
            <a:ext cx="6849952" cy="403187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</a:t>
            </a:r>
            <a:r>
              <a:rPr lang="en-US" sz="1600" dirty="0" err="1">
                <a:latin typeface="Courier New" pitchFamily="49" charset="0"/>
              </a:rPr>
              <a:t>csapp.h</a:t>
            </a:r>
            <a:r>
              <a:rPr lang="en-US" sz="1600" dirty="0">
                <a:latin typeface="Courier New" pitchFamily="49" charset="0"/>
              </a:rPr>
              <a:t>"</a:t>
            </a:r>
          </a:p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main(int argc, char *argv[])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fd1, fd2, fd3;</a:t>
            </a:r>
          </a:p>
          <a:p>
            <a:r>
              <a:rPr lang="en-US" sz="1600" dirty="0">
                <a:latin typeface="Courier New" pitchFamily="49" charset="0"/>
              </a:rPr>
              <a:t>    char c1, c2, c3;</a:t>
            </a:r>
          </a:p>
          <a:p>
            <a:r>
              <a:rPr lang="en-US" sz="1600" dirty="0">
                <a:latin typeface="Courier New" pitchFamily="49" charset="0"/>
              </a:rPr>
              <a:t>    char *fname = argv[1];</a:t>
            </a:r>
          </a:p>
          <a:p>
            <a:r>
              <a:rPr lang="en-US" sz="1600" dirty="0">
                <a:latin typeface="Courier New" pitchFamily="49" charset="0"/>
              </a:rPr>
              <a:t>    fd1 = open(</a:t>
            </a:r>
            <a:r>
              <a:rPr lang="en-US" sz="1600" dirty="0" err="1">
                <a:latin typeface="Courier New" pitchFamily="49" charset="0"/>
              </a:rPr>
              <a:t>fname</a:t>
            </a:r>
            <a:r>
              <a:rPr lang="en-US" sz="1600" dirty="0">
                <a:latin typeface="Courier New" pitchFamily="49" charset="0"/>
              </a:rPr>
              <a:t>, O_RDONLY, 0);</a:t>
            </a:r>
          </a:p>
          <a:p>
            <a:r>
              <a:rPr lang="en-US" sz="1600" dirty="0">
                <a:latin typeface="Courier New" pitchFamily="49" charset="0"/>
              </a:rPr>
              <a:t>    fd2 = open(</a:t>
            </a:r>
            <a:r>
              <a:rPr lang="en-US" sz="1600" dirty="0" err="1">
                <a:latin typeface="Courier New" pitchFamily="49" charset="0"/>
              </a:rPr>
              <a:t>fname</a:t>
            </a:r>
            <a:r>
              <a:rPr lang="en-US" sz="1600" dirty="0">
                <a:latin typeface="Courier New" pitchFamily="49" charset="0"/>
              </a:rPr>
              <a:t>, O_RDONLY, 0);</a:t>
            </a:r>
          </a:p>
          <a:p>
            <a:r>
              <a:rPr lang="en-US" sz="1600" dirty="0">
                <a:latin typeface="Courier New" pitchFamily="49" charset="0"/>
              </a:rPr>
              <a:t>    fd3 = open(</a:t>
            </a:r>
            <a:r>
              <a:rPr lang="en-US" sz="1600" dirty="0" err="1">
                <a:latin typeface="Courier New" pitchFamily="49" charset="0"/>
              </a:rPr>
              <a:t>fname</a:t>
            </a:r>
            <a:r>
              <a:rPr lang="en-US" sz="1600" dirty="0">
                <a:latin typeface="Courier New" pitchFamily="49" charset="0"/>
              </a:rPr>
              <a:t>, O_RDONLY, 0);</a:t>
            </a:r>
          </a:p>
          <a:p>
            <a:r>
              <a:rPr lang="en-US" sz="1600" dirty="0">
                <a:latin typeface="Courier New" pitchFamily="49" charset="0"/>
              </a:rPr>
              <a:t>    dup2(fd2, fd3);</a:t>
            </a:r>
          </a:p>
          <a:p>
            <a:r>
              <a:rPr lang="en-US" sz="1600" dirty="0">
                <a:latin typeface="Courier New" pitchFamily="49" charset="0"/>
              </a:rPr>
              <a:t>    read(fd1, &amp;c1, 1);</a:t>
            </a:r>
          </a:p>
          <a:p>
            <a:r>
              <a:rPr lang="en-US" sz="1600" dirty="0">
                <a:latin typeface="Courier New" pitchFamily="49" charset="0"/>
              </a:rPr>
              <a:t>    read(fd2, &amp;c2, 1);</a:t>
            </a:r>
          </a:p>
          <a:p>
            <a:r>
              <a:rPr lang="en-US" sz="1600" dirty="0">
                <a:latin typeface="Courier New" pitchFamily="49" charset="0"/>
              </a:rPr>
              <a:t>    read(fd3, &amp;c3, 1);</a:t>
            </a:r>
          </a:p>
          <a:p>
            <a:r>
              <a:rPr lang="en-US" sz="1600" dirty="0">
                <a:latin typeface="Courier New" pitchFamily="49" charset="0"/>
              </a:rPr>
              <a:t>    printf("c1 = %c, c2 = %c, c3 = %c\n", c1, c2, c3);</a:t>
            </a:r>
          </a:p>
          <a:p>
            <a:r>
              <a:rPr lang="en-US" sz="1600" dirty="0">
                <a:latin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51988" y="4957941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ffiles1.c</a:t>
            </a:r>
          </a:p>
        </p:txBody>
      </p:sp>
    </p:spTree>
    <p:extLst>
      <p:ext uri="{BB962C8B-B14F-4D97-AF65-F5344CB8AC3E}">
        <p14:creationId xmlns:p14="http://schemas.microsoft.com/office/powerpoint/2010/main" val="10312894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055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08907" y="457200"/>
            <a:ext cx="8277893" cy="762000"/>
          </a:xfrm>
        </p:spPr>
        <p:txBody>
          <a:bodyPr/>
          <a:lstStyle/>
          <a:p>
            <a:r>
              <a:rPr lang="en-US" dirty="0"/>
              <a:t>I/O and Redirection Example 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2" y="5546124"/>
            <a:ext cx="8307388" cy="533400"/>
          </a:xfrm>
        </p:spPr>
        <p:txBody>
          <a:bodyPr/>
          <a:lstStyle/>
          <a:p>
            <a:r>
              <a:rPr lang="en-US" dirty="0"/>
              <a:t>What would this program print for file containing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abcde</a:t>
            </a:r>
            <a:r>
              <a:rPr lang="en-US" dirty="0"/>
              <a:t>”?</a:t>
            </a:r>
          </a:p>
          <a:p>
            <a:endParaRPr lang="en-US" dirty="0"/>
          </a:p>
        </p:txBody>
      </p:sp>
      <p:sp>
        <p:nvSpPr>
          <p:cNvPr id="735236" name="Text Box 4"/>
          <p:cNvSpPr txBox="1">
            <a:spLocks noChangeArrowheads="1"/>
          </p:cNvSpPr>
          <p:nvPr/>
        </p:nvSpPr>
        <p:spPr bwMode="auto">
          <a:xfrm>
            <a:off x="533400" y="1295400"/>
            <a:ext cx="6849952" cy="403187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"csapp.h"</a:t>
            </a:r>
          </a:p>
          <a:p>
            <a:r>
              <a:rPr lang="en-US" sz="1600" dirty="0">
                <a:latin typeface="Courier New" pitchFamily="49" charset="0"/>
              </a:rPr>
              <a:t>int main(int argc, char *argv[])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fd1, fd2, fd3;</a:t>
            </a:r>
          </a:p>
          <a:p>
            <a:r>
              <a:rPr lang="en-US" sz="1600" dirty="0">
                <a:latin typeface="Courier New" pitchFamily="49" charset="0"/>
              </a:rPr>
              <a:t>    char c1, c2, c3;</a:t>
            </a:r>
          </a:p>
          <a:p>
            <a:r>
              <a:rPr lang="en-US" sz="1600" dirty="0">
                <a:latin typeface="Courier New" pitchFamily="49" charset="0"/>
              </a:rPr>
              <a:t>    char *fname = argv[1];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Courier New" pitchFamily="49" charset="0"/>
              </a:rPr>
              <a:t>fd1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fd2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</a:rPr>
              <a:t>fd3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</a:rPr>
              <a:t>Dup2(fd2, fd3);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Courier New" pitchFamily="49" charset="0"/>
              </a:rPr>
              <a:t>Read(fd1, &amp;c1, 1);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Read(fd2, &amp;c2, 1);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urier New" pitchFamily="49" charset="0"/>
              </a:rPr>
              <a:t>Read(fd3, &amp;c3, 1);</a:t>
            </a:r>
          </a:p>
          <a:p>
            <a:r>
              <a:rPr lang="en-US" sz="1600" dirty="0">
                <a:latin typeface="Courier New" pitchFamily="49" charset="0"/>
              </a:rPr>
              <a:t>    printf("c1 = %c, c2 = %c, c3 = %c\n", c1, c2, c3);</a:t>
            </a:r>
          </a:p>
          <a:p>
            <a:r>
              <a:rPr lang="en-US" sz="1600" dirty="0">
                <a:latin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51988" y="4957941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ffiles1.c</a:t>
            </a:r>
          </a:p>
        </p:txBody>
      </p:sp>
      <p:sp>
        <p:nvSpPr>
          <p:cNvPr id="6" name="Rectangle 5"/>
          <p:cNvSpPr/>
          <p:nvPr/>
        </p:nvSpPr>
        <p:spPr>
          <a:xfrm>
            <a:off x="5249202" y="1578114"/>
            <a:ext cx="37338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c1 = </a:t>
            </a:r>
            <a:r>
              <a:rPr lang="pt-BR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c2 = </a:t>
            </a:r>
            <a:r>
              <a:rPr lang="pt-BR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c3 = </a:t>
            </a:r>
            <a:r>
              <a:rPr lang="pt-BR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2" name="Rectangle 1"/>
          <p:cNvSpPr/>
          <p:nvPr/>
        </p:nvSpPr>
        <p:spPr>
          <a:xfrm>
            <a:off x="5249202" y="3429000"/>
            <a:ext cx="3108543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Courier New"/>
                <a:cs typeface="Courier New"/>
              </a:rPr>
              <a:t>dup2(</a:t>
            </a:r>
            <a:r>
              <a:rPr lang="en-US" sz="2000" dirty="0" err="1">
                <a:latin typeface="Courier New"/>
                <a:cs typeface="Courier New"/>
              </a:rPr>
              <a:t>oldfd</a:t>
            </a:r>
            <a:r>
              <a:rPr lang="en-US" sz="2000" dirty="0">
                <a:latin typeface="Courier New"/>
                <a:cs typeface="Courier New"/>
              </a:rPr>
              <a:t>, </a:t>
            </a:r>
            <a:r>
              <a:rPr lang="en-US" sz="2000" dirty="0" err="1">
                <a:latin typeface="Courier New"/>
                <a:cs typeface="Courier New"/>
              </a:rPr>
              <a:t>newfd</a:t>
            </a:r>
            <a:r>
              <a:rPr lang="en-US" sz="2000" dirty="0">
                <a:latin typeface="Courier New"/>
                <a:cs typeface="Courier New"/>
              </a:rPr>
              <a:t>) </a:t>
            </a:r>
            <a:endParaRPr lang="en-US" sz="2000" dirty="0"/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>
            <a:off x="2971800" y="3629055"/>
            <a:ext cx="2277402" cy="28545"/>
          </a:xfrm>
          <a:prstGeom prst="straightConnector1">
            <a:avLst/>
          </a:prstGeom>
          <a:noFill/>
          <a:ln w="38100">
            <a:solidFill>
              <a:schemeClr val="bg2"/>
            </a:solidFill>
            <a:miter lim="800000"/>
            <a:headEnd type="none" w="med" len="med"/>
            <a:tailEnd type="stealth"/>
          </a:ln>
          <a:effectLst/>
        </p:spPr>
      </p:cxnSp>
    </p:spTree>
    <p:extLst>
      <p:ext uri="{BB962C8B-B14F-4D97-AF65-F5344CB8AC3E}">
        <p14:creationId xmlns:p14="http://schemas.microsoft.com/office/powerpoint/2010/main" val="10092403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381000"/>
            <a:ext cx="7592093" cy="762000"/>
          </a:xfrm>
        </p:spPr>
        <p:txBody>
          <a:bodyPr/>
          <a:lstStyle/>
          <a:p>
            <a:r>
              <a:rPr lang="en-US" dirty="0"/>
              <a:t>Master Class: Process Control and I/O</a:t>
            </a:r>
          </a:p>
        </p:txBody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174" y="6248400"/>
            <a:ext cx="8307388" cy="533400"/>
          </a:xfrm>
        </p:spPr>
        <p:txBody>
          <a:bodyPr/>
          <a:lstStyle/>
          <a:p>
            <a:r>
              <a:rPr lang="en-US" dirty="0"/>
              <a:t>What would this program print for file containing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abcde</a:t>
            </a:r>
            <a:r>
              <a:rPr lang="en-US" dirty="0"/>
              <a:t>”?</a:t>
            </a:r>
          </a:p>
        </p:txBody>
      </p:sp>
      <p:sp>
        <p:nvSpPr>
          <p:cNvPr id="739332" name="Text Box 4"/>
          <p:cNvSpPr txBox="1">
            <a:spLocks noChangeArrowheads="1"/>
          </p:cNvSpPr>
          <p:nvPr/>
        </p:nvSpPr>
        <p:spPr bwMode="auto">
          <a:xfrm>
            <a:off x="481914" y="1155442"/>
            <a:ext cx="6634188" cy="501675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"csapp.h"</a:t>
            </a:r>
          </a:p>
          <a:p>
            <a:r>
              <a:rPr lang="en-US" sz="1600" dirty="0">
                <a:latin typeface="Courier New" pitchFamily="49" charset="0"/>
              </a:rPr>
              <a:t>int main(int argc, char *argv[])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fd1;</a:t>
            </a:r>
          </a:p>
          <a:p>
            <a:r>
              <a:rPr lang="en-US" sz="1600" dirty="0">
                <a:latin typeface="Courier New" pitchFamily="49" charset="0"/>
              </a:rPr>
              <a:t>    int s = getpid() &amp; 0x1;</a:t>
            </a:r>
          </a:p>
          <a:p>
            <a:r>
              <a:rPr lang="en-US" sz="1600" dirty="0">
                <a:latin typeface="Courier New" pitchFamily="49" charset="0"/>
              </a:rPr>
              <a:t>    char c1, c2;</a:t>
            </a:r>
          </a:p>
          <a:p>
            <a:r>
              <a:rPr lang="en-US" sz="1600" dirty="0">
                <a:latin typeface="Courier New" pitchFamily="49" charset="0"/>
              </a:rPr>
              <a:t>    char *fname = argv[1];</a:t>
            </a:r>
          </a:p>
          <a:p>
            <a:r>
              <a:rPr lang="en-US" sz="1600" dirty="0">
                <a:latin typeface="Courier New" pitchFamily="49" charset="0"/>
              </a:rPr>
              <a:t>    fd1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Read(fd1, &amp;c1, 1);</a:t>
            </a:r>
          </a:p>
          <a:p>
            <a:r>
              <a:rPr lang="en-US" sz="1600" dirty="0">
                <a:latin typeface="Courier New" pitchFamily="49" charset="0"/>
              </a:rPr>
              <a:t>    if (fork()) {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Parent */</a:t>
            </a:r>
          </a:p>
          <a:p>
            <a:r>
              <a:rPr lang="en-US" sz="1600" dirty="0">
                <a:latin typeface="Courier New" pitchFamily="49" charset="0"/>
              </a:rPr>
              <a:t>        sleep(s);</a:t>
            </a:r>
          </a:p>
          <a:p>
            <a:r>
              <a:rPr lang="en-US" sz="1600" dirty="0">
                <a:latin typeface="Courier New" pitchFamily="49" charset="0"/>
              </a:rPr>
              <a:t>        Read(fd1, &amp;c2, 1);</a:t>
            </a:r>
          </a:p>
          <a:p>
            <a:r>
              <a:rPr lang="en-US" sz="1600" dirty="0">
                <a:latin typeface="Courier New" pitchFamily="49" charset="0"/>
              </a:rPr>
              <a:t>        printf("Parent: c1 = %c, c2 = %c\n", c1, c2);</a:t>
            </a:r>
          </a:p>
          <a:p>
            <a:r>
              <a:rPr lang="en-US" sz="1600" dirty="0">
                <a:latin typeface="Courier New" pitchFamily="49" charset="0"/>
              </a:rPr>
              <a:t>    } else {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Child */</a:t>
            </a:r>
          </a:p>
          <a:p>
            <a:r>
              <a:rPr lang="en-US" sz="1600" dirty="0">
                <a:latin typeface="Courier New" pitchFamily="49" charset="0"/>
              </a:rPr>
              <a:t>        sleep(1-s);</a:t>
            </a:r>
          </a:p>
          <a:p>
            <a:r>
              <a:rPr lang="en-US" sz="1600" dirty="0">
                <a:latin typeface="Courier New" pitchFamily="49" charset="0"/>
              </a:rPr>
              <a:t>        Read(fd1, &amp;c2, 1);</a:t>
            </a:r>
          </a:p>
          <a:p>
            <a:r>
              <a:rPr lang="en-US" sz="1600" dirty="0">
                <a:latin typeface="Courier New" pitchFamily="49" charset="0"/>
              </a:rPr>
              <a:t>        printf("Child: c1 = %c, c2 = %c\n", c1, c2);</a:t>
            </a:r>
          </a:p>
          <a:p>
            <a:r>
              <a:rPr lang="en-US" sz="1600" dirty="0">
                <a:latin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84738" y="5802868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ffiles2.c</a:t>
            </a:r>
          </a:p>
        </p:txBody>
      </p:sp>
    </p:spTree>
    <p:extLst>
      <p:ext uri="{BB962C8B-B14F-4D97-AF65-F5344CB8AC3E}">
        <p14:creationId xmlns:p14="http://schemas.microsoft.com/office/powerpoint/2010/main" val="15800872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97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381000"/>
            <a:ext cx="7592093" cy="762000"/>
          </a:xfrm>
        </p:spPr>
        <p:txBody>
          <a:bodyPr/>
          <a:lstStyle/>
          <a:p>
            <a:r>
              <a:rPr lang="en-US" dirty="0"/>
              <a:t>Master Class: Process Control and I/O</a:t>
            </a:r>
          </a:p>
        </p:txBody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174" y="6248400"/>
            <a:ext cx="8307388" cy="533400"/>
          </a:xfrm>
        </p:spPr>
        <p:txBody>
          <a:bodyPr/>
          <a:lstStyle/>
          <a:p>
            <a:r>
              <a:rPr lang="en-US" dirty="0"/>
              <a:t>What would this program print for file containing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abcde</a:t>
            </a:r>
            <a:r>
              <a:rPr lang="en-US" dirty="0"/>
              <a:t>”?</a:t>
            </a:r>
          </a:p>
        </p:txBody>
      </p:sp>
      <p:sp>
        <p:nvSpPr>
          <p:cNvPr id="739332" name="Text Box 4"/>
          <p:cNvSpPr txBox="1">
            <a:spLocks noChangeArrowheads="1"/>
          </p:cNvSpPr>
          <p:nvPr/>
        </p:nvSpPr>
        <p:spPr bwMode="auto">
          <a:xfrm>
            <a:off x="481914" y="1155442"/>
            <a:ext cx="6634188" cy="501675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#include "csapp.h"</a:t>
            </a:r>
          </a:p>
          <a:p>
            <a:r>
              <a:rPr lang="en-US" sz="1600" dirty="0">
                <a:latin typeface="Courier New" pitchFamily="49" charset="0"/>
              </a:rPr>
              <a:t>int main(int argc, char *argv[])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int fd1;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int s = getpid() &amp; 0x1;</a:t>
            </a:r>
          </a:p>
          <a:p>
            <a:r>
              <a:rPr lang="en-US" sz="1600" dirty="0">
                <a:latin typeface="Courier New" pitchFamily="49" charset="0"/>
              </a:rPr>
              <a:t>    char c1, c2;</a:t>
            </a:r>
          </a:p>
          <a:p>
            <a:r>
              <a:rPr lang="en-US" sz="1600" dirty="0">
                <a:latin typeface="Courier New" pitchFamily="49" charset="0"/>
              </a:rPr>
              <a:t>    char *fname = argv[1];</a:t>
            </a:r>
          </a:p>
          <a:p>
            <a:r>
              <a:rPr lang="en-US" sz="1600" dirty="0">
                <a:latin typeface="Courier New" pitchFamily="49" charset="0"/>
              </a:rPr>
              <a:t>    fd1 = Open(fname, O_RDONLY, 0);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Courier New" pitchFamily="49" charset="0"/>
              </a:rPr>
              <a:t>Read(fd1, &amp;c1, 1);</a:t>
            </a:r>
          </a:p>
          <a:p>
            <a:r>
              <a:rPr lang="en-US" sz="1600" dirty="0">
                <a:latin typeface="Courier New" pitchFamily="49" charset="0"/>
              </a:rPr>
              <a:t>    if (fork()) {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Parent */</a:t>
            </a:r>
          </a:p>
          <a:p>
            <a:r>
              <a:rPr lang="en-US" sz="1600" dirty="0">
                <a:latin typeface="Courier New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sleep(s);</a:t>
            </a:r>
          </a:p>
          <a:p>
            <a:r>
              <a:rPr lang="en-US" sz="1600" dirty="0">
                <a:latin typeface="Courier New" pitchFamily="49" charset="0"/>
              </a:rPr>
              <a:t>        </a:t>
            </a:r>
            <a:r>
              <a:rPr lang="en-US" sz="1600" dirty="0">
                <a:solidFill>
                  <a:srgbClr val="00B050"/>
                </a:solidFill>
                <a:latin typeface="Courier New" pitchFamily="49" charset="0"/>
              </a:rPr>
              <a:t>Read(fd1, &amp;c2, 1);</a:t>
            </a:r>
          </a:p>
          <a:p>
            <a:r>
              <a:rPr lang="en-US" sz="1600" dirty="0">
                <a:latin typeface="Courier New" pitchFamily="49" charset="0"/>
              </a:rPr>
              <a:t>        printf("Parent: c1 = %c, c2 = %c\n", c1, c2);</a:t>
            </a:r>
          </a:p>
          <a:p>
            <a:r>
              <a:rPr lang="en-US" sz="1600" dirty="0">
                <a:latin typeface="Courier New" pitchFamily="49" charset="0"/>
              </a:rPr>
              <a:t>    } else {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Child */</a:t>
            </a:r>
          </a:p>
          <a:p>
            <a:r>
              <a:rPr lang="en-US" sz="1600" dirty="0">
                <a:latin typeface="Courier New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</a:rPr>
              <a:t>sleep(1-s);</a:t>
            </a:r>
          </a:p>
          <a:p>
            <a:r>
              <a:rPr lang="en-US" sz="1600" dirty="0">
                <a:latin typeface="Courier New" pitchFamily="49" charset="0"/>
              </a:rPr>
              <a:t>        </a:t>
            </a:r>
            <a:r>
              <a:rPr lang="en-US" sz="1600" dirty="0">
                <a:solidFill>
                  <a:srgbClr val="00B050"/>
                </a:solidFill>
                <a:latin typeface="Courier New" pitchFamily="49" charset="0"/>
              </a:rPr>
              <a:t>Read(fd1, &amp;c2, 1);</a:t>
            </a:r>
          </a:p>
          <a:p>
            <a:r>
              <a:rPr lang="en-US" sz="1600" dirty="0">
                <a:latin typeface="Courier New" pitchFamily="49" charset="0"/>
              </a:rPr>
              <a:t>        printf("Child: c1 = %c, c2 = %c\n", c1, c2);</a:t>
            </a:r>
          </a:p>
          <a:p>
            <a:r>
              <a:rPr lang="en-US" sz="1600" dirty="0">
                <a:latin typeface="Courier New" pitchFamily="49" charset="0"/>
              </a:rPr>
              <a:t>    }</a:t>
            </a:r>
          </a:p>
          <a:p>
            <a:r>
              <a:rPr lang="en-US" sz="1600" dirty="0">
                <a:latin typeface="Courier New" pitchFamily="49" charset="0"/>
              </a:rPr>
              <a:t>    return 0;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84738" y="5802868"/>
            <a:ext cx="143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ffiles2.c</a:t>
            </a:r>
          </a:p>
        </p:txBody>
      </p:sp>
      <p:sp>
        <p:nvSpPr>
          <p:cNvPr id="2" name="Rectangle 1"/>
          <p:cNvSpPr/>
          <p:nvPr/>
        </p:nvSpPr>
        <p:spPr>
          <a:xfrm>
            <a:off x="5249202" y="1315865"/>
            <a:ext cx="37338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Child: c1 = a, c2 = b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Parent: c1 = a, c2 = c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9202" y="2362200"/>
            <a:ext cx="37338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Parent: c1 = a, c2 = b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Child: c1 = a, c2 =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6169" y="3352800"/>
            <a:ext cx="3029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Bonus: Which way does it go?</a:t>
            </a:r>
          </a:p>
        </p:txBody>
      </p:sp>
    </p:spTree>
    <p:extLst>
      <p:ext uri="{BB962C8B-B14F-4D97-AF65-F5344CB8AC3E}">
        <p14:creationId xmlns:p14="http://schemas.microsoft.com/office/powerpoint/2010/main" val="12636549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101" name="Rectangle 29"/>
          <p:cNvSpPr>
            <a:spLocks noGrp="1" noChangeArrowheads="1"/>
          </p:cNvSpPr>
          <p:nvPr>
            <p:ph type="title"/>
          </p:nvPr>
        </p:nvSpPr>
        <p:spPr>
          <a:xfrm>
            <a:off x="381000" y="435678"/>
            <a:ext cx="7592093" cy="762000"/>
          </a:xfrm>
        </p:spPr>
        <p:txBody>
          <a:bodyPr/>
          <a:lstStyle/>
          <a:p>
            <a:r>
              <a:rPr lang="en-US"/>
              <a:t>Buffering in Standard I/O</a:t>
            </a:r>
          </a:p>
        </p:txBody>
      </p:sp>
      <p:sp>
        <p:nvSpPr>
          <p:cNvPr id="643102" name="Rectangle 3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I/O functions use buffered I/O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Buffer flushed to output </a:t>
            </a:r>
            <a:r>
              <a:rPr lang="en-US" dirty="0" err="1">
                <a:latin typeface="Courier" pitchFamily="2" charset="0"/>
              </a:rPr>
              <a:t>fd</a:t>
            </a:r>
            <a:r>
              <a:rPr lang="en-US" dirty="0"/>
              <a:t> on </a:t>
            </a:r>
            <a:r>
              <a:rPr lang="en-US" dirty="0">
                <a:latin typeface="Courier" pitchFamily="2" charset="0"/>
              </a:rPr>
              <a:t>“\n”</a:t>
            </a:r>
            <a:r>
              <a:rPr lang="en-US" dirty="0"/>
              <a:t> or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fflush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/>
              <a:t> call</a:t>
            </a:r>
          </a:p>
        </p:txBody>
      </p:sp>
      <p:sp>
        <p:nvSpPr>
          <p:cNvPr id="643076" name="Text Box 4"/>
          <p:cNvSpPr txBox="1">
            <a:spLocks noChangeArrowheads="1"/>
          </p:cNvSpPr>
          <p:nvPr/>
        </p:nvSpPr>
        <p:spPr bwMode="auto">
          <a:xfrm>
            <a:off x="2544762" y="1905000"/>
            <a:ext cx="16510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("h");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77" name="Rectangle 5"/>
          <p:cNvSpPr>
            <a:spLocks noChangeArrowheads="1"/>
          </p:cNvSpPr>
          <p:nvPr/>
        </p:nvSpPr>
        <p:spPr bwMode="auto">
          <a:xfrm>
            <a:off x="26209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h</a:t>
            </a:r>
          </a:p>
        </p:txBody>
      </p:sp>
      <p:sp>
        <p:nvSpPr>
          <p:cNvPr id="643078" name="Rectangle 6"/>
          <p:cNvSpPr>
            <a:spLocks noChangeArrowheads="1"/>
          </p:cNvSpPr>
          <p:nvPr/>
        </p:nvSpPr>
        <p:spPr bwMode="auto">
          <a:xfrm>
            <a:off x="30781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e</a:t>
            </a:r>
          </a:p>
        </p:txBody>
      </p:sp>
      <p:sp>
        <p:nvSpPr>
          <p:cNvPr id="643079" name="Rectangle 7"/>
          <p:cNvSpPr>
            <a:spLocks noChangeArrowheads="1"/>
          </p:cNvSpPr>
          <p:nvPr/>
        </p:nvSpPr>
        <p:spPr bwMode="auto">
          <a:xfrm>
            <a:off x="34591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l</a:t>
            </a:r>
          </a:p>
        </p:txBody>
      </p:sp>
      <p:sp>
        <p:nvSpPr>
          <p:cNvPr id="643080" name="Rectangle 8"/>
          <p:cNvSpPr>
            <a:spLocks noChangeArrowheads="1"/>
          </p:cNvSpPr>
          <p:nvPr/>
        </p:nvSpPr>
        <p:spPr bwMode="auto">
          <a:xfrm>
            <a:off x="39163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l</a:t>
            </a:r>
          </a:p>
        </p:txBody>
      </p:sp>
      <p:sp>
        <p:nvSpPr>
          <p:cNvPr id="643081" name="Rectangle 9"/>
          <p:cNvSpPr>
            <a:spLocks noChangeArrowheads="1"/>
          </p:cNvSpPr>
          <p:nvPr/>
        </p:nvSpPr>
        <p:spPr bwMode="auto">
          <a:xfrm>
            <a:off x="43735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o</a:t>
            </a:r>
          </a:p>
        </p:txBody>
      </p:sp>
      <p:sp>
        <p:nvSpPr>
          <p:cNvPr id="643082" name="Rectangle 10"/>
          <p:cNvSpPr>
            <a:spLocks noChangeArrowheads="1"/>
          </p:cNvSpPr>
          <p:nvPr/>
        </p:nvSpPr>
        <p:spPr bwMode="auto">
          <a:xfrm>
            <a:off x="48307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\n</a:t>
            </a:r>
          </a:p>
        </p:txBody>
      </p:sp>
      <p:sp>
        <p:nvSpPr>
          <p:cNvPr id="643083" name="Rectangle 11"/>
          <p:cNvSpPr>
            <a:spLocks noChangeArrowheads="1"/>
          </p:cNvSpPr>
          <p:nvPr/>
        </p:nvSpPr>
        <p:spPr bwMode="auto">
          <a:xfrm>
            <a:off x="52879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.</a:t>
            </a:r>
          </a:p>
        </p:txBody>
      </p:sp>
      <p:sp>
        <p:nvSpPr>
          <p:cNvPr id="643084" name="Rectangle 12"/>
          <p:cNvSpPr>
            <a:spLocks noChangeArrowheads="1"/>
          </p:cNvSpPr>
          <p:nvPr/>
        </p:nvSpPr>
        <p:spPr bwMode="auto">
          <a:xfrm>
            <a:off x="5745162" y="3995737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.</a:t>
            </a:r>
          </a:p>
        </p:txBody>
      </p:sp>
      <p:sp>
        <p:nvSpPr>
          <p:cNvPr id="643085" name="Line 13"/>
          <p:cNvSpPr>
            <a:spLocks noChangeShapeType="1"/>
          </p:cNvSpPr>
          <p:nvPr/>
        </p:nvSpPr>
        <p:spPr bwMode="auto">
          <a:xfrm>
            <a:off x="2849562" y="2319337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86" name="Text Box 14"/>
          <p:cNvSpPr txBox="1">
            <a:spLocks noChangeArrowheads="1"/>
          </p:cNvSpPr>
          <p:nvPr/>
        </p:nvSpPr>
        <p:spPr bwMode="auto">
          <a:xfrm>
            <a:off x="3001962" y="2133600"/>
            <a:ext cx="16510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("e");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87" name="Line 15"/>
          <p:cNvSpPr>
            <a:spLocks noChangeShapeType="1"/>
          </p:cNvSpPr>
          <p:nvPr/>
        </p:nvSpPr>
        <p:spPr bwMode="auto">
          <a:xfrm>
            <a:off x="3306762" y="2471737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88" name="Text Box 16"/>
          <p:cNvSpPr txBox="1">
            <a:spLocks noChangeArrowheads="1"/>
          </p:cNvSpPr>
          <p:nvPr/>
        </p:nvSpPr>
        <p:spPr bwMode="auto">
          <a:xfrm>
            <a:off x="3382962" y="2363787"/>
            <a:ext cx="16510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("l");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89" name="Line 17"/>
          <p:cNvSpPr>
            <a:spLocks noChangeShapeType="1"/>
          </p:cNvSpPr>
          <p:nvPr/>
        </p:nvSpPr>
        <p:spPr bwMode="auto">
          <a:xfrm>
            <a:off x="5059362" y="3462337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90" name="Text Box 18"/>
          <p:cNvSpPr txBox="1">
            <a:spLocks noChangeArrowheads="1"/>
          </p:cNvSpPr>
          <p:nvPr/>
        </p:nvSpPr>
        <p:spPr bwMode="auto">
          <a:xfrm>
            <a:off x="3759200" y="2624137"/>
            <a:ext cx="16510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("l");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91" name="Line 19"/>
          <p:cNvSpPr>
            <a:spLocks noChangeShapeType="1"/>
          </p:cNvSpPr>
          <p:nvPr/>
        </p:nvSpPr>
        <p:spPr bwMode="auto">
          <a:xfrm>
            <a:off x="4525962" y="3233737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92" name="Text Box 20"/>
          <p:cNvSpPr txBox="1">
            <a:spLocks noChangeArrowheads="1"/>
          </p:cNvSpPr>
          <p:nvPr/>
        </p:nvSpPr>
        <p:spPr bwMode="auto">
          <a:xfrm>
            <a:off x="4140200" y="2897187"/>
            <a:ext cx="16510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("o");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93" name="Text Box 21"/>
          <p:cNvSpPr txBox="1">
            <a:spLocks noChangeArrowheads="1"/>
          </p:cNvSpPr>
          <p:nvPr/>
        </p:nvSpPr>
        <p:spPr bwMode="auto">
          <a:xfrm>
            <a:off x="4627562" y="3157537"/>
            <a:ext cx="177323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printf</a:t>
            </a:r>
            <a:r>
              <a:rPr lang="en-US" sz="1600" dirty="0">
                <a:latin typeface="Courier New" pitchFamily="49" charset="0"/>
              </a:rPr>
              <a:t>("\n");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643094" name="Line 22"/>
          <p:cNvSpPr>
            <a:spLocks noChangeShapeType="1"/>
          </p:cNvSpPr>
          <p:nvPr/>
        </p:nvSpPr>
        <p:spPr bwMode="auto">
          <a:xfrm>
            <a:off x="3687762" y="2700337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95" name="Line 23"/>
          <p:cNvSpPr>
            <a:spLocks noChangeShapeType="1"/>
          </p:cNvSpPr>
          <p:nvPr/>
        </p:nvSpPr>
        <p:spPr bwMode="auto">
          <a:xfrm>
            <a:off x="4144962" y="2928937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96" name="Line 24"/>
          <p:cNvSpPr>
            <a:spLocks noChangeShapeType="1"/>
          </p:cNvSpPr>
          <p:nvPr/>
        </p:nvSpPr>
        <p:spPr bwMode="auto">
          <a:xfrm>
            <a:off x="3916362" y="4300537"/>
            <a:ext cx="0" cy="82296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097" name="Text Box 25"/>
          <p:cNvSpPr txBox="1">
            <a:spLocks noChangeArrowheads="1"/>
          </p:cNvSpPr>
          <p:nvPr/>
        </p:nvSpPr>
        <p:spPr bwMode="auto">
          <a:xfrm>
            <a:off x="3992562" y="4510087"/>
            <a:ext cx="223202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fflush(stdout);</a:t>
            </a:r>
          </a:p>
        </p:txBody>
      </p:sp>
      <p:sp>
        <p:nvSpPr>
          <p:cNvPr id="643098" name="Text Box 26"/>
          <p:cNvSpPr txBox="1">
            <a:spLocks noChangeArrowheads="1"/>
          </p:cNvSpPr>
          <p:nvPr/>
        </p:nvSpPr>
        <p:spPr bwMode="auto">
          <a:xfrm>
            <a:off x="1630362" y="3076574"/>
            <a:ext cx="59372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>
                <a:latin typeface="Courier New" pitchFamily="49" charset="0"/>
              </a:rPr>
              <a:t>buf</a:t>
            </a:r>
          </a:p>
        </p:txBody>
      </p:sp>
      <p:sp>
        <p:nvSpPr>
          <p:cNvPr id="643099" name="Line 27"/>
          <p:cNvSpPr>
            <a:spLocks noChangeShapeType="1"/>
          </p:cNvSpPr>
          <p:nvPr/>
        </p:nvSpPr>
        <p:spPr bwMode="auto">
          <a:xfrm>
            <a:off x="1935162" y="3394075"/>
            <a:ext cx="685800" cy="6016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3100" name="Text Box 28"/>
          <p:cNvSpPr txBox="1">
            <a:spLocks noChangeArrowheads="1"/>
          </p:cNvSpPr>
          <p:nvPr/>
        </p:nvSpPr>
        <p:spPr bwMode="auto">
          <a:xfrm>
            <a:off x="2659400" y="5195887"/>
            <a:ext cx="252825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write(1, 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, 6);</a:t>
            </a:r>
          </a:p>
        </p:txBody>
      </p:sp>
    </p:spTree>
    <p:extLst>
      <p:ext uri="{BB962C8B-B14F-4D97-AF65-F5344CB8AC3E}">
        <p14:creationId xmlns:p14="http://schemas.microsoft.com/office/powerpoint/2010/main" val="60563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102" name="Rectangle 6"/>
          <p:cNvSpPr>
            <a:spLocks noGrp="1" noChangeArrowheads="1"/>
          </p:cNvSpPr>
          <p:nvPr>
            <p:ph type="title"/>
          </p:nvPr>
        </p:nvSpPr>
        <p:spPr>
          <a:xfrm>
            <a:off x="357018" y="457200"/>
            <a:ext cx="7592093" cy="762000"/>
          </a:xfrm>
        </p:spPr>
        <p:txBody>
          <a:bodyPr/>
          <a:lstStyle/>
          <a:p>
            <a:r>
              <a:rPr lang="en-US"/>
              <a:t>Standard I/O Buffering in Action</a:t>
            </a:r>
          </a:p>
        </p:txBody>
      </p:sp>
      <p:sp>
        <p:nvSpPr>
          <p:cNvPr id="64410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56286" y="1295400"/>
            <a:ext cx="7896225" cy="4972050"/>
          </a:xfrm>
        </p:spPr>
        <p:txBody>
          <a:bodyPr/>
          <a:lstStyle/>
          <a:p>
            <a:r>
              <a:rPr lang="en-US" dirty="0"/>
              <a:t>You can see this buffering in action for yourself, using the always fascinating Unix </a:t>
            </a:r>
            <a:r>
              <a:rPr lang="en-US" dirty="0" err="1">
                <a:latin typeface="Courier New" pitchFamily="49" charset="0"/>
              </a:rPr>
              <a:t>strace</a:t>
            </a:r>
            <a:r>
              <a:rPr lang="en-US" dirty="0"/>
              <a:t> program:</a:t>
            </a:r>
          </a:p>
        </p:txBody>
      </p:sp>
      <p:sp>
        <p:nvSpPr>
          <p:cNvPr id="644099" name="Rectangle 3"/>
          <p:cNvSpPr>
            <a:spLocks noChangeArrowheads="1"/>
          </p:cNvSpPr>
          <p:nvPr/>
        </p:nvSpPr>
        <p:spPr bwMode="auto">
          <a:xfrm>
            <a:off x="3276600" y="2438400"/>
            <a:ext cx="5562600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dirty="0" err="1">
                <a:latin typeface="Courier New" pitchFamily="49" charset="0"/>
              </a:rPr>
              <a:t>strace</a:t>
            </a:r>
            <a:r>
              <a:rPr lang="en-US" sz="1600" dirty="0">
                <a:latin typeface="Courier New" pitchFamily="49" charset="0"/>
              </a:rPr>
              <a:t> ./hello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execve</a:t>
            </a:r>
            <a:r>
              <a:rPr lang="en-US" sz="1600" dirty="0">
                <a:latin typeface="Courier New" pitchFamily="49" charset="0"/>
              </a:rPr>
              <a:t>("./hello", ["hello"], [/* ... */]).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write(1, "hello\n", 6...)               = 6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_exit(0)                                = ?</a:t>
            </a: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itchFamily="49" charset="0"/>
            </a:endParaRPr>
          </a:p>
        </p:txBody>
      </p:sp>
      <p:sp>
        <p:nvSpPr>
          <p:cNvPr id="644101" name="Rectangle 5"/>
          <p:cNvSpPr>
            <a:spLocks noChangeArrowheads="1"/>
          </p:cNvSpPr>
          <p:nvPr/>
        </p:nvSpPr>
        <p:spPr bwMode="auto">
          <a:xfrm>
            <a:off x="457200" y="2432050"/>
            <a:ext cx="2590800" cy="328295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#include &lt;stdio.h&gt;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Courier New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int main()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printf("h");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printf("e");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printf("l");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printf("l");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printf("o");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printf("\n");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fflush(stdout);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exit(0);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3377110" y="4514672"/>
            <a:ext cx="5462089" cy="1015663"/>
          </a:xfrm>
          <a:prstGeom prst="rect">
            <a:avLst/>
          </a:prstGeom>
          <a:solidFill>
            <a:srgbClr val="3366FF">
              <a:alpha val="28000"/>
            </a:srgbClr>
          </a:solidFill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urier" pitchFamily="2" charset="0"/>
                <a:ea typeface="Calibri" charset="0"/>
                <a:cs typeface="Calibri" charset="0"/>
              </a:rPr>
              <a:t>strace</a:t>
            </a:r>
            <a:r>
              <a:rPr lang="en-US" sz="2000" b="0" dirty="0">
                <a:latin typeface="Calibri" charset="0"/>
                <a:ea typeface="Calibri" charset="0"/>
                <a:cs typeface="Calibri" charset="0"/>
              </a:rPr>
              <a:t>: a debugging tool in Linux. </a:t>
            </a:r>
          </a:p>
          <a:p>
            <a:r>
              <a:rPr lang="en-US" sz="2000" b="0" dirty="0">
                <a:latin typeface="Calibri" charset="0"/>
                <a:ea typeface="Calibri" charset="0"/>
                <a:cs typeface="Calibri" charset="0"/>
              </a:rPr>
              <a:t>When you start a program using </a:t>
            </a:r>
            <a:r>
              <a:rPr lang="en-US" sz="2000" dirty="0" err="1">
                <a:latin typeface="Courier" pitchFamily="2" charset="0"/>
                <a:ea typeface="Calibri" charset="0"/>
                <a:cs typeface="Calibri" charset="0"/>
              </a:rPr>
              <a:t>strace</a:t>
            </a:r>
            <a:r>
              <a:rPr lang="en-US" sz="2000" b="0" dirty="0">
                <a:latin typeface="Calibri" charset="0"/>
                <a:ea typeface="Calibri" charset="0"/>
                <a:cs typeface="Calibri" charset="0"/>
              </a:rPr>
              <a:t>, it prints a list of system calls made by the program.</a:t>
            </a:r>
          </a:p>
        </p:txBody>
      </p:sp>
    </p:spTree>
    <p:extLst>
      <p:ext uri="{BB962C8B-B14F-4D97-AF65-F5344CB8AC3E}">
        <p14:creationId xmlns:p14="http://schemas.microsoft.com/office/powerpoint/2010/main" val="114085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09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2"/>
            <a:ext cx="8077200" cy="573088"/>
          </a:xfrm>
        </p:spPr>
        <p:txBody>
          <a:bodyPr/>
          <a:lstStyle/>
          <a:p>
            <a:r>
              <a:rPr lang="en-US" dirty="0"/>
              <a:t>Fork Example #2 (Earlier Lecture)</a:t>
            </a:r>
          </a:p>
        </p:txBody>
      </p:sp>
      <p:sp>
        <p:nvSpPr>
          <p:cNvPr id="782339" name="Text Box 3"/>
          <p:cNvSpPr txBox="1">
            <a:spLocks noChangeArrowheads="1"/>
          </p:cNvSpPr>
          <p:nvPr/>
        </p:nvSpPr>
        <p:spPr bwMode="auto">
          <a:xfrm>
            <a:off x="990600" y="2509897"/>
            <a:ext cx="3023585" cy="2062103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void fork2()</a:t>
            </a:r>
          </a:p>
          <a:p>
            <a:r>
              <a:rPr lang="en-US" sz="1600" dirty="0">
                <a:latin typeface="Courier New" pitchFamily="49" charset="0"/>
              </a:rPr>
              <a:t>{</a:t>
            </a:r>
          </a:p>
          <a:p>
            <a:r>
              <a:rPr lang="en-US" sz="1600" dirty="0">
                <a:latin typeface="Courier New" pitchFamily="49" charset="0"/>
              </a:rPr>
              <a:t>    printf("L0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\n</a:t>
            </a:r>
            <a:r>
              <a:rPr lang="en-US" sz="1600" dirty="0">
                <a:latin typeface="Courier New" pitchFamily="49" charset="0"/>
              </a:rPr>
              <a:t>");</a:t>
            </a:r>
          </a:p>
          <a:p>
            <a:r>
              <a:rPr lang="en-US" sz="1600" dirty="0">
                <a:latin typeface="Courier New" pitchFamily="49" charset="0"/>
              </a:rPr>
              <a:t>    fork();</a:t>
            </a:r>
          </a:p>
          <a:p>
            <a:r>
              <a:rPr lang="en-US" sz="1600" dirty="0">
                <a:latin typeface="Courier New" pitchFamily="49" charset="0"/>
              </a:rPr>
              <a:t>    printf("L1\n");    </a:t>
            </a:r>
          </a:p>
          <a:p>
            <a:r>
              <a:rPr lang="en-US" sz="1600" dirty="0">
                <a:latin typeface="Courier New" pitchFamily="49" charset="0"/>
              </a:rPr>
              <a:t>    fork();</a:t>
            </a:r>
          </a:p>
          <a:p>
            <a:r>
              <a:rPr lang="en-US" sz="1600" dirty="0">
                <a:latin typeface="Courier New" pitchFamily="49" charset="0"/>
              </a:rPr>
              <a:t>    printf("Bye\n");</a:t>
            </a:r>
          </a:p>
          <a:p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7823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6875" y="1219200"/>
            <a:ext cx="7896225" cy="1076325"/>
          </a:xfrm>
        </p:spPr>
        <p:txBody>
          <a:bodyPr/>
          <a:lstStyle/>
          <a:p>
            <a:r>
              <a:rPr lang="en-US"/>
              <a:t>Key Points</a:t>
            </a:r>
          </a:p>
          <a:p>
            <a:pPr lvl="1"/>
            <a:r>
              <a:rPr lang="en-US"/>
              <a:t>Both parent and child can continue forking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164137" y="3916422"/>
            <a:ext cx="457200" cy="336550"/>
            <a:chOff x="3072" y="3120"/>
            <a:chExt cx="288" cy="212"/>
          </a:xfrm>
        </p:grpSpPr>
        <p:sp>
          <p:nvSpPr>
            <p:cNvPr id="782342" name="Line 6"/>
            <p:cNvSpPr>
              <a:spLocks noChangeShapeType="1"/>
            </p:cNvSpPr>
            <p:nvPr/>
          </p:nvSpPr>
          <p:spPr bwMode="auto">
            <a:xfrm>
              <a:off x="3120" y="3312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82343" name="Text Box 7"/>
            <p:cNvSpPr txBox="1">
              <a:spLocks noChangeArrowheads="1"/>
            </p:cNvSpPr>
            <p:nvPr/>
          </p:nvSpPr>
          <p:spPr bwMode="auto">
            <a:xfrm>
              <a:off x="3072" y="3120"/>
              <a:ext cx="270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itchFamily="49" charset="0"/>
                </a:rPr>
                <a:t>L0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621337" y="3230622"/>
            <a:ext cx="533400" cy="1022350"/>
            <a:chOff x="3360" y="2688"/>
            <a:chExt cx="336" cy="644"/>
          </a:xfrm>
        </p:grpSpPr>
        <p:sp>
          <p:nvSpPr>
            <p:cNvPr id="782345" name="Line 9"/>
            <p:cNvSpPr>
              <a:spLocks noChangeShapeType="1"/>
            </p:cNvSpPr>
            <p:nvPr/>
          </p:nvSpPr>
          <p:spPr bwMode="auto">
            <a:xfrm flipV="1">
              <a:off x="3360" y="288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3360" y="2688"/>
              <a:ext cx="336" cy="644"/>
              <a:chOff x="3360" y="2688"/>
              <a:chExt cx="336" cy="644"/>
            </a:xfrm>
          </p:grpSpPr>
          <p:sp>
            <p:nvSpPr>
              <p:cNvPr id="782347" name="Line 11"/>
              <p:cNvSpPr>
                <a:spLocks noChangeShapeType="1"/>
              </p:cNvSpPr>
              <p:nvPr/>
            </p:nvSpPr>
            <p:spPr bwMode="auto">
              <a:xfrm>
                <a:off x="3360" y="2880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82348" name="Text Box 12"/>
              <p:cNvSpPr txBox="1">
                <a:spLocks noChangeArrowheads="1"/>
              </p:cNvSpPr>
              <p:nvPr/>
            </p:nvSpPr>
            <p:spPr bwMode="auto">
              <a:xfrm>
                <a:off x="3360" y="3120"/>
                <a:ext cx="270" cy="21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600">
                    <a:latin typeface="Courier New" pitchFamily="49" charset="0"/>
                  </a:rPr>
                  <a:t>L1</a:t>
                </a:r>
              </a:p>
            </p:txBody>
          </p:sp>
          <p:sp>
            <p:nvSpPr>
              <p:cNvPr id="782349" name="Text Box 13"/>
              <p:cNvSpPr txBox="1">
                <a:spLocks noChangeArrowheads="1"/>
              </p:cNvSpPr>
              <p:nvPr/>
            </p:nvSpPr>
            <p:spPr bwMode="auto">
              <a:xfrm>
                <a:off x="3360" y="2688"/>
                <a:ext cx="270" cy="21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600">
                    <a:latin typeface="Courier New" pitchFamily="49" charset="0"/>
                  </a:rPr>
                  <a:t>L1</a:t>
                </a:r>
              </a:p>
            </p:txBody>
          </p:sp>
          <p:sp>
            <p:nvSpPr>
              <p:cNvPr id="782350" name="Line 14"/>
              <p:cNvSpPr>
                <a:spLocks noChangeShapeType="1"/>
              </p:cNvSpPr>
              <p:nvPr/>
            </p:nvSpPr>
            <p:spPr bwMode="auto">
              <a:xfrm>
                <a:off x="3360" y="3312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6154737" y="2925822"/>
            <a:ext cx="627063" cy="1327150"/>
            <a:chOff x="3696" y="2496"/>
            <a:chExt cx="395" cy="836"/>
          </a:xfrm>
        </p:grpSpPr>
        <p:sp>
          <p:nvSpPr>
            <p:cNvPr id="782352" name="Line 16"/>
            <p:cNvSpPr>
              <a:spLocks noChangeShapeType="1"/>
            </p:cNvSpPr>
            <p:nvPr/>
          </p:nvSpPr>
          <p:spPr bwMode="auto">
            <a:xfrm flipV="1">
              <a:off x="3696" y="312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82353" name="Line 17"/>
            <p:cNvSpPr>
              <a:spLocks noChangeShapeType="1"/>
            </p:cNvSpPr>
            <p:nvPr/>
          </p:nvSpPr>
          <p:spPr bwMode="auto">
            <a:xfrm flipV="1">
              <a:off x="3696" y="2688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82354" name="Line 18"/>
            <p:cNvSpPr>
              <a:spLocks noChangeShapeType="1"/>
            </p:cNvSpPr>
            <p:nvPr/>
          </p:nvSpPr>
          <p:spPr bwMode="auto">
            <a:xfrm>
              <a:off x="3696" y="268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82355" name="Line 19"/>
            <p:cNvSpPr>
              <a:spLocks noChangeShapeType="1"/>
            </p:cNvSpPr>
            <p:nvPr/>
          </p:nvSpPr>
          <p:spPr bwMode="auto">
            <a:xfrm>
              <a:off x="3696" y="3120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82356" name="Text Box 20"/>
            <p:cNvSpPr txBox="1">
              <a:spLocks noChangeArrowheads="1"/>
            </p:cNvSpPr>
            <p:nvPr/>
          </p:nvSpPr>
          <p:spPr bwMode="auto">
            <a:xfrm>
              <a:off x="3744" y="3120"/>
              <a:ext cx="34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itchFamily="49" charset="0"/>
                </a:rPr>
                <a:t>Bye</a:t>
              </a:r>
            </a:p>
          </p:txBody>
        </p:sp>
        <p:sp>
          <p:nvSpPr>
            <p:cNvPr id="782357" name="Text Box 21"/>
            <p:cNvSpPr txBox="1">
              <a:spLocks noChangeArrowheads="1"/>
            </p:cNvSpPr>
            <p:nvPr/>
          </p:nvSpPr>
          <p:spPr bwMode="auto">
            <a:xfrm>
              <a:off x="3744" y="2928"/>
              <a:ext cx="34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itchFamily="49" charset="0"/>
                </a:rPr>
                <a:t>Bye</a:t>
              </a:r>
            </a:p>
          </p:txBody>
        </p:sp>
        <p:sp>
          <p:nvSpPr>
            <p:cNvPr id="782358" name="Text Box 22"/>
            <p:cNvSpPr txBox="1">
              <a:spLocks noChangeArrowheads="1"/>
            </p:cNvSpPr>
            <p:nvPr/>
          </p:nvSpPr>
          <p:spPr bwMode="auto">
            <a:xfrm>
              <a:off x="3744" y="2688"/>
              <a:ext cx="34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itchFamily="49" charset="0"/>
                </a:rPr>
                <a:t>Bye</a:t>
              </a:r>
            </a:p>
          </p:txBody>
        </p:sp>
        <p:sp>
          <p:nvSpPr>
            <p:cNvPr id="782359" name="Text Box 23"/>
            <p:cNvSpPr txBox="1">
              <a:spLocks noChangeArrowheads="1"/>
            </p:cNvSpPr>
            <p:nvPr/>
          </p:nvSpPr>
          <p:spPr bwMode="auto">
            <a:xfrm>
              <a:off x="3744" y="2496"/>
              <a:ext cx="34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itchFamily="49" charset="0"/>
                </a:rPr>
                <a:t>Bye</a:t>
              </a:r>
            </a:p>
          </p:txBody>
        </p:sp>
        <p:sp>
          <p:nvSpPr>
            <p:cNvPr id="782360" name="Line 24"/>
            <p:cNvSpPr>
              <a:spLocks noChangeShapeType="1"/>
            </p:cNvSpPr>
            <p:nvPr/>
          </p:nvSpPr>
          <p:spPr bwMode="auto">
            <a:xfrm>
              <a:off x="3696" y="331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82361" name="Line 25"/>
            <p:cNvSpPr>
              <a:spLocks noChangeShapeType="1"/>
            </p:cNvSpPr>
            <p:nvPr/>
          </p:nvSpPr>
          <p:spPr bwMode="auto">
            <a:xfrm>
              <a:off x="3696" y="288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991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6553200" cy="573088"/>
          </a:xfrm>
        </p:spPr>
        <p:txBody>
          <a:bodyPr/>
          <a:lstStyle/>
          <a:p>
            <a:r>
              <a:rPr lang="en-US"/>
              <a:t>Fork Example #2 (modified)</a:t>
            </a:r>
          </a:p>
        </p:txBody>
      </p:sp>
      <p:sp>
        <p:nvSpPr>
          <p:cNvPr id="786435" name="Text Box 3"/>
          <p:cNvSpPr txBox="1">
            <a:spLocks noChangeArrowheads="1"/>
          </p:cNvSpPr>
          <p:nvPr/>
        </p:nvSpPr>
        <p:spPr bwMode="auto">
          <a:xfrm>
            <a:off x="914400" y="2509897"/>
            <a:ext cx="3023585" cy="2062103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void fork2a()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printf("L0");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fork();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printf("L1\n");   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fork();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printf("Bye\n");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7864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0399" y="1276350"/>
            <a:ext cx="7896225" cy="1238250"/>
          </a:xfrm>
        </p:spPr>
        <p:txBody>
          <a:bodyPr/>
          <a:lstStyle/>
          <a:p>
            <a:r>
              <a:rPr lang="en-US"/>
              <a:t>Removed the “\n” from the first printf</a:t>
            </a:r>
          </a:p>
          <a:p>
            <a:pPr lvl="1"/>
            <a:r>
              <a:rPr lang="en-US"/>
              <a:t>As a result, “L0” gets printed twice</a:t>
            </a:r>
          </a:p>
        </p:txBody>
      </p:sp>
      <p:sp>
        <p:nvSpPr>
          <p:cNvPr id="786441" name="Line 9"/>
          <p:cNvSpPr>
            <a:spLocks noChangeShapeType="1"/>
          </p:cNvSpPr>
          <p:nvPr/>
        </p:nvSpPr>
        <p:spPr bwMode="auto">
          <a:xfrm flipV="1">
            <a:off x="5011737" y="35496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86443" name="Line 11"/>
          <p:cNvSpPr>
            <a:spLocks noChangeShapeType="1"/>
          </p:cNvSpPr>
          <p:nvPr/>
        </p:nvSpPr>
        <p:spPr bwMode="auto">
          <a:xfrm>
            <a:off x="5011737" y="354965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86444" name="Text Box 12"/>
          <p:cNvSpPr txBox="1">
            <a:spLocks noChangeArrowheads="1"/>
          </p:cNvSpPr>
          <p:nvPr/>
        </p:nvSpPr>
        <p:spPr bwMode="auto">
          <a:xfrm>
            <a:off x="5011737" y="3930650"/>
            <a:ext cx="6731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L0L1</a:t>
            </a:r>
          </a:p>
        </p:txBody>
      </p:sp>
      <p:sp>
        <p:nvSpPr>
          <p:cNvPr id="786445" name="Text Box 13"/>
          <p:cNvSpPr txBox="1">
            <a:spLocks noChangeArrowheads="1"/>
          </p:cNvSpPr>
          <p:nvPr/>
        </p:nvSpPr>
        <p:spPr bwMode="auto">
          <a:xfrm>
            <a:off x="5011737" y="3244850"/>
            <a:ext cx="8255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L0L1</a:t>
            </a:r>
          </a:p>
        </p:txBody>
      </p:sp>
      <p:sp>
        <p:nvSpPr>
          <p:cNvPr id="786446" name="Line 14"/>
          <p:cNvSpPr>
            <a:spLocks noChangeShapeType="1"/>
          </p:cNvSpPr>
          <p:nvPr/>
        </p:nvSpPr>
        <p:spPr bwMode="auto">
          <a:xfrm>
            <a:off x="5011737" y="423545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5773737" y="2940050"/>
            <a:ext cx="627063" cy="1327150"/>
            <a:chOff x="3696" y="2496"/>
            <a:chExt cx="395" cy="836"/>
          </a:xfrm>
        </p:grpSpPr>
        <p:sp>
          <p:nvSpPr>
            <p:cNvPr id="786448" name="Line 16"/>
            <p:cNvSpPr>
              <a:spLocks noChangeShapeType="1"/>
            </p:cNvSpPr>
            <p:nvPr/>
          </p:nvSpPr>
          <p:spPr bwMode="auto">
            <a:xfrm flipV="1">
              <a:off x="3696" y="312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86449" name="Line 17"/>
            <p:cNvSpPr>
              <a:spLocks noChangeShapeType="1"/>
            </p:cNvSpPr>
            <p:nvPr/>
          </p:nvSpPr>
          <p:spPr bwMode="auto">
            <a:xfrm flipV="1">
              <a:off x="3696" y="2688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86450" name="Line 18"/>
            <p:cNvSpPr>
              <a:spLocks noChangeShapeType="1"/>
            </p:cNvSpPr>
            <p:nvPr/>
          </p:nvSpPr>
          <p:spPr bwMode="auto">
            <a:xfrm>
              <a:off x="3696" y="268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86451" name="Line 19"/>
            <p:cNvSpPr>
              <a:spLocks noChangeShapeType="1"/>
            </p:cNvSpPr>
            <p:nvPr/>
          </p:nvSpPr>
          <p:spPr bwMode="auto">
            <a:xfrm>
              <a:off x="3696" y="3120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86452" name="Text Box 20"/>
            <p:cNvSpPr txBox="1">
              <a:spLocks noChangeArrowheads="1"/>
            </p:cNvSpPr>
            <p:nvPr/>
          </p:nvSpPr>
          <p:spPr bwMode="auto">
            <a:xfrm>
              <a:off x="3744" y="3120"/>
              <a:ext cx="34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itchFamily="49" charset="0"/>
                </a:rPr>
                <a:t>Bye</a:t>
              </a:r>
            </a:p>
          </p:txBody>
        </p:sp>
        <p:sp>
          <p:nvSpPr>
            <p:cNvPr id="786453" name="Text Box 21"/>
            <p:cNvSpPr txBox="1">
              <a:spLocks noChangeArrowheads="1"/>
            </p:cNvSpPr>
            <p:nvPr/>
          </p:nvSpPr>
          <p:spPr bwMode="auto">
            <a:xfrm>
              <a:off x="3744" y="2928"/>
              <a:ext cx="34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itchFamily="49" charset="0"/>
                </a:rPr>
                <a:t>Bye</a:t>
              </a:r>
            </a:p>
          </p:txBody>
        </p:sp>
        <p:sp>
          <p:nvSpPr>
            <p:cNvPr id="786454" name="Text Box 22"/>
            <p:cNvSpPr txBox="1">
              <a:spLocks noChangeArrowheads="1"/>
            </p:cNvSpPr>
            <p:nvPr/>
          </p:nvSpPr>
          <p:spPr bwMode="auto">
            <a:xfrm>
              <a:off x="3744" y="2688"/>
              <a:ext cx="34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itchFamily="49" charset="0"/>
                </a:rPr>
                <a:t>Bye</a:t>
              </a:r>
            </a:p>
          </p:txBody>
        </p:sp>
        <p:sp>
          <p:nvSpPr>
            <p:cNvPr id="786455" name="Text Box 23"/>
            <p:cNvSpPr txBox="1">
              <a:spLocks noChangeArrowheads="1"/>
            </p:cNvSpPr>
            <p:nvPr/>
          </p:nvSpPr>
          <p:spPr bwMode="auto">
            <a:xfrm>
              <a:off x="3744" y="2496"/>
              <a:ext cx="34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>
                  <a:latin typeface="Courier New" pitchFamily="49" charset="0"/>
                </a:rPr>
                <a:t>Bye</a:t>
              </a:r>
            </a:p>
          </p:txBody>
        </p:sp>
        <p:sp>
          <p:nvSpPr>
            <p:cNvPr id="786456" name="Line 24"/>
            <p:cNvSpPr>
              <a:spLocks noChangeShapeType="1"/>
            </p:cNvSpPr>
            <p:nvPr/>
          </p:nvSpPr>
          <p:spPr bwMode="auto">
            <a:xfrm>
              <a:off x="3696" y="331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86457" name="Line 25"/>
            <p:cNvSpPr>
              <a:spLocks noChangeShapeType="1"/>
            </p:cNvSpPr>
            <p:nvPr/>
          </p:nvSpPr>
          <p:spPr bwMode="auto">
            <a:xfrm>
              <a:off x="3696" y="288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526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41" grpId="0" animBg="1"/>
      <p:bldP spid="786443" grpId="0" animBg="1"/>
      <p:bldP spid="786444" grpId="0"/>
      <p:bldP spid="786445" grpId="0"/>
      <p:bldP spid="78644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6496050" cy="573087"/>
          </a:xfrm>
        </p:spPr>
        <p:txBody>
          <a:bodyPr/>
          <a:lstStyle/>
          <a:p>
            <a:r>
              <a:rPr lang="en-US" dirty="0"/>
              <a:t>Repeated Slide: Reading Files</a:t>
            </a:r>
          </a:p>
        </p:txBody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3" y="1219200"/>
            <a:ext cx="8307387" cy="52578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/>
              <a:t>Reading a file copies bytes from the current file position to memory, and then updates file position</a:t>
            </a:r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r>
              <a:rPr lang="en-US" dirty="0"/>
              <a:t>Returns number of bytes read from file </a:t>
            </a:r>
            <a:r>
              <a:rPr lang="en-US" dirty="0" err="1">
                <a:latin typeface="Courier New" pitchFamily="49" charset="0"/>
              </a:rPr>
              <a:t>fd</a:t>
            </a:r>
            <a:r>
              <a:rPr lang="en-US" dirty="0"/>
              <a:t> into </a:t>
            </a:r>
            <a:r>
              <a:rPr lang="en-US" dirty="0" err="1">
                <a:latin typeface="Courier New" pitchFamily="49" charset="0"/>
              </a:rPr>
              <a:t>buf</a:t>
            </a:r>
            <a:endParaRPr lang="en-US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dirty="0"/>
              <a:t>Return type </a:t>
            </a:r>
            <a:r>
              <a:rPr lang="en-US" b="1" dirty="0" err="1">
                <a:latin typeface="Courier New" pitchFamily="49" charset="0"/>
              </a:rPr>
              <a:t>ssize_t</a:t>
            </a:r>
            <a:r>
              <a:rPr lang="en-US" dirty="0"/>
              <a:t> is signed integer</a:t>
            </a:r>
            <a:endParaRPr lang="en-US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b="1" dirty="0" err="1">
                <a:latin typeface="Courier New" pitchFamily="49" charset="0"/>
              </a:rPr>
              <a:t>nbytes</a:t>
            </a:r>
            <a:r>
              <a:rPr lang="en-US" b="1" dirty="0">
                <a:latin typeface="Courier New" pitchFamily="49" charset="0"/>
              </a:rPr>
              <a:t> &lt; 0</a:t>
            </a:r>
            <a:r>
              <a:rPr lang="en-US" b="1" dirty="0"/>
              <a:t> </a:t>
            </a:r>
            <a:r>
              <a:rPr lang="en-US" dirty="0"/>
              <a:t>indicates that an error occurred</a:t>
            </a:r>
          </a:p>
          <a:p>
            <a:pPr lvl="1">
              <a:lnSpc>
                <a:spcPct val="90000"/>
              </a:lnSpc>
            </a:pPr>
            <a:r>
              <a:rPr lang="en-US" b="1" i="1" dirty="0">
                <a:solidFill>
                  <a:srgbClr val="C00000"/>
                </a:solidFill>
              </a:rPr>
              <a:t>short counts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 err="1">
                <a:latin typeface="Courier New" pitchFamily="49" charset="0"/>
              </a:rPr>
              <a:t>nbytes</a:t>
            </a:r>
            <a:r>
              <a:rPr lang="en-US" b="1" dirty="0">
                <a:latin typeface="Courier New" pitchFamily="49" charset="0"/>
              </a:rPr>
              <a:t> &lt; </a:t>
            </a:r>
            <a:r>
              <a:rPr lang="en-US" b="1" dirty="0" err="1">
                <a:latin typeface="Courier New" pitchFamily="49" charset="0"/>
              </a:rPr>
              <a:t>sizeof</a:t>
            </a:r>
            <a:r>
              <a:rPr lang="en-US" b="1" dirty="0">
                <a:latin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</a:rPr>
              <a:t>buf</a:t>
            </a:r>
            <a:r>
              <a:rPr lang="en-US" b="1" dirty="0">
                <a:latin typeface="Courier New" pitchFamily="49" charset="0"/>
              </a:rPr>
              <a:t>)</a:t>
            </a:r>
            <a:r>
              <a:rPr lang="en-US" b="1" dirty="0"/>
              <a:t> </a:t>
            </a:r>
            <a:r>
              <a:rPr lang="en-US" dirty="0"/>
              <a:t>) are possible and are not errors!</a:t>
            </a:r>
          </a:p>
        </p:txBody>
      </p:sp>
      <p:sp>
        <p:nvSpPr>
          <p:cNvPr id="634884" name="Text Box 4"/>
          <p:cNvSpPr txBox="1">
            <a:spLocks noChangeArrowheads="1"/>
          </p:cNvSpPr>
          <p:nvPr/>
        </p:nvSpPr>
        <p:spPr bwMode="auto">
          <a:xfrm>
            <a:off x="834424" y="2085975"/>
            <a:ext cx="6076950" cy="25622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char buf[512];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 fd;      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file descriptor */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 nbytes;  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number of bytes read */</a:t>
            </a:r>
          </a:p>
          <a:p>
            <a:pPr>
              <a:lnSpc>
                <a:spcPct val="100000"/>
              </a:lnSpc>
            </a:pPr>
            <a:endParaRPr lang="en-US" sz="1600" dirty="0" err="1">
              <a:latin typeface="Courier New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Open file fd ...  */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Then read up to 512 bytes from file fd */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if ((nbytes = read(fd, buf, sizeof(buf))) &lt; 0) {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   perror("read");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   exit(1);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67397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2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592093" cy="762000"/>
          </a:xfrm>
        </p:spPr>
        <p:txBody>
          <a:bodyPr/>
          <a:lstStyle/>
          <a:p>
            <a:r>
              <a:rPr lang="en-US"/>
              <a:t>Dealing with Short Counts</a:t>
            </a:r>
          </a:p>
        </p:txBody>
      </p:sp>
      <p:sp>
        <p:nvSpPr>
          <p:cNvPr id="6369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8637" y="1295400"/>
            <a:ext cx="7896225" cy="4972050"/>
          </a:xfrm>
        </p:spPr>
        <p:txBody>
          <a:bodyPr/>
          <a:lstStyle/>
          <a:p>
            <a:r>
              <a:rPr lang="en-US" dirty="0"/>
              <a:t>Short counts can occur in these situations:</a:t>
            </a:r>
          </a:p>
          <a:p>
            <a:pPr lvl="1"/>
            <a:r>
              <a:rPr lang="en-US" dirty="0"/>
              <a:t>Encountering (end-of-file) EOF on reads</a:t>
            </a:r>
          </a:p>
          <a:p>
            <a:pPr lvl="1"/>
            <a:r>
              <a:rPr lang="en-US" dirty="0"/>
              <a:t>Reading text lines from a terminal</a:t>
            </a:r>
          </a:p>
          <a:p>
            <a:pPr lvl="1"/>
            <a:r>
              <a:rPr lang="en-US" dirty="0"/>
              <a:t>Reading and writing network sockets or Unix pipes</a:t>
            </a:r>
          </a:p>
          <a:p>
            <a:endParaRPr lang="en-US" dirty="0"/>
          </a:p>
          <a:p>
            <a:r>
              <a:rPr lang="en-US" dirty="0"/>
              <a:t>Short counts never occur in these situations:</a:t>
            </a:r>
          </a:p>
          <a:p>
            <a:pPr lvl="1"/>
            <a:r>
              <a:rPr lang="en-US" dirty="0"/>
              <a:t>Reading from disk files (except for EOF)</a:t>
            </a:r>
          </a:p>
          <a:p>
            <a:pPr lvl="1"/>
            <a:r>
              <a:rPr lang="en-US" dirty="0"/>
              <a:t>Writing to disk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1824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435678"/>
            <a:ext cx="7592093" cy="762000"/>
          </a:xfrm>
        </p:spPr>
        <p:txBody>
          <a:bodyPr/>
          <a:lstStyle/>
          <a:p>
            <a:r>
              <a:rPr lang="en-US"/>
              <a:t>For Further Information</a:t>
            </a:r>
          </a:p>
        </p:txBody>
      </p:sp>
      <p:sp>
        <p:nvSpPr>
          <p:cNvPr id="6502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6875" y="1143000"/>
            <a:ext cx="7896225" cy="4972050"/>
          </a:xfrm>
        </p:spPr>
        <p:txBody>
          <a:bodyPr/>
          <a:lstStyle/>
          <a:p>
            <a:r>
              <a:rPr lang="en-US" dirty="0"/>
              <a:t>The Unix bible:</a:t>
            </a:r>
          </a:p>
          <a:p>
            <a:pPr lvl="1"/>
            <a:r>
              <a:rPr lang="en-US" dirty="0"/>
              <a:t>W. Richard  Stevens &amp; Stephen A. </a:t>
            </a:r>
            <a:r>
              <a:rPr lang="en-US" dirty="0" err="1"/>
              <a:t>Rago</a:t>
            </a:r>
            <a:r>
              <a:rPr lang="en-US" dirty="0"/>
              <a:t>, </a:t>
            </a:r>
            <a:r>
              <a:rPr lang="en-US" b="1" i="1" dirty="0"/>
              <a:t>Advanced Programming in the Unix Environment</a:t>
            </a:r>
            <a:r>
              <a:rPr lang="en-US" dirty="0"/>
              <a:t>, 2</a:t>
            </a:r>
            <a:r>
              <a:rPr lang="en-US" baseline="30000" dirty="0"/>
              <a:t>nd</a:t>
            </a:r>
            <a:r>
              <a:rPr lang="en-US" dirty="0"/>
              <a:t> Edition, Addison Wesley, 2005</a:t>
            </a:r>
          </a:p>
          <a:p>
            <a:pPr lvl="2"/>
            <a:r>
              <a:rPr lang="en-US" dirty="0"/>
              <a:t>Updated from Stevens’ 1993 book</a:t>
            </a:r>
          </a:p>
          <a:p>
            <a:endParaRPr lang="en-US" dirty="0"/>
          </a:p>
          <a:p>
            <a:r>
              <a:rPr lang="en-US" dirty="0"/>
              <a:t>Stevens is arguably the best technical writer ever.</a:t>
            </a:r>
          </a:p>
          <a:p>
            <a:pPr lvl="1"/>
            <a:r>
              <a:rPr lang="en-US" dirty="0"/>
              <a:t>Produced authoritative works in:</a:t>
            </a:r>
          </a:p>
          <a:p>
            <a:pPr lvl="2"/>
            <a:r>
              <a:rPr lang="en-US" dirty="0"/>
              <a:t>Unix programming</a:t>
            </a:r>
          </a:p>
          <a:p>
            <a:pPr lvl="2"/>
            <a:r>
              <a:rPr lang="en-US" dirty="0"/>
              <a:t>TCP/IP (the protocol that makes the Internet work)</a:t>
            </a:r>
          </a:p>
          <a:p>
            <a:pPr lvl="2"/>
            <a:r>
              <a:rPr lang="en-US" dirty="0"/>
              <a:t>Unix network programming</a:t>
            </a:r>
          </a:p>
          <a:p>
            <a:pPr lvl="2"/>
            <a:r>
              <a:rPr lang="en-US" dirty="0"/>
              <a:t>Unix IPC programming</a:t>
            </a:r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85800" y="5638800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charset="0"/>
                <a:ea typeface="Calibri" charset="0"/>
                <a:cs typeface="Calibri" charset="0"/>
                <a:hlinkClick r:id="rId3"/>
              </a:rPr>
              <a:t>https://</a:t>
            </a:r>
            <a:r>
              <a:rPr lang="en-US" sz="1800" dirty="0" err="1">
                <a:latin typeface="Calibri" charset="0"/>
                <a:ea typeface="Calibri" charset="0"/>
                <a:cs typeface="Calibri" charset="0"/>
                <a:hlinkClick r:id="rId3"/>
              </a:rPr>
              <a:t>github.com</a:t>
            </a:r>
            <a:r>
              <a:rPr lang="en-US" sz="1800" dirty="0">
                <a:latin typeface="Calibri" charset="0"/>
                <a:ea typeface="Calibri" charset="0"/>
                <a:cs typeface="Calibri" charset="0"/>
                <a:hlinkClick r:id="rId3"/>
              </a:rPr>
              <a:t>/</a:t>
            </a:r>
            <a:r>
              <a:rPr lang="en-US" sz="1800" dirty="0" err="1">
                <a:latin typeface="Calibri" charset="0"/>
                <a:ea typeface="Calibri" charset="0"/>
                <a:cs typeface="Calibri" charset="0"/>
                <a:hlinkClick r:id="rId3"/>
              </a:rPr>
              <a:t>shihyu</a:t>
            </a:r>
            <a:r>
              <a:rPr lang="en-US" sz="1800" dirty="0">
                <a:latin typeface="Calibri" charset="0"/>
                <a:ea typeface="Calibri" charset="0"/>
                <a:cs typeface="Calibri" charset="0"/>
                <a:hlinkClick r:id="rId3"/>
              </a:rPr>
              <a:t>/</a:t>
            </a:r>
            <a:r>
              <a:rPr lang="en-US" sz="1800" dirty="0" err="1">
                <a:latin typeface="Calibri" charset="0"/>
                <a:ea typeface="Calibri" charset="0"/>
                <a:cs typeface="Calibri" charset="0"/>
                <a:hlinkClick r:id="rId3"/>
              </a:rPr>
              <a:t>Linux_Programming</a:t>
            </a:r>
            <a:r>
              <a:rPr lang="en-US" sz="1800" dirty="0">
                <a:latin typeface="Calibri" charset="0"/>
                <a:ea typeface="Calibri" charset="0"/>
                <a:cs typeface="Calibri" charset="0"/>
                <a:hlinkClick r:id="rId3"/>
              </a:rPr>
              <a:t>/tree/master/books</a:t>
            </a:r>
            <a:endParaRPr lang="en-US" sz="18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508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6FC88-A5E8-FD43-93A8-C13CAAE5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CS:APP Book code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74F75-77D9-FE4C-858A-647CFB2EE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0" dirty="0"/>
              <a:t>Computer Systems: A Programmer's Perspective book (used in CENG331) has a nice source code and examples.</a:t>
            </a:r>
          </a:p>
          <a:p>
            <a:r>
              <a:rPr lang="en-US" b="0" dirty="0"/>
              <a:t>I highly suggest that you download and play with the code examples in the link provided below. </a:t>
            </a:r>
          </a:p>
          <a:p>
            <a:r>
              <a:rPr lang="en-US" b="0" dirty="0"/>
              <a:t>In particular, they have written Wrappers for most system calls that makes it easy to understand the concept without getting bogged down in error checking!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CEC1F-0B35-C448-9596-3AFB86B4D6D3}"/>
              </a:ext>
            </a:extLst>
          </p:cNvPr>
          <p:cNvSpPr txBox="1"/>
          <p:nvPr/>
        </p:nvSpPr>
        <p:spPr>
          <a:xfrm>
            <a:off x="914400" y="4876800"/>
            <a:ext cx="6156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http://csapp.cs.cmu.edu/3e/code.html</a:t>
            </a:r>
            <a:r>
              <a:rPr lang="en-US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62243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slides are provided as extra and is not part of the course coverage.  </a:t>
            </a:r>
          </a:p>
          <a:p>
            <a:r>
              <a:rPr lang="en-US" dirty="0"/>
              <a:t>Enjoy!</a:t>
            </a:r>
          </a:p>
        </p:txBody>
      </p:sp>
    </p:spTree>
    <p:extLst>
      <p:ext uri="{BB962C8B-B14F-4D97-AF65-F5344CB8AC3E}">
        <p14:creationId xmlns:p14="http://schemas.microsoft.com/office/powerpoint/2010/main" val="1613903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0088" y="387578"/>
            <a:ext cx="7620912" cy="573088"/>
          </a:xfrm>
        </p:spPr>
        <p:txBody>
          <a:bodyPr/>
          <a:lstStyle/>
          <a:p>
            <a:r>
              <a:rPr lang="en-US" dirty="0"/>
              <a:t>System Call Error Handling</a:t>
            </a:r>
          </a:p>
        </p:txBody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04899"/>
            <a:ext cx="8294687" cy="2647771"/>
          </a:xfrm>
        </p:spPr>
        <p:txBody>
          <a:bodyPr/>
          <a:lstStyle/>
          <a:p>
            <a:r>
              <a:rPr lang="en-US" dirty="0"/>
              <a:t>On error, Linux system-level functions typically return -1 and set global variable </a:t>
            </a:r>
            <a:r>
              <a:rPr lang="en-US" dirty="0" err="1">
                <a:latin typeface="Courier New"/>
                <a:cs typeface="Courier New"/>
              </a:rPr>
              <a:t>errno</a:t>
            </a:r>
            <a:r>
              <a:rPr lang="en-US" dirty="0"/>
              <a:t> to indicate cause. </a:t>
            </a:r>
          </a:p>
          <a:p>
            <a:r>
              <a:rPr lang="en-US" dirty="0"/>
              <a:t>Hard and fast rule: </a:t>
            </a:r>
          </a:p>
          <a:p>
            <a:pPr lvl="1"/>
            <a:r>
              <a:rPr lang="en-US" dirty="0"/>
              <a:t>You must check the return status of every system-level function</a:t>
            </a:r>
          </a:p>
          <a:p>
            <a:pPr lvl="1"/>
            <a:r>
              <a:rPr lang="en-US" dirty="0"/>
              <a:t>Only exception is the handful of functions that return </a:t>
            </a:r>
            <a:r>
              <a:rPr lang="en-US" b="1" dirty="0">
                <a:latin typeface="Courier New"/>
                <a:cs typeface="Courier New"/>
              </a:rPr>
              <a:t>void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228600" y="3810000"/>
            <a:ext cx="8634508" cy="1200329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nb-NO" sz="18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nb-NO" sz="18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= fork()) &lt; 0) {</a:t>
            </a:r>
          </a:p>
          <a:p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nb-NO" sz="1800" dirty="0" err="1">
                <a:solidFill>
                  <a:srgbClr val="000000"/>
                </a:solidFill>
                <a:latin typeface="Courier New"/>
                <a:cs typeface="Courier New"/>
              </a:rPr>
              <a:t>fprintf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nb-NO" sz="1800" dirty="0" err="1">
                <a:solidFill>
                  <a:srgbClr val="000000"/>
                </a:solidFill>
                <a:latin typeface="Courier New"/>
                <a:cs typeface="Courier New"/>
              </a:rPr>
              <a:t>stderr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nb-NO" sz="1800" dirty="0">
                <a:solidFill>
                  <a:srgbClr val="9D206F"/>
                </a:solidFill>
                <a:latin typeface="Courier New"/>
                <a:cs typeface="Courier New"/>
              </a:rPr>
              <a:t>"fork </a:t>
            </a:r>
            <a:r>
              <a:rPr lang="nb-NO" sz="1800" dirty="0" err="1">
                <a:solidFill>
                  <a:srgbClr val="9D206F"/>
                </a:solidFill>
                <a:latin typeface="Courier New"/>
                <a:cs typeface="Courier New"/>
              </a:rPr>
              <a:t>error</a:t>
            </a:r>
            <a:r>
              <a:rPr lang="nb-NO" sz="1800" dirty="0">
                <a:solidFill>
                  <a:srgbClr val="9D206F"/>
                </a:solidFill>
                <a:latin typeface="Courier New"/>
                <a:cs typeface="Courier New"/>
              </a:rPr>
              <a:t>: %s\n"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nb-NO" sz="1800" dirty="0" err="1">
                <a:solidFill>
                  <a:srgbClr val="000000"/>
                </a:solidFill>
                <a:latin typeface="Courier New"/>
                <a:cs typeface="Courier New"/>
              </a:rPr>
              <a:t>strerror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nb-NO" sz="1800" dirty="0" err="1">
                <a:solidFill>
                  <a:srgbClr val="000000"/>
                </a:solidFill>
                <a:latin typeface="Courier New"/>
                <a:cs typeface="Courier New"/>
              </a:rPr>
              <a:t>errno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       exit(-1);</a:t>
            </a:r>
          </a:p>
          <a:p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  <a:endParaRPr lang="en-US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066660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Error-reporting functions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466725"/>
          </a:xfrm>
        </p:spPr>
        <p:txBody>
          <a:bodyPr/>
          <a:lstStyle/>
          <a:p>
            <a:r>
              <a:rPr lang="en-US" dirty="0"/>
              <a:t>Can simplify somewhat using an </a:t>
            </a:r>
            <a:r>
              <a:rPr lang="en-US" i="1" dirty="0"/>
              <a:t>error-reporting function</a:t>
            </a:r>
            <a:r>
              <a:rPr lang="en-US" dirty="0"/>
              <a:t>: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33209" y="1981200"/>
            <a:ext cx="7664854" cy="1477328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800" dirty="0" err="1">
                <a:solidFill>
                  <a:srgbClr val="4A00FF"/>
                </a:solidFill>
                <a:latin typeface="Courier New"/>
                <a:cs typeface="Courier New"/>
              </a:rPr>
              <a:t>unix_error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8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800" dirty="0" err="1">
                <a:solidFill>
                  <a:srgbClr val="C1651C"/>
                </a:solidFill>
                <a:latin typeface="Courier New"/>
                <a:cs typeface="Courier New"/>
              </a:rPr>
              <a:t>msg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) </a:t>
            </a:r>
            <a:r>
              <a:rPr lang="en-US" sz="1800" dirty="0">
                <a:solidFill>
                  <a:srgbClr val="CB2418"/>
                </a:solidFill>
                <a:latin typeface="Courier New"/>
                <a:cs typeface="Courier New"/>
              </a:rPr>
              <a:t>/* Unix-style error */</a:t>
            </a:r>
            <a:endParaRPr lang="en-US" sz="18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urier New"/>
                <a:cs typeface="Courier New"/>
              </a:rPr>
              <a:t>fprintf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urier New"/>
                <a:cs typeface="Courier New"/>
              </a:rPr>
              <a:t>stderr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800" dirty="0">
                <a:solidFill>
                  <a:srgbClr val="9D206F"/>
                </a:solidFill>
                <a:latin typeface="Courier New"/>
                <a:cs typeface="Courier New"/>
              </a:rPr>
              <a:t>"%s: %s\n"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urier New"/>
                <a:cs typeface="Courier New"/>
              </a:rPr>
              <a:t>msg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urier New"/>
                <a:cs typeface="Courier New"/>
              </a:rPr>
              <a:t>strerror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urier New"/>
                <a:cs typeface="Courier New"/>
              </a:rPr>
              <a:t>errno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exit(-1);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74116" y="4230469"/>
            <a:ext cx="4256209" cy="646331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nb-NO" sz="18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nb-NO" sz="18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= fork()) &lt; 0)</a:t>
            </a:r>
          </a:p>
          <a:p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nb-NO" sz="1800" dirty="0" err="1">
                <a:solidFill>
                  <a:srgbClr val="000000"/>
                </a:solidFill>
                <a:latin typeface="Courier New"/>
                <a:cs typeface="Courier New"/>
              </a:rPr>
              <a:t>unix_error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nb-NO" sz="1800" dirty="0">
                <a:solidFill>
                  <a:srgbClr val="9D206F"/>
                </a:solidFill>
                <a:latin typeface="Courier New"/>
                <a:cs typeface="Courier New"/>
              </a:rPr>
              <a:t>"fork </a:t>
            </a:r>
            <a:r>
              <a:rPr lang="nb-NO" sz="1800" dirty="0" err="1">
                <a:solidFill>
                  <a:srgbClr val="9D206F"/>
                </a:solidFill>
                <a:latin typeface="Courier New"/>
                <a:cs typeface="Courier New"/>
              </a:rPr>
              <a:t>error</a:t>
            </a:r>
            <a:r>
              <a:rPr lang="nb-NO" sz="1800" dirty="0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981200" y="3200400"/>
            <a:ext cx="7010400" cy="1359932"/>
            <a:chOff x="1447800" y="3048000"/>
            <a:chExt cx="7010400" cy="1359932"/>
          </a:xfrm>
        </p:grpSpPr>
        <p:sp>
          <p:nvSpPr>
            <p:cNvPr id="7" name="TextBox 6"/>
            <p:cNvSpPr txBox="1"/>
            <p:nvPr/>
          </p:nvSpPr>
          <p:spPr>
            <a:xfrm>
              <a:off x="5410200" y="4038600"/>
              <a:ext cx="3048000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Note: </a:t>
              </a:r>
              <a:r>
                <a:rPr lang="en-US" sz="1800" dirty="0" err="1">
                  <a:latin typeface="Calibri" pitchFamily="34" charset="0"/>
                </a:rPr>
                <a:t>csapp.c</a:t>
              </a:r>
              <a:r>
                <a:rPr lang="en-US" sz="1800" dirty="0">
                  <a:latin typeface="Calibri" pitchFamily="34" charset="0"/>
                </a:rPr>
                <a:t> exits with 0.</a:t>
              </a:r>
            </a:p>
          </p:txBody>
        </p:sp>
        <p:cxnSp>
          <p:nvCxnSpPr>
            <p:cNvPr id="9" name="Straight Arrow Connector 8"/>
            <p:cNvCxnSpPr>
              <a:stCxn id="7" idx="1"/>
            </p:cNvCxnSpPr>
            <p:nvPr/>
          </p:nvCxnSpPr>
          <p:spPr bwMode="auto">
            <a:xfrm flipH="1" flipV="1">
              <a:off x="1447800" y="3048000"/>
              <a:ext cx="3962400" cy="1175266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81790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Error-handling Wrappers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847725"/>
          </a:xfrm>
        </p:spPr>
        <p:txBody>
          <a:bodyPr/>
          <a:lstStyle/>
          <a:p>
            <a:r>
              <a:rPr lang="en-US" dirty="0"/>
              <a:t>We simplify the code we present to you even further by using Stevens-style error-handling wrappers: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 what you generally want to do in a real application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33209" y="2408872"/>
            <a:ext cx="4770769" cy="2308324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2D961E"/>
                </a:solidFill>
                <a:latin typeface="Courier New"/>
                <a:cs typeface="Courier New"/>
              </a:rPr>
              <a:t>pid_t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Courier New"/>
                <a:cs typeface="Courier New"/>
              </a:rPr>
              <a:t>Fork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8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fi-FI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800" dirty="0" err="1">
                <a:solidFill>
                  <a:srgbClr val="2D961E"/>
                </a:solidFill>
                <a:latin typeface="Courier New"/>
                <a:cs typeface="Courier New"/>
              </a:rPr>
              <a:t>pid_t</a:t>
            </a:r>
            <a:r>
              <a:rPr lang="fi-FI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800" dirty="0" err="1">
                <a:solidFill>
                  <a:srgbClr val="C1651C"/>
                </a:solidFill>
                <a:latin typeface="Courier New"/>
                <a:cs typeface="Courier New"/>
              </a:rPr>
              <a:t>pid</a:t>
            </a:r>
            <a:r>
              <a:rPr lang="fi-FI" sz="18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fi-FI" sz="18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nb-NO" sz="18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nb-NO" sz="18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= fork()) &lt; 0)</a:t>
            </a:r>
          </a:p>
          <a:p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nb-NO" sz="1800" dirty="0" err="1">
                <a:solidFill>
                  <a:srgbClr val="000000"/>
                </a:solidFill>
                <a:latin typeface="Courier New"/>
                <a:cs typeface="Courier New"/>
              </a:rPr>
              <a:t>unix_error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nb-NO" sz="1800" dirty="0">
                <a:solidFill>
                  <a:srgbClr val="9D206F"/>
                </a:solidFill>
                <a:latin typeface="Courier New"/>
                <a:cs typeface="Courier New"/>
              </a:rPr>
              <a:t>"Fork </a:t>
            </a:r>
            <a:r>
              <a:rPr lang="nb-NO" sz="1800" dirty="0" err="1">
                <a:solidFill>
                  <a:srgbClr val="9D206F"/>
                </a:solidFill>
                <a:latin typeface="Courier New"/>
                <a:cs typeface="Courier New"/>
              </a:rPr>
              <a:t>error</a:t>
            </a:r>
            <a:r>
              <a:rPr lang="nb-NO" sz="1800" dirty="0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nb-NO" sz="1800" dirty="0" err="1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nb-NO" sz="18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74116" y="5221069"/>
            <a:ext cx="2316900" cy="369332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nb-NO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8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fi-FI" sz="18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fi-FI" sz="1800" dirty="0" err="1">
                <a:solidFill>
                  <a:srgbClr val="000000"/>
                </a:solidFill>
                <a:latin typeface="Courier New"/>
                <a:cs typeface="Courier New"/>
              </a:rPr>
              <a:t>Fork</a:t>
            </a:r>
            <a:r>
              <a:rPr lang="fi-FI" sz="1800" dirty="0">
                <a:solidFill>
                  <a:srgbClr val="000000"/>
                </a:solidFill>
                <a:latin typeface="Courier New"/>
                <a:cs typeface="Courier New"/>
              </a:rPr>
              <a:t>();</a:t>
            </a:r>
            <a:endParaRPr lang="en-US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774824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11905</TotalTime>
  <Words>3304</Words>
  <Application>Microsoft Macintosh PowerPoint</Application>
  <PresentationFormat>On-screen Show (4:3)</PresentationFormat>
  <Paragraphs>489</Paragraphs>
  <Slides>41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MS Gothic</vt:lpstr>
      <vt:lpstr>Arial</vt:lpstr>
      <vt:lpstr>Arial Narrow</vt:lpstr>
      <vt:lpstr>Calibri</vt:lpstr>
      <vt:lpstr>Courier</vt:lpstr>
      <vt:lpstr>Courier New</vt:lpstr>
      <vt:lpstr>Times New Roman</vt:lpstr>
      <vt:lpstr>Wingdings</vt:lpstr>
      <vt:lpstr>Wingdings 2</vt:lpstr>
      <vt:lpstr>template2007</vt:lpstr>
      <vt:lpstr>File Abstraction</vt:lpstr>
      <vt:lpstr>UNIX File Abstraction</vt:lpstr>
      <vt:lpstr>Unix I/O and C Standard I/O</vt:lpstr>
      <vt:lpstr>Unix I/O Overview</vt:lpstr>
      <vt:lpstr>Unix I/O Overview</vt:lpstr>
      <vt:lpstr>Opening Files</vt:lpstr>
      <vt:lpstr>stdin, stdout, stderr</vt:lpstr>
      <vt:lpstr>Standard I/O Streams</vt:lpstr>
      <vt:lpstr>How the Unix Kernel Represents Open Files</vt:lpstr>
      <vt:lpstr>How the Unix Kernel Represents Open Files</vt:lpstr>
      <vt:lpstr>How the Unix Kernel Represents Open Files</vt:lpstr>
      <vt:lpstr>How the Unix Kernel Represents Open Files</vt:lpstr>
      <vt:lpstr>How the Unix Kernel Represents Open Files</vt:lpstr>
      <vt:lpstr>How the Unix Kernel Represents Open Files</vt:lpstr>
      <vt:lpstr>Shell redirection</vt:lpstr>
      <vt:lpstr>Shell redirection: Initial state</vt:lpstr>
      <vt:lpstr>Shell redirection: Desired state</vt:lpstr>
      <vt:lpstr>Before dup()</vt:lpstr>
      <vt:lpstr>After dup()</vt:lpstr>
      <vt:lpstr>Shell redirection – after opening FileA</vt:lpstr>
      <vt:lpstr>Shell redirection – after dup2()</vt:lpstr>
      <vt:lpstr>Shell redirection – after dup2()</vt:lpstr>
      <vt:lpstr>dup() and dup2()pseudocode</vt:lpstr>
      <vt:lpstr>I/O and Redirection Example </vt:lpstr>
      <vt:lpstr>PowerPoint Presentation</vt:lpstr>
      <vt:lpstr>I/O and Redirection Example </vt:lpstr>
      <vt:lpstr>Master Class: Process Control and I/O</vt:lpstr>
      <vt:lpstr>PowerPoint Presentation</vt:lpstr>
      <vt:lpstr>Master Class: Process Control and I/O</vt:lpstr>
      <vt:lpstr>Buffering in Standard I/O</vt:lpstr>
      <vt:lpstr>Standard I/O Buffering in Action</vt:lpstr>
      <vt:lpstr>Fork Example #2 (Earlier Lecture)</vt:lpstr>
      <vt:lpstr>Fork Example #2 (modified)</vt:lpstr>
      <vt:lpstr>Repeated Slide: Reading Files</vt:lpstr>
      <vt:lpstr>Dealing with Short Counts</vt:lpstr>
      <vt:lpstr>For Further Information</vt:lpstr>
      <vt:lpstr>CS:APP Book code</vt:lpstr>
      <vt:lpstr>Bonus material</vt:lpstr>
      <vt:lpstr>System Call Error Handling</vt:lpstr>
      <vt:lpstr>Error-reporting functions </vt:lpstr>
      <vt:lpstr>Error-handling Wrappers 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Erol Sahin</cp:lastModifiedBy>
  <cp:revision>540</cp:revision>
  <cp:lastPrinted>1999-09-20T15:19:18Z</cp:lastPrinted>
  <dcterms:created xsi:type="dcterms:W3CDTF">2013-02-26T08:07:57Z</dcterms:created>
  <dcterms:modified xsi:type="dcterms:W3CDTF">2024-05-20T06:49:58Z</dcterms:modified>
</cp:coreProperties>
</file>