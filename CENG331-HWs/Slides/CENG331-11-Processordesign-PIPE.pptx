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104"/>
  </p:notesMasterIdLst>
  <p:handoutMasterIdLst>
    <p:handoutMasterId r:id="rId105"/>
  </p:handoutMasterIdLst>
  <p:sldIdLst>
    <p:sldId id="478" r:id="rId2"/>
    <p:sldId id="332" r:id="rId3"/>
    <p:sldId id="375" r:id="rId4"/>
    <p:sldId id="376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79" r:id="rId35"/>
    <p:sldId id="407" r:id="rId36"/>
    <p:sldId id="408" r:id="rId37"/>
    <p:sldId id="409" r:id="rId38"/>
    <p:sldId id="410" r:id="rId39"/>
    <p:sldId id="411" r:id="rId40"/>
    <p:sldId id="412" r:id="rId41"/>
    <p:sldId id="413" r:id="rId42"/>
    <p:sldId id="414" r:id="rId43"/>
    <p:sldId id="415" r:id="rId44"/>
    <p:sldId id="416" r:id="rId45"/>
    <p:sldId id="417" r:id="rId46"/>
    <p:sldId id="418" r:id="rId47"/>
    <p:sldId id="419" r:id="rId48"/>
    <p:sldId id="420" r:id="rId49"/>
    <p:sldId id="421" r:id="rId50"/>
    <p:sldId id="422" r:id="rId51"/>
    <p:sldId id="423" r:id="rId52"/>
    <p:sldId id="424" r:id="rId53"/>
    <p:sldId id="425" r:id="rId54"/>
    <p:sldId id="426" r:id="rId55"/>
    <p:sldId id="427" r:id="rId56"/>
    <p:sldId id="428" r:id="rId57"/>
    <p:sldId id="429" r:id="rId58"/>
    <p:sldId id="430" r:id="rId59"/>
    <p:sldId id="431" r:id="rId60"/>
    <p:sldId id="432" r:id="rId61"/>
    <p:sldId id="433" r:id="rId62"/>
    <p:sldId id="434" r:id="rId63"/>
    <p:sldId id="435" r:id="rId64"/>
    <p:sldId id="436" r:id="rId65"/>
    <p:sldId id="437" r:id="rId66"/>
    <p:sldId id="438" r:id="rId67"/>
    <p:sldId id="439" r:id="rId68"/>
    <p:sldId id="440" r:id="rId69"/>
    <p:sldId id="441" r:id="rId70"/>
    <p:sldId id="442" r:id="rId71"/>
    <p:sldId id="443" r:id="rId72"/>
    <p:sldId id="444" r:id="rId73"/>
    <p:sldId id="445" r:id="rId74"/>
    <p:sldId id="446" r:id="rId75"/>
    <p:sldId id="480" r:id="rId76"/>
    <p:sldId id="448" r:id="rId77"/>
    <p:sldId id="449" r:id="rId78"/>
    <p:sldId id="450" r:id="rId79"/>
    <p:sldId id="451" r:id="rId80"/>
    <p:sldId id="452" r:id="rId81"/>
    <p:sldId id="453" r:id="rId82"/>
    <p:sldId id="454" r:id="rId83"/>
    <p:sldId id="455" r:id="rId84"/>
    <p:sldId id="456" r:id="rId85"/>
    <p:sldId id="457" r:id="rId86"/>
    <p:sldId id="458" r:id="rId87"/>
    <p:sldId id="459" r:id="rId88"/>
    <p:sldId id="460" r:id="rId89"/>
    <p:sldId id="461" r:id="rId90"/>
    <p:sldId id="462" r:id="rId91"/>
    <p:sldId id="463" r:id="rId92"/>
    <p:sldId id="464" r:id="rId93"/>
    <p:sldId id="465" r:id="rId94"/>
    <p:sldId id="466" r:id="rId95"/>
    <p:sldId id="467" r:id="rId96"/>
    <p:sldId id="468" r:id="rId97"/>
    <p:sldId id="469" r:id="rId98"/>
    <p:sldId id="470" r:id="rId99"/>
    <p:sldId id="471" r:id="rId100"/>
    <p:sldId id="472" r:id="rId101"/>
    <p:sldId id="473" r:id="rId102"/>
    <p:sldId id="474" r:id="rId103"/>
  </p:sldIdLst>
  <p:sldSz cx="9131300" cy="68453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">
          <p15:clr>
            <a:srgbClr val="A4A3A4"/>
          </p15:clr>
        </p15:guide>
        <p15:guide id="2" pos="6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9FFCC"/>
    <a:srgbClr val="FFFF99"/>
    <a:srgbClr val="FF3300"/>
    <a:srgbClr val="FFCCFF"/>
    <a:srgbClr val="FFCCCC"/>
    <a:srgbClr val="00CC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459" autoAdjust="0"/>
    <p:restoredTop sz="93339"/>
  </p:normalViewPr>
  <p:slideViewPr>
    <p:cSldViewPr showGuides="1">
      <p:cViewPr varScale="1">
        <p:scale>
          <a:sx n="126" d="100"/>
          <a:sy n="126" d="100"/>
        </p:scale>
        <p:origin x="208" y="1672"/>
      </p:cViewPr>
      <p:guideLst>
        <p:guide orient="horz" pos="336"/>
        <p:guide pos="67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-276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6.xml"/><Relationship Id="rId2" Type="http://schemas.openxmlformats.org/officeDocument/2006/relationships/slide" Target="slides/slide17.xml"/><Relationship Id="rId1" Type="http://schemas.openxmlformats.org/officeDocument/2006/relationships/slide" Target="slides/slide12.xml"/><Relationship Id="rId4" Type="http://schemas.openxmlformats.org/officeDocument/2006/relationships/slide" Target="slides/slide7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342129" y="320041"/>
            <a:ext cx="642982" cy="227496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/>
              <a:t>15-349</a:t>
            </a:r>
          </a:p>
        </p:txBody>
      </p:sp>
    </p:spTree>
    <p:extLst>
      <p:ext uri="{BB962C8B-B14F-4D97-AF65-F5344CB8AC3E}">
        <p14:creationId xmlns:p14="http://schemas.microsoft.com/office/powerpoint/2010/main" val="28328455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7T08:33:40.74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21461 3320 208 0,'0'-6'77'0,"0"6"-60"0,-6 0 15 16,3-5 20-1,6 10-30-15,-3-5 12 16,0 0-20-16,0 0 5 16,3 0-11-16,0 0 4 15,3 0-7-15,0 0 11 0,3 0-9 0,3 0 14 16,0 0-12-16,0 0 7 16,3 0-9-16,2-5 2 15,4 5-5-15,9-3 7 16,0-2-7 15,14 0 3-31,1 2-4 0,5-2 3 16,-2 5-4-16,2 0 4 0,1 0-4 0,8-5 1 15,-2 5-1 1,8-3 1-16,-6 6-2 16,7-6-1-16,-10 3 1 15,10-3 1-15,-4 1-1 0,6 2-1 16,-2 0 1-16,-1-6 1 15,-5 12-1-15,8-12-1 16,-9 6 1-16,7-2-1 16,-7 2 0-16,1 0 0 15,-10 2 0-15,4-2 0 16,-7 6 0-16,12-12 4 16,-2 6-2-16,5-2 4 15,-5 4-4-15,5-2 4 16,-2 0-4-16,-4 0 4 15,-5 0-4-15,-4-2 1 16,-5 2-1-16,-4-3 1 16,-5 3-2-16,0-2 2 15,-7 2-2-15,-2-6-51 16,-3 12 27-16,-6-6-44 16,0 0 39-16</inkml:trace>
  <inkml:trace contextRef="#ctx0" brushRef="#br0" timeOffset="871.17">21467 3795 184 0,'3'0'68'0,"-3"0"-52"0,15 0 19 0,-9 0 23 16,0 0-33-16,3 0 20 16,3 0-28-16,0 0 18 15,2 0-20-15,4-5 14 16,0-1-16-16,12 1 8 16,2 3-12-16,10-4 6 15,3 6-8-15,8-5 7 16,-2 5-8-16,11-3 5 31,-3-2-6-31,10 0 7 16,-4 2-8-16,6 3 8 0,-8 0-8 15,8-5 3 1,-2 5-4 0,11 0 0-1,-9 5-1-15,6-5-2 16,-8 0 1-16,8 0 1 0,-12 0-1 15,7 0-1-15,-10 3 1 0,0-3-1 16,-8 2 0-16,2 1 2 16,-5 2-1-16,8-5-1 15,-5 0 1-15,5 0-1 16,-5 3 0-16,-1 0 0 0,-2-1 0 16,-7 4 0-16,-5-6 0 15,-1 0 0-15,-5 2 0 16,3-2 2-16,-1 0-1 15,4 0 2-15,0 0-2 0,-1 0 2 16,-5 0-2-16,0 0-3 16,-7 0 1-16,-2 0-10 0,-3 3 6 15,-3-3-69-15,-3 2 41 16,-3 4-48-16,-1-6 47 16</inkml:trace>
  <inkml:trace contextRef="#ctx0" brushRef="#br0" timeOffset="1753.639">21503 4310 184 0,'15'0'71'0,"-15"0"-55"0,35 0 24 0,-26-5 31 16,0 10-39-16,6-5 22 15,0 0-32-15,12-5 8 16,2 5-18-16,10-3 3 16,3 6-10-16,5-3 9 15,1 0-8-15,8 0 14 16,1 0-11-16,11 0 11 16,-6 0-11-16,10 0 4 140,-4 0-8-140,12 0 2 0,-6 0-4 0,10 0 0 0,-7 0-1 0,6-3 1 0,-9 3-2 0,13-3-1 0,-13 3 1 0,3-2 1 0,-12 4-1 0,7-2 2 0,-10 0-2 0,12 0 2 0,-5 0-2 16,2 0 2-16,-9 3-2 0,-2 0-1 0,-4 2 1 0,-5-5 1 15,-7 3-1 1,1-3 2-16,-3 0-2 16,-4 0-3-1,-5 2 1 1,-3-2-67-16,-4 3 36 16,-8 2-50-16,-6-5 47 15</inkml:trace>
  <inkml:trace contextRef="#ctx0" brushRef="#br0" timeOffset="2589.697">21494 4883 192 0,'3'0'71'0,"-3"0"-55"0,33 3 17 0,-25-3 22 16,1 2-31-16,3-2 15 16,3 0-23-16,3 0 13 15,0 0-16-15,12 0 6 16,-1 0-11-16,13 0 13 16,-1 0-12-16,7 0 14 15,-3 0-14-15,11-2 11 16,0 2-11-16,10-3 8 109,-4 3-9-109,9 0 2 0,-5 0-6 0,11-5 2 0,-3 2-3 0,10 1 3 0,-7 2-4 0,6-3 1 0,-6 3-1 0,9-5 3 16,-11 5-3-16,2-3-1 0,-12 6 0 0,4-3 1 0,-7 0-1 0,6-3 2 0,-5 3-2 15,5-3 2-15,-5 6-2 16,-4-3-1-16,-3 3 1 16,-8-3 1-16,-6 2-1 15,-1-2-1-15,-5 0 1 16,2 0-1-16,-2 0 0 0,0 0 0 16,-4 3 0-16,1-3 2 15,-3 3-1-15,0-3-3 16,-4 2 1-1,-2-2-17-15,0 0 10 0,-3 0-67 16,-4 0 41 0,-2 0-38-16,-3 0 42 15</inkml:trace>
  <inkml:trace contextRef="#ctx0" brushRef="#br0" timeOffset="3498.651">21598 5424 192 0,'24'-2'71'0,"-24"2"-55"0,41-11 20 0,-23 6 26 15,0 5-34-15,15-5 30 16,5 5-33-16,10-3 15 15,-1 3-23-15,19-8 6 16,-4 6-13-16,9-1 3 16,-2 3-8-16,11-8 4 47,-9 5-5-47,15 1 11 0,-8 2-8 0,11-8 12 15,-9 8-11-15,9-6 7 16,-12 6-8-16,7-5 4 15,-13 5-6 17,3-2 9-32,-11 2-8 15,5-3 3 1,-6 0-5-16,4-2 7 16,-7 5-7-1,1-3 10-15,-10 3-8 0,1-2 3 16,-10 4-5-16,-2-2 5 15,-4 0-6-15,-5 0 3 0,-3 0-3 16,-3 0 3-16,-4 0-4 16,-2-2 1-16,0 2-1 15,-3-6 1-15,0 6-2 16,-6-2-7-16,3 4 3 0,-6-2-80 16,2 0 45-1,-5-2-57-15,3 2 55 0,-3 0 20 0</inkml:trace>
  <inkml:trace contextRef="#ctx0" brushRef="#br0" timeOffset="10458.572">21461 3777 148 0,'-6'0'57'0,"6"0"-44"0,6 0 10 0,-6 0 7 16,3 0-18-16,-3 0 6 15,3 0-11-15,-3 0 9 16,0 0-9-16,0 0 14 15,3 0-12-15,0 0 16 16,0 0-15-16,0 0 13 16,0 0-13-16,0 0 10 15,6 0-11-15,-3 0 8 16,3 2-9-16,-3-2 6 16,3 0-7-16,0 0 4 15,-1 3-6-15,1-3 15 16,0 0-11-16,-3 0 9 0,3 0-10 0,0 0-11 15,0 0 1 32,0 0 0-47,0 0 2 0,0 0 8 0,3 0-4 0,-1 0 5 16,1 0-5-16,0 0 5 0,3 0-6 16,0 0 3-16,0 0-3 15,3 0 5-15,-1 0-5 16,1 0 3-16,3 0-3 0,-3 0 0 15,3 0-1-15,0 0 3 16,-1 0-3-16,1 0 1 16,-3 0-1-16,3 0 1 15,0 0-2-15,-7 0 4 16,1 0-3-16,0 0 1 16,0 0-1-16,0 0-2 15,3 0 1-15,-3 0-1 16,2 0 0-16,1 0 0 15,0 0 0-15,3 0 2 16,0 0-1-16,-1 0 2 16,4 0-2-16,-3 0-1 15,0 0 1-15,0 0-1 16,-4 0 0-16,1 0 2 16,0 0-1-16,-3 0-1 15,3 2 1-15,-3-2 1 16,2 0-1-16,-2 0-1 15,3 0 1-15,0 0-4 16,0 0 2-16,0 0 1 0,-1 0 0 16,1 0 0-16,3 0 0 15,0 0 2-15,0 0-1 16,-1 0-1-16,4 0 1 16,3 0-1-16,0 0 0 15,2 0 0-15,1 0 0 16,0 0 0-16,-3 0 0 15,-1 0 2-15,-2 6-1 16,0-6-1-16,0 0 1 16,-4 5-1-16,-2-5 0 15,0 0 0-15,0 0 0 0,-3 0 2 16,3 0-1-16,-4 0-1 16,4 0 1-16,-3 0-1 15,3 0 0-15,0 0 0 16,0 0 0-16,2 0 2 15,4 0-1-15,0 0-1 16,3 0 1-16,2 0-1 16,-2 0 0-16,-3 0 0 15,0 0 0-15,-1 0 2 16,-2 0-1-16,0 0-3 16,0 0 1-16,-3 0 1 15,-4 0 0-15,1 0 2 16,0 0-1-16,0 0-1 15,0 0 1-15,0 0-1 16,6 0 0-16,-4 0-3 16,1 0 2-16,3 0 1 15,0 3 0-15,0 2 0 16,-4-5 0-16,1 0 0 16,3 5 0-16,-3-5 2 15,-3 0-1-15,0 0-1 16,-1 0 1-16,-2 0-1 0,0 0 0 15,0 0 0-15,0 3 0 16,0 0 2-16,0-1-1 16,-3-2-1-16,3 0 1 15,-4 0 1-15,1 0-1 0,-3 0-1 16,3 0 1-16,-3 0 1 16,0 0-1-16,0 0 2 15,0 0-2-15,0 0-1 16,0 0 1-16,0 0-1 15,0 0 0-15,-3 0 2 16,3 0-1 15,-3 0-1-31,3 0 1 16,-3-2 1-16,0 2-1 0,0-3 2 0,2 3-2 16,-2-3 2-16,0 3-2 0,0 0-1 15,0 0 1-15,0 0-1 16,0 0 0-1,0-5 2-15,0 10-1 16,0-5 2-16,0 0-2 0,0 0-1 16,0 0 1-16,0 0-1 15,0 0 0-15,0 0 0 16,0 0 0-16,0 0 2 16,0 0-1-16,0 0-1 15,0 0 1-15,0 0-4 16,0 0 2-1,-3 0 1 1,0 0 0-16,0 0 0 0,0 0 0 0,0 0 2 16,0 0-1-16,0 0-1 0,0 0 1 0,0 0 1 15,3 0-1-15,-3 0-1 16,0 0 1-16,0 0-1 16,0 0 0-16,0 0 2 15,0 0-1-15,0 0-1 16,0 0 1-1,0 0-1-15,0 0 0 0,0 0 0 16,0 0 0-16,0 0 0 16,0 0 0-16,0 0 0 15,0 0 0-15,0 0 0 16,0 0 0-16,0 0 0 16,0 0 0-16,0 0 0 15,0 0 0-15,0 0 0 16,0 0 0-16,0 0 0 15,0 0 0-15,0 0 0 16,0 0 0-16,0 0 0 16,0 0 0-16,0 0 0 15,0 0 0-15,0 0 0 16,0 0 0-16,0 0 0 0,0 0 0 16,0 0 0-1,0 0 0-15,0 0-7 0,0 0 4 0,0 0 1 16,0 0 2-16,0 0 6 15,0 0-3-15,0 0-1 16,0 0-1-16,0 0-1 16,0 0 0-16,0 0 0 15,0 0 0-15,0 0 0 16,0 0 0-16,0 0 0 16,0 0 0-16,0 0 0 15,0 0 0-15,0 0 0 16,0 0 0-16,0 0 0 15,0 0 0-15,0 0 0 16,0 0 0-16,0 0 0 16,0 0 0-16,0 0 2 15,0 0-1-15,-3 0 2 16,3 0-2-16,-3 0-3 16,3 0 1-16,-3 0 1 15,3 0 0 1,-3 0 0-16,0 0 0 0,-3 0 0 15,6 0 0 1,-3 0 0-16,3 0 0 0,-6 0 0 16,6 0 0-16,-3 0 0 15,3 0 0-15,-3 0 0 16,3 0 0-16,-3-5 2 0,3 5-1 16,-3 0-1-1,6 0 1-15,-3-5-4 16,0 10 2-16,0-5-17 15,0 0 10-15,0 0-67 0,0 0 41 0,0 0-40 16,0 0 43-16</inkml:trace>
  <inkml:trace contextRef="#ctx0" brushRef="#br0" timeOffset="12836.579">21500 3222 132 0,'3'0'49'0,"-3"0"-38"16,0 0 6-16,0 0 15 15,0 0-19-15,0 0 19 16,3 3-19-16,-3-3 15 15,3 5-15-15,0-5 10 16,6 5-13-16,0-2 8 16,2-1-10-16,4-2 9 15,0 3-10-15,6-3 10 16,3 0-10-16,8 0 10 16,1 0-10-16,9 0 5 62,-1 0-7-62,4 0 7 0,-7 5-8 0,4-5 10 0,0 0-8 0,-1-5 5 0,1 5-6 0,2-5 7 16,1 5-8-16,3-3 5 0,-7 6-5 15,1-3-2-15,-4 2-1 16,1-2-6-16,-3 3 3 0,-4-3-1 16,1 0 1-1,3 0 2-15,-4 0 0 16,7 0 4-16,0 0-2 15,5 0-3-15,-2 5 0 16,2-5 3-16,-2 3-1 0,0-3 6 16,-7 3-4-16,4-6 3 15,-4 3-3-15,7-3 5 16,-3 3-5 0,-1-5 1-16,-2 10-2 0,0-5 1 15,-7 0-2 16,7 0 2-31,-3 0-2 16,5 0-1-16,-2 0 1 0,-3-5-4 16,-7 5 2-1,4-3 1-15,0 6 0 16,2-3 0-16,1 0 0 16,0 0 0-16,0 0 0 15,-7 0 2-15,1 5-1 16,-3-5-3-16,0 3 1 15,-4 0 1-15,-2-1 0 16,-3 4 0 0,0-6 0-16,-3 2 0 15,3 1 0-15,-3-3 0 0,2 2 0 16,-5-2 2-16,3 0-1 16,-6 0-1-16,0 0 1 0,0 0 1 0,3 0-1 0,-6 0-1 15,3 0 1 1,-3 0 1-16,0 0-1 0,3 0-1 0,0 0 1 0,-3 0-4 15,0 0 2-15,-6 0-74 16,0 6 41-16,-3-6-59 16,6 2 53-16</inkml:trace>
  <inkml:trace contextRef="#ctx0" brushRef="#br0" timeOffset="16093.549">20558 3238 144 0,'0'-3'55'0,"0"3"-43"0,0 0 10 0,0 0 10 15,0 0-19-15,0 0 14 16,0 0-16-16,0 0 10 15,3 3-12-15,0-3 13 16,3 2-13-16,-3 1 16 16,3 2-15-16,0-5 9 15,3 3-11-15,0 0 9 16,2-1-10-16,1-2 10 16,0 0-10-16,3 0 5 15,0 0-7-15,3 0 0 16,3 0-3-1,2 0 3-15,1 0-3 16,0 0 6-16,0 0-5 0,2 0 6 16,-2 0-6-16,0 0 10 15,-3 0-7-15,2 0 3 16,-2 6-5-16,0-6-9 16,-3 2 3-16,0-2-4 15,-3 0 3-15,-4 0 2 16,4 0 1-16,-6 0 6 15,3 0-3-15,-6 0 8 16,0 0-7-16,-6 0-3 16,3 0-2-16,-3 0-1 15,0 0 0-15</inkml:trace>
  <inkml:trace contextRef="#ctx0" brushRef="#br0" timeOffset="16499.408">21013 3140 172 0,'0'0'66'16,"0"0"-52"-16,0-3 21 0,0 3 23 16,6 0-33-16,-4 0 15 15,1 0-24-15,0 0 13 16,3 3-16-16,0 0 15 16,6-1-16-16,3 4 11 15,0-6-13-15,0 2 13 16,3 4-14-16,-4-1 18 15,7 3-15-15,-6 0 13 16,0 2-14-16,-3 3 12 16,-3-5-13 46,-6 6 4-62,3-1-9 0,-9 3-20 0,3 5 8 0,-6-3-18 0,0 3 15 0</inkml:trace>
  <inkml:trace contextRef="#ctx0" brushRef="#br0" timeOffset="18616.378">20564 3843 168 0,'-3'-14'66'0,"3"14"-52"0,9-5 19 16,-6 2 23 0,0 6-31-16,3-3 22 15,0 0-28-15,0 0 16 0,3 0-20 0,-1 0 5 16,7 0-2-16,-3 0 0 15,9-3-7-15,-3 3-2 16,15-5-5-16,-7 3 6 16,13-1 3-16,-6 0-4 0,5 3-1 15,-5-5-4 63,3 5-1-78,-7 0 1 0,1 0 0 16,-3-5-2-16,-1 5 1 0,-5 0-2 0,0-3 2 0,-3 3-2 0,0 0-1 0,-3 0 1 0,2 0 1 0,-5 0-1 0,0-5 2 16,-3 5-7-16,0 0 1 15,-3 0-48-15,0 0-18 16,-3 0 35-16,3 0 17 0</inkml:trace>
  <inkml:trace contextRef="#ctx0" brushRef="#br0" timeOffset="19023.889">21102 3642 216 0,'0'0'82'0,"0"0"-64"0,3 0 15 0,-3 0 18 16,3 2-30-16,0-2 19 15,3 3-24-15,2 2 16 16,4-5-18-16,0 3 8 16,0 0-13-16,3-1 8 15,0 4-9-15,0-6 11 16,3 5-11-16,-4 3 12 15,4 0-12-15,-3 2 9 16,-3 4-9-16,-6-1 6 16,3 0-7-16,-6 0 2 15,0 0-5-15,-6 1 5 47,3 4-6-47,-6-5 1 0,3 0-2 16,-6 1-4-16,3 1 1 15</inkml:trace>
  <inkml:trace contextRef="#ctx0" brushRef="#br0" timeOffset="21443.029">20531 4421 176 0,'3'0'66'0,"-3"0"-52"0,3-5 14 0,-3 5 5 16,0 0-8-16,0 0 13 16,3 0-21-16,0 0 18 15,3 0-21-15,0 0 6 16,6 0-2-16,0 0 0 16,9 0 0-16,-7 0-2 15,16-3-8-15,-6 0 6 0,23-5 5 16,-8 3-1-16,15-3-1 0,-10 3-3 125,4 0-1-110,-10-1-7-15,4 1-2 0,-9 0-2 0,-4 0-2 0,-5 2 1 0,-3 0 1 0,-3 1-1 0,-3 2-1 0,-1-6 1 0,-2 6 1 0,-3 0-3 0,-3 6 0 0,0-6-19 16,-3 0-9-16,-3 0-91 0,3 5-41 0,-3 3 83 0,3-13 39 0</inkml:trace>
  <inkml:trace contextRef="#ctx0" brushRef="#br0" timeOffset="21901.018">21084 4189 196 0,'0'-14'74'0,"0"14"-58"0,9-5 16 0,-9 2 18 16,3 6-29-16,0-3 21 16,3 0-25-16,0 0 20 15,0 0-21-15,0 0 18 16,5 0-19-16,1 0 14 15,0 3-16-15,3-1 8 16,3 6-12-16,-3 0 4 16,3 3-8-16,-4 2 4 15,1 0-5-15,-6 0 9 16,3 3-7-16,-6-3 10 16,3 1-9-16,-6-1 5 156,0 0-7-156,-3 0 0 0,0 0-3 0,0 1 1 0,0-6-2 0,0-1 2 0,3 1-2 0,-3 0-7 0,3 0 3 0,-3-2-98 0,0-1 56 0,-3 3-75 0,3-3 69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2-07T08:34:49.45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1444 2942 104 0,'3'-5'41'0,"-3"5"-32"0,12-6 11 16,-6 4 17 0,3 4-20-16,3-4 18 15,6 2-20-15,2-5 14 16,-5 5-16-16,12-8 10 15,3 2-13-15,11-2 8 16,1 6-10-16,8-1 4 16,1-2-7-16,2 0 4 15,-2 5-5-15,5-3 7 16,-5-5-7-16,11-3 10 0,-2 6-8 16,2-3 3-16,1 0-5 15,14-5 5-15,-12 8-6 16,15-8 6-16,-8 7-6 15,5-2 3-15,-9 3-3 0,-5 0 0 16,20-6-1-16,-15 6 1 16,12 0-4-16,-17 2 0 15,14 0 1-15,-15 3 2 0,13-2 1 16,-13-4-1-16,24 6-2 16,-17 0 1-16,5 0 1 15,-12 0-1-15,10 0 2 16,-16 0-2-16,21 0 2 15,-11 0-2-15,5 6-1 16,-12-4 1-16,1 1-1 16,-10 0 0-16,13-3 0 0,-13 0 0 15,16 0 0-15,-13 0 0 16,10 5 2-16,-13-2-1 16,9 2-1-16,-11 0 1 15,11-5 1-15,-8 0 1 16,14 0 1-16,-11 0-2 15,11 5-2-15,-14 3 1 16,11-5-1-16,-11 0 0 16,14-3 2-16,-12 0-1 15,19 2 2-15,-16 4-2 16,10-1 2-16,-13-2-2 16,9 2 2-16,-14 0-4 0,14-5 0 15,-17 0 1-15,14 0 2 16,-11 0 8-16,2 3 3 15,-8 2-9-15,-3 0-1 16,-7-2-148 0,-8 7-65-16,6-15 108 15</inkml:trace>
  <inkml:trace contextRef="#ctx0" brushRef="#br0" timeOffset="2899.077">7910 15716 80 0,'17'3'33'0,"-8"-3"-26"0,6-3 18 16,-6 3 6-16,6-2-5 15,9-4-1-15,5 1-5 16,7-3-3-16,3 3-5 16,2 0 0-16,1-1-7 15,-3 4-1-15,-1-1 2 0,-2 0-1 16,2-2 2-16,4 0-2 15,6-1 2-15,2 1-2 0,4 0 0 47,-1 2-1-47,-2 1 2 0,-7-1-1 0,1 3 0 0,-4-3-1 0,4 1 0 16,5-1 0-16,4 0 0 16,2 1-2-16,-2 2 1 15,-4 2 0 1,-2 1 1-16,-7-3-2 15,1 0-2-15,0 0 3 0,2 0 0 16,7 0-1-16,5 0-2 16,-2 3 1-16,-1-1 1 15,-5 1 1-15,-1 0 3 0,-5-1-5 16,-1-2-3 0,1 0 1-16,3 0 0 0,2-2 3 15,4 2 1-15,-1 0-1 16,-2 2 1-16,5 4-2 15,-2-1 2-15,-7-3-4 16,1-2 0-16,-4 0 1 16,4 0 2-16,-1 0-1 15,4 0-1-15,3 3 1 16,-1 2 1-16,-2 3-1 16,-1 0 2-16,1-5-2 15,-1-3 2-15,7 0-2 16,2 0-1-16,4 0 1 15,-4 3-1-15,-2 2 0 16,-1 0 2-16,-5-2-1 16,-4-3-1-16,1 0 1 0,2 0-1 15,7 0 0-15,2 0 0 16,-2 2 0-16,-4 1 0 16,-2 2-3-16,-4 1 2 15,-2-4 1-15,-4-2 2 16,1 0-1-16,3 0-1 15,-1 0 1-15,1 0 1 16,-1 0-1-16,-5 0 2 16,-3 0-2-16,-1 3 2 15,-2-1-2-15,-3 1 2 16,-3 0 0-16,-3-1 1 16,-1 1-2-16,-2 0-2 15,0-3 1-15,-3 0 1 0,-3 0-1 16,0 0 2-16,-3-3-4 15,-1 3 0-15,-2-3 3 16,0 3 1-16,-6 0-1 16,0 0-2-16,3 6-30 15,-3 2-13-15,3-3 22 16,6 0 10-16</inkml:trace>
  <inkml:trace contextRef="#ctx0" brushRef="#br0" timeOffset="4620.413">13296 15632 100 0,'30'2'38'0,"-15"-2"-29"0,9 0 12 0,-12 0 7 16,5-2-7-16,10-1-2 15,9 0-5-15,5 1-1 16,7-1-7-16,-1 3 0 0,4 0 1 16,-1 0 1-16,1-3 2 15,5 1-3-15,7-1-2 63,2 3 0-48,1 0-1-15,-7 3 0 0,3-1 2 0,-2-2-3 0,2 0-2 0,7 0 2 0,-1 0 2 0,0 3-2 0,-5 0-2 16,-4-1 0-16,0-2-1 16,1 0 0-16,2 0 2 15,4 0-1-15,2 0 2 16,-9 3 0-1,-2-3 1-15,-4 0 0 16,1 0 2 0,5-3-3-16,4 1 0 15,2 2-1-15,-3 0 1 16,-2 2 0-16,-4 1 1 0,-2-3-2 16,-1 0-2-16,7 0 1 15,5 0-1-15,-3 0 0 16,-2 3 2-16,-4-1-1 15,-2 1-1-15,11-3 1 16,1-3-1-16,2 1 0 16,3 2 0-16,-2 0 0 15,-7 2 0 1,-3 1 0-16,1-3 0 16,-4 0 0-16,10 0 0 15,5 0 0 1,0 5 2-16,-2 1-1 15,-7 1 2-15,-3-1 0 16,4-4 1 0,2 1-2-16,3 2-2 15,1 1 1-15,-1-1 1 16,-8 0-3-16,-4-5 0 16,0 0 3-16,7 0 3 0,2 0-2 15,1 3 0-15,-4 2 1 0,-6 0 0 31,-2-2-5-15,-4-3 1-16,-2-3 0 16,0 1 2-1,2-4-1-15,4 4-1 16,-4-1 3-16,-2 1 0 16,-1-1-1-16,-5 3-2 15,-4 0 1-15,1 0-1 16,0-3 0-1,-1 1 2-15,7-1-1 0,-1 0-1 16,4 1 1-16,-1 2-1 16,-2 0 0-16,-3 0 0 0,-7 0 0 15,-2 2 2 1,-3-2-1-16,-4 0 2 0,1 0-2 16,-3-2-1-1,-3-1 1 1,-3 0 1-1,-1 1-1-15,-2-1 2 16,0 3-2-16,-3 0 2 16,0 0-4-16,-6 0-2 15,0 3 2 1,-3 2 0-16</inkml:trace>
  <inkml:trace contextRef="#ctx0" brushRef="#br0" timeOffset="9760.606">7051 16757 100 0,'12'0'38'0,"-3"-3"-29"0,6-2 14 16,-7 2 8-16,7 1-11 15,9-4-3-15,6 1-6 16,5 0-2-16,4-1-5 16,0 4-1-16,-1-1 3 0,1 0-1 15,0 1 0-15,2-1-1 16,7 1 2-16,8 2-3 0,4 0 0 31,-1 5-1-31,-3 3-2 0,-2 0 1 16,2 0 1-16,4-3-1 0,8 0 2 15,3 0-4-15,-2 1 0 16,-4-1 1-16,-2-2 2 16,-1-3-3-16,6 0 0 15,10-3 3-15,-1 0 3 16,0 1 0-16,-3-1 2 15,7-2-4-15,8 0 0 16,0-1 1-16,-6 1 0 16,-6 2-2-16,-2-2-2 15,2 0 1-15,6-3 1 16,0 3-1-16,-6 2 2 16,-5 0 0-16,-1-2 1 0,3 0-2 15,10-1 1 1,-4 4 0-16,-6 2 1 15,9-3-2-15,-6-2 1 0,4 0-2 16,-4-1 2-16,0 4 2 16,-5-1 4-16,-7 0-2 15,-3 1 1-15,-2-4-3 16,5-1 0-16,6 1-3 16,7 1 1-16,-1 2-2 15,-3 1 2-15,-3-1-2 16,7 0 2-16,2 1 0 15,0 2 1-15,-9 5-2 16,-2 0 1-16,-7-5-2 0,4 0-1 16,5 0 1-1,6 3-1-15,0 2 0 0,-8 3 0 16,-7-3 0-16,1-2 2 16,2 0-3-16,6-1 0 15,3 1 1-15,-5 2 2 16,-7 1-3-1,-5-1 0-15,-1-3 1 0,7 4 2 16,8-1-1-16,0 3-1 16,0 0 1-16,-2 2-1 15,-7-2 0-15,1 0 0 16,5-2-3-16,3-1 2 16,1 0 1-16,-10 0 0 15,-3-2 2-15,-5 0 1 16,-1-1-1-16,-2-2 1 15,2 0-2-15,1 3 2 16,-1 0 0-16,-5 2 1 0,-4 3-5 16,-5 0 1-16,-3 0 0 15,-10-6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5875" y="723900"/>
            <a:ext cx="4757738" cy="3567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259668" y="9229487"/>
            <a:ext cx="772826" cy="2274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/>
              <a:t>Page </a:t>
            </a:r>
            <a:fld id="{88097E68-D82A-4177-B9DB-47171EB9ABB7}" type="slidenum">
              <a:rPr lang="en-US" sz="1300"/>
              <a:pPr defTabSz="860890"/>
              <a:t>‹#›</a:t>
            </a:fld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934903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B422CA9-8481-40C3-B5AE-2BC95BA0213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1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B422CA9-8481-40C3-B5AE-2BC95BA0213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35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B422CA9-8481-40C3-B5AE-2BC95BA02134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53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848" y="1704849"/>
            <a:ext cx="7761605" cy="1467303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847" y="3879004"/>
            <a:ext cx="7666829" cy="1749354"/>
          </a:xfrm>
        </p:spPr>
        <p:txBody>
          <a:bodyPr/>
          <a:lstStyle>
            <a:lvl1pPr marL="0" indent="0" algn="l">
              <a:buNone/>
              <a:defRPr sz="1996" b="0">
                <a:latin typeface="Calibri" pitchFamily="34" charset="0"/>
              </a:defRPr>
            </a:lvl1pPr>
            <a:lvl2pPr marL="456331" indent="0" algn="ctr">
              <a:buNone/>
              <a:defRPr/>
            </a:lvl2pPr>
            <a:lvl3pPr marL="912663" indent="0" algn="ctr">
              <a:buNone/>
              <a:defRPr/>
            </a:lvl3pPr>
            <a:lvl4pPr marL="1368994" indent="0" algn="ctr">
              <a:buNone/>
              <a:defRPr/>
            </a:lvl4pPr>
            <a:lvl5pPr marL="1825325" indent="0" algn="ctr">
              <a:buNone/>
              <a:defRPr/>
            </a:lvl5pPr>
            <a:lvl6pPr marL="2281657" indent="0" algn="ctr">
              <a:buNone/>
              <a:defRPr/>
            </a:lvl6pPr>
            <a:lvl7pPr marL="2737988" indent="0" algn="ctr">
              <a:buNone/>
              <a:defRPr/>
            </a:lvl7pPr>
            <a:lvl8pPr marL="3194319" indent="0" algn="ctr">
              <a:buNone/>
              <a:defRPr/>
            </a:lvl8pPr>
            <a:lvl9pPr marL="3650651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332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523" y="434871"/>
            <a:ext cx="7581548" cy="760589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1280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310" y="4398739"/>
            <a:ext cx="7761605" cy="1359553"/>
          </a:xfrm>
        </p:spPr>
        <p:txBody>
          <a:bodyPr anchor="t"/>
          <a:lstStyle>
            <a:lvl1pPr algn="l">
              <a:defRPr sz="3992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310" y="2901331"/>
            <a:ext cx="7761605" cy="1497409"/>
          </a:xfrm>
        </p:spPr>
        <p:txBody>
          <a:bodyPr anchor="b"/>
          <a:lstStyle>
            <a:lvl1pPr marL="0" indent="0">
              <a:buNone/>
              <a:defRPr sz="1996">
                <a:latin typeface="Calibri" pitchFamily="34" charset="0"/>
              </a:defRPr>
            </a:lvl1pPr>
            <a:lvl2pPr marL="456331" indent="0">
              <a:buNone/>
              <a:defRPr sz="1797"/>
            </a:lvl2pPr>
            <a:lvl3pPr marL="912663" indent="0">
              <a:buNone/>
              <a:defRPr sz="1597"/>
            </a:lvl3pPr>
            <a:lvl4pPr marL="1368994" indent="0">
              <a:buNone/>
              <a:defRPr sz="1397"/>
            </a:lvl4pPr>
            <a:lvl5pPr marL="1825325" indent="0">
              <a:buNone/>
              <a:defRPr sz="1397"/>
            </a:lvl5pPr>
            <a:lvl6pPr marL="2281657" indent="0">
              <a:buNone/>
              <a:defRPr sz="1397"/>
            </a:lvl6pPr>
            <a:lvl7pPr marL="2737988" indent="0">
              <a:buNone/>
              <a:defRPr sz="1397"/>
            </a:lvl7pPr>
            <a:lvl8pPr marL="3194319" indent="0">
              <a:buNone/>
              <a:defRPr sz="1397"/>
            </a:lvl8pPr>
            <a:lvl9pPr marL="3650651" indent="0">
              <a:buNone/>
              <a:defRPr sz="1397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55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7289" y="1359552"/>
            <a:ext cx="3866535" cy="4962843"/>
          </a:xfrm>
        </p:spPr>
        <p:txBody>
          <a:bodyPr/>
          <a:lstStyle>
            <a:lvl1pPr>
              <a:defRPr sz="2795">
                <a:latin typeface="Calibri" pitchFamily="34" charset="0"/>
              </a:defRPr>
            </a:lvl1pPr>
            <a:lvl2pPr>
              <a:defRPr sz="2395">
                <a:latin typeface="Calibri" pitchFamily="34" charset="0"/>
              </a:defRPr>
            </a:lvl2pPr>
            <a:lvl3pPr>
              <a:defRPr sz="1996">
                <a:latin typeface="Calibri" pitchFamily="34" charset="0"/>
              </a:defRPr>
            </a:lvl3pPr>
            <a:lvl4pPr>
              <a:defRPr sz="1797">
                <a:latin typeface="Calibri" pitchFamily="34" charset="0"/>
              </a:defRPr>
            </a:lvl4pPr>
            <a:lvl5pPr>
              <a:defRPr sz="1797">
                <a:latin typeface="Calibri" pitchFamily="34" charset="0"/>
              </a:defRPr>
            </a:lvl5pPr>
            <a:lvl6pPr>
              <a:defRPr sz="1797"/>
            </a:lvl6pPr>
            <a:lvl7pPr>
              <a:defRPr sz="1797"/>
            </a:lvl7pPr>
            <a:lvl8pPr>
              <a:defRPr sz="1797"/>
            </a:lvl8pPr>
            <a:lvl9pPr>
              <a:defRPr sz="179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012" y="1359552"/>
            <a:ext cx="3866534" cy="4962843"/>
          </a:xfrm>
        </p:spPr>
        <p:txBody>
          <a:bodyPr/>
          <a:lstStyle>
            <a:lvl1pPr>
              <a:defRPr sz="2795">
                <a:latin typeface="Calibri" pitchFamily="34" charset="0"/>
              </a:defRPr>
            </a:lvl1pPr>
            <a:lvl2pPr>
              <a:defRPr sz="2395">
                <a:latin typeface="Calibri" pitchFamily="34" charset="0"/>
              </a:defRPr>
            </a:lvl2pPr>
            <a:lvl3pPr>
              <a:defRPr sz="1996">
                <a:latin typeface="Calibri" pitchFamily="34" charset="0"/>
              </a:defRPr>
            </a:lvl3pPr>
            <a:lvl4pPr>
              <a:defRPr sz="1797">
                <a:latin typeface="Calibri" pitchFamily="34" charset="0"/>
              </a:defRPr>
            </a:lvl4pPr>
            <a:lvl5pPr>
              <a:defRPr sz="1797">
                <a:latin typeface="Calibri" pitchFamily="34" charset="0"/>
              </a:defRPr>
            </a:lvl5pPr>
            <a:lvl6pPr>
              <a:defRPr sz="1797"/>
            </a:lvl6pPr>
            <a:lvl7pPr>
              <a:defRPr sz="1797"/>
            </a:lvl7pPr>
            <a:lvl8pPr>
              <a:defRPr sz="1797"/>
            </a:lvl8pPr>
            <a:lvl9pPr>
              <a:defRPr sz="179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2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565" y="274130"/>
            <a:ext cx="8218170" cy="1140883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565" y="1532270"/>
            <a:ext cx="4034577" cy="638577"/>
          </a:xfrm>
        </p:spPr>
        <p:txBody>
          <a:bodyPr anchor="b"/>
          <a:lstStyle>
            <a:lvl1pPr marL="0" indent="0">
              <a:buNone/>
              <a:defRPr sz="2395" b="1">
                <a:latin typeface="Calibri" pitchFamily="34" charset="0"/>
              </a:defRPr>
            </a:lvl1pPr>
            <a:lvl2pPr marL="456331" indent="0">
              <a:buNone/>
              <a:defRPr sz="1996" b="1"/>
            </a:lvl2pPr>
            <a:lvl3pPr marL="912663" indent="0">
              <a:buNone/>
              <a:defRPr sz="1797" b="1"/>
            </a:lvl3pPr>
            <a:lvl4pPr marL="1368994" indent="0">
              <a:buNone/>
              <a:defRPr sz="1597" b="1"/>
            </a:lvl4pPr>
            <a:lvl5pPr marL="1825325" indent="0">
              <a:buNone/>
              <a:defRPr sz="1597" b="1"/>
            </a:lvl5pPr>
            <a:lvl6pPr marL="2281657" indent="0">
              <a:buNone/>
              <a:defRPr sz="1597" b="1"/>
            </a:lvl6pPr>
            <a:lvl7pPr marL="2737988" indent="0">
              <a:buNone/>
              <a:defRPr sz="1597" b="1"/>
            </a:lvl7pPr>
            <a:lvl8pPr marL="3194319" indent="0">
              <a:buNone/>
              <a:defRPr sz="1597" b="1"/>
            </a:lvl8pPr>
            <a:lvl9pPr marL="3650651" indent="0">
              <a:buNone/>
              <a:defRPr sz="1597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565" y="2170847"/>
            <a:ext cx="4034577" cy="3943971"/>
          </a:xfrm>
        </p:spPr>
        <p:txBody>
          <a:bodyPr/>
          <a:lstStyle>
            <a:lvl1pPr>
              <a:defRPr sz="2395">
                <a:latin typeface="Calibri" pitchFamily="34" charset="0"/>
              </a:defRPr>
            </a:lvl1pPr>
            <a:lvl2pPr>
              <a:defRPr sz="1996">
                <a:latin typeface="Calibri" pitchFamily="34" charset="0"/>
              </a:defRPr>
            </a:lvl2pPr>
            <a:lvl3pPr>
              <a:defRPr sz="1797">
                <a:latin typeface="Calibri" pitchFamily="34" charset="0"/>
              </a:defRPr>
            </a:lvl3pPr>
            <a:lvl4pPr>
              <a:defRPr sz="1597">
                <a:latin typeface="Calibri" pitchFamily="34" charset="0"/>
              </a:defRPr>
            </a:lvl4pPr>
            <a:lvl5pPr>
              <a:defRPr sz="1597">
                <a:latin typeface="Calibri" pitchFamily="34" charset="0"/>
              </a:defRPr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8574" y="1532270"/>
            <a:ext cx="4036161" cy="638577"/>
          </a:xfrm>
        </p:spPr>
        <p:txBody>
          <a:bodyPr anchor="b"/>
          <a:lstStyle>
            <a:lvl1pPr marL="0" indent="0">
              <a:buNone/>
              <a:defRPr sz="2395" b="1">
                <a:latin typeface="Calibri" pitchFamily="34" charset="0"/>
              </a:defRPr>
            </a:lvl1pPr>
            <a:lvl2pPr marL="456331" indent="0">
              <a:buNone/>
              <a:defRPr sz="1996" b="1"/>
            </a:lvl2pPr>
            <a:lvl3pPr marL="912663" indent="0">
              <a:buNone/>
              <a:defRPr sz="1797" b="1"/>
            </a:lvl3pPr>
            <a:lvl4pPr marL="1368994" indent="0">
              <a:buNone/>
              <a:defRPr sz="1597" b="1"/>
            </a:lvl4pPr>
            <a:lvl5pPr marL="1825325" indent="0">
              <a:buNone/>
              <a:defRPr sz="1597" b="1"/>
            </a:lvl5pPr>
            <a:lvl6pPr marL="2281657" indent="0">
              <a:buNone/>
              <a:defRPr sz="1597" b="1"/>
            </a:lvl6pPr>
            <a:lvl7pPr marL="2737988" indent="0">
              <a:buNone/>
              <a:defRPr sz="1597" b="1"/>
            </a:lvl7pPr>
            <a:lvl8pPr marL="3194319" indent="0">
              <a:buNone/>
              <a:defRPr sz="1597" b="1"/>
            </a:lvl8pPr>
            <a:lvl9pPr marL="3650651" indent="0">
              <a:buNone/>
              <a:defRPr sz="1597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8574" y="2170847"/>
            <a:ext cx="4036161" cy="3943971"/>
          </a:xfrm>
        </p:spPr>
        <p:txBody>
          <a:bodyPr/>
          <a:lstStyle>
            <a:lvl1pPr>
              <a:defRPr sz="2395">
                <a:latin typeface="Calibri" pitchFamily="34" charset="0"/>
              </a:defRPr>
            </a:lvl1pPr>
            <a:lvl2pPr>
              <a:defRPr sz="1996">
                <a:latin typeface="Calibri" pitchFamily="34" charset="0"/>
              </a:defRPr>
            </a:lvl2pPr>
            <a:lvl3pPr>
              <a:defRPr sz="1797">
                <a:latin typeface="Calibri" pitchFamily="34" charset="0"/>
              </a:defRPr>
            </a:lvl3pPr>
            <a:lvl4pPr>
              <a:defRPr sz="1597">
                <a:latin typeface="Calibri" pitchFamily="34" charset="0"/>
              </a:defRPr>
            </a:lvl4pPr>
            <a:lvl5pPr>
              <a:defRPr sz="1597">
                <a:latin typeface="Calibri" pitchFamily="34" charset="0"/>
              </a:defRPr>
            </a:lvl5pPr>
            <a:lvl6pPr>
              <a:defRPr sz="1597"/>
            </a:lvl6pPr>
            <a:lvl7pPr>
              <a:defRPr sz="1597"/>
            </a:lvl7pPr>
            <a:lvl8pPr>
              <a:defRPr sz="1597"/>
            </a:lvl8pPr>
            <a:lvl9pPr>
              <a:defRPr sz="159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924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66" y="444246"/>
            <a:ext cx="7580881" cy="760589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949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34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565" y="272544"/>
            <a:ext cx="3004135" cy="1159898"/>
          </a:xfrm>
        </p:spPr>
        <p:txBody>
          <a:bodyPr anchor="b"/>
          <a:lstStyle>
            <a:lvl1pPr algn="l">
              <a:defRPr sz="1996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085" y="272545"/>
            <a:ext cx="5104650" cy="5842274"/>
          </a:xfrm>
        </p:spPr>
        <p:txBody>
          <a:bodyPr/>
          <a:lstStyle>
            <a:lvl1pPr>
              <a:defRPr sz="3194">
                <a:latin typeface="Calibri" pitchFamily="34" charset="0"/>
              </a:defRPr>
            </a:lvl1pPr>
            <a:lvl2pPr>
              <a:defRPr sz="2795">
                <a:latin typeface="Calibri" pitchFamily="34" charset="0"/>
              </a:defRPr>
            </a:lvl2pPr>
            <a:lvl3pPr>
              <a:defRPr sz="2395">
                <a:latin typeface="Calibri" pitchFamily="34" charset="0"/>
              </a:defRPr>
            </a:lvl3pPr>
            <a:lvl4pPr>
              <a:defRPr sz="1996">
                <a:latin typeface="Calibri" pitchFamily="34" charset="0"/>
              </a:defRPr>
            </a:lvl4pPr>
            <a:lvl5pPr>
              <a:defRPr sz="1996">
                <a:latin typeface="Calibri" pitchFamily="34" charset="0"/>
              </a:defRPr>
            </a:lvl5pPr>
            <a:lvl6pPr>
              <a:defRPr sz="1996"/>
            </a:lvl6pPr>
            <a:lvl7pPr>
              <a:defRPr sz="1996"/>
            </a:lvl7pPr>
            <a:lvl8pPr>
              <a:defRPr sz="1996"/>
            </a:lvl8pPr>
            <a:lvl9pPr>
              <a:defRPr sz="199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6565" y="1432443"/>
            <a:ext cx="3004135" cy="4682376"/>
          </a:xfrm>
        </p:spPr>
        <p:txBody>
          <a:bodyPr/>
          <a:lstStyle>
            <a:lvl1pPr marL="0" indent="0">
              <a:buNone/>
              <a:defRPr sz="1397">
                <a:latin typeface="Calibri" pitchFamily="34" charset="0"/>
              </a:defRPr>
            </a:lvl1pPr>
            <a:lvl2pPr marL="456331" indent="0">
              <a:buNone/>
              <a:defRPr sz="1198"/>
            </a:lvl2pPr>
            <a:lvl3pPr marL="912663" indent="0">
              <a:buNone/>
              <a:defRPr sz="998"/>
            </a:lvl3pPr>
            <a:lvl4pPr marL="1368994" indent="0">
              <a:buNone/>
              <a:defRPr sz="898"/>
            </a:lvl4pPr>
            <a:lvl5pPr marL="1825325" indent="0">
              <a:buNone/>
              <a:defRPr sz="898"/>
            </a:lvl5pPr>
            <a:lvl6pPr marL="2281657" indent="0">
              <a:buNone/>
              <a:defRPr sz="898"/>
            </a:lvl6pPr>
            <a:lvl7pPr marL="2737988" indent="0">
              <a:buNone/>
              <a:defRPr sz="898"/>
            </a:lvl7pPr>
            <a:lvl8pPr marL="3194319" indent="0">
              <a:buNone/>
              <a:defRPr sz="898"/>
            </a:lvl8pPr>
            <a:lvl9pPr marL="3650651" indent="0">
              <a:buNone/>
              <a:defRPr sz="89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224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9799" y="4791710"/>
            <a:ext cx="5478780" cy="565688"/>
          </a:xfrm>
        </p:spPr>
        <p:txBody>
          <a:bodyPr anchor="b"/>
          <a:lstStyle>
            <a:lvl1pPr algn="l">
              <a:defRPr sz="1996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89799" y="611640"/>
            <a:ext cx="5478780" cy="4107180"/>
          </a:xfrm>
        </p:spPr>
        <p:txBody>
          <a:bodyPr/>
          <a:lstStyle>
            <a:lvl1pPr marL="0" indent="0">
              <a:buNone/>
              <a:defRPr sz="3194">
                <a:latin typeface="Calibri" pitchFamily="34" charset="0"/>
              </a:defRPr>
            </a:lvl1pPr>
            <a:lvl2pPr marL="456331" indent="0">
              <a:buNone/>
              <a:defRPr sz="2795"/>
            </a:lvl2pPr>
            <a:lvl3pPr marL="912663" indent="0">
              <a:buNone/>
              <a:defRPr sz="2395"/>
            </a:lvl3pPr>
            <a:lvl4pPr marL="1368994" indent="0">
              <a:buNone/>
              <a:defRPr sz="1996"/>
            </a:lvl4pPr>
            <a:lvl5pPr marL="1825325" indent="0">
              <a:buNone/>
              <a:defRPr sz="1996"/>
            </a:lvl5pPr>
            <a:lvl6pPr marL="2281657" indent="0">
              <a:buNone/>
              <a:defRPr sz="1996"/>
            </a:lvl6pPr>
            <a:lvl7pPr marL="2737988" indent="0">
              <a:buNone/>
              <a:defRPr sz="1996"/>
            </a:lvl7pPr>
            <a:lvl8pPr marL="3194319" indent="0">
              <a:buNone/>
              <a:defRPr sz="1996"/>
            </a:lvl8pPr>
            <a:lvl9pPr marL="3650651" indent="0">
              <a:buNone/>
              <a:defRPr sz="1996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9799" y="5357398"/>
            <a:ext cx="5478780" cy="803372"/>
          </a:xfrm>
        </p:spPr>
        <p:txBody>
          <a:bodyPr/>
          <a:lstStyle>
            <a:lvl1pPr marL="0" indent="0">
              <a:buNone/>
              <a:defRPr sz="1397">
                <a:latin typeface="Calibri" pitchFamily="34" charset="0"/>
              </a:defRPr>
            </a:lvl1pPr>
            <a:lvl2pPr marL="456331" indent="0">
              <a:buNone/>
              <a:defRPr sz="1198"/>
            </a:lvl2pPr>
            <a:lvl3pPr marL="912663" indent="0">
              <a:buNone/>
              <a:defRPr sz="998"/>
            </a:lvl3pPr>
            <a:lvl4pPr marL="1368994" indent="0">
              <a:buNone/>
              <a:defRPr sz="898"/>
            </a:lvl4pPr>
            <a:lvl5pPr marL="1825325" indent="0">
              <a:buNone/>
              <a:defRPr sz="898"/>
            </a:lvl5pPr>
            <a:lvl6pPr marL="2281657" indent="0">
              <a:buNone/>
              <a:defRPr sz="898"/>
            </a:lvl6pPr>
            <a:lvl7pPr marL="2737988" indent="0">
              <a:buNone/>
              <a:defRPr sz="898"/>
            </a:lvl7pPr>
            <a:lvl8pPr marL="3194319" indent="0">
              <a:buNone/>
              <a:defRPr sz="898"/>
            </a:lvl8pPr>
            <a:lvl9pPr marL="3650651" indent="0">
              <a:buNone/>
              <a:defRPr sz="89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35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07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48350" y="228177"/>
            <a:ext cx="2182951" cy="6094218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324" y="228177"/>
            <a:ext cx="6399837" cy="6094218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3207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324" y="228177"/>
            <a:ext cx="8734976" cy="760589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7289" y="1359552"/>
            <a:ext cx="3866535" cy="4962843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56012" y="1359553"/>
            <a:ext cx="3866534" cy="2405362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56012" y="3917033"/>
            <a:ext cx="3866534" cy="2405362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2030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324" y="228177"/>
            <a:ext cx="8734976" cy="760589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7289" y="1359552"/>
            <a:ext cx="3866535" cy="4962843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012" y="1359552"/>
            <a:ext cx="3866534" cy="4962843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460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130" y="370787"/>
            <a:ext cx="7580881" cy="760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324" y="1359552"/>
            <a:ext cx="7885258" cy="4962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31300" cy="228177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b="0">
              <a:latin typeface="Times New Roman" pitchFamily="18" charset="0"/>
              <a:cs typeface="+mn-cs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86844" y="-26938"/>
            <a:ext cx="1307868" cy="2577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198" dirty="0">
                <a:solidFill>
                  <a:schemeClr val="bg1"/>
                </a:solidFill>
                <a:latin typeface="Times New Roman" pitchFamily="18" charset="0"/>
                <a:cs typeface="+mn-cs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27048" y="6599535"/>
            <a:ext cx="312471" cy="230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998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3451" y="6617123"/>
            <a:ext cx="4637770" cy="230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98" b="0" i="0" dirty="0">
                <a:latin typeface="Calibri" pitchFamily="34" charset="0"/>
              </a:rPr>
              <a:t>Bryant</a:t>
            </a:r>
            <a:r>
              <a:rPr lang="en-US" sz="998" b="0" i="0" baseline="0" dirty="0">
                <a:latin typeface="Calibri" pitchFamily="34" charset="0"/>
              </a:rPr>
              <a:t> and </a:t>
            </a:r>
            <a:r>
              <a:rPr lang="en-US" sz="998" b="0" i="0" baseline="0" dirty="0" err="1">
                <a:latin typeface="Calibri" pitchFamily="34" charset="0"/>
              </a:rPr>
              <a:t>O’Hallaron</a:t>
            </a:r>
            <a:r>
              <a:rPr lang="en-US" sz="998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998" b="0" i="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34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marL="118837" indent="-118837" algn="l" rtl="0" eaLnBrk="0" fontAlgn="base" hangingPunct="0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8837" indent="-118837" algn="l" rtl="0" eaLnBrk="0" fontAlgn="base" hangingPunct="0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Calibri" pitchFamily="34" charset="0"/>
        </a:defRPr>
      </a:lvl2pPr>
      <a:lvl3pPr marL="118837" indent="-118837" algn="l" rtl="0" eaLnBrk="0" fontAlgn="base" hangingPunct="0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Calibri" pitchFamily="34" charset="0"/>
        </a:defRPr>
      </a:lvl3pPr>
      <a:lvl4pPr marL="118837" indent="-118837" algn="l" rtl="0" eaLnBrk="0" fontAlgn="base" hangingPunct="0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Calibri" pitchFamily="34" charset="0"/>
        </a:defRPr>
      </a:lvl4pPr>
      <a:lvl5pPr marL="118837" indent="-118837" algn="l" rtl="0" eaLnBrk="0" fontAlgn="base" hangingPunct="0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Calibri" pitchFamily="34" charset="0"/>
        </a:defRPr>
      </a:lvl5pPr>
      <a:lvl6pPr marL="575168" algn="l" rtl="0" eaLnBrk="1" fontAlgn="base" hangingPunct="1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Arial Narrow" pitchFamily="34" charset="0"/>
        </a:defRPr>
      </a:lvl6pPr>
      <a:lvl7pPr marL="1031499" algn="l" rtl="0" eaLnBrk="1" fontAlgn="base" hangingPunct="1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Arial Narrow" pitchFamily="34" charset="0"/>
        </a:defRPr>
      </a:lvl7pPr>
      <a:lvl8pPr marL="1487831" algn="l" rtl="0" eaLnBrk="1" fontAlgn="base" hangingPunct="1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Arial Narrow" pitchFamily="34" charset="0"/>
        </a:defRPr>
      </a:lvl8pPr>
      <a:lvl9pPr marL="1944162" algn="l" rtl="0" eaLnBrk="1" fontAlgn="base" hangingPunct="1">
        <a:spcBef>
          <a:spcPct val="0"/>
        </a:spcBef>
        <a:spcAft>
          <a:spcPct val="0"/>
        </a:spcAft>
        <a:defRPr sz="3593" b="1">
          <a:solidFill>
            <a:schemeClr val="tx1"/>
          </a:solidFill>
          <a:latin typeface="Arial Narrow" pitchFamily="34" charset="0"/>
        </a:defRPr>
      </a:lvl9pPr>
    </p:titleStyle>
    <p:bodyStyle>
      <a:lvl1pPr marL="342248" indent="-342248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395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1538" indent="-285207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1996">
          <a:solidFill>
            <a:schemeClr val="tx1"/>
          </a:solidFill>
          <a:latin typeface="Calibri" pitchFamily="34" charset="0"/>
        </a:defRPr>
      </a:lvl2pPr>
      <a:lvl3pPr marL="1140828" indent="-228166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1996">
          <a:solidFill>
            <a:schemeClr val="tx1"/>
          </a:solidFill>
          <a:latin typeface="Calibri" pitchFamily="34" charset="0"/>
        </a:defRPr>
      </a:lvl3pPr>
      <a:lvl4pPr marL="1597160" indent="-228166" algn="l" rtl="0" eaLnBrk="0" fontAlgn="base" hangingPunct="0">
        <a:spcBef>
          <a:spcPct val="20000"/>
        </a:spcBef>
        <a:spcAft>
          <a:spcPct val="0"/>
        </a:spcAft>
        <a:buChar char="–"/>
        <a:defRPr sz="1996">
          <a:solidFill>
            <a:schemeClr val="tx1"/>
          </a:solidFill>
          <a:latin typeface="Calibri" pitchFamily="34" charset="0"/>
        </a:defRPr>
      </a:lvl4pPr>
      <a:lvl5pPr marL="2053491" indent="-228166" algn="l" rtl="0" eaLnBrk="0" fontAlgn="base" hangingPunct="0">
        <a:spcBef>
          <a:spcPct val="20000"/>
        </a:spcBef>
        <a:spcAft>
          <a:spcPct val="0"/>
        </a:spcAft>
        <a:buChar char="»"/>
        <a:defRPr sz="1996">
          <a:solidFill>
            <a:schemeClr val="tx1"/>
          </a:solidFill>
          <a:latin typeface="Calibri" pitchFamily="34" charset="0"/>
        </a:defRPr>
      </a:lvl5pPr>
      <a:lvl6pPr marL="2509822" indent="-228166" algn="l" rtl="0" eaLnBrk="1" fontAlgn="base" hangingPunct="1">
        <a:spcBef>
          <a:spcPct val="20000"/>
        </a:spcBef>
        <a:spcAft>
          <a:spcPct val="0"/>
        </a:spcAft>
        <a:buChar char="»"/>
        <a:defRPr sz="1996">
          <a:solidFill>
            <a:schemeClr val="tx1"/>
          </a:solidFill>
          <a:latin typeface="Arial" charset="0"/>
        </a:defRPr>
      </a:lvl6pPr>
      <a:lvl7pPr marL="2966154" indent="-228166" algn="l" rtl="0" eaLnBrk="1" fontAlgn="base" hangingPunct="1">
        <a:spcBef>
          <a:spcPct val="20000"/>
        </a:spcBef>
        <a:spcAft>
          <a:spcPct val="0"/>
        </a:spcAft>
        <a:buChar char="»"/>
        <a:defRPr sz="1996">
          <a:solidFill>
            <a:schemeClr val="tx1"/>
          </a:solidFill>
          <a:latin typeface="Arial" charset="0"/>
        </a:defRPr>
      </a:lvl7pPr>
      <a:lvl8pPr marL="3422485" indent="-228166" algn="l" rtl="0" eaLnBrk="1" fontAlgn="base" hangingPunct="1">
        <a:spcBef>
          <a:spcPct val="20000"/>
        </a:spcBef>
        <a:spcAft>
          <a:spcPct val="0"/>
        </a:spcAft>
        <a:buChar char="»"/>
        <a:defRPr sz="1996">
          <a:solidFill>
            <a:schemeClr val="tx1"/>
          </a:solidFill>
          <a:latin typeface="Arial" charset="0"/>
        </a:defRPr>
      </a:lvl8pPr>
      <a:lvl9pPr marL="3878816" indent="-228166" algn="l" rtl="0" eaLnBrk="1" fontAlgn="base" hangingPunct="1">
        <a:spcBef>
          <a:spcPct val="20000"/>
        </a:spcBef>
        <a:spcAft>
          <a:spcPct val="0"/>
        </a:spcAft>
        <a:buChar char="»"/>
        <a:defRPr sz="1996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56331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2pPr>
      <a:lvl3pPr marL="912663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3pPr>
      <a:lvl4pPr marL="1368994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4pPr>
      <a:lvl5pPr marL="1825325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5pPr>
      <a:lvl6pPr marL="2281657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6pPr>
      <a:lvl7pPr marL="2737988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7pPr>
      <a:lvl8pPr marL="3194319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8pPr>
      <a:lvl9pPr marL="3650651" algn="l" defTabSz="912663" rtl="0" eaLnBrk="1" latinLnBrk="0" hangingPunct="1">
        <a:defRPr sz="17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686647" y="1521178"/>
            <a:ext cx="7758007" cy="2174017"/>
          </a:xfrm>
        </p:spPr>
        <p:txBody>
          <a:bodyPr/>
          <a:lstStyle/>
          <a:p>
            <a:r>
              <a:rPr lang="en-US" dirty="0"/>
              <a:t>Processor Architecture: Pipelined Implementation</a:t>
            </a:r>
            <a:br>
              <a:rPr lang="en-US" dirty="0"/>
            </a:br>
            <a:br>
              <a:rPr lang="en-US" dirty="0"/>
            </a:br>
            <a:br>
              <a:rPr lang="en-US" b="0" dirty="0"/>
            </a:br>
            <a:endParaRPr lang="en-US" sz="1996" b="0" dirty="0"/>
          </a:p>
        </p:txBody>
      </p:sp>
    </p:spTree>
    <p:extLst>
      <p:ext uri="{BB962C8B-B14F-4D97-AF65-F5344CB8AC3E}">
        <p14:creationId xmlns:p14="http://schemas.microsoft.com/office/powerpoint/2010/main" val="13406369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ChangeArrowheads="1"/>
          </p:cNvSpPr>
          <p:nvPr/>
        </p:nvSpPr>
        <p:spPr bwMode="auto">
          <a:xfrm>
            <a:off x="7239000" y="6172200"/>
            <a:ext cx="1676400" cy="6731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5614987" cy="779463"/>
          </a:xfrm>
        </p:spPr>
        <p:txBody>
          <a:bodyPr/>
          <a:lstStyle/>
          <a:p>
            <a:r>
              <a:rPr lang="en-US"/>
              <a:t>SEQ Stages</a:t>
            </a:r>
          </a:p>
        </p:txBody>
      </p:sp>
      <p:sp>
        <p:nvSpPr>
          <p:cNvPr id="330756" name="Rectangle 4"/>
          <p:cNvSpPr>
            <a:spLocks noGrp="1" noChangeArrowheads="1"/>
          </p:cNvSpPr>
          <p:nvPr>
            <p:ph idx="1"/>
          </p:nvPr>
        </p:nvSpPr>
        <p:spPr>
          <a:xfrm>
            <a:off x="290513" y="1219200"/>
            <a:ext cx="4662487" cy="5213350"/>
          </a:xfrm>
        </p:spPr>
        <p:txBody>
          <a:bodyPr/>
          <a:lstStyle/>
          <a:p>
            <a:r>
              <a:rPr lang="en-US" sz="2000"/>
              <a:t>Fetch</a:t>
            </a:r>
          </a:p>
          <a:p>
            <a:pPr lvl="1"/>
            <a:r>
              <a:rPr lang="en-US" sz="1800"/>
              <a:t>Read instruction from instruction memory</a:t>
            </a:r>
          </a:p>
          <a:p>
            <a:r>
              <a:rPr lang="en-US" sz="2000"/>
              <a:t>Decode</a:t>
            </a:r>
          </a:p>
          <a:p>
            <a:pPr lvl="1"/>
            <a:r>
              <a:rPr lang="en-US" sz="1800"/>
              <a:t>Read program registers</a:t>
            </a:r>
          </a:p>
          <a:p>
            <a:r>
              <a:rPr lang="en-US" sz="2000"/>
              <a:t>Execute</a:t>
            </a:r>
          </a:p>
          <a:p>
            <a:pPr lvl="1"/>
            <a:r>
              <a:rPr lang="en-US" sz="1800"/>
              <a:t>Compute value or address</a:t>
            </a:r>
          </a:p>
          <a:p>
            <a:r>
              <a:rPr lang="en-US" sz="2000"/>
              <a:t>Memory</a:t>
            </a:r>
          </a:p>
          <a:p>
            <a:pPr lvl="1"/>
            <a:r>
              <a:rPr lang="en-US" sz="1800"/>
              <a:t>Read or write data</a:t>
            </a:r>
          </a:p>
          <a:p>
            <a:r>
              <a:rPr lang="en-US" sz="2000"/>
              <a:t>Write Back</a:t>
            </a:r>
          </a:p>
          <a:p>
            <a:pPr lvl="1"/>
            <a:r>
              <a:rPr lang="en-US" sz="1800"/>
              <a:t>Write program registers</a:t>
            </a:r>
          </a:p>
          <a:p>
            <a:r>
              <a:rPr lang="en-US" sz="2000"/>
              <a:t>PC</a:t>
            </a:r>
          </a:p>
          <a:p>
            <a:pPr lvl="1"/>
            <a:r>
              <a:rPr lang="en-US" sz="1800"/>
              <a:t>Update program counter</a:t>
            </a:r>
          </a:p>
        </p:txBody>
      </p:sp>
      <p:sp>
        <p:nvSpPr>
          <p:cNvPr id="330757" name="Freeform 5"/>
          <p:cNvSpPr>
            <a:spLocks/>
          </p:cNvSpPr>
          <p:nvPr/>
        </p:nvSpPr>
        <p:spPr bwMode="auto">
          <a:xfrm>
            <a:off x="6091238" y="5713413"/>
            <a:ext cx="254000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1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1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58" name="Freeform 6"/>
          <p:cNvSpPr>
            <a:spLocks/>
          </p:cNvSpPr>
          <p:nvPr/>
        </p:nvSpPr>
        <p:spPr bwMode="auto">
          <a:xfrm>
            <a:off x="6981825" y="5713413"/>
            <a:ext cx="255588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0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0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59" name="Rectangle 7"/>
          <p:cNvSpPr>
            <a:spLocks noChangeArrowheads="1"/>
          </p:cNvSpPr>
          <p:nvPr/>
        </p:nvSpPr>
        <p:spPr bwMode="auto">
          <a:xfrm>
            <a:off x="6132513" y="322263"/>
            <a:ext cx="171450" cy="5053012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60" name="Rectangle 8"/>
          <p:cNvSpPr>
            <a:spLocks noChangeArrowheads="1"/>
          </p:cNvSpPr>
          <p:nvPr/>
        </p:nvSpPr>
        <p:spPr bwMode="auto">
          <a:xfrm>
            <a:off x="5983288" y="5445125"/>
            <a:ext cx="515937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Instruction</a:t>
            </a:r>
            <a:endParaRPr lang="en-US"/>
          </a:p>
        </p:txBody>
      </p:sp>
      <p:sp>
        <p:nvSpPr>
          <p:cNvPr id="330761" name="Rectangle 9"/>
          <p:cNvSpPr>
            <a:spLocks noChangeArrowheads="1"/>
          </p:cNvSpPr>
          <p:nvPr/>
        </p:nvSpPr>
        <p:spPr bwMode="auto">
          <a:xfrm>
            <a:off x="6032500" y="5564188"/>
            <a:ext cx="411163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memory</a:t>
            </a:r>
            <a:endParaRPr lang="en-US"/>
          </a:p>
        </p:txBody>
      </p:sp>
      <p:sp>
        <p:nvSpPr>
          <p:cNvPr id="330762" name="Rectangle 10"/>
          <p:cNvSpPr>
            <a:spLocks noChangeArrowheads="1"/>
          </p:cNvSpPr>
          <p:nvPr/>
        </p:nvSpPr>
        <p:spPr bwMode="auto">
          <a:xfrm>
            <a:off x="5635625" y="5386388"/>
            <a:ext cx="1150938" cy="3444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63" name="Rectangle 11"/>
          <p:cNvSpPr>
            <a:spLocks noChangeArrowheads="1"/>
          </p:cNvSpPr>
          <p:nvPr/>
        </p:nvSpPr>
        <p:spPr bwMode="auto">
          <a:xfrm>
            <a:off x="5622925" y="5373688"/>
            <a:ext cx="1147763" cy="341312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64" name="Rectangle 12"/>
          <p:cNvSpPr>
            <a:spLocks noChangeArrowheads="1"/>
          </p:cNvSpPr>
          <p:nvPr/>
        </p:nvSpPr>
        <p:spPr bwMode="auto">
          <a:xfrm>
            <a:off x="5969000" y="5430838"/>
            <a:ext cx="515938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Instruction</a:t>
            </a:r>
            <a:endParaRPr lang="en-US"/>
          </a:p>
        </p:txBody>
      </p:sp>
      <p:sp>
        <p:nvSpPr>
          <p:cNvPr id="330765" name="Rectangle 13"/>
          <p:cNvSpPr>
            <a:spLocks noChangeArrowheads="1"/>
          </p:cNvSpPr>
          <p:nvPr/>
        </p:nvSpPr>
        <p:spPr bwMode="auto">
          <a:xfrm>
            <a:off x="6018213" y="5549900"/>
            <a:ext cx="411162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memory</a:t>
            </a:r>
            <a:endParaRPr lang="en-US"/>
          </a:p>
        </p:txBody>
      </p:sp>
      <p:sp>
        <p:nvSpPr>
          <p:cNvPr id="330766" name="Rectangle 14"/>
          <p:cNvSpPr>
            <a:spLocks noChangeArrowheads="1"/>
          </p:cNvSpPr>
          <p:nvPr/>
        </p:nvSpPr>
        <p:spPr bwMode="auto">
          <a:xfrm>
            <a:off x="7054850" y="5445125"/>
            <a:ext cx="187325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PC</a:t>
            </a:r>
            <a:endParaRPr lang="en-US"/>
          </a:p>
        </p:txBody>
      </p:sp>
      <p:sp>
        <p:nvSpPr>
          <p:cNvPr id="330767" name="Rectangle 15"/>
          <p:cNvSpPr>
            <a:spLocks noChangeArrowheads="1"/>
          </p:cNvSpPr>
          <p:nvPr/>
        </p:nvSpPr>
        <p:spPr bwMode="auto">
          <a:xfrm>
            <a:off x="6905625" y="5564188"/>
            <a:ext cx="492125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increment</a:t>
            </a:r>
            <a:endParaRPr lang="en-US"/>
          </a:p>
        </p:txBody>
      </p:sp>
      <p:sp>
        <p:nvSpPr>
          <p:cNvPr id="330768" name="Rectangle 16"/>
          <p:cNvSpPr>
            <a:spLocks noChangeArrowheads="1"/>
          </p:cNvSpPr>
          <p:nvPr/>
        </p:nvSpPr>
        <p:spPr bwMode="auto">
          <a:xfrm>
            <a:off x="6865938" y="5386388"/>
            <a:ext cx="515937" cy="3444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69" name="Rectangle 17"/>
          <p:cNvSpPr>
            <a:spLocks noChangeArrowheads="1"/>
          </p:cNvSpPr>
          <p:nvPr/>
        </p:nvSpPr>
        <p:spPr bwMode="auto">
          <a:xfrm>
            <a:off x="6854825" y="5373688"/>
            <a:ext cx="511175" cy="341312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70" name="Rectangle 18"/>
          <p:cNvSpPr>
            <a:spLocks noChangeArrowheads="1"/>
          </p:cNvSpPr>
          <p:nvPr/>
        </p:nvSpPr>
        <p:spPr bwMode="auto">
          <a:xfrm>
            <a:off x="7040563" y="5430838"/>
            <a:ext cx="187325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PC</a:t>
            </a:r>
            <a:endParaRPr lang="en-US"/>
          </a:p>
        </p:txBody>
      </p:sp>
      <p:sp>
        <p:nvSpPr>
          <p:cNvPr id="330771" name="Rectangle 19"/>
          <p:cNvSpPr>
            <a:spLocks noChangeArrowheads="1"/>
          </p:cNvSpPr>
          <p:nvPr/>
        </p:nvSpPr>
        <p:spPr bwMode="auto">
          <a:xfrm>
            <a:off x="6891338" y="5549900"/>
            <a:ext cx="492125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increment</a:t>
            </a:r>
            <a:endParaRPr lang="en-US"/>
          </a:p>
        </p:txBody>
      </p:sp>
      <p:sp>
        <p:nvSpPr>
          <p:cNvPr id="330772" name="Rectangle 20"/>
          <p:cNvSpPr>
            <a:spLocks noChangeArrowheads="1"/>
          </p:cNvSpPr>
          <p:nvPr/>
        </p:nvSpPr>
        <p:spPr bwMode="auto">
          <a:xfrm>
            <a:off x="6734175" y="2894013"/>
            <a:ext cx="192088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CC</a:t>
            </a:r>
            <a:endParaRPr lang="en-US"/>
          </a:p>
        </p:txBody>
      </p:sp>
      <p:sp>
        <p:nvSpPr>
          <p:cNvPr id="330773" name="Rectangle 21"/>
          <p:cNvSpPr>
            <a:spLocks noChangeArrowheads="1"/>
          </p:cNvSpPr>
          <p:nvPr/>
        </p:nvSpPr>
        <p:spPr bwMode="auto">
          <a:xfrm>
            <a:off x="6654800" y="2838450"/>
            <a:ext cx="301625" cy="2174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74" name="Rectangle 22"/>
          <p:cNvSpPr>
            <a:spLocks noChangeArrowheads="1"/>
          </p:cNvSpPr>
          <p:nvPr/>
        </p:nvSpPr>
        <p:spPr bwMode="auto">
          <a:xfrm>
            <a:off x="6642100" y="2827338"/>
            <a:ext cx="298450" cy="212725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75" name="Rectangle 23"/>
          <p:cNvSpPr>
            <a:spLocks noChangeArrowheads="1"/>
          </p:cNvSpPr>
          <p:nvPr/>
        </p:nvSpPr>
        <p:spPr bwMode="auto">
          <a:xfrm>
            <a:off x="6719888" y="2879725"/>
            <a:ext cx="192087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CC</a:t>
            </a:r>
            <a:endParaRPr lang="en-US"/>
          </a:p>
        </p:txBody>
      </p:sp>
      <p:sp>
        <p:nvSpPr>
          <p:cNvPr id="330776" name="Rectangle 24"/>
          <p:cNvSpPr>
            <a:spLocks noChangeArrowheads="1"/>
          </p:cNvSpPr>
          <p:nvPr/>
        </p:nvSpPr>
        <p:spPr bwMode="auto">
          <a:xfrm>
            <a:off x="7261225" y="2957513"/>
            <a:ext cx="242888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ALU</a:t>
            </a:r>
            <a:endParaRPr lang="en-US"/>
          </a:p>
        </p:txBody>
      </p:sp>
      <p:grpSp>
        <p:nvGrpSpPr>
          <p:cNvPr id="330777" name="Group 25"/>
          <p:cNvGrpSpPr>
            <a:grpSpLocks/>
          </p:cNvGrpSpPr>
          <p:nvPr/>
        </p:nvGrpSpPr>
        <p:grpSpPr bwMode="auto">
          <a:xfrm>
            <a:off x="6981825" y="2870200"/>
            <a:ext cx="736600" cy="268288"/>
            <a:chOff x="4398" y="1808"/>
            <a:chExt cx="464" cy="169"/>
          </a:xfrm>
        </p:grpSpPr>
        <p:sp>
          <p:nvSpPr>
            <p:cNvPr id="330778" name="Freeform 26"/>
            <p:cNvSpPr>
              <a:spLocks/>
            </p:cNvSpPr>
            <p:nvPr/>
          </p:nvSpPr>
          <p:spPr bwMode="auto">
            <a:xfrm>
              <a:off x="4407" y="1817"/>
              <a:ext cx="455" cy="160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228" y="0"/>
                </a:cxn>
                <a:cxn ang="0">
                  <a:pos x="683" y="0"/>
                </a:cxn>
                <a:cxn ang="0">
                  <a:pos x="910" y="321"/>
                </a:cxn>
                <a:cxn ang="0">
                  <a:pos x="0" y="321"/>
                </a:cxn>
              </a:cxnLst>
              <a:rect l="0" t="0" r="r" b="b"/>
              <a:pathLst>
                <a:path w="910" h="321">
                  <a:moveTo>
                    <a:pt x="0" y="321"/>
                  </a:moveTo>
                  <a:lnTo>
                    <a:pt x="228" y="0"/>
                  </a:lnTo>
                  <a:lnTo>
                    <a:pt x="683" y="0"/>
                  </a:lnTo>
                  <a:lnTo>
                    <a:pt x="910" y="321"/>
                  </a:lnTo>
                  <a:lnTo>
                    <a:pt x="0" y="3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79" name="Freeform 27"/>
            <p:cNvSpPr>
              <a:spLocks/>
            </p:cNvSpPr>
            <p:nvPr/>
          </p:nvSpPr>
          <p:spPr bwMode="auto">
            <a:xfrm>
              <a:off x="4398" y="1808"/>
              <a:ext cx="455" cy="160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227" y="0"/>
                </a:cxn>
                <a:cxn ang="0">
                  <a:pos x="682" y="0"/>
                </a:cxn>
                <a:cxn ang="0">
                  <a:pos x="909" y="321"/>
                </a:cxn>
                <a:cxn ang="0">
                  <a:pos x="0" y="321"/>
                </a:cxn>
              </a:cxnLst>
              <a:rect l="0" t="0" r="r" b="b"/>
              <a:pathLst>
                <a:path w="909" h="321">
                  <a:moveTo>
                    <a:pt x="0" y="321"/>
                  </a:moveTo>
                  <a:lnTo>
                    <a:pt x="227" y="0"/>
                  </a:lnTo>
                  <a:lnTo>
                    <a:pt x="682" y="0"/>
                  </a:lnTo>
                  <a:lnTo>
                    <a:pt x="909" y="321"/>
                  </a:lnTo>
                  <a:lnTo>
                    <a:pt x="0" y="321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0780" name="Rectangle 28"/>
          <p:cNvSpPr>
            <a:spLocks noChangeArrowheads="1"/>
          </p:cNvSpPr>
          <p:nvPr/>
        </p:nvSpPr>
        <p:spPr bwMode="auto">
          <a:xfrm>
            <a:off x="7246938" y="2943225"/>
            <a:ext cx="242887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ALU</a:t>
            </a:r>
            <a:endParaRPr lang="en-US"/>
          </a:p>
        </p:txBody>
      </p:sp>
      <p:sp>
        <p:nvSpPr>
          <p:cNvPr id="330781" name="Rectangle 29"/>
          <p:cNvSpPr>
            <a:spLocks noChangeArrowheads="1"/>
          </p:cNvSpPr>
          <p:nvPr/>
        </p:nvSpPr>
        <p:spPr bwMode="auto">
          <a:xfrm>
            <a:off x="6934200" y="1519238"/>
            <a:ext cx="260350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Data</a:t>
            </a:r>
            <a:endParaRPr lang="en-US"/>
          </a:p>
        </p:txBody>
      </p:sp>
      <p:sp>
        <p:nvSpPr>
          <p:cNvPr id="330782" name="Rectangle 30"/>
          <p:cNvSpPr>
            <a:spLocks noChangeArrowheads="1"/>
          </p:cNvSpPr>
          <p:nvPr/>
        </p:nvSpPr>
        <p:spPr bwMode="auto">
          <a:xfrm>
            <a:off x="6859588" y="1636713"/>
            <a:ext cx="41116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memory</a:t>
            </a:r>
            <a:endParaRPr lang="en-US"/>
          </a:p>
        </p:txBody>
      </p:sp>
      <p:sp>
        <p:nvSpPr>
          <p:cNvPr id="330783" name="Rectangle 31"/>
          <p:cNvSpPr>
            <a:spLocks noChangeArrowheads="1"/>
          </p:cNvSpPr>
          <p:nvPr/>
        </p:nvSpPr>
        <p:spPr bwMode="auto">
          <a:xfrm>
            <a:off x="6738938" y="1438275"/>
            <a:ext cx="600075" cy="3873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84" name="Rectangle 32"/>
          <p:cNvSpPr>
            <a:spLocks noChangeArrowheads="1"/>
          </p:cNvSpPr>
          <p:nvPr/>
        </p:nvSpPr>
        <p:spPr bwMode="auto">
          <a:xfrm>
            <a:off x="6727825" y="1425575"/>
            <a:ext cx="595313" cy="384175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85" name="Rectangle 33"/>
          <p:cNvSpPr>
            <a:spLocks noChangeArrowheads="1"/>
          </p:cNvSpPr>
          <p:nvPr/>
        </p:nvSpPr>
        <p:spPr bwMode="auto">
          <a:xfrm>
            <a:off x="6919913" y="1504950"/>
            <a:ext cx="26035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Data</a:t>
            </a:r>
            <a:endParaRPr lang="en-US"/>
          </a:p>
        </p:txBody>
      </p:sp>
      <p:sp>
        <p:nvSpPr>
          <p:cNvPr id="330786" name="Rectangle 34"/>
          <p:cNvSpPr>
            <a:spLocks noChangeArrowheads="1"/>
          </p:cNvSpPr>
          <p:nvPr/>
        </p:nvSpPr>
        <p:spPr bwMode="auto">
          <a:xfrm>
            <a:off x="6846888" y="1622425"/>
            <a:ext cx="411162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memory</a:t>
            </a:r>
            <a:endParaRPr lang="en-US"/>
          </a:p>
        </p:txBody>
      </p:sp>
      <p:grpSp>
        <p:nvGrpSpPr>
          <p:cNvPr id="330787" name="Group 35"/>
          <p:cNvGrpSpPr>
            <a:grpSpLocks/>
          </p:cNvGrpSpPr>
          <p:nvPr/>
        </p:nvGrpSpPr>
        <p:grpSpPr bwMode="auto">
          <a:xfrm>
            <a:off x="6940550" y="2884488"/>
            <a:ext cx="196850" cy="55562"/>
            <a:chOff x="4372" y="1817"/>
            <a:chExt cx="124" cy="35"/>
          </a:xfrm>
        </p:grpSpPr>
        <p:sp>
          <p:nvSpPr>
            <p:cNvPr id="330788" name="Line 36"/>
            <p:cNvSpPr>
              <a:spLocks noChangeShapeType="1"/>
            </p:cNvSpPr>
            <p:nvPr/>
          </p:nvSpPr>
          <p:spPr bwMode="auto">
            <a:xfrm flipH="1">
              <a:off x="4405" y="1834"/>
              <a:ext cx="9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89" name="Freeform 37"/>
            <p:cNvSpPr>
              <a:spLocks/>
            </p:cNvSpPr>
            <p:nvPr/>
          </p:nvSpPr>
          <p:spPr bwMode="auto">
            <a:xfrm>
              <a:off x="4372" y="1817"/>
              <a:ext cx="35" cy="35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35"/>
                </a:cxn>
                <a:cxn ang="0">
                  <a:pos x="70" y="70"/>
                </a:cxn>
                <a:cxn ang="0">
                  <a:pos x="70" y="0"/>
                </a:cxn>
              </a:cxnLst>
              <a:rect l="0" t="0" r="r" b="b"/>
              <a:pathLst>
                <a:path w="70" h="70">
                  <a:moveTo>
                    <a:pt x="70" y="0"/>
                  </a:moveTo>
                  <a:lnTo>
                    <a:pt x="0" y="35"/>
                  </a:lnTo>
                  <a:lnTo>
                    <a:pt x="70" y="7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0790" name="Rectangle 38"/>
          <p:cNvSpPr>
            <a:spLocks noChangeArrowheads="1"/>
          </p:cNvSpPr>
          <p:nvPr/>
        </p:nvSpPr>
        <p:spPr bwMode="auto">
          <a:xfrm>
            <a:off x="5029200" y="5502275"/>
            <a:ext cx="404813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1" name="Rectangle 39"/>
          <p:cNvSpPr>
            <a:spLocks noChangeArrowheads="1"/>
          </p:cNvSpPr>
          <p:nvPr/>
        </p:nvSpPr>
        <p:spPr bwMode="auto">
          <a:xfrm>
            <a:off x="4953000" y="5562600"/>
            <a:ext cx="541338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Fetch</a:t>
            </a:r>
            <a:endParaRPr lang="en-US" sz="1600"/>
          </a:p>
        </p:txBody>
      </p:sp>
      <p:sp>
        <p:nvSpPr>
          <p:cNvPr id="330792" name="Rectangle 40"/>
          <p:cNvSpPr>
            <a:spLocks noChangeArrowheads="1"/>
          </p:cNvSpPr>
          <p:nvPr/>
        </p:nvSpPr>
        <p:spPr bwMode="auto">
          <a:xfrm>
            <a:off x="5029200" y="4356100"/>
            <a:ext cx="5111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3" name="Rectangle 41"/>
          <p:cNvSpPr>
            <a:spLocks noChangeArrowheads="1"/>
          </p:cNvSpPr>
          <p:nvPr/>
        </p:nvSpPr>
        <p:spPr bwMode="auto">
          <a:xfrm>
            <a:off x="4953000" y="4343400"/>
            <a:ext cx="731838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Decode</a:t>
            </a:r>
            <a:endParaRPr lang="en-US" sz="1600"/>
          </a:p>
        </p:txBody>
      </p:sp>
      <p:sp>
        <p:nvSpPr>
          <p:cNvPr id="330794" name="Rectangle 42"/>
          <p:cNvSpPr>
            <a:spLocks noChangeArrowheads="1"/>
          </p:cNvSpPr>
          <p:nvPr/>
        </p:nvSpPr>
        <p:spPr bwMode="auto">
          <a:xfrm>
            <a:off x="5029200" y="2911475"/>
            <a:ext cx="536575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5" name="Rectangle 43"/>
          <p:cNvSpPr>
            <a:spLocks noChangeArrowheads="1"/>
          </p:cNvSpPr>
          <p:nvPr/>
        </p:nvSpPr>
        <p:spPr bwMode="auto">
          <a:xfrm>
            <a:off x="4953000" y="2971800"/>
            <a:ext cx="777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Execute</a:t>
            </a:r>
            <a:endParaRPr lang="en-US" sz="1600"/>
          </a:p>
        </p:txBody>
      </p:sp>
      <p:sp>
        <p:nvSpPr>
          <p:cNvPr id="330796" name="Rectangle 44"/>
          <p:cNvSpPr>
            <a:spLocks noChangeArrowheads="1"/>
          </p:cNvSpPr>
          <p:nvPr/>
        </p:nvSpPr>
        <p:spPr bwMode="auto">
          <a:xfrm>
            <a:off x="5029200" y="1554163"/>
            <a:ext cx="5365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7" name="Rectangle 45"/>
          <p:cNvSpPr>
            <a:spLocks noChangeArrowheads="1"/>
          </p:cNvSpPr>
          <p:nvPr/>
        </p:nvSpPr>
        <p:spPr bwMode="auto">
          <a:xfrm>
            <a:off x="4953000" y="1600200"/>
            <a:ext cx="776288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Memory</a:t>
            </a:r>
            <a:endParaRPr lang="en-US" sz="1600"/>
          </a:p>
        </p:txBody>
      </p:sp>
      <p:sp>
        <p:nvSpPr>
          <p:cNvPr id="330798" name="Rectangle 46"/>
          <p:cNvSpPr>
            <a:spLocks noChangeArrowheads="1"/>
          </p:cNvSpPr>
          <p:nvPr/>
        </p:nvSpPr>
        <p:spPr bwMode="auto">
          <a:xfrm>
            <a:off x="5029200" y="746125"/>
            <a:ext cx="676275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9" name="Rectangle 47"/>
          <p:cNvSpPr>
            <a:spLocks noChangeArrowheads="1"/>
          </p:cNvSpPr>
          <p:nvPr/>
        </p:nvSpPr>
        <p:spPr bwMode="auto">
          <a:xfrm>
            <a:off x="4953000" y="762000"/>
            <a:ext cx="10287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Write back</a:t>
            </a:r>
            <a:endParaRPr lang="en-US" sz="1600"/>
          </a:p>
        </p:txBody>
      </p:sp>
      <p:sp>
        <p:nvSpPr>
          <p:cNvPr id="330800" name="Rectangle 48"/>
          <p:cNvSpPr>
            <a:spLocks noChangeArrowheads="1"/>
          </p:cNvSpPr>
          <p:nvPr/>
        </p:nvSpPr>
        <p:spPr bwMode="auto">
          <a:xfrm>
            <a:off x="5495925" y="4906963"/>
            <a:ext cx="595313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01" name="Rectangle 49"/>
          <p:cNvSpPr>
            <a:spLocks noChangeArrowheads="1"/>
          </p:cNvSpPr>
          <p:nvPr/>
        </p:nvSpPr>
        <p:spPr bwMode="auto">
          <a:xfrm>
            <a:off x="5638800" y="4938713"/>
            <a:ext cx="244475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800" b="0">
                <a:solidFill>
                  <a:srgbClr val="000000"/>
                </a:solidFill>
              </a:rPr>
              <a:t>icode</a:t>
            </a:r>
            <a:endParaRPr lang="en-US" sz="800"/>
          </a:p>
        </p:txBody>
      </p:sp>
      <p:sp>
        <p:nvSpPr>
          <p:cNvPr id="330802" name="Rectangle 50"/>
          <p:cNvSpPr>
            <a:spLocks noChangeArrowheads="1"/>
          </p:cNvSpPr>
          <p:nvPr/>
        </p:nvSpPr>
        <p:spPr bwMode="auto">
          <a:xfrm>
            <a:off x="5818188" y="4938713"/>
            <a:ext cx="114300" cy="22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 b="0">
                <a:solidFill>
                  <a:srgbClr val="000000"/>
                </a:solidFill>
              </a:rPr>
              <a:t>, </a:t>
            </a:r>
            <a:endParaRPr lang="en-US" sz="1600"/>
          </a:p>
        </p:txBody>
      </p:sp>
      <p:sp>
        <p:nvSpPr>
          <p:cNvPr id="330803" name="Rectangle 51"/>
          <p:cNvSpPr>
            <a:spLocks noChangeArrowheads="1"/>
          </p:cNvSpPr>
          <p:nvPr/>
        </p:nvSpPr>
        <p:spPr bwMode="auto">
          <a:xfrm>
            <a:off x="5902325" y="4938713"/>
            <a:ext cx="165100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ifun</a:t>
            </a:r>
            <a:endParaRPr lang="en-US"/>
          </a:p>
        </p:txBody>
      </p:sp>
      <p:sp>
        <p:nvSpPr>
          <p:cNvPr id="330804" name="Rectangle 52"/>
          <p:cNvSpPr>
            <a:spLocks noChangeArrowheads="1"/>
          </p:cNvSpPr>
          <p:nvPr/>
        </p:nvSpPr>
        <p:spPr bwMode="auto">
          <a:xfrm>
            <a:off x="5757863" y="5057775"/>
            <a:ext cx="1016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800" b="0">
                <a:solidFill>
                  <a:srgbClr val="000000"/>
                </a:solidFill>
              </a:rPr>
              <a:t>rA</a:t>
            </a:r>
            <a:endParaRPr lang="en-US" sz="800"/>
          </a:p>
        </p:txBody>
      </p:sp>
      <p:sp>
        <p:nvSpPr>
          <p:cNvPr id="330805" name="Rectangle 53"/>
          <p:cNvSpPr>
            <a:spLocks noChangeArrowheads="1"/>
          </p:cNvSpPr>
          <p:nvPr/>
        </p:nvSpPr>
        <p:spPr bwMode="auto">
          <a:xfrm>
            <a:off x="5884863" y="5057775"/>
            <a:ext cx="10160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06" name="Rectangle 54"/>
          <p:cNvSpPr>
            <a:spLocks noChangeArrowheads="1"/>
          </p:cNvSpPr>
          <p:nvPr/>
        </p:nvSpPr>
        <p:spPr bwMode="auto">
          <a:xfrm>
            <a:off x="5962650" y="5057775"/>
            <a:ext cx="1016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rB</a:t>
            </a:r>
            <a:endParaRPr lang="en-US"/>
          </a:p>
        </p:txBody>
      </p:sp>
      <p:sp>
        <p:nvSpPr>
          <p:cNvPr id="330807" name="Rectangle 55"/>
          <p:cNvSpPr>
            <a:spLocks noChangeArrowheads="1"/>
          </p:cNvSpPr>
          <p:nvPr/>
        </p:nvSpPr>
        <p:spPr bwMode="auto">
          <a:xfrm>
            <a:off x="5864225" y="5175250"/>
            <a:ext cx="204788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valC</a:t>
            </a:r>
            <a:endParaRPr lang="en-US"/>
          </a:p>
        </p:txBody>
      </p:sp>
      <p:sp>
        <p:nvSpPr>
          <p:cNvPr id="330808" name="Rectangle 56"/>
          <p:cNvSpPr>
            <a:spLocks noChangeArrowheads="1"/>
          </p:cNvSpPr>
          <p:nvPr/>
        </p:nvSpPr>
        <p:spPr bwMode="auto">
          <a:xfrm>
            <a:off x="7300913" y="4491038"/>
            <a:ext cx="42386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Register</a:t>
            </a:r>
            <a:endParaRPr lang="en-US"/>
          </a:p>
        </p:txBody>
      </p:sp>
      <p:sp>
        <p:nvSpPr>
          <p:cNvPr id="330809" name="Rectangle 57"/>
          <p:cNvSpPr>
            <a:spLocks noChangeArrowheads="1"/>
          </p:cNvSpPr>
          <p:nvPr/>
        </p:nvSpPr>
        <p:spPr bwMode="auto">
          <a:xfrm>
            <a:off x="7421563" y="4608513"/>
            <a:ext cx="17621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file</a:t>
            </a:r>
            <a:endParaRPr lang="en-US"/>
          </a:p>
        </p:txBody>
      </p:sp>
      <p:sp>
        <p:nvSpPr>
          <p:cNvPr id="330810" name="Rectangle 58"/>
          <p:cNvSpPr>
            <a:spLocks noChangeArrowheads="1"/>
          </p:cNvSpPr>
          <p:nvPr/>
        </p:nvSpPr>
        <p:spPr bwMode="auto">
          <a:xfrm>
            <a:off x="7205663" y="4410075"/>
            <a:ext cx="557212" cy="3873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1" name="Rectangle 59"/>
          <p:cNvSpPr>
            <a:spLocks noChangeArrowheads="1"/>
          </p:cNvSpPr>
          <p:nvPr/>
        </p:nvSpPr>
        <p:spPr bwMode="auto">
          <a:xfrm>
            <a:off x="7194550" y="4397375"/>
            <a:ext cx="552450" cy="384175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2" name="Rectangle 60"/>
          <p:cNvSpPr>
            <a:spLocks noChangeArrowheads="1"/>
          </p:cNvSpPr>
          <p:nvPr/>
        </p:nvSpPr>
        <p:spPr bwMode="auto">
          <a:xfrm>
            <a:off x="7286625" y="4476750"/>
            <a:ext cx="42386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Register</a:t>
            </a:r>
            <a:endParaRPr lang="en-US"/>
          </a:p>
        </p:txBody>
      </p:sp>
      <p:sp>
        <p:nvSpPr>
          <p:cNvPr id="330813" name="Rectangle 61"/>
          <p:cNvSpPr>
            <a:spLocks noChangeArrowheads="1"/>
          </p:cNvSpPr>
          <p:nvPr/>
        </p:nvSpPr>
        <p:spPr bwMode="auto">
          <a:xfrm>
            <a:off x="7407275" y="4594225"/>
            <a:ext cx="17621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file</a:t>
            </a:r>
            <a:endParaRPr lang="en-US"/>
          </a:p>
        </p:txBody>
      </p:sp>
      <p:sp>
        <p:nvSpPr>
          <p:cNvPr id="330814" name="Rectangle 62"/>
          <p:cNvSpPr>
            <a:spLocks noChangeArrowheads="1"/>
          </p:cNvSpPr>
          <p:nvPr/>
        </p:nvSpPr>
        <p:spPr bwMode="auto">
          <a:xfrm>
            <a:off x="7280275" y="4389438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5" name="Rectangle 63"/>
          <p:cNvSpPr>
            <a:spLocks noChangeArrowheads="1"/>
          </p:cNvSpPr>
          <p:nvPr/>
        </p:nvSpPr>
        <p:spPr bwMode="auto">
          <a:xfrm>
            <a:off x="7340600" y="4419600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A</a:t>
            </a:r>
            <a:endParaRPr lang="en-US"/>
          </a:p>
        </p:txBody>
      </p:sp>
      <p:sp>
        <p:nvSpPr>
          <p:cNvPr id="330816" name="Rectangle 64"/>
          <p:cNvSpPr>
            <a:spLocks noChangeArrowheads="1"/>
          </p:cNvSpPr>
          <p:nvPr/>
        </p:nvSpPr>
        <p:spPr bwMode="auto">
          <a:xfrm>
            <a:off x="7491413" y="4389438"/>
            <a:ext cx="1714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7" name="Rectangle 65"/>
          <p:cNvSpPr>
            <a:spLocks noChangeArrowheads="1"/>
          </p:cNvSpPr>
          <p:nvPr/>
        </p:nvSpPr>
        <p:spPr bwMode="auto">
          <a:xfrm>
            <a:off x="7553325" y="4419600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B</a:t>
            </a:r>
            <a:endParaRPr lang="en-US"/>
          </a:p>
        </p:txBody>
      </p:sp>
      <p:sp>
        <p:nvSpPr>
          <p:cNvPr id="330818" name="Rectangle 66"/>
          <p:cNvSpPr>
            <a:spLocks noChangeArrowheads="1"/>
          </p:cNvSpPr>
          <p:nvPr/>
        </p:nvSpPr>
        <p:spPr bwMode="auto">
          <a:xfrm>
            <a:off x="7620000" y="4440238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9" name="Rectangle 67"/>
          <p:cNvSpPr>
            <a:spLocks noChangeArrowheads="1"/>
          </p:cNvSpPr>
          <p:nvPr/>
        </p:nvSpPr>
        <p:spPr bwMode="auto">
          <a:xfrm>
            <a:off x="7673975" y="4471988"/>
            <a:ext cx="968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330820" name="Rectangle 68"/>
          <p:cNvSpPr>
            <a:spLocks noChangeArrowheads="1"/>
          </p:cNvSpPr>
          <p:nvPr/>
        </p:nvSpPr>
        <p:spPr bwMode="auto">
          <a:xfrm>
            <a:off x="7620000" y="4652963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21" name="Rectangle 69"/>
          <p:cNvSpPr>
            <a:spLocks noChangeArrowheads="1"/>
          </p:cNvSpPr>
          <p:nvPr/>
        </p:nvSpPr>
        <p:spPr bwMode="auto">
          <a:xfrm>
            <a:off x="7680325" y="4683125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330822" name="Rectangle 70"/>
          <p:cNvSpPr>
            <a:spLocks noChangeArrowheads="1"/>
          </p:cNvSpPr>
          <p:nvPr/>
        </p:nvSpPr>
        <p:spPr bwMode="auto">
          <a:xfrm>
            <a:off x="7300913" y="4491038"/>
            <a:ext cx="42386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Register</a:t>
            </a:r>
            <a:endParaRPr lang="en-US"/>
          </a:p>
        </p:txBody>
      </p:sp>
      <p:sp>
        <p:nvSpPr>
          <p:cNvPr id="330823" name="Rectangle 71"/>
          <p:cNvSpPr>
            <a:spLocks noChangeArrowheads="1"/>
          </p:cNvSpPr>
          <p:nvPr/>
        </p:nvSpPr>
        <p:spPr bwMode="auto">
          <a:xfrm>
            <a:off x="7421563" y="4608513"/>
            <a:ext cx="17621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file</a:t>
            </a:r>
            <a:endParaRPr lang="en-US"/>
          </a:p>
        </p:txBody>
      </p:sp>
      <p:sp>
        <p:nvSpPr>
          <p:cNvPr id="330824" name="Rectangle 72"/>
          <p:cNvSpPr>
            <a:spLocks noChangeArrowheads="1"/>
          </p:cNvSpPr>
          <p:nvPr/>
        </p:nvSpPr>
        <p:spPr bwMode="auto">
          <a:xfrm>
            <a:off x="7205663" y="4410075"/>
            <a:ext cx="557212" cy="3873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25" name="Rectangle 73"/>
          <p:cNvSpPr>
            <a:spLocks noChangeArrowheads="1"/>
          </p:cNvSpPr>
          <p:nvPr/>
        </p:nvSpPr>
        <p:spPr bwMode="auto">
          <a:xfrm>
            <a:off x="7194550" y="4397375"/>
            <a:ext cx="552450" cy="384175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26" name="Rectangle 74"/>
          <p:cNvSpPr>
            <a:spLocks noChangeArrowheads="1"/>
          </p:cNvSpPr>
          <p:nvPr/>
        </p:nvSpPr>
        <p:spPr bwMode="auto">
          <a:xfrm>
            <a:off x="7286625" y="4476750"/>
            <a:ext cx="42386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Register</a:t>
            </a:r>
            <a:endParaRPr lang="en-US"/>
          </a:p>
        </p:txBody>
      </p:sp>
      <p:sp>
        <p:nvSpPr>
          <p:cNvPr id="330827" name="Rectangle 75"/>
          <p:cNvSpPr>
            <a:spLocks noChangeArrowheads="1"/>
          </p:cNvSpPr>
          <p:nvPr/>
        </p:nvSpPr>
        <p:spPr bwMode="auto">
          <a:xfrm>
            <a:off x="7407275" y="4594225"/>
            <a:ext cx="17621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file</a:t>
            </a:r>
            <a:endParaRPr lang="en-US"/>
          </a:p>
        </p:txBody>
      </p:sp>
      <p:sp>
        <p:nvSpPr>
          <p:cNvPr id="330828" name="Rectangle 76"/>
          <p:cNvSpPr>
            <a:spLocks noChangeArrowheads="1"/>
          </p:cNvSpPr>
          <p:nvPr/>
        </p:nvSpPr>
        <p:spPr bwMode="auto">
          <a:xfrm>
            <a:off x="7280275" y="4389438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29" name="Rectangle 77"/>
          <p:cNvSpPr>
            <a:spLocks noChangeArrowheads="1"/>
          </p:cNvSpPr>
          <p:nvPr/>
        </p:nvSpPr>
        <p:spPr bwMode="auto">
          <a:xfrm>
            <a:off x="7340600" y="4419600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A</a:t>
            </a:r>
            <a:endParaRPr lang="en-US"/>
          </a:p>
        </p:txBody>
      </p:sp>
      <p:sp>
        <p:nvSpPr>
          <p:cNvPr id="330830" name="Rectangle 78"/>
          <p:cNvSpPr>
            <a:spLocks noChangeArrowheads="1"/>
          </p:cNvSpPr>
          <p:nvPr/>
        </p:nvSpPr>
        <p:spPr bwMode="auto">
          <a:xfrm>
            <a:off x="7491413" y="4389438"/>
            <a:ext cx="1714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31" name="Rectangle 79"/>
          <p:cNvSpPr>
            <a:spLocks noChangeArrowheads="1"/>
          </p:cNvSpPr>
          <p:nvPr/>
        </p:nvSpPr>
        <p:spPr bwMode="auto">
          <a:xfrm>
            <a:off x="7553325" y="4419600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B</a:t>
            </a:r>
            <a:endParaRPr lang="en-US"/>
          </a:p>
        </p:txBody>
      </p:sp>
      <p:sp>
        <p:nvSpPr>
          <p:cNvPr id="330832" name="Rectangle 80"/>
          <p:cNvSpPr>
            <a:spLocks noChangeArrowheads="1"/>
          </p:cNvSpPr>
          <p:nvPr/>
        </p:nvSpPr>
        <p:spPr bwMode="auto">
          <a:xfrm>
            <a:off x="7620000" y="4440238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33" name="Rectangle 81"/>
          <p:cNvSpPr>
            <a:spLocks noChangeArrowheads="1"/>
          </p:cNvSpPr>
          <p:nvPr/>
        </p:nvSpPr>
        <p:spPr bwMode="auto">
          <a:xfrm>
            <a:off x="7673975" y="4471988"/>
            <a:ext cx="968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330834" name="Rectangle 82"/>
          <p:cNvSpPr>
            <a:spLocks noChangeArrowheads="1"/>
          </p:cNvSpPr>
          <p:nvPr/>
        </p:nvSpPr>
        <p:spPr bwMode="auto">
          <a:xfrm>
            <a:off x="7620000" y="4652963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35" name="Rectangle 83"/>
          <p:cNvSpPr>
            <a:spLocks noChangeArrowheads="1"/>
          </p:cNvSpPr>
          <p:nvPr/>
        </p:nvSpPr>
        <p:spPr bwMode="auto">
          <a:xfrm>
            <a:off x="7680325" y="4683125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330836" name="Rectangle 84"/>
          <p:cNvSpPr>
            <a:spLocks noChangeArrowheads="1"/>
          </p:cNvSpPr>
          <p:nvPr/>
        </p:nvSpPr>
        <p:spPr bwMode="auto">
          <a:xfrm>
            <a:off x="6005513" y="6138863"/>
            <a:ext cx="425450" cy="212725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37" name="Rectangle 85"/>
          <p:cNvSpPr>
            <a:spLocks noChangeArrowheads="1"/>
          </p:cNvSpPr>
          <p:nvPr/>
        </p:nvSpPr>
        <p:spPr bwMode="auto">
          <a:xfrm>
            <a:off x="6159500" y="6199188"/>
            <a:ext cx="163513" cy="11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 b="0">
                <a:solidFill>
                  <a:srgbClr val="000000"/>
                </a:solidFill>
              </a:rPr>
              <a:t>PC</a:t>
            </a:r>
            <a:endParaRPr lang="en-US"/>
          </a:p>
        </p:txBody>
      </p:sp>
      <p:grpSp>
        <p:nvGrpSpPr>
          <p:cNvPr id="330838" name="Group 86"/>
          <p:cNvGrpSpPr>
            <a:grpSpLocks/>
          </p:cNvGrpSpPr>
          <p:nvPr/>
        </p:nvGrpSpPr>
        <p:grpSpPr bwMode="auto">
          <a:xfrm>
            <a:off x="6302375" y="2890838"/>
            <a:ext cx="346075" cy="42862"/>
            <a:chOff x="3970" y="1821"/>
            <a:chExt cx="218" cy="27"/>
          </a:xfrm>
        </p:grpSpPr>
        <p:sp>
          <p:nvSpPr>
            <p:cNvPr id="330839" name="Freeform 87"/>
            <p:cNvSpPr>
              <a:spLocks/>
            </p:cNvSpPr>
            <p:nvPr/>
          </p:nvSpPr>
          <p:spPr bwMode="auto">
            <a:xfrm>
              <a:off x="4181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0" name="Freeform 88"/>
            <p:cNvSpPr>
              <a:spLocks/>
            </p:cNvSpPr>
            <p:nvPr/>
          </p:nvSpPr>
          <p:spPr bwMode="auto">
            <a:xfrm>
              <a:off x="4168" y="1831"/>
              <a:ext cx="6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3" y="2"/>
                </a:cxn>
                <a:cxn ang="0">
                  <a:pos x="0" y="7"/>
                </a:cxn>
                <a:cxn ang="0">
                  <a:pos x="3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0" y="7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1" name="Freeform 89"/>
            <p:cNvSpPr>
              <a:spLocks/>
            </p:cNvSpPr>
            <p:nvPr/>
          </p:nvSpPr>
          <p:spPr bwMode="auto">
            <a:xfrm>
              <a:off x="4154" y="1831"/>
              <a:ext cx="7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8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8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2" name="Freeform 90"/>
            <p:cNvSpPr>
              <a:spLocks/>
            </p:cNvSpPr>
            <p:nvPr/>
          </p:nvSpPr>
          <p:spPr bwMode="auto">
            <a:xfrm>
              <a:off x="4141" y="1831"/>
              <a:ext cx="7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3" name="Freeform 91"/>
            <p:cNvSpPr>
              <a:spLocks/>
            </p:cNvSpPr>
            <p:nvPr/>
          </p:nvSpPr>
          <p:spPr bwMode="auto">
            <a:xfrm>
              <a:off x="4128" y="1831"/>
              <a:ext cx="6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4" name="Freeform 92"/>
            <p:cNvSpPr>
              <a:spLocks/>
            </p:cNvSpPr>
            <p:nvPr/>
          </p:nvSpPr>
          <p:spPr bwMode="auto">
            <a:xfrm>
              <a:off x="4114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3" y="2"/>
                </a:cxn>
                <a:cxn ang="0">
                  <a:pos x="0" y="7"/>
                </a:cxn>
                <a:cxn ang="0">
                  <a:pos x="3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0" y="7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5" name="Freeform 93"/>
            <p:cNvSpPr>
              <a:spLocks/>
            </p:cNvSpPr>
            <p:nvPr/>
          </p:nvSpPr>
          <p:spPr bwMode="auto">
            <a:xfrm>
              <a:off x="4101" y="1831"/>
              <a:ext cx="6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8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8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6" name="Freeform 94"/>
            <p:cNvSpPr>
              <a:spLocks/>
            </p:cNvSpPr>
            <p:nvPr/>
          </p:nvSpPr>
          <p:spPr bwMode="auto">
            <a:xfrm>
              <a:off x="4087" y="1831"/>
              <a:ext cx="7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7" name="Freeform 95"/>
            <p:cNvSpPr>
              <a:spLocks/>
            </p:cNvSpPr>
            <p:nvPr/>
          </p:nvSpPr>
          <p:spPr bwMode="auto">
            <a:xfrm>
              <a:off x="4074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8" name="Freeform 96"/>
            <p:cNvSpPr>
              <a:spLocks/>
            </p:cNvSpPr>
            <p:nvPr/>
          </p:nvSpPr>
          <p:spPr bwMode="auto">
            <a:xfrm>
              <a:off x="4061" y="1831"/>
              <a:ext cx="6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3" y="2"/>
                </a:cxn>
                <a:cxn ang="0">
                  <a:pos x="0" y="7"/>
                </a:cxn>
                <a:cxn ang="0">
                  <a:pos x="3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0" y="7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9" name="Freeform 97"/>
            <p:cNvSpPr>
              <a:spLocks/>
            </p:cNvSpPr>
            <p:nvPr/>
          </p:nvSpPr>
          <p:spPr bwMode="auto">
            <a:xfrm>
              <a:off x="4047" y="1831"/>
              <a:ext cx="7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8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8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0" name="Freeform 98"/>
            <p:cNvSpPr>
              <a:spLocks/>
            </p:cNvSpPr>
            <p:nvPr/>
          </p:nvSpPr>
          <p:spPr bwMode="auto">
            <a:xfrm>
              <a:off x="4034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1" name="Freeform 99"/>
            <p:cNvSpPr>
              <a:spLocks/>
            </p:cNvSpPr>
            <p:nvPr/>
          </p:nvSpPr>
          <p:spPr bwMode="auto">
            <a:xfrm>
              <a:off x="4021" y="1831"/>
              <a:ext cx="6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2" name="Freeform 100"/>
            <p:cNvSpPr>
              <a:spLocks/>
            </p:cNvSpPr>
            <p:nvPr/>
          </p:nvSpPr>
          <p:spPr bwMode="auto">
            <a:xfrm>
              <a:off x="4007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3" y="2"/>
                </a:cxn>
                <a:cxn ang="0">
                  <a:pos x="0" y="7"/>
                </a:cxn>
                <a:cxn ang="0">
                  <a:pos x="3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0" y="7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3" name="Freeform 101"/>
            <p:cNvSpPr>
              <a:spLocks/>
            </p:cNvSpPr>
            <p:nvPr/>
          </p:nvSpPr>
          <p:spPr bwMode="auto">
            <a:xfrm>
              <a:off x="3994" y="1831"/>
              <a:ext cx="6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8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8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4" name="Freeform 102"/>
            <p:cNvSpPr>
              <a:spLocks/>
            </p:cNvSpPr>
            <p:nvPr/>
          </p:nvSpPr>
          <p:spPr bwMode="auto">
            <a:xfrm>
              <a:off x="3970" y="1821"/>
              <a:ext cx="28" cy="27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0" y="27"/>
                </a:cxn>
                <a:cxn ang="0">
                  <a:pos x="55" y="55"/>
                </a:cxn>
                <a:cxn ang="0">
                  <a:pos x="55" y="0"/>
                </a:cxn>
              </a:cxnLst>
              <a:rect l="0" t="0" r="r" b="b"/>
              <a:pathLst>
                <a:path w="55" h="55">
                  <a:moveTo>
                    <a:pt x="55" y="0"/>
                  </a:moveTo>
                  <a:lnTo>
                    <a:pt x="0" y="27"/>
                  </a:lnTo>
                  <a:lnTo>
                    <a:pt x="55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0855" name="Rectangle 103"/>
          <p:cNvSpPr>
            <a:spLocks noChangeArrowheads="1"/>
          </p:cNvSpPr>
          <p:nvPr/>
        </p:nvSpPr>
        <p:spPr bwMode="auto">
          <a:xfrm>
            <a:off x="7067550" y="5076825"/>
            <a:ext cx="85725" cy="298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56" name="Rectangle 104"/>
          <p:cNvSpPr>
            <a:spLocks noChangeArrowheads="1"/>
          </p:cNvSpPr>
          <p:nvPr/>
        </p:nvSpPr>
        <p:spPr bwMode="auto">
          <a:xfrm>
            <a:off x="6388100" y="5076825"/>
            <a:ext cx="76517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57" name="Freeform 105"/>
          <p:cNvSpPr>
            <a:spLocks/>
          </p:cNvSpPr>
          <p:nvPr/>
        </p:nvSpPr>
        <p:spPr bwMode="auto">
          <a:xfrm>
            <a:off x="6302375" y="4992688"/>
            <a:ext cx="169863" cy="254000"/>
          </a:xfrm>
          <a:custGeom>
            <a:avLst/>
            <a:gdLst/>
            <a:ahLst/>
            <a:cxnLst>
              <a:cxn ang="0">
                <a:pos x="214" y="320"/>
              </a:cxn>
              <a:cxn ang="0">
                <a:pos x="0" y="160"/>
              </a:cxn>
              <a:cxn ang="0">
                <a:pos x="214" y="0"/>
              </a:cxn>
              <a:cxn ang="0">
                <a:pos x="214" y="320"/>
              </a:cxn>
            </a:cxnLst>
            <a:rect l="0" t="0" r="r" b="b"/>
            <a:pathLst>
              <a:path w="214" h="320">
                <a:moveTo>
                  <a:pt x="214" y="320"/>
                </a:moveTo>
                <a:lnTo>
                  <a:pt x="0" y="160"/>
                </a:lnTo>
                <a:lnTo>
                  <a:pt x="214" y="0"/>
                </a:lnTo>
                <a:lnTo>
                  <a:pt x="214" y="32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58" name="Rectangle 106"/>
          <p:cNvSpPr>
            <a:spLocks noChangeArrowheads="1"/>
          </p:cNvSpPr>
          <p:nvPr/>
        </p:nvSpPr>
        <p:spPr bwMode="auto">
          <a:xfrm>
            <a:off x="6472238" y="4906963"/>
            <a:ext cx="638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59" name="Rectangle 107"/>
          <p:cNvSpPr>
            <a:spLocks noChangeArrowheads="1"/>
          </p:cNvSpPr>
          <p:nvPr/>
        </p:nvSpPr>
        <p:spPr bwMode="auto">
          <a:xfrm>
            <a:off x="6886575" y="4938713"/>
            <a:ext cx="200025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valP</a:t>
            </a:r>
            <a:endParaRPr lang="en-US"/>
          </a:p>
        </p:txBody>
      </p:sp>
      <p:sp>
        <p:nvSpPr>
          <p:cNvPr id="330860" name="Rectangle 108"/>
          <p:cNvSpPr>
            <a:spLocks noChangeArrowheads="1"/>
          </p:cNvSpPr>
          <p:nvPr/>
        </p:nvSpPr>
        <p:spPr bwMode="auto">
          <a:xfrm>
            <a:off x="6302375" y="4567238"/>
            <a:ext cx="76517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61" name="Freeform 109"/>
          <p:cNvSpPr>
            <a:spLocks/>
          </p:cNvSpPr>
          <p:nvPr/>
        </p:nvSpPr>
        <p:spPr bwMode="auto">
          <a:xfrm>
            <a:off x="7024688" y="4483100"/>
            <a:ext cx="169862" cy="254000"/>
          </a:xfrm>
          <a:custGeom>
            <a:avLst/>
            <a:gdLst/>
            <a:ahLst/>
            <a:cxnLst>
              <a:cxn ang="0">
                <a:pos x="0" y="321"/>
              </a:cxn>
              <a:cxn ang="0">
                <a:pos x="214" y="160"/>
              </a:cxn>
              <a:cxn ang="0">
                <a:pos x="0" y="0"/>
              </a:cxn>
              <a:cxn ang="0">
                <a:pos x="0" y="321"/>
              </a:cxn>
            </a:cxnLst>
            <a:rect l="0" t="0" r="r" b="b"/>
            <a:pathLst>
              <a:path w="214" h="321">
                <a:moveTo>
                  <a:pt x="0" y="321"/>
                </a:moveTo>
                <a:lnTo>
                  <a:pt x="214" y="160"/>
                </a:lnTo>
                <a:lnTo>
                  <a:pt x="0" y="0"/>
                </a:lnTo>
                <a:lnTo>
                  <a:pt x="0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62" name="Rectangle 110"/>
          <p:cNvSpPr>
            <a:spLocks noChangeArrowheads="1"/>
          </p:cNvSpPr>
          <p:nvPr/>
        </p:nvSpPr>
        <p:spPr bwMode="auto">
          <a:xfrm>
            <a:off x="6345238" y="4270375"/>
            <a:ext cx="5953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63" name="Rectangle 111"/>
          <p:cNvSpPr>
            <a:spLocks noChangeArrowheads="1"/>
          </p:cNvSpPr>
          <p:nvPr/>
        </p:nvSpPr>
        <p:spPr bwMode="auto">
          <a:xfrm>
            <a:off x="6418263" y="4302125"/>
            <a:ext cx="2032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srcA</a:t>
            </a:r>
            <a:endParaRPr lang="en-US"/>
          </a:p>
        </p:txBody>
      </p:sp>
      <p:sp>
        <p:nvSpPr>
          <p:cNvPr id="330864" name="Rectangle 112"/>
          <p:cNvSpPr>
            <a:spLocks noChangeArrowheads="1"/>
          </p:cNvSpPr>
          <p:nvPr/>
        </p:nvSpPr>
        <p:spPr bwMode="auto">
          <a:xfrm>
            <a:off x="6594475" y="4302125"/>
            <a:ext cx="10160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65" name="Rectangle 113"/>
          <p:cNvSpPr>
            <a:spLocks noChangeArrowheads="1"/>
          </p:cNvSpPr>
          <p:nvPr/>
        </p:nvSpPr>
        <p:spPr bwMode="auto">
          <a:xfrm>
            <a:off x="6672263" y="4302125"/>
            <a:ext cx="2032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srcB</a:t>
            </a:r>
            <a:endParaRPr lang="en-US"/>
          </a:p>
        </p:txBody>
      </p:sp>
      <p:sp>
        <p:nvSpPr>
          <p:cNvPr id="330866" name="Rectangle 114"/>
          <p:cNvSpPr>
            <a:spLocks noChangeArrowheads="1"/>
          </p:cNvSpPr>
          <p:nvPr/>
        </p:nvSpPr>
        <p:spPr bwMode="auto">
          <a:xfrm>
            <a:off x="6418263" y="4421188"/>
            <a:ext cx="204787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dstA</a:t>
            </a:r>
            <a:endParaRPr lang="en-US"/>
          </a:p>
        </p:txBody>
      </p:sp>
      <p:sp>
        <p:nvSpPr>
          <p:cNvPr id="330867" name="Rectangle 115"/>
          <p:cNvSpPr>
            <a:spLocks noChangeArrowheads="1"/>
          </p:cNvSpPr>
          <p:nvPr/>
        </p:nvSpPr>
        <p:spPr bwMode="auto">
          <a:xfrm>
            <a:off x="6594475" y="4421188"/>
            <a:ext cx="101600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68" name="Rectangle 116"/>
          <p:cNvSpPr>
            <a:spLocks noChangeArrowheads="1"/>
          </p:cNvSpPr>
          <p:nvPr/>
        </p:nvSpPr>
        <p:spPr bwMode="auto">
          <a:xfrm>
            <a:off x="6672263" y="4421188"/>
            <a:ext cx="204787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dstB</a:t>
            </a:r>
            <a:endParaRPr lang="en-US"/>
          </a:p>
        </p:txBody>
      </p:sp>
      <p:sp>
        <p:nvSpPr>
          <p:cNvPr id="330869" name="Rectangle 117"/>
          <p:cNvSpPr>
            <a:spLocks noChangeArrowheads="1"/>
          </p:cNvSpPr>
          <p:nvPr/>
        </p:nvSpPr>
        <p:spPr bwMode="auto">
          <a:xfrm>
            <a:off x="7407275" y="4057650"/>
            <a:ext cx="85725" cy="34131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0" name="Rectangle 118"/>
          <p:cNvSpPr>
            <a:spLocks noChangeArrowheads="1"/>
          </p:cNvSpPr>
          <p:nvPr/>
        </p:nvSpPr>
        <p:spPr bwMode="auto">
          <a:xfrm>
            <a:off x="6472238" y="4057650"/>
            <a:ext cx="1020762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1" name="Freeform 119"/>
          <p:cNvSpPr>
            <a:spLocks/>
          </p:cNvSpPr>
          <p:nvPr/>
        </p:nvSpPr>
        <p:spPr bwMode="auto">
          <a:xfrm>
            <a:off x="6302375" y="3973513"/>
            <a:ext cx="169863" cy="254000"/>
          </a:xfrm>
          <a:custGeom>
            <a:avLst/>
            <a:gdLst/>
            <a:ahLst/>
            <a:cxnLst>
              <a:cxn ang="0">
                <a:pos x="214" y="321"/>
              </a:cxn>
              <a:cxn ang="0">
                <a:pos x="0" y="160"/>
              </a:cxn>
              <a:cxn ang="0">
                <a:pos x="214" y="0"/>
              </a:cxn>
              <a:cxn ang="0">
                <a:pos x="214" y="321"/>
              </a:cxn>
            </a:cxnLst>
            <a:rect l="0" t="0" r="r" b="b"/>
            <a:pathLst>
              <a:path w="214" h="321">
                <a:moveTo>
                  <a:pt x="214" y="321"/>
                </a:moveTo>
                <a:lnTo>
                  <a:pt x="0" y="160"/>
                </a:lnTo>
                <a:lnTo>
                  <a:pt x="214" y="0"/>
                </a:lnTo>
                <a:lnTo>
                  <a:pt x="214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2" name="Rectangle 120"/>
          <p:cNvSpPr>
            <a:spLocks noChangeArrowheads="1"/>
          </p:cNvSpPr>
          <p:nvPr/>
        </p:nvSpPr>
        <p:spPr bwMode="auto">
          <a:xfrm>
            <a:off x="6811963" y="3846513"/>
            <a:ext cx="638175" cy="16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3" name="Rectangle 121"/>
          <p:cNvSpPr>
            <a:spLocks noChangeArrowheads="1"/>
          </p:cNvSpPr>
          <p:nvPr/>
        </p:nvSpPr>
        <p:spPr bwMode="auto">
          <a:xfrm>
            <a:off x="6980238" y="3876675"/>
            <a:ext cx="200025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valA</a:t>
            </a:r>
            <a:endParaRPr lang="en-US"/>
          </a:p>
        </p:txBody>
      </p:sp>
      <p:sp>
        <p:nvSpPr>
          <p:cNvPr id="330874" name="Rectangle 122"/>
          <p:cNvSpPr>
            <a:spLocks noChangeArrowheads="1"/>
          </p:cNvSpPr>
          <p:nvPr/>
        </p:nvSpPr>
        <p:spPr bwMode="auto">
          <a:xfrm>
            <a:off x="7151688" y="3876675"/>
            <a:ext cx="10160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75" name="Rectangle 123"/>
          <p:cNvSpPr>
            <a:spLocks noChangeArrowheads="1"/>
          </p:cNvSpPr>
          <p:nvPr/>
        </p:nvSpPr>
        <p:spPr bwMode="auto">
          <a:xfrm>
            <a:off x="7226300" y="3876675"/>
            <a:ext cx="200025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valB</a:t>
            </a:r>
            <a:endParaRPr lang="en-US"/>
          </a:p>
        </p:txBody>
      </p:sp>
      <p:sp>
        <p:nvSpPr>
          <p:cNvPr id="330876" name="Rectangle 124"/>
          <p:cNvSpPr>
            <a:spLocks noChangeArrowheads="1"/>
          </p:cNvSpPr>
          <p:nvPr/>
        </p:nvSpPr>
        <p:spPr bwMode="auto">
          <a:xfrm>
            <a:off x="6302375" y="3379788"/>
            <a:ext cx="106362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7" name="Rectangle 125"/>
          <p:cNvSpPr>
            <a:spLocks noChangeArrowheads="1"/>
          </p:cNvSpPr>
          <p:nvPr/>
        </p:nvSpPr>
        <p:spPr bwMode="auto">
          <a:xfrm>
            <a:off x="7280275" y="3294063"/>
            <a:ext cx="85725" cy="171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8" name="Freeform 126"/>
          <p:cNvSpPr>
            <a:spLocks/>
          </p:cNvSpPr>
          <p:nvPr/>
        </p:nvSpPr>
        <p:spPr bwMode="auto">
          <a:xfrm>
            <a:off x="7194550" y="3124200"/>
            <a:ext cx="255588" cy="169863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1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1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9" name="Rectangle 127"/>
          <p:cNvSpPr>
            <a:spLocks noChangeArrowheads="1"/>
          </p:cNvSpPr>
          <p:nvPr/>
        </p:nvSpPr>
        <p:spPr bwMode="auto">
          <a:xfrm>
            <a:off x="6345238" y="3167063"/>
            <a:ext cx="638175" cy="16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0" name="Rectangle 128"/>
          <p:cNvSpPr>
            <a:spLocks noChangeArrowheads="1"/>
          </p:cNvSpPr>
          <p:nvPr/>
        </p:nvSpPr>
        <p:spPr bwMode="auto">
          <a:xfrm>
            <a:off x="6418263" y="3198813"/>
            <a:ext cx="204787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aluA</a:t>
            </a:r>
            <a:endParaRPr lang="en-US"/>
          </a:p>
        </p:txBody>
      </p:sp>
      <p:sp>
        <p:nvSpPr>
          <p:cNvPr id="330881" name="Rectangle 129"/>
          <p:cNvSpPr>
            <a:spLocks noChangeArrowheads="1"/>
          </p:cNvSpPr>
          <p:nvPr/>
        </p:nvSpPr>
        <p:spPr bwMode="auto">
          <a:xfrm>
            <a:off x="6594475" y="3198813"/>
            <a:ext cx="101600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82" name="Rectangle 130"/>
          <p:cNvSpPr>
            <a:spLocks noChangeArrowheads="1"/>
          </p:cNvSpPr>
          <p:nvPr/>
        </p:nvSpPr>
        <p:spPr bwMode="auto">
          <a:xfrm>
            <a:off x="6672263" y="3198813"/>
            <a:ext cx="204787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aluB</a:t>
            </a:r>
            <a:endParaRPr lang="en-US"/>
          </a:p>
        </p:txBody>
      </p:sp>
      <p:sp>
        <p:nvSpPr>
          <p:cNvPr id="330883" name="Rectangle 131"/>
          <p:cNvSpPr>
            <a:spLocks noChangeArrowheads="1"/>
          </p:cNvSpPr>
          <p:nvPr/>
        </p:nvSpPr>
        <p:spPr bwMode="auto">
          <a:xfrm>
            <a:off x="6345238" y="2954338"/>
            <a:ext cx="638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4" name="Rectangle 132"/>
          <p:cNvSpPr>
            <a:spLocks noChangeArrowheads="1"/>
          </p:cNvSpPr>
          <p:nvPr/>
        </p:nvSpPr>
        <p:spPr bwMode="auto">
          <a:xfrm>
            <a:off x="6396038" y="2986088"/>
            <a:ext cx="189154" cy="11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 dirty="0" err="1">
                <a:solidFill>
                  <a:srgbClr val="000000"/>
                </a:solidFill>
              </a:rPr>
              <a:t>Cnd</a:t>
            </a:r>
            <a:endParaRPr lang="en-US" dirty="0"/>
          </a:p>
        </p:txBody>
      </p:sp>
      <p:sp>
        <p:nvSpPr>
          <p:cNvPr id="330885" name="Rectangle 133"/>
          <p:cNvSpPr>
            <a:spLocks noChangeArrowheads="1"/>
          </p:cNvSpPr>
          <p:nvPr/>
        </p:nvSpPr>
        <p:spPr bwMode="auto">
          <a:xfrm>
            <a:off x="7280275" y="2571750"/>
            <a:ext cx="85725" cy="298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6" name="Rectangle 134"/>
          <p:cNvSpPr>
            <a:spLocks noChangeArrowheads="1"/>
          </p:cNvSpPr>
          <p:nvPr/>
        </p:nvSpPr>
        <p:spPr bwMode="auto">
          <a:xfrm>
            <a:off x="6430963" y="2571750"/>
            <a:ext cx="935037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7" name="Freeform 135"/>
          <p:cNvSpPr>
            <a:spLocks/>
          </p:cNvSpPr>
          <p:nvPr/>
        </p:nvSpPr>
        <p:spPr bwMode="auto">
          <a:xfrm>
            <a:off x="6302375" y="2487613"/>
            <a:ext cx="169863" cy="254000"/>
          </a:xfrm>
          <a:custGeom>
            <a:avLst/>
            <a:gdLst/>
            <a:ahLst/>
            <a:cxnLst>
              <a:cxn ang="0">
                <a:pos x="214" y="321"/>
              </a:cxn>
              <a:cxn ang="0">
                <a:pos x="0" y="160"/>
              </a:cxn>
              <a:cxn ang="0">
                <a:pos x="214" y="0"/>
              </a:cxn>
              <a:cxn ang="0">
                <a:pos x="214" y="321"/>
              </a:cxn>
            </a:cxnLst>
            <a:rect l="0" t="0" r="r" b="b"/>
            <a:pathLst>
              <a:path w="214" h="321">
                <a:moveTo>
                  <a:pt x="214" y="321"/>
                </a:moveTo>
                <a:lnTo>
                  <a:pt x="0" y="160"/>
                </a:lnTo>
                <a:lnTo>
                  <a:pt x="214" y="0"/>
                </a:lnTo>
                <a:lnTo>
                  <a:pt x="214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8" name="Rectangle 136"/>
          <p:cNvSpPr>
            <a:spLocks noChangeArrowheads="1"/>
          </p:cNvSpPr>
          <p:nvPr/>
        </p:nvSpPr>
        <p:spPr bwMode="auto">
          <a:xfrm>
            <a:off x="6684963" y="2360613"/>
            <a:ext cx="638175" cy="16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9" name="Rectangle 137"/>
          <p:cNvSpPr>
            <a:spLocks noChangeArrowheads="1"/>
          </p:cNvSpPr>
          <p:nvPr/>
        </p:nvSpPr>
        <p:spPr bwMode="auto">
          <a:xfrm>
            <a:off x="7099300" y="2390775"/>
            <a:ext cx="200025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valE</a:t>
            </a:r>
            <a:endParaRPr lang="en-US"/>
          </a:p>
        </p:txBody>
      </p:sp>
      <p:sp>
        <p:nvSpPr>
          <p:cNvPr id="330890" name="Rectangle 138"/>
          <p:cNvSpPr>
            <a:spLocks noChangeArrowheads="1"/>
          </p:cNvSpPr>
          <p:nvPr/>
        </p:nvSpPr>
        <p:spPr bwMode="auto">
          <a:xfrm>
            <a:off x="7916863" y="4567238"/>
            <a:ext cx="468312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1" name="Freeform 139"/>
          <p:cNvSpPr>
            <a:spLocks/>
          </p:cNvSpPr>
          <p:nvPr/>
        </p:nvSpPr>
        <p:spPr bwMode="auto">
          <a:xfrm>
            <a:off x="7747000" y="4483100"/>
            <a:ext cx="169863" cy="254000"/>
          </a:xfrm>
          <a:custGeom>
            <a:avLst/>
            <a:gdLst/>
            <a:ahLst/>
            <a:cxnLst>
              <a:cxn ang="0">
                <a:pos x="213" y="321"/>
              </a:cxn>
              <a:cxn ang="0">
                <a:pos x="0" y="160"/>
              </a:cxn>
              <a:cxn ang="0">
                <a:pos x="213" y="0"/>
              </a:cxn>
              <a:cxn ang="0">
                <a:pos x="213" y="321"/>
              </a:cxn>
            </a:cxnLst>
            <a:rect l="0" t="0" r="r" b="b"/>
            <a:pathLst>
              <a:path w="213" h="321">
                <a:moveTo>
                  <a:pt x="213" y="321"/>
                </a:moveTo>
                <a:lnTo>
                  <a:pt x="0" y="160"/>
                </a:lnTo>
                <a:lnTo>
                  <a:pt x="213" y="0"/>
                </a:lnTo>
                <a:lnTo>
                  <a:pt x="213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2" name="Rectangle 140"/>
          <p:cNvSpPr>
            <a:spLocks noChangeArrowheads="1"/>
          </p:cNvSpPr>
          <p:nvPr/>
        </p:nvSpPr>
        <p:spPr bwMode="auto">
          <a:xfrm>
            <a:off x="8213725" y="874713"/>
            <a:ext cx="171450" cy="37782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3" name="Rectangle 141"/>
          <p:cNvSpPr>
            <a:spLocks noChangeArrowheads="1"/>
          </p:cNvSpPr>
          <p:nvPr/>
        </p:nvSpPr>
        <p:spPr bwMode="auto">
          <a:xfrm>
            <a:off x="6132513" y="746125"/>
            <a:ext cx="2252662" cy="171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4" name="Rectangle 142"/>
          <p:cNvSpPr>
            <a:spLocks noChangeArrowheads="1"/>
          </p:cNvSpPr>
          <p:nvPr/>
        </p:nvSpPr>
        <p:spPr bwMode="auto">
          <a:xfrm>
            <a:off x="6218238" y="6605588"/>
            <a:ext cx="2463800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5" name="Rectangle 143"/>
          <p:cNvSpPr>
            <a:spLocks noChangeArrowheads="1"/>
          </p:cNvSpPr>
          <p:nvPr/>
        </p:nvSpPr>
        <p:spPr bwMode="auto">
          <a:xfrm>
            <a:off x="6175375" y="6521450"/>
            <a:ext cx="85725" cy="16986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6" name="Freeform 144"/>
          <p:cNvSpPr>
            <a:spLocks/>
          </p:cNvSpPr>
          <p:nvPr/>
        </p:nvSpPr>
        <p:spPr bwMode="auto">
          <a:xfrm>
            <a:off x="6091238" y="6351588"/>
            <a:ext cx="254000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1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1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7" name="Rectangle 145"/>
          <p:cNvSpPr>
            <a:spLocks noChangeArrowheads="1"/>
          </p:cNvSpPr>
          <p:nvPr/>
        </p:nvSpPr>
        <p:spPr bwMode="auto">
          <a:xfrm>
            <a:off x="6302375" y="2105025"/>
            <a:ext cx="808038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8" name="Rectangle 146"/>
          <p:cNvSpPr>
            <a:spLocks noChangeArrowheads="1"/>
          </p:cNvSpPr>
          <p:nvPr/>
        </p:nvSpPr>
        <p:spPr bwMode="auto">
          <a:xfrm>
            <a:off x="7024688" y="1978025"/>
            <a:ext cx="85725" cy="171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9" name="Freeform 147"/>
          <p:cNvSpPr>
            <a:spLocks/>
          </p:cNvSpPr>
          <p:nvPr/>
        </p:nvSpPr>
        <p:spPr bwMode="auto">
          <a:xfrm>
            <a:off x="6940550" y="1808163"/>
            <a:ext cx="254000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1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1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0" name="Rectangle 148"/>
          <p:cNvSpPr>
            <a:spLocks noChangeArrowheads="1"/>
          </p:cNvSpPr>
          <p:nvPr/>
        </p:nvSpPr>
        <p:spPr bwMode="auto">
          <a:xfrm>
            <a:off x="6302375" y="1892300"/>
            <a:ext cx="638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1" name="Rectangle 149"/>
          <p:cNvSpPr>
            <a:spLocks noChangeArrowheads="1"/>
          </p:cNvSpPr>
          <p:nvPr/>
        </p:nvSpPr>
        <p:spPr bwMode="auto">
          <a:xfrm>
            <a:off x="6376988" y="1924050"/>
            <a:ext cx="2159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Addr</a:t>
            </a:r>
            <a:endParaRPr lang="en-US"/>
          </a:p>
        </p:txBody>
      </p:sp>
      <p:sp>
        <p:nvSpPr>
          <p:cNvPr id="330902" name="Rectangle 150"/>
          <p:cNvSpPr>
            <a:spLocks noChangeArrowheads="1"/>
          </p:cNvSpPr>
          <p:nvPr/>
        </p:nvSpPr>
        <p:spPr bwMode="auto">
          <a:xfrm>
            <a:off x="6562725" y="1924050"/>
            <a:ext cx="31591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Data</a:t>
            </a:r>
            <a:endParaRPr lang="en-US"/>
          </a:p>
        </p:txBody>
      </p:sp>
      <p:sp>
        <p:nvSpPr>
          <p:cNvPr id="330903" name="Rectangle 151"/>
          <p:cNvSpPr>
            <a:spLocks noChangeArrowheads="1"/>
          </p:cNvSpPr>
          <p:nvPr/>
        </p:nvSpPr>
        <p:spPr bwMode="auto">
          <a:xfrm>
            <a:off x="7024688" y="1128713"/>
            <a:ext cx="85725" cy="298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4" name="Rectangle 152"/>
          <p:cNvSpPr>
            <a:spLocks noChangeArrowheads="1"/>
          </p:cNvSpPr>
          <p:nvPr/>
        </p:nvSpPr>
        <p:spPr bwMode="auto">
          <a:xfrm>
            <a:off x="6472238" y="1128713"/>
            <a:ext cx="63817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5" name="Freeform 153"/>
          <p:cNvSpPr>
            <a:spLocks/>
          </p:cNvSpPr>
          <p:nvPr/>
        </p:nvSpPr>
        <p:spPr bwMode="auto">
          <a:xfrm>
            <a:off x="6302375" y="1044575"/>
            <a:ext cx="169863" cy="254000"/>
          </a:xfrm>
          <a:custGeom>
            <a:avLst/>
            <a:gdLst/>
            <a:ahLst/>
            <a:cxnLst>
              <a:cxn ang="0">
                <a:pos x="214" y="321"/>
              </a:cxn>
              <a:cxn ang="0">
                <a:pos x="0" y="161"/>
              </a:cxn>
              <a:cxn ang="0">
                <a:pos x="214" y="0"/>
              </a:cxn>
              <a:cxn ang="0">
                <a:pos x="214" y="321"/>
              </a:cxn>
            </a:cxnLst>
            <a:rect l="0" t="0" r="r" b="b"/>
            <a:pathLst>
              <a:path w="214" h="321">
                <a:moveTo>
                  <a:pt x="214" y="321"/>
                </a:moveTo>
                <a:lnTo>
                  <a:pt x="0" y="161"/>
                </a:lnTo>
                <a:lnTo>
                  <a:pt x="214" y="0"/>
                </a:lnTo>
                <a:lnTo>
                  <a:pt x="214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6" name="Rectangle 154"/>
          <p:cNvSpPr>
            <a:spLocks noChangeArrowheads="1"/>
          </p:cNvSpPr>
          <p:nvPr/>
        </p:nvSpPr>
        <p:spPr bwMode="auto">
          <a:xfrm>
            <a:off x="6430963" y="915988"/>
            <a:ext cx="63658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7" name="Rectangle 155"/>
          <p:cNvSpPr>
            <a:spLocks noChangeArrowheads="1"/>
          </p:cNvSpPr>
          <p:nvPr/>
        </p:nvSpPr>
        <p:spPr bwMode="auto">
          <a:xfrm>
            <a:off x="6829425" y="947738"/>
            <a:ext cx="215900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valM</a:t>
            </a:r>
            <a:endParaRPr lang="en-US"/>
          </a:p>
        </p:txBody>
      </p:sp>
      <p:sp>
        <p:nvSpPr>
          <p:cNvPr id="330908" name="Rectangle 156"/>
          <p:cNvSpPr>
            <a:spLocks noChangeArrowheads="1"/>
          </p:cNvSpPr>
          <p:nvPr/>
        </p:nvSpPr>
        <p:spPr bwMode="auto">
          <a:xfrm>
            <a:off x="8596313" y="322263"/>
            <a:ext cx="85725" cy="63690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9" name="Freeform 157"/>
          <p:cNvSpPr>
            <a:spLocks/>
          </p:cNvSpPr>
          <p:nvPr/>
        </p:nvSpPr>
        <p:spPr bwMode="auto">
          <a:xfrm>
            <a:off x="5962650" y="1595438"/>
            <a:ext cx="339725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214" y="0"/>
              </a:cxn>
              <a:cxn ang="0">
                <a:pos x="428" y="214"/>
              </a:cxn>
              <a:cxn ang="0">
                <a:pos x="0" y="214"/>
              </a:cxn>
            </a:cxnLst>
            <a:rect l="0" t="0" r="r" b="b"/>
            <a:pathLst>
              <a:path w="428" h="214">
                <a:moveTo>
                  <a:pt x="0" y="214"/>
                </a:moveTo>
                <a:lnTo>
                  <a:pt x="214" y="0"/>
                </a:lnTo>
                <a:lnTo>
                  <a:pt x="428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0" name="Freeform 158"/>
          <p:cNvSpPr>
            <a:spLocks/>
          </p:cNvSpPr>
          <p:nvPr/>
        </p:nvSpPr>
        <p:spPr bwMode="auto">
          <a:xfrm>
            <a:off x="6132513" y="1595438"/>
            <a:ext cx="339725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214" y="0"/>
              </a:cxn>
              <a:cxn ang="0">
                <a:pos x="428" y="214"/>
              </a:cxn>
              <a:cxn ang="0">
                <a:pos x="0" y="214"/>
              </a:cxn>
            </a:cxnLst>
            <a:rect l="0" t="0" r="r" b="b"/>
            <a:pathLst>
              <a:path w="428" h="214">
                <a:moveTo>
                  <a:pt x="0" y="214"/>
                </a:moveTo>
                <a:lnTo>
                  <a:pt x="214" y="0"/>
                </a:lnTo>
                <a:lnTo>
                  <a:pt x="428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1" name="Freeform 159"/>
          <p:cNvSpPr>
            <a:spLocks/>
          </p:cNvSpPr>
          <p:nvPr/>
        </p:nvSpPr>
        <p:spPr bwMode="auto">
          <a:xfrm>
            <a:off x="5962650" y="1595438"/>
            <a:ext cx="339725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214" y="0"/>
              </a:cxn>
              <a:cxn ang="0">
                <a:pos x="428" y="214"/>
              </a:cxn>
              <a:cxn ang="0">
                <a:pos x="0" y="214"/>
              </a:cxn>
            </a:cxnLst>
            <a:rect l="0" t="0" r="r" b="b"/>
            <a:pathLst>
              <a:path w="428" h="214">
                <a:moveTo>
                  <a:pt x="0" y="214"/>
                </a:moveTo>
                <a:lnTo>
                  <a:pt x="214" y="0"/>
                </a:lnTo>
                <a:lnTo>
                  <a:pt x="428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2" name="Freeform 160"/>
          <p:cNvSpPr>
            <a:spLocks/>
          </p:cNvSpPr>
          <p:nvPr/>
        </p:nvSpPr>
        <p:spPr bwMode="auto">
          <a:xfrm>
            <a:off x="6132513" y="1595438"/>
            <a:ext cx="339725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214" y="0"/>
              </a:cxn>
              <a:cxn ang="0">
                <a:pos x="428" y="214"/>
              </a:cxn>
              <a:cxn ang="0">
                <a:pos x="0" y="214"/>
              </a:cxn>
            </a:cxnLst>
            <a:rect l="0" t="0" r="r" b="b"/>
            <a:pathLst>
              <a:path w="428" h="214">
                <a:moveTo>
                  <a:pt x="0" y="214"/>
                </a:moveTo>
                <a:lnTo>
                  <a:pt x="214" y="0"/>
                </a:lnTo>
                <a:lnTo>
                  <a:pt x="428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3" name="Freeform 161"/>
          <p:cNvSpPr>
            <a:spLocks/>
          </p:cNvSpPr>
          <p:nvPr/>
        </p:nvSpPr>
        <p:spPr bwMode="auto">
          <a:xfrm>
            <a:off x="8043863" y="2401888"/>
            <a:ext cx="339725" cy="16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14"/>
              </a:cxn>
              <a:cxn ang="0">
                <a:pos x="428" y="0"/>
              </a:cxn>
              <a:cxn ang="0">
                <a:pos x="0" y="0"/>
              </a:cxn>
            </a:cxnLst>
            <a:rect l="0" t="0" r="r" b="b"/>
            <a:pathLst>
              <a:path w="428" h="214">
                <a:moveTo>
                  <a:pt x="0" y="0"/>
                </a:moveTo>
                <a:lnTo>
                  <a:pt x="214" y="214"/>
                </a:lnTo>
                <a:lnTo>
                  <a:pt x="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4" name="Freeform 162"/>
          <p:cNvSpPr>
            <a:spLocks/>
          </p:cNvSpPr>
          <p:nvPr/>
        </p:nvSpPr>
        <p:spPr bwMode="auto">
          <a:xfrm>
            <a:off x="8213725" y="2401888"/>
            <a:ext cx="339725" cy="16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14"/>
              </a:cxn>
              <a:cxn ang="0">
                <a:pos x="428" y="0"/>
              </a:cxn>
              <a:cxn ang="0">
                <a:pos x="0" y="0"/>
              </a:cxn>
            </a:cxnLst>
            <a:rect l="0" t="0" r="r" b="b"/>
            <a:pathLst>
              <a:path w="428" h="214">
                <a:moveTo>
                  <a:pt x="0" y="0"/>
                </a:moveTo>
                <a:lnTo>
                  <a:pt x="214" y="214"/>
                </a:lnTo>
                <a:lnTo>
                  <a:pt x="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5" name="Freeform 163"/>
          <p:cNvSpPr>
            <a:spLocks/>
          </p:cNvSpPr>
          <p:nvPr/>
        </p:nvSpPr>
        <p:spPr bwMode="auto">
          <a:xfrm>
            <a:off x="8043863" y="2401888"/>
            <a:ext cx="339725" cy="16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14"/>
              </a:cxn>
              <a:cxn ang="0">
                <a:pos x="428" y="0"/>
              </a:cxn>
              <a:cxn ang="0">
                <a:pos x="0" y="0"/>
              </a:cxn>
            </a:cxnLst>
            <a:rect l="0" t="0" r="r" b="b"/>
            <a:pathLst>
              <a:path w="428" h="214">
                <a:moveTo>
                  <a:pt x="0" y="0"/>
                </a:moveTo>
                <a:lnTo>
                  <a:pt x="214" y="214"/>
                </a:lnTo>
                <a:lnTo>
                  <a:pt x="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6" name="Freeform 164"/>
          <p:cNvSpPr>
            <a:spLocks/>
          </p:cNvSpPr>
          <p:nvPr/>
        </p:nvSpPr>
        <p:spPr bwMode="auto">
          <a:xfrm>
            <a:off x="8213725" y="2401888"/>
            <a:ext cx="339725" cy="16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14"/>
              </a:cxn>
              <a:cxn ang="0">
                <a:pos x="428" y="0"/>
              </a:cxn>
              <a:cxn ang="0">
                <a:pos x="0" y="0"/>
              </a:cxn>
            </a:cxnLst>
            <a:rect l="0" t="0" r="r" b="b"/>
            <a:pathLst>
              <a:path w="428" h="214">
                <a:moveTo>
                  <a:pt x="0" y="0"/>
                </a:moveTo>
                <a:lnTo>
                  <a:pt x="214" y="214"/>
                </a:lnTo>
                <a:lnTo>
                  <a:pt x="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7" name="Rectangle 165"/>
          <p:cNvSpPr>
            <a:spLocks noChangeArrowheads="1"/>
          </p:cNvSpPr>
          <p:nvPr/>
        </p:nvSpPr>
        <p:spPr bwMode="auto">
          <a:xfrm>
            <a:off x="6175375" y="5883275"/>
            <a:ext cx="85725" cy="25558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8" name="Rectangle 166"/>
          <p:cNvSpPr>
            <a:spLocks noChangeArrowheads="1"/>
          </p:cNvSpPr>
          <p:nvPr/>
        </p:nvSpPr>
        <p:spPr bwMode="auto">
          <a:xfrm>
            <a:off x="6261100" y="6011863"/>
            <a:ext cx="89217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9" name="Rectangle 167"/>
          <p:cNvSpPr>
            <a:spLocks noChangeArrowheads="1"/>
          </p:cNvSpPr>
          <p:nvPr/>
        </p:nvSpPr>
        <p:spPr bwMode="auto">
          <a:xfrm>
            <a:off x="7067550" y="5883275"/>
            <a:ext cx="85725" cy="21431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0" name="Rectangle 168"/>
          <p:cNvSpPr>
            <a:spLocks noChangeArrowheads="1"/>
          </p:cNvSpPr>
          <p:nvPr/>
        </p:nvSpPr>
        <p:spPr bwMode="auto">
          <a:xfrm>
            <a:off x="5029200" y="236538"/>
            <a:ext cx="260350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1" name="Rectangle 169"/>
          <p:cNvSpPr>
            <a:spLocks noChangeArrowheads="1"/>
          </p:cNvSpPr>
          <p:nvPr/>
        </p:nvSpPr>
        <p:spPr bwMode="auto">
          <a:xfrm>
            <a:off x="4953000" y="312738"/>
            <a:ext cx="280988" cy="22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PC</a:t>
            </a:r>
            <a:endParaRPr lang="en-US" sz="1600"/>
          </a:p>
        </p:txBody>
      </p:sp>
      <p:sp>
        <p:nvSpPr>
          <p:cNvPr id="330922" name="Rectangle 170"/>
          <p:cNvSpPr>
            <a:spLocks noChangeArrowheads="1"/>
          </p:cNvSpPr>
          <p:nvPr/>
        </p:nvSpPr>
        <p:spPr bwMode="auto">
          <a:xfrm>
            <a:off x="6302375" y="576263"/>
            <a:ext cx="1487488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3" name="Rectangle 171"/>
          <p:cNvSpPr>
            <a:spLocks noChangeArrowheads="1"/>
          </p:cNvSpPr>
          <p:nvPr/>
        </p:nvSpPr>
        <p:spPr bwMode="auto">
          <a:xfrm>
            <a:off x="6375400" y="608013"/>
            <a:ext cx="200025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valE</a:t>
            </a:r>
            <a:endParaRPr lang="en-US"/>
          </a:p>
        </p:txBody>
      </p:sp>
      <p:sp>
        <p:nvSpPr>
          <p:cNvPr id="330924" name="Rectangle 172"/>
          <p:cNvSpPr>
            <a:spLocks noChangeArrowheads="1"/>
          </p:cNvSpPr>
          <p:nvPr/>
        </p:nvSpPr>
        <p:spPr bwMode="auto">
          <a:xfrm>
            <a:off x="6569075" y="608013"/>
            <a:ext cx="57150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925" name="Rectangle 173"/>
          <p:cNvSpPr>
            <a:spLocks noChangeArrowheads="1"/>
          </p:cNvSpPr>
          <p:nvPr/>
        </p:nvSpPr>
        <p:spPr bwMode="auto">
          <a:xfrm>
            <a:off x="6621463" y="608013"/>
            <a:ext cx="215900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valM</a:t>
            </a:r>
            <a:endParaRPr lang="en-US"/>
          </a:p>
        </p:txBody>
      </p:sp>
      <p:sp>
        <p:nvSpPr>
          <p:cNvPr id="330926" name="Rectangle 174"/>
          <p:cNvSpPr>
            <a:spLocks noChangeArrowheads="1"/>
          </p:cNvSpPr>
          <p:nvPr/>
        </p:nvSpPr>
        <p:spPr bwMode="auto">
          <a:xfrm>
            <a:off x="6132513" y="322263"/>
            <a:ext cx="254952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7" name="Freeform 175"/>
          <p:cNvSpPr>
            <a:spLocks/>
          </p:cNvSpPr>
          <p:nvPr/>
        </p:nvSpPr>
        <p:spPr bwMode="auto">
          <a:xfrm>
            <a:off x="8467725" y="3590925"/>
            <a:ext cx="255588" cy="169863"/>
          </a:xfrm>
          <a:custGeom>
            <a:avLst/>
            <a:gdLst/>
            <a:ahLst/>
            <a:cxnLst>
              <a:cxn ang="0">
                <a:pos x="321" y="0"/>
              </a:cxn>
              <a:cxn ang="0">
                <a:pos x="160" y="214"/>
              </a:cxn>
              <a:cxn ang="0">
                <a:pos x="0" y="0"/>
              </a:cxn>
              <a:cxn ang="0">
                <a:pos x="321" y="0"/>
              </a:cxn>
            </a:cxnLst>
            <a:rect l="0" t="0" r="r" b="b"/>
            <a:pathLst>
              <a:path w="321" h="214">
                <a:moveTo>
                  <a:pt x="321" y="0"/>
                </a:moveTo>
                <a:lnTo>
                  <a:pt x="160" y="214"/>
                </a:lnTo>
                <a:lnTo>
                  <a:pt x="0" y="0"/>
                </a:lnTo>
                <a:lnTo>
                  <a:pt x="321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8" name="Freeform 176"/>
          <p:cNvSpPr>
            <a:spLocks/>
          </p:cNvSpPr>
          <p:nvPr/>
        </p:nvSpPr>
        <p:spPr bwMode="auto">
          <a:xfrm>
            <a:off x="8553450" y="3590925"/>
            <a:ext cx="254000" cy="169863"/>
          </a:xfrm>
          <a:custGeom>
            <a:avLst/>
            <a:gdLst/>
            <a:ahLst/>
            <a:cxnLst>
              <a:cxn ang="0">
                <a:pos x="321" y="0"/>
              </a:cxn>
              <a:cxn ang="0">
                <a:pos x="160" y="214"/>
              </a:cxn>
              <a:cxn ang="0">
                <a:pos x="0" y="0"/>
              </a:cxn>
              <a:cxn ang="0">
                <a:pos x="321" y="0"/>
              </a:cxn>
            </a:cxnLst>
            <a:rect l="0" t="0" r="r" b="b"/>
            <a:pathLst>
              <a:path w="321" h="214">
                <a:moveTo>
                  <a:pt x="321" y="0"/>
                </a:moveTo>
                <a:lnTo>
                  <a:pt x="160" y="214"/>
                </a:lnTo>
                <a:lnTo>
                  <a:pt x="0" y="0"/>
                </a:lnTo>
                <a:lnTo>
                  <a:pt x="321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9" name="Rectangle 177"/>
          <p:cNvSpPr>
            <a:spLocks noChangeArrowheads="1"/>
          </p:cNvSpPr>
          <p:nvPr/>
        </p:nvSpPr>
        <p:spPr bwMode="auto">
          <a:xfrm>
            <a:off x="6302375" y="152400"/>
            <a:ext cx="1487488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30" name="Rectangle 178"/>
          <p:cNvSpPr>
            <a:spLocks noChangeArrowheads="1"/>
          </p:cNvSpPr>
          <p:nvPr/>
        </p:nvSpPr>
        <p:spPr bwMode="auto">
          <a:xfrm>
            <a:off x="6375400" y="184150"/>
            <a:ext cx="3302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newPC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2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Principles of Pipelining</a:t>
            </a:r>
          </a:p>
          <a:p>
            <a:pPr lvl="1"/>
            <a:r>
              <a:rPr lang="en-US" dirty="0"/>
              <a:t>Goal</a:t>
            </a:r>
          </a:p>
          <a:p>
            <a:pPr lvl="1"/>
            <a:r>
              <a:rPr lang="en-US" dirty="0"/>
              <a:t>Difficulties</a:t>
            </a:r>
          </a:p>
          <a:p>
            <a:r>
              <a:rPr lang="en-US" dirty="0"/>
              <a:t>Creating a Pipelined Y86-64 Processor</a:t>
            </a:r>
          </a:p>
          <a:p>
            <a:pPr lvl="1"/>
            <a:r>
              <a:rPr lang="en-US" dirty="0"/>
              <a:t>Rearranging SEQ</a:t>
            </a:r>
          </a:p>
          <a:p>
            <a:pPr lvl="1"/>
            <a:r>
              <a:rPr lang="en-US" dirty="0"/>
              <a:t>Inserting pipeline registers</a:t>
            </a:r>
          </a:p>
          <a:p>
            <a:pPr lvl="1"/>
            <a:r>
              <a:rPr lang="en-US" dirty="0"/>
              <a:t>Problems with data and control hazards</a:t>
            </a:r>
          </a:p>
        </p:txBody>
      </p:sp>
    </p:spTree>
    <p:extLst>
      <p:ext uri="{BB962C8B-B14F-4D97-AF65-F5344CB8AC3E}">
        <p14:creationId xmlns:p14="http://schemas.microsoft.com/office/powerpoint/2010/main" val="195551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Real-World Pipelines: Car Washes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95800" y="3886200"/>
            <a:ext cx="4635500" cy="457200"/>
          </a:xfrm>
        </p:spPr>
        <p:txBody>
          <a:bodyPr/>
          <a:lstStyle/>
          <a:p>
            <a:r>
              <a:rPr lang="en-US"/>
              <a:t>Idea</a:t>
            </a:r>
          </a:p>
          <a:p>
            <a:pPr lvl="1"/>
            <a:r>
              <a:rPr lang="en-US"/>
              <a:t>Divide process into independent stages</a:t>
            </a:r>
          </a:p>
          <a:p>
            <a:pPr lvl="1"/>
            <a:r>
              <a:rPr lang="en-US"/>
              <a:t>Move objects through stages in sequence</a:t>
            </a:r>
          </a:p>
          <a:p>
            <a:pPr lvl="1"/>
            <a:r>
              <a:rPr lang="en-US"/>
              <a:t>At any given times, multiple objects being processed</a:t>
            </a:r>
          </a:p>
        </p:txBody>
      </p:sp>
      <p:grpSp>
        <p:nvGrpSpPr>
          <p:cNvPr id="399370" name="Group 10"/>
          <p:cNvGrpSpPr>
            <a:grpSpLocks/>
          </p:cNvGrpSpPr>
          <p:nvPr/>
        </p:nvGrpSpPr>
        <p:grpSpPr bwMode="auto">
          <a:xfrm>
            <a:off x="838200" y="1143000"/>
            <a:ext cx="2514600" cy="2319338"/>
            <a:chOff x="576" y="1045"/>
            <a:chExt cx="1584" cy="1461"/>
          </a:xfrm>
        </p:grpSpPr>
        <p:pic>
          <p:nvPicPr>
            <p:cNvPr id="399366" name="Picture 6" descr="C:\Documents and Settings\bryant\Desktop\Figs\story.car.wash.ap[1]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76" y="1296"/>
              <a:ext cx="1584" cy="1210"/>
            </a:xfrm>
            <a:prstGeom prst="rect">
              <a:avLst/>
            </a:prstGeom>
            <a:noFill/>
          </p:spPr>
        </p:pic>
        <p:sp>
          <p:nvSpPr>
            <p:cNvPr id="399367" name="Text Box 7"/>
            <p:cNvSpPr txBox="1">
              <a:spLocks noChangeArrowheads="1"/>
            </p:cNvSpPr>
            <p:nvPr/>
          </p:nvSpPr>
          <p:spPr bwMode="auto">
            <a:xfrm>
              <a:off x="576" y="1045"/>
              <a:ext cx="1488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r>
                <a:rPr lang="en-US"/>
                <a:t>Sequential</a:t>
              </a:r>
            </a:p>
          </p:txBody>
        </p:sp>
      </p:grpSp>
      <p:grpSp>
        <p:nvGrpSpPr>
          <p:cNvPr id="399371" name="Group 11"/>
          <p:cNvGrpSpPr>
            <a:grpSpLocks/>
          </p:cNvGrpSpPr>
          <p:nvPr/>
        </p:nvGrpSpPr>
        <p:grpSpPr bwMode="auto">
          <a:xfrm>
            <a:off x="5181600" y="1143000"/>
            <a:ext cx="1622425" cy="2449513"/>
            <a:chOff x="3504" y="960"/>
            <a:chExt cx="1022" cy="1543"/>
          </a:xfrm>
        </p:grpSpPr>
        <p:pic>
          <p:nvPicPr>
            <p:cNvPr id="399364" name="Picture 4" descr="C:\Documents and Settings\bryant\Desktop\Figs\car-wash[1].gif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04" y="1200"/>
              <a:ext cx="1022" cy="1303"/>
            </a:xfrm>
            <a:prstGeom prst="rect">
              <a:avLst/>
            </a:prstGeom>
            <a:noFill/>
          </p:spPr>
        </p:pic>
        <p:sp>
          <p:nvSpPr>
            <p:cNvPr id="399368" name="Text Box 8"/>
            <p:cNvSpPr txBox="1">
              <a:spLocks noChangeArrowheads="1"/>
            </p:cNvSpPr>
            <p:nvPr/>
          </p:nvSpPr>
          <p:spPr bwMode="auto">
            <a:xfrm>
              <a:off x="3504" y="960"/>
              <a:ext cx="1008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r>
                <a:rPr lang="en-US"/>
                <a:t>Parallel</a:t>
              </a:r>
            </a:p>
          </p:txBody>
        </p:sp>
      </p:grpSp>
      <p:grpSp>
        <p:nvGrpSpPr>
          <p:cNvPr id="399372" name="Group 12"/>
          <p:cNvGrpSpPr>
            <a:grpSpLocks/>
          </p:cNvGrpSpPr>
          <p:nvPr/>
        </p:nvGrpSpPr>
        <p:grpSpPr bwMode="auto">
          <a:xfrm>
            <a:off x="762000" y="3657600"/>
            <a:ext cx="2743200" cy="2100263"/>
            <a:chOff x="720" y="2688"/>
            <a:chExt cx="1728" cy="1323"/>
          </a:xfrm>
        </p:grpSpPr>
        <p:pic>
          <p:nvPicPr>
            <p:cNvPr id="399365" name="Picture 5" descr="C:\Documents and Settings\bryant\Desktop\Figs\CarWash1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20" y="2928"/>
              <a:ext cx="1728" cy="1083"/>
            </a:xfrm>
            <a:prstGeom prst="rect">
              <a:avLst/>
            </a:prstGeom>
            <a:noFill/>
          </p:spPr>
        </p:pic>
        <p:sp>
          <p:nvSpPr>
            <p:cNvPr id="399369" name="Text Box 9"/>
            <p:cNvSpPr txBox="1">
              <a:spLocks noChangeArrowheads="1"/>
            </p:cNvSpPr>
            <p:nvPr/>
          </p:nvSpPr>
          <p:spPr bwMode="auto">
            <a:xfrm>
              <a:off x="720" y="2688"/>
              <a:ext cx="1680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r>
                <a:rPr lang="en-US"/>
                <a:t>Pipelined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801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Example</a:t>
            </a:r>
          </a:p>
        </p:txBody>
      </p:sp>
      <p:sp>
        <p:nvSpPr>
          <p:cNvPr id="401421" name="Rectangle 13"/>
          <p:cNvSpPr>
            <a:spLocks noGrp="1" noChangeArrowheads="1"/>
          </p:cNvSpPr>
          <p:nvPr>
            <p:ph idx="1"/>
          </p:nvPr>
        </p:nvSpPr>
        <p:spPr>
          <a:xfrm>
            <a:off x="290513" y="3581400"/>
            <a:ext cx="8294687" cy="2851150"/>
          </a:xfrm>
        </p:spPr>
        <p:txBody>
          <a:bodyPr/>
          <a:lstStyle/>
          <a:p>
            <a:r>
              <a:rPr lang="en-US" dirty="0"/>
              <a:t>System</a:t>
            </a:r>
          </a:p>
          <a:p>
            <a:pPr lvl="1"/>
            <a:r>
              <a:rPr lang="en-US" dirty="0"/>
              <a:t>Computation requires total of 300 picoseconds</a:t>
            </a:r>
          </a:p>
          <a:p>
            <a:pPr lvl="1"/>
            <a:r>
              <a:rPr lang="en-US" dirty="0"/>
              <a:t>Additional 20 picoseconds to save result in register</a:t>
            </a:r>
          </a:p>
          <a:p>
            <a:pPr lvl="1"/>
            <a:r>
              <a:rPr lang="en-US" dirty="0"/>
              <a:t>Must have clock cycle of at least 320 </a:t>
            </a:r>
            <a:r>
              <a:rPr lang="en-US" dirty="0" err="1"/>
              <a:t>ps</a:t>
            </a:r>
            <a:endParaRPr lang="en-US" dirty="0"/>
          </a:p>
        </p:txBody>
      </p:sp>
      <p:grpSp>
        <p:nvGrpSpPr>
          <p:cNvPr id="401411" name="Group 3"/>
          <p:cNvGrpSpPr>
            <a:grpSpLocks/>
          </p:cNvGrpSpPr>
          <p:nvPr/>
        </p:nvGrpSpPr>
        <p:grpSpPr bwMode="auto">
          <a:xfrm>
            <a:off x="1676400" y="1219200"/>
            <a:ext cx="6276975" cy="2238375"/>
            <a:chOff x="1639" y="994"/>
            <a:chExt cx="3954" cy="1410"/>
          </a:xfrm>
        </p:grpSpPr>
        <p:sp>
          <p:nvSpPr>
            <p:cNvPr id="401412" name="Rectangle 4"/>
            <p:cNvSpPr>
              <a:spLocks noChangeArrowheads="1"/>
            </p:cNvSpPr>
            <p:nvPr/>
          </p:nvSpPr>
          <p:spPr bwMode="auto">
            <a:xfrm>
              <a:off x="1931" y="1204"/>
              <a:ext cx="1576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Combinational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</p:txBody>
        </p:sp>
        <p:sp>
          <p:nvSpPr>
            <p:cNvPr id="401413" name="Rectangle 5"/>
            <p:cNvSpPr>
              <a:spLocks noChangeArrowheads="1"/>
            </p:cNvSpPr>
            <p:nvPr/>
          </p:nvSpPr>
          <p:spPr bwMode="auto">
            <a:xfrm>
              <a:off x="3803" y="1204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1414" name="Rectangle 6"/>
            <p:cNvSpPr>
              <a:spLocks noChangeArrowheads="1"/>
            </p:cNvSpPr>
            <p:nvPr/>
          </p:nvSpPr>
          <p:spPr bwMode="auto">
            <a:xfrm>
              <a:off x="2506" y="994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300 ps</a:t>
              </a:r>
            </a:p>
          </p:txBody>
        </p:sp>
        <p:sp>
          <p:nvSpPr>
            <p:cNvPr id="401415" name="Rectangle 7"/>
            <p:cNvSpPr>
              <a:spLocks noChangeArrowheads="1"/>
            </p:cNvSpPr>
            <p:nvPr/>
          </p:nvSpPr>
          <p:spPr bwMode="auto">
            <a:xfrm>
              <a:off x="3646" y="994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1416" name="Line 8"/>
            <p:cNvSpPr>
              <a:spLocks noChangeShapeType="1"/>
            </p:cNvSpPr>
            <p:nvPr/>
          </p:nvSpPr>
          <p:spPr bwMode="auto">
            <a:xfrm>
              <a:off x="1639" y="1584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7" name="Line 9"/>
            <p:cNvSpPr>
              <a:spLocks noChangeShapeType="1"/>
            </p:cNvSpPr>
            <p:nvPr/>
          </p:nvSpPr>
          <p:spPr bwMode="auto">
            <a:xfrm>
              <a:off x="3511" y="1584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8" name="Line 10"/>
            <p:cNvSpPr>
              <a:spLocks noChangeShapeType="1"/>
            </p:cNvSpPr>
            <p:nvPr/>
          </p:nvSpPr>
          <p:spPr bwMode="auto">
            <a:xfrm>
              <a:off x="3895" y="20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9" name="Rectangle 11"/>
            <p:cNvSpPr>
              <a:spLocks noChangeArrowheads="1"/>
            </p:cNvSpPr>
            <p:nvPr/>
          </p:nvSpPr>
          <p:spPr bwMode="auto">
            <a:xfrm>
              <a:off x="3666" y="2194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401420" name="Rectangle 12"/>
            <p:cNvSpPr>
              <a:spLocks noChangeArrowheads="1"/>
            </p:cNvSpPr>
            <p:nvPr/>
          </p:nvSpPr>
          <p:spPr bwMode="auto">
            <a:xfrm>
              <a:off x="4023" y="1426"/>
              <a:ext cx="1570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Delay = 320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Throughput = 3.12 GIPS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8665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3-Way Pipelined Version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581400"/>
            <a:ext cx="8294687" cy="2851150"/>
          </a:xfrm>
        </p:spPr>
        <p:txBody>
          <a:bodyPr/>
          <a:lstStyle/>
          <a:p>
            <a:r>
              <a:rPr lang="en-US" dirty="0"/>
              <a:t>System</a:t>
            </a:r>
          </a:p>
          <a:p>
            <a:pPr lvl="1"/>
            <a:r>
              <a:rPr lang="en-US" dirty="0"/>
              <a:t>Divide combinational logic into 3 blocks of 100 </a:t>
            </a:r>
            <a:r>
              <a:rPr lang="en-US" dirty="0" err="1"/>
              <a:t>ps</a:t>
            </a:r>
            <a:r>
              <a:rPr lang="en-US" dirty="0"/>
              <a:t> each</a:t>
            </a:r>
          </a:p>
          <a:p>
            <a:pPr lvl="1"/>
            <a:r>
              <a:rPr lang="en-US" dirty="0"/>
              <a:t>Can begin new operation as soon as previous one passes through stage A.</a:t>
            </a:r>
          </a:p>
          <a:p>
            <a:pPr lvl="2"/>
            <a:r>
              <a:rPr lang="en-US" dirty="0"/>
              <a:t>Begin new operation every 120 </a:t>
            </a:r>
            <a:r>
              <a:rPr lang="en-US" dirty="0" err="1"/>
              <a:t>ps</a:t>
            </a:r>
            <a:endParaRPr lang="en-US" dirty="0"/>
          </a:p>
          <a:p>
            <a:pPr lvl="1"/>
            <a:r>
              <a:rPr lang="en-US" dirty="0"/>
              <a:t>Overall latency increases</a:t>
            </a:r>
          </a:p>
          <a:p>
            <a:pPr lvl="2"/>
            <a:r>
              <a:rPr lang="en-US" dirty="0"/>
              <a:t>360 </a:t>
            </a:r>
            <a:r>
              <a:rPr lang="en-US" dirty="0" err="1"/>
              <a:t>ps</a:t>
            </a:r>
            <a:r>
              <a:rPr lang="en-US" dirty="0"/>
              <a:t> from start to finish</a:t>
            </a:r>
          </a:p>
        </p:txBody>
      </p:sp>
      <p:grpSp>
        <p:nvGrpSpPr>
          <p:cNvPr id="403494" name="Group 38"/>
          <p:cNvGrpSpPr>
            <a:grpSpLocks/>
          </p:cNvGrpSpPr>
          <p:nvPr/>
        </p:nvGrpSpPr>
        <p:grpSpPr bwMode="auto">
          <a:xfrm>
            <a:off x="588963" y="1219200"/>
            <a:ext cx="8726487" cy="2390775"/>
            <a:chOff x="257" y="720"/>
            <a:chExt cx="5497" cy="1506"/>
          </a:xfrm>
        </p:grpSpPr>
        <p:sp>
          <p:nvSpPr>
            <p:cNvPr id="403470" name="Rectangle 14"/>
            <p:cNvSpPr>
              <a:spLocks noChangeArrowheads="1"/>
            </p:cNvSpPr>
            <p:nvPr/>
          </p:nvSpPr>
          <p:spPr bwMode="auto">
            <a:xfrm>
              <a:off x="1413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3471" name="Line 15"/>
            <p:cNvSpPr>
              <a:spLocks noChangeShapeType="1"/>
            </p:cNvSpPr>
            <p:nvPr/>
          </p:nvSpPr>
          <p:spPr bwMode="auto">
            <a:xfrm>
              <a:off x="257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2" name="Line 16"/>
            <p:cNvSpPr>
              <a:spLocks noChangeShapeType="1"/>
            </p:cNvSpPr>
            <p:nvPr/>
          </p:nvSpPr>
          <p:spPr bwMode="auto">
            <a:xfrm>
              <a:off x="1121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3" name="Line 17"/>
            <p:cNvSpPr>
              <a:spLocks noChangeShapeType="1"/>
            </p:cNvSpPr>
            <p:nvPr/>
          </p:nvSpPr>
          <p:spPr bwMode="auto">
            <a:xfrm>
              <a:off x="1505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4" name="Rectangle 18"/>
            <p:cNvSpPr>
              <a:spLocks noChangeArrowheads="1"/>
            </p:cNvSpPr>
            <p:nvPr/>
          </p:nvSpPr>
          <p:spPr bwMode="auto">
            <a:xfrm>
              <a:off x="3856" y="2016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403475" name="Rectangle 19"/>
            <p:cNvSpPr>
              <a:spLocks noChangeArrowheads="1"/>
            </p:cNvSpPr>
            <p:nvPr/>
          </p:nvSpPr>
          <p:spPr bwMode="auto">
            <a:xfrm>
              <a:off x="549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A</a:t>
              </a:r>
            </a:p>
          </p:txBody>
        </p:sp>
        <p:sp>
          <p:nvSpPr>
            <p:cNvPr id="403476" name="Rectangle 20"/>
            <p:cNvSpPr>
              <a:spLocks noChangeArrowheads="1"/>
            </p:cNvSpPr>
            <p:nvPr/>
          </p:nvSpPr>
          <p:spPr bwMode="auto">
            <a:xfrm>
              <a:off x="2709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3477" name="Line 21"/>
            <p:cNvSpPr>
              <a:spLocks noChangeShapeType="1"/>
            </p:cNvSpPr>
            <p:nvPr/>
          </p:nvSpPr>
          <p:spPr bwMode="auto">
            <a:xfrm>
              <a:off x="1553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8" name="Line 22"/>
            <p:cNvSpPr>
              <a:spLocks noChangeShapeType="1"/>
            </p:cNvSpPr>
            <p:nvPr/>
          </p:nvSpPr>
          <p:spPr bwMode="auto">
            <a:xfrm>
              <a:off x="2417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9" name="Line 23"/>
            <p:cNvSpPr>
              <a:spLocks noChangeShapeType="1"/>
            </p:cNvSpPr>
            <p:nvPr/>
          </p:nvSpPr>
          <p:spPr bwMode="auto">
            <a:xfrm>
              <a:off x="2801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80" name="Rectangle 24"/>
            <p:cNvSpPr>
              <a:spLocks noChangeArrowheads="1"/>
            </p:cNvSpPr>
            <p:nvPr/>
          </p:nvSpPr>
          <p:spPr bwMode="auto">
            <a:xfrm>
              <a:off x="1845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B</a:t>
              </a:r>
            </a:p>
          </p:txBody>
        </p:sp>
        <p:sp>
          <p:nvSpPr>
            <p:cNvPr id="403481" name="Rectangle 25"/>
            <p:cNvSpPr>
              <a:spLocks noChangeArrowheads="1"/>
            </p:cNvSpPr>
            <p:nvPr/>
          </p:nvSpPr>
          <p:spPr bwMode="auto">
            <a:xfrm>
              <a:off x="400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3482" name="Line 26"/>
            <p:cNvSpPr>
              <a:spLocks noChangeShapeType="1"/>
            </p:cNvSpPr>
            <p:nvPr/>
          </p:nvSpPr>
          <p:spPr bwMode="auto">
            <a:xfrm>
              <a:off x="2849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83" name="Line 27"/>
            <p:cNvSpPr>
              <a:spLocks noChangeShapeType="1"/>
            </p:cNvSpPr>
            <p:nvPr/>
          </p:nvSpPr>
          <p:spPr bwMode="auto">
            <a:xfrm>
              <a:off x="3713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84" name="Line 28"/>
            <p:cNvSpPr>
              <a:spLocks noChangeShapeType="1"/>
            </p:cNvSpPr>
            <p:nvPr/>
          </p:nvSpPr>
          <p:spPr bwMode="auto">
            <a:xfrm>
              <a:off x="4097" y="1790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85" name="Rectangle 29"/>
            <p:cNvSpPr>
              <a:spLocks noChangeArrowheads="1"/>
            </p:cNvSpPr>
            <p:nvPr/>
          </p:nvSpPr>
          <p:spPr bwMode="auto">
            <a:xfrm>
              <a:off x="3141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</a:t>
              </a:r>
            </a:p>
          </p:txBody>
        </p:sp>
        <p:sp>
          <p:nvSpPr>
            <p:cNvPr id="403486" name="Rectangle 30"/>
            <p:cNvSpPr>
              <a:spLocks noChangeArrowheads="1"/>
            </p:cNvSpPr>
            <p:nvPr/>
          </p:nvSpPr>
          <p:spPr bwMode="auto">
            <a:xfrm>
              <a:off x="596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3487" name="Rectangle 31"/>
            <p:cNvSpPr>
              <a:spLocks noChangeArrowheads="1"/>
            </p:cNvSpPr>
            <p:nvPr/>
          </p:nvSpPr>
          <p:spPr bwMode="auto">
            <a:xfrm>
              <a:off x="1256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3488" name="Rectangle 32"/>
            <p:cNvSpPr>
              <a:spLocks noChangeArrowheads="1"/>
            </p:cNvSpPr>
            <p:nvPr/>
          </p:nvSpPr>
          <p:spPr bwMode="auto">
            <a:xfrm>
              <a:off x="1892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3489" name="Rectangle 33"/>
            <p:cNvSpPr>
              <a:spLocks noChangeArrowheads="1"/>
            </p:cNvSpPr>
            <p:nvPr/>
          </p:nvSpPr>
          <p:spPr bwMode="auto">
            <a:xfrm>
              <a:off x="2552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3490" name="Rectangle 34"/>
            <p:cNvSpPr>
              <a:spLocks noChangeArrowheads="1"/>
            </p:cNvSpPr>
            <p:nvPr/>
          </p:nvSpPr>
          <p:spPr bwMode="auto">
            <a:xfrm>
              <a:off x="3188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3491" name="Rectangle 35"/>
            <p:cNvSpPr>
              <a:spLocks noChangeArrowheads="1"/>
            </p:cNvSpPr>
            <p:nvPr/>
          </p:nvSpPr>
          <p:spPr bwMode="auto">
            <a:xfrm>
              <a:off x="384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3492" name="Line 36"/>
            <p:cNvSpPr>
              <a:spLocks noChangeShapeType="1"/>
            </p:cNvSpPr>
            <p:nvPr/>
          </p:nvSpPr>
          <p:spPr bwMode="auto">
            <a:xfrm>
              <a:off x="1505" y="1920"/>
              <a:ext cx="25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93" name="Rectangle 37"/>
            <p:cNvSpPr>
              <a:spLocks noChangeArrowheads="1"/>
            </p:cNvSpPr>
            <p:nvPr/>
          </p:nvSpPr>
          <p:spPr bwMode="auto">
            <a:xfrm>
              <a:off x="4184" y="1200"/>
              <a:ext cx="1570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Delay = 360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Throughput = 8.33 GIPS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086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47" name="Rectangle 6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Diagrams</a:t>
            </a:r>
          </a:p>
        </p:txBody>
      </p:sp>
      <p:sp>
        <p:nvSpPr>
          <p:cNvPr id="404548" name="Rectangle 6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Unpipelined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Cannot start new operation until previous one completes</a:t>
            </a:r>
          </a:p>
          <a:p>
            <a:r>
              <a:rPr lang="en-US" dirty="0"/>
              <a:t>3-Way Pipelined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Up to 3 operations in process simultaneously</a:t>
            </a:r>
          </a:p>
        </p:txBody>
      </p:sp>
      <p:grpSp>
        <p:nvGrpSpPr>
          <p:cNvPr id="404492" name="Group 12"/>
          <p:cNvGrpSpPr>
            <a:grpSpLocks/>
          </p:cNvGrpSpPr>
          <p:nvPr/>
        </p:nvGrpSpPr>
        <p:grpSpPr bwMode="auto">
          <a:xfrm>
            <a:off x="609600" y="1981200"/>
            <a:ext cx="7239000" cy="1073150"/>
            <a:chOff x="624" y="2396"/>
            <a:chExt cx="4560" cy="676"/>
          </a:xfrm>
        </p:grpSpPr>
        <p:sp>
          <p:nvSpPr>
            <p:cNvPr id="404484" name="Line 4"/>
            <p:cNvSpPr>
              <a:spLocks noChangeShapeType="1"/>
            </p:cNvSpPr>
            <p:nvPr/>
          </p:nvSpPr>
          <p:spPr bwMode="auto">
            <a:xfrm>
              <a:off x="1104" y="3068"/>
              <a:ext cx="4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485" name="Rectangle 5"/>
            <p:cNvSpPr>
              <a:spLocks noChangeArrowheads="1"/>
            </p:cNvSpPr>
            <p:nvPr/>
          </p:nvSpPr>
          <p:spPr bwMode="auto">
            <a:xfrm>
              <a:off x="1527" y="2862"/>
              <a:ext cx="3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Time</a:t>
              </a:r>
            </a:p>
          </p:txBody>
        </p:sp>
        <p:sp>
          <p:nvSpPr>
            <p:cNvPr id="404486" name="Rectangle 6"/>
            <p:cNvSpPr>
              <a:spLocks noChangeArrowheads="1"/>
            </p:cNvSpPr>
            <p:nvPr/>
          </p:nvSpPr>
          <p:spPr bwMode="auto">
            <a:xfrm>
              <a:off x="1152" y="2396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87" name="Rectangle 7"/>
            <p:cNvSpPr>
              <a:spLocks noChangeArrowheads="1"/>
            </p:cNvSpPr>
            <p:nvPr/>
          </p:nvSpPr>
          <p:spPr bwMode="auto">
            <a:xfrm>
              <a:off x="624" y="239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4488" name="Rectangle 8"/>
            <p:cNvSpPr>
              <a:spLocks noChangeArrowheads="1"/>
            </p:cNvSpPr>
            <p:nvPr/>
          </p:nvSpPr>
          <p:spPr bwMode="auto">
            <a:xfrm>
              <a:off x="624" y="258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4489" name="Rectangle 9"/>
            <p:cNvSpPr>
              <a:spLocks noChangeArrowheads="1"/>
            </p:cNvSpPr>
            <p:nvPr/>
          </p:nvSpPr>
          <p:spPr bwMode="auto">
            <a:xfrm>
              <a:off x="2256" y="2588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90" name="Rectangle 10"/>
            <p:cNvSpPr>
              <a:spLocks noChangeArrowheads="1"/>
            </p:cNvSpPr>
            <p:nvPr/>
          </p:nvSpPr>
          <p:spPr bwMode="auto">
            <a:xfrm>
              <a:off x="3360" y="2780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91" name="Rectangle 11"/>
            <p:cNvSpPr>
              <a:spLocks noChangeArrowheads="1"/>
            </p:cNvSpPr>
            <p:nvPr/>
          </p:nvSpPr>
          <p:spPr bwMode="auto">
            <a:xfrm>
              <a:off x="624" y="278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</p:grpSp>
      <p:grpSp>
        <p:nvGrpSpPr>
          <p:cNvPr id="404512" name="Group 32"/>
          <p:cNvGrpSpPr>
            <a:grpSpLocks/>
          </p:cNvGrpSpPr>
          <p:nvPr/>
        </p:nvGrpSpPr>
        <p:grpSpPr bwMode="auto">
          <a:xfrm>
            <a:off x="609600" y="4391025"/>
            <a:ext cx="3886200" cy="1247775"/>
            <a:chOff x="336" y="2766"/>
            <a:chExt cx="2448" cy="786"/>
          </a:xfrm>
        </p:grpSpPr>
        <p:grpSp>
          <p:nvGrpSpPr>
            <p:cNvPr id="404507" name="Group 27"/>
            <p:cNvGrpSpPr>
              <a:grpSpLocks/>
            </p:cNvGrpSpPr>
            <p:nvPr/>
          </p:nvGrpSpPr>
          <p:grpSpPr bwMode="auto">
            <a:xfrm>
              <a:off x="864" y="2766"/>
              <a:ext cx="1920" cy="786"/>
              <a:chOff x="768" y="2400"/>
              <a:chExt cx="1920" cy="786"/>
            </a:xfrm>
          </p:grpSpPr>
          <p:sp>
            <p:nvSpPr>
              <p:cNvPr id="404493" name="Line 13"/>
              <p:cNvSpPr>
                <a:spLocks noChangeShapeType="1"/>
              </p:cNvSpPr>
              <p:nvPr/>
            </p:nvSpPr>
            <p:spPr bwMode="auto">
              <a:xfrm>
                <a:off x="768" y="3168"/>
                <a:ext cx="1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494" name="Rectangle 14"/>
              <p:cNvSpPr>
                <a:spLocks noChangeArrowheads="1"/>
              </p:cNvSpPr>
              <p:nvPr/>
            </p:nvSpPr>
            <p:spPr bwMode="auto">
              <a:xfrm>
                <a:off x="1191" y="2976"/>
                <a:ext cx="3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Time</a:t>
                </a:r>
              </a:p>
            </p:txBody>
          </p:sp>
          <p:grpSp>
            <p:nvGrpSpPr>
              <p:cNvPr id="404495" name="Group 15"/>
              <p:cNvGrpSpPr>
                <a:grpSpLocks/>
              </p:cNvGrpSpPr>
              <p:nvPr/>
            </p:nvGrpSpPr>
            <p:grpSpPr bwMode="auto">
              <a:xfrm>
                <a:off x="768" y="2400"/>
                <a:ext cx="1152" cy="192"/>
                <a:chOff x="768" y="2400"/>
                <a:chExt cx="1152" cy="192"/>
              </a:xfrm>
            </p:grpSpPr>
            <p:sp>
              <p:nvSpPr>
                <p:cNvPr id="404496" name="Rectangle 16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497" name="Rectangle 17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498" name="Rectangle 18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  <p:grpSp>
            <p:nvGrpSpPr>
              <p:cNvPr id="404499" name="Group 19"/>
              <p:cNvGrpSpPr>
                <a:grpSpLocks/>
              </p:cNvGrpSpPr>
              <p:nvPr/>
            </p:nvGrpSpPr>
            <p:grpSpPr bwMode="auto">
              <a:xfrm>
                <a:off x="1152" y="2592"/>
                <a:ext cx="1152" cy="192"/>
                <a:chOff x="768" y="2400"/>
                <a:chExt cx="1152" cy="192"/>
              </a:xfrm>
            </p:grpSpPr>
            <p:sp>
              <p:nvSpPr>
                <p:cNvPr id="404500" name="Rectangle 20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501" name="Rectangle 21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502" name="Rectangle 22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  <p:grpSp>
            <p:nvGrpSpPr>
              <p:cNvPr id="404503" name="Group 23"/>
              <p:cNvGrpSpPr>
                <a:grpSpLocks/>
              </p:cNvGrpSpPr>
              <p:nvPr/>
            </p:nvGrpSpPr>
            <p:grpSpPr bwMode="auto">
              <a:xfrm>
                <a:off x="1536" y="2784"/>
                <a:ext cx="1152" cy="192"/>
                <a:chOff x="768" y="2400"/>
                <a:chExt cx="1152" cy="192"/>
              </a:xfrm>
            </p:grpSpPr>
            <p:sp>
              <p:nvSpPr>
                <p:cNvPr id="404504" name="Rectangle 24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505" name="Rectangle 25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506" name="Rectangle 26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</p:grpSp>
        <p:sp>
          <p:nvSpPr>
            <p:cNvPr id="404509" name="Rectangle 29"/>
            <p:cNvSpPr>
              <a:spLocks noChangeArrowheads="1"/>
            </p:cNvSpPr>
            <p:nvPr/>
          </p:nvSpPr>
          <p:spPr bwMode="auto">
            <a:xfrm>
              <a:off x="336" y="2784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4510" name="Rectangle 30"/>
            <p:cNvSpPr>
              <a:spLocks noChangeArrowheads="1"/>
            </p:cNvSpPr>
            <p:nvPr/>
          </p:nvSpPr>
          <p:spPr bwMode="auto">
            <a:xfrm>
              <a:off x="336" y="297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4511" name="Rectangle 31"/>
            <p:cNvSpPr>
              <a:spLocks noChangeArrowheads="1"/>
            </p:cNvSpPr>
            <p:nvPr/>
          </p:nvSpPr>
          <p:spPr bwMode="auto">
            <a:xfrm>
              <a:off x="336" y="316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</p:grpSp>
      <p:sp>
        <p:nvSpPr>
          <p:cNvPr id="404508" name="Line 28"/>
          <p:cNvSpPr>
            <a:spLocks noChangeShapeType="1"/>
          </p:cNvSpPr>
          <p:nvPr/>
        </p:nvSpPr>
        <p:spPr bwMode="auto">
          <a:xfrm>
            <a:off x="2895600" y="4191000"/>
            <a:ext cx="0" cy="1295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6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a Pipeline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1219200"/>
            <a:ext cx="8077200" cy="2168525"/>
            <a:chOff x="968" y="2430"/>
            <a:chExt cx="2688" cy="1366"/>
          </a:xfrm>
        </p:grpSpPr>
        <p:sp>
          <p:nvSpPr>
            <p:cNvPr id="406532" name="Rectangle 4"/>
            <p:cNvSpPr>
              <a:spLocks noChangeArrowheads="1"/>
            </p:cNvSpPr>
            <p:nvPr/>
          </p:nvSpPr>
          <p:spPr bwMode="auto">
            <a:xfrm>
              <a:off x="2312" y="3586"/>
              <a:ext cx="21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Time</a:t>
              </a:r>
            </a:p>
          </p:txBody>
        </p:sp>
        <p:sp>
          <p:nvSpPr>
            <p:cNvPr id="406533" name="Rectangle 5"/>
            <p:cNvSpPr>
              <a:spLocks noChangeArrowheads="1"/>
            </p:cNvSpPr>
            <p:nvPr/>
          </p:nvSpPr>
          <p:spPr bwMode="auto">
            <a:xfrm>
              <a:off x="968" y="267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6534" name="Rectangle 6"/>
            <p:cNvSpPr>
              <a:spLocks noChangeArrowheads="1"/>
            </p:cNvSpPr>
            <p:nvPr/>
          </p:nvSpPr>
          <p:spPr bwMode="auto">
            <a:xfrm>
              <a:off x="968" y="2862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6535" name="Rectangle 7"/>
            <p:cNvSpPr>
              <a:spLocks noChangeArrowheads="1"/>
            </p:cNvSpPr>
            <p:nvPr/>
          </p:nvSpPr>
          <p:spPr bwMode="auto">
            <a:xfrm>
              <a:off x="968" y="3054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1544" y="2674"/>
              <a:ext cx="1152" cy="192"/>
              <a:chOff x="768" y="2400"/>
              <a:chExt cx="1152" cy="192"/>
            </a:xfrm>
          </p:grpSpPr>
          <p:sp>
            <p:nvSpPr>
              <p:cNvPr id="406537" name="Rectangle 9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38" name="Rectangle 10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39" name="Rectangle 11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928" y="2866"/>
              <a:ext cx="1152" cy="192"/>
              <a:chOff x="768" y="2400"/>
              <a:chExt cx="1152" cy="192"/>
            </a:xfrm>
          </p:grpSpPr>
          <p:sp>
            <p:nvSpPr>
              <p:cNvPr id="406541" name="Rectangle 13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42" name="Rectangle 14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43" name="Rectangle 15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2312" y="3058"/>
              <a:ext cx="1152" cy="192"/>
              <a:chOff x="768" y="2400"/>
              <a:chExt cx="1152" cy="192"/>
            </a:xfrm>
          </p:grpSpPr>
          <p:sp>
            <p:nvSpPr>
              <p:cNvPr id="406545" name="Rectangle 17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46" name="Rectangle 18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47" name="Rectangle 19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1544" y="3346"/>
              <a:ext cx="1920" cy="96"/>
              <a:chOff x="768" y="2256"/>
              <a:chExt cx="1920" cy="96"/>
            </a:xfrm>
          </p:grpSpPr>
          <p:sp>
            <p:nvSpPr>
              <p:cNvPr id="406549" name="Line 21"/>
              <p:cNvSpPr>
                <a:spLocks noChangeShapeType="1"/>
              </p:cNvSpPr>
              <p:nvPr/>
            </p:nvSpPr>
            <p:spPr bwMode="auto">
              <a:xfrm>
                <a:off x="768" y="2304"/>
                <a:ext cx="1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0" name="Line 22"/>
              <p:cNvSpPr>
                <a:spLocks noChangeShapeType="1"/>
              </p:cNvSpPr>
              <p:nvPr/>
            </p:nvSpPr>
            <p:spPr bwMode="auto">
              <a:xfrm>
                <a:off x="768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1" name="Line 23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2" name="Line 24"/>
              <p:cNvSpPr>
                <a:spLocks noChangeShapeType="1"/>
              </p:cNvSpPr>
              <p:nvPr/>
            </p:nvSpPr>
            <p:spPr bwMode="auto">
              <a:xfrm>
                <a:off x="1536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3" name="Line 25"/>
              <p:cNvSpPr>
                <a:spLocks noChangeShapeType="1"/>
              </p:cNvSpPr>
              <p:nvPr/>
            </p:nvSpPr>
            <p:spPr bwMode="auto">
              <a:xfrm>
                <a:off x="1920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4" name="Line 26"/>
              <p:cNvSpPr>
                <a:spLocks noChangeShapeType="1"/>
              </p:cNvSpPr>
              <p:nvPr/>
            </p:nvSpPr>
            <p:spPr bwMode="auto">
              <a:xfrm>
                <a:off x="2304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5" name="Line 27"/>
              <p:cNvSpPr>
                <a:spLocks noChangeShapeType="1"/>
              </p:cNvSpPr>
              <p:nvPr/>
            </p:nvSpPr>
            <p:spPr bwMode="auto">
              <a:xfrm>
                <a:off x="2688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1400" y="3442"/>
              <a:ext cx="2256" cy="192"/>
              <a:chOff x="816" y="3168"/>
              <a:chExt cx="2256" cy="192"/>
            </a:xfrm>
          </p:grpSpPr>
          <p:sp>
            <p:nvSpPr>
              <p:cNvPr id="406557" name="Rectangle 29"/>
              <p:cNvSpPr>
                <a:spLocks noChangeArrowheads="1"/>
              </p:cNvSpPr>
              <p:nvPr/>
            </p:nvSpPr>
            <p:spPr bwMode="auto">
              <a:xfrm>
                <a:off x="816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0</a:t>
                </a:r>
              </a:p>
            </p:txBody>
          </p:sp>
          <p:sp>
            <p:nvSpPr>
              <p:cNvPr id="406558" name="Rectangle 30"/>
              <p:cNvSpPr>
                <a:spLocks noChangeArrowheads="1"/>
              </p:cNvSpPr>
              <p:nvPr/>
            </p:nvSpPr>
            <p:spPr bwMode="auto">
              <a:xfrm>
                <a:off x="1200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120</a:t>
                </a:r>
              </a:p>
            </p:txBody>
          </p:sp>
          <p:sp>
            <p:nvSpPr>
              <p:cNvPr id="406559" name="Rectangle 31"/>
              <p:cNvSpPr>
                <a:spLocks noChangeArrowheads="1"/>
              </p:cNvSpPr>
              <p:nvPr/>
            </p:nvSpPr>
            <p:spPr bwMode="auto">
              <a:xfrm>
                <a:off x="1584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240</a:t>
                </a:r>
              </a:p>
            </p:txBody>
          </p:sp>
          <p:sp>
            <p:nvSpPr>
              <p:cNvPr id="406560" name="Rectangle 32"/>
              <p:cNvSpPr>
                <a:spLocks noChangeArrowheads="1"/>
              </p:cNvSpPr>
              <p:nvPr/>
            </p:nvSpPr>
            <p:spPr bwMode="auto">
              <a:xfrm>
                <a:off x="1968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360</a:t>
                </a:r>
              </a:p>
            </p:txBody>
          </p:sp>
          <p:sp>
            <p:nvSpPr>
              <p:cNvPr id="406561" name="Rectangle 33"/>
              <p:cNvSpPr>
                <a:spLocks noChangeArrowheads="1"/>
              </p:cNvSpPr>
              <p:nvPr/>
            </p:nvSpPr>
            <p:spPr bwMode="auto">
              <a:xfrm>
                <a:off x="2352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480</a:t>
                </a:r>
              </a:p>
            </p:txBody>
          </p:sp>
          <p:sp>
            <p:nvSpPr>
              <p:cNvPr id="406562" name="Rectangle 34"/>
              <p:cNvSpPr>
                <a:spLocks noChangeArrowheads="1"/>
              </p:cNvSpPr>
              <p:nvPr/>
            </p:nvSpPr>
            <p:spPr bwMode="auto">
              <a:xfrm>
                <a:off x="2736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640</a:t>
                </a:r>
              </a:p>
            </p:txBody>
          </p:sp>
        </p:grpSp>
        <p:sp>
          <p:nvSpPr>
            <p:cNvPr id="406563" name="Freeform 35"/>
            <p:cNvSpPr>
              <a:spLocks/>
            </p:cNvSpPr>
            <p:nvPr/>
          </p:nvSpPr>
          <p:spPr bwMode="auto">
            <a:xfrm>
              <a:off x="1544" y="2430"/>
              <a:ext cx="1998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576" y="192"/>
                </a:cxn>
                <a:cxn ang="0">
                  <a:pos x="768" y="192"/>
                </a:cxn>
                <a:cxn ang="0">
                  <a:pos x="768" y="0"/>
                </a:cxn>
                <a:cxn ang="0">
                  <a:pos x="960" y="0"/>
                </a:cxn>
                <a:cxn ang="0">
                  <a:pos x="960" y="192"/>
                </a:cxn>
                <a:cxn ang="0">
                  <a:pos x="1152" y="192"/>
                </a:cxn>
                <a:cxn ang="0">
                  <a:pos x="1152" y="0"/>
                </a:cxn>
                <a:cxn ang="0">
                  <a:pos x="1344" y="0"/>
                </a:cxn>
                <a:cxn ang="0">
                  <a:pos x="1344" y="192"/>
                </a:cxn>
                <a:cxn ang="0">
                  <a:pos x="1536" y="192"/>
                </a:cxn>
                <a:cxn ang="0">
                  <a:pos x="1536" y="0"/>
                </a:cxn>
                <a:cxn ang="0">
                  <a:pos x="1728" y="0"/>
                </a:cxn>
                <a:cxn ang="0">
                  <a:pos x="1728" y="192"/>
                </a:cxn>
                <a:cxn ang="0">
                  <a:pos x="1920" y="192"/>
                </a:cxn>
                <a:cxn ang="0">
                  <a:pos x="1920" y="0"/>
                </a:cxn>
                <a:cxn ang="0">
                  <a:pos x="1998" y="0"/>
                </a:cxn>
              </a:cxnLst>
              <a:rect l="0" t="0" r="r" b="b"/>
              <a:pathLst>
                <a:path w="1998" h="192">
                  <a:moveTo>
                    <a:pt x="0" y="0"/>
                  </a:move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576" y="192"/>
                  </a:lnTo>
                  <a:lnTo>
                    <a:pt x="768" y="192"/>
                  </a:lnTo>
                  <a:lnTo>
                    <a:pt x="768" y="0"/>
                  </a:lnTo>
                  <a:lnTo>
                    <a:pt x="960" y="0"/>
                  </a:lnTo>
                  <a:lnTo>
                    <a:pt x="960" y="192"/>
                  </a:lnTo>
                  <a:lnTo>
                    <a:pt x="1152" y="192"/>
                  </a:lnTo>
                  <a:lnTo>
                    <a:pt x="1152" y="0"/>
                  </a:lnTo>
                  <a:lnTo>
                    <a:pt x="1344" y="0"/>
                  </a:lnTo>
                  <a:lnTo>
                    <a:pt x="1344" y="192"/>
                  </a:lnTo>
                  <a:lnTo>
                    <a:pt x="1536" y="192"/>
                  </a:lnTo>
                  <a:lnTo>
                    <a:pt x="1536" y="0"/>
                  </a:lnTo>
                  <a:lnTo>
                    <a:pt x="1728" y="0"/>
                  </a:lnTo>
                  <a:lnTo>
                    <a:pt x="1728" y="192"/>
                  </a:lnTo>
                  <a:lnTo>
                    <a:pt x="1920" y="192"/>
                  </a:lnTo>
                  <a:cubicBezTo>
                    <a:pt x="1920" y="128"/>
                    <a:pt x="1920" y="64"/>
                    <a:pt x="1920" y="0"/>
                  </a:cubicBezTo>
                  <a:cubicBezTo>
                    <a:pt x="1992" y="0"/>
                    <a:pt x="1982" y="0"/>
                    <a:pt x="199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64" name="Rectangle 36"/>
            <p:cNvSpPr>
              <a:spLocks noChangeArrowheads="1"/>
            </p:cNvSpPr>
            <p:nvPr/>
          </p:nvSpPr>
          <p:spPr bwMode="auto">
            <a:xfrm>
              <a:off x="968" y="243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Clock</a:t>
              </a:r>
            </a:p>
          </p:txBody>
        </p:sp>
      </p:grpSp>
      <p:grpSp>
        <p:nvGrpSpPr>
          <p:cNvPr id="8" name="Group 166"/>
          <p:cNvGrpSpPr>
            <a:grpSpLocks/>
          </p:cNvGrpSpPr>
          <p:nvPr/>
        </p:nvGrpSpPr>
        <p:grpSpPr bwMode="auto">
          <a:xfrm>
            <a:off x="762000" y="830263"/>
            <a:ext cx="6400800" cy="5294312"/>
            <a:chOff x="480" y="523"/>
            <a:chExt cx="4032" cy="3335"/>
          </a:xfrm>
        </p:grpSpPr>
        <p:grpSp>
          <p:nvGrpSpPr>
            <p:cNvPr id="9" name="Group 61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1776"/>
              <a:chExt cx="4032" cy="1506"/>
            </a:xfrm>
          </p:grpSpPr>
          <p:sp>
            <p:nvSpPr>
              <p:cNvPr id="406565" name="Rectangle 37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66" name="Rectangle 38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67" name="Line 39"/>
              <p:cNvSpPr>
                <a:spLocks noChangeShapeType="1"/>
              </p:cNvSpPr>
              <p:nvPr/>
            </p:nvSpPr>
            <p:spPr bwMode="auto">
              <a:xfrm>
                <a:off x="1920" y="288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68" name="Rectangle 40"/>
              <p:cNvSpPr>
                <a:spLocks noChangeArrowheads="1"/>
              </p:cNvSpPr>
              <p:nvPr/>
            </p:nvSpPr>
            <p:spPr bwMode="auto">
              <a:xfrm>
                <a:off x="4271" y="3072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569" name="Rectangle 41"/>
              <p:cNvSpPr>
                <a:spLocks noChangeArrowheads="1"/>
              </p:cNvSpPr>
              <p:nvPr/>
            </p:nvSpPr>
            <p:spPr bwMode="auto">
              <a:xfrm>
                <a:off x="960" y="2064"/>
                <a:ext cx="568" cy="808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570" name="Rectangle 42"/>
              <p:cNvSpPr>
                <a:spLocks noChangeArrowheads="1"/>
              </p:cNvSpPr>
              <p:nvPr/>
            </p:nvSpPr>
            <p:spPr bwMode="auto">
              <a:xfrm>
                <a:off x="3120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71" name="Line 43"/>
              <p:cNvSpPr>
                <a:spLocks noChangeShapeType="1"/>
              </p:cNvSpPr>
              <p:nvPr/>
            </p:nvSpPr>
            <p:spPr bwMode="auto">
              <a:xfrm>
                <a:off x="3216" y="288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72" name="Rectangle 44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68" cy="808"/>
              </a:xfrm>
              <a:prstGeom prst="rect">
                <a:avLst/>
              </a:prstGeom>
              <a:solidFill>
                <a:srgbClr val="5F5F5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573" name="Rectangle 45"/>
              <p:cNvSpPr>
                <a:spLocks noChangeArrowheads="1"/>
              </p:cNvSpPr>
              <p:nvPr/>
            </p:nvSpPr>
            <p:spPr bwMode="auto">
              <a:xfrm>
                <a:off x="4416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74" name="Line 46"/>
              <p:cNvSpPr>
                <a:spLocks noChangeShapeType="1"/>
              </p:cNvSpPr>
              <p:nvPr/>
            </p:nvSpPr>
            <p:spPr bwMode="auto">
              <a:xfrm>
                <a:off x="4512" y="2880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75" name="Rectangle 47"/>
              <p:cNvSpPr>
                <a:spLocks noChangeArrowheads="1"/>
              </p:cNvSpPr>
              <p:nvPr/>
            </p:nvSpPr>
            <p:spPr bwMode="auto">
              <a:xfrm>
                <a:off x="3552" y="206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576" name="Rectangle 48"/>
              <p:cNvSpPr>
                <a:spLocks noChangeArrowheads="1"/>
              </p:cNvSpPr>
              <p:nvPr/>
            </p:nvSpPr>
            <p:spPr bwMode="auto">
              <a:xfrm>
                <a:off x="1011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77" name="Rectangle 49"/>
              <p:cNvSpPr>
                <a:spLocks noChangeArrowheads="1"/>
              </p:cNvSpPr>
              <p:nvPr/>
            </p:nvSpPr>
            <p:spPr bwMode="auto">
              <a:xfrm>
                <a:off x="1671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78" name="Rectangle 50"/>
              <p:cNvSpPr>
                <a:spLocks noChangeArrowheads="1"/>
              </p:cNvSpPr>
              <p:nvPr/>
            </p:nvSpPr>
            <p:spPr bwMode="auto">
              <a:xfrm>
                <a:off x="2307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79" name="Rectangle 51"/>
              <p:cNvSpPr>
                <a:spLocks noChangeArrowheads="1"/>
              </p:cNvSpPr>
              <p:nvPr/>
            </p:nvSpPr>
            <p:spPr bwMode="auto">
              <a:xfrm>
                <a:off x="2967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80" name="Rectangle 52"/>
              <p:cNvSpPr>
                <a:spLocks noChangeArrowheads="1"/>
              </p:cNvSpPr>
              <p:nvPr/>
            </p:nvSpPr>
            <p:spPr bwMode="auto">
              <a:xfrm>
                <a:off x="3603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81" name="Rectangle 53"/>
              <p:cNvSpPr>
                <a:spLocks noChangeArrowheads="1"/>
              </p:cNvSpPr>
              <p:nvPr/>
            </p:nvSpPr>
            <p:spPr bwMode="auto">
              <a:xfrm>
                <a:off x="4263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82" name="Line 54"/>
              <p:cNvSpPr>
                <a:spLocks noChangeShapeType="1"/>
              </p:cNvSpPr>
              <p:nvPr/>
            </p:nvSpPr>
            <p:spPr bwMode="auto">
              <a:xfrm>
                <a:off x="1920" y="3024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83" name="AutoShape 55"/>
              <p:cNvSpPr>
                <a:spLocks noChangeArrowheads="1"/>
              </p:cNvSpPr>
              <p:nvPr/>
            </p:nvSpPr>
            <p:spPr bwMode="auto">
              <a:xfrm>
                <a:off x="672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4" name="AutoShape 56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5" name="AutoShape 57"/>
              <p:cNvSpPr>
                <a:spLocks noChangeArrowheads="1"/>
              </p:cNvSpPr>
              <p:nvPr/>
            </p:nvSpPr>
            <p:spPr bwMode="auto">
              <a:xfrm>
                <a:off x="2832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6" name="AutoShape 58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7" name="AutoShape 59"/>
              <p:cNvSpPr>
                <a:spLocks noChangeArrowheads="1"/>
              </p:cNvSpPr>
              <p:nvPr/>
            </p:nvSpPr>
            <p:spPr bwMode="auto">
              <a:xfrm>
                <a:off x="3264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8" name="AutoShape 60"/>
              <p:cNvSpPr>
                <a:spLocks noChangeArrowheads="1"/>
              </p:cNvSpPr>
              <p:nvPr/>
            </p:nvSpPr>
            <p:spPr bwMode="auto">
              <a:xfrm>
                <a:off x="1968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152"/>
            <p:cNvGrpSpPr>
              <a:grpSpLocks/>
            </p:cNvGrpSpPr>
            <p:nvPr/>
          </p:nvGrpSpPr>
          <p:grpSpPr bwMode="auto">
            <a:xfrm>
              <a:off x="2352" y="523"/>
              <a:ext cx="271" cy="1205"/>
              <a:chOff x="2552" y="523"/>
              <a:chExt cx="271" cy="1205"/>
            </a:xfrm>
          </p:grpSpPr>
          <p:sp>
            <p:nvSpPr>
              <p:cNvPr id="406675" name="Line 147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79" name="Text Box 151"/>
              <p:cNvSpPr txBox="1">
                <a:spLocks noChangeArrowheads="1"/>
              </p:cNvSpPr>
              <p:nvPr/>
            </p:nvSpPr>
            <p:spPr bwMode="auto">
              <a:xfrm>
                <a:off x="2552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239</a:t>
                </a:r>
              </a:p>
            </p:txBody>
          </p:sp>
        </p:grpSp>
      </p:grpSp>
      <p:grpSp>
        <p:nvGrpSpPr>
          <p:cNvPr id="11" name="Group 165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2" name="Group 87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590" name="Rectangle 62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91" name="Rectangle 63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92" name="Rectangle 64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93" name="Line 65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94" name="Rectangle 66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595" name="Rectangle 67"/>
              <p:cNvSpPr>
                <a:spLocks noChangeArrowheads="1"/>
              </p:cNvSpPr>
              <p:nvPr/>
            </p:nvSpPr>
            <p:spPr bwMode="auto">
              <a:xfrm>
                <a:off x="960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596" name="Rectangle 68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97" name="Line 69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98" name="Rectangle 70"/>
              <p:cNvSpPr>
                <a:spLocks noChangeArrowheads="1"/>
              </p:cNvSpPr>
              <p:nvPr/>
            </p:nvSpPr>
            <p:spPr bwMode="auto">
              <a:xfrm>
                <a:off x="2256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599" name="Rectangle 71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00" name="Line 72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01" name="Rectangle 73"/>
              <p:cNvSpPr>
                <a:spLocks noChangeArrowheads="1"/>
              </p:cNvSpPr>
              <p:nvPr/>
            </p:nvSpPr>
            <p:spPr bwMode="auto">
              <a:xfrm>
                <a:off x="3552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02" name="Rectangle 74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3" name="Rectangle 75"/>
              <p:cNvSpPr>
                <a:spLocks noChangeArrowheads="1"/>
              </p:cNvSpPr>
              <p:nvPr/>
            </p:nvSpPr>
            <p:spPr bwMode="auto">
              <a:xfrm>
                <a:off x="1671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4" name="Rectangle 76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5" name="Rectangle 77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6" name="Rectangle 78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7" name="Rectangle 79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8" name="Line 80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09" name="AutoShape 81"/>
              <p:cNvSpPr>
                <a:spLocks noChangeArrowheads="1"/>
              </p:cNvSpPr>
              <p:nvPr/>
            </p:nvSpPr>
            <p:spPr bwMode="auto">
              <a:xfrm>
                <a:off x="672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0" name="AutoShape 82"/>
              <p:cNvSpPr>
                <a:spLocks noChangeArrowheads="1"/>
              </p:cNvSpPr>
              <p:nvPr/>
            </p:nvSpPr>
            <p:spPr bwMode="auto">
              <a:xfrm>
                <a:off x="1536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1" name="AutoShape 83"/>
              <p:cNvSpPr>
                <a:spLocks noChangeArrowheads="1"/>
              </p:cNvSpPr>
              <p:nvPr/>
            </p:nvSpPr>
            <p:spPr bwMode="auto">
              <a:xfrm>
                <a:off x="2832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2" name="AutoShape 84"/>
              <p:cNvSpPr>
                <a:spLocks noChangeArrowheads="1"/>
              </p:cNvSpPr>
              <p:nvPr/>
            </p:nvSpPr>
            <p:spPr bwMode="auto">
              <a:xfrm>
                <a:off x="4128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3" name="AutoShape 85"/>
              <p:cNvSpPr>
                <a:spLocks noChangeArrowheads="1"/>
              </p:cNvSpPr>
              <p:nvPr/>
            </p:nvSpPr>
            <p:spPr bwMode="auto">
              <a:xfrm>
                <a:off x="3264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4" name="AutoShape 86"/>
              <p:cNvSpPr>
                <a:spLocks noChangeArrowheads="1"/>
              </p:cNvSpPr>
              <p:nvPr/>
            </p:nvSpPr>
            <p:spPr bwMode="auto">
              <a:xfrm>
                <a:off x="1968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153"/>
            <p:cNvGrpSpPr>
              <a:grpSpLocks/>
            </p:cNvGrpSpPr>
            <p:nvPr/>
          </p:nvGrpSpPr>
          <p:grpSpPr bwMode="auto">
            <a:xfrm>
              <a:off x="2448" y="523"/>
              <a:ext cx="271" cy="1205"/>
              <a:chOff x="2552" y="523"/>
              <a:chExt cx="271" cy="1205"/>
            </a:xfrm>
          </p:grpSpPr>
          <p:sp>
            <p:nvSpPr>
              <p:cNvPr id="406682" name="Line 154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3" name="Text Box 155"/>
              <p:cNvSpPr txBox="1">
                <a:spLocks noChangeArrowheads="1"/>
              </p:cNvSpPr>
              <p:nvPr/>
            </p:nvSpPr>
            <p:spPr bwMode="auto">
              <a:xfrm>
                <a:off x="2552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241</a:t>
                </a:r>
              </a:p>
            </p:txBody>
          </p:sp>
        </p:grpSp>
      </p:grpSp>
      <p:grpSp>
        <p:nvGrpSpPr>
          <p:cNvPr id="14" name="Group 164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5" name="Group 119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616" name="Rectangle 88"/>
              <p:cNvSpPr>
                <a:spLocks noChangeArrowheads="1"/>
              </p:cNvSpPr>
              <p:nvPr/>
            </p:nvSpPr>
            <p:spPr bwMode="auto">
              <a:xfrm>
                <a:off x="1824" y="3084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7" name="Rectangle 89"/>
              <p:cNvSpPr>
                <a:spLocks noChangeArrowheads="1"/>
              </p:cNvSpPr>
              <p:nvPr/>
            </p:nvSpPr>
            <p:spPr bwMode="auto">
              <a:xfrm>
                <a:off x="3120" y="3084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8" name="Rectangle 90"/>
              <p:cNvSpPr>
                <a:spLocks noChangeArrowheads="1"/>
              </p:cNvSpPr>
              <p:nvPr/>
            </p:nvSpPr>
            <p:spPr bwMode="auto">
              <a:xfrm>
                <a:off x="1824" y="308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19" name="Line 91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0" name="Rectangle 92"/>
              <p:cNvSpPr>
                <a:spLocks noChangeArrowheads="1"/>
              </p:cNvSpPr>
              <p:nvPr/>
            </p:nvSpPr>
            <p:spPr bwMode="auto">
              <a:xfrm>
                <a:off x="3120" y="308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21" name="Line 93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2" name="Rectangle 94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23" name="Line 95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4" name="Rectangle 96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5" name="Rectangle 97"/>
              <p:cNvSpPr>
                <a:spLocks noChangeArrowheads="1"/>
              </p:cNvSpPr>
              <p:nvPr/>
            </p:nvSpPr>
            <p:spPr bwMode="auto">
              <a:xfrm>
                <a:off x="1671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26" name="Rectangle 98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7" name="Rectangle 99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28" name="Rectangle 100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9" name="Rectangle 101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30" name="Rectangle 102"/>
              <p:cNvSpPr>
                <a:spLocks noChangeArrowheads="1"/>
              </p:cNvSpPr>
              <p:nvPr/>
            </p:nvSpPr>
            <p:spPr bwMode="auto">
              <a:xfrm>
                <a:off x="9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1" name="Freeform 103"/>
              <p:cNvSpPr>
                <a:spLocks/>
              </p:cNvSpPr>
              <p:nvPr/>
            </p:nvSpPr>
            <p:spPr bwMode="auto">
              <a:xfrm>
                <a:off x="960" y="3084"/>
                <a:ext cx="38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240" y="816"/>
                  </a:cxn>
                  <a:cxn ang="0">
                    <a:pos x="432" y="576"/>
                  </a:cxn>
                  <a:cxn ang="0">
                    <a:pos x="432" y="240"/>
                  </a:cxn>
                  <a:cxn ang="0">
                    <a:pos x="240" y="0"/>
                  </a:cxn>
                  <a:cxn ang="0">
                    <a:pos x="0" y="0"/>
                  </a:cxn>
                </a:cxnLst>
                <a:rect l="0" t="0" r="r" b="b"/>
                <a:pathLst>
                  <a:path w="464" h="816">
                    <a:moveTo>
                      <a:pt x="0" y="0"/>
                    </a:moveTo>
                    <a:lnTo>
                      <a:pt x="0" y="816"/>
                    </a:lnTo>
                    <a:lnTo>
                      <a:pt x="240" y="816"/>
                    </a:lnTo>
                    <a:cubicBezTo>
                      <a:pt x="312" y="776"/>
                      <a:pt x="400" y="672"/>
                      <a:pt x="432" y="576"/>
                    </a:cubicBezTo>
                    <a:cubicBezTo>
                      <a:pt x="464" y="480"/>
                      <a:pt x="464" y="336"/>
                      <a:pt x="432" y="240"/>
                    </a:cubicBezTo>
                    <a:cubicBezTo>
                      <a:pt x="400" y="144"/>
                      <a:pt x="312" y="40"/>
                      <a:pt x="2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2" name="Rectangle 104"/>
              <p:cNvSpPr>
                <a:spLocks noChangeArrowheads="1"/>
              </p:cNvSpPr>
              <p:nvPr/>
            </p:nvSpPr>
            <p:spPr bwMode="auto">
              <a:xfrm>
                <a:off x="9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633" name="Rectangle 105"/>
              <p:cNvSpPr>
                <a:spLocks noChangeArrowheads="1"/>
              </p:cNvSpPr>
              <p:nvPr/>
            </p:nvSpPr>
            <p:spPr bwMode="auto">
              <a:xfrm>
                <a:off x="2256" y="308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4" name="Freeform 106"/>
              <p:cNvSpPr>
                <a:spLocks/>
              </p:cNvSpPr>
              <p:nvPr/>
            </p:nvSpPr>
            <p:spPr bwMode="auto">
              <a:xfrm>
                <a:off x="2256" y="3084"/>
                <a:ext cx="440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199" y="816"/>
                  </a:cxn>
                  <a:cxn ang="0">
                    <a:pos x="368" y="617"/>
                  </a:cxn>
                  <a:cxn ang="0">
                    <a:pos x="414" y="160"/>
                  </a:cxn>
                  <a:cxn ang="0">
                    <a:pos x="199" y="0"/>
                  </a:cxn>
                  <a:cxn ang="0">
                    <a:pos x="0" y="0"/>
                  </a:cxn>
                </a:cxnLst>
                <a:rect l="0" t="0" r="r" b="b"/>
                <a:pathLst>
                  <a:path w="440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99" y="816"/>
                    </a:lnTo>
                    <a:cubicBezTo>
                      <a:pt x="260" y="783"/>
                      <a:pt x="332" y="726"/>
                      <a:pt x="368" y="617"/>
                    </a:cubicBezTo>
                    <a:cubicBezTo>
                      <a:pt x="394" y="521"/>
                      <a:pt x="440" y="256"/>
                      <a:pt x="414" y="160"/>
                    </a:cubicBezTo>
                    <a:cubicBezTo>
                      <a:pt x="387" y="64"/>
                      <a:pt x="258" y="40"/>
                      <a:pt x="1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5" name="Rectangle 107"/>
              <p:cNvSpPr>
                <a:spLocks noChangeArrowheads="1"/>
              </p:cNvSpPr>
              <p:nvPr/>
            </p:nvSpPr>
            <p:spPr bwMode="auto">
              <a:xfrm>
                <a:off x="2256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636" name="Rectangle 108"/>
              <p:cNvSpPr>
                <a:spLocks noChangeArrowheads="1"/>
              </p:cNvSpPr>
              <p:nvPr/>
            </p:nvSpPr>
            <p:spPr bwMode="auto">
              <a:xfrm>
                <a:off x="3560" y="308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7" name="Freeform 109"/>
              <p:cNvSpPr>
                <a:spLocks/>
              </p:cNvSpPr>
              <p:nvPr/>
            </p:nvSpPr>
            <p:spPr bwMode="auto">
              <a:xfrm>
                <a:off x="3560" y="3084"/>
                <a:ext cx="38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199" y="816"/>
                  </a:cxn>
                  <a:cxn ang="0">
                    <a:pos x="358" y="576"/>
                  </a:cxn>
                  <a:cxn ang="0">
                    <a:pos x="253" y="270"/>
                  </a:cxn>
                  <a:cxn ang="0">
                    <a:pos x="199" y="0"/>
                  </a:cxn>
                  <a:cxn ang="0">
                    <a:pos x="0" y="0"/>
                  </a:cxn>
                </a:cxnLst>
                <a:rect l="0" t="0" r="r" b="b"/>
                <a:pathLst>
                  <a:path w="384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99" y="816"/>
                    </a:lnTo>
                    <a:cubicBezTo>
                      <a:pt x="258" y="776"/>
                      <a:pt x="349" y="667"/>
                      <a:pt x="358" y="576"/>
                    </a:cubicBezTo>
                    <a:cubicBezTo>
                      <a:pt x="384" y="480"/>
                      <a:pt x="279" y="366"/>
                      <a:pt x="253" y="270"/>
                    </a:cubicBezTo>
                    <a:cubicBezTo>
                      <a:pt x="226" y="174"/>
                      <a:pt x="258" y="40"/>
                      <a:pt x="1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8" name="Rectangle 110"/>
              <p:cNvSpPr>
                <a:spLocks noChangeArrowheads="1"/>
              </p:cNvSpPr>
              <p:nvPr/>
            </p:nvSpPr>
            <p:spPr bwMode="auto">
              <a:xfrm>
                <a:off x="35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39" name="Rectangle 111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640" name="Line 112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41" name="AutoShape 113"/>
              <p:cNvSpPr>
                <a:spLocks noChangeArrowheads="1"/>
              </p:cNvSpPr>
              <p:nvPr/>
            </p:nvSpPr>
            <p:spPr bwMode="auto">
              <a:xfrm>
                <a:off x="672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2" name="AutoShape 114"/>
              <p:cNvSpPr>
                <a:spLocks noChangeArrowheads="1"/>
              </p:cNvSpPr>
              <p:nvPr/>
            </p:nvSpPr>
            <p:spPr bwMode="auto">
              <a:xfrm>
                <a:off x="1536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3" name="AutoShape 115"/>
              <p:cNvSpPr>
                <a:spLocks noChangeArrowheads="1"/>
              </p:cNvSpPr>
              <p:nvPr/>
            </p:nvSpPr>
            <p:spPr bwMode="auto">
              <a:xfrm>
                <a:off x="2832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4" name="AutoShape 116"/>
              <p:cNvSpPr>
                <a:spLocks noChangeArrowheads="1"/>
              </p:cNvSpPr>
              <p:nvPr/>
            </p:nvSpPr>
            <p:spPr bwMode="auto">
              <a:xfrm>
                <a:off x="4128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5" name="AutoShape 117"/>
              <p:cNvSpPr>
                <a:spLocks noChangeArrowheads="1"/>
              </p:cNvSpPr>
              <p:nvPr/>
            </p:nvSpPr>
            <p:spPr bwMode="auto">
              <a:xfrm>
                <a:off x="3264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6" name="AutoShape 118"/>
              <p:cNvSpPr>
                <a:spLocks noChangeArrowheads="1"/>
              </p:cNvSpPr>
              <p:nvPr/>
            </p:nvSpPr>
            <p:spPr bwMode="auto">
              <a:xfrm>
                <a:off x="1968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156"/>
            <p:cNvGrpSpPr>
              <a:grpSpLocks/>
            </p:cNvGrpSpPr>
            <p:nvPr/>
          </p:nvGrpSpPr>
          <p:grpSpPr bwMode="auto">
            <a:xfrm>
              <a:off x="2753" y="523"/>
              <a:ext cx="271" cy="1205"/>
              <a:chOff x="2553" y="523"/>
              <a:chExt cx="271" cy="1205"/>
            </a:xfrm>
          </p:grpSpPr>
          <p:sp>
            <p:nvSpPr>
              <p:cNvPr id="406685" name="Line 157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6" name="Text Box 158"/>
              <p:cNvSpPr txBox="1">
                <a:spLocks noChangeArrowheads="1"/>
              </p:cNvSpPr>
              <p:nvPr/>
            </p:nvSpPr>
            <p:spPr bwMode="auto">
              <a:xfrm>
                <a:off x="2553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300</a:t>
                </a:r>
              </a:p>
            </p:txBody>
          </p:sp>
        </p:grpSp>
      </p:grpSp>
      <p:grpSp>
        <p:nvGrpSpPr>
          <p:cNvPr id="17" name="Group 162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8" name="Group 146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648" name="Rectangle 120"/>
              <p:cNvSpPr>
                <a:spLocks noChangeArrowheads="1"/>
              </p:cNvSpPr>
              <p:nvPr/>
            </p:nvSpPr>
            <p:spPr bwMode="auto">
              <a:xfrm>
                <a:off x="1824" y="3102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9" name="Rectangle 121"/>
              <p:cNvSpPr>
                <a:spLocks noChangeArrowheads="1"/>
              </p:cNvSpPr>
              <p:nvPr/>
            </p:nvSpPr>
            <p:spPr bwMode="auto">
              <a:xfrm>
                <a:off x="3120" y="3102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50" name="Rectangle 122"/>
              <p:cNvSpPr>
                <a:spLocks noChangeArrowheads="1"/>
              </p:cNvSpPr>
              <p:nvPr/>
            </p:nvSpPr>
            <p:spPr bwMode="auto">
              <a:xfrm>
                <a:off x="4416" y="3102"/>
                <a:ext cx="144" cy="81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51" name="Rectangle 123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2" name="Line 124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53" name="Rectangle 125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654" name="Rectangle 126"/>
              <p:cNvSpPr>
                <a:spLocks noChangeArrowheads="1"/>
              </p:cNvSpPr>
              <p:nvPr/>
            </p:nvSpPr>
            <p:spPr bwMode="auto">
              <a:xfrm>
                <a:off x="960" y="3096"/>
                <a:ext cx="568" cy="808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655" name="Rectangle 127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36" cy="82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6" name="Line 128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57" name="Rectangle 129"/>
              <p:cNvSpPr>
                <a:spLocks noChangeArrowheads="1"/>
              </p:cNvSpPr>
              <p:nvPr/>
            </p:nvSpPr>
            <p:spPr bwMode="auto">
              <a:xfrm>
                <a:off x="2256" y="3096"/>
                <a:ext cx="568" cy="808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658" name="Rectangle 130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2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9" name="Line 131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60" name="Rectangle 132"/>
              <p:cNvSpPr>
                <a:spLocks noChangeArrowheads="1"/>
              </p:cNvSpPr>
              <p:nvPr/>
            </p:nvSpPr>
            <p:spPr bwMode="auto">
              <a:xfrm>
                <a:off x="3552" y="3096"/>
                <a:ext cx="568" cy="808"/>
              </a:xfrm>
              <a:prstGeom prst="rect">
                <a:avLst/>
              </a:prstGeom>
              <a:solidFill>
                <a:srgbClr val="5F5F5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61" name="Rectangle 133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2" name="Rectangle 134"/>
              <p:cNvSpPr>
                <a:spLocks noChangeArrowheads="1"/>
              </p:cNvSpPr>
              <p:nvPr/>
            </p:nvSpPr>
            <p:spPr bwMode="auto">
              <a:xfrm>
                <a:off x="1670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3" name="Rectangle 135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4" name="Rectangle 136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5" name="Rectangle 137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6" name="Rectangle 138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7" name="Line 139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68" name="AutoShape 140"/>
              <p:cNvSpPr>
                <a:spLocks noChangeArrowheads="1"/>
              </p:cNvSpPr>
              <p:nvPr/>
            </p:nvSpPr>
            <p:spPr bwMode="auto">
              <a:xfrm>
                <a:off x="672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69" name="AutoShape 141"/>
              <p:cNvSpPr>
                <a:spLocks noChangeArrowheads="1"/>
              </p:cNvSpPr>
              <p:nvPr/>
            </p:nvSpPr>
            <p:spPr bwMode="auto">
              <a:xfrm>
                <a:off x="1536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0" name="AutoShape 142"/>
              <p:cNvSpPr>
                <a:spLocks noChangeArrowheads="1"/>
              </p:cNvSpPr>
              <p:nvPr/>
            </p:nvSpPr>
            <p:spPr bwMode="auto">
              <a:xfrm>
                <a:off x="2832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1" name="AutoShape 143"/>
              <p:cNvSpPr>
                <a:spLocks noChangeArrowheads="1"/>
              </p:cNvSpPr>
              <p:nvPr/>
            </p:nvSpPr>
            <p:spPr bwMode="auto">
              <a:xfrm>
                <a:off x="4128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2" name="AutoShape 144"/>
              <p:cNvSpPr>
                <a:spLocks noChangeArrowheads="1"/>
              </p:cNvSpPr>
              <p:nvPr/>
            </p:nvSpPr>
            <p:spPr bwMode="auto">
              <a:xfrm>
                <a:off x="3264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3" name="AutoShape 145"/>
              <p:cNvSpPr>
                <a:spLocks noChangeArrowheads="1"/>
              </p:cNvSpPr>
              <p:nvPr/>
            </p:nvSpPr>
            <p:spPr bwMode="auto">
              <a:xfrm>
                <a:off x="1968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159"/>
            <p:cNvGrpSpPr>
              <a:grpSpLocks/>
            </p:cNvGrpSpPr>
            <p:nvPr/>
          </p:nvGrpSpPr>
          <p:grpSpPr bwMode="auto">
            <a:xfrm>
              <a:off x="3089" y="523"/>
              <a:ext cx="271" cy="1205"/>
              <a:chOff x="2553" y="523"/>
              <a:chExt cx="271" cy="1205"/>
            </a:xfrm>
          </p:grpSpPr>
          <p:sp>
            <p:nvSpPr>
              <p:cNvPr id="406688" name="Line 160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9" name="Text Box 161"/>
              <p:cNvSpPr txBox="1">
                <a:spLocks noChangeArrowheads="1"/>
              </p:cNvSpPr>
              <p:nvPr/>
            </p:nvSpPr>
            <p:spPr bwMode="auto">
              <a:xfrm>
                <a:off x="2553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359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313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Limitations: Nonuniform Delays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4876800"/>
            <a:ext cx="8294687" cy="1555750"/>
          </a:xfrm>
        </p:spPr>
        <p:txBody>
          <a:bodyPr/>
          <a:lstStyle/>
          <a:p>
            <a:pPr lvl="1"/>
            <a:r>
              <a:rPr lang="en-US"/>
              <a:t>Throughput limited by slowest stage</a:t>
            </a:r>
          </a:p>
          <a:p>
            <a:pPr lvl="1"/>
            <a:r>
              <a:rPr lang="en-US"/>
              <a:t>Other stages sit idle for much of the time</a:t>
            </a:r>
          </a:p>
          <a:p>
            <a:pPr lvl="1"/>
            <a:r>
              <a:rPr lang="en-US"/>
              <a:t>Challenging to partition system into balanced stages</a:t>
            </a:r>
          </a:p>
        </p:txBody>
      </p:sp>
      <p:grpSp>
        <p:nvGrpSpPr>
          <p:cNvPr id="405532" name="Group 28"/>
          <p:cNvGrpSpPr>
            <a:grpSpLocks/>
          </p:cNvGrpSpPr>
          <p:nvPr/>
        </p:nvGrpSpPr>
        <p:grpSpPr bwMode="auto">
          <a:xfrm>
            <a:off x="407988" y="1143000"/>
            <a:ext cx="8726487" cy="2390775"/>
            <a:chOff x="257" y="720"/>
            <a:chExt cx="5497" cy="1506"/>
          </a:xfrm>
        </p:grpSpPr>
        <p:sp>
          <p:nvSpPr>
            <p:cNvPr id="405508" name="Rectangle 4"/>
            <p:cNvSpPr>
              <a:spLocks noChangeArrowheads="1"/>
            </p:cNvSpPr>
            <p:nvPr/>
          </p:nvSpPr>
          <p:spPr bwMode="auto">
            <a:xfrm>
              <a:off x="112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09" name="Line 5"/>
            <p:cNvSpPr>
              <a:spLocks noChangeShapeType="1"/>
            </p:cNvSpPr>
            <p:nvPr/>
          </p:nvSpPr>
          <p:spPr bwMode="auto">
            <a:xfrm>
              <a:off x="257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0" name="Line 6"/>
            <p:cNvSpPr>
              <a:spLocks noChangeShapeType="1"/>
            </p:cNvSpPr>
            <p:nvPr/>
          </p:nvSpPr>
          <p:spPr bwMode="auto">
            <a:xfrm>
              <a:off x="833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1" name="Line 7"/>
            <p:cNvSpPr>
              <a:spLocks noChangeShapeType="1"/>
            </p:cNvSpPr>
            <p:nvPr/>
          </p:nvSpPr>
          <p:spPr bwMode="auto">
            <a:xfrm>
              <a:off x="1217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2" name="Rectangle 8"/>
            <p:cNvSpPr>
              <a:spLocks noChangeArrowheads="1"/>
            </p:cNvSpPr>
            <p:nvPr/>
          </p:nvSpPr>
          <p:spPr bwMode="auto">
            <a:xfrm>
              <a:off x="3856" y="2016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405513" name="Rectangle 9"/>
            <p:cNvSpPr>
              <a:spLocks noChangeArrowheads="1"/>
            </p:cNvSpPr>
            <p:nvPr/>
          </p:nvSpPr>
          <p:spPr bwMode="auto">
            <a:xfrm>
              <a:off x="2709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14" name="Line 10"/>
            <p:cNvSpPr>
              <a:spLocks noChangeShapeType="1"/>
            </p:cNvSpPr>
            <p:nvPr/>
          </p:nvSpPr>
          <p:spPr bwMode="auto">
            <a:xfrm>
              <a:off x="1265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5" name="Line 11"/>
            <p:cNvSpPr>
              <a:spLocks noChangeShapeType="1"/>
            </p:cNvSpPr>
            <p:nvPr/>
          </p:nvSpPr>
          <p:spPr bwMode="auto">
            <a:xfrm>
              <a:off x="2417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6" name="Line 12"/>
            <p:cNvSpPr>
              <a:spLocks noChangeShapeType="1"/>
            </p:cNvSpPr>
            <p:nvPr/>
          </p:nvSpPr>
          <p:spPr bwMode="auto">
            <a:xfrm>
              <a:off x="2801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7" name="Rectangle 13"/>
            <p:cNvSpPr>
              <a:spLocks noChangeArrowheads="1"/>
            </p:cNvSpPr>
            <p:nvPr/>
          </p:nvSpPr>
          <p:spPr bwMode="auto">
            <a:xfrm>
              <a:off x="1553" y="978"/>
              <a:ext cx="860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B</a:t>
              </a:r>
            </a:p>
          </p:txBody>
        </p:sp>
        <p:sp>
          <p:nvSpPr>
            <p:cNvPr id="405518" name="Rectangle 14"/>
            <p:cNvSpPr>
              <a:spLocks noChangeArrowheads="1"/>
            </p:cNvSpPr>
            <p:nvPr/>
          </p:nvSpPr>
          <p:spPr bwMode="auto">
            <a:xfrm>
              <a:off x="400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19" name="Line 15"/>
            <p:cNvSpPr>
              <a:spLocks noChangeShapeType="1"/>
            </p:cNvSpPr>
            <p:nvPr/>
          </p:nvSpPr>
          <p:spPr bwMode="auto">
            <a:xfrm>
              <a:off x="2849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0" name="Line 16"/>
            <p:cNvSpPr>
              <a:spLocks noChangeShapeType="1"/>
            </p:cNvSpPr>
            <p:nvPr/>
          </p:nvSpPr>
          <p:spPr bwMode="auto">
            <a:xfrm>
              <a:off x="3713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1" name="Line 17"/>
            <p:cNvSpPr>
              <a:spLocks noChangeShapeType="1"/>
            </p:cNvSpPr>
            <p:nvPr/>
          </p:nvSpPr>
          <p:spPr bwMode="auto">
            <a:xfrm>
              <a:off x="4097" y="1790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2" name="Rectangle 18"/>
            <p:cNvSpPr>
              <a:spLocks noChangeArrowheads="1"/>
            </p:cNvSpPr>
            <p:nvPr/>
          </p:nvSpPr>
          <p:spPr bwMode="auto">
            <a:xfrm>
              <a:off x="3141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</a:t>
              </a:r>
            </a:p>
          </p:txBody>
        </p:sp>
        <p:sp>
          <p:nvSpPr>
            <p:cNvPr id="405523" name="Rectangle 19"/>
            <p:cNvSpPr>
              <a:spLocks noChangeArrowheads="1"/>
            </p:cNvSpPr>
            <p:nvPr/>
          </p:nvSpPr>
          <p:spPr bwMode="auto">
            <a:xfrm>
              <a:off x="449" y="720"/>
              <a:ext cx="4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50 ps</a:t>
              </a:r>
            </a:p>
          </p:txBody>
        </p:sp>
        <p:sp>
          <p:nvSpPr>
            <p:cNvPr id="405524" name="Rectangle 20"/>
            <p:cNvSpPr>
              <a:spLocks noChangeArrowheads="1"/>
            </p:cNvSpPr>
            <p:nvPr/>
          </p:nvSpPr>
          <p:spPr bwMode="auto">
            <a:xfrm>
              <a:off x="96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5" name="Rectangle 21"/>
            <p:cNvSpPr>
              <a:spLocks noChangeArrowheads="1"/>
            </p:cNvSpPr>
            <p:nvPr/>
          </p:nvSpPr>
          <p:spPr bwMode="auto">
            <a:xfrm>
              <a:off x="1601" y="720"/>
              <a:ext cx="735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150 ps</a:t>
              </a:r>
            </a:p>
          </p:txBody>
        </p:sp>
        <p:sp>
          <p:nvSpPr>
            <p:cNvPr id="405526" name="Rectangle 22"/>
            <p:cNvSpPr>
              <a:spLocks noChangeArrowheads="1"/>
            </p:cNvSpPr>
            <p:nvPr/>
          </p:nvSpPr>
          <p:spPr bwMode="auto">
            <a:xfrm>
              <a:off x="2552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7" name="Rectangle 23"/>
            <p:cNvSpPr>
              <a:spLocks noChangeArrowheads="1"/>
            </p:cNvSpPr>
            <p:nvPr/>
          </p:nvSpPr>
          <p:spPr bwMode="auto">
            <a:xfrm>
              <a:off x="3188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5528" name="Rectangle 24"/>
            <p:cNvSpPr>
              <a:spLocks noChangeArrowheads="1"/>
            </p:cNvSpPr>
            <p:nvPr/>
          </p:nvSpPr>
          <p:spPr bwMode="auto">
            <a:xfrm>
              <a:off x="384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9" name="Line 25"/>
            <p:cNvSpPr>
              <a:spLocks noChangeShapeType="1"/>
            </p:cNvSpPr>
            <p:nvPr/>
          </p:nvSpPr>
          <p:spPr bwMode="auto">
            <a:xfrm>
              <a:off x="1217" y="1920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30" name="Rectangle 26"/>
            <p:cNvSpPr>
              <a:spLocks noChangeArrowheads="1"/>
            </p:cNvSpPr>
            <p:nvPr/>
          </p:nvSpPr>
          <p:spPr bwMode="auto">
            <a:xfrm>
              <a:off x="4184" y="1200"/>
              <a:ext cx="1570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Delay = 510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Throughput = 5.88 GIPS</a:t>
              </a:r>
            </a:p>
          </p:txBody>
        </p:sp>
        <p:sp>
          <p:nvSpPr>
            <p:cNvPr id="405531" name="Rectangle 27"/>
            <p:cNvSpPr>
              <a:spLocks noChangeArrowheads="1"/>
            </p:cNvSpPr>
            <p:nvPr/>
          </p:nvSpPr>
          <p:spPr bwMode="auto">
            <a:xfrm>
              <a:off x="545" y="960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2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2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A</a:t>
              </a:r>
            </a:p>
          </p:txBody>
        </p:sp>
      </p:grpSp>
      <p:grpSp>
        <p:nvGrpSpPr>
          <p:cNvPr id="405556" name="Group 52"/>
          <p:cNvGrpSpPr>
            <a:grpSpLocks/>
          </p:cNvGrpSpPr>
          <p:nvPr/>
        </p:nvGrpSpPr>
        <p:grpSpPr bwMode="auto">
          <a:xfrm>
            <a:off x="1676400" y="3352800"/>
            <a:ext cx="5791200" cy="1254125"/>
            <a:chOff x="192" y="2396"/>
            <a:chExt cx="3648" cy="790"/>
          </a:xfrm>
        </p:grpSpPr>
        <p:sp>
          <p:nvSpPr>
            <p:cNvPr id="405533" name="Line 29"/>
            <p:cNvSpPr>
              <a:spLocks noChangeShapeType="1"/>
            </p:cNvSpPr>
            <p:nvPr/>
          </p:nvSpPr>
          <p:spPr bwMode="auto">
            <a:xfrm flipV="1">
              <a:off x="672" y="3168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34" name="Rectangle 30"/>
            <p:cNvSpPr>
              <a:spLocks noChangeArrowheads="1"/>
            </p:cNvSpPr>
            <p:nvPr/>
          </p:nvSpPr>
          <p:spPr bwMode="auto">
            <a:xfrm>
              <a:off x="1095" y="2976"/>
              <a:ext cx="3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Time</a:t>
              </a:r>
            </a:p>
          </p:txBody>
        </p:sp>
        <p:sp>
          <p:nvSpPr>
            <p:cNvPr id="405535" name="Rectangle 31"/>
            <p:cNvSpPr>
              <a:spLocks noChangeArrowheads="1"/>
            </p:cNvSpPr>
            <p:nvPr/>
          </p:nvSpPr>
          <p:spPr bwMode="auto">
            <a:xfrm>
              <a:off x="192" y="239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5536" name="Rectangle 32"/>
            <p:cNvSpPr>
              <a:spLocks noChangeArrowheads="1"/>
            </p:cNvSpPr>
            <p:nvPr/>
          </p:nvSpPr>
          <p:spPr bwMode="auto">
            <a:xfrm>
              <a:off x="192" y="258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5537" name="Rectangle 33"/>
            <p:cNvSpPr>
              <a:spLocks noChangeArrowheads="1"/>
            </p:cNvSpPr>
            <p:nvPr/>
          </p:nvSpPr>
          <p:spPr bwMode="auto">
            <a:xfrm>
              <a:off x="192" y="278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grpSp>
          <p:nvGrpSpPr>
            <p:cNvPr id="405538" name="Group 34"/>
            <p:cNvGrpSpPr>
              <a:grpSpLocks/>
            </p:cNvGrpSpPr>
            <p:nvPr/>
          </p:nvGrpSpPr>
          <p:grpSpPr bwMode="auto">
            <a:xfrm>
              <a:off x="768" y="2400"/>
              <a:ext cx="1728" cy="192"/>
              <a:chOff x="768" y="2400"/>
              <a:chExt cx="1728" cy="192"/>
            </a:xfrm>
          </p:grpSpPr>
          <p:sp>
            <p:nvSpPr>
              <p:cNvPr id="405539" name="Rectangle 35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40" name="Rectangle 36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41" name="Rectangle 37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42" name="Rectangle 38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43" name="Rectangle 39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  <p:grpSp>
          <p:nvGrpSpPr>
            <p:cNvPr id="405544" name="Group 40"/>
            <p:cNvGrpSpPr>
              <a:grpSpLocks/>
            </p:cNvGrpSpPr>
            <p:nvPr/>
          </p:nvGrpSpPr>
          <p:grpSpPr bwMode="auto">
            <a:xfrm>
              <a:off x="1344" y="2592"/>
              <a:ext cx="1728" cy="192"/>
              <a:chOff x="768" y="2400"/>
              <a:chExt cx="1728" cy="192"/>
            </a:xfrm>
          </p:grpSpPr>
          <p:sp>
            <p:nvSpPr>
              <p:cNvPr id="405545" name="Rectangle 41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46" name="Rectangle 42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47" name="Rectangle 43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48" name="Rectangle 44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49" name="Rectangle 45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  <p:grpSp>
          <p:nvGrpSpPr>
            <p:cNvPr id="405550" name="Group 46"/>
            <p:cNvGrpSpPr>
              <a:grpSpLocks/>
            </p:cNvGrpSpPr>
            <p:nvPr/>
          </p:nvGrpSpPr>
          <p:grpSpPr bwMode="auto">
            <a:xfrm>
              <a:off x="1920" y="2784"/>
              <a:ext cx="1728" cy="192"/>
              <a:chOff x="768" y="2400"/>
              <a:chExt cx="1728" cy="192"/>
            </a:xfrm>
          </p:grpSpPr>
          <p:sp>
            <p:nvSpPr>
              <p:cNvPr id="405551" name="Rectangle 47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52" name="Rectangle 48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53" name="Rectangle 49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54" name="Rectangle 50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55" name="Rectangle 51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861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Limitations: Register Overhead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657600"/>
            <a:ext cx="8294687" cy="2774950"/>
          </a:xfrm>
        </p:spPr>
        <p:txBody>
          <a:bodyPr/>
          <a:lstStyle/>
          <a:p>
            <a:pPr lvl="1">
              <a:tabLst>
                <a:tab pos="3486150" algn="dec"/>
              </a:tabLst>
            </a:pPr>
            <a:r>
              <a:rPr lang="en-US"/>
              <a:t>As try to deepen pipeline, overhead of loading registers becomes more significant</a:t>
            </a:r>
          </a:p>
          <a:p>
            <a:pPr lvl="1">
              <a:tabLst>
                <a:tab pos="3486150" algn="dec"/>
              </a:tabLst>
            </a:pPr>
            <a:r>
              <a:rPr lang="en-US"/>
              <a:t>Percentage of clock cycle spent loading register:</a:t>
            </a:r>
          </a:p>
          <a:p>
            <a:pPr lvl="2">
              <a:tabLst>
                <a:tab pos="3486150" algn="dec"/>
              </a:tabLst>
            </a:pPr>
            <a:r>
              <a:rPr lang="en-US"/>
              <a:t>1-stage pipeline: 	6.25% </a:t>
            </a:r>
          </a:p>
          <a:p>
            <a:pPr lvl="2">
              <a:tabLst>
                <a:tab pos="3486150" algn="dec"/>
              </a:tabLst>
            </a:pPr>
            <a:r>
              <a:rPr lang="en-US"/>
              <a:t>3-stage pipeline: 	16.67% </a:t>
            </a:r>
          </a:p>
          <a:p>
            <a:pPr lvl="2">
              <a:tabLst>
                <a:tab pos="3486150" algn="dec"/>
              </a:tabLst>
            </a:pPr>
            <a:r>
              <a:rPr lang="en-US"/>
              <a:t>6-stage pipeline: 	28.57%</a:t>
            </a:r>
          </a:p>
          <a:p>
            <a:pPr lvl="1">
              <a:tabLst>
                <a:tab pos="3486150" algn="dec"/>
              </a:tabLst>
            </a:pPr>
            <a:r>
              <a:rPr lang="en-US"/>
              <a:t>High speeds of modern processor designs obtained through very deep pipelining</a:t>
            </a:r>
          </a:p>
        </p:txBody>
      </p:sp>
      <p:grpSp>
        <p:nvGrpSpPr>
          <p:cNvPr id="407602" name="Group 50"/>
          <p:cNvGrpSpPr>
            <a:grpSpLocks/>
          </p:cNvGrpSpPr>
          <p:nvPr/>
        </p:nvGrpSpPr>
        <p:grpSpPr bwMode="auto">
          <a:xfrm>
            <a:off x="361950" y="1173163"/>
            <a:ext cx="8447088" cy="2284412"/>
            <a:chOff x="228" y="739"/>
            <a:chExt cx="5321" cy="1439"/>
          </a:xfrm>
        </p:grpSpPr>
        <p:sp>
          <p:nvSpPr>
            <p:cNvPr id="407556" name="Rectangle 4"/>
            <p:cNvSpPr>
              <a:spLocks noChangeArrowheads="1"/>
            </p:cNvSpPr>
            <p:nvPr/>
          </p:nvSpPr>
          <p:spPr bwMode="auto">
            <a:xfrm>
              <a:off x="2976" y="1968"/>
              <a:ext cx="257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Delay = 420 </a:t>
              </a:r>
              <a:r>
                <a:rPr lang="en-US" sz="1600" b="0" dirty="0" err="1">
                  <a:latin typeface="Arial" charset="0"/>
                </a:rPr>
                <a:t>ps</a:t>
              </a:r>
              <a:r>
                <a:rPr lang="en-US" sz="1600" b="0" dirty="0">
                  <a:latin typeface="Arial" charset="0"/>
                </a:rPr>
                <a:t>, Throughput = 14.29 GIPS</a:t>
              </a:r>
            </a:p>
          </p:txBody>
        </p:sp>
        <p:grpSp>
          <p:nvGrpSpPr>
            <p:cNvPr id="407557" name="Group 5"/>
            <p:cNvGrpSpPr>
              <a:grpSpLocks/>
            </p:cNvGrpSpPr>
            <p:nvPr/>
          </p:nvGrpSpPr>
          <p:grpSpPr bwMode="auto">
            <a:xfrm>
              <a:off x="228" y="739"/>
              <a:ext cx="5321" cy="1439"/>
              <a:chOff x="228" y="2563"/>
              <a:chExt cx="5321" cy="1439"/>
            </a:xfrm>
          </p:grpSpPr>
          <p:sp>
            <p:nvSpPr>
              <p:cNvPr id="407558" name="Line 6"/>
              <p:cNvSpPr>
                <a:spLocks noChangeShapeType="1"/>
              </p:cNvSpPr>
              <p:nvPr/>
            </p:nvSpPr>
            <p:spPr bwMode="auto">
              <a:xfrm>
                <a:off x="1052" y="3137"/>
                <a:ext cx="260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59" name="Line 7"/>
              <p:cNvSpPr>
                <a:spLocks noChangeShapeType="1"/>
              </p:cNvSpPr>
              <p:nvPr/>
            </p:nvSpPr>
            <p:spPr bwMode="auto">
              <a:xfrm>
                <a:off x="228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0" name="Line 8"/>
              <p:cNvSpPr>
                <a:spLocks noChangeShapeType="1"/>
              </p:cNvSpPr>
              <p:nvPr/>
            </p:nvSpPr>
            <p:spPr bwMode="auto">
              <a:xfrm>
                <a:off x="707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1" name="Line 9"/>
              <p:cNvSpPr>
                <a:spLocks noChangeShapeType="1"/>
              </p:cNvSpPr>
              <p:nvPr/>
            </p:nvSpPr>
            <p:spPr bwMode="auto">
              <a:xfrm>
                <a:off x="1916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2" name="Line 10"/>
              <p:cNvSpPr>
                <a:spLocks noChangeShapeType="1"/>
              </p:cNvSpPr>
              <p:nvPr/>
            </p:nvSpPr>
            <p:spPr bwMode="auto">
              <a:xfrm>
                <a:off x="1571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3" name="Line 11"/>
              <p:cNvSpPr>
                <a:spLocks noChangeShapeType="1"/>
              </p:cNvSpPr>
              <p:nvPr/>
            </p:nvSpPr>
            <p:spPr bwMode="auto">
              <a:xfrm>
                <a:off x="2780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4" name="Line 12"/>
              <p:cNvSpPr>
                <a:spLocks noChangeShapeType="1"/>
              </p:cNvSpPr>
              <p:nvPr/>
            </p:nvSpPr>
            <p:spPr bwMode="auto">
              <a:xfrm>
                <a:off x="2435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5" name="Line 13"/>
              <p:cNvSpPr>
                <a:spLocks noChangeShapeType="1"/>
              </p:cNvSpPr>
              <p:nvPr/>
            </p:nvSpPr>
            <p:spPr bwMode="auto">
              <a:xfrm>
                <a:off x="3644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6" name="Line 14"/>
              <p:cNvSpPr>
                <a:spLocks noChangeShapeType="1"/>
              </p:cNvSpPr>
              <p:nvPr/>
            </p:nvSpPr>
            <p:spPr bwMode="auto">
              <a:xfrm>
                <a:off x="3299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7" name="Line 15"/>
              <p:cNvSpPr>
                <a:spLocks noChangeShapeType="1"/>
              </p:cNvSpPr>
              <p:nvPr/>
            </p:nvSpPr>
            <p:spPr bwMode="auto">
              <a:xfrm>
                <a:off x="4508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8" name="Line 16"/>
              <p:cNvSpPr>
                <a:spLocks noChangeShapeType="1"/>
              </p:cNvSpPr>
              <p:nvPr/>
            </p:nvSpPr>
            <p:spPr bwMode="auto">
              <a:xfrm>
                <a:off x="4163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9" name="Line 17"/>
              <p:cNvSpPr>
                <a:spLocks noChangeShapeType="1"/>
              </p:cNvSpPr>
              <p:nvPr/>
            </p:nvSpPr>
            <p:spPr bwMode="auto">
              <a:xfrm>
                <a:off x="5026" y="3137"/>
                <a:ext cx="260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0" name="Rectangle 18"/>
              <p:cNvSpPr>
                <a:spLocks noChangeArrowheads="1"/>
              </p:cNvSpPr>
              <p:nvPr/>
            </p:nvSpPr>
            <p:spPr bwMode="auto">
              <a:xfrm>
                <a:off x="824" y="3792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7571" name="Rectangle 19"/>
              <p:cNvSpPr>
                <a:spLocks noChangeArrowheads="1"/>
              </p:cNvSpPr>
              <p:nvPr/>
            </p:nvSpPr>
            <p:spPr bwMode="auto">
              <a:xfrm>
                <a:off x="970" y="2795"/>
                <a:ext cx="122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72" name="Line 20"/>
              <p:cNvSpPr>
                <a:spLocks noChangeShapeType="1"/>
              </p:cNvSpPr>
              <p:nvPr/>
            </p:nvSpPr>
            <p:spPr bwMode="auto">
              <a:xfrm>
                <a:off x="1052" y="3526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3" name="Rectangle 21"/>
              <p:cNvSpPr>
                <a:spLocks noChangeArrowheads="1"/>
              </p:cNvSpPr>
              <p:nvPr/>
            </p:nvSpPr>
            <p:spPr bwMode="auto">
              <a:xfrm>
                <a:off x="452" y="2795"/>
                <a:ext cx="294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74" name="Rectangle 22"/>
              <p:cNvSpPr>
                <a:spLocks noChangeArrowheads="1"/>
              </p:cNvSpPr>
              <p:nvPr/>
            </p:nvSpPr>
            <p:spPr bwMode="auto">
              <a:xfrm>
                <a:off x="380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75" name="Rectangle 23"/>
              <p:cNvSpPr>
                <a:spLocks noChangeArrowheads="1"/>
              </p:cNvSpPr>
              <p:nvPr/>
            </p:nvSpPr>
            <p:spPr bwMode="auto">
              <a:xfrm>
                <a:off x="81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76" name="Rectangle 24"/>
              <p:cNvSpPr>
                <a:spLocks noChangeArrowheads="1"/>
              </p:cNvSpPr>
              <p:nvPr/>
            </p:nvSpPr>
            <p:spPr bwMode="auto">
              <a:xfrm>
                <a:off x="1834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77" name="Line 25"/>
              <p:cNvSpPr>
                <a:spLocks noChangeShapeType="1"/>
              </p:cNvSpPr>
              <p:nvPr/>
            </p:nvSpPr>
            <p:spPr bwMode="auto">
              <a:xfrm>
                <a:off x="1916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8" name="Rectangle 26"/>
              <p:cNvSpPr>
                <a:spLocks noChangeArrowheads="1"/>
              </p:cNvSpPr>
              <p:nvPr/>
            </p:nvSpPr>
            <p:spPr bwMode="auto">
              <a:xfrm>
                <a:off x="1316" y="2795"/>
                <a:ext cx="294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79" name="Rectangle 27"/>
              <p:cNvSpPr>
                <a:spLocks noChangeArrowheads="1"/>
              </p:cNvSpPr>
              <p:nvPr/>
            </p:nvSpPr>
            <p:spPr bwMode="auto">
              <a:xfrm>
                <a:off x="1244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80" name="Rectangle 28"/>
              <p:cNvSpPr>
                <a:spLocks noChangeArrowheads="1"/>
              </p:cNvSpPr>
              <p:nvPr/>
            </p:nvSpPr>
            <p:spPr bwMode="auto">
              <a:xfrm>
                <a:off x="1676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81" name="Rectangle 29"/>
              <p:cNvSpPr>
                <a:spLocks noChangeArrowheads="1"/>
              </p:cNvSpPr>
              <p:nvPr/>
            </p:nvSpPr>
            <p:spPr bwMode="auto">
              <a:xfrm>
                <a:off x="2698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82" name="Line 30"/>
              <p:cNvSpPr>
                <a:spLocks noChangeShapeType="1"/>
              </p:cNvSpPr>
              <p:nvPr/>
            </p:nvSpPr>
            <p:spPr bwMode="auto">
              <a:xfrm>
                <a:off x="2780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83" name="Rectangle 31"/>
              <p:cNvSpPr>
                <a:spLocks noChangeArrowheads="1"/>
              </p:cNvSpPr>
              <p:nvPr/>
            </p:nvSpPr>
            <p:spPr bwMode="auto">
              <a:xfrm>
                <a:off x="2179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84" name="Rectangle 32"/>
              <p:cNvSpPr>
                <a:spLocks noChangeArrowheads="1"/>
              </p:cNvSpPr>
              <p:nvPr/>
            </p:nvSpPr>
            <p:spPr bwMode="auto">
              <a:xfrm>
                <a:off x="2108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85" name="Rectangle 33"/>
              <p:cNvSpPr>
                <a:spLocks noChangeArrowheads="1"/>
              </p:cNvSpPr>
              <p:nvPr/>
            </p:nvSpPr>
            <p:spPr bwMode="auto">
              <a:xfrm>
                <a:off x="2539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86" name="Rectangle 34"/>
              <p:cNvSpPr>
                <a:spLocks noChangeArrowheads="1"/>
              </p:cNvSpPr>
              <p:nvPr/>
            </p:nvSpPr>
            <p:spPr bwMode="auto">
              <a:xfrm>
                <a:off x="3562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87" name="Line 35"/>
              <p:cNvSpPr>
                <a:spLocks noChangeShapeType="1"/>
              </p:cNvSpPr>
              <p:nvPr/>
            </p:nvSpPr>
            <p:spPr bwMode="auto">
              <a:xfrm>
                <a:off x="3644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88" name="Rectangle 36"/>
              <p:cNvSpPr>
                <a:spLocks noChangeArrowheads="1"/>
              </p:cNvSpPr>
              <p:nvPr/>
            </p:nvSpPr>
            <p:spPr bwMode="auto">
              <a:xfrm>
                <a:off x="3043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89" name="Rectangle 37"/>
              <p:cNvSpPr>
                <a:spLocks noChangeArrowheads="1"/>
              </p:cNvSpPr>
              <p:nvPr/>
            </p:nvSpPr>
            <p:spPr bwMode="auto">
              <a:xfrm>
                <a:off x="297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90" name="Rectangle 38"/>
              <p:cNvSpPr>
                <a:spLocks noChangeArrowheads="1"/>
              </p:cNvSpPr>
              <p:nvPr/>
            </p:nvSpPr>
            <p:spPr bwMode="auto">
              <a:xfrm>
                <a:off x="3404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91" name="Rectangle 39"/>
              <p:cNvSpPr>
                <a:spLocks noChangeArrowheads="1"/>
              </p:cNvSpPr>
              <p:nvPr/>
            </p:nvSpPr>
            <p:spPr bwMode="auto">
              <a:xfrm>
                <a:off x="4426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92" name="Line 40"/>
              <p:cNvSpPr>
                <a:spLocks noChangeShapeType="1"/>
              </p:cNvSpPr>
              <p:nvPr/>
            </p:nvSpPr>
            <p:spPr bwMode="auto">
              <a:xfrm>
                <a:off x="4508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93" name="Rectangle 41"/>
              <p:cNvSpPr>
                <a:spLocks noChangeArrowheads="1"/>
              </p:cNvSpPr>
              <p:nvPr/>
            </p:nvSpPr>
            <p:spPr bwMode="auto">
              <a:xfrm>
                <a:off x="3907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94" name="Rectangle 42"/>
              <p:cNvSpPr>
                <a:spLocks noChangeArrowheads="1"/>
              </p:cNvSpPr>
              <p:nvPr/>
            </p:nvSpPr>
            <p:spPr bwMode="auto">
              <a:xfrm>
                <a:off x="3836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95" name="Rectangle 43"/>
              <p:cNvSpPr>
                <a:spLocks noChangeArrowheads="1"/>
              </p:cNvSpPr>
              <p:nvPr/>
            </p:nvSpPr>
            <p:spPr bwMode="auto">
              <a:xfrm>
                <a:off x="4268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96" name="Rectangle 44"/>
              <p:cNvSpPr>
                <a:spLocks noChangeArrowheads="1"/>
              </p:cNvSpPr>
              <p:nvPr/>
            </p:nvSpPr>
            <p:spPr bwMode="auto">
              <a:xfrm>
                <a:off x="5290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97" name="Line 45"/>
              <p:cNvSpPr>
                <a:spLocks noChangeShapeType="1"/>
              </p:cNvSpPr>
              <p:nvPr/>
            </p:nvSpPr>
            <p:spPr bwMode="auto">
              <a:xfrm>
                <a:off x="5372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98" name="Rectangle 46"/>
              <p:cNvSpPr>
                <a:spLocks noChangeArrowheads="1"/>
              </p:cNvSpPr>
              <p:nvPr/>
            </p:nvSpPr>
            <p:spPr bwMode="auto">
              <a:xfrm>
                <a:off x="4771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Comb.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>
                    <a:latin typeface="Arial" charset="0"/>
                  </a:rPr>
                  <a:t>logic</a:t>
                </a:r>
              </a:p>
            </p:txBody>
          </p:sp>
          <p:sp>
            <p:nvSpPr>
              <p:cNvPr id="407599" name="Rectangle 47"/>
              <p:cNvSpPr>
                <a:spLocks noChangeArrowheads="1"/>
              </p:cNvSpPr>
              <p:nvPr/>
            </p:nvSpPr>
            <p:spPr bwMode="auto">
              <a:xfrm>
                <a:off x="4700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600" name="Rectangle 48"/>
              <p:cNvSpPr>
                <a:spLocks noChangeArrowheads="1"/>
              </p:cNvSpPr>
              <p:nvPr/>
            </p:nvSpPr>
            <p:spPr bwMode="auto">
              <a:xfrm>
                <a:off x="513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601" name="Line 49"/>
              <p:cNvSpPr>
                <a:spLocks noChangeShapeType="1"/>
              </p:cNvSpPr>
              <p:nvPr/>
            </p:nvSpPr>
            <p:spPr bwMode="auto">
              <a:xfrm>
                <a:off x="1052" y="3699"/>
                <a:ext cx="433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2019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Dependencies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5486400"/>
            <a:ext cx="8294687" cy="946150"/>
          </a:xfrm>
        </p:spPr>
        <p:txBody>
          <a:bodyPr/>
          <a:lstStyle/>
          <a:p>
            <a:r>
              <a:rPr lang="en-US"/>
              <a:t>System</a:t>
            </a:r>
          </a:p>
          <a:p>
            <a:pPr lvl="1"/>
            <a:r>
              <a:rPr lang="en-US"/>
              <a:t>Each operation depends on result from preceding one</a:t>
            </a:r>
          </a:p>
        </p:txBody>
      </p:sp>
      <p:grpSp>
        <p:nvGrpSpPr>
          <p:cNvPr id="408600" name="Group 24"/>
          <p:cNvGrpSpPr>
            <a:grpSpLocks/>
          </p:cNvGrpSpPr>
          <p:nvPr/>
        </p:nvGrpSpPr>
        <p:grpSpPr bwMode="auto">
          <a:xfrm>
            <a:off x="1828800" y="1143000"/>
            <a:ext cx="4267200" cy="2514600"/>
            <a:chOff x="1152" y="720"/>
            <a:chExt cx="2688" cy="1584"/>
          </a:xfrm>
        </p:grpSpPr>
        <p:sp>
          <p:nvSpPr>
            <p:cNvPr id="408586" name="Line 10"/>
            <p:cNvSpPr>
              <a:spLocks noChangeShapeType="1"/>
            </p:cNvSpPr>
            <p:nvPr/>
          </p:nvSpPr>
          <p:spPr bwMode="auto">
            <a:xfrm>
              <a:off x="1200" y="1445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87" name="Rectangle 11"/>
            <p:cNvSpPr>
              <a:spLocks noChangeArrowheads="1"/>
            </p:cNvSpPr>
            <p:nvPr/>
          </p:nvSpPr>
          <p:spPr bwMode="auto">
            <a:xfrm>
              <a:off x="3355" y="2094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408588" name="Rectangle 12"/>
            <p:cNvSpPr>
              <a:spLocks noChangeArrowheads="1"/>
            </p:cNvSpPr>
            <p:nvPr/>
          </p:nvSpPr>
          <p:spPr bwMode="auto">
            <a:xfrm>
              <a:off x="1492" y="1065"/>
              <a:ext cx="1724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Combinational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</p:txBody>
        </p:sp>
        <p:sp>
          <p:nvSpPr>
            <p:cNvPr id="408589" name="Rectangle 13"/>
            <p:cNvSpPr>
              <a:spLocks noChangeArrowheads="1"/>
            </p:cNvSpPr>
            <p:nvPr/>
          </p:nvSpPr>
          <p:spPr bwMode="auto">
            <a:xfrm>
              <a:off x="3504" y="1056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8590" name="Line 14"/>
            <p:cNvSpPr>
              <a:spLocks noChangeShapeType="1"/>
            </p:cNvSpPr>
            <p:nvPr/>
          </p:nvSpPr>
          <p:spPr bwMode="auto">
            <a:xfrm>
              <a:off x="3212" y="143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91" name="Line 15"/>
            <p:cNvSpPr>
              <a:spLocks noChangeShapeType="1"/>
            </p:cNvSpPr>
            <p:nvPr/>
          </p:nvSpPr>
          <p:spPr bwMode="auto">
            <a:xfrm>
              <a:off x="3596" y="1868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94" name="Freeform 18"/>
            <p:cNvSpPr>
              <a:spLocks/>
            </p:cNvSpPr>
            <p:nvPr/>
          </p:nvSpPr>
          <p:spPr bwMode="auto">
            <a:xfrm>
              <a:off x="1152" y="720"/>
              <a:ext cx="2688" cy="480"/>
            </a:xfrm>
            <a:custGeom>
              <a:avLst/>
              <a:gdLst/>
              <a:ahLst/>
              <a:cxnLst>
                <a:cxn ang="0">
                  <a:pos x="2496" y="432"/>
                </a:cxn>
                <a:cxn ang="0">
                  <a:pos x="2688" y="432"/>
                </a:cxn>
                <a:cxn ang="0">
                  <a:pos x="2688" y="0"/>
                </a:cxn>
                <a:cxn ang="0">
                  <a:pos x="0" y="0"/>
                </a:cxn>
                <a:cxn ang="0">
                  <a:pos x="0" y="480"/>
                </a:cxn>
                <a:cxn ang="0">
                  <a:pos x="336" y="480"/>
                </a:cxn>
              </a:cxnLst>
              <a:rect l="0" t="0" r="r" b="b"/>
              <a:pathLst>
                <a:path w="2688" h="480">
                  <a:moveTo>
                    <a:pt x="2496" y="432"/>
                  </a:moveTo>
                  <a:lnTo>
                    <a:pt x="2688" y="432"/>
                  </a:lnTo>
                  <a:lnTo>
                    <a:pt x="2688" y="0"/>
                  </a:lnTo>
                  <a:lnTo>
                    <a:pt x="0" y="0"/>
                  </a:lnTo>
                  <a:lnTo>
                    <a:pt x="0" y="480"/>
                  </a:lnTo>
                  <a:lnTo>
                    <a:pt x="336" y="48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8599" name="Group 23"/>
          <p:cNvGrpSpPr>
            <a:grpSpLocks/>
          </p:cNvGrpSpPr>
          <p:nvPr/>
        </p:nvGrpSpPr>
        <p:grpSpPr bwMode="auto">
          <a:xfrm>
            <a:off x="762000" y="3733800"/>
            <a:ext cx="6400800" cy="1254125"/>
            <a:chOff x="912" y="2483"/>
            <a:chExt cx="4032" cy="790"/>
          </a:xfrm>
        </p:grpSpPr>
        <p:sp>
          <p:nvSpPr>
            <p:cNvPr id="408580" name="Line 4"/>
            <p:cNvSpPr>
              <a:spLocks noChangeShapeType="1"/>
            </p:cNvSpPr>
            <p:nvPr/>
          </p:nvSpPr>
          <p:spPr bwMode="auto">
            <a:xfrm>
              <a:off x="1440" y="3264"/>
              <a:ext cx="3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81" name="Rectangle 5"/>
            <p:cNvSpPr>
              <a:spLocks noChangeArrowheads="1"/>
            </p:cNvSpPr>
            <p:nvPr/>
          </p:nvSpPr>
          <p:spPr bwMode="auto">
            <a:xfrm>
              <a:off x="1911" y="3063"/>
              <a:ext cx="3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Time</a:t>
              </a:r>
            </a:p>
          </p:txBody>
        </p:sp>
        <p:sp>
          <p:nvSpPr>
            <p:cNvPr id="408582" name="Rectangle 6"/>
            <p:cNvSpPr>
              <a:spLocks noChangeArrowheads="1"/>
            </p:cNvSpPr>
            <p:nvPr/>
          </p:nvSpPr>
          <p:spPr bwMode="auto">
            <a:xfrm>
              <a:off x="912" y="2483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8583" name="Rectangle 7"/>
            <p:cNvSpPr>
              <a:spLocks noChangeArrowheads="1"/>
            </p:cNvSpPr>
            <p:nvPr/>
          </p:nvSpPr>
          <p:spPr bwMode="auto">
            <a:xfrm>
              <a:off x="912" y="2675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8584" name="Rectangle 8"/>
            <p:cNvSpPr>
              <a:spLocks noChangeArrowheads="1"/>
            </p:cNvSpPr>
            <p:nvPr/>
          </p:nvSpPr>
          <p:spPr bwMode="auto">
            <a:xfrm>
              <a:off x="912" y="2867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sp>
          <p:nvSpPr>
            <p:cNvPr id="408592" name="Rectangle 16"/>
            <p:cNvSpPr>
              <a:spLocks noChangeArrowheads="1"/>
            </p:cNvSpPr>
            <p:nvPr/>
          </p:nvSpPr>
          <p:spPr bwMode="auto">
            <a:xfrm>
              <a:off x="1488" y="2487"/>
              <a:ext cx="1152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 b="0"/>
            </a:p>
          </p:txBody>
        </p:sp>
        <p:sp>
          <p:nvSpPr>
            <p:cNvPr id="408593" name="Freeform 17"/>
            <p:cNvSpPr>
              <a:spLocks/>
            </p:cNvSpPr>
            <p:nvPr/>
          </p:nvSpPr>
          <p:spPr bwMode="auto">
            <a:xfrm>
              <a:off x="2493" y="2574"/>
              <a:ext cx="264" cy="210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198" y="18"/>
                </a:cxn>
                <a:cxn ang="0">
                  <a:pos x="264" y="99"/>
                </a:cxn>
                <a:cxn ang="0">
                  <a:pos x="171" y="261"/>
                </a:cxn>
                <a:cxn ang="0">
                  <a:pos x="129" y="297"/>
                </a:cxn>
                <a:cxn ang="0">
                  <a:pos x="78" y="342"/>
                </a:cxn>
                <a:cxn ang="0">
                  <a:pos x="15" y="423"/>
                </a:cxn>
                <a:cxn ang="0">
                  <a:pos x="3" y="477"/>
                </a:cxn>
                <a:cxn ang="0">
                  <a:pos x="33" y="531"/>
                </a:cxn>
                <a:cxn ang="0">
                  <a:pos x="135" y="600"/>
                </a:cxn>
                <a:cxn ang="0">
                  <a:pos x="144" y="600"/>
                </a:cxn>
              </a:cxnLst>
              <a:rect l="0" t="0" r="r" b="b"/>
              <a:pathLst>
                <a:path w="264" h="600">
                  <a:moveTo>
                    <a:pt x="144" y="0"/>
                  </a:moveTo>
                  <a:cubicBezTo>
                    <a:pt x="185" y="5"/>
                    <a:pt x="169" y="8"/>
                    <a:pt x="198" y="18"/>
                  </a:cubicBezTo>
                  <a:cubicBezTo>
                    <a:pt x="240" y="30"/>
                    <a:pt x="252" y="62"/>
                    <a:pt x="264" y="99"/>
                  </a:cubicBezTo>
                  <a:cubicBezTo>
                    <a:pt x="260" y="139"/>
                    <a:pt x="192" y="230"/>
                    <a:pt x="171" y="261"/>
                  </a:cubicBezTo>
                  <a:cubicBezTo>
                    <a:pt x="162" y="274"/>
                    <a:pt x="142" y="287"/>
                    <a:pt x="129" y="297"/>
                  </a:cubicBezTo>
                  <a:cubicBezTo>
                    <a:pt x="113" y="311"/>
                    <a:pt x="97" y="317"/>
                    <a:pt x="78" y="342"/>
                  </a:cubicBezTo>
                  <a:cubicBezTo>
                    <a:pt x="59" y="363"/>
                    <a:pt x="31" y="400"/>
                    <a:pt x="15" y="423"/>
                  </a:cubicBezTo>
                  <a:cubicBezTo>
                    <a:pt x="3" y="445"/>
                    <a:pt x="0" y="459"/>
                    <a:pt x="3" y="477"/>
                  </a:cubicBezTo>
                  <a:cubicBezTo>
                    <a:pt x="6" y="495"/>
                    <a:pt x="11" y="511"/>
                    <a:pt x="33" y="531"/>
                  </a:cubicBezTo>
                  <a:cubicBezTo>
                    <a:pt x="55" y="551"/>
                    <a:pt x="117" y="589"/>
                    <a:pt x="135" y="600"/>
                  </a:cubicBezTo>
                  <a:cubicBezTo>
                    <a:pt x="145" y="597"/>
                    <a:pt x="144" y="594"/>
                    <a:pt x="144" y="60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95" name="Rectangle 19"/>
            <p:cNvSpPr>
              <a:spLocks noChangeArrowheads="1"/>
            </p:cNvSpPr>
            <p:nvPr/>
          </p:nvSpPr>
          <p:spPr bwMode="auto">
            <a:xfrm>
              <a:off x="2640" y="2688"/>
              <a:ext cx="1152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 b="0"/>
            </a:p>
          </p:txBody>
        </p:sp>
        <p:sp>
          <p:nvSpPr>
            <p:cNvPr id="408596" name="Rectangle 20"/>
            <p:cNvSpPr>
              <a:spLocks noChangeArrowheads="1"/>
            </p:cNvSpPr>
            <p:nvPr/>
          </p:nvSpPr>
          <p:spPr bwMode="auto">
            <a:xfrm>
              <a:off x="3792" y="2889"/>
              <a:ext cx="1152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 b="0"/>
            </a:p>
          </p:txBody>
        </p:sp>
        <p:sp>
          <p:nvSpPr>
            <p:cNvPr id="408597" name="Freeform 21"/>
            <p:cNvSpPr>
              <a:spLocks/>
            </p:cNvSpPr>
            <p:nvPr/>
          </p:nvSpPr>
          <p:spPr bwMode="auto">
            <a:xfrm>
              <a:off x="3648" y="2784"/>
              <a:ext cx="264" cy="210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198" y="18"/>
                </a:cxn>
                <a:cxn ang="0">
                  <a:pos x="264" y="99"/>
                </a:cxn>
                <a:cxn ang="0">
                  <a:pos x="171" y="261"/>
                </a:cxn>
                <a:cxn ang="0">
                  <a:pos x="129" y="297"/>
                </a:cxn>
                <a:cxn ang="0">
                  <a:pos x="78" y="342"/>
                </a:cxn>
                <a:cxn ang="0">
                  <a:pos x="15" y="423"/>
                </a:cxn>
                <a:cxn ang="0">
                  <a:pos x="3" y="477"/>
                </a:cxn>
                <a:cxn ang="0">
                  <a:pos x="33" y="531"/>
                </a:cxn>
                <a:cxn ang="0">
                  <a:pos x="135" y="600"/>
                </a:cxn>
                <a:cxn ang="0">
                  <a:pos x="144" y="600"/>
                </a:cxn>
              </a:cxnLst>
              <a:rect l="0" t="0" r="r" b="b"/>
              <a:pathLst>
                <a:path w="264" h="600">
                  <a:moveTo>
                    <a:pt x="144" y="0"/>
                  </a:moveTo>
                  <a:cubicBezTo>
                    <a:pt x="185" y="5"/>
                    <a:pt x="169" y="8"/>
                    <a:pt x="198" y="18"/>
                  </a:cubicBezTo>
                  <a:cubicBezTo>
                    <a:pt x="240" y="30"/>
                    <a:pt x="252" y="62"/>
                    <a:pt x="264" y="99"/>
                  </a:cubicBezTo>
                  <a:cubicBezTo>
                    <a:pt x="260" y="139"/>
                    <a:pt x="192" y="230"/>
                    <a:pt x="171" y="261"/>
                  </a:cubicBezTo>
                  <a:cubicBezTo>
                    <a:pt x="162" y="274"/>
                    <a:pt x="142" y="287"/>
                    <a:pt x="129" y="297"/>
                  </a:cubicBezTo>
                  <a:cubicBezTo>
                    <a:pt x="113" y="311"/>
                    <a:pt x="97" y="317"/>
                    <a:pt x="78" y="342"/>
                  </a:cubicBezTo>
                  <a:cubicBezTo>
                    <a:pt x="59" y="363"/>
                    <a:pt x="31" y="400"/>
                    <a:pt x="15" y="423"/>
                  </a:cubicBezTo>
                  <a:cubicBezTo>
                    <a:pt x="3" y="445"/>
                    <a:pt x="0" y="459"/>
                    <a:pt x="3" y="477"/>
                  </a:cubicBezTo>
                  <a:cubicBezTo>
                    <a:pt x="6" y="495"/>
                    <a:pt x="11" y="511"/>
                    <a:pt x="33" y="531"/>
                  </a:cubicBezTo>
                  <a:cubicBezTo>
                    <a:pt x="55" y="551"/>
                    <a:pt x="117" y="589"/>
                    <a:pt x="135" y="600"/>
                  </a:cubicBezTo>
                  <a:cubicBezTo>
                    <a:pt x="145" y="597"/>
                    <a:pt x="144" y="594"/>
                    <a:pt x="144" y="60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AB96BD-04A2-4FBB-B12B-9F78646A83B1}"/>
                  </a:ext>
                </a:extLst>
              </p14:cNvPr>
              <p14:cNvContentPartPr/>
              <p14:nvPr/>
            </p14:nvContentPartPr>
            <p14:xfrm>
              <a:off x="7391160" y="1129320"/>
              <a:ext cx="1265760" cy="82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AB96BD-04A2-4FBB-B12B-9F78646A83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81800" y="1119960"/>
                <a:ext cx="1284480" cy="84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4212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Hazards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en-US"/>
              <a:t>Result does not feed back around in time for next operation</a:t>
            </a:r>
          </a:p>
          <a:p>
            <a:pPr lvl="1"/>
            <a:r>
              <a:rPr lang="en-US"/>
              <a:t>Pipelining has changed behavior of system</a:t>
            </a:r>
          </a:p>
        </p:txBody>
      </p:sp>
      <p:grpSp>
        <p:nvGrpSpPr>
          <p:cNvPr id="409622" name="Group 22"/>
          <p:cNvGrpSpPr>
            <a:grpSpLocks/>
          </p:cNvGrpSpPr>
          <p:nvPr/>
        </p:nvGrpSpPr>
        <p:grpSpPr bwMode="auto">
          <a:xfrm>
            <a:off x="1143000" y="1219200"/>
            <a:ext cx="6629400" cy="2543175"/>
            <a:chOff x="288" y="2712"/>
            <a:chExt cx="4176" cy="1602"/>
          </a:xfrm>
        </p:grpSpPr>
        <p:sp>
          <p:nvSpPr>
            <p:cNvPr id="409604" name="Rectangle 4"/>
            <p:cNvSpPr>
              <a:spLocks noChangeArrowheads="1"/>
            </p:cNvSpPr>
            <p:nvPr/>
          </p:nvSpPr>
          <p:spPr bwMode="auto">
            <a:xfrm>
              <a:off x="1444" y="3066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9605" name="Line 5"/>
            <p:cNvSpPr>
              <a:spLocks noChangeShapeType="1"/>
            </p:cNvSpPr>
            <p:nvPr/>
          </p:nvSpPr>
          <p:spPr bwMode="auto">
            <a:xfrm>
              <a:off x="288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06" name="Line 6"/>
            <p:cNvSpPr>
              <a:spLocks noChangeShapeType="1"/>
            </p:cNvSpPr>
            <p:nvPr/>
          </p:nvSpPr>
          <p:spPr bwMode="auto">
            <a:xfrm>
              <a:off x="1152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07" name="Line 7"/>
            <p:cNvSpPr>
              <a:spLocks noChangeShapeType="1"/>
            </p:cNvSpPr>
            <p:nvPr/>
          </p:nvSpPr>
          <p:spPr bwMode="auto">
            <a:xfrm>
              <a:off x="1536" y="3878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08" name="Rectangle 8"/>
            <p:cNvSpPr>
              <a:spLocks noChangeArrowheads="1"/>
            </p:cNvSpPr>
            <p:nvPr/>
          </p:nvSpPr>
          <p:spPr bwMode="auto">
            <a:xfrm>
              <a:off x="3887" y="4104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409609" name="Rectangle 9"/>
            <p:cNvSpPr>
              <a:spLocks noChangeArrowheads="1"/>
            </p:cNvSpPr>
            <p:nvPr/>
          </p:nvSpPr>
          <p:spPr bwMode="auto">
            <a:xfrm>
              <a:off x="580" y="3066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A</a:t>
              </a:r>
            </a:p>
          </p:txBody>
        </p:sp>
        <p:sp>
          <p:nvSpPr>
            <p:cNvPr id="409610" name="Rectangle 10"/>
            <p:cNvSpPr>
              <a:spLocks noChangeArrowheads="1"/>
            </p:cNvSpPr>
            <p:nvPr/>
          </p:nvSpPr>
          <p:spPr bwMode="auto">
            <a:xfrm>
              <a:off x="2740" y="3066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9611" name="Line 11"/>
            <p:cNvSpPr>
              <a:spLocks noChangeShapeType="1"/>
            </p:cNvSpPr>
            <p:nvPr/>
          </p:nvSpPr>
          <p:spPr bwMode="auto">
            <a:xfrm>
              <a:off x="1584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2" name="Line 12"/>
            <p:cNvSpPr>
              <a:spLocks noChangeShapeType="1"/>
            </p:cNvSpPr>
            <p:nvPr/>
          </p:nvSpPr>
          <p:spPr bwMode="auto">
            <a:xfrm>
              <a:off x="2448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3" name="Line 13"/>
            <p:cNvSpPr>
              <a:spLocks noChangeShapeType="1"/>
            </p:cNvSpPr>
            <p:nvPr/>
          </p:nvSpPr>
          <p:spPr bwMode="auto">
            <a:xfrm>
              <a:off x="2832" y="3878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4" name="Rectangle 14"/>
            <p:cNvSpPr>
              <a:spLocks noChangeArrowheads="1"/>
            </p:cNvSpPr>
            <p:nvPr/>
          </p:nvSpPr>
          <p:spPr bwMode="auto">
            <a:xfrm>
              <a:off x="1876" y="3066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B</a:t>
              </a:r>
            </a:p>
          </p:txBody>
        </p:sp>
        <p:sp>
          <p:nvSpPr>
            <p:cNvPr id="409615" name="Rectangle 15"/>
            <p:cNvSpPr>
              <a:spLocks noChangeArrowheads="1"/>
            </p:cNvSpPr>
            <p:nvPr/>
          </p:nvSpPr>
          <p:spPr bwMode="auto">
            <a:xfrm>
              <a:off x="4036" y="3066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9616" name="Line 16"/>
            <p:cNvSpPr>
              <a:spLocks noChangeShapeType="1"/>
            </p:cNvSpPr>
            <p:nvPr/>
          </p:nvSpPr>
          <p:spPr bwMode="auto">
            <a:xfrm>
              <a:off x="2880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7" name="Line 17"/>
            <p:cNvSpPr>
              <a:spLocks noChangeShapeType="1"/>
            </p:cNvSpPr>
            <p:nvPr/>
          </p:nvSpPr>
          <p:spPr bwMode="auto">
            <a:xfrm>
              <a:off x="3744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8" name="Line 18"/>
            <p:cNvSpPr>
              <a:spLocks noChangeShapeType="1"/>
            </p:cNvSpPr>
            <p:nvPr/>
          </p:nvSpPr>
          <p:spPr bwMode="auto">
            <a:xfrm>
              <a:off x="4128" y="3878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9" name="Rectangle 19"/>
            <p:cNvSpPr>
              <a:spLocks noChangeArrowheads="1"/>
            </p:cNvSpPr>
            <p:nvPr/>
          </p:nvSpPr>
          <p:spPr bwMode="auto">
            <a:xfrm>
              <a:off x="3172" y="3066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Comb.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logic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</a:t>
              </a:r>
            </a:p>
          </p:txBody>
        </p:sp>
        <p:sp>
          <p:nvSpPr>
            <p:cNvPr id="409620" name="Line 20"/>
            <p:cNvSpPr>
              <a:spLocks noChangeShapeType="1"/>
            </p:cNvSpPr>
            <p:nvPr/>
          </p:nvSpPr>
          <p:spPr bwMode="auto">
            <a:xfrm>
              <a:off x="1536" y="4008"/>
              <a:ext cx="25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21" name="Freeform 21"/>
            <p:cNvSpPr>
              <a:spLocks/>
            </p:cNvSpPr>
            <p:nvPr/>
          </p:nvSpPr>
          <p:spPr bwMode="auto">
            <a:xfrm>
              <a:off x="336" y="2712"/>
              <a:ext cx="4128" cy="480"/>
            </a:xfrm>
            <a:custGeom>
              <a:avLst/>
              <a:gdLst/>
              <a:ahLst/>
              <a:cxnLst>
                <a:cxn ang="0">
                  <a:pos x="3840" y="480"/>
                </a:cxn>
                <a:cxn ang="0">
                  <a:pos x="4128" y="480"/>
                </a:cxn>
                <a:cxn ang="0">
                  <a:pos x="4128" y="0"/>
                </a:cxn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4128" h="480">
                  <a:moveTo>
                    <a:pt x="3840" y="480"/>
                  </a:moveTo>
                  <a:lnTo>
                    <a:pt x="4128" y="480"/>
                  </a:lnTo>
                  <a:lnTo>
                    <a:pt x="4128" y="0"/>
                  </a:lnTo>
                  <a:lnTo>
                    <a:pt x="0" y="0"/>
                  </a:ln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46" name="Group 46"/>
          <p:cNvGrpSpPr>
            <a:grpSpLocks/>
          </p:cNvGrpSpPr>
          <p:nvPr/>
        </p:nvGrpSpPr>
        <p:grpSpPr bwMode="auto">
          <a:xfrm>
            <a:off x="1905000" y="3581400"/>
            <a:ext cx="4572000" cy="1558925"/>
            <a:chOff x="144" y="3332"/>
            <a:chExt cx="2880" cy="982"/>
          </a:xfrm>
        </p:grpSpPr>
        <p:sp>
          <p:nvSpPr>
            <p:cNvPr id="409623" name="Line 23"/>
            <p:cNvSpPr>
              <a:spLocks noChangeShapeType="1"/>
            </p:cNvSpPr>
            <p:nvPr/>
          </p:nvSpPr>
          <p:spPr bwMode="auto">
            <a:xfrm>
              <a:off x="720" y="4296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24" name="Rectangle 24"/>
            <p:cNvSpPr>
              <a:spLocks noChangeArrowheads="1"/>
            </p:cNvSpPr>
            <p:nvPr/>
          </p:nvSpPr>
          <p:spPr bwMode="auto">
            <a:xfrm>
              <a:off x="1143" y="4104"/>
              <a:ext cx="3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Time</a:t>
              </a:r>
            </a:p>
          </p:txBody>
        </p:sp>
        <p:sp>
          <p:nvSpPr>
            <p:cNvPr id="409625" name="Rectangle 25"/>
            <p:cNvSpPr>
              <a:spLocks noChangeArrowheads="1"/>
            </p:cNvSpPr>
            <p:nvPr/>
          </p:nvSpPr>
          <p:spPr bwMode="auto">
            <a:xfrm>
              <a:off x="144" y="3332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9626" name="Rectangle 26"/>
            <p:cNvSpPr>
              <a:spLocks noChangeArrowheads="1"/>
            </p:cNvSpPr>
            <p:nvPr/>
          </p:nvSpPr>
          <p:spPr bwMode="auto">
            <a:xfrm>
              <a:off x="144" y="3524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9627" name="Rectangle 27"/>
            <p:cNvSpPr>
              <a:spLocks noChangeArrowheads="1"/>
            </p:cNvSpPr>
            <p:nvPr/>
          </p:nvSpPr>
          <p:spPr bwMode="auto">
            <a:xfrm>
              <a:off x="144" y="371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grpSp>
          <p:nvGrpSpPr>
            <p:cNvPr id="409628" name="Group 28"/>
            <p:cNvGrpSpPr>
              <a:grpSpLocks/>
            </p:cNvGrpSpPr>
            <p:nvPr/>
          </p:nvGrpSpPr>
          <p:grpSpPr bwMode="auto">
            <a:xfrm>
              <a:off x="720" y="3336"/>
              <a:ext cx="1152" cy="192"/>
              <a:chOff x="768" y="2400"/>
              <a:chExt cx="1152" cy="192"/>
            </a:xfrm>
          </p:grpSpPr>
          <p:sp>
            <p:nvSpPr>
              <p:cNvPr id="409629" name="Rectangle 29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9630" name="Rectangle 30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9631" name="Rectangle 31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409632" name="Group 32"/>
            <p:cNvGrpSpPr>
              <a:grpSpLocks/>
            </p:cNvGrpSpPr>
            <p:nvPr/>
          </p:nvGrpSpPr>
          <p:grpSpPr bwMode="auto">
            <a:xfrm>
              <a:off x="1104" y="3528"/>
              <a:ext cx="1152" cy="192"/>
              <a:chOff x="768" y="2400"/>
              <a:chExt cx="1152" cy="192"/>
            </a:xfrm>
          </p:grpSpPr>
          <p:sp>
            <p:nvSpPr>
              <p:cNvPr id="409633" name="Rectangle 33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9634" name="Rectangle 34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9635" name="Rectangle 35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409636" name="Group 36"/>
            <p:cNvGrpSpPr>
              <a:grpSpLocks/>
            </p:cNvGrpSpPr>
            <p:nvPr/>
          </p:nvGrpSpPr>
          <p:grpSpPr bwMode="auto">
            <a:xfrm>
              <a:off x="1488" y="3720"/>
              <a:ext cx="1152" cy="192"/>
              <a:chOff x="768" y="2400"/>
              <a:chExt cx="1152" cy="192"/>
            </a:xfrm>
          </p:grpSpPr>
          <p:sp>
            <p:nvSpPr>
              <p:cNvPr id="409637" name="Rectangle 37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9638" name="Rectangle 38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9639" name="Rectangle 39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sp>
          <p:nvSpPr>
            <p:cNvPr id="409640" name="Rectangle 40"/>
            <p:cNvSpPr>
              <a:spLocks noChangeArrowheads="1"/>
            </p:cNvSpPr>
            <p:nvPr/>
          </p:nvSpPr>
          <p:spPr bwMode="auto">
            <a:xfrm>
              <a:off x="144" y="390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OP4</a:t>
              </a:r>
            </a:p>
          </p:txBody>
        </p:sp>
        <p:grpSp>
          <p:nvGrpSpPr>
            <p:cNvPr id="409641" name="Group 41"/>
            <p:cNvGrpSpPr>
              <a:grpSpLocks/>
            </p:cNvGrpSpPr>
            <p:nvPr/>
          </p:nvGrpSpPr>
          <p:grpSpPr bwMode="auto">
            <a:xfrm>
              <a:off x="1872" y="3912"/>
              <a:ext cx="1152" cy="192"/>
              <a:chOff x="768" y="2400"/>
              <a:chExt cx="1152" cy="192"/>
            </a:xfrm>
          </p:grpSpPr>
          <p:sp>
            <p:nvSpPr>
              <p:cNvPr id="409642" name="Rectangle 42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9643" name="Rectangle 43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9644" name="Rectangle 44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sp>
          <p:nvSpPr>
            <p:cNvPr id="409645" name="Freeform 45"/>
            <p:cNvSpPr>
              <a:spLocks/>
            </p:cNvSpPr>
            <p:nvPr/>
          </p:nvSpPr>
          <p:spPr bwMode="auto">
            <a:xfrm>
              <a:off x="1725" y="3423"/>
              <a:ext cx="264" cy="600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198" y="18"/>
                </a:cxn>
                <a:cxn ang="0">
                  <a:pos x="264" y="99"/>
                </a:cxn>
                <a:cxn ang="0">
                  <a:pos x="171" y="261"/>
                </a:cxn>
                <a:cxn ang="0">
                  <a:pos x="129" y="297"/>
                </a:cxn>
                <a:cxn ang="0">
                  <a:pos x="78" y="342"/>
                </a:cxn>
                <a:cxn ang="0">
                  <a:pos x="15" y="423"/>
                </a:cxn>
                <a:cxn ang="0">
                  <a:pos x="3" y="477"/>
                </a:cxn>
                <a:cxn ang="0">
                  <a:pos x="33" y="531"/>
                </a:cxn>
                <a:cxn ang="0">
                  <a:pos x="135" y="600"/>
                </a:cxn>
                <a:cxn ang="0">
                  <a:pos x="144" y="600"/>
                </a:cxn>
              </a:cxnLst>
              <a:rect l="0" t="0" r="r" b="b"/>
              <a:pathLst>
                <a:path w="264" h="600">
                  <a:moveTo>
                    <a:pt x="144" y="0"/>
                  </a:moveTo>
                  <a:cubicBezTo>
                    <a:pt x="185" y="5"/>
                    <a:pt x="169" y="8"/>
                    <a:pt x="198" y="18"/>
                  </a:cubicBezTo>
                  <a:cubicBezTo>
                    <a:pt x="240" y="30"/>
                    <a:pt x="252" y="62"/>
                    <a:pt x="264" y="99"/>
                  </a:cubicBezTo>
                  <a:cubicBezTo>
                    <a:pt x="260" y="139"/>
                    <a:pt x="192" y="230"/>
                    <a:pt x="171" y="261"/>
                  </a:cubicBezTo>
                  <a:cubicBezTo>
                    <a:pt x="162" y="274"/>
                    <a:pt x="142" y="287"/>
                    <a:pt x="129" y="297"/>
                  </a:cubicBezTo>
                  <a:cubicBezTo>
                    <a:pt x="113" y="311"/>
                    <a:pt x="97" y="317"/>
                    <a:pt x="78" y="342"/>
                  </a:cubicBezTo>
                  <a:cubicBezTo>
                    <a:pt x="59" y="363"/>
                    <a:pt x="31" y="400"/>
                    <a:pt x="15" y="423"/>
                  </a:cubicBezTo>
                  <a:cubicBezTo>
                    <a:pt x="3" y="445"/>
                    <a:pt x="0" y="459"/>
                    <a:pt x="3" y="477"/>
                  </a:cubicBezTo>
                  <a:cubicBezTo>
                    <a:pt x="6" y="495"/>
                    <a:pt x="11" y="511"/>
                    <a:pt x="33" y="531"/>
                  </a:cubicBezTo>
                  <a:cubicBezTo>
                    <a:pt x="55" y="551"/>
                    <a:pt x="117" y="589"/>
                    <a:pt x="135" y="600"/>
                  </a:cubicBezTo>
                  <a:cubicBezTo>
                    <a:pt x="145" y="597"/>
                    <a:pt x="144" y="594"/>
                    <a:pt x="144" y="60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C90B52-E8D1-44C3-AB5E-D7D3D12D5D9B}"/>
                  </a:ext>
                </a:extLst>
              </p14:cNvPr>
              <p14:cNvContentPartPr/>
              <p14:nvPr/>
            </p14:nvContentPartPr>
            <p14:xfrm>
              <a:off x="519840" y="991440"/>
              <a:ext cx="6298560" cy="5055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C90B52-E8D1-44C3-AB5E-D7D3D12D5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0480" y="982080"/>
                <a:ext cx="6317280" cy="50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2750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Dependencies in Processors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200400"/>
            <a:ext cx="8294687" cy="3232150"/>
          </a:xfrm>
        </p:spPr>
        <p:txBody>
          <a:bodyPr/>
          <a:lstStyle/>
          <a:p>
            <a:pPr lvl="1"/>
            <a:r>
              <a:rPr lang="en-US"/>
              <a:t>Result from one instruction used as operand for another</a:t>
            </a:r>
          </a:p>
          <a:p>
            <a:pPr lvl="2"/>
            <a:r>
              <a:rPr lang="en-US"/>
              <a:t>Read-after-write (RAW) dependency</a:t>
            </a:r>
          </a:p>
          <a:p>
            <a:pPr lvl="1"/>
            <a:r>
              <a:rPr lang="en-US"/>
              <a:t>Very common in actual programs</a:t>
            </a:r>
          </a:p>
          <a:p>
            <a:pPr lvl="1"/>
            <a:r>
              <a:rPr lang="en-US"/>
              <a:t>Must make sure our pipeline handles these properly</a:t>
            </a:r>
          </a:p>
          <a:p>
            <a:pPr lvl="2"/>
            <a:r>
              <a:rPr lang="en-US"/>
              <a:t>Get correct results</a:t>
            </a:r>
          </a:p>
          <a:p>
            <a:pPr lvl="2"/>
            <a:r>
              <a:rPr lang="en-US"/>
              <a:t>Minimize performance impact</a:t>
            </a:r>
          </a:p>
        </p:txBody>
      </p:sp>
      <p:sp>
        <p:nvSpPr>
          <p:cNvPr id="410628" name="Rectangle 4"/>
          <p:cNvSpPr>
            <a:spLocks noChangeArrowheads="1"/>
          </p:cNvSpPr>
          <p:nvPr/>
        </p:nvSpPr>
        <p:spPr bwMode="auto">
          <a:xfrm>
            <a:off x="2667000" y="1524000"/>
            <a:ext cx="32004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000" dirty="0">
                <a:solidFill>
                  <a:srgbClr val="0000FF"/>
                </a:solidFill>
                <a:latin typeface="Courier New" pitchFamily="49" charset="0"/>
              </a:rPr>
              <a:t>1</a:t>
            </a: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irmovq</a:t>
            </a:r>
            <a:r>
              <a:rPr lang="en-US" sz="1200" dirty="0">
                <a:latin typeface="Courier New" pitchFamily="49" charset="0"/>
              </a:rPr>
              <a:t> $50, %</a:t>
            </a:r>
            <a:r>
              <a:rPr lang="en-US" sz="1200" dirty="0" err="1">
                <a:latin typeface="Courier New" pitchFamily="49" charset="0"/>
              </a:rPr>
              <a:t>rax</a:t>
            </a:r>
            <a:endParaRPr lang="en-US" sz="1200" dirty="0">
              <a:latin typeface="Courier New" pitchFamily="49" charset="0"/>
            </a:endParaRPr>
          </a:p>
        </p:txBody>
      </p:sp>
      <p:sp>
        <p:nvSpPr>
          <p:cNvPr id="410629" name="Rectangle 5"/>
          <p:cNvSpPr>
            <a:spLocks noChangeArrowheads="1"/>
          </p:cNvSpPr>
          <p:nvPr/>
        </p:nvSpPr>
        <p:spPr bwMode="auto">
          <a:xfrm>
            <a:off x="2667000" y="1981200"/>
            <a:ext cx="32004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000" dirty="0">
                <a:solidFill>
                  <a:srgbClr val="0000FF"/>
                </a:solidFill>
                <a:latin typeface="Courier New" pitchFamily="49" charset="0"/>
              </a:rPr>
              <a:t>2</a:t>
            </a: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addq</a:t>
            </a:r>
            <a:r>
              <a:rPr lang="en-US" sz="1200" dirty="0">
                <a:latin typeface="Courier New" pitchFamily="49" charset="0"/>
              </a:rPr>
              <a:t> %</a:t>
            </a:r>
            <a:r>
              <a:rPr lang="en-US" sz="1200" dirty="0" err="1">
                <a:latin typeface="Courier New" pitchFamily="49" charset="0"/>
              </a:rPr>
              <a:t>rax</a:t>
            </a:r>
            <a:r>
              <a:rPr lang="en-US" sz="1200" dirty="0">
                <a:latin typeface="Courier New" pitchFamily="49" charset="0"/>
              </a:rPr>
              <a:t> ,  %</a:t>
            </a:r>
            <a:r>
              <a:rPr lang="en-US" sz="1200" dirty="0" err="1">
                <a:latin typeface="Courier New" pitchFamily="49" charset="0"/>
              </a:rPr>
              <a:t>rbx</a:t>
            </a:r>
            <a:endParaRPr lang="en-US" sz="1200" dirty="0">
              <a:latin typeface="Courier New" pitchFamily="49" charset="0"/>
            </a:endParaRPr>
          </a:p>
        </p:txBody>
      </p:sp>
      <p:sp>
        <p:nvSpPr>
          <p:cNvPr id="410630" name="Rectangle 6"/>
          <p:cNvSpPr>
            <a:spLocks noChangeArrowheads="1"/>
          </p:cNvSpPr>
          <p:nvPr/>
        </p:nvSpPr>
        <p:spPr bwMode="auto">
          <a:xfrm>
            <a:off x="2667000" y="2438400"/>
            <a:ext cx="32004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000" dirty="0">
                <a:solidFill>
                  <a:srgbClr val="0000FF"/>
                </a:solidFill>
                <a:latin typeface="Courier New" pitchFamily="49" charset="0"/>
              </a:rPr>
              <a:t>3</a:t>
            </a: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</a:rPr>
              <a:t>mrmovq</a:t>
            </a:r>
            <a:r>
              <a:rPr lang="en-US" sz="1200" dirty="0">
                <a:latin typeface="Courier New" pitchFamily="49" charset="0"/>
              </a:rPr>
              <a:t> 100( %</a:t>
            </a:r>
            <a:r>
              <a:rPr lang="en-US" sz="1200" dirty="0" err="1">
                <a:latin typeface="Courier New" pitchFamily="49" charset="0"/>
              </a:rPr>
              <a:t>rbx</a:t>
            </a:r>
            <a:r>
              <a:rPr lang="en-US" sz="1200" dirty="0">
                <a:latin typeface="Courier New" pitchFamily="49" charset="0"/>
              </a:rPr>
              <a:t> ),  %</a:t>
            </a:r>
            <a:r>
              <a:rPr lang="en-US" sz="1200" dirty="0" err="1">
                <a:latin typeface="Courier New" pitchFamily="49" charset="0"/>
              </a:rPr>
              <a:t>rdx</a:t>
            </a:r>
            <a:endParaRPr lang="en-US" sz="1200" dirty="0">
              <a:latin typeface="Courier New" pitchFamily="49" charset="0"/>
            </a:endParaRPr>
          </a:p>
        </p:txBody>
      </p:sp>
      <p:grpSp>
        <p:nvGrpSpPr>
          <p:cNvPr id="410637" name="Group 13"/>
          <p:cNvGrpSpPr>
            <a:grpSpLocks/>
          </p:cNvGrpSpPr>
          <p:nvPr/>
        </p:nvGrpSpPr>
        <p:grpSpPr bwMode="auto">
          <a:xfrm>
            <a:off x="3632200" y="1524000"/>
            <a:ext cx="1092200" cy="762000"/>
            <a:chOff x="2288" y="960"/>
            <a:chExt cx="688" cy="480"/>
          </a:xfrm>
        </p:grpSpPr>
        <p:sp>
          <p:nvSpPr>
            <p:cNvPr id="410631" name="Oval 7"/>
            <p:cNvSpPr>
              <a:spLocks noChangeArrowheads="1"/>
            </p:cNvSpPr>
            <p:nvPr/>
          </p:nvSpPr>
          <p:spPr bwMode="auto">
            <a:xfrm>
              <a:off x="2688" y="960"/>
              <a:ext cx="288" cy="192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2" name="Oval 8"/>
            <p:cNvSpPr>
              <a:spLocks noChangeArrowheads="1"/>
            </p:cNvSpPr>
            <p:nvPr/>
          </p:nvSpPr>
          <p:spPr bwMode="auto">
            <a:xfrm>
              <a:off x="2288" y="1248"/>
              <a:ext cx="288" cy="192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5" name="Line 11"/>
            <p:cNvSpPr>
              <a:spLocks noChangeShapeType="1"/>
            </p:cNvSpPr>
            <p:nvPr/>
          </p:nvSpPr>
          <p:spPr bwMode="auto">
            <a:xfrm flipH="1">
              <a:off x="2552" y="1116"/>
              <a:ext cx="172" cy="17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0638" name="Group 14"/>
          <p:cNvGrpSpPr>
            <a:grpSpLocks/>
          </p:cNvGrpSpPr>
          <p:nvPr/>
        </p:nvGrpSpPr>
        <p:grpSpPr bwMode="auto">
          <a:xfrm>
            <a:off x="4267200" y="1981200"/>
            <a:ext cx="546100" cy="762000"/>
            <a:chOff x="2688" y="1248"/>
            <a:chExt cx="344" cy="480"/>
          </a:xfrm>
        </p:grpSpPr>
        <p:sp>
          <p:nvSpPr>
            <p:cNvPr id="410633" name="Oval 9"/>
            <p:cNvSpPr>
              <a:spLocks noChangeArrowheads="1"/>
            </p:cNvSpPr>
            <p:nvPr/>
          </p:nvSpPr>
          <p:spPr bwMode="auto">
            <a:xfrm>
              <a:off x="2744" y="1248"/>
              <a:ext cx="288" cy="192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4" name="Oval 10"/>
            <p:cNvSpPr>
              <a:spLocks noChangeArrowheads="1"/>
            </p:cNvSpPr>
            <p:nvPr/>
          </p:nvSpPr>
          <p:spPr bwMode="auto">
            <a:xfrm>
              <a:off x="2688" y="1536"/>
              <a:ext cx="288" cy="192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6" name="Line 12"/>
            <p:cNvSpPr>
              <a:spLocks noChangeShapeType="1"/>
            </p:cNvSpPr>
            <p:nvPr/>
          </p:nvSpPr>
          <p:spPr bwMode="auto">
            <a:xfrm flipH="1">
              <a:off x="2832" y="1440"/>
              <a:ext cx="56" cy="9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184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 Hardware</a:t>
            </a:r>
          </a:p>
        </p:txBody>
      </p:sp>
      <p:sp>
        <p:nvSpPr>
          <p:cNvPr id="359428" name="Rectangle 4"/>
          <p:cNvSpPr>
            <a:spLocks noGrp="1" noChangeArrowheads="1"/>
          </p:cNvSpPr>
          <p:nvPr>
            <p:ph idx="1"/>
          </p:nvPr>
        </p:nvSpPr>
        <p:spPr>
          <a:xfrm>
            <a:off x="290513" y="1219200"/>
            <a:ext cx="3824287" cy="5213350"/>
          </a:xfrm>
        </p:spPr>
        <p:txBody>
          <a:bodyPr/>
          <a:lstStyle/>
          <a:p>
            <a:pPr lvl="1"/>
            <a:r>
              <a:rPr lang="en-US" sz="1800"/>
              <a:t>Stages occur in sequence</a:t>
            </a:r>
          </a:p>
          <a:p>
            <a:pPr lvl="1"/>
            <a:r>
              <a:rPr lang="en-US" sz="1800"/>
              <a:t>One operation in process at a time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5650" y="98425"/>
            <a:ext cx="4226875" cy="6294368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504017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SEQ+ Hardware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1219200"/>
            <a:ext cx="3824287" cy="5213350"/>
          </a:xfrm>
        </p:spPr>
        <p:txBody>
          <a:bodyPr/>
          <a:lstStyle/>
          <a:p>
            <a:pPr lvl="1"/>
            <a:r>
              <a:rPr lang="en-US" sz="1800"/>
              <a:t>Still sequential implementation</a:t>
            </a:r>
          </a:p>
          <a:p>
            <a:pPr lvl="1"/>
            <a:r>
              <a:rPr lang="en-US" sz="1800"/>
              <a:t>Reorder PC stage to put at beginning</a:t>
            </a:r>
          </a:p>
          <a:p>
            <a:r>
              <a:rPr lang="en-US" sz="2000"/>
              <a:t>PC Stage</a:t>
            </a:r>
          </a:p>
          <a:p>
            <a:pPr lvl="1"/>
            <a:r>
              <a:rPr lang="en-US" sz="1800"/>
              <a:t>Task is to select PC for current instruction</a:t>
            </a:r>
          </a:p>
          <a:p>
            <a:pPr lvl="1"/>
            <a:r>
              <a:rPr lang="en-US" sz="1800"/>
              <a:t>Based on results computed by previous instruction</a:t>
            </a:r>
          </a:p>
          <a:p>
            <a:r>
              <a:rPr lang="en-US" sz="2000"/>
              <a:t>Processor State</a:t>
            </a:r>
          </a:p>
          <a:p>
            <a:pPr lvl="1"/>
            <a:r>
              <a:rPr lang="en-US" sz="1800"/>
              <a:t>PC is no longer stored in register</a:t>
            </a:r>
          </a:p>
          <a:p>
            <a:pPr lvl="1"/>
            <a:r>
              <a:rPr lang="en-US" sz="1800"/>
              <a:t>But, can determine PC based on other stored information</a:t>
            </a:r>
          </a:p>
        </p:txBody>
      </p:sp>
      <p:pic>
        <p:nvPicPr>
          <p:cNvPr id="4116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84700" y="155575"/>
            <a:ext cx="4248150" cy="6534150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351123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0"/>
            <a:ext cx="8704262" cy="779463"/>
          </a:xfrm>
        </p:spPr>
        <p:txBody>
          <a:bodyPr/>
          <a:lstStyle/>
          <a:p>
            <a:r>
              <a:rPr lang="en-US"/>
              <a:t>Adding Pipeline Registers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60590" y="762000"/>
            <a:ext cx="3544709" cy="6013450"/>
            <a:chOff x="4953000" y="152400"/>
            <a:chExt cx="3854450" cy="6538913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6091238" y="5713413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6981825" y="5713413"/>
              <a:ext cx="255588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0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0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132513" y="322263"/>
              <a:ext cx="171450" cy="505301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983288" y="5445125"/>
              <a:ext cx="45145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Instruction</a:t>
              </a:r>
              <a:endParaRPr lang="en-US" sz="1600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032500" y="5564188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635625" y="5386388"/>
              <a:ext cx="1150938" cy="34448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622925" y="5373688"/>
              <a:ext cx="1147763" cy="341312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5969000" y="5430838"/>
              <a:ext cx="45145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Instruction</a:t>
              </a:r>
              <a:endParaRPr lang="en-US" sz="1600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6018213" y="5549900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7054850" y="5445125"/>
              <a:ext cx="13421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6905625" y="5564188"/>
              <a:ext cx="42879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increment</a:t>
              </a:r>
              <a:endParaRPr lang="en-US" sz="160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865938" y="5386388"/>
              <a:ext cx="515937" cy="34448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854825" y="5373688"/>
              <a:ext cx="511175" cy="341312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7040563" y="5430838"/>
              <a:ext cx="13421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6891337" y="5549900"/>
              <a:ext cx="42879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increment</a:t>
              </a:r>
              <a:endParaRPr lang="en-US" sz="1600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6734175" y="2894013"/>
              <a:ext cx="13944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CC</a:t>
              </a:r>
              <a:endParaRPr lang="en-US" sz="1600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6654800" y="2838450"/>
              <a:ext cx="301625" cy="21748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6642100" y="2827338"/>
              <a:ext cx="298450" cy="21272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6719888" y="2879725"/>
              <a:ext cx="13944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CC</a:t>
              </a:r>
              <a:endParaRPr lang="en-US" sz="1600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7261225" y="29575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</a:t>
              </a:r>
              <a:endParaRPr lang="en-US" sz="1600"/>
            </a:p>
          </p:txBody>
        </p:sp>
        <p:grpSp>
          <p:nvGrpSpPr>
            <p:cNvPr id="26" name="Group 25"/>
            <p:cNvGrpSpPr>
              <a:grpSpLocks/>
            </p:cNvGrpSpPr>
            <p:nvPr/>
          </p:nvGrpSpPr>
          <p:grpSpPr bwMode="auto">
            <a:xfrm>
              <a:off x="6981834" y="2870200"/>
              <a:ext cx="736601" cy="268288"/>
              <a:chOff x="4398" y="1808"/>
              <a:chExt cx="464" cy="169"/>
            </a:xfrm>
          </p:grpSpPr>
          <p:sp>
            <p:nvSpPr>
              <p:cNvPr id="178" name="Freeform 26"/>
              <p:cNvSpPr>
                <a:spLocks/>
              </p:cNvSpPr>
              <p:nvPr/>
            </p:nvSpPr>
            <p:spPr bwMode="auto">
              <a:xfrm>
                <a:off x="4407" y="1817"/>
                <a:ext cx="455" cy="160"/>
              </a:xfrm>
              <a:custGeom>
                <a:avLst/>
                <a:gdLst/>
                <a:ahLst/>
                <a:cxnLst>
                  <a:cxn ang="0">
                    <a:pos x="0" y="321"/>
                  </a:cxn>
                  <a:cxn ang="0">
                    <a:pos x="228" y="0"/>
                  </a:cxn>
                  <a:cxn ang="0">
                    <a:pos x="683" y="0"/>
                  </a:cxn>
                  <a:cxn ang="0">
                    <a:pos x="910" y="321"/>
                  </a:cxn>
                  <a:cxn ang="0">
                    <a:pos x="0" y="321"/>
                  </a:cxn>
                </a:cxnLst>
                <a:rect l="0" t="0" r="r" b="b"/>
                <a:pathLst>
                  <a:path w="910" h="321">
                    <a:moveTo>
                      <a:pt x="0" y="321"/>
                    </a:moveTo>
                    <a:lnTo>
                      <a:pt x="228" y="0"/>
                    </a:lnTo>
                    <a:lnTo>
                      <a:pt x="683" y="0"/>
                    </a:lnTo>
                    <a:lnTo>
                      <a:pt x="910" y="321"/>
                    </a:lnTo>
                    <a:lnTo>
                      <a:pt x="0" y="32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9" name="Freeform 27"/>
              <p:cNvSpPr>
                <a:spLocks/>
              </p:cNvSpPr>
              <p:nvPr/>
            </p:nvSpPr>
            <p:spPr bwMode="auto">
              <a:xfrm>
                <a:off x="4398" y="1808"/>
                <a:ext cx="455" cy="160"/>
              </a:xfrm>
              <a:custGeom>
                <a:avLst/>
                <a:gdLst/>
                <a:ahLst/>
                <a:cxnLst>
                  <a:cxn ang="0">
                    <a:pos x="0" y="321"/>
                  </a:cxn>
                  <a:cxn ang="0">
                    <a:pos x="227" y="0"/>
                  </a:cxn>
                  <a:cxn ang="0">
                    <a:pos x="682" y="0"/>
                  </a:cxn>
                  <a:cxn ang="0">
                    <a:pos x="909" y="321"/>
                  </a:cxn>
                  <a:cxn ang="0">
                    <a:pos x="0" y="321"/>
                  </a:cxn>
                </a:cxnLst>
                <a:rect l="0" t="0" r="r" b="b"/>
                <a:pathLst>
                  <a:path w="909" h="321">
                    <a:moveTo>
                      <a:pt x="0" y="321"/>
                    </a:moveTo>
                    <a:lnTo>
                      <a:pt x="227" y="0"/>
                    </a:lnTo>
                    <a:lnTo>
                      <a:pt x="682" y="0"/>
                    </a:lnTo>
                    <a:lnTo>
                      <a:pt x="909" y="321"/>
                    </a:lnTo>
                    <a:lnTo>
                      <a:pt x="0" y="321"/>
                    </a:lnTo>
                    <a:close/>
                  </a:path>
                </a:pathLst>
              </a:custGeom>
              <a:solidFill>
                <a:srgbClr val="CC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7246938" y="294322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</a:t>
              </a:r>
              <a:endParaRPr lang="en-US" sz="1600"/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6934200" y="1519238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Data</a:t>
              </a:r>
              <a:endParaRPr lang="en-US" sz="1600"/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6859588" y="1636714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6738938" y="1438275"/>
              <a:ext cx="600075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6727825" y="1425575"/>
              <a:ext cx="595313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6919913" y="1504950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Data</a:t>
              </a:r>
              <a:endParaRPr lang="en-US" sz="1600"/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6846888" y="1622425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grpSp>
          <p:nvGrpSpPr>
            <p:cNvPr id="34" name="Group 35"/>
            <p:cNvGrpSpPr>
              <a:grpSpLocks/>
            </p:cNvGrpSpPr>
            <p:nvPr/>
          </p:nvGrpSpPr>
          <p:grpSpPr bwMode="auto">
            <a:xfrm>
              <a:off x="6940586" y="2883605"/>
              <a:ext cx="196851" cy="55545"/>
              <a:chOff x="4372" y="1817"/>
              <a:chExt cx="124" cy="35"/>
            </a:xfrm>
          </p:grpSpPr>
          <p:sp>
            <p:nvSpPr>
              <p:cNvPr id="176" name="Line 36"/>
              <p:cNvSpPr>
                <a:spLocks noChangeShapeType="1"/>
              </p:cNvSpPr>
              <p:nvPr/>
            </p:nvSpPr>
            <p:spPr bwMode="auto">
              <a:xfrm flipH="1">
                <a:off x="4405" y="1834"/>
                <a:ext cx="9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7" name="Freeform 37"/>
              <p:cNvSpPr>
                <a:spLocks/>
              </p:cNvSpPr>
              <p:nvPr/>
            </p:nvSpPr>
            <p:spPr bwMode="auto">
              <a:xfrm>
                <a:off x="4372" y="1817"/>
                <a:ext cx="35" cy="35"/>
              </a:xfrm>
              <a:custGeom>
                <a:avLst/>
                <a:gdLst/>
                <a:ahLst/>
                <a:cxnLst>
                  <a:cxn ang="0">
                    <a:pos x="70" y="0"/>
                  </a:cxn>
                  <a:cxn ang="0">
                    <a:pos x="0" y="35"/>
                  </a:cxn>
                  <a:cxn ang="0">
                    <a:pos x="70" y="70"/>
                  </a:cxn>
                  <a:cxn ang="0">
                    <a:pos x="70" y="0"/>
                  </a:cxn>
                </a:cxnLst>
                <a:rect l="0" t="0" r="r" b="b"/>
                <a:pathLst>
                  <a:path w="70" h="70">
                    <a:moveTo>
                      <a:pt x="70" y="0"/>
                    </a:moveTo>
                    <a:lnTo>
                      <a:pt x="0" y="35"/>
                    </a:lnTo>
                    <a:lnTo>
                      <a:pt x="70" y="70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35" name="Rectangle 38"/>
            <p:cNvSpPr>
              <a:spLocks noChangeArrowheads="1"/>
            </p:cNvSpPr>
            <p:nvPr/>
          </p:nvSpPr>
          <p:spPr bwMode="auto">
            <a:xfrm>
              <a:off x="5029200" y="5502275"/>
              <a:ext cx="404813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Rectangle 39"/>
            <p:cNvSpPr>
              <a:spLocks noChangeArrowheads="1"/>
            </p:cNvSpPr>
            <p:nvPr/>
          </p:nvSpPr>
          <p:spPr bwMode="auto">
            <a:xfrm>
              <a:off x="4953000" y="5562600"/>
              <a:ext cx="517694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Fetch</a:t>
              </a:r>
              <a:endParaRPr lang="en-US" sz="1400"/>
            </a:p>
          </p:txBody>
        </p:sp>
        <p:sp>
          <p:nvSpPr>
            <p:cNvPr id="37" name="Rectangle 40"/>
            <p:cNvSpPr>
              <a:spLocks noChangeArrowheads="1"/>
            </p:cNvSpPr>
            <p:nvPr/>
          </p:nvSpPr>
          <p:spPr bwMode="auto">
            <a:xfrm>
              <a:off x="5029200" y="4356100"/>
              <a:ext cx="511175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Rectangle 41"/>
            <p:cNvSpPr>
              <a:spLocks noChangeArrowheads="1"/>
            </p:cNvSpPr>
            <p:nvPr/>
          </p:nvSpPr>
          <p:spPr bwMode="auto">
            <a:xfrm>
              <a:off x="4953000" y="4343400"/>
              <a:ext cx="70246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Decode</a:t>
              </a:r>
              <a:endParaRPr lang="en-US" sz="1400"/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5029200" y="2911475"/>
              <a:ext cx="536575" cy="188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>
              <a:off x="4953000" y="2971800"/>
              <a:ext cx="746036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Execute</a:t>
              </a:r>
              <a:endParaRPr lang="en-US" sz="1400"/>
            </a:p>
          </p:txBody>
        </p:sp>
        <p:sp>
          <p:nvSpPr>
            <p:cNvPr id="41" name="Rectangle 44"/>
            <p:cNvSpPr>
              <a:spLocks noChangeArrowheads="1"/>
            </p:cNvSpPr>
            <p:nvPr/>
          </p:nvSpPr>
          <p:spPr bwMode="auto">
            <a:xfrm>
              <a:off x="5029200" y="1554163"/>
              <a:ext cx="536575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Rectangle 45"/>
            <p:cNvSpPr>
              <a:spLocks noChangeArrowheads="1"/>
            </p:cNvSpPr>
            <p:nvPr/>
          </p:nvSpPr>
          <p:spPr bwMode="auto">
            <a:xfrm>
              <a:off x="4953000" y="1600200"/>
              <a:ext cx="74778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Memory</a:t>
              </a:r>
              <a:endParaRPr lang="en-US" sz="1400"/>
            </a:p>
          </p:txBody>
        </p:sp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5029200" y="746125"/>
              <a:ext cx="676275" cy="188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Rectangle 47"/>
            <p:cNvSpPr>
              <a:spLocks noChangeArrowheads="1"/>
            </p:cNvSpPr>
            <p:nvPr/>
          </p:nvSpPr>
          <p:spPr bwMode="auto">
            <a:xfrm>
              <a:off x="4953000" y="762000"/>
              <a:ext cx="981282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Write back</a:t>
              </a:r>
              <a:endParaRPr lang="en-US" sz="1400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5495925" y="4906963"/>
              <a:ext cx="595313" cy="407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6" name="Rectangle 49"/>
            <p:cNvSpPr>
              <a:spLocks noChangeArrowheads="1"/>
            </p:cNvSpPr>
            <p:nvPr/>
          </p:nvSpPr>
          <p:spPr bwMode="auto">
            <a:xfrm>
              <a:off x="5638800" y="4938713"/>
              <a:ext cx="23183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700" b="0">
                  <a:solidFill>
                    <a:srgbClr val="000000"/>
                  </a:solidFill>
                </a:rPr>
                <a:t>icode</a:t>
              </a:r>
              <a:endParaRPr lang="en-US" sz="700"/>
            </a:p>
          </p:txBody>
        </p:sp>
        <p:sp>
          <p:nvSpPr>
            <p:cNvPr id="47" name="Rectangle 50"/>
            <p:cNvSpPr>
              <a:spLocks noChangeArrowheads="1"/>
            </p:cNvSpPr>
            <p:nvPr/>
          </p:nvSpPr>
          <p:spPr bwMode="auto">
            <a:xfrm>
              <a:off x="5818188" y="4938713"/>
              <a:ext cx="10807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b="0">
                  <a:solidFill>
                    <a:srgbClr val="000000"/>
                  </a:solidFill>
                </a:rPr>
                <a:t>, </a:t>
              </a:r>
              <a:endParaRPr lang="en-US" sz="1400"/>
            </a:p>
          </p:txBody>
        </p:sp>
        <p:sp>
          <p:nvSpPr>
            <p:cNvPr id="48" name="Rectangle 51"/>
            <p:cNvSpPr>
              <a:spLocks noChangeArrowheads="1"/>
            </p:cNvSpPr>
            <p:nvPr/>
          </p:nvSpPr>
          <p:spPr bwMode="auto">
            <a:xfrm>
              <a:off x="5902325" y="4938713"/>
              <a:ext cx="15687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ifun</a:t>
              </a:r>
              <a:endParaRPr lang="en-US" sz="1600"/>
            </a:p>
          </p:txBody>
        </p:sp>
        <p:sp>
          <p:nvSpPr>
            <p:cNvPr id="49" name="Rectangle 52"/>
            <p:cNvSpPr>
              <a:spLocks noChangeArrowheads="1"/>
            </p:cNvSpPr>
            <p:nvPr/>
          </p:nvSpPr>
          <p:spPr bwMode="auto">
            <a:xfrm>
              <a:off x="5757863" y="5057775"/>
              <a:ext cx="9761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700" b="0">
                  <a:solidFill>
                    <a:srgbClr val="000000"/>
                  </a:solidFill>
                </a:rPr>
                <a:t>rA</a:t>
              </a:r>
              <a:endParaRPr lang="en-US" sz="700"/>
            </a:p>
          </p:txBody>
        </p:sp>
        <p:sp>
          <p:nvSpPr>
            <p:cNvPr id="50" name="Rectangle 53"/>
            <p:cNvSpPr>
              <a:spLocks noChangeArrowheads="1"/>
            </p:cNvSpPr>
            <p:nvPr/>
          </p:nvSpPr>
          <p:spPr bwMode="auto">
            <a:xfrm>
              <a:off x="5884863" y="505777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5962650" y="5057775"/>
              <a:ext cx="9761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rB</a:t>
              </a:r>
              <a:endParaRPr lang="en-US" sz="1600"/>
            </a:p>
          </p:txBody>
        </p:sp>
        <p:sp>
          <p:nvSpPr>
            <p:cNvPr id="52" name="Rectangle 55"/>
            <p:cNvSpPr>
              <a:spLocks noChangeArrowheads="1"/>
            </p:cNvSpPr>
            <p:nvPr/>
          </p:nvSpPr>
          <p:spPr bwMode="auto">
            <a:xfrm>
              <a:off x="5864225" y="5175250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valC</a:t>
              </a:r>
              <a:endParaRPr lang="en-US" sz="1600"/>
            </a:p>
          </p:txBody>
        </p:sp>
        <p:sp>
          <p:nvSpPr>
            <p:cNvPr id="53" name="Rectangle 56"/>
            <p:cNvSpPr>
              <a:spLocks noChangeArrowheads="1"/>
            </p:cNvSpPr>
            <p:nvPr/>
          </p:nvSpPr>
          <p:spPr bwMode="auto">
            <a:xfrm>
              <a:off x="7300913" y="4491038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54" name="Rectangle 57"/>
            <p:cNvSpPr>
              <a:spLocks noChangeArrowheads="1"/>
            </p:cNvSpPr>
            <p:nvPr/>
          </p:nvSpPr>
          <p:spPr bwMode="auto">
            <a:xfrm>
              <a:off x="7421563" y="4608514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55" name="Rectangle 58"/>
            <p:cNvSpPr>
              <a:spLocks noChangeArrowheads="1"/>
            </p:cNvSpPr>
            <p:nvPr/>
          </p:nvSpPr>
          <p:spPr bwMode="auto">
            <a:xfrm>
              <a:off x="7205663" y="4410075"/>
              <a:ext cx="557212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6" name="Rectangle 59"/>
            <p:cNvSpPr>
              <a:spLocks noChangeArrowheads="1"/>
            </p:cNvSpPr>
            <p:nvPr/>
          </p:nvSpPr>
          <p:spPr bwMode="auto">
            <a:xfrm>
              <a:off x="7194550" y="4397375"/>
              <a:ext cx="552450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7" name="Rectangle 60"/>
            <p:cNvSpPr>
              <a:spLocks noChangeArrowheads="1"/>
            </p:cNvSpPr>
            <p:nvPr/>
          </p:nvSpPr>
          <p:spPr bwMode="auto">
            <a:xfrm>
              <a:off x="7286624" y="4476750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58" name="Rectangle 61"/>
            <p:cNvSpPr>
              <a:spLocks noChangeArrowheads="1"/>
            </p:cNvSpPr>
            <p:nvPr/>
          </p:nvSpPr>
          <p:spPr bwMode="auto">
            <a:xfrm>
              <a:off x="7407275" y="4594225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59" name="Rectangle 62"/>
            <p:cNvSpPr>
              <a:spLocks noChangeArrowheads="1"/>
            </p:cNvSpPr>
            <p:nvPr/>
          </p:nvSpPr>
          <p:spPr bwMode="auto">
            <a:xfrm>
              <a:off x="7280275" y="43894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0" name="Rectangle 63"/>
            <p:cNvSpPr>
              <a:spLocks noChangeArrowheads="1"/>
            </p:cNvSpPr>
            <p:nvPr/>
          </p:nvSpPr>
          <p:spPr bwMode="auto">
            <a:xfrm>
              <a:off x="7340600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A</a:t>
              </a:r>
              <a:endParaRPr lang="en-US" sz="1600"/>
            </a:p>
          </p:txBody>
        </p:sp>
        <p:sp>
          <p:nvSpPr>
            <p:cNvPr id="61" name="Rectangle 64"/>
            <p:cNvSpPr>
              <a:spLocks noChangeArrowheads="1"/>
            </p:cNvSpPr>
            <p:nvPr/>
          </p:nvSpPr>
          <p:spPr bwMode="auto">
            <a:xfrm>
              <a:off x="7491413" y="4389438"/>
              <a:ext cx="1714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2" name="Rectangle 65"/>
            <p:cNvSpPr>
              <a:spLocks noChangeArrowheads="1"/>
            </p:cNvSpPr>
            <p:nvPr/>
          </p:nvSpPr>
          <p:spPr bwMode="auto">
            <a:xfrm>
              <a:off x="7553325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B</a:t>
              </a:r>
              <a:endParaRPr lang="en-US" sz="1600"/>
            </a:p>
          </p:txBody>
        </p:sp>
        <p:sp>
          <p:nvSpPr>
            <p:cNvPr id="63" name="Rectangle 66"/>
            <p:cNvSpPr>
              <a:spLocks noChangeArrowheads="1"/>
            </p:cNvSpPr>
            <p:nvPr/>
          </p:nvSpPr>
          <p:spPr bwMode="auto">
            <a:xfrm>
              <a:off x="7620000" y="44402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Rectangle 67"/>
            <p:cNvSpPr>
              <a:spLocks noChangeArrowheads="1"/>
            </p:cNvSpPr>
            <p:nvPr/>
          </p:nvSpPr>
          <p:spPr bwMode="auto">
            <a:xfrm>
              <a:off x="7673975" y="4471988"/>
              <a:ext cx="57521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M</a:t>
              </a:r>
              <a:endParaRPr lang="en-US" sz="1600"/>
            </a:p>
          </p:txBody>
        </p:sp>
        <p:sp>
          <p:nvSpPr>
            <p:cNvPr id="65" name="Rectangle 68"/>
            <p:cNvSpPr>
              <a:spLocks noChangeArrowheads="1"/>
            </p:cNvSpPr>
            <p:nvPr/>
          </p:nvSpPr>
          <p:spPr bwMode="auto">
            <a:xfrm>
              <a:off x="7620000" y="4652963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7680325" y="4683125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E</a:t>
              </a:r>
              <a:endParaRPr lang="en-US" sz="1600"/>
            </a:p>
          </p:txBody>
        </p:sp>
        <p:sp>
          <p:nvSpPr>
            <p:cNvPr id="67" name="Rectangle 70"/>
            <p:cNvSpPr>
              <a:spLocks noChangeArrowheads="1"/>
            </p:cNvSpPr>
            <p:nvPr/>
          </p:nvSpPr>
          <p:spPr bwMode="auto">
            <a:xfrm>
              <a:off x="7300913" y="4491038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68" name="Rectangle 71"/>
            <p:cNvSpPr>
              <a:spLocks noChangeArrowheads="1"/>
            </p:cNvSpPr>
            <p:nvPr/>
          </p:nvSpPr>
          <p:spPr bwMode="auto">
            <a:xfrm>
              <a:off x="7421563" y="4608514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69" name="Rectangle 72"/>
            <p:cNvSpPr>
              <a:spLocks noChangeArrowheads="1"/>
            </p:cNvSpPr>
            <p:nvPr/>
          </p:nvSpPr>
          <p:spPr bwMode="auto">
            <a:xfrm>
              <a:off x="7205663" y="4410075"/>
              <a:ext cx="557212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0" name="Rectangle 73"/>
            <p:cNvSpPr>
              <a:spLocks noChangeArrowheads="1"/>
            </p:cNvSpPr>
            <p:nvPr/>
          </p:nvSpPr>
          <p:spPr bwMode="auto">
            <a:xfrm>
              <a:off x="7194550" y="4397375"/>
              <a:ext cx="552450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Rectangle 74"/>
            <p:cNvSpPr>
              <a:spLocks noChangeArrowheads="1"/>
            </p:cNvSpPr>
            <p:nvPr/>
          </p:nvSpPr>
          <p:spPr bwMode="auto">
            <a:xfrm>
              <a:off x="7286624" y="4476750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72" name="Rectangle 75"/>
            <p:cNvSpPr>
              <a:spLocks noChangeArrowheads="1"/>
            </p:cNvSpPr>
            <p:nvPr/>
          </p:nvSpPr>
          <p:spPr bwMode="auto">
            <a:xfrm>
              <a:off x="7407275" y="4594225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73" name="Rectangle 76"/>
            <p:cNvSpPr>
              <a:spLocks noChangeArrowheads="1"/>
            </p:cNvSpPr>
            <p:nvPr/>
          </p:nvSpPr>
          <p:spPr bwMode="auto">
            <a:xfrm>
              <a:off x="7280275" y="43894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4" name="Rectangle 77"/>
            <p:cNvSpPr>
              <a:spLocks noChangeArrowheads="1"/>
            </p:cNvSpPr>
            <p:nvPr/>
          </p:nvSpPr>
          <p:spPr bwMode="auto">
            <a:xfrm>
              <a:off x="7340600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A</a:t>
              </a:r>
              <a:endParaRPr lang="en-US" sz="1600"/>
            </a:p>
          </p:txBody>
        </p:sp>
        <p:sp>
          <p:nvSpPr>
            <p:cNvPr id="75" name="Rectangle 78"/>
            <p:cNvSpPr>
              <a:spLocks noChangeArrowheads="1"/>
            </p:cNvSpPr>
            <p:nvPr/>
          </p:nvSpPr>
          <p:spPr bwMode="auto">
            <a:xfrm>
              <a:off x="7491413" y="4389438"/>
              <a:ext cx="1714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6" name="Rectangle 79"/>
            <p:cNvSpPr>
              <a:spLocks noChangeArrowheads="1"/>
            </p:cNvSpPr>
            <p:nvPr/>
          </p:nvSpPr>
          <p:spPr bwMode="auto">
            <a:xfrm>
              <a:off x="7553325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B</a:t>
              </a:r>
              <a:endParaRPr lang="en-US" sz="1600"/>
            </a:p>
          </p:txBody>
        </p:sp>
        <p:sp>
          <p:nvSpPr>
            <p:cNvPr id="77" name="Rectangle 80"/>
            <p:cNvSpPr>
              <a:spLocks noChangeArrowheads="1"/>
            </p:cNvSpPr>
            <p:nvPr/>
          </p:nvSpPr>
          <p:spPr bwMode="auto">
            <a:xfrm>
              <a:off x="7620000" y="44402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8" name="Rectangle 81"/>
            <p:cNvSpPr>
              <a:spLocks noChangeArrowheads="1"/>
            </p:cNvSpPr>
            <p:nvPr/>
          </p:nvSpPr>
          <p:spPr bwMode="auto">
            <a:xfrm>
              <a:off x="7673975" y="4471988"/>
              <a:ext cx="57521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M</a:t>
              </a:r>
              <a:endParaRPr lang="en-US" sz="1600"/>
            </a:p>
          </p:txBody>
        </p:sp>
        <p:sp>
          <p:nvSpPr>
            <p:cNvPr id="79" name="Rectangle 82"/>
            <p:cNvSpPr>
              <a:spLocks noChangeArrowheads="1"/>
            </p:cNvSpPr>
            <p:nvPr/>
          </p:nvSpPr>
          <p:spPr bwMode="auto">
            <a:xfrm>
              <a:off x="7620000" y="4652963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0" name="Rectangle 83"/>
            <p:cNvSpPr>
              <a:spLocks noChangeArrowheads="1"/>
            </p:cNvSpPr>
            <p:nvPr/>
          </p:nvSpPr>
          <p:spPr bwMode="auto">
            <a:xfrm>
              <a:off x="7680325" y="4683125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E</a:t>
              </a:r>
              <a:endParaRPr lang="en-US" sz="1600"/>
            </a:p>
          </p:txBody>
        </p:sp>
        <p:sp>
          <p:nvSpPr>
            <p:cNvPr id="81" name="Rectangle 84"/>
            <p:cNvSpPr>
              <a:spLocks noChangeArrowheads="1"/>
            </p:cNvSpPr>
            <p:nvPr/>
          </p:nvSpPr>
          <p:spPr bwMode="auto">
            <a:xfrm>
              <a:off x="6005513" y="6138863"/>
              <a:ext cx="425450" cy="212725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2" name="Rectangle 85"/>
            <p:cNvSpPr>
              <a:spLocks noChangeArrowheads="1"/>
            </p:cNvSpPr>
            <p:nvPr/>
          </p:nvSpPr>
          <p:spPr bwMode="auto">
            <a:xfrm>
              <a:off x="6159499" y="6199188"/>
              <a:ext cx="116786" cy="903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grpSp>
          <p:nvGrpSpPr>
            <p:cNvPr id="83" name="Group 86"/>
            <p:cNvGrpSpPr>
              <a:grpSpLocks/>
            </p:cNvGrpSpPr>
            <p:nvPr/>
          </p:nvGrpSpPr>
          <p:grpSpPr bwMode="auto">
            <a:xfrm>
              <a:off x="6302573" y="2890771"/>
              <a:ext cx="346086" cy="42861"/>
              <a:chOff x="3970" y="1821"/>
              <a:chExt cx="218" cy="27"/>
            </a:xfrm>
          </p:grpSpPr>
          <p:sp>
            <p:nvSpPr>
              <p:cNvPr id="160" name="Freeform 87"/>
              <p:cNvSpPr>
                <a:spLocks/>
              </p:cNvSpPr>
              <p:nvPr/>
            </p:nvSpPr>
            <p:spPr bwMode="auto">
              <a:xfrm>
                <a:off x="4181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1" name="Freeform 88"/>
              <p:cNvSpPr>
                <a:spLocks/>
              </p:cNvSpPr>
              <p:nvPr/>
            </p:nvSpPr>
            <p:spPr bwMode="auto">
              <a:xfrm>
                <a:off x="4168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2" name="Freeform 89"/>
              <p:cNvSpPr>
                <a:spLocks/>
              </p:cNvSpPr>
              <p:nvPr/>
            </p:nvSpPr>
            <p:spPr bwMode="auto">
              <a:xfrm>
                <a:off x="4154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3" name="Freeform 90"/>
              <p:cNvSpPr>
                <a:spLocks/>
              </p:cNvSpPr>
              <p:nvPr/>
            </p:nvSpPr>
            <p:spPr bwMode="auto">
              <a:xfrm>
                <a:off x="4141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4" name="Freeform 91"/>
              <p:cNvSpPr>
                <a:spLocks/>
              </p:cNvSpPr>
              <p:nvPr/>
            </p:nvSpPr>
            <p:spPr bwMode="auto">
              <a:xfrm>
                <a:off x="4128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5" name="Freeform 92"/>
              <p:cNvSpPr>
                <a:spLocks/>
              </p:cNvSpPr>
              <p:nvPr/>
            </p:nvSpPr>
            <p:spPr bwMode="auto">
              <a:xfrm>
                <a:off x="411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6" name="Freeform 93"/>
              <p:cNvSpPr>
                <a:spLocks/>
              </p:cNvSpPr>
              <p:nvPr/>
            </p:nvSpPr>
            <p:spPr bwMode="auto">
              <a:xfrm>
                <a:off x="4101" y="1831"/>
                <a:ext cx="6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7" name="Freeform 94"/>
              <p:cNvSpPr>
                <a:spLocks/>
              </p:cNvSpPr>
              <p:nvPr/>
            </p:nvSpPr>
            <p:spPr bwMode="auto">
              <a:xfrm>
                <a:off x="4087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8" name="Freeform 95"/>
              <p:cNvSpPr>
                <a:spLocks/>
              </p:cNvSpPr>
              <p:nvPr/>
            </p:nvSpPr>
            <p:spPr bwMode="auto">
              <a:xfrm>
                <a:off x="407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9" name="Freeform 96"/>
              <p:cNvSpPr>
                <a:spLocks/>
              </p:cNvSpPr>
              <p:nvPr/>
            </p:nvSpPr>
            <p:spPr bwMode="auto">
              <a:xfrm>
                <a:off x="4061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0" name="Freeform 97"/>
              <p:cNvSpPr>
                <a:spLocks/>
              </p:cNvSpPr>
              <p:nvPr/>
            </p:nvSpPr>
            <p:spPr bwMode="auto">
              <a:xfrm>
                <a:off x="4047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1" name="Freeform 98"/>
              <p:cNvSpPr>
                <a:spLocks/>
              </p:cNvSpPr>
              <p:nvPr/>
            </p:nvSpPr>
            <p:spPr bwMode="auto">
              <a:xfrm>
                <a:off x="403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2" name="Freeform 99"/>
              <p:cNvSpPr>
                <a:spLocks/>
              </p:cNvSpPr>
              <p:nvPr/>
            </p:nvSpPr>
            <p:spPr bwMode="auto">
              <a:xfrm>
                <a:off x="4021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3" name="Freeform 100"/>
              <p:cNvSpPr>
                <a:spLocks/>
              </p:cNvSpPr>
              <p:nvPr/>
            </p:nvSpPr>
            <p:spPr bwMode="auto">
              <a:xfrm>
                <a:off x="4007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4" name="Freeform 101"/>
              <p:cNvSpPr>
                <a:spLocks/>
              </p:cNvSpPr>
              <p:nvPr/>
            </p:nvSpPr>
            <p:spPr bwMode="auto">
              <a:xfrm>
                <a:off x="3994" y="1831"/>
                <a:ext cx="6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5" name="Freeform 102"/>
              <p:cNvSpPr>
                <a:spLocks/>
              </p:cNvSpPr>
              <p:nvPr/>
            </p:nvSpPr>
            <p:spPr bwMode="auto">
              <a:xfrm>
                <a:off x="3970" y="1821"/>
                <a:ext cx="28" cy="27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0" y="27"/>
                  </a:cxn>
                  <a:cxn ang="0">
                    <a:pos x="55" y="55"/>
                  </a:cxn>
                  <a:cxn ang="0">
                    <a:pos x="55" y="0"/>
                  </a:cxn>
                </a:cxnLst>
                <a:rect l="0" t="0" r="r" b="b"/>
                <a:pathLst>
                  <a:path w="55" h="55">
                    <a:moveTo>
                      <a:pt x="55" y="0"/>
                    </a:moveTo>
                    <a:lnTo>
                      <a:pt x="0" y="27"/>
                    </a:lnTo>
                    <a:lnTo>
                      <a:pt x="55" y="55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84" name="Rectangle 103"/>
            <p:cNvSpPr>
              <a:spLocks noChangeArrowheads="1"/>
            </p:cNvSpPr>
            <p:nvPr/>
          </p:nvSpPr>
          <p:spPr bwMode="auto">
            <a:xfrm>
              <a:off x="7067550" y="5076825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5" name="Rectangle 104"/>
            <p:cNvSpPr>
              <a:spLocks noChangeArrowheads="1"/>
            </p:cNvSpPr>
            <p:nvPr/>
          </p:nvSpPr>
          <p:spPr bwMode="auto">
            <a:xfrm>
              <a:off x="6388100" y="5076825"/>
              <a:ext cx="765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6" name="Freeform 105"/>
            <p:cNvSpPr>
              <a:spLocks/>
            </p:cNvSpPr>
            <p:nvPr/>
          </p:nvSpPr>
          <p:spPr bwMode="auto">
            <a:xfrm>
              <a:off x="6302375" y="4992688"/>
              <a:ext cx="169863" cy="254000"/>
            </a:xfrm>
            <a:custGeom>
              <a:avLst/>
              <a:gdLst/>
              <a:ahLst/>
              <a:cxnLst>
                <a:cxn ang="0">
                  <a:pos x="214" y="320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0"/>
                </a:cxn>
              </a:cxnLst>
              <a:rect l="0" t="0" r="r" b="b"/>
              <a:pathLst>
                <a:path w="214" h="320">
                  <a:moveTo>
                    <a:pt x="214" y="320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7" name="Rectangle 106"/>
            <p:cNvSpPr>
              <a:spLocks noChangeArrowheads="1"/>
            </p:cNvSpPr>
            <p:nvPr/>
          </p:nvSpPr>
          <p:spPr bwMode="auto">
            <a:xfrm>
              <a:off x="6472238" y="4906963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8" name="Rectangle 107"/>
            <p:cNvSpPr>
              <a:spLocks noChangeArrowheads="1"/>
            </p:cNvSpPr>
            <p:nvPr/>
          </p:nvSpPr>
          <p:spPr bwMode="auto">
            <a:xfrm>
              <a:off x="6886575" y="49387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valP</a:t>
              </a:r>
              <a:endParaRPr lang="en-US" sz="1600"/>
            </a:p>
          </p:txBody>
        </p:sp>
        <p:sp>
          <p:nvSpPr>
            <p:cNvPr id="89" name="Rectangle 108"/>
            <p:cNvSpPr>
              <a:spLocks noChangeArrowheads="1"/>
            </p:cNvSpPr>
            <p:nvPr/>
          </p:nvSpPr>
          <p:spPr bwMode="auto">
            <a:xfrm>
              <a:off x="6302375" y="4567238"/>
              <a:ext cx="765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0" name="Freeform 109"/>
            <p:cNvSpPr>
              <a:spLocks/>
            </p:cNvSpPr>
            <p:nvPr/>
          </p:nvSpPr>
          <p:spPr bwMode="auto">
            <a:xfrm>
              <a:off x="7024688" y="4483100"/>
              <a:ext cx="169862" cy="254000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214" y="160"/>
                </a:cxn>
                <a:cxn ang="0">
                  <a:pos x="0" y="0"/>
                </a:cxn>
                <a:cxn ang="0">
                  <a:pos x="0" y="321"/>
                </a:cxn>
              </a:cxnLst>
              <a:rect l="0" t="0" r="r" b="b"/>
              <a:pathLst>
                <a:path w="214" h="321">
                  <a:moveTo>
                    <a:pt x="0" y="321"/>
                  </a:moveTo>
                  <a:lnTo>
                    <a:pt x="214" y="160"/>
                  </a:lnTo>
                  <a:lnTo>
                    <a:pt x="0" y="0"/>
                  </a:lnTo>
                  <a:lnTo>
                    <a:pt x="0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1" name="Rectangle 110"/>
            <p:cNvSpPr>
              <a:spLocks noChangeArrowheads="1"/>
            </p:cNvSpPr>
            <p:nvPr/>
          </p:nvSpPr>
          <p:spPr bwMode="auto">
            <a:xfrm>
              <a:off x="6345238" y="4270375"/>
              <a:ext cx="595312" cy="288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2" name="Rectangle 111"/>
            <p:cNvSpPr>
              <a:spLocks noChangeArrowheads="1"/>
            </p:cNvSpPr>
            <p:nvPr/>
          </p:nvSpPr>
          <p:spPr bwMode="auto">
            <a:xfrm>
              <a:off x="6418263" y="4302125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srcA</a:t>
              </a:r>
              <a:endParaRPr lang="en-US" sz="1600"/>
            </a:p>
          </p:txBody>
        </p:sp>
        <p:sp>
          <p:nvSpPr>
            <p:cNvPr id="93" name="Rectangle 112"/>
            <p:cNvSpPr>
              <a:spLocks noChangeArrowheads="1"/>
            </p:cNvSpPr>
            <p:nvPr/>
          </p:nvSpPr>
          <p:spPr bwMode="auto">
            <a:xfrm>
              <a:off x="6594475" y="430212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94" name="Rectangle 113"/>
            <p:cNvSpPr>
              <a:spLocks noChangeArrowheads="1"/>
            </p:cNvSpPr>
            <p:nvPr/>
          </p:nvSpPr>
          <p:spPr bwMode="auto">
            <a:xfrm>
              <a:off x="6672263" y="4302125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srcB</a:t>
              </a:r>
              <a:endParaRPr lang="en-US" sz="1600"/>
            </a:p>
          </p:txBody>
        </p:sp>
        <p:sp>
          <p:nvSpPr>
            <p:cNvPr id="95" name="Rectangle 114"/>
            <p:cNvSpPr>
              <a:spLocks noChangeArrowheads="1"/>
            </p:cNvSpPr>
            <p:nvPr/>
          </p:nvSpPr>
          <p:spPr bwMode="auto">
            <a:xfrm>
              <a:off x="6418263" y="4421188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dstA</a:t>
              </a:r>
              <a:endParaRPr lang="en-US" sz="1600"/>
            </a:p>
          </p:txBody>
        </p:sp>
        <p:sp>
          <p:nvSpPr>
            <p:cNvPr id="96" name="Rectangle 115"/>
            <p:cNvSpPr>
              <a:spLocks noChangeArrowheads="1"/>
            </p:cNvSpPr>
            <p:nvPr/>
          </p:nvSpPr>
          <p:spPr bwMode="auto">
            <a:xfrm>
              <a:off x="6594475" y="4421188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97" name="Rectangle 116"/>
            <p:cNvSpPr>
              <a:spLocks noChangeArrowheads="1"/>
            </p:cNvSpPr>
            <p:nvPr/>
          </p:nvSpPr>
          <p:spPr bwMode="auto">
            <a:xfrm>
              <a:off x="6672263" y="4421188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dstB</a:t>
              </a:r>
              <a:endParaRPr lang="en-US" sz="1600"/>
            </a:p>
          </p:txBody>
        </p:sp>
        <p:sp>
          <p:nvSpPr>
            <p:cNvPr id="98" name="Rectangle 117"/>
            <p:cNvSpPr>
              <a:spLocks noChangeArrowheads="1"/>
            </p:cNvSpPr>
            <p:nvPr/>
          </p:nvSpPr>
          <p:spPr bwMode="auto">
            <a:xfrm>
              <a:off x="7407275" y="4057650"/>
              <a:ext cx="85725" cy="34131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9" name="Rectangle 118"/>
            <p:cNvSpPr>
              <a:spLocks noChangeArrowheads="1"/>
            </p:cNvSpPr>
            <p:nvPr/>
          </p:nvSpPr>
          <p:spPr bwMode="auto">
            <a:xfrm>
              <a:off x="6472238" y="4057650"/>
              <a:ext cx="1020762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0" name="Freeform 119"/>
            <p:cNvSpPr>
              <a:spLocks/>
            </p:cNvSpPr>
            <p:nvPr/>
          </p:nvSpPr>
          <p:spPr bwMode="auto">
            <a:xfrm>
              <a:off x="6302375" y="3973513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1" name="Rectangle 120"/>
            <p:cNvSpPr>
              <a:spLocks noChangeArrowheads="1"/>
            </p:cNvSpPr>
            <p:nvPr/>
          </p:nvSpPr>
          <p:spPr bwMode="auto">
            <a:xfrm>
              <a:off x="6811963" y="384651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2" name="Rectangle 121"/>
            <p:cNvSpPr>
              <a:spLocks noChangeArrowheads="1"/>
            </p:cNvSpPr>
            <p:nvPr/>
          </p:nvSpPr>
          <p:spPr bwMode="auto">
            <a:xfrm>
              <a:off x="6980239" y="38766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valA</a:t>
              </a:r>
              <a:endParaRPr lang="en-US" sz="1600"/>
            </a:p>
          </p:txBody>
        </p:sp>
        <p:sp>
          <p:nvSpPr>
            <p:cNvPr id="103" name="Rectangle 122"/>
            <p:cNvSpPr>
              <a:spLocks noChangeArrowheads="1"/>
            </p:cNvSpPr>
            <p:nvPr/>
          </p:nvSpPr>
          <p:spPr bwMode="auto">
            <a:xfrm>
              <a:off x="7151688" y="387667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04" name="Rectangle 123"/>
            <p:cNvSpPr>
              <a:spLocks noChangeArrowheads="1"/>
            </p:cNvSpPr>
            <p:nvPr/>
          </p:nvSpPr>
          <p:spPr bwMode="auto">
            <a:xfrm>
              <a:off x="7226300" y="38766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valB</a:t>
              </a:r>
              <a:endParaRPr lang="en-US" sz="1600"/>
            </a:p>
          </p:txBody>
        </p:sp>
        <p:sp>
          <p:nvSpPr>
            <p:cNvPr id="105" name="Rectangle 124"/>
            <p:cNvSpPr>
              <a:spLocks noChangeArrowheads="1"/>
            </p:cNvSpPr>
            <p:nvPr/>
          </p:nvSpPr>
          <p:spPr bwMode="auto">
            <a:xfrm>
              <a:off x="6302375" y="3379788"/>
              <a:ext cx="106362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6" name="Rectangle 125"/>
            <p:cNvSpPr>
              <a:spLocks noChangeArrowheads="1"/>
            </p:cNvSpPr>
            <p:nvPr/>
          </p:nvSpPr>
          <p:spPr bwMode="auto">
            <a:xfrm>
              <a:off x="7280275" y="3294063"/>
              <a:ext cx="85725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7" name="Freeform 126"/>
            <p:cNvSpPr>
              <a:spLocks/>
            </p:cNvSpPr>
            <p:nvPr/>
          </p:nvSpPr>
          <p:spPr bwMode="auto">
            <a:xfrm>
              <a:off x="7194550" y="3124200"/>
              <a:ext cx="255588" cy="169863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8" name="Rectangle 127"/>
            <p:cNvSpPr>
              <a:spLocks noChangeArrowheads="1"/>
            </p:cNvSpPr>
            <p:nvPr/>
          </p:nvSpPr>
          <p:spPr bwMode="auto">
            <a:xfrm>
              <a:off x="6345238" y="316706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9" name="Rectangle 128"/>
            <p:cNvSpPr>
              <a:spLocks noChangeArrowheads="1"/>
            </p:cNvSpPr>
            <p:nvPr/>
          </p:nvSpPr>
          <p:spPr bwMode="auto">
            <a:xfrm>
              <a:off x="6418263" y="3198813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aluA</a:t>
              </a:r>
              <a:endParaRPr lang="en-US" sz="1600"/>
            </a:p>
          </p:txBody>
        </p:sp>
        <p:sp>
          <p:nvSpPr>
            <p:cNvPr id="110" name="Rectangle 129"/>
            <p:cNvSpPr>
              <a:spLocks noChangeArrowheads="1"/>
            </p:cNvSpPr>
            <p:nvPr/>
          </p:nvSpPr>
          <p:spPr bwMode="auto">
            <a:xfrm>
              <a:off x="6594475" y="3198813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11" name="Rectangle 130"/>
            <p:cNvSpPr>
              <a:spLocks noChangeArrowheads="1"/>
            </p:cNvSpPr>
            <p:nvPr/>
          </p:nvSpPr>
          <p:spPr bwMode="auto">
            <a:xfrm>
              <a:off x="6672263" y="3198813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aluB</a:t>
              </a:r>
              <a:endParaRPr lang="en-US" sz="1600"/>
            </a:p>
          </p:txBody>
        </p:sp>
        <p:sp>
          <p:nvSpPr>
            <p:cNvPr id="112" name="Rectangle 131"/>
            <p:cNvSpPr>
              <a:spLocks noChangeArrowheads="1"/>
            </p:cNvSpPr>
            <p:nvPr/>
          </p:nvSpPr>
          <p:spPr bwMode="auto">
            <a:xfrm>
              <a:off x="6345238" y="2954338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3" name="Rectangle 132"/>
            <p:cNvSpPr>
              <a:spLocks noChangeArrowheads="1"/>
            </p:cNvSpPr>
            <p:nvPr/>
          </p:nvSpPr>
          <p:spPr bwMode="auto">
            <a:xfrm>
              <a:off x="6396038" y="2986088"/>
              <a:ext cx="17779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 dirty="0" err="1">
                  <a:solidFill>
                    <a:srgbClr val="000000"/>
                  </a:solidFill>
                </a:rPr>
                <a:t>Cnd</a:t>
              </a:r>
              <a:endParaRPr lang="en-US" sz="1600" dirty="0"/>
            </a:p>
          </p:txBody>
        </p:sp>
        <p:sp>
          <p:nvSpPr>
            <p:cNvPr id="114" name="Rectangle 133"/>
            <p:cNvSpPr>
              <a:spLocks noChangeArrowheads="1"/>
            </p:cNvSpPr>
            <p:nvPr/>
          </p:nvSpPr>
          <p:spPr bwMode="auto">
            <a:xfrm>
              <a:off x="7280275" y="2571750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5" name="Rectangle 134"/>
            <p:cNvSpPr>
              <a:spLocks noChangeArrowheads="1"/>
            </p:cNvSpPr>
            <p:nvPr/>
          </p:nvSpPr>
          <p:spPr bwMode="auto">
            <a:xfrm>
              <a:off x="6430963" y="2571750"/>
              <a:ext cx="935037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6" name="Freeform 135"/>
            <p:cNvSpPr>
              <a:spLocks/>
            </p:cNvSpPr>
            <p:nvPr/>
          </p:nvSpPr>
          <p:spPr bwMode="auto">
            <a:xfrm>
              <a:off x="6302375" y="2487613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7" name="Rectangle 136"/>
            <p:cNvSpPr>
              <a:spLocks noChangeArrowheads="1"/>
            </p:cNvSpPr>
            <p:nvPr/>
          </p:nvSpPr>
          <p:spPr bwMode="auto">
            <a:xfrm>
              <a:off x="6684963" y="236061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8" name="Rectangle 137"/>
            <p:cNvSpPr>
              <a:spLocks noChangeArrowheads="1"/>
            </p:cNvSpPr>
            <p:nvPr/>
          </p:nvSpPr>
          <p:spPr bwMode="auto">
            <a:xfrm>
              <a:off x="7099300" y="23907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valE</a:t>
              </a:r>
              <a:endParaRPr lang="en-US" sz="1600"/>
            </a:p>
          </p:txBody>
        </p:sp>
        <p:sp>
          <p:nvSpPr>
            <p:cNvPr id="119" name="Rectangle 138"/>
            <p:cNvSpPr>
              <a:spLocks noChangeArrowheads="1"/>
            </p:cNvSpPr>
            <p:nvPr/>
          </p:nvSpPr>
          <p:spPr bwMode="auto">
            <a:xfrm>
              <a:off x="7916863" y="4567238"/>
              <a:ext cx="468312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0" name="Freeform 139"/>
            <p:cNvSpPr>
              <a:spLocks/>
            </p:cNvSpPr>
            <p:nvPr/>
          </p:nvSpPr>
          <p:spPr bwMode="auto">
            <a:xfrm>
              <a:off x="7747000" y="4483100"/>
              <a:ext cx="169863" cy="254000"/>
            </a:xfrm>
            <a:custGeom>
              <a:avLst/>
              <a:gdLst/>
              <a:ahLst/>
              <a:cxnLst>
                <a:cxn ang="0">
                  <a:pos x="213" y="321"/>
                </a:cxn>
                <a:cxn ang="0">
                  <a:pos x="0" y="160"/>
                </a:cxn>
                <a:cxn ang="0">
                  <a:pos x="213" y="0"/>
                </a:cxn>
                <a:cxn ang="0">
                  <a:pos x="213" y="321"/>
                </a:cxn>
              </a:cxnLst>
              <a:rect l="0" t="0" r="r" b="b"/>
              <a:pathLst>
                <a:path w="213" h="321">
                  <a:moveTo>
                    <a:pt x="213" y="321"/>
                  </a:moveTo>
                  <a:lnTo>
                    <a:pt x="0" y="160"/>
                  </a:lnTo>
                  <a:lnTo>
                    <a:pt x="213" y="0"/>
                  </a:lnTo>
                  <a:lnTo>
                    <a:pt x="213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1" name="Rectangle 140"/>
            <p:cNvSpPr>
              <a:spLocks noChangeArrowheads="1"/>
            </p:cNvSpPr>
            <p:nvPr/>
          </p:nvSpPr>
          <p:spPr bwMode="auto">
            <a:xfrm>
              <a:off x="8213725" y="874713"/>
              <a:ext cx="171450" cy="37782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2" name="Rectangle 141"/>
            <p:cNvSpPr>
              <a:spLocks noChangeArrowheads="1"/>
            </p:cNvSpPr>
            <p:nvPr/>
          </p:nvSpPr>
          <p:spPr bwMode="auto">
            <a:xfrm>
              <a:off x="6132513" y="746125"/>
              <a:ext cx="2252662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3" name="Rectangle 142"/>
            <p:cNvSpPr>
              <a:spLocks noChangeArrowheads="1"/>
            </p:cNvSpPr>
            <p:nvPr/>
          </p:nvSpPr>
          <p:spPr bwMode="auto">
            <a:xfrm>
              <a:off x="6218238" y="6605588"/>
              <a:ext cx="2463800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" name="Rectangle 143"/>
            <p:cNvSpPr>
              <a:spLocks noChangeArrowheads="1"/>
            </p:cNvSpPr>
            <p:nvPr/>
          </p:nvSpPr>
          <p:spPr bwMode="auto">
            <a:xfrm>
              <a:off x="6175375" y="6521450"/>
              <a:ext cx="85725" cy="16986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5" name="Freeform 144"/>
            <p:cNvSpPr>
              <a:spLocks/>
            </p:cNvSpPr>
            <p:nvPr/>
          </p:nvSpPr>
          <p:spPr bwMode="auto">
            <a:xfrm>
              <a:off x="6091238" y="6351588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6" name="Rectangle 145"/>
            <p:cNvSpPr>
              <a:spLocks noChangeArrowheads="1"/>
            </p:cNvSpPr>
            <p:nvPr/>
          </p:nvSpPr>
          <p:spPr bwMode="auto">
            <a:xfrm>
              <a:off x="6302375" y="2105025"/>
              <a:ext cx="808038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7" name="Rectangle 146"/>
            <p:cNvSpPr>
              <a:spLocks noChangeArrowheads="1"/>
            </p:cNvSpPr>
            <p:nvPr/>
          </p:nvSpPr>
          <p:spPr bwMode="auto">
            <a:xfrm>
              <a:off x="7024688" y="1978025"/>
              <a:ext cx="85725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8" name="Freeform 147"/>
            <p:cNvSpPr>
              <a:spLocks/>
            </p:cNvSpPr>
            <p:nvPr/>
          </p:nvSpPr>
          <p:spPr bwMode="auto">
            <a:xfrm>
              <a:off x="6940550" y="1808163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9" name="Rectangle 148"/>
            <p:cNvSpPr>
              <a:spLocks noChangeArrowheads="1"/>
            </p:cNvSpPr>
            <p:nvPr/>
          </p:nvSpPr>
          <p:spPr bwMode="auto">
            <a:xfrm>
              <a:off x="6302375" y="1892300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0" name="Rectangle 149"/>
            <p:cNvSpPr>
              <a:spLocks noChangeArrowheads="1"/>
            </p:cNvSpPr>
            <p:nvPr/>
          </p:nvSpPr>
          <p:spPr bwMode="auto">
            <a:xfrm>
              <a:off x="6376988" y="1924050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Addr</a:t>
              </a:r>
              <a:endParaRPr lang="en-US" sz="1600"/>
            </a:p>
          </p:txBody>
        </p:sp>
        <p:sp>
          <p:nvSpPr>
            <p:cNvPr id="131" name="Rectangle 150"/>
            <p:cNvSpPr>
              <a:spLocks noChangeArrowheads="1"/>
            </p:cNvSpPr>
            <p:nvPr/>
          </p:nvSpPr>
          <p:spPr bwMode="auto">
            <a:xfrm>
              <a:off x="6562725" y="1924050"/>
              <a:ext cx="26146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Data</a:t>
              </a:r>
              <a:endParaRPr lang="en-US" sz="1600"/>
            </a:p>
          </p:txBody>
        </p:sp>
        <p:sp>
          <p:nvSpPr>
            <p:cNvPr id="132" name="Rectangle 151"/>
            <p:cNvSpPr>
              <a:spLocks noChangeArrowheads="1"/>
            </p:cNvSpPr>
            <p:nvPr/>
          </p:nvSpPr>
          <p:spPr bwMode="auto">
            <a:xfrm>
              <a:off x="7024688" y="1128713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3" name="Rectangle 152"/>
            <p:cNvSpPr>
              <a:spLocks noChangeArrowheads="1"/>
            </p:cNvSpPr>
            <p:nvPr/>
          </p:nvSpPr>
          <p:spPr bwMode="auto">
            <a:xfrm>
              <a:off x="6472238" y="1128713"/>
              <a:ext cx="638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4" name="Freeform 153"/>
            <p:cNvSpPr>
              <a:spLocks/>
            </p:cNvSpPr>
            <p:nvPr/>
          </p:nvSpPr>
          <p:spPr bwMode="auto">
            <a:xfrm>
              <a:off x="6302375" y="1044575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1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1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5" name="Rectangle 154"/>
            <p:cNvSpPr>
              <a:spLocks noChangeArrowheads="1"/>
            </p:cNvSpPr>
            <p:nvPr/>
          </p:nvSpPr>
          <p:spPr bwMode="auto">
            <a:xfrm>
              <a:off x="6430963" y="915988"/>
              <a:ext cx="636587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6" name="Rectangle 155"/>
            <p:cNvSpPr>
              <a:spLocks noChangeArrowheads="1"/>
            </p:cNvSpPr>
            <p:nvPr/>
          </p:nvSpPr>
          <p:spPr bwMode="auto">
            <a:xfrm>
              <a:off x="6829425" y="947738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valM</a:t>
              </a:r>
              <a:endParaRPr lang="en-US" sz="1600"/>
            </a:p>
          </p:txBody>
        </p:sp>
        <p:sp>
          <p:nvSpPr>
            <p:cNvPr id="137" name="Rectangle 156"/>
            <p:cNvSpPr>
              <a:spLocks noChangeArrowheads="1"/>
            </p:cNvSpPr>
            <p:nvPr/>
          </p:nvSpPr>
          <p:spPr bwMode="auto">
            <a:xfrm>
              <a:off x="8596313" y="322263"/>
              <a:ext cx="85725" cy="63690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8" name="Freeform 157"/>
            <p:cNvSpPr>
              <a:spLocks/>
            </p:cNvSpPr>
            <p:nvPr/>
          </p:nvSpPr>
          <p:spPr bwMode="auto">
            <a:xfrm>
              <a:off x="5962650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9" name="Freeform 158"/>
            <p:cNvSpPr>
              <a:spLocks/>
            </p:cNvSpPr>
            <p:nvPr/>
          </p:nvSpPr>
          <p:spPr bwMode="auto">
            <a:xfrm>
              <a:off x="6132513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0" name="Freeform 159"/>
            <p:cNvSpPr>
              <a:spLocks/>
            </p:cNvSpPr>
            <p:nvPr/>
          </p:nvSpPr>
          <p:spPr bwMode="auto">
            <a:xfrm>
              <a:off x="5962650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1" name="Freeform 160"/>
            <p:cNvSpPr>
              <a:spLocks/>
            </p:cNvSpPr>
            <p:nvPr/>
          </p:nvSpPr>
          <p:spPr bwMode="auto">
            <a:xfrm>
              <a:off x="6132513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2" name="Freeform 161"/>
            <p:cNvSpPr>
              <a:spLocks/>
            </p:cNvSpPr>
            <p:nvPr/>
          </p:nvSpPr>
          <p:spPr bwMode="auto">
            <a:xfrm>
              <a:off x="8043863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3" name="Freeform 162"/>
            <p:cNvSpPr>
              <a:spLocks/>
            </p:cNvSpPr>
            <p:nvPr/>
          </p:nvSpPr>
          <p:spPr bwMode="auto">
            <a:xfrm>
              <a:off x="8213725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4" name="Freeform 163"/>
            <p:cNvSpPr>
              <a:spLocks/>
            </p:cNvSpPr>
            <p:nvPr/>
          </p:nvSpPr>
          <p:spPr bwMode="auto">
            <a:xfrm>
              <a:off x="8043863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5" name="Freeform 164"/>
            <p:cNvSpPr>
              <a:spLocks/>
            </p:cNvSpPr>
            <p:nvPr/>
          </p:nvSpPr>
          <p:spPr bwMode="auto">
            <a:xfrm>
              <a:off x="8213725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6" name="Rectangle 165"/>
            <p:cNvSpPr>
              <a:spLocks noChangeArrowheads="1"/>
            </p:cNvSpPr>
            <p:nvPr/>
          </p:nvSpPr>
          <p:spPr bwMode="auto">
            <a:xfrm>
              <a:off x="6175375" y="5883275"/>
              <a:ext cx="85725" cy="255588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7" name="Rectangle 166"/>
            <p:cNvSpPr>
              <a:spLocks noChangeArrowheads="1"/>
            </p:cNvSpPr>
            <p:nvPr/>
          </p:nvSpPr>
          <p:spPr bwMode="auto">
            <a:xfrm>
              <a:off x="6261100" y="6011863"/>
              <a:ext cx="892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8" name="Rectangle 167"/>
            <p:cNvSpPr>
              <a:spLocks noChangeArrowheads="1"/>
            </p:cNvSpPr>
            <p:nvPr/>
          </p:nvSpPr>
          <p:spPr bwMode="auto">
            <a:xfrm>
              <a:off x="7067550" y="5883275"/>
              <a:ext cx="85725" cy="21431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9" name="Rectangle 168"/>
            <p:cNvSpPr>
              <a:spLocks noChangeArrowheads="1"/>
            </p:cNvSpPr>
            <p:nvPr/>
          </p:nvSpPr>
          <p:spPr bwMode="auto">
            <a:xfrm>
              <a:off x="5029200" y="236538"/>
              <a:ext cx="260350" cy="188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0" name="Rectangle 169"/>
            <p:cNvSpPr>
              <a:spLocks noChangeArrowheads="1"/>
            </p:cNvSpPr>
            <p:nvPr/>
          </p:nvSpPr>
          <p:spPr bwMode="auto">
            <a:xfrm>
              <a:off x="4953000" y="312738"/>
              <a:ext cx="271919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PC</a:t>
              </a:r>
              <a:endParaRPr lang="en-US" sz="1400"/>
            </a:p>
          </p:txBody>
        </p:sp>
        <p:sp>
          <p:nvSpPr>
            <p:cNvPr id="151" name="Rectangle 170"/>
            <p:cNvSpPr>
              <a:spLocks noChangeArrowheads="1"/>
            </p:cNvSpPr>
            <p:nvPr/>
          </p:nvSpPr>
          <p:spPr bwMode="auto">
            <a:xfrm>
              <a:off x="6302375" y="576263"/>
              <a:ext cx="1487488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2" name="Rectangle 171"/>
            <p:cNvSpPr>
              <a:spLocks noChangeArrowheads="1"/>
            </p:cNvSpPr>
            <p:nvPr/>
          </p:nvSpPr>
          <p:spPr bwMode="auto">
            <a:xfrm>
              <a:off x="6375400" y="6080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valE</a:t>
              </a:r>
              <a:endParaRPr lang="en-US" sz="1600"/>
            </a:p>
          </p:txBody>
        </p:sp>
        <p:sp>
          <p:nvSpPr>
            <p:cNvPr id="153" name="Rectangle 172"/>
            <p:cNvSpPr>
              <a:spLocks noChangeArrowheads="1"/>
            </p:cNvSpPr>
            <p:nvPr/>
          </p:nvSpPr>
          <p:spPr bwMode="auto">
            <a:xfrm>
              <a:off x="6569075" y="608013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54" name="Rectangle 173"/>
            <p:cNvSpPr>
              <a:spLocks noChangeArrowheads="1"/>
            </p:cNvSpPr>
            <p:nvPr/>
          </p:nvSpPr>
          <p:spPr bwMode="auto">
            <a:xfrm>
              <a:off x="6621463" y="608013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valM</a:t>
              </a:r>
              <a:endParaRPr lang="en-US" sz="1600"/>
            </a:p>
          </p:txBody>
        </p:sp>
        <p:sp>
          <p:nvSpPr>
            <p:cNvPr id="155" name="Rectangle 174"/>
            <p:cNvSpPr>
              <a:spLocks noChangeArrowheads="1"/>
            </p:cNvSpPr>
            <p:nvPr/>
          </p:nvSpPr>
          <p:spPr bwMode="auto">
            <a:xfrm>
              <a:off x="6132513" y="322263"/>
              <a:ext cx="254952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6" name="Freeform 175"/>
            <p:cNvSpPr>
              <a:spLocks/>
            </p:cNvSpPr>
            <p:nvPr/>
          </p:nvSpPr>
          <p:spPr bwMode="auto">
            <a:xfrm>
              <a:off x="8467725" y="3590925"/>
              <a:ext cx="255588" cy="169863"/>
            </a:xfrm>
            <a:custGeom>
              <a:avLst/>
              <a:gdLst/>
              <a:ahLst/>
              <a:cxnLst>
                <a:cxn ang="0">
                  <a:pos x="321" y="0"/>
                </a:cxn>
                <a:cxn ang="0">
                  <a:pos x="160" y="214"/>
                </a:cxn>
                <a:cxn ang="0">
                  <a:pos x="0" y="0"/>
                </a:cxn>
                <a:cxn ang="0">
                  <a:pos x="321" y="0"/>
                </a:cxn>
              </a:cxnLst>
              <a:rect l="0" t="0" r="r" b="b"/>
              <a:pathLst>
                <a:path w="321" h="214">
                  <a:moveTo>
                    <a:pt x="321" y="0"/>
                  </a:moveTo>
                  <a:lnTo>
                    <a:pt x="160" y="214"/>
                  </a:lnTo>
                  <a:lnTo>
                    <a:pt x="0" y="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7" name="Freeform 176"/>
            <p:cNvSpPr>
              <a:spLocks/>
            </p:cNvSpPr>
            <p:nvPr/>
          </p:nvSpPr>
          <p:spPr bwMode="auto">
            <a:xfrm>
              <a:off x="8553450" y="3590925"/>
              <a:ext cx="254000" cy="169863"/>
            </a:xfrm>
            <a:custGeom>
              <a:avLst/>
              <a:gdLst/>
              <a:ahLst/>
              <a:cxnLst>
                <a:cxn ang="0">
                  <a:pos x="321" y="0"/>
                </a:cxn>
                <a:cxn ang="0">
                  <a:pos x="160" y="214"/>
                </a:cxn>
                <a:cxn ang="0">
                  <a:pos x="0" y="0"/>
                </a:cxn>
                <a:cxn ang="0">
                  <a:pos x="321" y="0"/>
                </a:cxn>
              </a:cxnLst>
              <a:rect l="0" t="0" r="r" b="b"/>
              <a:pathLst>
                <a:path w="321" h="214">
                  <a:moveTo>
                    <a:pt x="321" y="0"/>
                  </a:moveTo>
                  <a:lnTo>
                    <a:pt x="160" y="214"/>
                  </a:lnTo>
                  <a:lnTo>
                    <a:pt x="0" y="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8" name="Rectangle 177"/>
            <p:cNvSpPr>
              <a:spLocks noChangeArrowheads="1"/>
            </p:cNvSpPr>
            <p:nvPr/>
          </p:nvSpPr>
          <p:spPr bwMode="auto">
            <a:xfrm>
              <a:off x="6302375" y="152400"/>
              <a:ext cx="1487488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9" name="Rectangle 178"/>
            <p:cNvSpPr>
              <a:spLocks noChangeArrowheads="1"/>
            </p:cNvSpPr>
            <p:nvPr/>
          </p:nvSpPr>
          <p:spPr bwMode="auto">
            <a:xfrm>
              <a:off x="6375400" y="184150"/>
              <a:ext cx="31201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newPC</a:t>
              </a:r>
              <a:endParaRPr lang="en-US" sz="1600"/>
            </a:p>
          </p:txBody>
        </p:sp>
      </p:grpSp>
      <p:pic>
        <p:nvPicPr>
          <p:cNvPr id="412760" name="Picture 8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24174" y="739774"/>
            <a:ext cx="4284876" cy="610552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832312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Stages</a:t>
            </a:r>
          </a:p>
        </p:txBody>
      </p:sp>
      <p:sp>
        <p:nvSpPr>
          <p:cNvPr id="414725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4191000" cy="5213350"/>
          </a:xfrm>
        </p:spPr>
        <p:txBody>
          <a:bodyPr/>
          <a:lstStyle/>
          <a:p>
            <a:r>
              <a:rPr lang="en-US"/>
              <a:t>Fetch</a:t>
            </a:r>
          </a:p>
          <a:p>
            <a:pPr lvl="1"/>
            <a:r>
              <a:rPr lang="en-US"/>
              <a:t>Select current PC</a:t>
            </a:r>
          </a:p>
          <a:p>
            <a:pPr lvl="1"/>
            <a:r>
              <a:rPr lang="en-US"/>
              <a:t>Read instruction</a:t>
            </a:r>
          </a:p>
          <a:p>
            <a:pPr lvl="1"/>
            <a:r>
              <a:rPr lang="en-US"/>
              <a:t>Compute incremented PC</a:t>
            </a:r>
          </a:p>
          <a:p>
            <a:r>
              <a:rPr lang="en-US"/>
              <a:t>Decode</a:t>
            </a:r>
          </a:p>
          <a:p>
            <a:pPr lvl="1"/>
            <a:r>
              <a:rPr lang="en-US"/>
              <a:t>Read program registers</a:t>
            </a:r>
          </a:p>
          <a:p>
            <a:r>
              <a:rPr lang="en-US"/>
              <a:t>Execute</a:t>
            </a:r>
          </a:p>
          <a:p>
            <a:pPr lvl="1"/>
            <a:r>
              <a:rPr lang="en-US"/>
              <a:t>Operate ALU</a:t>
            </a:r>
          </a:p>
          <a:p>
            <a:r>
              <a:rPr lang="en-US"/>
              <a:t>Memory</a:t>
            </a:r>
          </a:p>
          <a:p>
            <a:pPr lvl="1"/>
            <a:r>
              <a:rPr lang="en-US"/>
              <a:t>Read or write data memory</a:t>
            </a:r>
          </a:p>
          <a:p>
            <a:r>
              <a:rPr lang="en-US"/>
              <a:t>Write Back</a:t>
            </a:r>
          </a:p>
          <a:p>
            <a:pPr lvl="1"/>
            <a:r>
              <a:rPr lang="en-US"/>
              <a:t>Update register file</a:t>
            </a:r>
          </a:p>
        </p:txBody>
      </p:sp>
      <p:pic>
        <p:nvPicPr>
          <p:cNvPr id="5" name="Picture 8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1850" y="593724"/>
            <a:ext cx="4284876" cy="610552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108102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PIPE- Hardware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1219200"/>
            <a:ext cx="3900487" cy="5213350"/>
          </a:xfrm>
        </p:spPr>
        <p:txBody>
          <a:bodyPr/>
          <a:lstStyle/>
          <a:p>
            <a:pPr lvl="1"/>
            <a:r>
              <a:rPr lang="en-US"/>
              <a:t>Pipeline registers hold intermediate values from instruction execution</a:t>
            </a:r>
          </a:p>
          <a:p>
            <a:r>
              <a:rPr lang="en-US"/>
              <a:t>Forward (Upward) Paths</a:t>
            </a:r>
          </a:p>
          <a:p>
            <a:pPr lvl="1"/>
            <a:r>
              <a:rPr lang="en-US"/>
              <a:t>Values passed from one stage to next</a:t>
            </a:r>
          </a:p>
          <a:p>
            <a:pPr lvl="1"/>
            <a:r>
              <a:rPr lang="en-US"/>
              <a:t>Cannot jump past stages</a:t>
            </a:r>
          </a:p>
          <a:p>
            <a:pPr lvl="2"/>
            <a:r>
              <a:rPr lang="en-US"/>
              <a:t>e.g., valC passes through decode</a:t>
            </a:r>
          </a:p>
        </p:txBody>
      </p:sp>
      <p:pic>
        <p:nvPicPr>
          <p:cNvPr id="4167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9450" y="222250"/>
            <a:ext cx="4495800" cy="6391275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685694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Naming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3" y="1219200"/>
            <a:ext cx="5494337" cy="3651250"/>
          </a:xfrm>
        </p:spPr>
        <p:txBody>
          <a:bodyPr/>
          <a:lstStyle/>
          <a:p>
            <a:r>
              <a:rPr lang="en-US" dirty="0" err="1"/>
              <a:t>S_Field</a:t>
            </a:r>
            <a:endParaRPr lang="en-US" dirty="0"/>
          </a:p>
          <a:p>
            <a:pPr lvl="1"/>
            <a:r>
              <a:rPr lang="en-US" dirty="0"/>
              <a:t>Value of Field held in stage S pipeline register</a:t>
            </a:r>
          </a:p>
          <a:p>
            <a:r>
              <a:rPr lang="en-US" dirty="0" err="1"/>
              <a:t>s_Field</a:t>
            </a:r>
            <a:endParaRPr lang="en-US" dirty="0"/>
          </a:p>
          <a:p>
            <a:pPr lvl="1"/>
            <a:r>
              <a:rPr lang="en-US" dirty="0"/>
              <a:t>Value of Field computed in stage 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7250" y="928687"/>
            <a:ext cx="2114550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55442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Paths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1219200"/>
            <a:ext cx="3900487" cy="5213350"/>
          </a:xfrm>
        </p:spPr>
        <p:txBody>
          <a:bodyPr/>
          <a:lstStyle/>
          <a:p>
            <a:r>
              <a:rPr lang="en-US"/>
              <a:t>Predicted PC</a:t>
            </a:r>
          </a:p>
          <a:p>
            <a:pPr lvl="1"/>
            <a:r>
              <a:rPr lang="en-US"/>
              <a:t>Guess value of next PC</a:t>
            </a:r>
          </a:p>
          <a:p>
            <a:r>
              <a:rPr lang="en-US"/>
              <a:t>Branch information</a:t>
            </a:r>
          </a:p>
          <a:p>
            <a:pPr lvl="1"/>
            <a:r>
              <a:rPr lang="en-US"/>
              <a:t>Jump taken/not-taken</a:t>
            </a:r>
          </a:p>
          <a:p>
            <a:pPr lvl="1"/>
            <a:r>
              <a:rPr lang="en-US"/>
              <a:t>Fall-through or target address</a:t>
            </a:r>
          </a:p>
          <a:p>
            <a:r>
              <a:rPr lang="en-US"/>
              <a:t>Return point</a:t>
            </a:r>
          </a:p>
          <a:p>
            <a:pPr lvl="1"/>
            <a:r>
              <a:rPr lang="en-US"/>
              <a:t>Read from memory</a:t>
            </a:r>
          </a:p>
          <a:p>
            <a:r>
              <a:rPr lang="en-US"/>
              <a:t>Register updates</a:t>
            </a:r>
          </a:p>
          <a:p>
            <a:pPr lvl="1"/>
            <a:r>
              <a:rPr lang="en-US"/>
              <a:t>To register file write ports</a:t>
            </a:r>
          </a:p>
        </p:txBody>
      </p:sp>
      <p:pic>
        <p:nvPicPr>
          <p:cNvPr id="417804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9425" y="217488"/>
            <a:ext cx="4619625" cy="6410325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807840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3328987" cy="971550"/>
          </a:xfrm>
        </p:spPr>
        <p:txBody>
          <a:bodyPr/>
          <a:lstStyle/>
          <a:p>
            <a:r>
              <a:rPr lang="en-US"/>
              <a:t>Predicting the PC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idx="1"/>
          </p:nvPr>
        </p:nvSpPr>
        <p:spPr>
          <a:xfrm>
            <a:off x="298450" y="4641850"/>
            <a:ext cx="8624887" cy="1936750"/>
          </a:xfrm>
        </p:spPr>
        <p:txBody>
          <a:bodyPr/>
          <a:lstStyle/>
          <a:p>
            <a:pPr lvl="1"/>
            <a:r>
              <a:rPr lang="en-US" dirty="0"/>
              <a:t>Start fetch of new instruction after current one has completed fetch stage</a:t>
            </a:r>
          </a:p>
          <a:p>
            <a:pPr lvl="2"/>
            <a:r>
              <a:rPr lang="en-US" dirty="0"/>
              <a:t>Not enough time to reliably determine next instruction</a:t>
            </a:r>
          </a:p>
          <a:p>
            <a:pPr lvl="1"/>
            <a:r>
              <a:rPr lang="en-US" dirty="0"/>
              <a:t>Guess which instruction will follow</a:t>
            </a:r>
          </a:p>
          <a:p>
            <a:pPr lvl="2"/>
            <a:r>
              <a:rPr lang="en-US" dirty="0"/>
              <a:t>Recover if prediction was incorrect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298450"/>
            <a:ext cx="524894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50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Prediction Strategy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Instructions that Don’t Transfer Control</a:t>
            </a:r>
          </a:p>
          <a:p>
            <a:pPr lvl="1"/>
            <a:r>
              <a:rPr lang="en-US"/>
              <a:t>Predict next PC to be valP</a:t>
            </a:r>
          </a:p>
          <a:p>
            <a:pPr lvl="1"/>
            <a:r>
              <a:rPr lang="en-US"/>
              <a:t>Always reliable</a:t>
            </a:r>
          </a:p>
          <a:p>
            <a:r>
              <a:rPr lang="en-US"/>
              <a:t>Call and Unconditional Jumps</a:t>
            </a:r>
          </a:p>
          <a:p>
            <a:pPr lvl="1"/>
            <a:r>
              <a:rPr lang="en-US"/>
              <a:t>Predict next PC to be valC (destination)</a:t>
            </a:r>
          </a:p>
          <a:p>
            <a:pPr lvl="1"/>
            <a:r>
              <a:rPr lang="en-US"/>
              <a:t>Always reliable</a:t>
            </a:r>
          </a:p>
          <a:p>
            <a:r>
              <a:rPr lang="en-US"/>
              <a:t>Conditional Jumps</a:t>
            </a:r>
          </a:p>
          <a:p>
            <a:pPr lvl="1"/>
            <a:r>
              <a:rPr lang="en-US"/>
              <a:t>Predict next PC to be valC (destination)</a:t>
            </a:r>
          </a:p>
          <a:p>
            <a:pPr lvl="1"/>
            <a:r>
              <a:rPr lang="en-US"/>
              <a:t>Only correct if branch is taken</a:t>
            </a:r>
          </a:p>
          <a:p>
            <a:pPr lvl="2"/>
            <a:r>
              <a:rPr lang="en-US"/>
              <a:t>Typically right 60% of time</a:t>
            </a:r>
          </a:p>
          <a:p>
            <a:r>
              <a:rPr lang="en-US"/>
              <a:t>Return Instruction</a:t>
            </a:r>
          </a:p>
          <a:p>
            <a:pPr lvl="1"/>
            <a:r>
              <a:rPr lang="en-US"/>
              <a:t>Don’t try to predict</a:t>
            </a:r>
          </a:p>
        </p:txBody>
      </p:sp>
    </p:spTree>
    <p:extLst>
      <p:ext uri="{BB962C8B-B14F-4D97-AF65-F5344CB8AC3E}">
        <p14:creationId xmlns:p14="http://schemas.microsoft.com/office/powerpoint/2010/main" val="794401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3328988" cy="971550"/>
          </a:xfrm>
        </p:spPr>
        <p:txBody>
          <a:bodyPr/>
          <a:lstStyle/>
          <a:p>
            <a:r>
              <a:rPr lang="en-US"/>
              <a:t>Recovering from PC Misprediction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>
          <a:xfrm>
            <a:off x="146051" y="4343400"/>
            <a:ext cx="8769350" cy="2089150"/>
          </a:xfrm>
        </p:spPr>
        <p:txBody>
          <a:bodyPr/>
          <a:lstStyle/>
          <a:p>
            <a:pPr lvl="1"/>
            <a:r>
              <a:rPr lang="en-US" dirty="0" err="1"/>
              <a:t>Mispredicted</a:t>
            </a:r>
            <a:r>
              <a:rPr lang="en-US" dirty="0"/>
              <a:t> Jump</a:t>
            </a:r>
          </a:p>
          <a:p>
            <a:pPr lvl="2"/>
            <a:r>
              <a:rPr lang="en-US" dirty="0"/>
              <a:t>Will see branch condition flag once instruction reaches memory stage</a:t>
            </a:r>
          </a:p>
          <a:p>
            <a:pPr lvl="2"/>
            <a:r>
              <a:rPr lang="en-US" dirty="0"/>
              <a:t>Can get fall-through PC from </a:t>
            </a:r>
            <a:r>
              <a:rPr lang="en-US" dirty="0" err="1"/>
              <a:t>valA</a:t>
            </a:r>
            <a:r>
              <a:rPr lang="en-US" dirty="0"/>
              <a:t> (value </a:t>
            </a:r>
            <a:r>
              <a:rPr lang="en-US" dirty="0" err="1"/>
              <a:t>M_valA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Return Instruction</a:t>
            </a:r>
          </a:p>
          <a:p>
            <a:pPr lvl="2"/>
            <a:r>
              <a:rPr lang="en-US" dirty="0"/>
              <a:t>Will get return PC when </a:t>
            </a:r>
            <a:r>
              <a:rPr lang="en-US" dirty="0">
                <a:latin typeface="Courier New" pitchFamily="49" charset="0"/>
              </a:rPr>
              <a:t>ret</a:t>
            </a:r>
            <a:r>
              <a:rPr lang="en-US" dirty="0"/>
              <a:t> reaches write-back stage (</a:t>
            </a:r>
            <a:r>
              <a:rPr lang="en-US" dirty="0" err="1"/>
              <a:t>W_valM</a:t>
            </a:r>
            <a:r>
              <a:rPr lang="en-US" dirty="0"/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146050"/>
            <a:ext cx="5248943" cy="434340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 bwMode="auto">
          <a:xfrm>
            <a:off x="7842250" y="222250"/>
            <a:ext cx="685800" cy="4572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706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Demonstration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3505200"/>
            <a:ext cx="3048000" cy="533400"/>
          </a:xfrm>
        </p:spPr>
        <p:txBody>
          <a:bodyPr/>
          <a:lstStyle/>
          <a:p>
            <a:r>
              <a:rPr lang="en-US" sz="1800"/>
              <a:t>File: </a:t>
            </a:r>
            <a:r>
              <a:rPr lang="en-US" sz="1800">
                <a:latin typeface="Courier New" pitchFamily="49" charset="0"/>
              </a:rPr>
              <a:t>demo-basic.ys</a:t>
            </a:r>
          </a:p>
        </p:txBody>
      </p:sp>
      <p:grpSp>
        <p:nvGrpSpPr>
          <p:cNvPr id="421953" name="Group 65"/>
          <p:cNvGrpSpPr>
            <a:grpSpLocks/>
          </p:cNvGrpSpPr>
          <p:nvPr/>
        </p:nvGrpSpPr>
        <p:grpSpPr bwMode="auto">
          <a:xfrm>
            <a:off x="1143000" y="990600"/>
            <a:ext cx="7010400" cy="5486400"/>
            <a:chOff x="336" y="1056"/>
            <a:chExt cx="4416" cy="3456"/>
          </a:xfrm>
        </p:grpSpPr>
        <p:sp>
          <p:nvSpPr>
            <p:cNvPr id="421893" name="Rectangle 5"/>
            <p:cNvSpPr>
              <a:spLocks noChangeArrowheads="1"/>
            </p:cNvSpPr>
            <p:nvPr/>
          </p:nvSpPr>
          <p:spPr bwMode="auto">
            <a:xfrm>
              <a:off x="336" y="1296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 $1,%rax  #I1</a:t>
              </a:r>
            </a:p>
          </p:txBody>
        </p:sp>
        <p:sp>
          <p:nvSpPr>
            <p:cNvPr id="421894" name="Rectangle 6"/>
            <p:cNvSpPr>
              <a:spLocks noChangeArrowheads="1"/>
            </p:cNvSpPr>
            <p:nvPr/>
          </p:nvSpPr>
          <p:spPr bwMode="auto">
            <a:xfrm>
              <a:off x="2160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421895" name="Rectangle 7"/>
            <p:cNvSpPr>
              <a:spLocks noChangeArrowheads="1"/>
            </p:cNvSpPr>
            <p:nvPr/>
          </p:nvSpPr>
          <p:spPr bwMode="auto">
            <a:xfrm>
              <a:off x="2448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421896" name="Rectangle 8"/>
            <p:cNvSpPr>
              <a:spLocks noChangeArrowheads="1"/>
            </p:cNvSpPr>
            <p:nvPr/>
          </p:nvSpPr>
          <p:spPr bwMode="auto">
            <a:xfrm>
              <a:off x="2736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421897" name="Rectangle 9"/>
            <p:cNvSpPr>
              <a:spLocks noChangeArrowheads="1"/>
            </p:cNvSpPr>
            <p:nvPr/>
          </p:nvSpPr>
          <p:spPr bwMode="auto">
            <a:xfrm>
              <a:off x="3024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21898" name="Rectangle 10"/>
            <p:cNvSpPr>
              <a:spLocks noChangeArrowheads="1"/>
            </p:cNvSpPr>
            <p:nvPr/>
          </p:nvSpPr>
          <p:spPr bwMode="auto">
            <a:xfrm>
              <a:off x="3312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21899" name="Rectangle 11"/>
            <p:cNvSpPr>
              <a:spLocks noChangeArrowheads="1"/>
            </p:cNvSpPr>
            <p:nvPr/>
          </p:nvSpPr>
          <p:spPr bwMode="auto">
            <a:xfrm>
              <a:off x="3600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421900" name="Rectangle 12"/>
            <p:cNvSpPr>
              <a:spLocks noChangeArrowheads="1"/>
            </p:cNvSpPr>
            <p:nvPr/>
          </p:nvSpPr>
          <p:spPr bwMode="auto">
            <a:xfrm>
              <a:off x="3888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421901" name="Rectangle 13"/>
            <p:cNvSpPr>
              <a:spLocks noChangeArrowheads="1"/>
            </p:cNvSpPr>
            <p:nvPr/>
          </p:nvSpPr>
          <p:spPr bwMode="auto">
            <a:xfrm>
              <a:off x="4176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421902" name="Rectangle 14"/>
            <p:cNvSpPr>
              <a:spLocks noChangeArrowheads="1"/>
            </p:cNvSpPr>
            <p:nvPr/>
          </p:nvSpPr>
          <p:spPr bwMode="auto">
            <a:xfrm>
              <a:off x="4464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421903" name="Rectangle 15"/>
            <p:cNvSpPr>
              <a:spLocks noChangeArrowheads="1"/>
            </p:cNvSpPr>
            <p:nvPr/>
          </p:nvSpPr>
          <p:spPr bwMode="auto">
            <a:xfrm>
              <a:off x="216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21904" name="Rectangle 16"/>
            <p:cNvSpPr>
              <a:spLocks noChangeArrowheads="1"/>
            </p:cNvSpPr>
            <p:nvPr/>
          </p:nvSpPr>
          <p:spPr bwMode="auto">
            <a:xfrm>
              <a:off x="244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21905" name="Rectangle 17"/>
            <p:cNvSpPr>
              <a:spLocks noChangeArrowheads="1"/>
            </p:cNvSpPr>
            <p:nvPr/>
          </p:nvSpPr>
          <p:spPr bwMode="auto">
            <a:xfrm>
              <a:off x="273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21906" name="Rectangle 18"/>
            <p:cNvSpPr>
              <a:spLocks noChangeArrowheads="1"/>
            </p:cNvSpPr>
            <p:nvPr/>
          </p:nvSpPr>
          <p:spPr bwMode="auto">
            <a:xfrm>
              <a:off x="302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21907" name="Rectangle 19"/>
            <p:cNvSpPr>
              <a:spLocks noChangeArrowheads="1"/>
            </p:cNvSpPr>
            <p:nvPr/>
          </p:nvSpPr>
          <p:spPr bwMode="auto">
            <a:xfrm>
              <a:off x="3600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21908" name="Rectangle 20"/>
            <p:cNvSpPr>
              <a:spLocks noChangeArrowheads="1"/>
            </p:cNvSpPr>
            <p:nvPr/>
          </p:nvSpPr>
          <p:spPr bwMode="auto">
            <a:xfrm>
              <a:off x="336" y="1488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 $2,%rcx  #I2</a:t>
              </a:r>
            </a:p>
          </p:txBody>
        </p:sp>
        <p:sp>
          <p:nvSpPr>
            <p:cNvPr id="421909" name="Rectangle 21"/>
            <p:cNvSpPr>
              <a:spLocks noChangeArrowheads="1"/>
            </p:cNvSpPr>
            <p:nvPr/>
          </p:nvSpPr>
          <p:spPr bwMode="auto">
            <a:xfrm>
              <a:off x="2448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21910" name="Rectangle 22"/>
            <p:cNvSpPr>
              <a:spLocks noChangeArrowheads="1"/>
            </p:cNvSpPr>
            <p:nvPr/>
          </p:nvSpPr>
          <p:spPr bwMode="auto">
            <a:xfrm>
              <a:off x="2736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21911" name="Rectangle 23"/>
            <p:cNvSpPr>
              <a:spLocks noChangeArrowheads="1"/>
            </p:cNvSpPr>
            <p:nvPr/>
          </p:nvSpPr>
          <p:spPr bwMode="auto">
            <a:xfrm>
              <a:off x="3024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21912" name="Rectangle 24"/>
            <p:cNvSpPr>
              <a:spLocks noChangeArrowheads="1"/>
            </p:cNvSpPr>
            <p:nvPr/>
          </p:nvSpPr>
          <p:spPr bwMode="auto">
            <a:xfrm>
              <a:off x="3312" y="1488"/>
              <a:ext cx="288" cy="192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21913" name="Rectangle 25"/>
            <p:cNvSpPr>
              <a:spLocks noChangeArrowheads="1"/>
            </p:cNvSpPr>
            <p:nvPr/>
          </p:nvSpPr>
          <p:spPr bwMode="auto">
            <a:xfrm>
              <a:off x="3312" y="1296"/>
              <a:ext cx="288" cy="192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21914" name="Rectangle 26"/>
            <p:cNvSpPr>
              <a:spLocks noChangeArrowheads="1"/>
            </p:cNvSpPr>
            <p:nvPr/>
          </p:nvSpPr>
          <p:spPr bwMode="auto">
            <a:xfrm>
              <a:off x="336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 $3,%rdx  #I3</a:t>
              </a:r>
            </a:p>
          </p:txBody>
        </p:sp>
        <p:grpSp>
          <p:nvGrpSpPr>
            <p:cNvPr id="421915" name="Group 27"/>
            <p:cNvGrpSpPr>
              <a:grpSpLocks/>
            </p:cNvGrpSpPr>
            <p:nvPr/>
          </p:nvGrpSpPr>
          <p:grpSpPr bwMode="auto">
            <a:xfrm>
              <a:off x="2736" y="1680"/>
              <a:ext cx="1440" cy="192"/>
              <a:chOff x="2784" y="1872"/>
              <a:chExt cx="1440" cy="192"/>
            </a:xfrm>
          </p:grpSpPr>
          <p:sp>
            <p:nvSpPr>
              <p:cNvPr id="421916" name="Rectangle 28"/>
              <p:cNvSpPr>
                <a:spLocks noChangeArrowheads="1"/>
              </p:cNvSpPr>
              <p:nvPr/>
            </p:nvSpPr>
            <p:spPr bwMode="auto">
              <a:xfrm>
                <a:off x="2784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17" name="Rectangle 29"/>
              <p:cNvSpPr>
                <a:spLocks noChangeArrowheads="1"/>
              </p:cNvSpPr>
              <p:nvPr/>
            </p:nvSpPr>
            <p:spPr bwMode="auto">
              <a:xfrm>
                <a:off x="3072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18" name="Rectangle 30"/>
              <p:cNvSpPr>
                <a:spLocks noChangeArrowheads="1"/>
              </p:cNvSpPr>
              <p:nvPr/>
            </p:nvSpPr>
            <p:spPr bwMode="auto">
              <a:xfrm>
                <a:off x="3360" y="1872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19" name="Rectangle 31"/>
              <p:cNvSpPr>
                <a:spLocks noChangeArrowheads="1"/>
              </p:cNvSpPr>
              <p:nvPr/>
            </p:nvSpPr>
            <p:spPr bwMode="auto">
              <a:xfrm>
                <a:off x="3648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20" name="Rectangle 32"/>
              <p:cNvSpPr>
                <a:spLocks noChangeArrowheads="1"/>
              </p:cNvSpPr>
              <p:nvPr/>
            </p:nvSpPr>
            <p:spPr bwMode="auto">
              <a:xfrm>
                <a:off x="3936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21" name="Rectangle 33"/>
            <p:cNvSpPr>
              <a:spLocks noChangeArrowheads="1"/>
            </p:cNvSpPr>
            <p:nvPr/>
          </p:nvSpPr>
          <p:spPr bwMode="auto">
            <a:xfrm>
              <a:off x="336" y="1872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 $4,%rbx  #I4</a:t>
              </a:r>
            </a:p>
          </p:txBody>
        </p:sp>
        <p:grpSp>
          <p:nvGrpSpPr>
            <p:cNvPr id="421922" name="Group 34"/>
            <p:cNvGrpSpPr>
              <a:grpSpLocks/>
            </p:cNvGrpSpPr>
            <p:nvPr/>
          </p:nvGrpSpPr>
          <p:grpSpPr bwMode="auto">
            <a:xfrm>
              <a:off x="3024" y="1872"/>
              <a:ext cx="1440" cy="192"/>
              <a:chOff x="3072" y="2064"/>
              <a:chExt cx="1440" cy="192"/>
            </a:xfrm>
          </p:grpSpPr>
          <p:sp>
            <p:nvSpPr>
              <p:cNvPr id="421923" name="Rectangle 35"/>
              <p:cNvSpPr>
                <a:spLocks noChangeArrowheads="1"/>
              </p:cNvSpPr>
              <p:nvPr/>
            </p:nvSpPr>
            <p:spPr bwMode="auto">
              <a:xfrm>
                <a:off x="3072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24" name="Rectangle 36"/>
              <p:cNvSpPr>
                <a:spLocks noChangeArrowheads="1"/>
              </p:cNvSpPr>
              <p:nvPr/>
            </p:nvSpPr>
            <p:spPr bwMode="auto">
              <a:xfrm>
                <a:off x="3360" y="2064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25" name="Rectangle 37"/>
              <p:cNvSpPr>
                <a:spLocks noChangeArrowheads="1"/>
              </p:cNvSpPr>
              <p:nvPr/>
            </p:nvSpPr>
            <p:spPr bwMode="auto">
              <a:xfrm>
                <a:off x="3648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26" name="Rectangle 38"/>
              <p:cNvSpPr>
                <a:spLocks noChangeArrowheads="1"/>
              </p:cNvSpPr>
              <p:nvPr/>
            </p:nvSpPr>
            <p:spPr bwMode="auto">
              <a:xfrm>
                <a:off x="3936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27" name="Rectangle 39"/>
              <p:cNvSpPr>
                <a:spLocks noChangeArrowheads="1"/>
              </p:cNvSpPr>
              <p:nvPr/>
            </p:nvSpPr>
            <p:spPr bwMode="auto">
              <a:xfrm>
                <a:off x="4224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28" name="Rectangle 40"/>
            <p:cNvSpPr>
              <a:spLocks noChangeArrowheads="1"/>
            </p:cNvSpPr>
            <p:nvPr/>
          </p:nvSpPr>
          <p:spPr bwMode="auto">
            <a:xfrm>
              <a:off x="336" y="2064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halt              #I5</a:t>
              </a:r>
            </a:p>
          </p:txBody>
        </p:sp>
        <p:grpSp>
          <p:nvGrpSpPr>
            <p:cNvPr id="421929" name="Group 41"/>
            <p:cNvGrpSpPr>
              <a:grpSpLocks/>
            </p:cNvGrpSpPr>
            <p:nvPr/>
          </p:nvGrpSpPr>
          <p:grpSpPr bwMode="auto">
            <a:xfrm>
              <a:off x="3312" y="2064"/>
              <a:ext cx="1440" cy="192"/>
              <a:chOff x="3360" y="2256"/>
              <a:chExt cx="1440" cy="192"/>
            </a:xfrm>
          </p:grpSpPr>
          <p:sp>
            <p:nvSpPr>
              <p:cNvPr id="421930" name="Rectangle 42"/>
              <p:cNvSpPr>
                <a:spLocks noChangeArrowheads="1"/>
              </p:cNvSpPr>
              <p:nvPr/>
            </p:nvSpPr>
            <p:spPr bwMode="auto">
              <a:xfrm>
                <a:off x="3360" y="2256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31" name="Rectangle 43"/>
              <p:cNvSpPr>
                <a:spLocks noChangeArrowheads="1"/>
              </p:cNvSpPr>
              <p:nvPr/>
            </p:nvSpPr>
            <p:spPr bwMode="auto">
              <a:xfrm>
                <a:off x="3648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32" name="Rectangle 44"/>
              <p:cNvSpPr>
                <a:spLocks noChangeArrowheads="1"/>
              </p:cNvSpPr>
              <p:nvPr/>
            </p:nvSpPr>
            <p:spPr bwMode="auto">
              <a:xfrm>
                <a:off x="3936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33" name="Rectangle 45"/>
              <p:cNvSpPr>
                <a:spLocks noChangeArrowheads="1"/>
              </p:cNvSpPr>
              <p:nvPr/>
            </p:nvSpPr>
            <p:spPr bwMode="auto">
              <a:xfrm>
                <a:off x="4224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34" name="Rectangle 46"/>
              <p:cNvSpPr>
                <a:spLocks noChangeArrowheads="1"/>
              </p:cNvSpPr>
              <p:nvPr/>
            </p:nvSpPr>
            <p:spPr bwMode="auto">
              <a:xfrm>
                <a:off x="4512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35" name="Line 47"/>
            <p:cNvSpPr>
              <a:spLocks noChangeShapeType="1"/>
            </p:cNvSpPr>
            <p:nvPr/>
          </p:nvSpPr>
          <p:spPr bwMode="auto">
            <a:xfrm flipH="1">
              <a:off x="3168" y="2256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1936" name="Line 48"/>
            <p:cNvSpPr>
              <a:spLocks noChangeShapeType="1"/>
            </p:cNvSpPr>
            <p:nvPr/>
          </p:nvSpPr>
          <p:spPr bwMode="auto">
            <a:xfrm>
              <a:off x="3600" y="2256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1937" name="Rectangle 49"/>
            <p:cNvSpPr>
              <a:spLocks noChangeArrowheads="1"/>
            </p:cNvSpPr>
            <p:nvPr/>
          </p:nvSpPr>
          <p:spPr bwMode="auto">
            <a:xfrm>
              <a:off x="3168" y="2352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Cycle 5</a:t>
              </a:r>
            </a:p>
          </p:txBody>
        </p:sp>
        <p:grpSp>
          <p:nvGrpSpPr>
            <p:cNvPr id="421938" name="Group 50"/>
            <p:cNvGrpSpPr>
              <a:grpSpLocks/>
            </p:cNvGrpSpPr>
            <p:nvPr/>
          </p:nvGrpSpPr>
          <p:grpSpPr bwMode="auto">
            <a:xfrm>
              <a:off x="3168" y="2592"/>
              <a:ext cx="576" cy="384"/>
              <a:chOff x="3408" y="1632"/>
              <a:chExt cx="576" cy="384"/>
            </a:xfrm>
          </p:grpSpPr>
          <p:sp>
            <p:nvSpPr>
              <p:cNvPr id="421939" name="Rectangle 51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  <p:sp>
            <p:nvSpPr>
              <p:cNvPr id="421940" name="Rectangle 52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I1</a:t>
                </a:r>
              </a:p>
            </p:txBody>
          </p:sp>
        </p:grpSp>
        <p:grpSp>
          <p:nvGrpSpPr>
            <p:cNvPr id="421941" name="Group 53"/>
            <p:cNvGrpSpPr>
              <a:grpSpLocks/>
            </p:cNvGrpSpPr>
            <p:nvPr/>
          </p:nvGrpSpPr>
          <p:grpSpPr bwMode="auto">
            <a:xfrm>
              <a:off x="3168" y="2976"/>
              <a:ext cx="576" cy="384"/>
              <a:chOff x="3408" y="1632"/>
              <a:chExt cx="576" cy="384"/>
            </a:xfrm>
          </p:grpSpPr>
          <p:sp>
            <p:nvSpPr>
              <p:cNvPr id="421942" name="Rectangle 54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43" name="Rectangle 55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I2</a:t>
                </a:r>
              </a:p>
            </p:txBody>
          </p:sp>
        </p:grpSp>
        <p:grpSp>
          <p:nvGrpSpPr>
            <p:cNvPr id="421944" name="Group 56"/>
            <p:cNvGrpSpPr>
              <a:grpSpLocks/>
            </p:cNvGrpSpPr>
            <p:nvPr/>
          </p:nvGrpSpPr>
          <p:grpSpPr bwMode="auto">
            <a:xfrm>
              <a:off x="3168" y="3360"/>
              <a:ext cx="576" cy="384"/>
              <a:chOff x="3408" y="1632"/>
              <a:chExt cx="576" cy="384"/>
            </a:xfrm>
          </p:grpSpPr>
          <p:sp>
            <p:nvSpPr>
              <p:cNvPr id="421945" name="Rectangle 57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46" name="Rectangle 58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I3</a:t>
                </a:r>
              </a:p>
            </p:txBody>
          </p:sp>
        </p:grpSp>
        <p:grpSp>
          <p:nvGrpSpPr>
            <p:cNvPr id="421947" name="Group 59"/>
            <p:cNvGrpSpPr>
              <a:grpSpLocks/>
            </p:cNvGrpSpPr>
            <p:nvPr/>
          </p:nvGrpSpPr>
          <p:grpSpPr bwMode="auto">
            <a:xfrm>
              <a:off x="3168" y="3744"/>
              <a:ext cx="576" cy="384"/>
              <a:chOff x="3408" y="1632"/>
              <a:chExt cx="576" cy="384"/>
            </a:xfrm>
          </p:grpSpPr>
          <p:sp>
            <p:nvSpPr>
              <p:cNvPr id="421948" name="Rectangle 60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49" name="Rectangle 61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I4</a:t>
                </a:r>
              </a:p>
            </p:txBody>
          </p:sp>
        </p:grpSp>
        <p:grpSp>
          <p:nvGrpSpPr>
            <p:cNvPr id="421950" name="Group 62"/>
            <p:cNvGrpSpPr>
              <a:grpSpLocks/>
            </p:cNvGrpSpPr>
            <p:nvPr/>
          </p:nvGrpSpPr>
          <p:grpSpPr bwMode="auto">
            <a:xfrm>
              <a:off x="3168" y="4128"/>
              <a:ext cx="576" cy="384"/>
              <a:chOff x="3408" y="1632"/>
              <a:chExt cx="576" cy="384"/>
            </a:xfrm>
          </p:grpSpPr>
          <p:sp>
            <p:nvSpPr>
              <p:cNvPr id="421951" name="Rectangle 63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52" name="Rectangle 64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290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704263" cy="779463"/>
          </a:xfrm>
        </p:spPr>
        <p:txBody>
          <a:bodyPr/>
          <a:lstStyle/>
          <a:p>
            <a:r>
              <a:rPr lang="en-US"/>
              <a:t>Data Dependencies: 3 Nop’s</a:t>
            </a:r>
          </a:p>
        </p:txBody>
      </p:sp>
      <p:grpSp>
        <p:nvGrpSpPr>
          <p:cNvPr id="424330" name="Group 394"/>
          <p:cNvGrpSpPr>
            <a:grpSpLocks/>
          </p:cNvGrpSpPr>
          <p:nvPr/>
        </p:nvGrpSpPr>
        <p:grpSpPr bwMode="auto">
          <a:xfrm>
            <a:off x="990600" y="838200"/>
            <a:ext cx="7926388" cy="5868988"/>
            <a:chOff x="624" y="528"/>
            <a:chExt cx="4993" cy="3697"/>
          </a:xfrm>
        </p:grpSpPr>
        <p:sp>
          <p:nvSpPr>
            <p:cNvPr id="424074" name="Rectangle 138"/>
            <p:cNvSpPr>
              <a:spLocks noChangeArrowheads="1"/>
            </p:cNvSpPr>
            <p:nvPr/>
          </p:nvSpPr>
          <p:spPr bwMode="auto">
            <a:xfrm>
              <a:off x="624" y="768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75" name="Rectangle 139"/>
            <p:cNvSpPr>
              <a:spLocks noChangeArrowheads="1"/>
            </p:cNvSpPr>
            <p:nvPr/>
          </p:nvSpPr>
          <p:spPr bwMode="auto">
            <a:xfrm>
              <a:off x="682" y="807"/>
              <a:ext cx="536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4076" name="Rectangle 140"/>
            <p:cNvSpPr>
              <a:spLocks noChangeArrowheads="1"/>
            </p:cNvSpPr>
            <p:nvPr/>
          </p:nvSpPr>
          <p:spPr bwMode="auto">
            <a:xfrm>
              <a:off x="1215" y="807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4077" name="Rectangle 141"/>
            <p:cNvSpPr>
              <a:spLocks noChangeArrowheads="1"/>
            </p:cNvSpPr>
            <p:nvPr/>
          </p:nvSpPr>
          <p:spPr bwMode="auto">
            <a:xfrm>
              <a:off x="1620" y="807"/>
              <a:ext cx="40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4078" name="Rectangle 142"/>
            <p:cNvSpPr>
              <a:spLocks noChangeArrowheads="1"/>
            </p:cNvSpPr>
            <p:nvPr/>
          </p:nvSpPr>
          <p:spPr bwMode="auto">
            <a:xfrm>
              <a:off x="1987" y="80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079" name="Rectangle 143"/>
            <p:cNvSpPr>
              <a:spLocks noChangeArrowheads="1"/>
            </p:cNvSpPr>
            <p:nvPr/>
          </p:nvSpPr>
          <p:spPr bwMode="auto">
            <a:xfrm>
              <a:off x="244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0" name="Rectangle 144"/>
            <p:cNvSpPr>
              <a:spLocks noChangeArrowheads="1"/>
            </p:cNvSpPr>
            <p:nvPr/>
          </p:nvSpPr>
          <p:spPr bwMode="auto">
            <a:xfrm>
              <a:off x="2565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4081" name="Rectangle 145"/>
            <p:cNvSpPr>
              <a:spLocks noChangeArrowheads="1"/>
            </p:cNvSpPr>
            <p:nvPr/>
          </p:nvSpPr>
          <p:spPr bwMode="auto">
            <a:xfrm>
              <a:off x="2736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2" name="Rectangle 146"/>
            <p:cNvSpPr>
              <a:spLocks noChangeArrowheads="1"/>
            </p:cNvSpPr>
            <p:nvPr/>
          </p:nvSpPr>
          <p:spPr bwMode="auto">
            <a:xfrm>
              <a:off x="2853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4083" name="Rectangle 147"/>
            <p:cNvSpPr>
              <a:spLocks noChangeArrowheads="1"/>
            </p:cNvSpPr>
            <p:nvPr/>
          </p:nvSpPr>
          <p:spPr bwMode="auto">
            <a:xfrm>
              <a:off x="3024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4" name="Rectangle 148"/>
            <p:cNvSpPr>
              <a:spLocks noChangeArrowheads="1"/>
            </p:cNvSpPr>
            <p:nvPr/>
          </p:nvSpPr>
          <p:spPr bwMode="auto">
            <a:xfrm>
              <a:off x="3141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4085" name="Rectangle 149"/>
            <p:cNvSpPr>
              <a:spLocks noChangeArrowheads="1"/>
            </p:cNvSpPr>
            <p:nvPr/>
          </p:nvSpPr>
          <p:spPr bwMode="auto">
            <a:xfrm>
              <a:off x="3312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6" name="Rectangle 150"/>
            <p:cNvSpPr>
              <a:spLocks noChangeArrowheads="1"/>
            </p:cNvSpPr>
            <p:nvPr/>
          </p:nvSpPr>
          <p:spPr bwMode="auto">
            <a:xfrm>
              <a:off x="3429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4087" name="Rectangle 151"/>
            <p:cNvSpPr>
              <a:spLocks noChangeArrowheads="1"/>
            </p:cNvSpPr>
            <p:nvPr/>
          </p:nvSpPr>
          <p:spPr bwMode="auto">
            <a:xfrm>
              <a:off x="3600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8" name="Rectangle 152"/>
            <p:cNvSpPr>
              <a:spLocks noChangeArrowheads="1"/>
            </p:cNvSpPr>
            <p:nvPr/>
          </p:nvSpPr>
          <p:spPr bwMode="auto">
            <a:xfrm>
              <a:off x="3717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4089" name="Rectangle 153"/>
            <p:cNvSpPr>
              <a:spLocks noChangeArrowheads="1"/>
            </p:cNvSpPr>
            <p:nvPr/>
          </p:nvSpPr>
          <p:spPr bwMode="auto">
            <a:xfrm>
              <a:off x="388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0" name="Rectangle 154"/>
            <p:cNvSpPr>
              <a:spLocks noChangeArrowheads="1"/>
            </p:cNvSpPr>
            <p:nvPr/>
          </p:nvSpPr>
          <p:spPr bwMode="auto">
            <a:xfrm>
              <a:off x="4005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4091" name="Rectangle 155"/>
            <p:cNvSpPr>
              <a:spLocks noChangeArrowheads="1"/>
            </p:cNvSpPr>
            <p:nvPr/>
          </p:nvSpPr>
          <p:spPr bwMode="auto">
            <a:xfrm>
              <a:off x="4176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2" name="Rectangle 156"/>
            <p:cNvSpPr>
              <a:spLocks noChangeArrowheads="1"/>
            </p:cNvSpPr>
            <p:nvPr/>
          </p:nvSpPr>
          <p:spPr bwMode="auto">
            <a:xfrm>
              <a:off x="4293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4093" name="Rectangle 157"/>
            <p:cNvSpPr>
              <a:spLocks noChangeArrowheads="1"/>
            </p:cNvSpPr>
            <p:nvPr/>
          </p:nvSpPr>
          <p:spPr bwMode="auto">
            <a:xfrm>
              <a:off x="4464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4" name="Rectangle 158"/>
            <p:cNvSpPr>
              <a:spLocks noChangeArrowheads="1"/>
            </p:cNvSpPr>
            <p:nvPr/>
          </p:nvSpPr>
          <p:spPr bwMode="auto">
            <a:xfrm>
              <a:off x="4581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4095" name="Rectangle 159"/>
            <p:cNvSpPr>
              <a:spLocks noChangeArrowheads="1"/>
            </p:cNvSpPr>
            <p:nvPr/>
          </p:nvSpPr>
          <p:spPr bwMode="auto">
            <a:xfrm>
              <a:off x="4752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6" name="Rectangle 160"/>
            <p:cNvSpPr>
              <a:spLocks noChangeArrowheads="1"/>
            </p:cNvSpPr>
            <p:nvPr/>
          </p:nvSpPr>
          <p:spPr bwMode="auto">
            <a:xfrm>
              <a:off x="4869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4097" name="Rectangle 161"/>
            <p:cNvSpPr>
              <a:spLocks noChangeArrowheads="1"/>
            </p:cNvSpPr>
            <p:nvPr/>
          </p:nvSpPr>
          <p:spPr bwMode="auto">
            <a:xfrm>
              <a:off x="2448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8" name="Rectangle 162"/>
            <p:cNvSpPr>
              <a:spLocks noChangeArrowheads="1"/>
            </p:cNvSpPr>
            <p:nvPr/>
          </p:nvSpPr>
          <p:spPr bwMode="auto">
            <a:xfrm>
              <a:off x="2553" y="79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099" name="Rectangle 163"/>
            <p:cNvSpPr>
              <a:spLocks noChangeArrowheads="1"/>
            </p:cNvSpPr>
            <p:nvPr/>
          </p:nvSpPr>
          <p:spPr bwMode="auto">
            <a:xfrm>
              <a:off x="2736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0" name="Rectangle 164"/>
            <p:cNvSpPr>
              <a:spLocks noChangeArrowheads="1"/>
            </p:cNvSpPr>
            <p:nvPr/>
          </p:nvSpPr>
          <p:spPr bwMode="auto">
            <a:xfrm>
              <a:off x="2834" y="79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01" name="Rectangle 165"/>
            <p:cNvSpPr>
              <a:spLocks noChangeArrowheads="1"/>
            </p:cNvSpPr>
            <p:nvPr/>
          </p:nvSpPr>
          <p:spPr bwMode="auto">
            <a:xfrm>
              <a:off x="3024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2" name="Rectangle 166"/>
            <p:cNvSpPr>
              <a:spLocks noChangeArrowheads="1"/>
            </p:cNvSpPr>
            <p:nvPr/>
          </p:nvSpPr>
          <p:spPr bwMode="auto">
            <a:xfrm>
              <a:off x="3125" y="79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03" name="Rectangle 167"/>
            <p:cNvSpPr>
              <a:spLocks noChangeArrowheads="1"/>
            </p:cNvSpPr>
            <p:nvPr/>
          </p:nvSpPr>
          <p:spPr bwMode="auto">
            <a:xfrm>
              <a:off x="3312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4" name="Rectangle 168"/>
            <p:cNvSpPr>
              <a:spLocks noChangeArrowheads="1"/>
            </p:cNvSpPr>
            <p:nvPr/>
          </p:nvSpPr>
          <p:spPr bwMode="auto">
            <a:xfrm>
              <a:off x="3402" y="79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05" name="Rectangle 169"/>
            <p:cNvSpPr>
              <a:spLocks noChangeArrowheads="1"/>
            </p:cNvSpPr>
            <p:nvPr/>
          </p:nvSpPr>
          <p:spPr bwMode="auto">
            <a:xfrm>
              <a:off x="3600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6" name="Rectangle 170"/>
            <p:cNvSpPr>
              <a:spLocks noChangeArrowheads="1"/>
            </p:cNvSpPr>
            <p:nvPr/>
          </p:nvSpPr>
          <p:spPr bwMode="auto">
            <a:xfrm>
              <a:off x="3681" y="79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07" name="Rectangle 171"/>
            <p:cNvSpPr>
              <a:spLocks noChangeArrowheads="1"/>
            </p:cNvSpPr>
            <p:nvPr/>
          </p:nvSpPr>
          <p:spPr bwMode="auto">
            <a:xfrm>
              <a:off x="2448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8" name="Rectangle 172"/>
            <p:cNvSpPr>
              <a:spLocks noChangeArrowheads="1"/>
            </p:cNvSpPr>
            <p:nvPr/>
          </p:nvSpPr>
          <p:spPr bwMode="auto">
            <a:xfrm>
              <a:off x="2553" y="79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09" name="Rectangle 173"/>
            <p:cNvSpPr>
              <a:spLocks noChangeArrowheads="1"/>
            </p:cNvSpPr>
            <p:nvPr/>
          </p:nvSpPr>
          <p:spPr bwMode="auto">
            <a:xfrm>
              <a:off x="2736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0" name="Rectangle 174"/>
            <p:cNvSpPr>
              <a:spLocks noChangeArrowheads="1"/>
            </p:cNvSpPr>
            <p:nvPr/>
          </p:nvSpPr>
          <p:spPr bwMode="auto">
            <a:xfrm>
              <a:off x="2834" y="79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11" name="Rectangle 175"/>
            <p:cNvSpPr>
              <a:spLocks noChangeArrowheads="1"/>
            </p:cNvSpPr>
            <p:nvPr/>
          </p:nvSpPr>
          <p:spPr bwMode="auto">
            <a:xfrm>
              <a:off x="3024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2" name="Rectangle 176"/>
            <p:cNvSpPr>
              <a:spLocks noChangeArrowheads="1"/>
            </p:cNvSpPr>
            <p:nvPr/>
          </p:nvSpPr>
          <p:spPr bwMode="auto">
            <a:xfrm>
              <a:off x="3125" y="79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13" name="Rectangle 177"/>
            <p:cNvSpPr>
              <a:spLocks noChangeArrowheads="1"/>
            </p:cNvSpPr>
            <p:nvPr/>
          </p:nvSpPr>
          <p:spPr bwMode="auto">
            <a:xfrm>
              <a:off x="3312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4" name="Rectangle 178"/>
            <p:cNvSpPr>
              <a:spLocks noChangeArrowheads="1"/>
            </p:cNvSpPr>
            <p:nvPr/>
          </p:nvSpPr>
          <p:spPr bwMode="auto">
            <a:xfrm>
              <a:off x="3402" y="79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15" name="Rectangle 179"/>
            <p:cNvSpPr>
              <a:spLocks noChangeArrowheads="1"/>
            </p:cNvSpPr>
            <p:nvPr/>
          </p:nvSpPr>
          <p:spPr bwMode="auto">
            <a:xfrm>
              <a:off x="3600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6" name="Rectangle 180"/>
            <p:cNvSpPr>
              <a:spLocks noChangeArrowheads="1"/>
            </p:cNvSpPr>
            <p:nvPr/>
          </p:nvSpPr>
          <p:spPr bwMode="auto">
            <a:xfrm>
              <a:off x="3681" y="79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17" name="Rectangle 181"/>
            <p:cNvSpPr>
              <a:spLocks noChangeArrowheads="1"/>
            </p:cNvSpPr>
            <p:nvPr/>
          </p:nvSpPr>
          <p:spPr bwMode="auto">
            <a:xfrm>
              <a:off x="624" y="960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8" name="Rectangle 182"/>
            <p:cNvSpPr>
              <a:spLocks noChangeArrowheads="1"/>
            </p:cNvSpPr>
            <p:nvPr/>
          </p:nvSpPr>
          <p:spPr bwMode="auto">
            <a:xfrm>
              <a:off x="746" y="999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4119" name="Rectangle 183"/>
            <p:cNvSpPr>
              <a:spLocks noChangeArrowheads="1"/>
            </p:cNvSpPr>
            <p:nvPr/>
          </p:nvSpPr>
          <p:spPr bwMode="auto">
            <a:xfrm>
              <a:off x="1215" y="999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4120" name="Rectangle 184"/>
            <p:cNvSpPr>
              <a:spLocks noChangeArrowheads="1"/>
            </p:cNvSpPr>
            <p:nvPr/>
          </p:nvSpPr>
          <p:spPr bwMode="auto">
            <a:xfrm>
              <a:off x="1687" y="999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4121" name="Rectangle 185"/>
            <p:cNvSpPr>
              <a:spLocks noChangeArrowheads="1"/>
            </p:cNvSpPr>
            <p:nvPr/>
          </p:nvSpPr>
          <p:spPr bwMode="auto">
            <a:xfrm>
              <a:off x="1987" y="999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122" name="Rectangle 186"/>
            <p:cNvSpPr>
              <a:spLocks noChangeArrowheads="1"/>
            </p:cNvSpPr>
            <p:nvPr/>
          </p:nvSpPr>
          <p:spPr bwMode="auto">
            <a:xfrm>
              <a:off x="2736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3" name="Rectangle 187"/>
            <p:cNvSpPr>
              <a:spLocks noChangeArrowheads="1"/>
            </p:cNvSpPr>
            <p:nvPr/>
          </p:nvSpPr>
          <p:spPr bwMode="auto">
            <a:xfrm>
              <a:off x="2841" y="988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24" name="Rectangle 188"/>
            <p:cNvSpPr>
              <a:spLocks noChangeArrowheads="1"/>
            </p:cNvSpPr>
            <p:nvPr/>
          </p:nvSpPr>
          <p:spPr bwMode="auto">
            <a:xfrm>
              <a:off x="3024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5" name="Rectangle 189"/>
            <p:cNvSpPr>
              <a:spLocks noChangeArrowheads="1"/>
            </p:cNvSpPr>
            <p:nvPr/>
          </p:nvSpPr>
          <p:spPr bwMode="auto">
            <a:xfrm>
              <a:off x="3122" y="988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26" name="Rectangle 190"/>
            <p:cNvSpPr>
              <a:spLocks noChangeArrowheads="1"/>
            </p:cNvSpPr>
            <p:nvPr/>
          </p:nvSpPr>
          <p:spPr bwMode="auto">
            <a:xfrm>
              <a:off x="3312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7" name="Rectangle 191"/>
            <p:cNvSpPr>
              <a:spLocks noChangeArrowheads="1"/>
            </p:cNvSpPr>
            <p:nvPr/>
          </p:nvSpPr>
          <p:spPr bwMode="auto">
            <a:xfrm>
              <a:off x="3413" y="988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28" name="Rectangle 192"/>
            <p:cNvSpPr>
              <a:spLocks noChangeArrowheads="1"/>
            </p:cNvSpPr>
            <p:nvPr/>
          </p:nvSpPr>
          <p:spPr bwMode="auto">
            <a:xfrm>
              <a:off x="3600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9" name="Rectangle 193"/>
            <p:cNvSpPr>
              <a:spLocks noChangeArrowheads="1"/>
            </p:cNvSpPr>
            <p:nvPr/>
          </p:nvSpPr>
          <p:spPr bwMode="auto">
            <a:xfrm>
              <a:off x="3690" y="988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30" name="Rectangle 194"/>
            <p:cNvSpPr>
              <a:spLocks noChangeArrowheads="1"/>
            </p:cNvSpPr>
            <p:nvPr/>
          </p:nvSpPr>
          <p:spPr bwMode="auto">
            <a:xfrm>
              <a:off x="3888" y="960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1" name="Rectangle 195"/>
            <p:cNvSpPr>
              <a:spLocks noChangeArrowheads="1"/>
            </p:cNvSpPr>
            <p:nvPr/>
          </p:nvSpPr>
          <p:spPr bwMode="auto">
            <a:xfrm>
              <a:off x="3969" y="988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32" name="Rectangle 196"/>
            <p:cNvSpPr>
              <a:spLocks noChangeArrowheads="1"/>
            </p:cNvSpPr>
            <p:nvPr/>
          </p:nvSpPr>
          <p:spPr bwMode="auto">
            <a:xfrm>
              <a:off x="2736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3" name="Rectangle 197"/>
            <p:cNvSpPr>
              <a:spLocks noChangeArrowheads="1"/>
            </p:cNvSpPr>
            <p:nvPr/>
          </p:nvSpPr>
          <p:spPr bwMode="auto">
            <a:xfrm>
              <a:off x="2841" y="988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34" name="Rectangle 198"/>
            <p:cNvSpPr>
              <a:spLocks noChangeArrowheads="1"/>
            </p:cNvSpPr>
            <p:nvPr/>
          </p:nvSpPr>
          <p:spPr bwMode="auto">
            <a:xfrm>
              <a:off x="3024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5" name="Rectangle 199"/>
            <p:cNvSpPr>
              <a:spLocks noChangeArrowheads="1"/>
            </p:cNvSpPr>
            <p:nvPr/>
          </p:nvSpPr>
          <p:spPr bwMode="auto">
            <a:xfrm>
              <a:off x="3122" y="988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36" name="Rectangle 200"/>
            <p:cNvSpPr>
              <a:spLocks noChangeArrowheads="1"/>
            </p:cNvSpPr>
            <p:nvPr/>
          </p:nvSpPr>
          <p:spPr bwMode="auto">
            <a:xfrm>
              <a:off x="3312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7" name="Rectangle 201"/>
            <p:cNvSpPr>
              <a:spLocks noChangeArrowheads="1"/>
            </p:cNvSpPr>
            <p:nvPr/>
          </p:nvSpPr>
          <p:spPr bwMode="auto">
            <a:xfrm>
              <a:off x="3413" y="988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38" name="Rectangle 202"/>
            <p:cNvSpPr>
              <a:spLocks noChangeArrowheads="1"/>
            </p:cNvSpPr>
            <p:nvPr/>
          </p:nvSpPr>
          <p:spPr bwMode="auto">
            <a:xfrm>
              <a:off x="3600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9" name="Rectangle 203"/>
            <p:cNvSpPr>
              <a:spLocks noChangeArrowheads="1"/>
            </p:cNvSpPr>
            <p:nvPr/>
          </p:nvSpPr>
          <p:spPr bwMode="auto">
            <a:xfrm>
              <a:off x="3690" y="988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40" name="Rectangle 204"/>
            <p:cNvSpPr>
              <a:spLocks noChangeArrowheads="1"/>
            </p:cNvSpPr>
            <p:nvPr/>
          </p:nvSpPr>
          <p:spPr bwMode="auto">
            <a:xfrm>
              <a:off x="3888" y="960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1" name="Rectangle 205"/>
            <p:cNvSpPr>
              <a:spLocks noChangeArrowheads="1"/>
            </p:cNvSpPr>
            <p:nvPr/>
          </p:nvSpPr>
          <p:spPr bwMode="auto">
            <a:xfrm>
              <a:off x="3969" y="988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42" name="Rectangle 206"/>
            <p:cNvSpPr>
              <a:spLocks noChangeArrowheads="1"/>
            </p:cNvSpPr>
            <p:nvPr/>
          </p:nvSpPr>
          <p:spPr bwMode="auto">
            <a:xfrm>
              <a:off x="624" y="1152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3" name="Rectangle 207"/>
            <p:cNvSpPr>
              <a:spLocks noChangeArrowheads="1"/>
            </p:cNvSpPr>
            <p:nvPr/>
          </p:nvSpPr>
          <p:spPr bwMode="auto">
            <a:xfrm>
              <a:off x="746" y="119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4144" name="Rectangle 208"/>
            <p:cNvSpPr>
              <a:spLocks noChangeArrowheads="1"/>
            </p:cNvSpPr>
            <p:nvPr/>
          </p:nvSpPr>
          <p:spPr bwMode="auto">
            <a:xfrm>
              <a:off x="1184" y="1191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45" name="Rectangle 209"/>
            <p:cNvSpPr>
              <a:spLocks noChangeArrowheads="1"/>
            </p:cNvSpPr>
            <p:nvPr/>
          </p:nvSpPr>
          <p:spPr bwMode="auto">
            <a:xfrm>
              <a:off x="3024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6" name="Rectangle 210"/>
            <p:cNvSpPr>
              <a:spLocks noChangeArrowheads="1"/>
            </p:cNvSpPr>
            <p:nvPr/>
          </p:nvSpPr>
          <p:spPr bwMode="auto">
            <a:xfrm>
              <a:off x="3129" y="1180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47" name="Rectangle 211"/>
            <p:cNvSpPr>
              <a:spLocks noChangeArrowheads="1"/>
            </p:cNvSpPr>
            <p:nvPr/>
          </p:nvSpPr>
          <p:spPr bwMode="auto">
            <a:xfrm>
              <a:off x="3312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8" name="Rectangle 212"/>
            <p:cNvSpPr>
              <a:spLocks noChangeArrowheads="1"/>
            </p:cNvSpPr>
            <p:nvPr/>
          </p:nvSpPr>
          <p:spPr bwMode="auto">
            <a:xfrm>
              <a:off x="3410" y="1180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49" name="Rectangle 213"/>
            <p:cNvSpPr>
              <a:spLocks noChangeArrowheads="1"/>
            </p:cNvSpPr>
            <p:nvPr/>
          </p:nvSpPr>
          <p:spPr bwMode="auto">
            <a:xfrm>
              <a:off x="3600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0" name="Rectangle 214"/>
            <p:cNvSpPr>
              <a:spLocks noChangeArrowheads="1"/>
            </p:cNvSpPr>
            <p:nvPr/>
          </p:nvSpPr>
          <p:spPr bwMode="auto">
            <a:xfrm>
              <a:off x="3701" y="1180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51" name="Rectangle 215"/>
            <p:cNvSpPr>
              <a:spLocks noChangeArrowheads="1"/>
            </p:cNvSpPr>
            <p:nvPr/>
          </p:nvSpPr>
          <p:spPr bwMode="auto">
            <a:xfrm>
              <a:off x="3888" y="1152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2" name="Rectangle 216"/>
            <p:cNvSpPr>
              <a:spLocks noChangeArrowheads="1"/>
            </p:cNvSpPr>
            <p:nvPr/>
          </p:nvSpPr>
          <p:spPr bwMode="auto">
            <a:xfrm>
              <a:off x="3978" y="1180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53" name="Rectangle 217"/>
            <p:cNvSpPr>
              <a:spLocks noChangeArrowheads="1"/>
            </p:cNvSpPr>
            <p:nvPr/>
          </p:nvSpPr>
          <p:spPr bwMode="auto">
            <a:xfrm>
              <a:off x="4176" y="1152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4" name="Rectangle 218"/>
            <p:cNvSpPr>
              <a:spLocks noChangeArrowheads="1"/>
            </p:cNvSpPr>
            <p:nvPr/>
          </p:nvSpPr>
          <p:spPr bwMode="auto">
            <a:xfrm>
              <a:off x="4257" y="1180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55" name="Rectangle 219"/>
            <p:cNvSpPr>
              <a:spLocks noChangeArrowheads="1"/>
            </p:cNvSpPr>
            <p:nvPr/>
          </p:nvSpPr>
          <p:spPr bwMode="auto">
            <a:xfrm>
              <a:off x="3024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6" name="Rectangle 220"/>
            <p:cNvSpPr>
              <a:spLocks noChangeArrowheads="1"/>
            </p:cNvSpPr>
            <p:nvPr/>
          </p:nvSpPr>
          <p:spPr bwMode="auto">
            <a:xfrm>
              <a:off x="3129" y="1180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57" name="Rectangle 221"/>
            <p:cNvSpPr>
              <a:spLocks noChangeArrowheads="1"/>
            </p:cNvSpPr>
            <p:nvPr/>
          </p:nvSpPr>
          <p:spPr bwMode="auto">
            <a:xfrm>
              <a:off x="3312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8" name="Rectangle 222"/>
            <p:cNvSpPr>
              <a:spLocks noChangeArrowheads="1"/>
            </p:cNvSpPr>
            <p:nvPr/>
          </p:nvSpPr>
          <p:spPr bwMode="auto">
            <a:xfrm>
              <a:off x="3410" y="1180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59" name="Rectangle 223"/>
            <p:cNvSpPr>
              <a:spLocks noChangeArrowheads="1"/>
            </p:cNvSpPr>
            <p:nvPr/>
          </p:nvSpPr>
          <p:spPr bwMode="auto">
            <a:xfrm>
              <a:off x="3600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0" name="Rectangle 224"/>
            <p:cNvSpPr>
              <a:spLocks noChangeArrowheads="1"/>
            </p:cNvSpPr>
            <p:nvPr/>
          </p:nvSpPr>
          <p:spPr bwMode="auto">
            <a:xfrm>
              <a:off x="3701" y="1180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61" name="Rectangle 225"/>
            <p:cNvSpPr>
              <a:spLocks noChangeArrowheads="1"/>
            </p:cNvSpPr>
            <p:nvPr/>
          </p:nvSpPr>
          <p:spPr bwMode="auto">
            <a:xfrm>
              <a:off x="3888" y="1152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2" name="Rectangle 226"/>
            <p:cNvSpPr>
              <a:spLocks noChangeArrowheads="1"/>
            </p:cNvSpPr>
            <p:nvPr/>
          </p:nvSpPr>
          <p:spPr bwMode="auto">
            <a:xfrm>
              <a:off x="3978" y="1180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63" name="Rectangle 227"/>
            <p:cNvSpPr>
              <a:spLocks noChangeArrowheads="1"/>
            </p:cNvSpPr>
            <p:nvPr/>
          </p:nvSpPr>
          <p:spPr bwMode="auto">
            <a:xfrm>
              <a:off x="4176" y="1152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4" name="Rectangle 228"/>
            <p:cNvSpPr>
              <a:spLocks noChangeArrowheads="1"/>
            </p:cNvSpPr>
            <p:nvPr/>
          </p:nvSpPr>
          <p:spPr bwMode="auto">
            <a:xfrm>
              <a:off x="4257" y="1180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65" name="Rectangle 229"/>
            <p:cNvSpPr>
              <a:spLocks noChangeArrowheads="1"/>
            </p:cNvSpPr>
            <p:nvPr/>
          </p:nvSpPr>
          <p:spPr bwMode="auto">
            <a:xfrm>
              <a:off x="624" y="1344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6" name="Rectangle 230"/>
            <p:cNvSpPr>
              <a:spLocks noChangeArrowheads="1"/>
            </p:cNvSpPr>
            <p:nvPr/>
          </p:nvSpPr>
          <p:spPr bwMode="auto">
            <a:xfrm>
              <a:off x="746" y="1383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4167" name="Rectangle 231"/>
            <p:cNvSpPr>
              <a:spLocks noChangeArrowheads="1"/>
            </p:cNvSpPr>
            <p:nvPr/>
          </p:nvSpPr>
          <p:spPr bwMode="auto">
            <a:xfrm>
              <a:off x="1184" y="1383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68" name="Rectangle 232"/>
            <p:cNvSpPr>
              <a:spLocks noChangeArrowheads="1"/>
            </p:cNvSpPr>
            <p:nvPr/>
          </p:nvSpPr>
          <p:spPr bwMode="auto">
            <a:xfrm>
              <a:off x="3312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9" name="Rectangle 233"/>
            <p:cNvSpPr>
              <a:spLocks noChangeArrowheads="1"/>
            </p:cNvSpPr>
            <p:nvPr/>
          </p:nvSpPr>
          <p:spPr bwMode="auto">
            <a:xfrm>
              <a:off x="3417" y="1372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70" name="Rectangle 234"/>
            <p:cNvSpPr>
              <a:spLocks noChangeArrowheads="1"/>
            </p:cNvSpPr>
            <p:nvPr/>
          </p:nvSpPr>
          <p:spPr bwMode="auto">
            <a:xfrm>
              <a:off x="3600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1" name="Rectangle 235"/>
            <p:cNvSpPr>
              <a:spLocks noChangeArrowheads="1"/>
            </p:cNvSpPr>
            <p:nvPr/>
          </p:nvSpPr>
          <p:spPr bwMode="auto">
            <a:xfrm>
              <a:off x="3698" y="1372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72" name="Rectangle 236"/>
            <p:cNvSpPr>
              <a:spLocks noChangeArrowheads="1"/>
            </p:cNvSpPr>
            <p:nvPr/>
          </p:nvSpPr>
          <p:spPr bwMode="auto">
            <a:xfrm>
              <a:off x="3888" y="1344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3" name="Rectangle 237"/>
            <p:cNvSpPr>
              <a:spLocks noChangeArrowheads="1"/>
            </p:cNvSpPr>
            <p:nvPr/>
          </p:nvSpPr>
          <p:spPr bwMode="auto">
            <a:xfrm>
              <a:off x="3989" y="1372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74" name="Rectangle 238"/>
            <p:cNvSpPr>
              <a:spLocks noChangeArrowheads="1"/>
            </p:cNvSpPr>
            <p:nvPr/>
          </p:nvSpPr>
          <p:spPr bwMode="auto">
            <a:xfrm>
              <a:off x="4176" y="1344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5" name="Rectangle 239"/>
            <p:cNvSpPr>
              <a:spLocks noChangeArrowheads="1"/>
            </p:cNvSpPr>
            <p:nvPr/>
          </p:nvSpPr>
          <p:spPr bwMode="auto">
            <a:xfrm>
              <a:off x="4266" y="1372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76" name="Rectangle 240"/>
            <p:cNvSpPr>
              <a:spLocks noChangeArrowheads="1"/>
            </p:cNvSpPr>
            <p:nvPr/>
          </p:nvSpPr>
          <p:spPr bwMode="auto">
            <a:xfrm>
              <a:off x="4464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7" name="Rectangle 241"/>
            <p:cNvSpPr>
              <a:spLocks noChangeArrowheads="1"/>
            </p:cNvSpPr>
            <p:nvPr/>
          </p:nvSpPr>
          <p:spPr bwMode="auto">
            <a:xfrm>
              <a:off x="4545" y="1372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78" name="Rectangle 242"/>
            <p:cNvSpPr>
              <a:spLocks noChangeArrowheads="1"/>
            </p:cNvSpPr>
            <p:nvPr/>
          </p:nvSpPr>
          <p:spPr bwMode="auto">
            <a:xfrm>
              <a:off x="3312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9" name="Rectangle 243"/>
            <p:cNvSpPr>
              <a:spLocks noChangeArrowheads="1"/>
            </p:cNvSpPr>
            <p:nvPr/>
          </p:nvSpPr>
          <p:spPr bwMode="auto">
            <a:xfrm>
              <a:off x="3417" y="1372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80" name="Rectangle 244"/>
            <p:cNvSpPr>
              <a:spLocks noChangeArrowheads="1"/>
            </p:cNvSpPr>
            <p:nvPr/>
          </p:nvSpPr>
          <p:spPr bwMode="auto">
            <a:xfrm>
              <a:off x="3600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1" name="Rectangle 245"/>
            <p:cNvSpPr>
              <a:spLocks noChangeArrowheads="1"/>
            </p:cNvSpPr>
            <p:nvPr/>
          </p:nvSpPr>
          <p:spPr bwMode="auto">
            <a:xfrm>
              <a:off x="3698" y="1372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82" name="Rectangle 246"/>
            <p:cNvSpPr>
              <a:spLocks noChangeArrowheads="1"/>
            </p:cNvSpPr>
            <p:nvPr/>
          </p:nvSpPr>
          <p:spPr bwMode="auto">
            <a:xfrm>
              <a:off x="3888" y="1344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3" name="Rectangle 247"/>
            <p:cNvSpPr>
              <a:spLocks noChangeArrowheads="1"/>
            </p:cNvSpPr>
            <p:nvPr/>
          </p:nvSpPr>
          <p:spPr bwMode="auto">
            <a:xfrm>
              <a:off x="3989" y="1372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84" name="Rectangle 248"/>
            <p:cNvSpPr>
              <a:spLocks noChangeArrowheads="1"/>
            </p:cNvSpPr>
            <p:nvPr/>
          </p:nvSpPr>
          <p:spPr bwMode="auto">
            <a:xfrm>
              <a:off x="4176" y="1344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5" name="Rectangle 249"/>
            <p:cNvSpPr>
              <a:spLocks noChangeArrowheads="1"/>
            </p:cNvSpPr>
            <p:nvPr/>
          </p:nvSpPr>
          <p:spPr bwMode="auto">
            <a:xfrm>
              <a:off x="4266" y="1372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86" name="Rectangle 250"/>
            <p:cNvSpPr>
              <a:spLocks noChangeArrowheads="1"/>
            </p:cNvSpPr>
            <p:nvPr/>
          </p:nvSpPr>
          <p:spPr bwMode="auto">
            <a:xfrm>
              <a:off x="4464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7" name="Rectangle 251"/>
            <p:cNvSpPr>
              <a:spLocks noChangeArrowheads="1"/>
            </p:cNvSpPr>
            <p:nvPr/>
          </p:nvSpPr>
          <p:spPr bwMode="auto">
            <a:xfrm>
              <a:off x="4545" y="1372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88" name="Rectangle 252"/>
            <p:cNvSpPr>
              <a:spLocks noChangeArrowheads="1"/>
            </p:cNvSpPr>
            <p:nvPr/>
          </p:nvSpPr>
          <p:spPr bwMode="auto">
            <a:xfrm>
              <a:off x="624" y="1536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9" name="Rectangle 253"/>
            <p:cNvSpPr>
              <a:spLocks noChangeArrowheads="1"/>
            </p:cNvSpPr>
            <p:nvPr/>
          </p:nvSpPr>
          <p:spPr bwMode="auto">
            <a:xfrm>
              <a:off x="746" y="157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424190" name="Rectangle 254"/>
            <p:cNvSpPr>
              <a:spLocks noChangeArrowheads="1"/>
            </p:cNvSpPr>
            <p:nvPr/>
          </p:nvSpPr>
          <p:spPr bwMode="auto">
            <a:xfrm>
              <a:off x="1184" y="1575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91" name="Rectangle 255"/>
            <p:cNvSpPr>
              <a:spLocks noChangeArrowheads="1"/>
            </p:cNvSpPr>
            <p:nvPr/>
          </p:nvSpPr>
          <p:spPr bwMode="auto">
            <a:xfrm>
              <a:off x="3600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2" name="Rectangle 256"/>
            <p:cNvSpPr>
              <a:spLocks noChangeArrowheads="1"/>
            </p:cNvSpPr>
            <p:nvPr/>
          </p:nvSpPr>
          <p:spPr bwMode="auto">
            <a:xfrm>
              <a:off x="3705" y="1564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93" name="Rectangle 257"/>
            <p:cNvSpPr>
              <a:spLocks noChangeArrowheads="1"/>
            </p:cNvSpPr>
            <p:nvPr/>
          </p:nvSpPr>
          <p:spPr bwMode="auto">
            <a:xfrm>
              <a:off x="3888" y="1536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4" name="Rectangle 258"/>
            <p:cNvSpPr>
              <a:spLocks noChangeArrowheads="1"/>
            </p:cNvSpPr>
            <p:nvPr/>
          </p:nvSpPr>
          <p:spPr bwMode="auto">
            <a:xfrm>
              <a:off x="3986" y="1564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95" name="Rectangle 259"/>
            <p:cNvSpPr>
              <a:spLocks noChangeArrowheads="1"/>
            </p:cNvSpPr>
            <p:nvPr/>
          </p:nvSpPr>
          <p:spPr bwMode="auto">
            <a:xfrm>
              <a:off x="4176" y="1536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6" name="Rectangle 260"/>
            <p:cNvSpPr>
              <a:spLocks noChangeArrowheads="1"/>
            </p:cNvSpPr>
            <p:nvPr/>
          </p:nvSpPr>
          <p:spPr bwMode="auto">
            <a:xfrm>
              <a:off x="4277" y="156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97" name="Rectangle 261"/>
            <p:cNvSpPr>
              <a:spLocks noChangeArrowheads="1"/>
            </p:cNvSpPr>
            <p:nvPr/>
          </p:nvSpPr>
          <p:spPr bwMode="auto">
            <a:xfrm>
              <a:off x="4464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8" name="Rectangle 262"/>
            <p:cNvSpPr>
              <a:spLocks noChangeArrowheads="1"/>
            </p:cNvSpPr>
            <p:nvPr/>
          </p:nvSpPr>
          <p:spPr bwMode="auto">
            <a:xfrm>
              <a:off x="4554" y="1564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99" name="Rectangle 263"/>
            <p:cNvSpPr>
              <a:spLocks noChangeArrowheads="1"/>
            </p:cNvSpPr>
            <p:nvPr/>
          </p:nvSpPr>
          <p:spPr bwMode="auto">
            <a:xfrm>
              <a:off x="4752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0" name="Rectangle 264"/>
            <p:cNvSpPr>
              <a:spLocks noChangeArrowheads="1"/>
            </p:cNvSpPr>
            <p:nvPr/>
          </p:nvSpPr>
          <p:spPr bwMode="auto">
            <a:xfrm>
              <a:off x="4833" y="1564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01" name="Rectangle 265"/>
            <p:cNvSpPr>
              <a:spLocks noChangeArrowheads="1"/>
            </p:cNvSpPr>
            <p:nvPr/>
          </p:nvSpPr>
          <p:spPr bwMode="auto">
            <a:xfrm>
              <a:off x="3600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2" name="Rectangle 266"/>
            <p:cNvSpPr>
              <a:spLocks noChangeArrowheads="1"/>
            </p:cNvSpPr>
            <p:nvPr/>
          </p:nvSpPr>
          <p:spPr bwMode="auto">
            <a:xfrm>
              <a:off x="3705" y="1564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03" name="Rectangle 267"/>
            <p:cNvSpPr>
              <a:spLocks noChangeArrowheads="1"/>
            </p:cNvSpPr>
            <p:nvPr/>
          </p:nvSpPr>
          <p:spPr bwMode="auto">
            <a:xfrm>
              <a:off x="3888" y="1536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4" name="Rectangle 268"/>
            <p:cNvSpPr>
              <a:spLocks noChangeArrowheads="1"/>
            </p:cNvSpPr>
            <p:nvPr/>
          </p:nvSpPr>
          <p:spPr bwMode="auto">
            <a:xfrm>
              <a:off x="3986" y="1564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05" name="Rectangle 269"/>
            <p:cNvSpPr>
              <a:spLocks noChangeArrowheads="1"/>
            </p:cNvSpPr>
            <p:nvPr/>
          </p:nvSpPr>
          <p:spPr bwMode="auto">
            <a:xfrm>
              <a:off x="4176" y="1536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6" name="Rectangle 270"/>
            <p:cNvSpPr>
              <a:spLocks noChangeArrowheads="1"/>
            </p:cNvSpPr>
            <p:nvPr/>
          </p:nvSpPr>
          <p:spPr bwMode="auto">
            <a:xfrm>
              <a:off x="4277" y="156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07" name="Rectangle 271"/>
            <p:cNvSpPr>
              <a:spLocks noChangeArrowheads="1"/>
            </p:cNvSpPr>
            <p:nvPr/>
          </p:nvSpPr>
          <p:spPr bwMode="auto">
            <a:xfrm>
              <a:off x="4464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8" name="Rectangle 272"/>
            <p:cNvSpPr>
              <a:spLocks noChangeArrowheads="1"/>
            </p:cNvSpPr>
            <p:nvPr/>
          </p:nvSpPr>
          <p:spPr bwMode="auto">
            <a:xfrm>
              <a:off x="4554" y="1564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09" name="Rectangle 273"/>
            <p:cNvSpPr>
              <a:spLocks noChangeArrowheads="1"/>
            </p:cNvSpPr>
            <p:nvPr/>
          </p:nvSpPr>
          <p:spPr bwMode="auto">
            <a:xfrm>
              <a:off x="4752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0" name="Rectangle 274"/>
            <p:cNvSpPr>
              <a:spLocks noChangeArrowheads="1"/>
            </p:cNvSpPr>
            <p:nvPr/>
          </p:nvSpPr>
          <p:spPr bwMode="auto">
            <a:xfrm>
              <a:off x="4833" y="1564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11" name="Rectangle 275"/>
            <p:cNvSpPr>
              <a:spLocks noChangeArrowheads="1"/>
            </p:cNvSpPr>
            <p:nvPr/>
          </p:nvSpPr>
          <p:spPr bwMode="auto">
            <a:xfrm>
              <a:off x="624" y="1728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2" name="Rectangle 276"/>
            <p:cNvSpPr>
              <a:spLocks noChangeArrowheads="1"/>
            </p:cNvSpPr>
            <p:nvPr/>
          </p:nvSpPr>
          <p:spPr bwMode="auto">
            <a:xfrm>
              <a:off x="746" y="1767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0x017: </a:t>
              </a:r>
              <a:endParaRPr lang="en-US" dirty="0"/>
            </a:p>
          </p:txBody>
        </p:sp>
        <p:sp>
          <p:nvSpPr>
            <p:cNvPr id="424213" name="Rectangle 277"/>
            <p:cNvSpPr>
              <a:spLocks noChangeArrowheads="1"/>
            </p:cNvSpPr>
            <p:nvPr/>
          </p:nvSpPr>
          <p:spPr bwMode="auto">
            <a:xfrm>
              <a:off x="1182" y="1767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4214" name="Rectangle 278"/>
            <p:cNvSpPr>
              <a:spLocks noChangeArrowheads="1"/>
            </p:cNvSpPr>
            <p:nvPr/>
          </p:nvSpPr>
          <p:spPr bwMode="auto">
            <a:xfrm>
              <a:off x="1486" y="1767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15" name="Rectangle 279"/>
            <p:cNvSpPr>
              <a:spLocks noChangeArrowheads="1"/>
            </p:cNvSpPr>
            <p:nvPr/>
          </p:nvSpPr>
          <p:spPr bwMode="auto">
            <a:xfrm>
              <a:off x="1585" y="176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16" name="Rectangle 280"/>
            <p:cNvSpPr>
              <a:spLocks noChangeArrowheads="1"/>
            </p:cNvSpPr>
            <p:nvPr/>
          </p:nvSpPr>
          <p:spPr bwMode="auto">
            <a:xfrm>
              <a:off x="1754" y="1767"/>
              <a:ext cx="20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4217" name="Rectangle 281"/>
            <p:cNvSpPr>
              <a:spLocks noChangeArrowheads="1"/>
            </p:cNvSpPr>
            <p:nvPr/>
          </p:nvSpPr>
          <p:spPr bwMode="auto">
            <a:xfrm>
              <a:off x="1920" y="176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18" name="Rectangle 282"/>
            <p:cNvSpPr>
              <a:spLocks noChangeArrowheads="1"/>
            </p:cNvSpPr>
            <p:nvPr/>
          </p:nvSpPr>
          <p:spPr bwMode="auto">
            <a:xfrm>
              <a:off x="3888" y="1728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9" name="Rectangle 283"/>
            <p:cNvSpPr>
              <a:spLocks noChangeArrowheads="1"/>
            </p:cNvSpPr>
            <p:nvPr/>
          </p:nvSpPr>
          <p:spPr bwMode="auto">
            <a:xfrm>
              <a:off x="3993" y="175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20" name="Rectangle 284"/>
            <p:cNvSpPr>
              <a:spLocks noChangeArrowheads="1"/>
            </p:cNvSpPr>
            <p:nvPr/>
          </p:nvSpPr>
          <p:spPr bwMode="auto">
            <a:xfrm>
              <a:off x="4176" y="1728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1" name="Rectangle 285"/>
            <p:cNvSpPr>
              <a:spLocks noChangeArrowheads="1"/>
            </p:cNvSpPr>
            <p:nvPr/>
          </p:nvSpPr>
          <p:spPr bwMode="auto">
            <a:xfrm>
              <a:off x="4274" y="175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22" name="Rectangle 286"/>
            <p:cNvSpPr>
              <a:spLocks noChangeArrowheads="1"/>
            </p:cNvSpPr>
            <p:nvPr/>
          </p:nvSpPr>
          <p:spPr bwMode="auto">
            <a:xfrm>
              <a:off x="4464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3" name="Rectangle 287"/>
            <p:cNvSpPr>
              <a:spLocks noChangeArrowheads="1"/>
            </p:cNvSpPr>
            <p:nvPr/>
          </p:nvSpPr>
          <p:spPr bwMode="auto">
            <a:xfrm>
              <a:off x="4565" y="175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24" name="Rectangle 288"/>
            <p:cNvSpPr>
              <a:spLocks noChangeArrowheads="1"/>
            </p:cNvSpPr>
            <p:nvPr/>
          </p:nvSpPr>
          <p:spPr bwMode="auto">
            <a:xfrm>
              <a:off x="4752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5" name="Rectangle 289"/>
            <p:cNvSpPr>
              <a:spLocks noChangeArrowheads="1"/>
            </p:cNvSpPr>
            <p:nvPr/>
          </p:nvSpPr>
          <p:spPr bwMode="auto">
            <a:xfrm>
              <a:off x="4842" y="175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26" name="Rectangle 290"/>
            <p:cNvSpPr>
              <a:spLocks noChangeArrowheads="1"/>
            </p:cNvSpPr>
            <p:nvPr/>
          </p:nvSpPr>
          <p:spPr bwMode="auto">
            <a:xfrm>
              <a:off x="5040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7" name="Rectangle 291"/>
            <p:cNvSpPr>
              <a:spLocks noChangeArrowheads="1"/>
            </p:cNvSpPr>
            <p:nvPr/>
          </p:nvSpPr>
          <p:spPr bwMode="auto">
            <a:xfrm>
              <a:off x="5121" y="175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28" name="Rectangle 292"/>
            <p:cNvSpPr>
              <a:spLocks noChangeArrowheads="1"/>
            </p:cNvSpPr>
            <p:nvPr/>
          </p:nvSpPr>
          <p:spPr bwMode="auto">
            <a:xfrm>
              <a:off x="3888" y="1728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9" name="Rectangle 293"/>
            <p:cNvSpPr>
              <a:spLocks noChangeArrowheads="1"/>
            </p:cNvSpPr>
            <p:nvPr/>
          </p:nvSpPr>
          <p:spPr bwMode="auto">
            <a:xfrm>
              <a:off x="3993" y="175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30" name="Rectangle 294"/>
            <p:cNvSpPr>
              <a:spLocks noChangeArrowheads="1"/>
            </p:cNvSpPr>
            <p:nvPr/>
          </p:nvSpPr>
          <p:spPr bwMode="auto">
            <a:xfrm>
              <a:off x="4176" y="1728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1" name="Rectangle 295"/>
            <p:cNvSpPr>
              <a:spLocks noChangeArrowheads="1"/>
            </p:cNvSpPr>
            <p:nvPr/>
          </p:nvSpPr>
          <p:spPr bwMode="auto">
            <a:xfrm>
              <a:off x="4274" y="175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32" name="Rectangle 296"/>
            <p:cNvSpPr>
              <a:spLocks noChangeArrowheads="1"/>
            </p:cNvSpPr>
            <p:nvPr/>
          </p:nvSpPr>
          <p:spPr bwMode="auto">
            <a:xfrm>
              <a:off x="4464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3" name="Rectangle 297"/>
            <p:cNvSpPr>
              <a:spLocks noChangeArrowheads="1"/>
            </p:cNvSpPr>
            <p:nvPr/>
          </p:nvSpPr>
          <p:spPr bwMode="auto">
            <a:xfrm>
              <a:off x="4565" y="175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34" name="Rectangle 298"/>
            <p:cNvSpPr>
              <a:spLocks noChangeArrowheads="1"/>
            </p:cNvSpPr>
            <p:nvPr/>
          </p:nvSpPr>
          <p:spPr bwMode="auto">
            <a:xfrm>
              <a:off x="4752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5" name="Rectangle 299"/>
            <p:cNvSpPr>
              <a:spLocks noChangeArrowheads="1"/>
            </p:cNvSpPr>
            <p:nvPr/>
          </p:nvSpPr>
          <p:spPr bwMode="auto">
            <a:xfrm>
              <a:off x="4842" y="175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36" name="Rectangle 300"/>
            <p:cNvSpPr>
              <a:spLocks noChangeArrowheads="1"/>
            </p:cNvSpPr>
            <p:nvPr/>
          </p:nvSpPr>
          <p:spPr bwMode="auto">
            <a:xfrm>
              <a:off x="5040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7" name="Rectangle 301"/>
            <p:cNvSpPr>
              <a:spLocks noChangeArrowheads="1"/>
            </p:cNvSpPr>
            <p:nvPr/>
          </p:nvSpPr>
          <p:spPr bwMode="auto">
            <a:xfrm>
              <a:off x="5121" y="175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38" name="Line 302"/>
            <p:cNvSpPr>
              <a:spLocks noChangeShapeType="1"/>
            </p:cNvSpPr>
            <p:nvPr/>
          </p:nvSpPr>
          <p:spPr bwMode="auto">
            <a:xfrm flipH="1">
              <a:off x="2976" y="1920"/>
              <a:ext cx="912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9" name="Line 303"/>
            <p:cNvSpPr>
              <a:spLocks noChangeShapeType="1"/>
            </p:cNvSpPr>
            <p:nvPr/>
          </p:nvSpPr>
          <p:spPr bwMode="auto">
            <a:xfrm>
              <a:off x="4176" y="1920"/>
              <a:ext cx="1" cy="16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0" name="Rectangle 304"/>
            <p:cNvSpPr>
              <a:spLocks noChangeArrowheads="1"/>
            </p:cNvSpPr>
            <p:nvPr/>
          </p:nvSpPr>
          <p:spPr bwMode="auto">
            <a:xfrm>
              <a:off x="5040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1" name="Rectangle 305"/>
            <p:cNvSpPr>
              <a:spLocks noChangeArrowheads="1"/>
            </p:cNvSpPr>
            <p:nvPr/>
          </p:nvSpPr>
          <p:spPr bwMode="auto">
            <a:xfrm>
              <a:off x="5131" y="572"/>
              <a:ext cx="148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24242" name="Rectangle 306"/>
            <p:cNvSpPr>
              <a:spLocks noChangeArrowheads="1"/>
            </p:cNvSpPr>
            <p:nvPr/>
          </p:nvSpPr>
          <p:spPr bwMode="auto">
            <a:xfrm>
              <a:off x="2976" y="2592"/>
              <a:ext cx="1201" cy="62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3" name="Rectangle 307"/>
            <p:cNvSpPr>
              <a:spLocks noChangeArrowheads="1"/>
            </p:cNvSpPr>
            <p:nvPr/>
          </p:nvSpPr>
          <p:spPr bwMode="auto">
            <a:xfrm>
              <a:off x="3513" y="263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44" name="Rectangle 308"/>
            <p:cNvSpPr>
              <a:spLocks noChangeArrowheads="1"/>
            </p:cNvSpPr>
            <p:nvPr/>
          </p:nvSpPr>
          <p:spPr bwMode="auto">
            <a:xfrm>
              <a:off x="2976" y="2832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5" name="Rectangle 309"/>
            <p:cNvSpPr>
              <a:spLocks noChangeArrowheads="1"/>
            </p:cNvSpPr>
            <p:nvPr/>
          </p:nvSpPr>
          <p:spPr bwMode="auto">
            <a:xfrm>
              <a:off x="3038" y="286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46" name="Rectangle 310"/>
            <p:cNvSpPr>
              <a:spLocks noChangeArrowheads="1"/>
            </p:cNvSpPr>
            <p:nvPr/>
          </p:nvSpPr>
          <p:spPr bwMode="auto">
            <a:xfrm>
              <a:off x="3150" y="287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47" name="Rectangle 311"/>
            <p:cNvSpPr>
              <a:spLocks noChangeArrowheads="1"/>
            </p:cNvSpPr>
            <p:nvPr/>
          </p:nvSpPr>
          <p:spPr bwMode="auto">
            <a:xfrm>
              <a:off x="3249" y="287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48" name="Rectangle 312"/>
            <p:cNvSpPr>
              <a:spLocks noChangeArrowheads="1"/>
            </p:cNvSpPr>
            <p:nvPr/>
          </p:nvSpPr>
          <p:spPr bwMode="auto">
            <a:xfrm>
              <a:off x="3418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49" name="Rectangle 313"/>
            <p:cNvSpPr>
              <a:spLocks noChangeArrowheads="1"/>
            </p:cNvSpPr>
            <p:nvPr/>
          </p:nvSpPr>
          <p:spPr bwMode="auto">
            <a:xfrm>
              <a:off x="3480" y="285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50" name="Rectangle 314"/>
            <p:cNvSpPr>
              <a:spLocks noChangeArrowheads="1"/>
            </p:cNvSpPr>
            <p:nvPr/>
          </p:nvSpPr>
          <p:spPr bwMode="auto">
            <a:xfrm>
              <a:off x="3611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51" name="Rectangle 315"/>
            <p:cNvSpPr>
              <a:spLocks noChangeArrowheads="1"/>
            </p:cNvSpPr>
            <p:nvPr/>
          </p:nvSpPr>
          <p:spPr bwMode="auto">
            <a:xfrm>
              <a:off x="2976" y="2592"/>
              <a:ext cx="1201" cy="62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52" name="Rectangle 316"/>
            <p:cNvSpPr>
              <a:spLocks noChangeArrowheads="1"/>
            </p:cNvSpPr>
            <p:nvPr/>
          </p:nvSpPr>
          <p:spPr bwMode="auto">
            <a:xfrm>
              <a:off x="3513" y="263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53" name="Rectangle 317"/>
            <p:cNvSpPr>
              <a:spLocks noChangeArrowheads="1"/>
            </p:cNvSpPr>
            <p:nvPr/>
          </p:nvSpPr>
          <p:spPr bwMode="auto">
            <a:xfrm>
              <a:off x="2976" y="2832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54" name="Rectangle 318"/>
            <p:cNvSpPr>
              <a:spLocks noChangeArrowheads="1"/>
            </p:cNvSpPr>
            <p:nvPr/>
          </p:nvSpPr>
          <p:spPr bwMode="auto">
            <a:xfrm>
              <a:off x="3038" y="286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55" name="Rectangle 319"/>
            <p:cNvSpPr>
              <a:spLocks noChangeArrowheads="1"/>
            </p:cNvSpPr>
            <p:nvPr/>
          </p:nvSpPr>
          <p:spPr bwMode="auto">
            <a:xfrm>
              <a:off x="3150" y="287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56" name="Rectangle 320"/>
            <p:cNvSpPr>
              <a:spLocks noChangeArrowheads="1"/>
            </p:cNvSpPr>
            <p:nvPr/>
          </p:nvSpPr>
          <p:spPr bwMode="auto">
            <a:xfrm>
              <a:off x="3249" y="287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57" name="Rectangle 321"/>
            <p:cNvSpPr>
              <a:spLocks noChangeArrowheads="1"/>
            </p:cNvSpPr>
            <p:nvPr/>
          </p:nvSpPr>
          <p:spPr bwMode="auto">
            <a:xfrm>
              <a:off x="3418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58" name="Rectangle 322"/>
            <p:cNvSpPr>
              <a:spLocks noChangeArrowheads="1"/>
            </p:cNvSpPr>
            <p:nvPr/>
          </p:nvSpPr>
          <p:spPr bwMode="auto">
            <a:xfrm>
              <a:off x="3480" y="285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59" name="Rectangle 323"/>
            <p:cNvSpPr>
              <a:spLocks noChangeArrowheads="1"/>
            </p:cNvSpPr>
            <p:nvPr/>
          </p:nvSpPr>
          <p:spPr bwMode="auto">
            <a:xfrm>
              <a:off x="3611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60" name="Rectangle 324"/>
            <p:cNvSpPr>
              <a:spLocks noChangeArrowheads="1"/>
            </p:cNvSpPr>
            <p:nvPr/>
          </p:nvSpPr>
          <p:spPr bwMode="auto">
            <a:xfrm>
              <a:off x="4176" y="3600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61" name="Rectangle 325"/>
            <p:cNvSpPr>
              <a:spLocks noChangeArrowheads="1"/>
            </p:cNvSpPr>
            <p:nvPr/>
          </p:nvSpPr>
          <p:spPr bwMode="auto">
            <a:xfrm>
              <a:off x="4730" y="364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62" name="Rectangle 326"/>
            <p:cNvSpPr>
              <a:spLocks noChangeArrowheads="1"/>
            </p:cNvSpPr>
            <p:nvPr/>
          </p:nvSpPr>
          <p:spPr bwMode="auto">
            <a:xfrm>
              <a:off x="4176" y="3840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63" name="Rectangle 327"/>
            <p:cNvSpPr>
              <a:spLocks noChangeArrowheads="1"/>
            </p:cNvSpPr>
            <p:nvPr/>
          </p:nvSpPr>
          <p:spPr bwMode="auto">
            <a:xfrm>
              <a:off x="4262" y="3872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valA</a:t>
              </a:r>
              <a:endParaRPr lang="en-US"/>
            </a:p>
          </p:txBody>
        </p:sp>
        <p:sp>
          <p:nvSpPr>
            <p:cNvPr id="424264" name="Rectangle 328"/>
            <p:cNvSpPr>
              <a:spLocks noChangeArrowheads="1"/>
            </p:cNvSpPr>
            <p:nvPr/>
          </p:nvSpPr>
          <p:spPr bwMode="auto">
            <a:xfrm>
              <a:off x="4486" y="386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65" name="Rectangle 329"/>
            <p:cNvSpPr>
              <a:spLocks noChangeArrowheads="1"/>
            </p:cNvSpPr>
            <p:nvPr/>
          </p:nvSpPr>
          <p:spPr bwMode="auto">
            <a:xfrm>
              <a:off x="4617" y="387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66" name="Rectangle 330"/>
            <p:cNvSpPr>
              <a:spLocks noChangeArrowheads="1"/>
            </p:cNvSpPr>
            <p:nvPr/>
          </p:nvSpPr>
          <p:spPr bwMode="auto">
            <a:xfrm>
              <a:off x="4729" y="388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67" name="Rectangle 331"/>
            <p:cNvSpPr>
              <a:spLocks noChangeArrowheads="1"/>
            </p:cNvSpPr>
            <p:nvPr/>
          </p:nvSpPr>
          <p:spPr bwMode="auto">
            <a:xfrm>
              <a:off x="4828" y="388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68" name="Rectangle 332"/>
            <p:cNvSpPr>
              <a:spLocks noChangeArrowheads="1"/>
            </p:cNvSpPr>
            <p:nvPr/>
          </p:nvSpPr>
          <p:spPr bwMode="auto">
            <a:xfrm>
              <a:off x="4997" y="387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69" name="Rectangle 333"/>
            <p:cNvSpPr>
              <a:spLocks noChangeArrowheads="1"/>
            </p:cNvSpPr>
            <p:nvPr/>
          </p:nvSpPr>
          <p:spPr bwMode="auto">
            <a:xfrm>
              <a:off x="5059" y="387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70" name="Rectangle 334"/>
            <p:cNvSpPr>
              <a:spLocks noChangeArrowheads="1"/>
            </p:cNvSpPr>
            <p:nvPr/>
          </p:nvSpPr>
          <p:spPr bwMode="auto">
            <a:xfrm>
              <a:off x="5155" y="3872"/>
              <a:ext cx="173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4271" name="Rectangle 335"/>
            <p:cNvSpPr>
              <a:spLocks noChangeArrowheads="1"/>
            </p:cNvSpPr>
            <p:nvPr/>
          </p:nvSpPr>
          <p:spPr bwMode="auto">
            <a:xfrm>
              <a:off x="4262" y="4019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valB</a:t>
              </a:r>
              <a:endParaRPr lang="en-US"/>
            </a:p>
          </p:txBody>
        </p:sp>
        <p:sp>
          <p:nvSpPr>
            <p:cNvPr id="424272" name="Rectangle 336"/>
            <p:cNvSpPr>
              <a:spLocks noChangeArrowheads="1"/>
            </p:cNvSpPr>
            <p:nvPr/>
          </p:nvSpPr>
          <p:spPr bwMode="auto">
            <a:xfrm>
              <a:off x="4486" y="4015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73" name="Rectangle 337"/>
            <p:cNvSpPr>
              <a:spLocks noChangeArrowheads="1"/>
            </p:cNvSpPr>
            <p:nvPr/>
          </p:nvSpPr>
          <p:spPr bwMode="auto">
            <a:xfrm>
              <a:off x="4617" y="4019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74" name="Rectangle 338"/>
            <p:cNvSpPr>
              <a:spLocks noChangeArrowheads="1"/>
            </p:cNvSpPr>
            <p:nvPr/>
          </p:nvSpPr>
          <p:spPr bwMode="auto">
            <a:xfrm>
              <a:off x="4729" y="4031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75" name="Rectangle 339"/>
            <p:cNvSpPr>
              <a:spLocks noChangeArrowheads="1"/>
            </p:cNvSpPr>
            <p:nvPr/>
          </p:nvSpPr>
          <p:spPr bwMode="auto">
            <a:xfrm>
              <a:off x="4828" y="4031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76" name="Rectangle 340"/>
            <p:cNvSpPr>
              <a:spLocks noChangeArrowheads="1"/>
            </p:cNvSpPr>
            <p:nvPr/>
          </p:nvSpPr>
          <p:spPr bwMode="auto">
            <a:xfrm>
              <a:off x="4997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77" name="Rectangle 341"/>
            <p:cNvSpPr>
              <a:spLocks noChangeArrowheads="1"/>
            </p:cNvSpPr>
            <p:nvPr/>
          </p:nvSpPr>
          <p:spPr bwMode="auto">
            <a:xfrm>
              <a:off x="5059" y="4019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78" name="Rectangle 342"/>
            <p:cNvSpPr>
              <a:spLocks noChangeArrowheads="1"/>
            </p:cNvSpPr>
            <p:nvPr/>
          </p:nvSpPr>
          <p:spPr bwMode="auto">
            <a:xfrm>
              <a:off x="5155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79" name="Rectangle 343"/>
            <p:cNvSpPr>
              <a:spLocks noChangeArrowheads="1"/>
            </p:cNvSpPr>
            <p:nvPr/>
          </p:nvSpPr>
          <p:spPr bwMode="auto">
            <a:xfrm>
              <a:off x="4176" y="3600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80" name="Rectangle 344"/>
            <p:cNvSpPr>
              <a:spLocks noChangeArrowheads="1"/>
            </p:cNvSpPr>
            <p:nvPr/>
          </p:nvSpPr>
          <p:spPr bwMode="auto">
            <a:xfrm>
              <a:off x="4730" y="364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81" name="Rectangle 345"/>
            <p:cNvSpPr>
              <a:spLocks noChangeArrowheads="1"/>
            </p:cNvSpPr>
            <p:nvPr/>
          </p:nvSpPr>
          <p:spPr bwMode="auto">
            <a:xfrm>
              <a:off x="4176" y="3840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82" name="Rectangle 346"/>
            <p:cNvSpPr>
              <a:spLocks noChangeArrowheads="1"/>
            </p:cNvSpPr>
            <p:nvPr/>
          </p:nvSpPr>
          <p:spPr bwMode="auto">
            <a:xfrm>
              <a:off x="4262" y="3872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valA</a:t>
              </a:r>
              <a:endParaRPr lang="en-US"/>
            </a:p>
          </p:txBody>
        </p:sp>
        <p:sp>
          <p:nvSpPr>
            <p:cNvPr id="424283" name="Rectangle 347"/>
            <p:cNvSpPr>
              <a:spLocks noChangeArrowheads="1"/>
            </p:cNvSpPr>
            <p:nvPr/>
          </p:nvSpPr>
          <p:spPr bwMode="auto">
            <a:xfrm>
              <a:off x="4486" y="386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84" name="Rectangle 348"/>
            <p:cNvSpPr>
              <a:spLocks noChangeArrowheads="1"/>
            </p:cNvSpPr>
            <p:nvPr/>
          </p:nvSpPr>
          <p:spPr bwMode="auto">
            <a:xfrm>
              <a:off x="4617" y="387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85" name="Rectangle 349"/>
            <p:cNvSpPr>
              <a:spLocks noChangeArrowheads="1"/>
            </p:cNvSpPr>
            <p:nvPr/>
          </p:nvSpPr>
          <p:spPr bwMode="auto">
            <a:xfrm>
              <a:off x="4729" y="388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86" name="Rectangle 350"/>
            <p:cNvSpPr>
              <a:spLocks noChangeArrowheads="1"/>
            </p:cNvSpPr>
            <p:nvPr/>
          </p:nvSpPr>
          <p:spPr bwMode="auto">
            <a:xfrm>
              <a:off x="4828" y="388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87" name="Rectangle 351"/>
            <p:cNvSpPr>
              <a:spLocks noChangeArrowheads="1"/>
            </p:cNvSpPr>
            <p:nvPr/>
          </p:nvSpPr>
          <p:spPr bwMode="auto">
            <a:xfrm>
              <a:off x="4997" y="387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88" name="Rectangle 352"/>
            <p:cNvSpPr>
              <a:spLocks noChangeArrowheads="1"/>
            </p:cNvSpPr>
            <p:nvPr/>
          </p:nvSpPr>
          <p:spPr bwMode="auto">
            <a:xfrm>
              <a:off x="5059" y="387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89" name="Rectangle 353"/>
            <p:cNvSpPr>
              <a:spLocks noChangeArrowheads="1"/>
            </p:cNvSpPr>
            <p:nvPr/>
          </p:nvSpPr>
          <p:spPr bwMode="auto">
            <a:xfrm>
              <a:off x="5155" y="3872"/>
              <a:ext cx="173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4290" name="Rectangle 354"/>
            <p:cNvSpPr>
              <a:spLocks noChangeArrowheads="1"/>
            </p:cNvSpPr>
            <p:nvPr/>
          </p:nvSpPr>
          <p:spPr bwMode="auto">
            <a:xfrm>
              <a:off x="4262" y="4019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valB</a:t>
              </a:r>
              <a:endParaRPr lang="en-US"/>
            </a:p>
          </p:txBody>
        </p:sp>
        <p:sp>
          <p:nvSpPr>
            <p:cNvPr id="424291" name="Rectangle 355"/>
            <p:cNvSpPr>
              <a:spLocks noChangeArrowheads="1"/>
            </p:cNvSpPr>
            <p:nvPr/>
          </p:nvSpPr>
          <p:spPr bwMode="auto">
            <a:xfrm>
              <a:off x="4486" y="4015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92" name="Rectangle 356"/>
            <p:cNvSpPr>
              <a:spLocks noChangeArrowheads="1"/>
            </p:cNvSpPr>
            <p:nvPr/>
          </p:nvSpPr>
          <p:spPr bwMode="auto">
            <a:xfrm>
              <a:off x="4617" y="4019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93" name="Rectangle 357"/>
            <p:cNvSpPr>
              <a:spLocks noChangeArrowheads="1"/>
            </p:cNvSpPr>
            <p:nvPr/>
          </p:nvSpPr>
          <p:spPr bwMode="auto">
            <a:xfrm>
              <a:off x="4729" y="4031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94" name="Rectangle 358"/>
            <p:cNvSpPr>
              <a:spLocks noChangeArrowheads="1"/>
            </p:cNvSpPr>
            <p:nvPr/>
          </p:nvSpPr>
          <p:spPr bwMode="auto">
            <a:xfrm>
              <a:off x="4828" y="4031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95" name="Rectangle 359"/>
            <p:cNvSpPr>
              <a:spLocks noChangeArrowheads="1"/>
            </p:cNvSpPr>
            <p:nvPr/>
          </p:nvSpPr>
          <p:spPr bwMode="auto">
            <a:xfrm>
              <a:off x="4997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96" name="Rectangle 360"/>
            <p:cNvSpPr>
              <a:spLocks noChangeArrowheads="1"/>
            </p:cNvSpPr>
            <p:nvPr/>
          </p:nvSpPr>
          <p:spPr bwMode="auto">
            <a:xfrm>
              <a:off x="5059" y="4019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97" name="Rectangle 361"/>
            <p:cNvSpPr>
              <a:spLocks noChangeArrowheads="1"/>
            </p:cNvSpPr>
            <p:nvPr/>
          </p:nvSpPr>
          <p:spPr bwMode="auto">
            <a:xfrm>
              <a:off x="5155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98" name="Rectangle 362"/>
            <p:cNvSpPr>
              <a:spLocks noChangeArrowheads="1"/>
            </p:cNvSpPr>
            <p:nvPr/>
          </p:nvSpPr>
          <p:spPr bwMode="auto">
            <a:xfrm>
              <a:off x="624" y="576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99" name="Rectangle 363"/>
            <p:cNvSpPr>
              <a:spLocks noChangeArrowheads="1"/>
            </p:cNvSpPr>
            <p:nvPr/>
          </p:nvSpPr>
          <p:spPr bwMode="auto">
            <a:xfrm>
              <a:off x="687" y="610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demo-h3.ys</a:t>
              </a:r>
              <a:endParaRPr lang="en-US"/>
            </a:p>
          </p:txBody>
        </p:sp>
        <p:sp>
          <p:nvSpPr>
            <p:cNvPr id="424300" name="Rectangle 364"/>
            <p:cNvSpPr>
              <a:spLocks noChangeArrowheads="1"/>
            </p:cNvSpPr>
            <p:nvPr/>
          </p:nvSpPr>
          <p:spPr bwMode="auto">
            <a:xfrm>
              <a:off x="3024" y="2352"/>
              <a:ext cx="110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1" name="Rectangle 365"/>
            <p:cNvSpPr>
              <a:spLocks noChangeArrowheads="1"/>
            </p:cNvSpPr>
            <p:nvPr/>
          </p:nvSpPr>
          <p:spPr bwMode="auto">
            <a:xfrm>
              <a:off x="3364" y="2390"/>
              <a:ext cx="480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Cycle 6</a:t>
              </a:r>
              <a:endParaRPr lang="en-US"/>
            </a:p>
          </p:txBody>
        </p:sp>
        <p:sp>
          <p:nvSpPr>
            <p:cNvPr id="424302" name="Rectangle 366"/>
            <p:cNvSpPr>
              <a:spLocks noChangeArrowheads="1"/>
            </p:cNvSpPr>
            <p:nvPr/>
          </p:nvSpPr>
          <p:spPr bwMode="auto">
            <a:xfrm>
              <a:off x="532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3" name="Rectangle 367"/>
            <p:cNvSpPr>
              <a:spLocks noChangeArrowheads="1"/>
            </p:cNvSpPr>
            <p:nvPr/>
          </p:nvSpPr>
          <p:spPr bwMode="auto">
            <a:xfrm>
              <a:off x="5419" y="572"/>
              <a:ext cx="148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11</a:t>
              </a:r>
              <a:endParaRPr lang="en-US"/>
            </a:p>
          </p:txBody>
        </p:sp>
        <p:sp>
          <p:nvSpPr>
            <p:cNvPr id="424304" name="Rectangle 368"/>
            <p:cNvSpPr>
              <a:spLocks noChangeArrowheads="1"/>
            </p:cNvSpPr>
            <p:nvPr/>
          </p:nvSpPr>
          <p:spPr bwMode="auto">
            <a:xfrm>
              <a:off x="624" y="1920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5" name="Rectangle 369"/>
            <p:cNvSpPr>
              <a:spLocks noChangeArrowheads="1"/>
            </p:cNvSpPr>
            <p:nvPr/>
          </p:nvSpPr>
          <p:spPr bwMode="auto">
            <a:xfrm>
              <a:off x="711" y="1959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0x019: halt</a:t>
              </a:r>
              <a:endParaRPr lang="en-US" dirty="0"/>
            </a:p>
          </p:txBody>
        </p:sp>
        <p:grpSp>
          <p:nvGrpSpPr>
            <p:cNvPr id="424329" name="Group 393"/>
            <p:cNvGrpSpPr>
              <a:grpSpLocks/>
            </p:cNvGrpSpPr>
            <p:nvPr/>
          </p:nvGrpSpPr>
          <p:grpSpPr bwMode="auto">
            <a:xfrm>
              <a:off x="4176" y="1920"/>
              <a:ext cx="1441" cy="1701"/>
              <a:chOff x="4176" y="1920"/>
              <a:chExt cx="1441" cy="1701"/>
            </a:xfrm>
          </p:grpSpPr>
          <p:sp>
            <p:nvSpPr>
              <p:cNvPr id="424306" name="Rectangle 370"/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289" cy="19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07" name="Rectangle 371"/>
              <p:cNvSpPr>
                <a:spLocks noChangeArrowheads="1"/>
              </p:cNvSpPr>
              <p:nvPr/>
            </p:nvSpPr>
            <p:spPr bwMode="auto">
              <a:xfrm>
                <a:off x="4281" y="1948"/>
                <a:ext cx="135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24308" name="Rectangle 372"/>
              <p:cNvSpPr>
                <a:spLocks noChangeArrowheads="1"/>
              </p:cNvSpPr>
              <p:nvPr/>
            </p:nvSpPr>
            <p:spPr bwMode="auto">
              <a:xfrm>
                <a:off x="4464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09" name="Rectangle 373"/>
              <p:cNvSpPr>
                <a:spLocks noChangeArrowheads="1"/>
              </p:cNvSpPr>
              <p:nvPr/>
            </p:nvSpPr>
            <p:spPr bwMode="auto">
              <a:xfrm>
                <a:off x="4562" y="19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4310" name="Rectangle 374"/>
              <p:cNvSpPr>
                <a:spLocks noChangeArrowheads="1"/>
              </p:cNvSpPr>
              <p:nvPr/>
            </p:nvSpPr>
            <p:spPr bwMode="auto">
              <a:xfrm>
                <a:off x="4752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1" name="Rectangle 375"/>
              <p:cNvSpPr>
                <a:spLocks noChangeArrowheads="1"/>
              </p:cNvSpPr>
              <p:nvPr/>
            </p:nvSpPr>
            <p:spPr bwMode="auto">
              <a:xfrm>
                <a:off x="4853" y="1948"/>
                <a:ext cx="14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24312" name="Rectangle 376"/>
              <p:cNvSpPr>
                <a:spLocks noChangeArrowheads="1"/>
              </p:cNvSpPr>
              <p:nvPr/>
            </p:nvSpPr>
            <p:spPr bwMode="auto">
              <a:xfrm>
                <a:off x="5040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3" name="Rectangle 377"/>
              <p:cNvSpPr>
                <a:spLocks noChangeArrowheads="1"/>
              </p:cNvSpPr>
              <p:nvPr/>
            </p:nvSpPr>
            <p:spPr bwMode="auto">
              <a:xfrm>
                <a:off x="5130" y="1948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4314" name="Rectangle 378"/>
              <p:cNvSpPr>
                <a:spLocks noChangeArrowheads="1"/>
              </p:cNvSpPr>
              <p:nvPr/>
            </p:nvSpPr>
            <p:spPr bwMode="auto">
              <a:xfrm>
                <a:off x="5328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5" name="Rectangle 379"/>
              <p:cNvSpPr>
                <a:spLocks noChangeArrowheads="1"/>
              </p:cNvSpPr>
              <p:nvPr/>
            </p:nvSpPr>
            <p:spPr bwMode="auto">
              <a:xfrm>
                <a:off x="5409" y="1948"/>
                <a:ext cx="18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4316" name="Rectangle 380"/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289" cy="19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7" name="Rectangle 381"/>
              <p:cNvSpPr>
                <a:spLocks noChangeArrowheads="1"/>
              </p:cNvSpPr>
              <p:nvPr/>
            </p:nvSpPr>
            <p:spPr bwMode="auto">
              <a:xfrm>
                <a:off x="4281" y="1948"/>
                <a:ext cx="135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24318" name="Rectangle 382"/>
              <p:cNvSpPr>
                <a:spLocks noChangeArrowheads="1"/>
              </p:cNvSpPr>
              <p:nvPr/>
            </p:nvSpPr>
            <p:spPr bwMode="auto">
              <a:xfrm>
                <a:off x="4464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9" name="Rectangle 383"/>
              <p:cNvSpPr>
                <a:spLocks noChangeArrowheads="1"/>
              </p:cNvSpPr>
              <p:nvPr/>
            </p:nvSpPr>
            <p:spPr bwMode="auto">
              <a:xfrm>
                <a:off x="4562" y="19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4320" name="Rectangle 384"/>
              <p:cNvSpPr>
                <a:spLocks noChangeArrowheads="1"/>
              </p:cNvSpPr>
              <p:nvPr/>
            </p:nvSpPr>
            <p:spPr bwMode="auto">
              <a:xfrm>
                <a:off x="4752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1" name="Rectangle 385"/>
              <p:cNvSpPr>
                <a:spLocks noChangeArrowheads="1"/>
              </p:cNvSpPr>
              <p:nvPr/>
            </p:nvSpPr>
            <p:spPr bwMode="auto">
              <a:xfrm>
                <a:off x="4853" y="1948"/>
                <a:ext cx="14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24322" name="Rectangle 386"/>
              <p:cNvSpPr>
                <a:spLocks noChangeArrowheads="1"/>
              </p:cNvSpPr>
              <p:nvPr/>
            </p:nvSpPr>
            <p:spPr bwMode="auto">
              <a:xfrm>
                <a:off x="5040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3" name="Rectangle 387"/>
              <p:cNvSpPr>
                <a:spLocks noChangeArrowheads="1"/>
              </p:cNvSpPr>
              <p:nvPr/>
            </p:nvSpPr>
            <p:spPr bwMode="auto">
              <a:xfrm>
                <a:off x="5130" y="1948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4324" name="Rectangle 388"/>
              <p:cNvSpPr>
                <a:spLocks noChangeArrowheads="1"/>
              </p:cNvSpPr>
              <p:nvPr/>
            </p:nvSpPr>
            <p:spPr bwMode="auto">
              <a:xfrm>
                <a:off x="5328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5" name="Rectangle 389"/>
              <p:cNvSpPr>
                <a:spLocks noChangeArrowheads="1"/>
              </p:cNvSpPr>
              <p:nvPr/>
            </p:nvSpPr>
            <p:spPr bwMode="auto">
              <a:xfrm>
                <a:off x="5409" y="1948"/>
                <a:ext cx="18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4326" name="Line 390"/>
              <p:cNvSpPr>
                <a:spLocks noChangeShapeType="1"/>
              </p:cNvSpPr>
              <p:nvPr/>
            </p:nvSpPr>
            <p:spPr bwMode="auto">
              <a:xfrm>
                <a:off x="4464" y="2112"/>
                <a:ext cx="912" cy="14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7" name="Rectangle 391"/>
              <p:cNvSpPr>
                <a:spLocks noChangeArrowheads="1"/>
              </p:cNvSpPr>
              <p:nvPr/>
            </p:nvSpPr>
            <p:spPr bwMode="auto">
              <a:xfrm>
                <a:off x="4176" y="3408"/>
                <a:ext cx="115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8" name="Rectangle 392"/>
              <p:cNvSpPr>
                <a:spLocks noChangeArrowheads="1"/>
              </p:cNvSpPr>
              <p:nvPr/>
            </p:nvSpPr>
            <p:spPr bwMode="auto">
              <a:xfrm>
                <a:off x="4540" y="3446"/>
                <a:ext cx="480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7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272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704263" cy="779463"/>
          </a:xfrm>
        </p:spPr>
        <p:txBody>
          <a:bodyPr/>
          <a:lstStyle/>
          <a:p>
            <a:r>
              <a:rPr lang="en-US"/>
              <a:t>Data Dependencies: 2 Nop’s</a:t>
            </a:r>
          </a:p>
        </p:txBody>
      </p:sp>
      <p:grpSp>
        <p:nvGrpSpPr>
          <p:cNvPr id="425492" name="Group 532"/>
          <p:cNvGrpSpPr>
            <a:grpSpLocks/>
          </p:cNvGrpSpPr>
          <p:nvPr/>
        </p:nvGrpSpPr>
        <p:grpSpPr bwMode="auto">
          <a:xfrm>
            <a:off x="762000" y="762000"/>
            <a:ext cx="7469188" cy="5564188"/>
            <a:chOff x="519" y="399"/>
            <a:chExt cx="4705" cy="3505"/>
          </a:xfrm>
        </p:grpSpPr>
        <p:sp>
          <p:nvSpPr>
            <p:cNvPr id="425221" name="Rectangle 261"/>
            <p:cNvSpPr>
              <a:spLocks noChangeArrowheads="1"/>
            </p:cNvSpPr>
            <p:nvPr/>
          </p:nvSpPr>
          <p:spPr bwMode="auto">
            <a:xfrm>
              <a:off x="519" y="63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2" name="Rectangle 262"/>
            <p:cNvSpPr>
              <a:spLocks noChangeArrowheads="1"/>
            </p:cNvSpPr>
            <p:nvPr/>
          </p:nvSpPr>
          <p:spPr bwMode="auto">
            <a:xfrm>
              <a:off x="610" y="678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5223" name="Rectangle 263"/>
            <p:cNvSpPr>
              <a:spLocks noChangeArrowheads="1"/>
            </p:cNvSpPr>
            <p:nvPr/>
          </p:nvSpPr>
          <p:spPr bwMode="auto">
            <a:xfrm>
              <a:off x="1110" y="67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24" name="Rectangle 264"/>
            <p:cNvSpPr>
              <a:spLocks noChangeArrowheads="1"/>
            </p:cNvSpPr>
            <p:nvPr/>
          </p:nvSpPr>
          <p:spPr bwMode="auto">
            <a:xfrm>
              <a:off x="1548" y="678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5225" name="Rectangle 265"/>
            <p:cNvSpPr>
              <a:spLocks noChangeArrowheads="1"/>
            </p:cNvSpPr>
            <p:nvPr/>
          </p:nvSpPr>
          <p:spPr bwMode="auto">
            <a:xfrm>
              <a:off x="1882" y="67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5226" name="Rectangle 266"/>
            <p:cNvSpPr>
              <a:spLocks noChangeArrowheads="1"/>
            </p:cNvSpPr>
            <p:nvPr/>
          </p:nvSpPr>
          <p:spPr bwMode="auto">
            <a:xfrm>
              <a:off x="234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7" name="Rectangle 267"/>
            <p:cNvSpPr>
              <a:spLocks noChangeArrowheads="1"/>
            </p:cNvSpPr>
            <p:nvPr/>
          </p:nvSpPr>
          <p:spPr bwMode="auto">
            <a:xfrm>
              <a:off x="248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5228" name="Rectangle 268"/>
            <p:cNvSpPr>
              <a:spLocks noChangeArrowheads="1"/>
            </p:cNvSpPr>
            <p:nvPr/>
          </p:nvSpPr>
          <p:spPr bwMode="auto">
            <a:xfrm>
              <a:off x="263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9" name="Rectangle 269"/>
            <p:cNvSpPr>
              <a:spLocks noChangeArrowheads="1"/>
            </p:cNvSpPr>
            <p:nvPr/>
          </p:nvSpPr>
          <p:spPr bwMode="auto">
            <a:xfrm>
              <a:off x="276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5230" name="Rectangle 270"/>
            <p:cNvSpPr>
              <a:spLocks noChangeArrowheads="1"/>
            </p:cNvSpPr>
            <p:nvPr/>
          </p:nvSpPr>
          <p:spPr bwMode="auto">
            <a:xfrm>
              <a:off x="291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1" name="Rectangle 271"/>
            <p:cNvSpPr>
              <a:spLocks noChangeArrowheads="1"/>
            </p:cNvSpPr>
            <p:nvPr/>
          </p:nvSpPr>
          <p:spPr bwMode="auto">
            <a:xfrm>
              <a:off x="305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5232" name="Rectangle 272"/>
            <p:cNvSpPr>
              <a:spLocks noChangeArrowheads="1"/>
            </p:cNvSpPr>
            <p:nvPr/>
          </p:nvSpPr>
          <p:spPr bwMode="auto">
            <a:xfrm>
              <a:off x="320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3" name="Rectangle 273"/>
            <p:cNvSpPr>
              <a:spLocks noChangeArrowheads="1"/>
            </p:cNvSpPr>
            <p:nvPr/>
          </p:nvSpPr>
          <p:spPr bwMode="auto">
            <a:xfrm>
              <a:off x="334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5234" name="Rectangle 274"/>
            <p:cNvSpPr>
              <a:spLocks noChangeArrowheads="1"/>
            </p:cNvSpPr>
            <p:nvPr/>
          </p:nvSpPr>
          <p:spPr bwMode="auto">
            <a:xfrm>
              <a:off x="349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5" name="Rectangle 275"/>
            <p:cNvSpPr>
              <a:spLocks noChangeArrowheads="1"/>
            </p:cNvSpPr>
            <p:nvPr/>
          </p:nvSpPr>
          <p:spPr bwMode="auto">
            <a:xfrm>
              <a:off x="3633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5236" name="Rectangle 276"/>
            <p:cNvSpPr>
              <a:spLocks noChangeArrowheads="1"/>
            </p:cNvSpPr>
            <p:nvPr/>
          </p:nvSpPr>
          <p:spPr bwMode="auto">
            <a:xfrm>
              <a:off x="378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7" name="Rectangle 277"/>
            <p:cNvSpPr>
              <a:spLocks noChangeArrowheads="1"/>
            </p:cNvSpPr>
            <p:nvPr/>
          </p:nvSpPr>
          <p:spPr bwMode="auto">
            <a:xfrm>
              <a:off x="392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5238" name="Rectangle 278"/>
            <p:cNvSpPr>
              <a:spLocks noChangeArrowheads="1"/>
            </p:cNvSpPr>
            <p:nvPr/>
          </p:nvSpPr>
          <p:spPr bwMode="auto">
            <a:xfrm>
              <a:off x="407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9" name="Rectangle 279"/>
            <p:cNvSpPr>
              <a:spLocks noChangeArrowheads="1"/>
            </p:cNvSpPr>
            <p:nvPr/>
          </p:nvSpPr>
          <p:spPr bwMode="auto">
            <a:xfrm>
              <a:off x="420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5240" name="Rectangle 280"/>
            <p:cNvSpPr>
              <a:spLocks noChangeArrowheads="1"/>
            </p:cNvSpPr>
            <p:nvPr/>
          </p:nvSpPr>
          <p:spPr bwMode="auto">
            <a:xfrm>
              <a:off x="435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1" name="Rectangle 281"/>
            <p:cNvSpPr>
              <a:spLocks noChangeArrowheads="1"/>
            </p:cNvSpPr>
            <p:nvPr/>
          </p:nvSpPr>
          <p:spPr bwMode="auto">
            <a:xfrm>
              <a:off x="449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5242" name="Rectangle 282"/>
            <p:cNvSpPr>
              <a:spLocks noChangeArrowheads="1"/>
            </p:cNvSpPr>
            <p:nvPr/>
          </p:nvSpPr>
          <p:spPr bwMode="auto">
            <a:xfrm>
              <a:off x="464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3" name="Rectangle 283"/>
            <p:cNvSpPr>
              <a:spLocks noChangeArrowheads="1"/>
            </p:cNvSpPr>
            <p:nvPr/>
          </p:nvSpPr>
          <p:spPr bwMode="auto">
            <a:xfrm>
              <a:off x="478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5244" name="Rectangle 28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5" name="Rectangle 28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46" name="Rectangle 28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7" name="Rectangle 28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48" name="Rectangle 28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9" name="Rectangle 28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50" name="Rectangle 29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1" name="Rectangle 29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52" name="Rectangle 29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3" name="Rectangle 29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54" name="Rectangle 29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5" name="Rectangle 29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56" name="Rectangle 29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7" name="Rectangle 29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58" name="Rectangle 29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9" name="Rectangle 29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60" name="Rectangle 30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1" name="Rectangle 30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62" name="Rectangle 30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3" name="Rectangle 30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64" name="Rectangle 304"/>
            <p:cNvSpPr>
              <a:spLocks noChangeArrowheads="1"/>
            </p:cNvSpPr>
            <p:nvPr/>
          </p:nvSpPr>
          <p:spPr bwMode="auto">
            <a:xfrm>
              <a:off x="519" y="83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5" name="Rectangle 305"/>
            <p:cNvSpPr>
              <a:spLocks noChangeArrowheads="1"/>
            </p:cNvSpPr>
            <p:nvPr/>
          </p:nvSpPr>
          <p:spPr bwMode="auto">
            <a:xfrm>
              <a:off x="641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5266" name="Rectangle 306"/>
            <p:cNvSpPr>
              <a:spLocks noChangeArrowheads="1"/>
            </p:cNvSpPr>
            <p:nvPr/>
          </p:nvSpPr>
          <p:spPr bwMode="auto">
            <a:xfrm>
              <a:off x="1110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67" name="Rectangle 307"/>
            <p:cNvSpPr>
              <a:spLocks noChangeArrowheads="1"/>
            </p:cNvSpPr>
            <p:nvPr/>
          </p:nvSpPr>
          <p:spPr bwMode="auto">
            <a:xfrm>
              <a:off x="1615" y="870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5268" name="Rectangle 308"/>
            <p:cNvSpPr>
              <a:spLocks noChangeArrowheads="1"/>
            </p:cNvSpPr>
            <p:nvPr/>
          </p:nvSpPr>
          <p:spPr bwMode="auto">
            <a:xfrm>
              <a:off x="1882" y="87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269" name="Rectangle 30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0" name="Rectangle 31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71" name="Rectangle 31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2" name="Rectangle 31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73" name="Rectangle 31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4" name="Rectangle 31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75" name="Rectangle 31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6" name="Rectangle 31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77" name="Rectangle 31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8" name="Rectangle 31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79" name="Rectangle 31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0" name="Rectangle 32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81" name="Rectangle 32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2" name="Rectangle 32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83" name="Rectangle 32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4" name="Rectangle 32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85" name="Rectangle 32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6" name="Rectangle 32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87" name="Rectangle 32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8" name="Rectangle 32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89" name="Rectangle 329"/>
            <p:cNvSpPr>
              <a:spLocks noChangeArrowheads="1"/>
            </p:cNvSpPr>
            <p:nvPr/>
          </p:nvSpPr>
          <p:spPr bwMode="auto">
            <a:xfrm>
              <a:off x="519" y="102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0" name="Rectangle 330"/>
            <p:cNvSpPr>
              <a:spLocks noChangeArrowheads="1"/>
            </p:cNvSpPr>
            <p:nvPr/>
          </p:nvSpPr>
          <p:spPr bwMode="auto">
            <a:xfrm>
              <a:off x="641" y="106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5291" name="Rectangle 331"/>
            <p:cNvSpPr>
              <a:spLocks noChangeArrowheads="1"/>
            </p:cNvSpPr>
            <p:nvPr/>
          </p:nvSpPr>
          <p:spPr bwMode="auto">
            <a:xfrm>
              <a:off x="1079" y="1062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5292" name="Rectangle 33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3" name="Rectangle 33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94" name="Rectangle 33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5" name="Rectangle 33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96" name="Rectangle 33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7" name="Rectangle 33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98" name="Rectangle 33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9" name="Rectangle 33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00" name="Rectangle 34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1" name="Rectangle 34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02" name="Rectangle 34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3" name="Rectangle 34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04" name="Rectangle 34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5" name="Rectangle 34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06" name="Rectangle 34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7" name="Rectangle 34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08" name="Rectangle 34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9" name="Rectangle 34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10" name="Rectangle 35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1" name="Rectangle 35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12" name="Rectangle 352"/>
            <p:cNvSpPr>
              <a:spLocks noChangeArrowheads="1"/>
            </p:cNvSpPr>
            <p:nvPr/>
          </p:nvSpPr>
          <p:spPr bwMode="auto">
            <a:xfrm>
              <a:off x="519" y="121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3" name="Rectangle 353"/>
            <p:cNvSpPr>
              <a:spLocks noChangeArrowheads="1"/>
            </p:cNvSpPr>
            <p:nvPr/>
          </p:nvSpPr>
          <p:spPr bwMode="auto">
            <a:xfrm>
              <a:off x="641" y="125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5314" name="Rectangle 354"/>
            <p:cNvSpPr>
              <a:spLocks noChangeArrowheads="1"/>
            </p:cNvSpPr>
            <p:nvPr/>
          </p:nvSpPr>
          <p:spPr bwMode="auto">
            <a:xfrm>
              <a:off x="1079" y="125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5315" name="Rectangle 35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6" name="Rectangle 35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17" name="Rectangle 35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8" name="Rectangle 35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19" name="Rectangle 35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0" name="Rectangle 36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21" name="Rectangle 36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2" name="Rectangle 36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23" name="Rectangle 36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4" name="Rectangle 36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25" name="Rectangle 36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6" name="Rectangle 36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27" name="Rectangle 36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8" name="Rectangle 36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29" name="Rectangle 36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0" name="Rectangle 37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31" name="Rectangle 37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2" name="Rectangle 37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33" name="Rectangle 37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4" name="Rectangle 37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35" name="Rectangle 375"/>
            <p:cNvSpPr>
              <a:spLocks noChangeArrowheads="1"/>
            </p:cNvSpPr>
            <p:nvPr/>
          </p:nvSpPr>
          <p:spPr bwMode="auto">
            <a:xfrm>
              <a:off x="519" y="140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6" name="Rectangle 376"/>
            <p:cNvSpPr>
              <a:spLocks noChangeArrowheads="1"/>
            </p:cNvSpPr>
            <p:nvPr/>
          </p:nvSpPr>
          <p:spPr bwMode="auto">
            <a:xfrm>
              <a:off x="641" y="1446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425337" name="Rectangle 377"/>
            <p:cNvSpPr>
              <a:spLocks noChangeArrowheads="1"/>
            </p:cNvSpPr>
            <p:nvPr/>
          </p:nvSpPr>
          <p:spPr bwMode="auto">
            <a:xfrm>
              <a:off x="1077" y="1446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5338" name="Rectangle 378"/>
            <p:cNvSpPr>
              <a:spLocks noChangeArrowheads="1"/>
            </p:cNvSpPr>
            <p:nvPr/>
          </p:nvSpPr>
          <p:spPr bwMode="auto">
            <a:xfrm>
              <a:off x="1414" y="1446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339" name="Rectangle 379"/>
            <p:cNvSpPr>
              <a:spLocks noChangeArrowheads="1"/>
            </p:cNvSpPr>
            <p:nvPr/>
          </p:nvSpPr>
          <p:spPr bwMode="auto">
            <a:xfrm>
              <a:off x="1480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5340" name="Rectangle 380"/>
            <p:cNvSpPr>
              <a:spLocks noChangeArrowheads="1"/>
            </p:cNvSpPr>
            <p:nvPr/>
          </p:nvSpPr>
          <p:spPr bwMode="auto">
            <a:xfrm>
              <a:off x="1682" y="1446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5341" name="Rectangle 381"/>
            <p:cNvSpPr>
              <a:spLocks noChangeArrowheads="1"/>
            </p:cNvSpPr>
            <p:nvPr/>
          </p:nvSpPr>
          <p:spPr bwMode="auto">
            <a:xfrm>
              <a:off x="1815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342" name="Rectangle 38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3" name="Rectangle 38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44" name="Rectangle 38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5" name="Rectangle 38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46" name="Rectangle 38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7" name="Rectangle 38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48" name="Rectangle 38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9" name="Rectangle 38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50" name="Rectangle 39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1" name="Rectangle 39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52" name="Rectangle 39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3" name="Rectangle 39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54" name="Rectangle 39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5" name="Rectangle 39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56" name="Rectangle 39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7" name="Rectangle 39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58" name="Rectangle 39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9" name="Rectangle 39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60" name="Rectangle 40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1" name="Rectangle 40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62" name="Rectangle 402"/>
            <p:cNvSpPr>
              <a:spLocks noChangeArrowheads="1"/>
            </p:cNvSpPr>
            <p:nvPr/>
          </p:nvSpPr>
          <p:spPr bwMode="auto">
            <a:xfrm>
              <a:off x="519" y="159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3" name="Rectangle 403"/>
            <p:cNvSpPr>
              <a:spLocks noChangeArrowheads="1"/>
            </p:cNvSpPr>
            <p:nvPr/>
          </p:nvSpPr>
          <p:spPr bwMode="auto">
            <a:xfrm>
              <a:off x="605" y="1638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0x018: halt</a:t>
              </a:r>
              <a:endParaRPr lang="en-US" dirty="0"/>
            </a:p>
          </p:txBody>
        </p:sp>
        <p:sp>
          <p:nvSpPr>
            <p:cNvPr id="425364" name="Rectangle 40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5" name="Rectangle 40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66" name="Rectangle 40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7" name="Rectangle 40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68" name="Rectangle 40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9" name="Rectangle 40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70" name="Rectangle 41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1" name="Rectangle 41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72" name="Rectangle 41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3" name="Rectangle 41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74" name="Rectangle 41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5" name="Rectangle 41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76" name="Rectangle 41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7" name="Rectangle 41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78" name="Rectangle 41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9" name="Rectangle 41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80" name="Rectangle 42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1" name="Rectangle 42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82" name="Rectangle 42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3" name="Rectangle 42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84" name="Line 424"/>
            <p:cNvSpPr>
              <a:spLocks noChangeShapeType="1"/>
            </p:cNvSpPr>
            <p:nvPr/>
          </p:nvSpPr>
          <p:spPr bwMode="auto">
            <a:xfrm flipH="1">
              <a:off x="3303" y="1791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5" name="Line 425"/>
            <p:cNvSpPr>
              <a:spLocks noChangeShapeType="1"/>
            </p:cNvSpPr>
            <p:nvPr/>
          </p:nvSpPr>
          <p:spPr bwMode="auto">
            <a:xfrm>
              <a:off x="4071" y="1791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6" name="Rectangle 426"/>
            <p:cNvSpPr>
              <a:spLocks noChangeArrowheads="1"/>
            </p:cNvSpPr>
            <p:nvPr/>
          </p:nvSpPr>
          <p:spPr bwMode="auto">
            <a:xfrm>
              <a:off x="493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7" name="Rectangle 427"/>
            <p:cNvSpPr>
              <a:spLocks noChangeArrowheads="1"/>
            </p:cNvSpPr>
            <p:nvPr/>
          </p:nvSpPr>
          <p:spPr bwMode="auto">
            <a:xfrm>
              <a:off x="5047" y="443"/>
              <a:ext cx="106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25388" name="Rectangle 428"/>
            <p:cNvSpPr>
              <a:spLocks noChangeArrowheads="1"/>
            </p:cNvSpPr>
            <p:nvPr/>
          </p:nvSpPr>
          <p:spPr bwMode="auto">
            <a:xfrm>
              <a:off x="519" y="44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9" name="Rectangle 429"/>
            <p:cNvSpPr>
              <a:spLocks noChangeArrowheads="1"/>
            </p:cNvSpPr>
            <p:nvPr/>
          </p:nvSpPr>
          <p:spPr bwMode="auto">
            <a:xfrm>
              <a:off x="610" y="481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demo-h2.ys</a:t>
              </a:r>
              <a:endParaRPr lang="en-US"/>
            </a:p>
          </p:txBody>
        </p:sp>
        <p:grpSp>
          <p:nvGrpSpPr>
            <p:cNvPr id="425399" name="Group 439"/>
            <p:cNvGrpSpPr>
              <a:grpSpLocks/>
            </p:cNvGrpSpPr>
            <p:nvPr/>
          </p:nvGrpSpPr>
          <p:grpSpPr bwMode="auto">
            <a:xfrm>
              <a:off x="3303" y="2271"/>
              <a:ext cx="1201" cy="625"/>
              <a:chOff x="3303" y="2271"/>
              <a:chExt cx="1201" cy="625"/>
            </a:xfrm>
          </p:grpSpPr>
          <p:sp>
            <p:nvSpPr>
              <p:cNvPr id="425390" name="Rectangle 430"/>
              <p:cNvSpPr>
                <a:spLocks noChangeArrowheads="1"/>
              </p:cNvSpPr>
              <p:nvPr/>
            </p:nvSpPr>
            <p:spPr bwMode="auto">
              <a:xfrm>
                <a:off x="3303" y="2271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391" name="Rectangle 431"/>
              <p:cNvSpPr>
                <a:spLocks noChangeArrowheads="1"/>
              </p:cNvSpPr>
              <p:nvPr/>
            </p:nvSpPr>
            <p:spPr bwMode="auto">
              <a:xfrm>
                <a:off x="3868" y="2312"/>
                <a:ext cx="12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5392" name="Rectangle 432"/>
              <p:cNvSpPr>
                <a:spLocks noChangeArrowheads="1"/>
              </p:cNvSpPr>
              <p:nvPr/>
            </p:nvSpPr>
            <p:spPr bwMode="auto">
              <a:xfrm>
                <a:off x="3303" y="2511"/>
                <a:ext cx="1201" cy="19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393" name="Rectangle 433"/>
              <p:cNvSpPr>
                <a:spLocks noChangeArrowheads="1"/>
              </p:cNvSpPr>
              <p:nvPr/>
            </p:nvSpPr>
            <p:spPr bwMode="auto">
              <a:xfrm>
                <a:off x="3389" y="254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394" name="Rectangle 434"/>
              <p:cNvSpPr>
                <a:spLocks noChangeArrowheads="1"/>
              </p:cNvSpPr>
              <p:nvPr/>
            </p:nvSpPr>
            <p:spPr bwMode="auto">
              <a:xfrm>
                <a:off x="3510" y="255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395" name="Rectangle 435"/>
              <p:cNvSpPr>
                <a:spLocks noChangeArrowheads="1"/>
              </p:cNvSpPr>
              <p:nvPr/>
            </p:nvSpPr>
            <p:spPr bwMode="auto">
              <a:xfrm>
                <a:off x="3576" y="255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396" name="Rectangle 436"/>
              <p:cNvSpPr>
                <a:spLocks noChangeArrowheads="1"/>
              </p:cNvSpPr>
              <p:nvPr/>
            </p:nvSpPr>
            <p:spPr bwMode="auto">
              <a:xfrm>
                <a:off x="3769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397" name="Rectangle 437"/>
              <p:cNvSpPr>
                <a:spLocks noChangeArrowheads="1"/>
              </p:cNvSpPr>
              <p:nvPr/>
            </p:nvSpPr>
            <p:spPr bwMode="auto">
              <a:xfrm>
                <a:off x="3850" y="253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398" name="Rectangle 438"/>
              <p:cNvSpPr>
                <a:spLocks noChangeArrowheads="1"/>
              </p:cNvSpPr>
              <p:nvPr/>
            </p:nvSpPr>
            <p:spPr bwMode="auto">
              <a:xfrm>
                <a:off x="3962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</p:grpSp>
        <p:grpSp>
          <p:nvGrpSpPr>
            <p:cNvPr id="425419" name="Group 459"/>
            <p:cNvGrpSpPr>
              <a:grpSpLocks/>
            </p:cNvGrpSpPr>
            <p:nvPr/>
          </p:nvGrpSpPr>
          <p:grpSpPr bwMode="auto">
            <a:xfrm>
              <a:off x="3303" y="3279"/>
              <a:ext cx="1201" cy="625"/>
              <a:chOff x="3303" y="3279"/>
              <a:chExt cx="1201" cy="625"/>
            </a:xfrm>
          </p:grpSpPr>
          <p:sp>
            <p:nvSpPr>
              <p:cNvPr id="425400" name="Rectangle 440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01" name="Rectangle 441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02" name="Rectangle 442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03" name="Rectangle 443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04" name="Rectangle 444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05" name="Rectangle 445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06" name="Rectangle 446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07" name="Rectangle 447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08" name="Rectangle 448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09" name="Rectangle 449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10" name="Rectangle 450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11" name="Rectangle 451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12" name="Rectangle 452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13" name="Rectangle 453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14" name="Rectangle 454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15" name="Rectangle 455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16" name="Rectangle 456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17" name="Rectangle 457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18" name="Rectangle 458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</p:grpSp>
        <p:sp>
          <p:nvSpPr>
            <p:cNvPr id="425420" name="Rectangle 460"/>
            <p:cNvSpPr>
              <a:spLocks noChangeArrowheads="1"/>
            </p:cNvSpPr>
            <p:nvPr/>
          </p:nvSpPr>
          <p:spPr bwMode="auto">
            <a:xfrm>
              <a:off x="3831" y="2895"/>
              <a:ext cx="16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1" name="Rectangle 461"/>
            <p:cNvSpPr>
              <a:spLocks noChangeArrowheads="1"/>
            </p:cNvSpPr>
            <p:nvPr/>
          </p:nvSpPr>
          <p:spPr bwMode="auto">
            <a:xfrm>
              <a:off x="3917" y="2896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2" name="Rectangle 462"/>
            <p:cNvSpPr>
              <a:spLocks noChangeArrowheads="1"/>
            </p:cNvSpPr>
            <p:nvPr/>
          </p:nvSpPr>
          <p:spPr bwMode="auto">
            <a:xfrm>
              <a:off x="3917" y="3004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3" name="Rectangle 463"/>
            <p:cNvSpPr>
              <a:spLocks noChangeArrowheads="1"/>
            </p:cNvSpPr>
            <p:nvPr/>
          </p:nvSpPr>
          <p:spPr bwMode="auto">
            <a:xfrm>
              <a:off x="3917" y="3112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4" name="Rectangle 464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5" name="Rectangle 465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426" name="Rectangle 466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7" name="Rectangle 467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5428" name="Rectangle 468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429" name="Rectangle 469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430" name="Rectangle 470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5431" name="Rectangle 471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5432" name="Rectangle 472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5433" name="Rectangle 473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34" name="Rectangle 474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435" name="Rectangle 475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36" name="Rectangle 476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5437" name="Rectangle 477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438" name="Rectangle 478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439" name="Rectangle 479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5440" name="Rectangle 480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5441" name="Rectangle 481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grpSp>
          <p:nvGrpSpPr>
            <p:cNvPr id="425491" name="Group 531"/>
            <p:cNvGrpSpPr>
              <a:grpSpLocks/>
            </p:cNvGrpSpPr>
            <p:nvPr/>
          </p:nvGrpSpPr>
          <p:grpSpPr bwMode="auto">
            <a:xfrm>
              <a:off x="3303" y="2031"/>
              <a:ext cx="1709" cy="1873"/>
              <a:chOff x="3303" y="2031"/>
              <a:chExt cx="1709" cy="1873"/>
            </a:xfrm>
          </p:grpSpPr>
          <p:sp>
            <p:nvSpPr>
              <p:cNvPr id="425442" name="Rectangle 482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3" name="Rectangle 483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44" name="Rectangle 484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5" name="Rectangle 485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46" name="Rectangle 486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47" name="Rectangle 487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48" name="Rectangle 488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49" name="Rectangle 489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50" name="Rectangle 490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51" name="Rectangle 491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52" name="Rectangle 492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53" name="Rectangle 493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54" name="Rectangle 494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55" name="Rectangle 495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56" name="Rectangle 496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57" name="Rectangle 497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58" name="Rectangle 498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59" name="Rectangle 499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60" name="Rectangle 500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5461" name="Rectangle 501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2" name="Rectangle 502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63" name="Rectangle 503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4" name="Rectangle 504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65" name="Rectangle 505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66" name="Rectangle 506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67" name="Rectangle 507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68" name="Rectangle 508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69" name="Rectangle 509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70" name="Rectangle 510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71" name="Rectangle 511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72" name="Rectangle 512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73" name="Rectangle 513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74" name="Rectangle 514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75" name="Rectangle 515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76" name="Rectangle 516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77" name="Rectangle 517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78" name="Rectangle 518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79" name="Rectangle 519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5480" name="Rectangle 520"/>
              <p:cNvSpPr>
                <a:spLocks noChangeArrowheads="1"/>
              </p:cNvSpPr>
              <p:nvPr/>
            </p:nvSpPr>
            <p:spPr bwMode="auto">
              <a:xfrm>
                <a:off x="3831" y="2895"/>
                <a:ext cx="162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81" name="Rectangle 521"/>
              <p:cNvSpPr>
                <a:spLocks noChangeArrowheads="1"/>
              </p:cNvSpPr>
              <p:nvPr/>
            </p:nvSpPr>
            <p:spPr bwMode="auto">
              <a:xfrm>
                <a:off x="3917" y="2896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2" name="Rectangle 522"/>
              <p:cNvSpPr>
                <a:spLocks noChangeArrowheads="1"/>
              </p:cNvSpPr>
              <p:nvPr/>
            </p:nvSpPr>
            <p:spPr bwMode="auto">
              <a:xfrm>
                <a:off x="3917" y="3004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3" name="Rectangle 523"/>
              <p:cNvSpPr>
                <a:spLocks noChangeArrowheads="1"/>
              </p:cNvSpPr>
              <p:nvPr/>
            </p:nvSpPr>
            <p:spPr bwMode="auto">
              <a:xfrm>
                <a:off x="3917" y="3112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4" name="Rectangle 524"/>
              <p:cNvSpPr>
                <a:spLocks noChangeArrowheads="1"/>
              </p:cNvSpPr>
              <p:nvPr/>
            </p:nvSpPr>
            <p:spPr bwMode="auto">
              <a:xfrm>
                <a:off x="3303" y="2031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85" name="Rectangle 525"/>
              <p:cNvSpPr>
                <a:spLocks noChangeArrowheads="1"/>
              </p:cNvSpPr>
              <p:nvPr/>
            </p:nvSpPr>
            <p:spPr bwMode="auto">
              <a:xfrm>
                <a:off x="3719" y="2069"/>
                <a:ext cx="423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6</a:t>
                </a:r>
                <a:endParaRPr lang="en-US"/>
              </a:p>
            </p:txBody>
          </p:sp>
          <p:grpSp>
            <p:nvGrpSpPr>
              <p:cNvPr id="425488" name="Group 528"/>
              <p:cNvGrpSpPr>
                <a:grpSpLocks/>
              </p:cNvGrpSpPr>
              <p:nvPr/>
            </p:nvGrpSpPr>
            <p:grpSpPr bwMode="auto">
              <a:xfrm>
                <a:off x="4359" y="3615"/>
                <a:ext cx="336" cy="109"/>
                <a:chOff x="4359" y="3615"/>
                <a:chExt cx="336" cy="109"/>
              </a:xfrm>
            </p:grpSpPr>
            <p:sp>
              <p:nvSpPr>
                <p:cNvPr id="425486" name="Line 526"/>
                <p:cNvSpPr>
                  <a:spLocks noChangeShapeType="1"/>
                </p:cNvSpPr>
                <p:nvPr/>
              </p:nvSpPr>
              <p:spPr bwMode="auto">
                <a:xfrm flipH="1">
                  <a:off x="4417" y="3615"/>
                  <a:ext cx="278" cy="7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487" name="Freeform 527"/>
                <p:cNvSpPr>
                  <a:spLocks/>
                </p:cNvSpPr>
                <p:nvPr/>
              </p:nvSpPr>
              <p:spPr bwMode="auto">
                <a:xfrm>
                  <a:off x="4359" y="3664"/>
                  <a:ext cx="69" cy="60"/>
                </a:xfrm>
                <a:custGeom>
                  <a:avLst/>
                  <a:gdLst/>
                  <a:ahLst/>
                  <a:cxnLst>
                    <a:cxn ang="0">
                      <a:pos x="52" y="0"/>
                    </a:cxn>
                    <a:cxn ang="0">
                      <a:pos x="0" y="47"/>
                    </a:cxn>
                    <a:cxn ang="0">
                      <a:pos x="69" y="60"/>
                    </a:cxn>
                    <a:cxn ang="0">
                      <a:pos x="52" y="0"/>
                    </a:cxn>
                  </a:cxnLst>
                  <a:rect l="0" t="0" r="r" b="b"/>
                  <a:pathLst>
                    <a:path w="69" h="60">
                      <a:moveTo>
                        <a:pt x="52" y="0"/>
                      </a:moveTo>
                      <a:lnTo>
                        <a:pt x="0" y="47"/>
                      </a:lnTo>
                      <a:lnTo>
                        <a:pt x="69" y="60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5489" name="Rectangle 529"/>
              <p:cNvSpPr>
                <a:spLocks noChangeArrowheads="1"/>
              </p:cNvSpPr>
              <p:nvPr/>
            </p:nvSpPr>
            <p:spPr bwMode="auto">
              <a:xfrm>
                <a:off x="4647" y="3519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90" name="Rectangle 530"/>
              <p:cNvSpPr>
                <a:spLocks noChangeArrowheads="1"/>
              </p:cNvSpPr>
              <p:nvPr/>
            </p:nvSpPr>
            <p:spPr bwMode="auto">
              <a:xfrm>
                <a:off x="4729" y="3555"/>
                <a:ext cx="248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i="1">
                    <a:solidFill>
                      <a:srgbClr val="000000"/>
                    </a:solidFill>
                  </a:rPr>
                  <a:t>Error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02589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704263" cy="779463"/>
          </a:xfrm>
        </p:spPr>
        <p:txBody>
          <a:bodyPr/>
          <a:lstStyle/>
          <a:p>
            <a:r>
              <a:rPr lang="en-US"/>
              <a:t>Data Dependencies: 1 Nop</a:t>
            </a:r>
          </a:p>
        </p:txBody>
      </p:sp>
      <p:grpSp>
        <p:nvGrpSpPr>
          <p:cNvPr id="426659" name="Group 675"/>
          <p:cNvGrpSpPr>
            <a:grpSpLocks/>
          </p:cNvGrpSpPr>
          <p:nvPr/>
        </p:nvGrpSpPr>
        <p:grpSpPr bwMode="auto">
          <a:xfrm>
            <a:off x="1066800" y="685800"/>
            <a:ext cx="7011988" cy="6097588"/>
            <a:chOff x="663" y="231"/>
            <a:chExt cx="4417" cy="3841"/>
          </a:xfrm>
        </p:grpSpPr>
        <p:sp>
          <p:nvSpPr>
            <p:cNvPr id="426453" name="Rectangle 469"/>
            <p:cNvSpPr>
              <a:spLocks noChangeArrowheads="1"/>
            </p:cNvSpPr>
            <p:nvPr/>
          </p:nvSpPr>
          <p:spPr bwMode="auto">
            <a:xfrm>
              <a:off x="663" y="47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54" name="Rectangle 470"/>
            <p:cNvSpPr>
              <a:spLocks noChangeArrowheads="1"/>
            </p:cNvSpPr>
            <p:nvPr/>
          </p:nvSpPr>
          <p:spPr bwMode="auto">
            <a:xfrm>
              <a:off x="754" y="510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6455" name="Rectangle 471"/>
            <p:cNvSpPr>
              <a:spLocks noChangeArrowheads="1"/>
            </p:cNvSpPr>
            <p:nvPr/>
          </p:nvSpPr>
          <p:spPr bwMode="auto">
            <a:xfrm>
              <a:off x="1254" y="51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6456" name="Rectangle 472"/>
            <p:cNvSpPr>
              <a:spLocks noChangeArrowheads="1"/>
            </p:cNvSpPr>
            <p:nvPr/>
          </p:nvSpPr>
          <p:spPr bwMode="auto">
            <a:xfrm>
              <a:off x="1692" y="510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6457" name="Rectangle 473"/>
            <p:cNvSpPr>
              <a:spLocks noChangeArrowheads="1"/>
            </p:cNvSpPr>
            <p:nvPr/>
          </p:nvSpPr>
          <p:spPr bwMode="auto">
            <a:xfrm>
              <a:off x="2026" y="51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458" name="Rectangle 474"/>
            <p:cNvSpPr>
              <a:spLocks noChangeArrowheads="1"/>
            </p:cNvSpPr>
            <p:nvPr/>
          </p:nvSpPr>
          <p:spPr bwMode="auto">
            <a:xfrm>
              <a:off x="2487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59" name="Rectangle 475"/>
            <p:cNvSpPr>
              <a:spLocks noChangeArrowheads="1"/>
            </p:cNvSpPr>
            <p:nvPr/>
          </p:nvSpPr>
          <p:spPr bwMode="auto">
            <a:xfrm>
              <a:off x="2625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6460" name="Rectangle 476"/>
            <p:cNvSpPr>
              <a:spLocks noChangeArrowheads="1"/>
            </p:cNvSpPr>
            <p:nvPr/>
          </p:nvSpPr>
          <p:spPr bwMode="auto">
            <a:xfrm>
              <a:off x="2775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1" name="Rectangle 477"/>
            <p:cNvSpPr>
              <a:spLocks noChangeArrowheads="1"/>
            </p:cNvSpPr>
            <p:nvPr/>
          </p:nvSpPr>
          <p:spPr bwMode="auto">
            <a:xfrm>
              <a:off x="2913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6462" name="Rectangle 478"/>
            <p:cNvSpPr>
              <a:spLocks noChangeArrowheads="1"/>
            </p:cNvSpPr>
            <p:nvPr/>
          </p:nvSpPr>
          <p:spPr bwMode="auto">
            <a:xfrm>
              <a:off x="3063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3" name="Rectangle 479"/>
            <p:cNvSpPr>
              <a:spLocks noChangeArrowheads="1"/>
            </p:cNvSpPr>
            <p:nvPr/>
          </p:nvSpPr>
          <p:spPr bwMode="auto">
            <a:xfrm>
              <a:off x="3201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6464" name="Rectangle 480"/>
            <p:cNvSpPr>
              <a:spLocks noChangeArrowheads="1"/>
            </p:cNvSpPr>
            <p:nvPr/>
          </p:nvSpPr>
          <p:spPr bwMode="auto">
            <a:xfrm>
              <a:off x="3351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5" name="Rectangle 481"/>
            <p:cNvSpPr>
              <a:spLocks noChangeArrowheads="1"/>
            </p:cNvSpPr>
            <p:nvPr/>
          </p:nvSpPr>
          <p:spPr bwMode="auto">
            <a:xfrm>
              <a:off x="3489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6466" name="Rectangle 482"/>
            <p:cNvSpPr>
              <a:spLocks noChangeArrowheads="1"/>
            </p:cNvSpPr>
            <p:nvPr/>
          </p:nvSpPr>
          <p:spPr bwMode="auto">
            <a:xfrm>
              <a:off x="3639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7" name="Rectangle 483"/>
            <p:cNvSpPr>
              <a:spLocks noChangeArrowheads="1"/>
            </p:cNvSpPr>
            <p:nvPr/>
          </p:nvSpPr>
          <p:spPr bwMode="auto">
            <a:xfrm>
              <a:off x="3777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6468" name="Rectangle 484"/>
            <p:cNvSpPr>
              <a:spLocks noChangeArrowheads="1"/>
            </p:cNvSpPr>
            <p:nvPr/>
          </p:nvSpPr>
          <p:spPr bwMode="auto">
            <a:xfrm>
              <a:off x="3927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9" name="Rectangle 485"/>
            <p:cNvSpPr>
              <a:spLocks noChangeArrowheads="1"/>
            </p:cNvSpPr>
            <p:nvPr/>
          </p:nvSpPr>
          <p:spPr bwMode="auto">
            <a:xfrm>
              <a:off x="4065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6470" name="Rectangle 486"/>
            <p:cNvSpPr>
              <a:spLocks noChangeArrowheads="1"/>
            </p:cNvSpPr>
            <p:nvPr/>
          </p:nvSpPr>
          <p:spPr bwMode="auto">
            <a:xfrm>
              <a:off x="4215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1" name="Rectangle 487"/>
            <p:cNvSpPr>
              <a:spLocks noChangeArrowheads="1"/>
            </p:cNvSpPr>
            <p:nvPr/>
          </p:nvSpPr>
          <p:spPr bwMode="auto">
            <a:xfrm>
              <a:off x="4353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6472" name="Rectangle 488"/>
            <p:cNvSpPr>
              <a:spLocks noChangeArrowheads="1"/>
            </p:cNvSpPr>
            <p:nvPr/>
          </p:nvSpPr>
          <p:spPr bwMode="auto">
            <a:xfrm>
              <a:off x="4503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3" name="Rectangle 489"/>
            <p:cNvSpPr>
              <a:spLocks noChangeArrowheads="1"/>
            </p:cNvSpPr>
            <p:nvPr/>
          </p:nvSpPr>
          <p:spPr bwMode="auto">
            <a:xfrm>
              <a:off x="4641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6474" name="Rectangle 490"/>
            <p:cNvSpPr>
              <a:spLocks noChangeArrowheads="1"/>
            </p:cNvSpPr>
            <p:nvPr/>
          </p:nvSpPr>
          <p:spPr bwMode="auto">
            <a:xfrm>
              <a:off x="4791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5" name="Rectangle 491"/>
            <p:cNvSpPr>
              <a:spLocks noChangeArrowheads="1"/>
            </p:cNvSpPr>
            <p:nvPr/>
          </p:nvSpPr>
          <p:spPr bwMode="auto">
            <a:xfrm>
              <a:off x="4929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6476" name="Rectangle 492"/>
            <p:cNvSpPr>
              <a:spLocks noChangeArrowheads="1"/>
            </p:cNvSpPr>
            <p:nvPr/>
          </p:nvSpPr>
          <p:spPr bwMode="auto">
            <a:xfrm>
              <a:off x="2487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7" name="Rectangle 493"/>
            <p:cNvSpPr>
              <a:spLocks noChangeArrowheads="1"/>
            </p:cNvSpPr>
            <p:nvPr/>
          </p:nvSpPr>
          <p:spPr bwMode="auto">
            <a:xfrm>
              <a:off x="2620" y="49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478" name="Rectangle 494"/>
            <p:cNvSpPr>
              <a:spLocks noChangeArrowheads="1"/>
            </p:cNvSpPr>
            <p:nvPr/>
          </p:nvSpPr>
          <p:spPr bwMode="auto">
            <a:xfrm>
              <a:off x="2775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9" name="Rectangle 495"/>
            <p:cNvSpPr>
              <a:spLocks noChangeArrowheads="1"/>
            </p:cNvSpPr>
            <p:nvPr/>
          </p:nvSpPr>
          <p:spPr bwMode="auto">
            <a:xfrm>
              <a:off x="2901" y="49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480" name="Rectangle 496"/>
            <p:cNvSpPr>
              <a:spLocks noChangeArrowheads="1"/>
            </p:cNvSpPr>
            <p:nvPr/>
          </p:nvSpPr>
          <p:spPr bwMode="auto">
            <a:xfrm>
              <a:off x="3063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1" name="Rectangle 497"/>
            <p:cNvSpPr>
              <a:spLocks noChangeArrowheads="1"/>
            </p:cNvSpPr>
            <p:nvPr/>
          </p:nvSpPr>
          <p:spPr bwMode="auto">
            <a:xfrm>
              <a:off x="3192" y="49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482" name="Rectangle 498"/>
            <p:cNvSpPr>
              <a:spLocks noChangeArrowheads="1"/>
            </p:cNvSpPr>
            <p:nvPr/>
          </p:nvSpPr>
          <p:spPr bwMode="auto">
            <a:xfrm>
              <a:off x="3351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3" name="Rectangle 499"/>
            <p:cNvSpPr>
              <a:spLocks noChangeArrowheads="1"/>
            </p:cNvSpPr>
            <p:nvPr/>
          </p:nvSpPr>
          <p:spPr bwMode="auto">
            <a:xfrm>
              <a:off x="3469" y="49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484" name="Rectangle 500"/>
            <p:cNvSpPr>
              <a:spLocks noChangeArrowheads="1"/>
            </p:cNvSpPr>
            <p:nvPr/>
          </p:nvSpPr>
          <p:spPr bwMode="auto">
            <a:xfrm>
              <a:off x="3927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5" name="Rectangle 501"/>
            <p:cNvSpPr>
              <a:spLocks noChangeArrowheads="1"/>
            </p:cNvSpPr>
            <p:nvPr/>
          </p:nvSpPr>
          <p:spPr bwMode="auto">
            <a:xfrm>
              <a:off x="4036" y="69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486" name="Rectangle 502"/>
            <p:cNvSpPr>
              <a:spLocks noChangeArrowheads="1"/>
            </p:cNvSpPr>
            <p:nvPr/>
          </p:nvSpPr>
          <p:spPr bwMode="auto">
            <a:xfrm>
              <a:off x="663" y="66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7" name="Rectangle 503"/>
            <p:cNvSpPr>
              <a:spLocks noChangeArrowheads="1"/>
            </p:cNvSpPr>
            <p:nvPr/>
          </p:nvSpPr>
          <p:spPr bwMode="auto">
            <a:xfrm>
              <a:off x="785" y="70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6488" name="Rectangle 504"/>
            <p:cNvSpPr>
              <a:spLocks noChangeArrowheads="1"/>
            </p:cNvSpPr>
            <p:nvPr/>
          </p:nvSpPr>
          <p:spPr bwMode="auto">
            <a:xfrm>
              <a:off x="1254" y="70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6489" name="Rectangle 505"/>
            <p:cNvSpPr>
              <a:spLocks noChangeArrowheads="1"/>
            </p:cNvSpPr>
            <p:nvPr/>
          </p:nvSpPr>
          <p:spPr bwMode="auto">
            <a:xfrm>
              <a:off x="1759" y="702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6490" name="Rectangle 506"/>
            <p:cNvSpPr>
              <a:spLocks noChangeArrowheads="1"/>
            </p:cNvSpPr>
            <p:nvPr/>
          </p:nvSpPr>
          <p:spPr bwMode="auto">
            <a:xfrm>
              <a:off x="2026" y="70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6491" name="Rectangle 507"/>
            <p:cNvSpPr>
              <a:spLocks noChangeArrowheads="1"/>
            </p:cNvSpPr>
            <p:nvPr/>
          </p:nvSpPr>
          <p:spPr bwMode="auto">
            <a:xfrm>
              <a:off x="2775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2" name="Rectangle 508"/>
            <p:cNvSpPr>
              <a:spLocks noChangeArrowheads="1"/>
            </p:cNvSpPr>
            <p:nvPr/>
          </p:nvSpPr>
          <p:spPr bwMode="auto">
            <a:xfrm>
              <a:off x="2908" y="69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493" name="Rectangle 509"/>
            <p:cNvSpPr>
              <a:spLocks noChangeArrowheads="1"/>
            </p:cNvSpPr>
            <p:nvPr/>
          </p:nvSpPr>
          <p:spPr bwMode="auto">
            <a:xfrm>
              <a:off x="3063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4" name="Rectangle 510"/>
            <p:cNvSpPr>
              <a:spLocks noChangeArrowheads="1"/>
            </p:cNvSpPr>
            <p:nvPr/>
          </p:nvSpPr>
          <p:spPr bwMode="auto">
            <a:xfrm>
              <a:off x="3189" y="69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495" name="Rectangle 511"/>
            <p:cNvSpPr>
              <a:spLocks noChangeArrowheads="1"/>
            </p:cNvSpPr>
            <p:nvPr/>
          </p:nvSpPr>
          <p:spPr bwMode="auto">
            <a:xfrm>
              <a:off x="3351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6" name="Rectangle 512"/>
            <p:cNvSpPr>
              <a:spLocks noChangeArrowheads="1"/>
            </p:cNvSpPr>
            <p:nvPr/>
          </p:nvSpPr>
          <p:spPr bwMode="auto">
            <a:xfrm>
              <a:off x="3480" y="69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497" name="Rectangle 513"/>
            <p:cNvSpPr>
              <a:spLocks noChangeArrowheads="1"/>
            </p:cNvSpPr>
            <p:nvPr/>
          </p:nvSpPr>
          <p:spPr bwMode="auto">
            <a:xfrm>
              <a:off x="3639" y="66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8" name="Rectangle 514"/>
            <p:cNvSpPr>
              <a:spLocks noChangeArrowheads="1"/>
            </p:cNvSpPr>
            <p:nvPr/>
          </p:nvSpPr>
          <p:spPr bwMode="auto">
            <a:xfrm>
              <a:off x="3757" y="69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499" name="Rectangle 515"/>
            <p:cNvSpPr>
              <a:spLocks noChangeArrowheads="1"/>
            </p:cNvSpPr>
            <p:nvPr/>
          </p:nvSpPr>
          <p:spPr bwMode="auto">
            <a:xfrm>
              <a:off x="3639" y="47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0" name="Rectangle 516"/>
            <p:cNvSpPr>
              <a:spLocks noChangeArrowheads="1"/>
            </p:cNvSpPr>
            <p:nvPr/>
          </p:nvSpPr>
          <p:spPr bwMode="auto">
            <a:xfrm>
              <a:off x="3748" y="49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01" name="Rectangle 517"/>
            <p:cNvSpPr>
              <a:spLocks noChangeArrowheads="1"/>
            </p:cNvSpPr>
            <p:nvPr/>
          </p:nvSpPr>
          <p:spPr bwMode="auto">
            <a:xfrm>
              <a:off x="663" y="85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2" name="Rectangle 518"/>
            <p:cNvSpPr>
              <a:spLocks noChangeArrowheads="1"/>
            </p:cNvSpPr>
            <p:nvPr/>
          </p:nvSpPr>
          <p:spPr bwMode="auto">
            <a:xfrm>
              <a:off x="785" y="89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6503" name="Rectangle 519"/>
            <p:cNvSpPr>
              <a:spLocks noChangeArrowheads="1"/>
            </p:cNvSpPr>
            <p:nvPr/>
          </p:nvSpPr>
          <p:spPr bwMode="auto">
            <a:xfrm>
              <a:off x="1223" y="89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6504" name="Rectangle 520"/>
            <p:cNvSpPr>
              <a:spLocks noChangeArrowheads="1"/>
            </p:cNvSpPr>
            <p:nvPr/>
          </p:nvSpPr>
          <p:spPr bwMode="auto">
            <a:xfrm>
              <a:off x="3063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5" name="Rectangle 521"/>
            <p:cNvSpPr>
              <a:spLocks noChangeArrowheads="1"/>
            </p:cNvSpPr>
            <p:nvPr/>
          </p:nvSpPr>
          <p:spPr bwMode="auto">
            <a:xfrm>
              <a:off x="3196" y="88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06" name="Rectangle 522"/>
            <p:cNvSpPr>
              <a:spLocks noChangeArrowheads="1"/>
            </p:cNvSpPr>
            <p:nvPr/>
          </p:nvSpPr>
          <p:spPr bwMode="auto">
            <a:xfrm>
              <a:off x="3351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7" name="Rectangle 523"/>
            <p:cNvSpPr>
              <a:spLocks noChangeArrowheads="1"/>
            </p:cNvSpPr>
            <p:nvPr/>
          </p:nvSpPr>
          <p:spPr bwMode="auto">
            <a:xfrm>
              <a:off x="3477" y="88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08" name="Rectangle 524"/>
            <p:cNvSpPr>
              <a:spLocks noChangeArrowheads="1"/>
            </p:cNvSpPr>
            <p:nvPr/>
          </p:nvSpPr>
          <p:spPr bwMode="auto">
            <a:xfrm>
              <a:off x="3639" y="85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9" name="Rectangle 525"/>
            <p:cNvSpPr>
              <a:spLocks noChangeArrowheads="1"/>
            </p:cNvSpPr>
            <p:nvPr/>
          </p:nvSpPr>
          <p:spPr bwMode="auto">
            <a:xfrm>
              <a:off x="3768" y="88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10" name="Rectangle 526"/>
            <p:cNvSpPr>
              <a:spLocks noChangeArrowheads="1"/>
            </p:cNvSpPr>
            <p:nvPr/>
          </p:nvSpPr>
          <p:spPr bwMode="auto">
            <a:xfrm>
              <a:off x="3927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1" name="Rectangle 527"/>
            <p:cNvSpPr>
              <a:spLocks noChangeArrowheads="1"/>
            </p:cNvSpPr>
            <p:nvPr/>
          </p:nvSpPr>
          <p:spPr bwMode="auto">
            <a:xfrm>
              <a:off x="4045" y="88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12" name="Rectangle 528"/>
            <p:cNvSpPr>
              <a:spLocks noChangeArrowheads="1"/>
            </p:cNvSpPr>
            <p:nvPr/>
          </p:nvSpPr>
          <p:spPr bwMode="auto">
            <a:xfrm>
              <a:off x="4215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3" name="Rectangle 529"/>
            <p:cNvSpPr>
              <a:spLocks noChangeArrowheads="1"/>
            </p:cNvSpPr>
            <p:nvPr/>
          </p:nvSpPr>
          <p:spPr bwMode="auto">
            <a:xfrm>
              <a:off x="4324" y="88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14" name="Rectangle 530"/>
            <p:cNvSpPr>
              <a:spLocks noChangeArrowheads="1"/>
            </p:cNvSpPr>
            <p:nvPr/>
          </p:nvSpPr>
          <p:spPr bwMode="auto">
            <a:xfrm>
              <a:off x="3063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5" name="Rectangle 531"/>
            <p:cNvSpPr>
              <a:spLocks noChangeArrowheads="1"/>
            </p:cNvSpPr>
            <p:nvPr/>
          </p:nvSpPr>
          <p:spPr bwMode="auto">
            <a:xfrm>
              <a:off x="3196" y="88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16" name="Rectangle 532"/>
            <p:cNvSpPr>
              <a:spLocks noChangeArrowheads="1"/>
            </p:cNvSpPr>
            <p:nvPr/>
          </p:nvSpPr>
          <p:spPr bwMode="auto">
            <a:xfrm>
              <a:off x="3351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7" name="Rectangle 533"/>
            <p:cNvSpPr>
              <a:spLocks noChangeArrowheads="1"/>
            </p:cNvSpPr>
            <p:nvPr/>
          </p:nvSpPr>
          <p:spPr bwMode="auto">
            <a:xfrm>
              <a:off x="3477" y="88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18" name="Rectangle 534"/>
            <p:cNvSpPr>
              <a:spLocks noChangeArrowheads="1"/>
            </p:cNvSpPr>
            <p:nvPr/>
          </p:nvSpPr>
          <p:spPr bwMode="auto">
            <a:xfrm>
              <a:off x="3639" y="85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9" name="Rectangle 535"/>
            <p:cNvSpPr>
              <a:spLocks noChangeArrowheads="1"/>
            </p:cNvSpPr>
            <p:nvPr/>
          </p:nvSpPr>
          <p:spPr bwMode="auto">
            <a:xfrm>
              <a:off x="3768" y="88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20" name="Rectangle 536"/>
            <p:cNvSpPr>
              <a:spLocks noChangeArrowheads="1"/>
            </p:cNvSpPr>
            <p:nvPr/>
          </p:nvSpPr>
          <p:spPr bwMode="auto">
            <a:xfrm>
              <a:off x="3927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1" name="Rectangle 537"/>
            <p:cNvSpPr>
              <a:spLocks noChangeArrowheads="1"/>
            </p:cNvSpPr>
            <p:nvPr/>
          </p:nvSpPr>
          <p:spPr bwMode="auto">
            <a:xfrm>
              <a:off x="4045" y="88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22" name="Rectangle 538"/>
            <p:cNvSpPr>
              <a:spLocks noChangeArrowheads="1"/>
            </p:cNvSpPr>
            <p:nvPr/>
          </p:nvSpPr>
          <p:spPr bwMode="auto">
            <a:xfrm>
              <a:off x="4215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3" name="Rectangle 539"/>
            <p:cNvSpPr>
              <a:spLocks noChangeArrowheads="1"/>
            </p:cNvSpPr>
            <p:nvPr/>
          </p:nvSpPr>
          <p:spPr bwMode="auto">
            <a:xfrm>
              <a:off x="4324" y="88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24" name="Rectangle 540"/>
            <p:cNvSpPr>
              <a:spLocks noChangeArrowheads="1"/>
            </p:cNvSpPr>
            <p:nvPr/>
          </p:nvSpPr>
          <p:spPr bwMode="auto">
            <a:xfrm>
              <a:off x="663" y="104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5" name="Rectangle 541"/>
            <p:cNvSpPr>
              <a:spLocks noChangeArrowheads="1"/>
            </p:cNvSpPr>
            <p:nvPr/>
          </p:nvSpPr>
          <p:spPr bwMode="auto">
            <a:xfrm>
              <a:off x="785" y="1086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6526" name="Rectangle 542"/>
            <p:cNvSpPr>
              <a:spLocks noChangeArrowheads="1"/>
            </p:cNvSpPr>
            <p:nvPr/>
          </p:nvSpPr>
          <p:spPr bwMode="auto">
            <a:xfrm>
              <a:off x="1221" y="1086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6527" name="Rectangle 543"/>
            <p:cNvSpPr>
              <a:spLocks noChangeArrowheads="1"/>
            </p:cNvSpPr>
            <p:nvPr/>
          </p:nvSpPr>
          <p:spPr bwMode="auto">
            <a:xfrm>
              <a:off x="1558" y="1086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28" name="Rectangle 544"/>
            <p:cNvSpPr>
              <a:spLocks noChangeArrowheads="1"/>
            </p:cNvSpPr>
            <p:nvPr/>
          </p:nvSpPr>
          <p:spPr bwMode="auto">
            <a:xfrm>
              <a:off x="1624" y="108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29" name="Rectangle 545"/>
            <p:cNvSpPr>
              <a:spLocks noChangeArrowheads="1"/>
            </p:cNvSpPr>
            <p:nvPr/>
          </p:nvSpPr>
          <p:spPr bwMode="auto">
            <a:xfrm>
              <a:off x="1826" y="1086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6530" name="Rectangle 546"/>
            <p:cNvSpPr>
              <a:spLocks noChangeArrowheads="1"/>
            </p:cNvSpPr>
            <p:nvPr/>
          </p:nvSpPr>
          <p:spPr bwMode="auto">
            <a:xfrm>
              <a:off x="1959" y="108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6531" name="Rectangle 547"/>
            <p:cNvSpPr>
              <a:spLocks noChangeArrowheads="1"/>
            </p:cNvSpPr>
            <p:nvPr/>
          </p:nvSpPr>
          <p:spPr bwMode="auto">
            <a:xfrm>
              <a:off x="3351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2" name="Rectangle 548"/>
            <p:cNvSpPr>
              <a:spLocks noChangeArrowheads="1"/>
            </p:cNvSpPr>
            <p:nvPr/>
          </p:nvSpPr>
          <p:spPr bwMode="auto">
            <a:xfrm>
              <a:off x="3484" y="107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33" name="Rectangle 549"/>
            <p:cNvSpPr>
              <a:spLocks noChangeArrowheads="1"/>
            </p:cNvSpPr>
            <p:nvPr/>
          </p:nvSpPr>
          <p:spPr bwMode="auto">
            <a:xfrm>
              <a:off x="3639" y="104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4" name="Rectangle 550"/>
            <p:cNvSpPr>
              <a:spLocks noChangeArrowheads="1"/>
            </p:cNvSpPr>
            <p:nvPr/>
          </p:nvSpPr>
          <p:spPr bwMode="auto">
            <a:xfrm>
              <a:off x="3765" y="107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35" name="Rectangle 551"/>
            <p:cNvSpPr>
              <a:spLocks noChangeArrowheads="1"/>
            </p:cNvSpPr>
            <p:nvPr/>
          </p:nvSpPr>
          <p:spPr bwMode="auto">
            <a:xfrm>
              <a:off x="3927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6" name="Rectangle 552"/>
            <p:cNvSpPr>
              <a:spLocks noChangeArrowheads="1"/>
            </p:cNvSpPr>
            <p:nvPr/>
          </p:nvSpPr>
          <p:spPr bwMode="auto">
            <a:xfrm>
              <a:off x="4056" y="107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37" name="Rectangle 553"/>
            <p:cNvSpPr>
              <a:spLocks noChangeArrowheads="1"/>
            </p:cNvSpPr>
            <p:nvPr/>
          </p:nvSpPr>
          <p:spPr bwMode="auto">
            <a:xfrm>
              <a:off x="4215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8" name="Rectangle 554"/>
            <p:cNvSpPr>
              <a:spLocks noChangeArrowheads="1"/>
            </p:cNvSpPr>
            <p:nvPr/>
          </p:nvSpPr>
          <p:spPr bwMode="auto">
            <a:xfrm>
              <a:off x="4333" y="107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39" name="Rectangle 555"/>
            <p:cNvSpPr>
              <a:spLocks noChangeArrowheads="1"/>
            </p:cNvSpPr>
            <p:nvPr/>
          </p:nvSpPr>
          <p:spPr bwMode="auto">
            <a:xfrm>
              <a:off x="4503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0" name="Rectangle 556"/>
            <p:cNvSpPr>
              <a:spLocks noChangeArrowheads="1"/>
            </p:cNvSpPr>
            <p:nvPr/>
          </p:nvSpPr>
          <p:spPr bwMode="auto">
            <a:xfrm>
              <a:off x="4612" y="107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41" name="Rectangle 557"/>
            <p:cNvSpPr>
              <a:spLocks noChangeArrowheads="1"/>
            </p:cNvSpPr>
            <p:nvPr/>
          </p:nvSpPr>
          <p:spPr bwMode="auto">
            <a:xfrm>
              <a:off x="3351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2" name="Rectangle 558"/>
            <p:cNvSpPr>
              <a:spLocks noChangeArrowheads="1"/>
            </p:cNvSpPr>
            <p:nvPr/>
          </p:nvSpPr>
          <p:spPr bwMode="auto">
            <a:xfrm>
              <a:off x="3484" y="107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43" name="Rectangle 559"/>
            <p:cNvSpPr>
              <a:spLocks noChangeArrowheads="1"/>
            </p:cNvSpPr>
            <p:nvPr/>
          </p:nvSpPr>
          <p:spPr bwMode="auto">
            <a:xfrm>
              <a:off x="3639" y="104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4" name="Rectangle 560"/>
            <p:cNvSpPr>
              <a:spLocks noChangeArrowheads="1"/>
            </p:cNvSpPr>
            <p:nvPr/>
          </p:nvSpPr>
          <p:spPr bwMode="auto">
            <a:xfrm>
              <a:off x="3765" y="107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45" name="Rectangle 561"/>
            <p:cNvSpPr>
              <a:spLocks noChangeArrowheads="1"/>
            </p:cNvSpPr>
            <p:nvPr/>
          </p:nvSpPr>
          <p:spPr bwMode="auto">
            <a:xfrm>
              <a:off x="3927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6" name="Rectangle 562"/>
            <p:cNvSpPr>
              <a:spLocks noChangeArrowheads="1"/>
            </p:cNvSpPr>
            <p:nvPr/>
          </p:nvSpPr>
          <p:spPr bwMode="auto">
            <a:xfrm>
              <a:off x="4056" y="107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47" name="Rectangle 563"/>
            <p:cNvSpPr>
              <a:spLocks noChangeArrowheads="1"/>
            </p:cNvSpPr>
            <p:nvPr/>
          </p:nvSpPr>
          <p:spPr bwMode="auto">
            <a:xfrm>
              <a:off x="4215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8" name="Rectangle 564"/>
            <p:cNvSpPr>
              <a:spLocks noChangeArrowheads="1"/>
            </p:cNvSpPr>
            <p:nvPr/>
          </p:nvSpPr>
          <p:spPr bwMode="auto">
            <a:xfrm>
              <a:off x="4333" y="107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49" name="Rectangle 565"/>
            <p:cNvSpPr>
              <a:spLocks noChangeArrowheads="1"/>
            </p:cNvSpPr>
            <p:nvPr/>
          </p:nvSpPr>
          <p:spPr bwMode="auto">
            <a:xfrm>
              <a:off x="4503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0" name="Rectangle 566"/>
            <p:cNvSpPr>
              <a:spLocks noChangeArrowheads="1"/>
            </p:cNvSpPr>
            <p:nvPr/>
          </p:nvSpPr>
          <p:spPr bwMode="auto">
            <a:xfrm>
              <a:off x="4612" y="107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51" name="Rectangle 567"/>
            <p:cNvSpPr>
              <a:spLocks noChangeArrowheads="1"/>
            </p:cNvSpPr>
            <p:nvPr/>
          </p:nvSpPr>
          <p:spPr bwMode="auto">
            <a:xfrm>
              <a:off x="663" y="123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2" name="Rectangle 568"/>
            <p:cNvSpPr>
              <a:spLocks noChangeArrowheads="1"/>
            </p:cNvSpPr>
            <p:nvPr/>
          </p:nvSpPr>
          <p:spPr bwMode="auto">
            <a:xfrm>
              <a:off x="749" y="1278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0x017: halt</a:t>
              </a:r>
              <a:endParaRPr lang="en-US" dirty="0"/>
            </a:p>
          </p:txBody>
        </p:sp>
        <p:sp>
          <p:nvSpPr>
            <p:cNvPr id="426553" name="Rectangle 569"/>
            <p:cNvSpPr>
              <a:spLocks noChangeArrowheads="1"/>
            </p:cNvSpPr>
            <p:nvPr/>
          </p:nvSpPr>
          <p:spPr bwMode="auto">
            <a:xfrm>
              <a:off x="3639" y="123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4" name="Rectangle 570"/>
            <p:cNvSpPr>
              <a:spLocks noChangeArrowheads="1"/>
            </p:cNvSpPr>
            <p:nvPr/>
          </p:nvSpPr>
          <p:spPr bwMode="auto">
            <a:xfrm>
              <a:off x="3772" y="12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55" name="Rectangle 571"/>
            <p:cNvSpPr>
              <a:spLocks noChangeArrowheads="1"/>
            </p:cNvSpPr>
            <p:nvPr/>
          </p:nvSpPr>
          <p:spPr bwMode="auto">
            <a:xfrm>
              <a:off x="3927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6" name="Rectangle 572"/>
            <p:cNvSpPr>
              <a:spLocks noChangeArrowheads="1"/>
            </p:cNvSpPr>
            <p:nvPr/>
          </p:nvSpPr>
          <p:spPr bwMode="auto">
            <a:xfrm>
              <a:off x="4053" y="12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57" name="Rectangle 573"/>
            <p:cNvSpPr>
              <a:spLocks noChangeArrowheads="1"/>
            </p:cNvSpPr>
            <p:nvPr/>
          </p:nvSpPr>
          <p:spPr bwMode="auto">
            <a:xfrm>
              <a:off x="4215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8" name="Rectangle 574"/>
            <p:cNvSpPr>
              <a:spLocks noChangeArrowheads="1"/>
            </p:cNvSpPr>
            <p:nvPr/>
          </p:nvSpPr>
          <p:spPr bwMode="auto">
            <a:xfrm>
              <a:off x="4344" y="12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59" name="Rectangle 575"/>
            <p:cNvSpPr>
              <a:spLocks noChangeArrowheads="1"/>
            </p:cNvSpPr>
            <p:nvPr/>
          </p:nvSpPr>
          <p:spPr bwMode="auto">
            <a:xfrm>
              <a:off x="4503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0" name="Rectangle 576"/>
            <p:cNvSpPr>
              <a:spLocks noChangeArrowheads="1"/>
            </p:cNvSpPr>
            <p:nvPr/>
          </p:nvSpPr>
          <p:spPr bwMode="auto">
            <a:xfrm>
              <a:off x="4621" y="12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61" name="Rectangle 577"/>
            <p:cNvSpPr>
              <a:spLocks noChangeArrowheads="1"/>
            </p:cNvSpPr>
            <p:nvPr/>
          </p:nvSpPr>
          <p:spPr bwMode="auto">
            <a:xfrm>
              <a:off x="4791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2" name="Rectangle 578"/>
            <p:cNvSpPr>
              <a:spLocks noChangeArrowheads="1"/>
            </p:cNvSpPr>
            <p:nvPr/>
          </p:nvSpPr>
          <p:spPr bwMode="auto">
            <a:xfrm>
              <a:off x="4900" y="12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63" name="Rectangle 579"/>
            <p:cNvSpPr>
              <a:spLocks noChangeArrowheads="1"/>
            </p:cNvSpPr>
            <p:nvPr/>
          </p:nvSpPr>
          <p:spPr bwMode="auto">
            <a:xfrm>
              <a:off x="3639" y="123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4" name="Rectangle 580"/>
            <p:cNvSpPr>
              <a:spLocks noChangeArrowheads="1"/>
            </p:cNvSpPr>
            <p:nvPr/>
          </p:nvSpPr>
          <p:spPr bwMode="auto">
            <a:xfrm>
              <a:off x="3772" y="12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65" name="Rectangle 581"/>
            <p:cNvSpPr>
              <a:spLocks noChangeArrowheads="1"/>
            </p:cNvSpPr>
            <p:nvPr/>
          </p:nvSpPr>
          <p:spPr bwMode="auto">
            <a:xfrm>
              <a:off x="3927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6" name="Rectangle 582"/>
            <p:cNvSpPr>
              <a:spLocks noChangeArrowheads="1"/>
            </p:cNvSpPr>
            <p:nvPr/>
          </p:nvSpPr>
          <p:spPr bwMode="auto">
            <a:xfrm>
              <a:off x="4053" y="12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67" name="Rectangle 583"/>
            <p:cNvSpPr>
              <a:spLocks noChangeArrowheads="1"/>
            </p:cNvSpPr>
            <p:nvPr/>
          </p:nvSpPr>
          <p:spPr bwMode="auto">
            <a:xfrm>
              <a:off x="4215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8" name="Rectangle 584"/>
            <p:cNvSpPr>
              <a:spLocks noChangeArrowheads="1"/>
            </p:cNvSpPr>
            <p:nvPr/>
          </p:nvSpPr>
          <p:spPr bwMode="auto">
            <a:xfrm>
              <a:off x="4344" y="12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69" name="Rectangle 585"/>
            <p:cNvSpPr>
              <a:spLocks noChangeArrowheads="1"/>
            </p:cNvSpPr>
            <p:nvPr/>
          </p:nvSpPr>
          <p:spPr bwMode="auto">
            <a:xfrm>
              <a:off x="4503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0" name="Rectangle 586"/>
            <p:cNvSpPr>
              <a:spLocks noChangeArrowheads="1"/>
            </p:cNvSpPr>
            <p:nvPr/>
          </p:nvSpPr>
          <p:spPr bwMode="auto">
            <a:xfrm>
              <a:off x="4621" y="12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71" name="Rectangle 587"/>
            <p:cNvSpPr>
              <a:spLocks noChangeArrowheads="1"/>
            </p:cNvSpPr>
            <p:nvPr/>
          </p:nvSpPr>
          <p:spPr bwMode="auto">
            <a:xfrm>
              <a:off x="4791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2" name="Rectangle 588"/>
            <p:cNvSpPr>
              <a:spLocks noChangeArrowheads="1"/>
            </p:cNvSpPr>
            <p:nvPr/>
          </p:nvSpPr>
          <p:spPr bwMode="auto">
            <a:xfrm>
              <a:off x="4900" y="12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73" name="Rectangle 589"/>
            <p:cNvSpPr>
              <a:spLocks noChangeArrowheads="1"/>
            </p:cNvSpPr>
            <p:nvPr/>
          </p:nvSpPr>
          <p:spPr bwMode="auto">
            <a:xfrm>
              <a:off x="663" y="23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4" name="Rectangle 590"/>
            <p:cNvSpPr>
              <a:spLocks noChangeArrowheads="1"/>
            </p:cNvSpPr>
            <p:nvPr/>
          </p:nvSpPr>
          <p:spPr bwMode="auto">
            <a:xfrm>
              <a:off x="754" y="265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demo-h1.ys</a:t>
              </a:r>
              <a:endParaRPr lang="en-US"/>
            </a:p>
          </p:txBody>
        </p:sp>
        <p:sp>
          <p:nvSpPr>
            <p:cNvPr id="426575" name="Line 591"/>
            <p:cNvSpPr>
              <a:spLocks noChangeShapeType="1"/>
            </p:cNvSpPr>
            <p:nvPr/>
          </p:nvSpPr>
          <p:spPr bwMode="auto">
            <a:xfrm flipH="1">
              <a:off x="3159" y="1431"/>
              <a:ext cx="48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6" name="Line 592"/>
            <p:cNvSpPr>
              <a:spLocks noChangeShapeType="1"/>
            </p:cNvSpPr>
            <p:nvPr/>
          </p:nvSpPr>
          <p:spPr bwMode="auto">
            <a:xfrm>
              <a:off x="3927" y="1431"/>
              <a:ext cx="432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7" name="Rectangle 593"/>
            <p:cNvSpPr>
              <a:spLocks noChangeArrowheads="1"/>
            </p:cNvSpPr>
            <p:nvPr/>
          </p:nvSpPr>
          <p:spPr bwMode="auto">
            <a:xfrm>
              <a:off x="3159" y="1815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8" name="Rectangle 594"/>
            <p:cNvSpPr>
              <a:spLocks noChangeArrowheads="1"/>
            </p:cNvSpPr>
            <p:nvPr/>
          </p:nvSpPr>
          <p:spPr bwMode="auto">
            <a:xfrm>
              <a:off x="3724" y="1856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79" name="Rectangle 595"/>
            <p:cNvSpPr>
              <a:spLocks noChangeArrowheads="1"/>
            </p:cNvSpPr>
            <p:nvPr/>
          </p:nvSpPr>
          <p:spPr bwMode="auto">
            <a:xfrm>
              <a:off x="3159" y="2055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0" name="Rectangle 596"/>
            <p:cNvSpPr>
              <a:spLocks noChangeArrowheads="1"/>
            </p:cNvSpPr>
            <p:nvPr/>
          </p:nvSpPr>
          <p:spPr bwMode="auto">
            <a:xfrm>
              <a:off x="3245" y="2085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6581" name="Rectangle 597"/>
            <p:cNvSpPr>
              <a:spLocks noChangeArrowheads="1"/>
            </p:cNvSpPr>
            <p:nvPr/>
          </p:nvSpPr>
          <p:spPr bwMode="auto">
            <a:xfrm>
              <a:off x="3366" y="2097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82" name="Rectangle 598"/>
            <p:cNvSpPr>
              <a:spLocks noChangeArrowheads="1"/>
            </p:cNvSpPr>
            <p:nvPr/>
          </p:nvSpPr>
          <p:spPr bwMode="auto">
            <a:xfrm>
              <a:off x="3432" y="209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83" name="Rectangle 599"/>
            <p:cNvSpPr>
              <a:spLocks noChangeArrowheads="1"/>
            </p:cNvSpPr>
            <p:nvPr/>
          </p:nvSpPr>
          <p:spPr bwMode="auto">
            <a:xfrm>
              <a:off x="3625" y="2085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6584" name="Rectangle 600"/>
            <p:cNvSpPr>
              <a:spLocks noChangeArrowheads="1"/>
            </p:cNvSpPr>
            <p:nvPr/>
          </p:nvSpPr>
          <p:spPr bwMode="auto">
            <a:xfrm>
              <a:off x="3706" y="2081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6585" name="Rectangle 601"/>
            <p:cNvSpPr>
              <a:spLocks noChangeArrowheads="1"/>
            </p:cNvSpPr>
            <p:nvPr/>
          </p:nvSpPr>
          <p:spPr bwMode="auto">
            <a:xfrm>
              <a:off x="3818" y="2085"/>
              <a:ext cx="12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6586" name="Rectangle 602"/>
            <p:cNvSpPr>
              <a:spLocks noChangeArrowheads="1"/>
            </p:cNvSpPr>
            <p:nvPr/>
          </p:nvSpPr>
          <p:spPr bwMode="auto">
            <a:xfrm>
              <a:off x="3159" y="1815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7" name="Rectangle 603"/>
            <p:cNvSpPr>
              <a:spLocks noChangeArrowheads="1"/>
            </p:cNvSpPr>
            <p:nvPr/>
          </p:nvSpPr>
          <p:spPr bwMode="auto">
            <a:xfrm>
              <a:off x="3724" y="1856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88" name="Rectangle 604"/>
            <p:cNvSpPr>
              <a:spLocks noChangeArrowheads="1"/>
            </p:cNvSpPr>
            <p:nvPr/>
          </p:nvSpPr>
          <p:spPr bwMode="auto">
            <a:xfrm>
              <a:off x="3159" y="2055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9" name="Rectangle 605"/>
            <p:cNvSpPr>
              <a:spLocks noChangeArrowheads="1"/>
            </p:cNvSpPr>
            <p:nvPr/>
          </p:nvSpPr>
          <p:spPr bwMode="auto">
            <a:xfrm>
              <a:off x="3245" y="2085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6590" name="Rectangle 606"/>
            <p:cNvSpPr>
              <a:spLocks noChangeArrowheads="1"/>
            </p:cNvSpPr>
            <p:nvPr/>
          </p:nvSpPr>
          <p:spPr bwMode="auto">
            <a:xfrm>
              <a:off x="3366" y="2097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91" name="Rectangle 607"/>
            <p:cNvSpPr>
              <a:spLocks noChangeArrowheads="1"/>
            </p:cNvSpPr>
            <p:nvPr/>
          </p:nvSpPr>
          <p:spPr bwMode="auto">
            <a:xfrm>
              <a:off x="3432" y="209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92" name="Rectangle 608"/>
            <p:cNvSpPr>
              <a:spLocks noChangeArrowheads="1"/>
            </p:cNvSpPr>
            <p:nvPr/>
          </p:nvSpPr>
          <p:spPr bwMode="auto">
            <a:xfrm>
              <a:off x="3625" y="2085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6593" name="Rectangle 609"/>
            <p:cNvSpPr>
              <a:spLocks noChangeArrowheads="1"/>
            </p:cNvSpPr>
            <p:nvPr/>
          </p:nvSpPr>
          <p:spPr bwMode="auto">
            <a:xfrm>
              <a:off x="3706" y="2081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6594" name="Rectangle 610"/>
            <p:cNvSpPr>
              <a:spLocks noChangeArrowheads="1"/>
            </p:cNvSpPr>
            <p:nvPr/>
          </p:nvSpPr>
          <p:spPr bwMode="auto">
            <a:xfrm>
              <a:off x="3818" y="2085"/>
              <a:ext cx="12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grpSp>
          <p:nvGrpSpPr>
            <p:cNvPr id="426658" name="Group 674"/>
            <p:cNvGrpSpPr>
              <a:grpSpLocks/>
            </p:cNvGrpSpPr>
            <p:nvPr/>
          </p:nvGrpSpPr>
          <p:grpSpPr bwMode="auto">
            <a:xfrm>
              <a:off x="3159" y="1575"/>
              <a:ext cx="1729" cy="2497"/>
              <a:chOff x="3159" y="1575"/>
              <a:chExt cx="1729" cy="2497"/>
            </a:xfrm>
          </p:grpSpPr>
          <p:sp>
            <p:nvSpPr>
              <p:cNvPr id="426595" name="Rectangle 611"/>
              <p:cNvSpPr>
                <a:spLocks noChangeArrowheads="1"/>
              </p:cNvSpPr>
              <p:nvPr/>
            </p:nvSpPr>
            <p:spPr bwMode="auto">
              <a:xfrm>
                <a:off x="3159" y="344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596" name="Rectangle 612"/>
              <p:cNvSpPr>
                <a:spLocks noChangeArrowheads="1"/>
              </p:cNvSpPr>
              <p:nvPr/>
            </p:nvSpPr>
            <p:spPr bwMode="auto">
              <a:xfrm>
                <a:off x="3741" y="3488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6597" name="Rectangle 613"/>
              <p:cNvSpPr>
                <a:spLocks noChangeArrowheads="1"/>
              </p:cNvSpPr>
              <p:nvPr/>
            </p:nvSpPr>
            <p:spPr bwMode="auto">
              <a:xfrm>
                <a:off x="3159" y="368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598" name="Rectangle 614"/>
              <p:cNvSpPr>
                <a:spLocks noChangeArrowheads="1"/>
              </p:cNvSpPr>
              <p:nvPr/>
            </p:nvSpPr>
            <p:spPr bwMode="auto">
              <a:xfrm>
                <a:off x="3245" y="371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6599" name="Rectangle 615"/>
              <p:cNvSpPr>
                <a:spLocks noChangeArrowheads="1"/>
              </p:cNvSpPr>
              <p:nvPr/>
            </p:nvSpPr>
            <p:spPr bwMode="auto">
              <a:xfrm>
                <a:off x="3512" y="3715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00" name="Rectangle 616"/>
              <p:cNvSpPr>
                <a:spLocks noChangeArrowheads="1"/>
              </p:cNvSpPr>
              <p:nvPr/>
            </p:nvSpPr>
            <p:spPr bwMode="auto">
              <a:xfrm>
                <a:off x="3624" y="3719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01" name="Rectangle 617"/>
              <p:cNvSpPr>
                <a:spLocks noChangeArrowheads="1"/>
              </p:cNvSpPr>
              <p:nvPr/>
            </p:nvSpPr>
            <p:spPr bwMode="auto">
              <a:xfrm>
                <a:off x="3745" y="373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02" name="Rectangle 618"/>
              <p:cNvSpPr>
                <a:spLocks noChangeArrowheads="1"/>
              </p:cNvSpPr>
              <p:nvPr/>
            </p:nvSpPr>
            <p:spPr bwMode="auto">
              <a:xfrm>
                <a:off x="3811" y="373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6603" name="Rectangle 619"/>
              <p:cNvSpPr>
                <a:spLocks noChangeArrowheads="1"/>
              </p:cNvSpPr>
              <p:nvPr/>
            </p:nvSpPr>
            <p:spPr bwMode="auto">
              <a:xfrm>
                <a:off x="4004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04" name="Rectangle 620"/>
              <p:cNvSpPr>
                <a:spLocks noChangeArrowheads="1"/>
              </p:cNvSpPr>
              <p:nvPr/>
            </p:nvSpPr>
            <p:spPr bwMode="auto">
              <a:xfrm>
                <a:off x="4066" y="371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05" name="Rectangle 621"/>
              <p:cNvSpPr>
                <a:spLocks noChangeArrowheads="1"/>
              </p:cNvSpPr>
              <p:nvPr/>
            </p:nvSpPr>
            <p:spPr bwMode="auto">
              <a:xfrm>
                <a:off x="4162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06" name="Rectangle 622"/>
              <p:cNvSpPr>
                <a:spLocks noChangeArrowheads="1"/>
              </p:cNvSpPr>
              <p:nvPr/>
            </p:nvSpPr>
            <p:spPr bwMode="auto">
              <a:xfrm>
                <a:off x="3245" y="386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6607" name="Rectangle 623"/>
              <p:cNvSpPr>
                <a:spLocks noChangeArrowheads="1"/>
              </p:cNvSpPr>
              <p:nvPr/>
            </p:nvSpPr>
            <p:spPr bwMode="auto">
              <a:xfrm>
                <a:off x="3512" y="3862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08" name="Rectangle 624"/>
              <p:cNvSpPr>
                <a:spLocks noChangeArrowheads="1"/>
              </p:cNvSpPr>
              <p:nvPr/>
            </p:nvSpPr>
            <p:spPr bwMode="auto">
              <a:xfrm>
                <a:off x="3624" y="3866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09" name="Rectangle 625"/>
              <p:cNvSpPr>
                <a:spLocks noChangeArrowheads="1"/>
              </p:cNvSpPr>
              <p:nvPr/>
            </p:nvSpPr>
            <p:spPr bwMode="auto">
              <a:xfrm>
                <a:off x="3745" y="3878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10" name="Rectangle 626"/>
              <p:cNvSpPr>
                <a:spLocks noChangeArrowheads="1"/>
              </p:cNvSpPr>
              <p:nvPr/>
            </p:nvSpPr>
            <p:spPr bwMode="auto">
              <a:xfrm>
                <a:off x="3811" y="387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6611" name="Rectangle 627"/>
              <p:cNvSpPr>
                <a:spLocks noChangeArrowheads="1"/>
              </p:cNvSpPr>
              <p:nvPr/>
            </p:nvSpPr>
            <p:spPr bwMode="auto">
              <a:xfrm>
                <a:off x="4004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12" name="Rectangle 628"/>
              <p:cNvSpPr>
                <a:spLocks noChangeArrowheads="1"/>
              </p:cNvSpPr>
              <p:nvPr/>
            </p:nvSpPr>
            <p:spPr bwMode="auto">
              <a:xfrm>
                <a:off x="4066" y="3866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13" name="Rectangle 629"/>
              <p:cNvSpPr>
                <a:spLocks noChangeArrowheads="1"/>
              </p:cNvSpPr>
              <p:nvPr/>
            </p:nvSpPr>
            <p:spPr bwMode="auto">
              <a:xfrm>
                <a:off x="4162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14" name="Rectangle 630"/>
              <p:cNvSpPr>
                <a:spLocks noChangeArrowheads="1"/>
              </p:cNvSpPr>
              <p:nvPr/>
            </p:nvSpPr>
            <p:spPr bwMode="auto">
              <a:xfrm>
                <a:off x="3159" y="344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15" name="Rectangle 631"/>
              <p:cNvSpPr>
                <a:spLocks noChangeArrowheads="1"/>
              </p:cNvSpPr>
              <p:nvPr/>
            </p:nvSpPr>
            <p:spPr bwMode="auto">
              <a:xfrm>
                <a:off x="3741" y="3488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6616" name="Rectangle 632"/>
              <p:cNvSpPr>
                <a:spLocks noChangeArrowheads="1"/>
              </p:cNvSpPr>
              <p:nvPr/>
            </p:nvSpPr>
            <p:spPr bwMode="auto">
              <a:xfrm>
                <a:off x="3159" y="368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17" name="Rectangle 633"/>
              <p:cNvSpPr>
                <a:spLocks noChangeArrowheads="1"/>
              </p:cNvSpPr>
              <p:nvPr/>
            </p:nvSpPr>
            <p:spPr bwMode="auto">
              <a:xfrm>
                <a:off x="3245" y="371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6618" name="Rectangle 634"/>
              <p:cNvSpPr>
                <a:spLocks noChangeArrowheads="1"/>
              </p:cNvSpPr>
              <p:nvPr/>
            </p:nvSpPr>
            <p:spPr bwMode="auto">
              <a:xfrm>
                <a:off x="3512" y="3715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19" name="Rectangle 635"/>
              <p:cNvSpPr>
                <a:spLocks noChangeArrowheads="1"/>
              </p:cNvSpPr>
              <p:nvPr/>
            </p:nvSpPr>
            <p:spPr bwMode="auto">
              <a:xfrm>
                <a:off x="3624" y="3719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20" name="Rectangle 636"/>
              <p:cNvSpPr>
                <a:spLocks noChangeArrowheads="1"/>
              </p:cNvSpPr>
              <p:nvPr/>
            </p:nvSpPr>
            <p:spPr bwMode="auto">
              <a:xfrm>
                <a:off x="3745" y="373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21" name="Rectangle 637"/>
              <p:cNvSpPr>
                <a:spLocks noChangeArrowheads="1"/>
              </p:cNvSpPr>
              <p:nvPr/>
            </p:nvSpPr>
            <p:spPr bwMode="auto">
              <a:xfrm>
                <a:off x="3811" y="373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6622" name="Rectangle 638"/>
              <p:cNvSpPr>
                <a:spLocks noChangeArrowheads="1"/>
              </p:cNvSpPr>
              <p:nvPr/>
            </p:nvSpPr>
            <p:spPr bwMode="auto">
              <a:xfrm>
                <a:off x="4004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23" name="Rectangle 639"/>
              <p:cNvSpPr>
                <a:spLocks noChangeArrowheads="1"/>
              </p:cNvSpPr>
              <p:nvPr/>
            </p:nvSpPr>
            <p:spPr bwMode="auto">
              <a:xfrm>
                <a:off x="4066" y="371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24" name="Rectangle 640"/>
              <p:cNvSpPr>
                <a:spLocks noChangeArrowheads="1"/>
              </p:cNvSpPr>
              <p:nvPr/>
            </p:nvSpPr>
            <p:spPr bwMode="auto">
              <a:xfrm>
                <a:off x="4162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25" name="Rectangle 641"/>
              <p:cNvSpPr>
                <a:spLocks noChangeArrowheads="1"/>
              </p:cNvSpPr>
              <p:nvPr/>
            </p:nvSpPr>
            <p:spPr bwMode="auto">
              <a:xfrm>
                <a:off x="3245" y="386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6626" name="Rectangle 642"/>
              <p:cNvSpPr>
                <a:spLocks noChangeArrowheads="1"/>
              </p:cNvSpPr>
              <p:nvPr/>
            </p:nvSpPr>
            <p:spPr bwMode="auto">
              <a:xfrm>
                <a:off x="3512" y="3862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27" name="Rectangle 643"/>
              <p:cNvSpPr>
                <a:spLocks noChangeArrowheads="1"/>
              </p:cNvSpPr>
              <p:nvPr/>
            </p:nvSpPr>
            <p:spPr bwMode="auto">
              <a:xfrm>
                <a:off x="3624" y="3866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28" name="Rectangle 644"/>
              <p:cNvSpPr>
                <a:spLocks noChangeArrowheads="1"/>
              </p:cNvSpPr>
              <p:nvPr/>
            </p:nvSpPr>
            <p:spPr bwMode="auto">
              <a:xfrm>
                <a:off x="3745" y="3878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29" name="Rectangle 645"/>
              <p:cNvSpPr>
                <a:spLocks noChangeArrowheads="1"/>
              </p:cNvSpPr>
              <p:nvPr/>
            </p:nvSpPr>
            <p:spPr bwMode="auto">
              <a:xfrm>
                <a:off x="3811" y="387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6630" name="Rectangle 646"/>
              <p:cNvSpPr>
                <a:spLocks noChangeArrowheads="1"/>
              </p:cNvSpPr>
              <p:nvPr/>
            </p:nvSpPr>
            <p:spPr bwMode="auto">
              <a:xfrm>
                <a:off x="4004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31" name="Rectangle 647"/>
              <p:cNvSpPr>
                <a:spLocks noChangeArrowheads="1"/>
              </p:cNvSpPr>
              <p:nvPr/>
            </p:nvSpPr>
            <p:spPr bwMode="auto">
              <a:xfrm>
                <a:off x="4066" y="3866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32" name="Rectangle 648"/>
              <p:cNvSpPr>
                <a:spLocks noChangeArrowheads="1"/>
              </p:cNvSpPr>
              <p:nvPr/>
            </p:nvSpPr>
            <p:spPr bwMode="auto">
              <a:xfrm>
                <a:off x="4162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33" name="Rectangle 649"/>
              <p:cNvSpPr>
                <a:spLocks noChangeArrowheads="1"/>
              </p:cNvSpPr>
              <p:nvPr/>
            </p:nvSpPr>
            <p:spPr bwMode="auto">
              <a:xfrm>
                <a:off x="3687" y="3063"/>
                <a:ext cx="162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34" name="Rectangle 650"/>
              <p:cNvSpPr>
                <a:spLocks noChangeArrowheads="1"/>
              </p:cNvSpPr>
              <p:nvPr/>
            </p:nvSpPr>
            <p:spPr bwMode="auto">
              <a:xfrm>
                <a:off x="3773" y="3064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5" name="Rectangle 651"/>
              <p:cNvSpPr>
                <a:spLocks noChangeArrowheads="1"/>
              </p:cNvSpPr>
              <p:nvPr/>
            </p:nvSpPr>
            <p:spPr bwMode="auto">
              <a:xfrm>
                <a:off x="3773" y="3172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6" name="Rectangle 652"/>
              <p:cNvSpPr>
                <a:spLocks noChangeArrowheads="1"/>
              </p:cNvSpPr>
              <p:nvPr/>
            </p:nvSpPr>
            <p:spPr bwMode="auto">
              <a:xfrm>
                <a:off x="3773" y="3280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7" name="Rectangle 653"/>
              <p:cNvSpPr>
                <a:spLocks noChangeArrowheads="1"/>
              </p:cNvSpPr>
              <p:nvPr/>
            </p:nvSpPr>
            <p:spPr bwMode="auto">
              <a:xfrm>
                <a:off x="3159" y="1575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38" name="Rectangle 654"/>
              <p:cNvSpPr>
                <a:spLocks noChangeArrowheads="1"/>
              </p:cNvSpPr>
              <p:nvPr/>
            </p:nvSpPr>
            <p:spPr bwMode="auto">
              <a:xfrm>
                <a:off x="3575" y="1613"/>
                <a:ext cx="423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5</a:t>
                </a:r>
                <a:endParaRPr lang="en-US"/>
              </a:p>
            </p:txBody>
          </p:sp>
          <p:grpSp>
            <p:nvGrpSpPr>
              <p:cNvPr id="426641" name="Group 657"/>
              <p:cNvGrpSpPr>
                <a:grpSpLocks/>
              </p:cNvGrpSpPr>
              <p:nvPr/>
            </p:nvGrpSpPr>
            <p:grpSpPr bwMode="auto">
              <a:xfrm>
                <a:off x="4215" y="3735"/>
                <a:ext cx="336" cy="149"/>
                <a:chOff x="4215" y="3735"/>
                <a:chExt cx="336" cy="149"/>
              </a:xfrm>
            </p:grpSpPr>
            <p:sp>
              <p:nvSpPr>
                <p:cNvPr id="426639" name="Line 655"/>
                <p:cNvSpPr>
                  <a:spLocks noChangeShapeType="1"/>
                </p:cNvSpPr>
                <p:nvPr/>
              </p:nvSpPr>
              <p:spPr bwMode="auto">
                <a:xfrm flipH="1">
                  <a:off x="4270" y="3735"/>
                  <a:ext cx="281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640" name="Freeform 656"/>
                <p:cNvSpPr>
                  <a:spLocks/>
                </p:cNvSpPr>
                <p:nvPr/>
              </p:nvSpPr>
              <p:spPr bwMode="auto">
                <a:xfrm>
                  <a:off x="4215" y="3826"/>
                  <a:ext cx="70" cy="5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0" y="53"/>
                    </a:cxn>
                    <a:cxn ang="0">
                      <a:pos x="70" y="5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70" h="58">
                      <a:moveTo>
                        <a:pt x="46" y="0"/>
                      </a:moveTo>
                      <a:lnTo>
                        <a:pt x="0" y="53"/>
                      </a:lnTo>
                      <a:lnTo>
                        <a:pt x="70" y="5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6642" name="Rectangle 658"/>
              <p:cNvSpPr>
                <a:spLocks noChangeArrowheads="1"/>
              </p:cNvSpPr>
              <p:nvPr/>
            </p:nvSpPr>
            <p:spPr bwMode="auto">
              <a:xfrm>
                <a:off x="4523" y="3591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3" name="Rectangle 659"/>
              <p:cNvSpPr>
                <a:spLocks noChangeArrowheads="1"/>
              </p:cNvSpPr>
              <p:nvPr/>
            </p:nvSpPr>
            <p:spPr bwMode="auto">
              <a:xfrm>
                <a:off x="4605" y="3627"/>
                <a:ext cx="248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i="1">
                    <a:solidFill>
                      <a:srgbClr val="000000"/>
                    </a:solidFill>
                  </a:rPr>
                  <a:t>Error</a:t>
                </a:r>
                <a:endParaRPr lang="en-US"/>
              </a:p>
            </p:txBody>
          </p:sp>
          <p:sp>
            <p:nvSpPr>
              <p:cNvPr id="426644" name="Rectangle 660"/>
              <p:cNvSpPr>
                <a:spLocks noChangeArrowheads="1"/>
              </p:cNvSpPr>
              <p:nvPr/>
            </p:nvSpPr>
            <p:spPr bwMode="auto">
              <a:xfrm>
                <a:off x="3159" y="243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5" name="Rectangle 661"/>
              <p:cNvSpPr>
                <a:spLocks noChangeArrowheads="1"/>
              </p:cNvSpPr>
              <p:nvPr/>
            </p:nvSpPr>
            <p:spPr bwMode="auto">
              <a:xfrm>
                <a:off x="3733" y="2480"/>
                <a:ext cx="107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6646" name="Rectangle 662"/>
              <p:cNvSpPr>
                <a:spLocks noChangeArrowheads="1"/>
              </p:cNvSpPr>
              <p:nvPr/>
            </p:nvSpPr>
            <p:spPr bwMode="auto">
              <a:xfrm>
                <a:off x="3159" y="2631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7" name="Rectangle 663"/>
              <p:cNvSpPr>
                <a:spLocks noChangeArrowheads="1"/>
              </p:cNvSpPr>
              <p:nvPr/>
            </p:nvSpPr>
            <p:spPr bwMode="auto">
              <a:xfrm>
                <a:off x="3245" y="2670"/>
                <a:ext cx="155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6648" name="Rectangle 664"/>
              <p:cNvSpPr>
                <a:spLocks noChangeArrowheads="1"/>
              </p:cNvSpPr>
              <p:nvPr/>
            </p:nvSpPr>
            <p:spPr bwMode="auto">
              <a:xfrm>
                <a:off x="3400" y="2670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26649" name="Rectangle 665"/>
              <p:cNvSpPr>
                <a:spLocks noChangeArrowheads="1"/>
              </p:cNvSpPr>
              <p:nvPr/>
            </p:nvSpPr>
            <p:spPr bwMode="auto">
              <a:xfrm>
                <a:off x="3648" y="2670"/>
                <a:ext cx="158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3</a:t>
                </a:r>
                <a:endParaRPr lang="en-US"/>
              </a:p>
            </p:txBody>
          </p:sp>
          <p:sp>
            <p:nvSpPr>
              <p:cNvPr id="426650" name="Rectangle 666"/>
              <p:cNvSpPr>
                <a:spLocks noChangeArrowheads="1"/>
              </p:cNvSpPr>
              <p:nvPr/>
            </p:nvSpPr>
            <p:spPr bwMode="auto">
              <a:xfrm>
                <a:off x="3245" y="2809"/>
                <a:ext cx="155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6651" name="Rectangle 667"/>
              <p:cNvSpPr>
                <a:spLocks noChangeArrowheads="1"/>
              </p:cNvSpPr>
              <p:nvPr/>
            </p:nvSpPr>
            <p:spPr bwMode="auto">
              <a:xfrm>
                <a:off x="3400" y="2809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26652" name="Rectangle 668"/>
              <p:cNvSpPr>
                <a:spLocks noChangeArrowheads="1"/>
              </p:cNvSpPr>
              <p:nvPr/>
            </p:nvSpPr>
            <p:spPr bwMode="auto">
              <a:xfrm>
                <a:off x="3655" y="280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53" name="Rectangle 669"/>
              <p:cNvSpPr>
                <a:spLocks noChangeArrowheads="1"/>
              </p:cNvSpPr>
              <p:nvPr/>
            </p:nvSpPr>
            <p:spPr bwMode="auto">
              <a:xfrm>
                <a:off x="3760" y="282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54" name="Rectangle 670"/>
              <p:cNvSpPr>
                <a:spLocks noChangeArrowheads="1"/>
              </p:cNvSpPr>
              <p:nvPr/>
            </p:nvSpPr>
            <p:spPr bwMode="auto">
              <a:xfrm>
                <a:off x="3826" y="282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grpSp>
            <p:nvGrpSpPr>
              <p:cNvPr id="426657" name="Group 673"/>
              <p:cNvGrpSpPr>
                <a:grpSpLocks/>
              </p:cNvGrpSpPr>
              <p:nvPr/>
            </p:nvGrpSpPr>
            <p:grpSpPr bwMode="auto">
              <a:xfrm>
                <a:off x="4215" y="3687"/>
                <a:ext cx="336" cy="70"/>
                <a:chOff x="4215" y="3687"/>
                <a:chExt cx="336" cy="70"/>
              </a:xfrm>
            </p:grpSpPr>
            <p:sp>
              <p:nvSpPr>
                <p:cNvPr id="426655" name="Line 671"/>
                <p:cNvSpPr>
                  <a:spLocks noChangeShapeType="1"/>
                </p:cNvSpPr>
                <p:nvPr/>
              </p:nvSpPr>
              <p:spPr bwMode="auto">
                <a:xfrm flipH="1">
                  <a:off x="4274" y="3687"/>
                  <a:ext cx="277" cy="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656" name="Freeform 672"/>
                <p:cNvSpPr>
                  <a:spLocks/>
                </p:cNvSpPr>
                <p:nvPr/>
              </p:nvSpPr>
              <p:spPr bwMode="auto">
                <a:xfrm>
                  <a:off x="4215" y="3695"/>
                  <a:ext cx="67" cy="62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0" y="40"/>
                    </a:cxn>
                    <a:cxn ang="0">
                      <a:pos x="67" y="62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67" h="62">
                      <a:moveTo>
                        <a:pt x="58" y="0"/>
                      </a:moveTo>
                      <a:lnTo>
                        <a:pt x="0" y="40"/>
                      </a:lnTo>
                      <a:lnTo>
                        <a:pt x="67" y="62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0656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704263" cy="779463"/>
          </a:xfrm>
        </p:spPr>
        <p:txBody>
          <a:bodyPr/>
          <a:lstStyle/>
          <a:p>
            <a:r>
              <a:rPr lang="en-US"/>
              <a:t>Data Dependencies: No Nop</a:t>
            </a:r>
          </a:p>
        </p:txBody>
      </p:sp>
      <p:grpSp>
        <p:nvGrpSpPr>
          <p:cNvPr id="427420" name="Group 412"/>
          <p:cNvGrpSpPr>
            <a:grpSpLocks/>
          </p:cNvGrpSpPr>
          <p:nvPr/>
        </p:nvGrpSpPr>
        <p:grpSpPr bwMode="auto">
          <a:xfrm>
            <a:off x="1281113" y="747713"/>
            <a:ext cx="6554787" cy="5335587"/>
            <a:chOff x="807" y="471"/>
            <a:chExt cx="4129" cy="3361"/>
          </a:xfrm>
        </p:grpSpPr>
        <p:sp>
          <p:nvSpPr>
            <p:cNvPr id="427269" name="Rectangle 261"/>
            <p:cNvSpPr>
              <a:spLocks noChangeArrowheads="1"/>
            </p:cNvSpPr>
            <p:nvPr/>
          </p:nvSpPr>
          <p:spPr bwMode="auto">
            <a:xfrm>
              <a:off x="807" y="71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70" name="Rectangle 262"/>
            <p:cNvSpPr>
              <a:spLocks noChangeArrowheads="1"/>
            </p:cNvSpPr>
            <p:nvPr/>
          </p:nvSpPr>
          <p:spPr bwMode="auto">
            <a:xfrm>
              <a:off x="865" y="750"/>
              <a:ext cx="536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7271" name="Rectangle 263"/>
            <p:cNvSpPr>
              <a:spLocks noChangeArrowheads="1"/>
            </p:cNvSpPr>
            <p:nvPr/>
          </p:nvSpPr>
          <p:spPr bwMode="auto">
            <a:xfrm>
              <a:off x="1398" y="75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7272" name="Rectangle 264"/>
            <p:cNvSpPr>
              <a:spLocks noChangeArrowheads="1"/>
            </p:cNvSpPr>
            <p:nvPr/>
          </p:nvSpPr>
          <p:spPr bwMode="auto">
            <a:xfrm>
              <a:off x="1803" y="750"/>
              <a:ext cx="40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7273" name="Rectangle 265"/>
            <p:cNvSpPr>
              <a:spLocks noChangeArrowheads="1"/>
            </p:cNvSpPr>
            <p:nvPr/>
          </p:nvSpPr>
          <p:spPr bwMode="auto">
            <a:xfrm>
              <a:off x="2170" y="75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7274" name="Rectangle 266"/>
            <p:cNvSpPr>
              <a:spLocks noChangeArrowheads="1"/>
            </p:cNvSpPr>
            <p:nvPr/>
          </p:nvSpPr>
          <p:spPr bwMode="auto">
            <a:xfrm>
              <a:off x="2631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75" name="Rectangle 267"/>
            <p:cNvSpPr>
              <a:spLocks noChangeArrowheads="1"/>
            </p:cNvSpPr>
            <p:nvPr/>
          </p:nvSpPr>
          <p:spPr bwMode="auto">
            <a:xfrm>
              <a:off x="2748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7276" name="Rectangle 268"/>
            <p:cNvSpPr>
              <a:spLocks noChangeArrowheads="1"/>
            </p:cNvSpPr>
            <p:nvPr/>
          </p:nvSpPr>
          <p:spPr bwMode="auto">
            <a:xfrm>
              <a:off x="2919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77" name="Rectangle 269"/>
            <p:cNvSpPr>
              <a:spLocks noChangeArrowheads="1"/>
            </p:cNvSpPr>
            <p:nvPr/>
          </p:nvSpPr>
          <p:spPr bwMode="auto">
            <a:xfrm>
              <a:off x="3036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7278" name="Rectangle 270"/>
            <p:cNvSpPr>
              <a:spLocks noChangeArrowheads="1"/>
            </p:cNvSpPr>
            <p:nvPr/>
          </p:nvSpPr>
          <p:spPr bwMode="auto">
            <a:xfrm>
              <a:off x="3207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79" name="Rectangle 271"/>
            <p:cNvSpPr>
              <a:spLocks noChangeArrowheads="1"/>
            </p:cNvSpPr>
            <p:nvPr/>
          </p:nvSpPr>
          <p:spPr bwMode="auto">
            <a:xfrm>
              <a:off x="3324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7280" name="Rectangle 272"/>
            <p:cNvSpPr>
              <a:spLocks noChangeArrowheads="1"/>
            </p:cNvSpPr>
            <p:nvPr/>
          </p:nvSpPr>
          <p:spPr bwMode="auto">
            <a:xfrm>
              <a:off x="3495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1" name="Rectangle 273"/>
            <p:cNvSpPr>
              <a:spLocks noChangeArrowheads="1"/>
            </p:cNvSpPr>
            <p:nvPr/>
          </p:nvSpPr>
          <p:spPr bwMode="auto">
            <a:xfrm>
              <a:off x="3612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7282" name="Rectangle 274"/>
            <p:cNvSpPr>
              <a:spLocks noChangeArrowheads="1"/>
            </p:cNvSpPr>
            <p:nvPr/>
          </p:nvSpPr>
          <p:spPr bwMode="auto">
            <a:xfrm>
              <a:off x="3783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3" name="Rectangle 275"/>
            <p:cNvSpPr>
              <a:spLocks noChangeArrowheads="1"/>
            </p:cNvSpPr>
            <p:nvPr/>
          </p:nvSpPr>
          <p:spPr bwMode="auto">
            <a:xfrm>
              <a:off x="3900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7284" name="Rectangle 276"/>
            <p:cNvSpPr>
              <a:spLocks noChangeArrowheads="1"/>
            </p:cNvSpPr>
            <p:nvPr/>
          </p:nvSpPr>
          <p:spPr bwMode="auto">
            <a:xfrm>
              <a:off x="4071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5" name="Rectangle 277"/>
            <p:cNvSpPr>
              <a:spLocks noChangeArrowheads="1"/>
            </p:cNvSpPr>
            <p:nvPr/>
          </p:nvSpPr>
          <p:spPr bwMode="auto">
            <a:xfrm>
              <a:off x="4188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7286" name="Rectangle 278"/>
            <p:cNvSpPr>
              <a:spLocks noChangeArrowheads="1"/>
            </p:cNvSpPr>
            <p:nvPr/>
          </p:nvSpPr>
          <p:spPr bwMode="auto">
            <a:xfrm>
              <a:off x="4359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7" name="Rectangle 279"/>
            <p:cNvSpPr>
              <a:spLocks noChangeArrowheads="1"/>
            </p:cNvSpPr>
            <p:nvPr/>
          </p:nvSpPr>
          <p:spPr bwMode="auto">
            <a:xfrm>
              <a:off x="4476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7288" name="Rectangle 280"/>
            <p:cNvSpPr>
              <a:spLocks noChangeArrowheads="1"/>
            </p:cNvSpPr>
            <p:nvPr/>
          </p:nvSpPr>
          <p:spPr bwMode="auto">
            <a:xfrm>
              <a:off x="4647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9" name="Rectangle 281"/>
            <p:cNvSpPr>
              <a:spLocks noChangeArrowheads="1"/>
            </p:cNvSpPr>
            <p:nvPr/>
          </p:nvSpPr>
          <p:spPr bwMode="auto">
            <a:xfrm>
              <a:off x="4764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7290" name="Rectangle 282"/>
            <p:cNvSpPr>
              <a:spLocks noChangeArrowheads="1"/>
            </p:cNvSpPr>
            <p:nvPr/>
          </p:nvSpPr>
          <p:spPr bwMode="auto">
            <a:xfrm>
              <a:off x="2631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1" name="Rectangle 283"/>
            <p:cNvSpPr>
              <a:spLocks noChangeArrowheads="1"/>
            </p:cNvSpPr>
            <p:nvPr/>
          </p:nvSpPr>
          <p:spPr bwMode="auto">
            <a:xfrm>
              <a:off x="2736" y="739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7292" name="Rectangle 284"/>
            <p:cNvSpPr>
              <a:spLocks noChangeArrowheads="1"/>
            </p:cNvSpPr>
            <p:nvPr/>
          </p:nvSpPr>
          <p:spPr bwMode="auto">
            <a:xfrm>
              <a:off x="2919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3" name="Rectangle 285"/>
            <p:cNvSpPr>
              <a:spLocks noChangeArrowheads="1"/>
            </p:cNvSpPr>
            <p:nvPr/>
          </p:nvSpPr>
          <p:spPr bwMode="auto">
            <a:xfrm>
              <a:off x="3017" y="739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7294" name="Rectangle 286"/>
            <p:cNvSpPr>
              <a:spLocks noChangeArrowheads="1"/>
            </p:cNvSpPr>
            <p:nvPr/>
          </p:nvSpPr>
          <p:spPr bwMode="auto">
            <a:xfrm>
              <a:off x="3207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5" name="Rectangle 287"/>
            <p:cNvSpPr>
              <a:spLocks noChangeArrowheads="1"/>
            </p:cNvSpPr>
            <p:nvPr/>
          </p:nvSpPr>
          <p:spPr bwMode="auto">
            <a:xfrm>
              <a:off x="3308" y="739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7296" name="Rectangle 288"/>
            <p:cNvSpPr>
              <a:spLocks noChangeArrowheads="1"/>
            </p:cNvSpPr>
            <p:nvPr/>
          </p:nvSpPr>
          <p:spPr bwMode="auto">
            <a:xfrm>
              <a:off x="3495" y="71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7" name="Rectangle 289"/>
            <p:cNvSpPr>
              <a:spLocks noChangeArrowheads="1"/>
            </p:cNvSpPr>
            <p:nvPr/>
          </p:nvSpPr>
          <p:spPr bwMode="auto">
            <a:xfrm>
              <a:off x="3585" y="739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298" name="Rectangle 290"/>
            <p:cNvSpPr>
              <a:spLocks noChangeArrowheads="1"/>
            </p:cNvSpPr>
            <p:nvPr/>
          </p:nvSpPr>
          <p:spPr bwMode="auto">
            <a:xfrm>
              <a:off x="4071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9" name="Rectangle 291"/>
            <p:cNvSpPr>
              <a:spLocks noChangeArrowheads="1"/>
            </p:cNvSpPr>
            <p:nvPr/>
          </p:nvSpPr>
          <p:spPr bwMode="auto">
            <a:xfrm>
              <a:off x="4152" y="931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7300" name="Rectangle 292"/>
            <p:cNvSpPr>
              <a:spLocks noChangeArrowheads="1"/>
            </p:cNvSpPr>
            <p:nvPr/>
          </p:nvSpPr>
          <p:spPr bwMode="auto">
            <a:xfrm>
              <a:off x="807" y="90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01" name="Rectangle 293"/>
            <p:cNvSpPr>
              <a:spLocks noChangeArrowheads="1"/>
            </p:cNvSpPr>
            <p:nvPr/>
          </p:nvSpPr>
          <p:spPr bwMode="auto">
            <a:xfrm>
              <a:off x="929" y="94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7302" name="Rectangle 294"/>
            <p:cNvSpPr>
              <a:spLocks noChangeArrowheads="1"/>
            </p:cNvSpPr>
            <p:nvPr/>
          </p:nvSpPr>
          <p:spPr bwMode="auto">
            <a:xfrm>
              <a:off x="1398" y="94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7303" name="Rectangle 295"/>
            <p:cNvSpPr>
              <a:spLocks noChangeArrowheads="1"/>
            </p:cNvSpPr>
            <p:nvPr/>
          </p:nvSpPr>
          <p:spPr bwMode="auto">
            <a:xfrm>
              <a:off x="1870" y="942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7304" name="Rectangle 296"/>
            <p:cNvSpPr>
              <a:spLocks noChangeArrowheads="1"/>
            </p:cNvSpPr>
            <p:nvPr/>
          </p:nvSpPr>
          <p:spPr bwMode="auto">
            <a:xfrm>
              <a:off x="2170" y="94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7305" name="Rectangle 297"/>
            <p:cNvSpPr>
              <a:spLocks noChangeArrowheads="1"/>
            </p:cNvSpPr>
            <p:nvPr/>
          </p:nvSpPr>
          <p:spPr bwMode="auto">
            <a:xfrm>
              <a:off x="2919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06" name="Rectangle 298"/>
            <p:cNvSpPr>
              <a:spLocks noChangeArrowheads="1"/>
            </p:cNvSpPr>
            <p:nvPr/>
          </p:nvSpPr>
          <p:spPr bwMode="auto">
            <a:xfrm>
              <a:off x="3024" y="931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7307" name="Rectangle 299"/>
            <p:cNvSpPr>
              <a:spLocks noChangeArrowheads="1"/>
            </p:cNvSpPr>
            <p:nvPr/>
          </p:nvSpPr>
          <p:spPr bwMode="auto">
            <a:xfrm>
              <a:off x="3207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08" name="Rectangle 300"/>
            <p:cNvSpPr>
              <a:spLocks noChangeArrowheads="1"/>
            </p:cNvSpPr>
            <p:nvPr/>
          </p:nvSpPr>
          <p:spPr bwMode="auto">
            <a:xfrm>
              <a:off x="3305" y="93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7309" name="Rectangle 301"/>
            <p:cNvSpPr>
              <a:spLocks noChangeArrowheads="1"/>
            </p:cNvSpPr>
            <p:nvPr/>
          </p:nvSpPr>
          <p:spPr bwMode="auto">
            <a:xfrm>
              <a:off x="3495" y="90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0" name="Rectangle 302"/>
            <p:cNvSpPr>
              <a:spLocks noChangeArrowheads="1"/>
            </p:cNvSpPr>
            <p:nvPr/>
          </p:nvSpPr>
          <p:spPr bwMode="auto">
            <a:xfrm>
              <a:off x="3596" y="931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7311" name="Rectangle 303"/>
            <p:cNvSpPr>
              <a:spLocks noChangeArrowheads="1"/>
            </p:cNvSpPr>
            <p:nvPr/>
          </p:nvSpPr>
          <p:spPr bwMode="auto">
            <a:xfrm>
              <a:off x="3783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2" name="Rectangle 304"/>
            <p:cNvSpPr>
              <a:spLocks noChangeArrowheads="1"/>
            </p:cNvSpPr>
            <p:nvPr/>
          </p:nvSpPr>
          <p:spPr bwMode="auto">
            <a:xfrm>
              <a:off x="3873" y="931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313" name="Rectangle 305"/>
            <p:cNvSpPr>
              <a:spLocks noChangeArrowheads="1"/>
            </p:cNvSpPr>
            <p:nvPr/>
          </p:nvSpPr>
          <p:spPr bwMode="auto">
            <a:xfrm>
              <a:off x="3783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4" name="Rectangle 306"/>
            <p:cNvSpPr>
              <a:spLocks noChangeArrowheads="1"/>
            </p:cNvSpPr>
            <p:nvPr/>
          </p:nvSpPr>
          <p:spPr bwMode="auto">
            <a:xfrm>
              <a:off x="3864" y="739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7315" name="Rectangle 307"/>
            <p:cNvSpPr>
              <a:spLocks noChangeArrowheads="1"/>
            </p:cNvSpPr>
            <p:nvPr/>
          </p:nvSpPr>
          <p:spPr bwMode="auto">
            <a:xfrm>
              <a:off x="3207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6" name="Rectangle 308"/>
            <p:cNvSpPr>
              <a:spLocks noChangeArrowheads="1"/>
            </p:cNvSpPr>
            <p:nvPr/>
          </p:nvSpPr>
          <p:spPr bwMode="auto">
            <a:xfrm>
              <a:off x="3312" y="1123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7317" name="Rectangle 309"/>
            <p:cNvSpPr>
              <a:spLocks noChangeArrowheads="1"/>
            </p:cNvSpPr>
            <p:nvPr/>
          </p:nvSpPr>
          <p:spPr bwMode="auto">
            <a:xfrm>
              <a:off x="3495" y="109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8" name="Rectangle 310"/>
            <p:cNvSpPr>
              <a:spLocks noChangeArrowheads="1"/>
            </p:cNvSpPr>
            <p:nvPr/>
          </p:nvSpPr>
          <p:spPr bwMode="auto">
            <a:xfrm>
              <a:off x="3593" y="1123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7319" name="Rectangle 311"/>
            <p:cNvSpPr>
              <a:spLocks noChangeArrowheads="1"/>
            </p:cNvSpPr>
            <p:nvPr/>
          </p:nvSpPr>
          <p:spPr bwMode="auto">
            <a:xfrm>
              <a:off x="3783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20" name="Rectangle 312"/>
            <p:cNvSpPr>
              <a:spLocks noChangeArrowheads="1"/>
            </p:cNvSpPr>
            <p:nvPr/>
          </p:nvSpPr>
          <p:spPr bwMode="auto">
            <a:xfrm>
              <a:off x="3884" y="1123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7321" name="Rectangle 313"/>
            <p:cNvSpPr>
              <a:spLocks noChangeArrowheads="1"/>
            </p:cNvSpPr>
            <p:nvPr/>
          </p:nvSpPr>
          <p:spPr bwMode="auto">
            <a:xfrm>
              <a:off x="4071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22" name="Rectangle 314"/>
            <p:cNvSpPr>
              <a:spLocks noChangeArrowheads="1"/>
            </p:cNvSpPr>
            <p:nvPr/>
          </p:nvSpPr>
          <p:spPr bwMode="auto">
            <a:xfrm>
              <a:off x="4161" y="1123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323" name="Rectangle 315"/>
            <p:cNvSpPr>
              <a:spLocks noChangeArrowheads="1"/>
            </p:cNvSpPr>
            <p:nvPr/>
          </p:nvSpPr>
          <p:spPr bwMode="auto">
            <a:xfrm>
              <a:off x="4359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24" name="Rectangle 316"/>
            <p:cNvSpPr>
              <a:spLocks noChangeArrowheads="1"/>
            </p:cNvSpPr>
            <p:nvPr/>
          </p:nvSpPr>
          <p:spPr bwMode="auto">
            <a:xfrm>
              <a:off x="4440" y="112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7325" name="Rectangle 317"/>
            <p:cNvSpPr>
              <a:spLocks noChangeArrowheads="1"/>
            </p:cNvSpPr>
            <p:nvPr/>
          </p:nvSpPr>
          <p:spPr bwMode="auto">
            <a:xfrm>
              <a:off x="807" y="109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26" name="Rectangle 318"/>
            <p:cNvSpPr>
              <a:spLocks noChangeArrowheads="1"/>
            </p:cNvSpPr>
            <p:nvPr/>
          </p:nvSpPr>
          <p:spPr bwMode="auto">
            <a:xfrm>
              <a:off x="929" y="113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7327" name="Rectangle 319"/>
            <p:cNvSpPr>
              <a:spLocks noChangeArrowheads="1"/>
            </p:cNvSpPr>
            <p:nvPr/>
          </p:nvSpPr>
          <p:spPr bwMode="auto">
            <a:xfrm>
              <a:off x="1365" y="1134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7328" name="Rectangle 320"/>
            <p:cNvSpPr>
              <a:spLocks noChangeArrowheads="1"/>
            </p:cNvSpPr>
            <p:nvPr/>
          </p:nvSpPr>
          <p:spPr bwMode="auto">
            <a:xfrm>
              <a:off x="1669" y="113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7329" name="Rectangle 321"/>
            <p:cNvSpPr>
              <a:spLocks noChangeArrowheads="1"/>
            </p:cNvSpPr>
            <p:nvPr/>
          </p:nvSpPr>
          <p:spPr bwMode="auto">
            <a:xfrm>
              <a:off x="1768" y="113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7330" name="Rectangle 322"/>
            <p:cNvSpPr>
              <a:spLocks noChangeArrowheads="1"/>
            </p:cNvSpPr>
            <p:nvPr/>
          </p:nvSpPr>
          <p:spPr bwMode="auto">
            <a:xfrm>
              <a:off x="1937" y="1134"/>
              <a:ext cx="20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7331" name="Rectangle 323"/>
            <p:cNvSpPr>
              <a:spLocks noChangeArrowheads="1"/>
            </p:cNvSpPr>
            <p:nvPr/>
          </p:nvSpPr>
          <p:spPr bwMode="auto">
            <a:xfrm>
              <a:off x="2103" y="113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7332" name="Rectangle 324"/>
            <p:cNvSpPr>
              <a:spLocks noChangeArrowheads="1"/>
            </p:cNvSpPr>
            <p:nvPr/>
          </p:nvSpPr>
          <p:spPr bwMode="auto">
            <a:xfrm>
              <a:off x="3495" y="128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33" name="Rectangle 325"/>
            <p:cNvSpPr>
              <a:spLocks noChangeArrowheads="1"/>
            </p:cNvSpPr>
            <p:nvPr/>
          </p:nvSpPr>
          <p:spPr bwMode="auto">
            <a:xfrm>
              <a:off x="3600" y="1315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7334" name="Rectangle 326"/>
            <p:cNvSpPr>
              <a:spLocks noChangeArrowheads="1"/>
            </p:cNvSpPr>
            <p:nvPr/>
          </p:nvSpPr>
          <p:spPr bwMode="auto">
            <a:xfrm>
              <a:off x="3783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35" name="Rectangle 327"/>
            <p:cNvSpPr>
              <a:spLocks noChangeArrowheads="1"/>
            </p:cNvSpPr>
            <p:nvPr/>
          </p:nvSpPr>
          <p:spPr bwMode="auto">
            <a:xfrm>
              <a:off x="3881" y="1315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7336" name="Rectangle 328"/>
            <p:cNvSpPr>
              <a:spLocks noChangeArrowheads="1"/>
            </p:cNvSpPr>
            <p:nvPr/>
          </p:nvSpPr>
          <p:spPr bwMode="auto">
            <a:xfrm>
              <a:off x="4071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37" name="Rectangle 329"/>
            <p:cNvSpPr>
              <a:spLocks noChangeArrowheads="1"/>
            </p:cNvSpPr>
            <p:nvPr/>
          </p:nvSpPr>
          <p:spPr bwMode="auto">
            <a:xfrm>
              <a:off x="4172" y="1315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7338" name="Rectangle 330"/>
            <p:cNvSpPr>
              <a:spLocks noChangeArrowheads="1"/>
            </p:cNvSpPr>
            <p:nvPr/>
          </p:nvSpPr>
          <p:spPr bwMode="auto">
            <a:xfrm>
              <a:off x="4359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39" name="Rectangle 331"/>
            <p:cNvSpPr>
              <a:spLocks noChangeArrowheads="1"/>
            </p:cNvSpPr>
            <p:nvPr/>
          </p:nvSpPr>
          <p:spPr bwMode="auto">
            <a:xfrm>
              <a:off x="4449" y="1315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340" name="Rectangle 332"/>
            <p:cNvSpPr>
              <a:spLocks noChangeArrowheads="1"/>
            </p:cNvSpPr>
            <p:nvPr/>
          </p:nvSpPr>
          <p:spPr bwMode="auto">
            <a:xfrm>
              <a:off x="4647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1" name="Rectangle 333"/>
            <p:cNvSpPr>
              <a:spLocks noChangeArrowheads="1"/>
            </p:cNvSpPr>
            <p:nvPr/>
          </p:nvSpPr>
          <p:spPr bwMode="auto">
            <a:xfrm>
              <a:off x="4728" y="1315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7342" name="Rectangle 334"/>
            <p:cNvSpPr>
              <a:spLocks noChangeArrowheads="1"/>
            </p:cNvSpPr>
            <p:nvPr/>
          </p:nvSpPr>
          <p:spPr bwMode="auto">
            <a:xfrm>
              <a:off x="807" y="128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3" name="Rectangle 335"/>
            <p:cNvSpPr>
              <a:spLocks noChangeArrowheads="1"/>
            </p:cNvSpPr>
            <p:nvPr/>
          </p:nvSpPr>
          <p:spPr bwMode="auto">
            <a:xfrm>
              <a:off x="894" y="1326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0x016: halt</a:t>
              </a:r>
              <a:endParaRPr lang="en-US" dirty="0"/>
            </a:p>
          </p:txBody>
        </p:sp>
        <p:sp>
          <p:nvSpPr>
            <p:cNvPr id="427344" name="Rectangle 336"/>
            <p:cNvSpPr>
              <a:spLocks noChangeArrowheads="1"/>
            </p:cNvSpPr>
            <p:nvPr/>
          </p:nvSpPr>
          <p:spPr bwMode="auto">
            <a:xfrm>
              <a:off x="807" y="51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5" name="Rectangle 337"/>
            <p:cNvSpPr>
              <a:spLocks noChangeArrowheads="1"/>
            </p:cNvSpPr>
            <p:nvPr/>
          </p:nvSpPr>
          <p:spPr bwMode="auto">
            <a:xfrm>
              <a:off x="898" y="553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demo-h0.ys</a:t>
              </a:r>
              <a:endParaRPr lang="en-US"/>
            </a:p>
          </p:txBody>
        </p:sp>
        <p:sp>
          <p:nvSpPr>
            <p:cNvPr id="427346" name="Line 338"/>
            <p:cNvSpPr>
              <a:spLocks noChangeShapeType="1"/>
            </p:cNvSpPr>
            <p:nvPr/>
          </p:nvSpPr>
          <p:spPr bwMode="auto">
            <a:xfrm flipH="1">
              <a:off x="3015" y="1479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7" name="Line 339"/>
            <p:cNvSpPr>
              <a:spLocks noChangeShapeType="1"/>
            </p:cNvSpPr>
            <p:nvPr/>
          </p:nvSpPr>
          <p:spPr bwMode="auto">
            <a:xfrm>
              <a:off x="3783" y="1479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8" name="Rectangle 340"/>
            <p:cNvSpPr>
              <a:spLocks noChangeArrowheads="1"/>
            </p:cNvSpPr>
            <p:nvPr/>
          </p:nvSpPr>
          <p:spPr bwMode="auto">
            <a:xfrm>
              <a:off x="3015" y="2583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9" name="Rectangle 341"/>
            <p:cNvSpPr>
              <a:spLocks noChangeArrowheads="1"/>
            </p:cNvSpPr>
            <p:nvPr/>
          </p:nvSpPr>
          <p:spPr bwMode="auto">
            <a:xfrm>
              <a:off x="3572" y="262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grpSp>
          <p:nvGrpSpPr>
            <p:cNvPr id="427419" name="Group 411"/>
            <p:cNvGrpSpPr>
              <a:grpSpLocks/>
            </p:cNvGrpSpPr>
            <p:nvPr/>
          </p:nvGrpSpPr>
          <p:grpSpPr bwMode="auto">
            <a:xfrm>
              <a:off x="3015" y="1719"/>
              <a:ext cx="1729" cy="2113"/>
              <a:chOff x="3015" y="1719"/>
              <a:chExt cx="1729" cy="2113"/>
            </a:xfrm>
          </p:grpSpPr>
          <p:sp>
            <p:nvSpPr>
              <p:cNvPr id="427350" name="Rectangle 342"/>
              <p:cNvSpPr>
                <a:spLocks noChangeArrowheads="1"/>
              </p:cNvSpPr>
              <p:nvPr/>
            </p:nvSpPr>
            <p:spPr bwMode="auto">
              <a:xfrm>
                <a:off x="3015" y="320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51" name="Rectangle 343"/>
              <p:cNvSpPr>
                <a:spLocks noChangeArrowheads="1"/>
              </p:cNvSpPr>
              <p:nvPr/>
            </p:nvSpPr>
            <p:spPr bwMode="auto">
              <a:xfrm>
                <a:off x="3569" y="32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7352" name="Rectangle 344"/>
              <p:cNvSpPr>
                <a:spLocks noChangeArrowheads="1"/>
              </p:cNvSpPr>
              <p:nvPr/>
            </p:nvSpPr>
            <p:spPr bwMode="auto">
              <a:xfrm>
                <a:off x="3015" y="344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53" name="Rectangle 345"/>
              <p:cNvSpPr>
                <a:spLocks noChangeArrowheads="1"/>
              </p:cNvSpPr>
              <p:nvPr/>
            </p:nvSpPr>
            <p:spPr bwMode="auto">
              <a:xfrm>
                <a:off x="3101" y="347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7354" name="Rectangle 346"/>
              <p:cNvSpPr>
                <a:spLocks noChangeArrowheads="1"/>
              </p:cNvSpPr>
              <p:nvPr/>
            </p:nvSpPr>
            <p:spPr bwMode="auto">
              <a:xfrm>
                <a:off x="3325" y="3475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355" name="Rectangle 347"/>
              <p:cNvSpPr>
                <a:spLocks noChangeArrowheads="1"/>
              </p:cNvSpPr>
              <p:nvPr/>
            </p:nvSpPr>
            <p:spPr bwMode="auto">
              <a:xfrm>
                <a:off x="3456" y="3479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7356" name="Rectangle 348"/>
              <p:cNvSpPr>
                <a:spLocks noChangeArrowheads="1"/>
              </p:cNvSpPr>
              <p:nvPr/>
            </p:nvSpPr>
            <p:spPr bwMode="auto">
              <a:xfrm>
                <a:off x="3568" y="349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357" name="Rectangle 349"/>
              <p:cNvSpPr>
                <a:spLocks noChangeArrowheads="1"/>
              </p:cNvSpPr>
              <p:nvPr/>
            </p:nvSpPr>
            <p:spPr bwMode="auto">
              <a:xfrm>
                <a:off x="3667" y="349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7358" name="Rectangle 350"/>
              <p:cNvSpPr>
                <a:spLocks noChangeArrowheads="1"/>
              </p:cNvSpPr>
              <p:nvPr/>
            </p:nvSpPr>
            <p:spPr bwMode="auto">
              <a:xfrm>
                <a:off x="3836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7359" name="Rectangle 351"/>
              <p:cNvSpPr>
                <a:spLocks noChangeArrowheads="1"/>
              </p:cNvSpPr>
              <p:nvPr/>
            </p:nvSpPr>
            <p:spPr bwMode="auto">
              <a:xfrm>
                <a:off x="3898" y="347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360" name="Rectangle 352"/>
              <p:cNvSpPr>
                <a:spLocks noChangeArrowheads="1"/>
              </p:cNvSpPr>
              <p:nvPr/>
            </p:nvSpPr>
            <p:spPr bwMode="auto">
              <a:xfrm>
                <a:off x="3994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7361" name="Rectangle 353"/>
              <p:cNvSpPr>
                <a:spLocks noChangeArrowheads="1"/>
              </p:cNvSpPr>
              <p:nvPr/>
            </p:nvSpPr>
            <p:spPr bwMode="auto">
              <a:xfrm>
                <a:off x="3101" y="362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7362" name="Rectangle 354"/>
              <p:cNvSpPr>
                <a:spLocks noChangeArrowheads="1"/>
              </p:cNvSpPr>
              <p:nvPr/>
            </p:nvSpPr>
            <p:spPr bwMode="auto">
              <a:xfrm>
                <a:off x="3325" y="3622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363" name="Rectangle 355"/>
              <p:cNvSpPr>
                <a:spLocks noChangeArrowheads="1"/>
              </p:cNvSpPr>
              <p:nvPr/>
            </p:nvSpPr>
            <p:spPr bwMode="auto">
              <a:xfrm>
                <a:off x="3456" y="3626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7364" name="Rectangle 356"/>
              <p:cNvSpPr>
                <a:spLocks noChangeArrowheads="1"/>
              </p:cNvSpPr>
              <p:nvPr/>
            </p:nvSpPr>
            <p:spPr bwMode="auto">
              <a:xfrm>
                <a:off x="3568" y="3638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365" name="Rectangle 357"/>
              <p:cNvSpPr>
                <a:spLocks noChangeArrowheads="1"/>
              </p:cNvSpPr>
              <p:nvPr/>
            </p:nvSpPr>
            <p:spPr bwMode="auto">
              <a:xfrm>
                <a:off x="3667" y="363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7366" name="Rectangle 358"/>
              <p:cNvSpPr>
                <a:spLocks noChangeArrowheads="1"/>
              </p:cNvSpPr>
              <p:nvPr/>
            </p:nvSpPr>
            <p:spPr bwMode="auto">
              <a:xfrm>
                <a:off x="3836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7367" name="Rectangle 359"/>
              <p:cNvSpPr>
                <a:spLocks noChangeArrowheads="1"/>
              </p:cNvSpPr>
              <p:nvPr/>
            </p:nvSpPr>
            <p:spPr bwMode="auto">
              <a:xfrm>
                <a:off x="3898" y="3626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368" name="Rectangle 360"/>
              <p:cNvSpPr>
                <a:spLocks noChangeArrowheads="1"/>
              </p:cNvSpPr>
              <p:nvPr/>
            </p:nvSpPr>
            <p:spPr bwMode="auto">
              <a:xfrm>
                <a:off x="3994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7369" name="Rectangle 361"/>
              <p:cNvSpPr>
                <a:spLocks noChangeArrowheads="1"/>
              </p:cNvSpPr>
              <p:nvPr/>
            </p:nvSpPr>
            <p:spPr bwMode="auto">
              <a:xfrm>
                <a:off x="3015" y="320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70" name="Rectangle 362"/>
              <p:cNvSpPr>
                <a:spLocks noChangeArrowheads="1"/>
              </p:cNvSpPr>
              <p:nvPr/>
            </p:nvSpPr>
            <p:spPr bwMode="auto">
              <a:xfrm>
                <a:off x="3569" y="32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7371" name="Rectangle 363"/>
              <p:cNvSpPr>
                <a:spLocks noChangeArrowheads="1"/>
              </p:cNvSpPr>
              <p:nvPr/>
            </p:nvSpPr>
            <p:spPr bwMode="auto">
              <a:xfrm>
                <a:off x="3015" y="344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72" name="Rectangle 364"/>
              <p:cNvSpPr>
                <a:spLocks noChangeArrowheads="1"/>
              </p:cNvSpPr>
              <p:nvPr/>
            </p:nvSpPr>
            <p:spPr bwMode="auto">
              <a:xfrm>
                <a:off x="3101" y="347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7373" name="Rectangle 365"/>
              <p:cNvSpPr>
                <a:spLocks noChangeArrowheads="1"/>
              </p:cNvSpPr>
              <p:nvPr/>
            </p:nvSpPr>
            <p:spPr bwMode="auto">
              <a:xfrm>
                <a:off x="3325" y="3475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374" name="Rectangle 366"/>
              <p:cNvSpPr>
                <a:spLocks noChangeArrowheads="1"/>
              </p:cNvSpPr>
              <p:nvPr/>
            </p:nvSpPr>
            <p:spPr bwMode="auto">
              <a:xfrm>
                <a:off x="3456" y="3479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7375" name="Rectangle 367"/>
              <p:cNvSpPr>
                <a:spLocks noChangeArrowheads="1"/>
              </p:cNvSpPr>
              <p:nvPr/>
            </p:nvSpPr>
            <p:spPr bwMode="auto">
              <a:xfrm>
                <a:off x="3568" y="349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376" name="Rectangle 368"/>
              <p:cNvSpPr>
                <a:spLocks noChangeArrowheads="1"/>
              </p:cNvSpPr>
              <p:nvPr/>
            </p:nvSpPr>
            <p:spPr bwMode="auto">
              <a:xfrm>
                <a:off x="3667" y="349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7377" name="Rectangle 369"/>
              <p:cNvSpPr>
                <a:spLocks noChangeArrowheads="1"/>
              </p:cNvSpPr>
              <p:nvPr/>
            </p:nvSpPr>
            <p:spPr bwMode="auto">
              <a:xfrm>
                <a:off x="3836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7378" name="Rectangle 370"/>
              <p:cNvSpPr>
                <a:spLocks noChangeArrowheads="1"/>
              </p:cNvSpPr>
              <p:nvPr/>
            </p:nvSpPr>
            <p:spPr bwMode="auto">
              <a:xfrm>
                <a:off x="3898" y="347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379" name="Rectangle 371"/>
              <p:cNvSpPr>
                <a:spLocks noChangeArrowheads="1"/>
              </p:cNvSpPr>
              <p:nvPr/>
            </p:nvSpPr>
            <p:spPr bwMode="auto">
              <a:xfrm>
                <a:off x="3994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7380" name="Rectangle 372"/>
              <p:cNvSpPr>
                <a:spLocks noChangeArrowheads="1"/>
              </p:cNvSpPr>
              <p:nvPr/>
            </p:nvSpPr>
            <p:spPr bwMode="auto">
              <a:xfrm>
                <a:off x="3101" y="362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7381" name="Rectangle 373"/>
              <p:cNvSpPr>
                <a:spLocks noChangeArrowheads="1"/>
              </p:cNvSpPr>
              <p:nvPr/>
            </p:nvSpPr>
            <p:spPr bwMode="auto">
              <a:xfrm>
                <a:off x="3325" y="3622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382" name="Rectangle 374"/>
              <p:cNvSpPr>
                <a:spLocks noChangeArrowheads="1"/>
              </p:cNvSpPr>
              <p:nvPr/>
            </p:nvSpPr>
            <p:spPr bwMode="auto">
              <a:xfrm>
                <a:off x="3456" y="3626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7383" name="Rectangle 375"/>
              <p:cNvSpPr>
                <a:spLocks noChangeArrowheads="1"/>
              </p:cNvSpPr>
              <p:nvPr/>
            </p:nvSpPr>
            <p:spPr bwMode="auto">
              <a:xfrm>
                <a:off x="3568" y="3638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384" name="Rectangle 376"/>
              <p:cNvSpPr>
                <a:spLocks noChangeArrowheads="1"/>
              </p:cNvSpPr>
              <p:nvPr/>
            </p:nvSpPr>
            <p:spPr bwMode="auto">
              <a:xfrm>
                <a:off x="3667" y="363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7385" name="Rectangle 377"/>
              <p:cNvSpPr>
                <a:spLocks noChangeArrowheads="1"/>
              </p:cNvSpPr>
              <p:nvPr/>
            </p:nvSpPr>
            <p:spPr bwMode="auto">
              <a:xfrm>
                <a:off x="3836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7386" name="Rectangle 378"/>
              <p:cNvSpPr>
                <a:spLocks noChangeArrowheads="1"/>
              </p:cNvSpPr>
              <p:nvPr/>
            </p:nvSpPr>
            <p:spPr bwMode="auto">
              <a:xfrm>
                <a:off x="3898" y="3626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387" name="Rectangle 379"/>
              <p:cNvSpPr>
                <a:spLocks noChangeArrowheads="1"/>
              </p:cNvSpPr>
              <p:nvPr/>
            </p:nvSpPr>
            <p:spPr bwMode="auto">
              <a:xfrm>
                <a:off x="3994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7388" name="Rectangle 380"/>
              <p:cNvSpPr>
                <a:spLocks noChangeArrowheads="1"/>
              </p:cNvSpPr>
              <p:nvPr/>
            </p:nvSpPr>
            <p:spPr bwMode="auto">
              <a:xfrm>
                <a:off x="3015" y="1719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89" name="Rectangle 381"/>
              <p:cNvSpPr>
                <a:spLocks noChangeArrowheads="1"/>
              </p:cNvSpPr>
              <p:nvPr/>
            </p:nvSpPr>
            <p:spPr bwMode="auto">
              <a:xfrm>
                <a:off x="3403" y="1757"/>
                <a:ext cx="480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4</a:t>
                </a:r>
                <a:endParaRPr lang="en-US"/>
              </a:p>
            </p:txBody>
          </p:sp>
          <p:grpSp>
            <p:nvGrpSpPr>
              <p:cNvPr id="427392" name="Group 384"/>
              <p:cNvGrpSpPr>
                <a:grpSpLocks/>
              </p:cNvGrpSpPr>
              <p:nvPr/>
            </p:nvGrpSpPr>
            <p:grpSpPr bwMode="auto">
              <a:xfrm>
                <a:off x="4071" y="3495"/>
                <a:ext cx="336" cy="149"/>
                <a:chOff x="4071" y="3495"/>
                <a:chExt cx="336" cy="149"/>
              </a:xfrm>
            </p:grpSpPr>
            <p:sp>
              <p:nvSpPr>
                <p:cNvPr id="427390" name="Line 382"/>
                <p:cNvSpPr>
                  <a:spLocks noChangeShapeType="1"/>
                </p:cNvSpPr>
                <p:nvPr/>
              </p:nvSpPr>
              <p:spPr bwMode="auto">
                <a:xfrm flipH="1">
                  <a:off x="4126" y="3495"/>
                  <a:ext cx="281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391" name="Freeform 383"/>
                <p:cNvSpPr>
                  <a:spLocks/>
                </p:cNvSpPr>
                <p:nvPr/>
              </p:nvSpPr>
              <p:spPr bwMode="auto">
                <a:xfrm>
                  <a:off x="4071" y="3586"/>
                  <a:ext cx="70" cy="5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0" y="53"/>
                    </a:cxn>
                    <a:cxn ang="0">
                      <a:pos x="70" y="5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70" h="58">
                      <a:moveTo>
                        <a:pt x="46" y="0"/>
                      </a:moveTo>
                      <a:lnTo>
                        <a:pt x="0" y="53"/>
                      </a:lnTo>
                      <a:lnTo>
                        <a:pt x="70" y="5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7393" name="Rectangle 385"/>
              <p:cNvSpPr>
                <a:spLocks noChangeArrowheads="1"/>
              </p:cNvSpPr>
              <p:nvPr/>
            </p:nvSpPr>
            <p:spPr bwMode="auto">
              <a:xfrm>
                <a:off x="4379" y="3351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94" name="Rectangle 386"/>
              <p:cNvSpPr>
                <a:spLocks noChangeArrowheads="1"/>
              </p:cNvSpPr>
              <p:nvPr/>
            </p:nvSpPr>
            <p:spPr bwMode="auto">
              <a:xfrm>
                <a:off x="4437" y="3387"/>
                <a:ext cx="297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i="1">
                    <a:solidFill>
                      <a:srgbClr val="000000"/>
                    </a:solidFill>
                  </a:rPr>
                  <a:t>Error</a:t>
                </a:r>
                <a:endParaRPr lang="en-US"/>
              </a:p>
            </p:txBody>
          </p:sp>
          <p:sp>
            <p:nvSpPr>
              <p:cNvPr id="427395" name="Rectangle 387"/>
              <p:cNvSpPr>
                <a:spLocks noChangeArrowheads="1"/>
              </p:cNvSpPr>
              <p:nvPr/>
            </p:nvSpPr>
            <p:spPr bwMode="auto">
              <a:xfrm>
                <a:off x="3015" y="195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96" name="Rectangle 388"/>
              <p:cNvSpPr>
                <a:spLocks noChangeArrowheads="1"/>
              </p:cNvSpPr>
              <p:nvPr/>
            </p:nvSpPr>
            <p:spPr bwMode="auto">
              <a:xfrm>
                <a:off x="3561" y="2000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7397" name="Rectangle 389"/>
              <p:cNvSpPr>
                <a:spLocks noChangeArrowheads="1"/>
              </p:cNvSpPr>
              <p:nvPr/>
            </p:nvSpPr>
            <p:spPr bwMode="auto">
              <a:xfrm>
                <a:off x="3015" y="2151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98" name="Rectangle 390"/>
              <p:cNvSpPr>
                <a:spLocks noChangeArrowheads="1"/>
              </p:cNvSpPr>
              <p:nvPr/>
            </p:nvSpPr>
            <p:spPr bwMode="auto">
              <a:xfrm>
                <a:off x="3077" y="2190"/>
                <a:ext cx="20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7399" name="Rectangle 391"/>
              <p:cNvSpPr>
                <a:spLocks noChangeArrowheads="1"/>
              </p:cNvSpPr>
              <p:nvPr/>
            </p:nvSpPr>
            <p:spPr bwMode="auto">
              <a:xfrm>
                <a:off x="3256" y="2190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27400" name="Rectangle 392"/>
              <p:cNvSpPr>
                <a:spLocks noChangeArrowheads="1"/>
              </p:cNvSpPr>
              <p:nvPr/>
            </p:nvSpPr>
            <p:spPr bwMode="auto">
              <a:xfrm>
                <a:off x="3480" y="2190"/>
                <a:ext cx="269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10</a:t>
                </a:r>
                <a:endParaRPr lang="en-US"/>
              </a:p>
            </p:txBody>
          </p:sp>
          <p:sp>
            <p:nvSpPr>
              <p:cNvPr id="427401" name="Rectangle 393"/>
              <p:cNvSpPr>
                <a:spLocks noChangeArrowheads="1"/>
              </p:cNvSpPr>
              <p:nvPr/>
            </p:nvSpPr>
            <p:spPr bwMode="auto">
              <a:xfrm>
                <a:off x="3077" y="2329"/>
                <a:ext cx="20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7402" name="Rectangle 394"/>
              <p:cNvSpPr>
                <a:spLocks noChangeArrowheads="1"/>
              </p:cNvSpPr>
              <p:nvPr/>
            </p:nvSpPr>
            <p:spPr bwMode="auto">
              <a:xfrm>
                <a:off x="3256" y="2329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27403" name="Rectangle 395"/>
              <p:cNvSpPr>
                <a:spLocks noChangeArrowheads="1"/>
              </p:cNvSpPr>
              <p:nvPr/>
            </p:nvSpPr>
            <p:spPr bwMode="auto">
              <a:xfrm>
                <a:off x="3487" y="232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404" name="Rectangle 396"/>
              <p:cNvSpPr>
                <a:spLocks noChangeArrowheads="1"/>
              </p:cNvSpPr>
              <p:nvPr/>
            </p:nvSpPr>
            <p:spPr bwMode="auto">
              <a:xfrm>
                <a:off x="3583" y="234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405" name="Rectangle 397"/>
              <p:cNvSpPr>
                <a:spLocks noChangeArrowheads="1"/>
              </p:cNvSpPr>
              <p:nvPr/>
            </p:nvSpPr>
            <p:spPr bwMode="auto">
              <a:xfrm>
                <a:off x="3682" y="234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grpSp>
            <p:nvGrpSpPr>
              <p:cNvPr id="427408" name="Group 400"/>
              <p:cNvGrpSpPr>
                <a:grpSpLocks/>
              </p:cNvGrpSpPr>
              <p:nvPr/>
            </p:nvGrpSpPr>
            <p:grpSpPr bwMode="auto">
              <a:xfrm>
                <a:off x="4071" y="3447"/>
                <a:ext cx="336" cy="70"/>
                <a:chOff x="4071" y="3447"/>
                <a:chExt cx="336" cy="70"/>
              </a:xfrm>
            </p:grpSpPr>
            <p:sp>
              <p:nvSpPr>
                <p:cNvPr id="427406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4130" y="3447"/>
                  <a:ext cx="277" cy="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407" name="Freeform 399"/>
                <p:cNvSpPr>
                  <a:spLocks/>
                </p:cNvSpPr>
                <p:nvPr/>
              </p:nvSpPr>
              <p:spPr bwMode="auto">
                <a:xfrm>
                  <a:off x="4071" y="3455"/>
                  <a:ext cx="67" cy="62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0" y="40"/>
                    </a:cxn>
                    <a:cxn ang="0">
                      <a:pos x="67" y="62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67" h="62">
                      <a:moveTo>
                        <a:pt x="58" y="0"/>
                      </a:moveTo>
                      <a:lnTo>
                        <a:pt x="0" y="40"/>
                      </a:lnTo>
                      <a:lnTo>
                        <a:pt x="67" y="62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7409" name="Rectangle 401"/>
              <p:cNvSpPr>
                <a:spLocks noChangeArrowheads="1"/>
              </p:cNvSpPr>
              <p:nvPr/>
            </p:nvSpPr>
            <p:spPr bwMode="auto">
              <a:xfrm>
                <a:off x="3015" y="2775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410" name="Rectangle 402"/>
              <p:cNvSpPr>
                <a:spLocks noChangeArrowheads="1"/>
              </p:cNvSpPr>
              <p:nvPr/>
            </p:nvSpPr>
            <p:spPr bwMode="auto">
              <a:xfrm>
                <a:off x="3077" y="2815"/>
                <a:ext cx="173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e_</a:t>
                </a:r>
                <a:endParaRPr lang="en-US"/>
              </a:p>
            </p:txBody>
          </p:sp>
          <p:sp>
            <p:nvSpPr>
              <p:cNvPr id="427411" name="Rectangle 403"/>
              <p:cNvSpPr>
                <a:spLocks noChangeArrowheads="1"/>
              </p:cNvSpPr>
              <p:nvPr/>
            </p:nvSpPr>
            <p:spPr bwMode="auto">
              <a:xfrm>
                <a:off x="3225" y="2815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27412" name="Rectangle 404"/>
              <p:cNvSpPr>
                <a:spLocks noChangeArrowheads="1"/>
              </p:cNvSpPr>
              <p:nvPr/>
            </p:nvSpPr>
            <p:spPr bwMode="auto">
              <a:xfrm>
                <a:off x="3449" y="2811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413" name="Rectangle 405"/>
              <p:cNvSpPr>
                <a:spLocks noChangeArrowheads="1"/>
              </p:cNvSpPr>
              <p:nvPr/>
            </p:nvSpPr>
            <p:spPr bwMode="auto">
              <a:xfrm>
                <a:off x="3580" y="2815"/>
                <a:ext cx="520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 + 3 = 3 </a:t>
                </a:r>
                <a:endParaRPr lang="en-US"/>
              </a:p>
            </p:txBody>
          </p:sp>
          <p:sp>
            <p:nvSpPr>
              <p:cNvPr id="427414" name="Rectangle 406"/>
              <p:cNvSpPr>
                <a:spLocks noChangeArrowheads="1"/>
              </p:cNvSpPr>
              <p:nvPr/>
            </p:nvSpPr>
            <p:spPr bwMode="auto">
              <a:xfrm>
                <a:off x="3077" y="2953"/>
                <a:ext cx="186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E_</a:t>
                </a:r>
                <a:endParaRPr lang="en-US"/>
              </a:p>
            </p:txBody>
          </p:sp>
          <p:sp>
            <p:nvSpPr>
              <p:cNvPr id="427415" name="Rectangle 407"/>
              <p:cNvSpPr>
                <a:spLocks noChangeArrowheads="1"/>
              </p:cNvSpPr>
              <p:nvPr/>
            </p:nvSpPr>
            <p:spPr bwMode="auto">
              <a:xfrm>
                <a:off x="3238" y="2953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27416" name="Rectangle 408"/>
              <p:cNvSpPr>
                <a:spLocks noChangeArrowheads="1"/>
              </p:cNvSpPr>
              <p:nvPr/>
            </p:nvSpPr>
            <p:spPr bwMode="auto">
              <a:xfrm>
                <a:off x="3469" y="2953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417" name="Rectangle 409"/>
              <p:cNvSpPr>
                <a:spLocks noChangeArrowheads="1"/>
              </p:cNvSpPr>
              <p:nvPr/>
            </p:nvSpPr>
            <p:spPr bwMode="auto">
              <a:xfrm>
                <a:off x="3565" y="2965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418" name="Rectangle 410"/>
              <p:cNvSpPr>
                <a:spLocks noChangeArrowheads="1"/>
              </p:cNvSpPr>
              <p:nvPr/>
            </p:nvSpPr>
            <p:spPr bwMode="auto">
              <a:xfrm>
                <a:off x="3664" y="2965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1192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Misprediction Example</a:t>
            </a:r>
          </a:p>
        </p:txBody>
      </p:sp>
      <p:sp>
        <p:nvSpPr>
          <p:cNvPr id="428036" name="Rectangle 4"/>
          <p:cNvSpPr>
            <a:spLocks noGrp="1" noChangeArrowheads="1"/>
          </p:cNvSpPr>
          <p:nvPr>
            <p:ph idx="1"/>
          </p:nvPr>
        </p:nvSpPr>
        <p:spPr>
          <a:xfrm>
            <a:off x="290513" y="4953000"/>
            <a:ext cx="8294687" cy="1479550"/>
          </a:xfrm>
        </p:spPr>
        <p:txBody>
          <a:bodyPr/>
          <a:lstStyle/>
          <a:p>
            <a:pPr lvl="1"/>
            <a:r>
              <a:rPr lang="en-US" dirty="0"/>
              <a:t>Should only execute first 8 instructions</a:t>
            </a:r>
          </a:p>
        </p:txBody>
      </p:sp>
      <p:sp>
        <p:nvSpPr>
          <p:cNvPr id="428035" name="Text Box 3"/>
          <p:cNvSpPr txBox="1">
            <a:spLocks noChangeArrowheads="1"/>
          </p:cNvSpPr>
          <p:nvPr/>
        </p:nvSpPr>
        <p:spPr bwMode="auto">
          <a:xfrm>
            <a:off x="381000" y="1828800"/>
            <a:ext cx="8610600" cy="28384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0x000:    </a:t>
            </a:r>
            <a:r>
              <a:rPr lang="en-US" dirty="0" err="1">
                <a:latin typeface="Courier New" pitchFamily="49" charset="0"/>
              </a:rPr>
              <a:t>xorq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,%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0x002:    </a:t>
            </a:r>
            <a:r>
              <a:rPr lang="en-US" dirty="0" err="1">
                <a:latin typeface="Courier New" pitchFamily="49" charset="0"/>
              </a:rPr>
              <a:t>jne</a:t>
            </a:r>
            <a:r>
              <a:rPr lang="en-US" dirty="0">
                <a:latin typeface="Courier New" pitchFamily="49" charset="0"/>
              </a:rPr>
              <a:t>  t             # Not taken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0x00b: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$1, 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    # Fall through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0x015: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0x016: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0x017: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0x018:    halt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0x019: t: </a:t>
            </a:r>
            <a:r>
              <a:rPr lang="en-US" i="1" dirty="0" err="1">
                <a:latin typeface="Courier New" pitchFamily="49" charset="0"/>
              </a:rPr>
              <a:t>irmovq</a:t>
            </a:r>
            <a:r>
              <a:rPr lang="en-US" i="1" dirty="0">
                <a:latin typeface="Courier New" pitchFamily="49" charset="0"/>
              </a:rPr>
              <a:t> $3, %</a:t>
            </a:r>
            <a:r>
              <a:rPr lang="en-US" i="1" dirty="0" err="1">
                <a:latin typeface="Courier New" pitchFamily="49" charset="0"/>
              </a:rPr>
              <a:t>rdx</a:t>
            </a:r>
            <a:r>
              <a:rPr lang="en-US" dirty="0">
                <a:latin typeface="Courier New" pitchFamily="49" charset="0"/>
              </a:rPr>
              <a:t>    # Target (Should not execute)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0x023:    </a:t>
            </a:r>
            <a:r>
              <a:rPr lang="en-US" i="1" dirty="0" err="1">
                <a:latin typeface="Courier New" pitchFamily="49" charset="0"/>
              </a:rPr>
              <a:t>irmovq</a:t>
            </a:r>
            <a:r>
              <a:rPr lang="en-US" i="1" dirty="0">
                <a:latin typeface="Courier New" pitchFamily="49" charset="0"/>
              </a:rPr>
              <a:t> $4, %</a:t>
            </a:r>
            <a:r>
              <a:rPr lang="en-US" i="1" dirty="0" err="1">
                <a:latin typeface="Courier New" pitchFamily="49" charset="0"/>
              </a:rPr>
              <a:t>rcx</a:t>
            </a:r>
            <a:r>
              <a:rPr lang="en-US" dirty="0">
                <a:latin typeface="Courier New" pitchFamily="49" charset="0"/>
              </a:rPr>
              <a:t>    # Should not execute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0x02d: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$5, %</a:t>
            </a:r>
            <a:r>
              <a:rPr lang="en-US" dirty="0" err="1">
                <a:latin typeface="Courier New" pitchFamily="49" charset="0"/>
              </a:rPr>
              <a:t>rdx</a:t>
            </a:r>
            <a:r>
              <a:rPr lang="en-US" dirty="0">
                <a:latin typeface="Courier New" pitchFamily="49" charset="0"/>
              </a:rPr>
              <a:t>    # Should not execute</a:t>
            </a:r>
          </a:p>
        </p:txBody>
      </p:sp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787400" y="1219200"/>
            <a:ext cx="132080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latin typeface="Courier New" pitchFamily="49" charset="0"/>
              </a:rPr>
              <a:t>demo-j.ys</a:t>
            </a:r>
          </a:p>
        </p:txBody>
      </p:sp>
    </p:spTree>
    <p:extLst>
      <p:ext uri="{BB962C8B-B14F-4D97-AF65-F5344CB8AC3E}">
        <p14:creationId xmlns:p14="http://schemas.microsoft.com/office/powerpoint/2010/main" val="2080422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0"/>
            <a:ext cx="8704262" cy="779463"/>
          </a:xfrm>
        </p:spPr>
        <p:txBody>
          <a:bodyPr/>
          <a:lstStyle/>
          <a:p>
            <a:r>
              <a:rPr lang="en-US"/>
              <a:t>Branch Misprediction Trace</a:t>
            </a:r>
          </a:p>
        </p:txBody>
      </p:sp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304800" y="3352800"/>
            <a:ext cx="4572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Incorrectly execute two instructions at branch target</a:t>
            </a:r>
          </a:p>
        </p:txBody>
      </p:sp>
      <p:grpSp>
        <p:nvGrpSpPr>
          <p:cNvPr id="2052" name="Group 4"/>
          <p:cNvGrpSpPr>
            <a:grpSpLocks noChangeAspect="1"/>
          </p:cNvGrpSpPr>
          <p:nvPr/>
        </p:nvGrpSpPr>
        <p:grpSpPr bwMode="auto">
          <a:xfrm>
            <a:off x="1447800" y="838200"/>
            <a:ext cx="6462713" cy="5911850"/>
            <a:chOff x="912" y="528"/>
            <a:chExt cx="4071" cy="3724"/>
          </a:xfrm>
        </p:grpSpPr>
        <p:sp>
          <p:nvSpPr>
            <p:cNvPr id="2051" name="AutoShape 3"/>
            <p:cNvSpPr>
              <a:spLocks noChangeAspect="1" noChangeArrowheads="1" noTextEdit="1"/>
            </p:cNvSpPr>
            <p:nvPr/>
          </p:nvSpPr>
          <p:spPr bwMode="auto">
            <a:xfrm>
              <a:off x="912" y="528"/>
              <a:ext cx="4071" cy="37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3" name="Rectangle 5"/>
            <p:cNvSpPr>
              <a:spLocks noChangeArrowheads="1"/>
            </p:cNvSpPr>
            <p:nvPr/>
          </p:nvSpPr>
          <p:spPr bwMode="auto">
            <a:xfrm>
              <a:off x="912" y="744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4" name="Rectangle 6"/>
            <p:cNvSpPr>
              <a:spLocks noChangeArrowheads="1"/>
            </p:cNvSpPr>
            <p:nvPr/>
          </p:nvSpPr>
          <p:spPr bwMode="auto">
            <a:xfrm>
              <a:off x="964" y="779"/>
              <a:ext cx="6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0x000:   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5" name="Rectangle 7"/>
            <p:cNvSpPr>
              <a:spLocks noChangeArrowheads="1"/>
            </p:cNvSpPr>
            <p:nvPr/>
          </p:nvSpPr>
          <p:spPr bwMode="auto">
            <a:xfrm>
              <a:off x="1567" y="779"/>
              <a:ext cx="252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xorq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6" name="Rectangle 8"/>
            <p:cNvSpPr>
              <a:spLocks noChangeArrowheads="1"/>
            </p:cNvSpPr>
            <p:nvPr/>
          </p:nvSpPr>
          <p:spPr bwMode="auto">
            <a:xfrm>
              <a:off x="1869" y="779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1929" y="779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2110" y="779"/>
              <a:ext cx="18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,%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>
              <a:off x="2230" y="779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0" name="Rectangle 12"/>
            <p:cNvSpPr>
              <a:spLocks noChangeArrowheads="1"/>
            </p:cNvSpPr>
            <p:nvPr/>
          </p:nvSpPr>
          <p:spPr bwMode="auto">
            <a:xfrm>
              <a:off x="2640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1" name="Rectangle 13"/>
            <p:cNvSpPr>
              <a:spLocks noChangeArrowheads="1"/>
            </p:cNvSpPr>
            <p:nvPr/>
          </p:nvSpPr>
          <p:spPr bwMode="auto">
            <a:xfrm>
              <a:off x="2745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2" name="Rectangle 14"/>
            <p:cNvSpPr>
              <a:spLocks noChangeArrowheads="1"/>
            </p:cNvSpPr>
            <p:nvPr/>
          </p:nvSpPr>
          <p:spPr bwMode="auto">
            <a:xfrm>
              <a:off x="2899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3" name="Rectangle 15"/>
            <p:cNvSpPr>
              <a:spLocks noChangeArrowheads="1"/>
            </p:cNvSpPr>
            <p:nvPr/>
          </p:nvSpPr>
          <p:spPr bwMode="auto">
            <a:xfrm>
              <a:off x="3004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4" name="Rectangle 16"/>
            <p:cNvSpPr>
              <a:spLocks noChangeArrowheads="1"/>
            </p:cNvSpPr>
            <p:nvPr/>
          </p:nvSpPr>
          <p:spPr bwMode="auto">
            <a:xfrm>
              <a:off x="3158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5" name="Rectangle 17"/>
            <p:cNvSpPr>
              <a:spLocks noChangeArrowheads="1"/>
            </p:cNvSpPr>
            <p:nvPr/>
          </p:nvSpPr>
          <p:spPr bwMode="auto">
            <a:xfrm>
              <a:off x="3263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6" name="Rectangle 18"/>
            <p:cNvSpPr>
              <a:spLocks noChangeArrowheads="1"/>
            </p:cNvSpPr>
            <p:nvPr/>
          </p:nvSpPr>
          <p:spPr bwMode="auto">
            <a:xfrm>
              <a:off x="3417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7" name="Rectangle 19"/>
            <p:cNvSpPr>
              <a:spLocks noChangeArrowheads="1"/>
            </p:cNvSpPr>
            <p:nvPr/>
          </p:nvSpPr>
          <p:spPr bwMode="auto">
            <a:xfrm>
              <a:off x="3523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8" name="Rectangle 20"/>
            <p:cNvSpPr>
              <a:spLocks noChangeArrowheads="1"/>
            </p:cNvSpPr>
            <p:nvPr/>
          </p:nvSpPr>
          <p:spPr bwMode="auto">
            <a:xfrm>
              <a:off x="3676" y="528"/>
              <a:ext cx="260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3782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3936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4041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6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4195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3" name="Rectangle 25"/>
            <p:cNvSpPr>
              <a:spLocks noChangeArrowheads="1"/>
            </p:cNvSpPr>
            <p:nvPr/>
          </p:nvSpPr>
          <p:spPr bwMode="auto">
            <a:xfrm>
              <a:off x="4300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7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4" name="Rectangle 26"/>
            <p:cNvSpPr>
              <a:spLocks noChangeArrowheads="1"/>
            </p:cNvSpPr>
            <p:nvPr/>
          </p:nvSpPr>
          <p:spPr bwMode="auto">
            <a:xfrm>
              <a:off x="4454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4559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8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6" name="Rectangle 28"/>
            <p:cNvSpPr>
              <a:spLocks noChangeArrowheads="1"/>
            </p:cNvSpPr>
            <p:nvPr/>
          </p:nvSpPr>
          <p:spPr bwMode="auto">
            <a:xfrm>
              <a:off x="4713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7" name="Rectangle 29"/>
            <p:cNvSpPr>
              <a:spLocks noChangeArrowheads="1"/>
            </p:cNvSpPr>
            <p:nvPr/>
          </p:nvSpPr>
          <p:spPr bwMode="auto">
            <a:xfrm>
              <a:off x="4818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9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2640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9" name="Rectangle 31"/>
            <p:cNvSpPr>
              <a:spLocks noChangeArrowheads="1"/>
            </p:cNvSpPr>
            <p:nvPr/>
          </p:nvSpPr>
          <p:spPr bwMode="auto">
            <a:xfrm>
              <a:off x="2734" y="770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0" name="Rectangle 32"/>
            <p:cNvSpPr>
              <a:spLocks noChangeArrowheads="1"/>
            </p:cNvSpPr>
            <p:nvPr/>
          </p:nvSpPr>
          <p:spPr bwMode="auto">
            <a:xfrm>
              <a:off x="2899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2987" y="770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3158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3" name="Rectangle 35"/>
            <p:cNvSpPr>
              <a:spLocks noChangeArrowheads="1"/>
            </p:cNvSpPr>
            <p:nvPr/>
          </p:nvSpPr>
          <p:spPr bwMode="auto">
            <a:xfrm>
              <a:off x="3249" y="770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3417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3498" y="770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3936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4008" y="942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8" name="Rectangle 40"/>
            <p:cNvSpPr>
              <a:spLocks noChangeArrowheads="1"/>
            </p:cNvSpPr>
            <p:nvPr/>
          </p:nvSpPr>
          <p:spPr bwMode="auto">
            <a:xfrm>
              <a:off x="912" y="917"/>
              <a:ext cx="1469" cy="17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964" y="952"/>
              <a:ext cx="6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0x002:   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1567" y="952"/>
              <a:ext cx="3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jne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1808" y="952"/>
              <a:ext cx="8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t # Not taken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2899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2993" y="942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4" name="Rectangle 46"/>
            <p:cNvSpPr>
              <a:spLocks noChangeArrowheads="1"/>
            </p:cNvSpPr>
            <p:nvPr/>
          </p:nvSpPr>
          <p:spPr bwMode="auto">
            <a:xfrm>
              <a:off x="3158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5" name="Rectangle 47"/>
            <p:cNvSpPr>
              <a:spLocks noChangeArrowheads="1"/>
            </p:cNvSpPr>
            <p:nvPr/>
          </p:nvSpPr>
          <p:spPr bwMode="auto">
            <a:xfrm>
              <a:off x="3246" y="942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6" name="Rectangle 48"/>
            <p:cNvSpPr>
              <a:spLocks noChangeArrowheads="1"/>
            </p:cNvSpPr>
            <p:nvPr/>
          </p:nvSpPr>
          <p:spPr bwMode="auto">
            <a:xfrm>
              <a:off x="3417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7" name="Rectangle 49"/>
            <p:cNvSpPr>
              <a:spLocks noChangeArrowheads="1"/>
            </p:cNvSpPr>
            <p:nvPr/>
          </p:nvSpPr>
          <p:spPr bwMode="auto">
            <a:xfrm>
              <a:off x="3508" y="942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8" name="Rectangle 50"/>
            <p:cNvSpPr>
              <a:spLocks noChangeArrowheads="1"/>
            </p:cNvSpPr>
            <p:nvPr/>
          </p:nvSpPr>
          <p:spPr bwMode="auto">
            <a:xfrm>
              <a:off x="3676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9" name="Rectangle 51"/>
            <p:cNvSpPr>
              <a:spLocks noChangeArrowheads="1"/>
            </p:cNvSpPr>
            <p:nvPr/>
          </p:nvSpPr>
          <p:spPr bwMode="auto">
            <a:xfrm>
              <a:off x="3757" y="942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3676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3749" y="770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912" y="1089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964" y="1125"/>
              <a:ext cx="567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0x019: t: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1567" y="1125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5" name="Rectangle 57"/>
            <p:cNvSpPr>
              <a:spLocks noChangeArrowheads="1"/>
            </p:cNvSpPr>
            <p:nvPr/>
          </p:nvSpPr>
          <p:spPr bwMode="auto">
            <a:xfrm>
              <a:off x="1989" y="1125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$3, 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6" name="Rectangle 58"/>
            <p:cNvSpPr>
              <a:spLocks noChangeArrowheads="1"/>
            </p:cNvSpPr>
            <p:nvPr/>
          </p:nvSpPr>
          <p:spPr bwMode="auto">
            <a:xfrm>
              <a:off x="2291" y="112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7" name="Rectangle 59"/>
            <p:cNvSpPr>
              <a:spLocks noChangeArrowheads="1"/>
            </p:cNvSpPr>
            <p:nvPr/>
          </p:nvSpPr>
          <p:spPr bwMode="auto">
            <a:xfrm>
              <a:off x="2532" y="1125"/>
              <a:ext cx="56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Target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8" name="Rectangle 60"/>
            <p:cNvSpPr>
              <a:spLocks noChangeArrowheads="1"/>
            </p:cNvSpPr>
            <p:nvPr/>
          </p:nvSpPr>
          <p:spPr bwMode="auto">
            <a:xfrm>
              <a:off x="3158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9" name="Rectangle 61"/>
            <p:cNvSpPr>
              <a:spLocks noChangeArrowheads="1"/>
            </p:cNvSpPr>
            <p:nvPr/>
          </p:nvSpPr>
          <p:spPr bwMode="auto">
            <a:xfrm>
              <a:off x="3253" y="1115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0" name="Rectangle 62"/>
            <p:cNvSpPr>
              <a:spLocks noChangeArrowheads="1"/>
            </p:cNvSpPr>
            <p:nvPr/>
          </p:nvSpPr>
          <p:spPr bwMode="auto">
            <a:xfrm>
              <a:off x="3417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1" name="Rectangle 63"/>
            <p:cNvSpPr>
              <a:spLocks noChangeArrowheads="1"/>
            </p:cNvSpPr>
            <p:nvPr/>
          </p:nvSpPr>
          <p:spPr bwMode="auto">
            <a:xfrm>
              <a:off x="3505" y="1115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2" name="Rectangle 64"/>
            <p:cNvSpPr>
              <a:spLocks noChangeArrowheads="1"/>
            </p:cNvSpPr>
            <p:nvPr/>
          </p:nvSpPr>
          <p:spPr bwMode="auto">
            <a:xfrm>
              <a:off x="3676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3" name="Rectangle 65"/>
            <p:cNvSpPr>
              <a:spLocks noChangeArrowheads="1"/>
            </p:cNvSpPr>
            <p:nvPr/>
          </p:nvSpPr>
          <p:spPr bwMode="auto">
            <a:xfrm>
              <a:off x="3767" y="111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4" name="Rectangle 66"/>
            <p:cNvSpPr>
              <a:spLocks noChangeArrowheads="1"/>
            </p:cNvSpPr>
            <p:nvPr/>
          </p:nvSpPr>
          <p:spPr bwMode="auto">
            <a:xfrm>
              <a:off x="3936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5" name="Rectangle 67"/>
            <p:cNvSpPr>
              <a:spLocks noChangeArrowheads="1"/>
            </p:cNvSpPr>
            <p:nvPr/>
          </p:nvSpPr>
          <p:spPr bwMode="auto">
            <a:xfrm>
              <a:off x="4017" y="1115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6" name="Rectangle 68"/>
            <p:cNvSpPr>
              <a:spLocks noChangeArrowheads="1"/>
            </p:cNvSpPr>
            <p:nvPr/>
          </p:nvSpPr>
          <p:spPr bwMode="auto">
            <a:xfrm>
              <a:off x="4195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7" name="Rectangle 69"/>
            <p:cNvSpPr>
              <a:spLocks noChangeArrowheads="1"/>
            </p:cNvSpPr>
            <p:nvPr/>
          </p:nvSpPr>
          <p:spPr bwMode="auto">
            <a:xfrm>
              <a:off x="4268" y="1115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8" name="Rectangle 70"/>
            <p:cNvSpPr>
              <a:spLocks noChangeArrowheads="1"/>
            </p:cNvSpPr>
            <p:nvPr/>
          </p:nvSpPr>
          <p:spPr bwMode="auto">
            <a:xfrm>
              <a:off x="912" y="1262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9" name="Rectangle 71"/>
            <p:cNvSpPr>
              <a:spLocks noChangeArrowheads="1"/>
            </p:cNvSpPr>
            <p:nvPr/>
          </p:nvSpPr>
          <p:spPr bwMode="auto">
            <a:xfrm>
              <a:off x="964" y="1297"/>
              <a:ext cx="378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0x023:   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1567" y="1297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1" name="Rectangle 73"/>
            <p:cNvSpPr>
              <a:spLocks noChangeArrowheads="1"/>
            </p:cNvSpPr>
            <p:nvPr/>
          </p:nvSpPr>
          <p:spPr bwMode="auto">
            <a:xfrm>
              <a:off x="1989" y="1297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$4, 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2" name="Rectangle 74"/>
            <p:cNvSpPr>
              <a:spLocks noChangeArrowheads="1"/>
            </p:cNvSpPr>
            <p:nvPr/>
          </p:nvSpPr>
          <p:spPr bwMode="auto">
            <a:xfrm>
              <a:off x="2291" y="1297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rcx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3" name="Rectangle 75"/>
            <p:cNvSpPr>
              <a:spLocks noChangeArrowheads="1"/>
            </p:cNvSpPr>
            <p:nvPr/>
          </p:nvSpPr>
          <p:spPr bwMode="auto">
            <a:xfrm>
              <a:off x="2532" y="1297"/>
              <a:ext cx="6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Target+1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4" name="Rectangle 76"/>
            <p:cNvSpPr>
              <a:spLocks noChangeArrowheads="1"/>
            </p:cNvSpPr>
            <p:nvPr/>
          </p:nvSpPr>
          <p:spPr bwMode="auto">
            <a:xfrm>
              <a:off x="3417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5" name="Rectangle 77"/>
            <p:cNvSpPr>
              <a:spLocks noChangeArrowheads="1"/>
            </p:cNvSpPr>
            <p:nvPr/>
          </p:nvSpPr>
          <p:spPr bwMode="auto">
            <a:xfrm>
              <a:off x="3512" y="1288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6" name="Rectangle 78"/>
            <p:cNvSpPr>
              <a:spLocks noChangeArrowheads="1"/>
            </p:cNvSpPr>
            <p:nvPr/>
          </p:nvSpPr>
          <p:spPr bwMode="auto">
            <a:xfrm>
              <a:off x="3676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7" name="Rectangle 79"/>
            <p:cNvSpPr>
              <a:spLocks noChangeArrowheads="1"/>
            </p:cNvSpPr>
            <p:nvPr/>
          </p:nvSpPr>
          <p:spPr bwMode="auto">
            <a:xfrm>
              <a:off x="3765" y="1288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8" name="Rectangle 80"/>
            <p:cNvSpPr>
              <a:spLocks noChangeArrowheads="1"/>
            </p:cNvSpPr>
            <p:nvPr/>
          </p:nvSpPr>
          <p:spPr bwMode="auto">
            <a:xfrm>
              <a:off x="3936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9" name="Rectangle 81"/>
            <p:cNvSpPr>
              <a:spLocks noChangeArrowheads="1"/>
            </p:cNvSpPr>
            <p:nvPr/>
          </p:nvSpPr>
          <p:spPr bwMode="auto">
            <a:xfrm>
              <a:off x="4026" y="1288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0" name="Rectangle 82"/>
            <p:cNvSpPr>
              <a:spLocks noChangeArrowheads="1"/>
            </p:cNvSpPr>
            <p:nvPr/>
          </p:nvSpPr>
          <p:spPr bwMode="auto">
            <a:xfrm>
              <a:off x="4195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1" name="Rectangle 83"/>
            <p:cNvSpPr>
              <a:spLocks noChangeArrowheads="1"/>
            </p:cNvSpPr>
            <p:nvPr/>
          </p:nvSpPr>
          <p:spPr bwMode="auto">
            <a:xfrm>
              <a:off x="4276" y="1288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2" name="Rectangle 84"/>
            <p:cNvSpPr>
              <a:spLocks noChangeArrowheads="1"/>
            </p:cNvSpPr>
            <p:nvPr/>
          </p:nvSpPr>
          <p:spPr bwMode="auto">
            <a:xfrm>
              <a:off x="4454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3" name="Rectangle 85"/>
            <p:cNvSpPr>
              <a:spLocks noChangeArrowheads="1"/>
            </p:cNvSpPr>
            <p:nvPr/>
          </p:nvSpPr>
          <p:spPr bwMode="auto">
            <a:xfrm>
              <a:off x="4527" y="1288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4" name="Rectangle 86"/>
            <p:cNvSpPr>
              <a:spLocks noChangeArrowheads="1"/>
            </p:cNvSpPr>
            <p:nvPr/>
          </p:nvSpPr>
          <p:spPr bwMode="auto">
            <a:xfrm>
              <a:off x="912" y="1435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5" name="Rectangle 87"/>
            <p:cNvSpPr>
              <a:spLocks noChangeArrowheads="1"/>
            </p:cNvSpPr>
            <p:nvPr/>
          </p:nvSpPr>
          <p:spPr bwMode="auto">
            <a:xfrm>
              <a:off x="964" y="1470"/>
              <a:ext cx="378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0x00b:   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6" name="Rectangle 88"/>
            <p:cNvSpPr>
              <a:spLocks noChangeArrowheads="1"/>
            </p:cNvSpPr>
            <p:nvPr/>
          </p:nvSpPr>
          <p:spPr bwMode="auto">
            <a:xfrm>
              <a:off x="1567" y="1470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7" name="Rectangle 89"/>
            <p:cNvSpPr>
              <a:spLocks noChangeArrowheads="1"/>
            </p:cNvSpPr>
            <p:nvPr/>
          </p:nvSpPr>
          <p:spPr bwMode="auto">
            <a:xfrm>
              <a:off x="1989" y="1470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$1, 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8" name="Rectangle 90"/>
            <p:cNvSpPr>
              <a:spLocks noChangeArrowheads="1"/>
            </p:cNvSpPr>
            <p:nvPr/>
          </p:nvSpPr>
          <p:spPr bwMode="auto">
            <a:xfrm>
              <a:off x="2291" y="1470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9" name="Rectangle 91"/>
            <p:cNvSpPr>
              <a:spLocks noChangeArrowheads="1"/>
            </p:cNvSpPr>
            <p:nvPr/>
          </p:nvSpPr>
          <p:spPr bwMode="auto">
            <a:xfrm>
              <a:off x="2532" y="1470"/>
              <a:ext cx="100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Fall Through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0" name="Rectangle 92"/>
            <p:cNvSpPr>
              <a:spLocks noChangeArrowheads="1"/>
            </p:cNvSpPr>
            <p:nvPr/>
          </p:nvSpPr>
          <p:spPr bwMode="auto">
            <a:xfrm>
              <a:off x="367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1" name="Rectangle 93"/>
            <p:cNvSpPr>
              <a:spLocks noChangeArrowheads="1"/>
            </p:cNvSpPr>
            <p:nvPr/>
          </p:nvSpPr>
          <p:spPr bwMode="auto">
            <a:xfrm>
              <a:off x="3771" y="1461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2" name="Rectangle 94"/>
            <p:cNvSpPr>
              <a:spLocks noChangeArrowheads="1"/>
            </p:cNvSpPr>
            <p:nvPr/>
          </p:nvSpPr>
          <p:spPr bwMode="auto">
            <a:xfrm>
              <a:off x="3936" y="1435"/>
              <a:ext cx="260" cy="174"/>
            </a:xfrm>
            <a:prstGeom prst="rect">
              <a:avLst/>
            </a:prstGeom>
            <a:solidFill>
              <a:srgbClr val="66CC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3" name="Rectangle 95"/>
            <p:cNvSpPr>
              <a:spLocks noChangeArrowheads="1"/>
            </p:cNvSpPr>
            <p:nvPr/>
          </p:nvSpPr>
          <p:spPr bwMode="auto">
            <a:xfrm>
              <a:off x="4024" y="1461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4" name="Rectangle 96"/>
            <p:cNvSpPr>
              <a:spLocks noChangeArrowheads="1"/>
            </p:cNvSpPr>
            <p:nvPr/>
          </p:nvSpPr>
          <p:spPr bwMode="auto">
            <a:xfrm>
              <a:off x="4195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5" name="Rectangle 97"/>
            <p:cNvSpPr>
              <a:spLocks noChangeArrowheads="1"/>
            </p:cNvSpPr>
            <p:nvPr/>
          </p:nvSpPr>
          <p:spPr bwMode="auto">
            <a:xfrm>
              <a:off x="4286" y="1461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6" name="Rectangle 98"/>
            <p:cNvSpPr>
              <a:spLocks noChangeArrowheads="1"/>
            </p:cNvSpPr>
            <p:nvPr/>
          </p:nvSpPr>
          <p:spPr bwMode="auto">
            <a:xfrm>
              <a:off x="4454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7" name="Rectangle 99"/>
            <p:cNvSpPr>
              <a:spLocks noChangeArrowheads="1"/>
            </p:cNvSpPr>
            <p:nvPr/>
          </p:nvSpPr>
          <p:spPr bwMode="auto">
            <a:xfrm>
              <a:off x="4535" y="1461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8" name="Rectangle 100"/>
            <p:cNvSpPr>
              <a:spLocks noChangeArrowheads="1"/>
            </p:cNvSpPr>
            <p:nvPr/>
          </p:nvSpPr>
          <p:spPr bwMode="auto">
            <a:xfrm>
              <a:off x="4713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9" name="Rectangle 101"/>
            <p:cNvSpPr>
              <a:spLocks noChangeArrowheads="1"/>
            </p:cNvSpPr>
            <p:nvPr/>
          </p:nvSpPr>
          <p:spPr bwMode="auto">
            <a:xfrm>
              <a:off x="4786" y="1461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0" name="Rectangle 102"/>
            <p:cNvSpPr>
              <a:spLocks noChangeArrowheads="1"/>
            </p:cNvSpPr>
            <p:nvPr/>
          </p:nvSpPr>
          <p:spPr bwMode="auto">
            <a:xfrm>
              <a:off x="912" y="528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1" name="Rectangle 103"/>
            <p:cNvSpPr>
              <a:spLocks noChangeArrowheads="1"/>
            </p:cNvSpPr>
            <p:nvPr/>
          </p:nvSpPr>
          <p:spPr bwMode="auto">
            <a:xfrm>
              <a:off x="964" y="558"/>
              <a:ext cx="441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demo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2" name="Rectangle 104"/>
            <p:cNvSpPr>
              <a:spLocks noChangeArrowheads="1"/>
            </p:cNvSpPr>
            <p:nvPr/>
          </p:nvSpPr>
          <p:spPr bwMode="auto">
            <a:xfrm>
              <a:off x="1326" y="558"/>
              <a:ext cx="126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-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3" name="Rectangle 105"/>
            <p:cNvSpPr>
              <a:spLocks noChangeArrowheads="1"/>
            </p:cNvSpPr>
            <p:nvPr/>
          </p:nvSpPr>
          <p:spPr bwMode="auto">
            <a:xfrm>
              <a:off x="1386" y="558"/>
              <a:ext cx="126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j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4" name="Rectangle 106"/>
            <p:cNvSpPr>
              <a:spLocks noChangeArrowheads="1"/>
            </p:cNvSpPr>
            <p:nvPr/>
          </p:nvSpPr>
          <p:spPr bwMode="auto">
            <a:xfrm>
              <a:off x="367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5" name="Rectangle 107"/>
            <p:cNvSpPr>
              <a:spLocks noChangeArrowheads="1"/>
            </p:cNvSpPr>
            <p:nvPr/>
          </p:nvSpPr>
          <p:spPr bwMode="auto">
            <a:xfrm>
              <a:off x="3771" y="1461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6" name="Rectangle 108"/>
            <p:cNvSpPr>
              <a:spLocks noChangeArrowheads="1"/>
            </p:cNvSpPr>
            <p:nvPr/>
          </p:nvSpPr>
          <p:spPr bwMode="auto">
            <a:xfrm>
              <a:off x="393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7" name="Rectangle 109"/>
            <p:cNvSpPr>
              <a:spLocks noChangeArrowheads="1"/>
            </p:cNvSpPr>
            <p:nvPr/>
          </p:nvSpPr>
          <p:spPr bwMode="auto">
            <a:xfrm>
              <a:off x="4024" y="1461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8" name="Rectangle 110"/>
            <p:cNvSpPr>
              <a:spLocks noChangeArrowheads="1"/>
            </p:cNvSpPr>
            <p:nvPr/>
          </p:nvSpPr>
          <p:spPr bwMode="auto">
            <a:xfrm>
              <a:off x="4195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9" name="Rectangle 111"/>
            <p:cNvSpPr>
              <a:spLocks noChangeArrowheads="1"/>
            </p:cNvSpPr>
            <p:nvPr/>
          </p:nvSpPr>
          <p:spPr bwMode="auto">
            <a:xfrm>
              <a:off x="4286" y="1461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0" name="Rectangle 112"/>
            <p:cNvSpPr>
              <a:spLocks noChangeArrowheads="1"/>
            </p:cNvSpPr>
            <p:nvPr/>
          </p:nvSpPr>
          <p:spPr bwMode="auto">
            <a:xfrm>
              <a:off x="4454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1" name="Rectangle 113"/>
            <p:cNvSpPr>
              <a:spLocks noChangeArrowheads="1"/>
            </p:cNvSpPr>
            <p:nvPr/>
          </p:nvSpPr>
          <p:spPr bwMode="auto">
            <a:xfrm>
              <a:off x="4535" y="1461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2" name="Rectangle 114"/>
            <p:cNvSpPr>
              <a:spLocks noChangeArrowheads="1"/>
            </p:cNvSpPr>
            <p:nvPr/>
          </p:nvSpPr>
          <p:spPr bwMode="auto">
            <a:xfrm>
              <a:off x="4713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3" name="Rectangle 115"/>
            <p:cNvSpPr>
              <a:spLocks noChangeArrowheads="1"/>
            </p:cNvSpPr>
            <p:nvPr/>
          </p:nvSpPr>
          <p:spPr bwMode="auto">
            <a:xfrm>
              <a:off x="4786" y="1461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4" name="Rectangle 116"/>
            <p:cNvSpPr>
              <a:spLocks noChangeArrowheads="1"/>
            </p:cNvSpPr>
            <p:nvPr/>
          </p:nvSpPr>
          <p:spPr bwMode="auto">
            <a:xfrm>
              <a:off x="3288" y="1824"/>
              <a:ext cx="1037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5" name="Rectangle 117"/>
            <p:cNvSpPr>
              <a:spLocks noChangeArrowheads="1"/>
            </p:cNvSpPr>
            <p:nvPr/>
          </p:nvSpPr>
          <p:spPr bwMode="auto">
            <a:xfrm>
              <a:off x="3615" y="1858"/>
              <a:ext cx="452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Cycle 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6" name="Rectangle 118"/>
            <p:cNvSpPr>
              <a:spLocks noChangeArrowheads="1"/>
            </p:cNvSpPr>
            <p:nvPr/>
          </p:nvSpPr>
          <p:spPr bwMode="auto">
            <a:xfrm>
              <a:off x="3288" y="2558"/>
              <a:ext cx="1080" cy="562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7" name="Rectangle 119"/>
            <p:cNvSpPr>
              <a:spLocks noChangeArrowheads="1"/>
            </p:cNvSpPr>
            <p:nvPr/>
          </p:nvSpPr>
          <p:spPr bwMode="auto">
            <a:xfrm>
              <a:off x="3789" y="259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8" name="Rectangle 120"/>
            <p:cNvSpPr>
              <a:spLocks noChangeArrowheads="1"/>
            </p:cNvSpPr>
            <p:nvPr/>
          </p:nvSpPr>
          <p:spPr bwMode="auto">
            <a:xfrm>
              <a:off x="3288" y="2774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9" name="Rectangle 121"/>
            <p:cNvSpPr>
              <a:spLocks noChangeArrowheads="1"/>
            </p:cNvSpPr>
            <p:nvPr/>
          </p:nvSpPr>
          <p:spPr bwMode="auto">
            <a:xfrm>
              <a:off x="3343" y="2803"/>
              <a:ext cx="27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0" name="Rectangle 122"/>
            <p:cNvSpPr>
              <a:spLocks noChangeArrowheads="1"/>
            </p:cNvSpPr>
            <p:nvPr/>
          </p:nvSpPr>
          <p:spPr bwMode="auto">
            <a:xfrm>
              <a:off x="3567" y="2799"/>
              <a:ext cx="17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 3" pitchFamily="18" charset="2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1" name="Rectangle 123"/>
            <p:cNvSpPr>
              <a:spLocks noChangeArrowheads="1"/>
            </p:cNvSpPr>
            <p:nvPr/>
          </p:nvSpPr>
          <p:spPr bwMode="auto">
            <a:xfrm>
              <a:off x="3684" y="281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2" name="Rectangle 124"/>
            <p:cNvSpPr>
              <a:spLocks noChangeArrowheads="1"/>
            </p:cNvSpPr>
            <p:nvPr/>
          </p:nvSpPr>
          <p:spPr bwMode="auto">
            <a:xfrm>
              <a:off x="3343" y="2934"/>
              <a:ext cx="28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3" name="Rectangle 125"/>
            <p:cNvSpPr>
              <a:spLocks noChangeArrowheads="1"/>
            </p:cNvSpPr>
            <p:nvPr/>
          </p:nvSpPr>
          <p:spPr bwMode="auto">
            <a:xfrm>
              <a:off x="3573" y="2934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4" name="Rectangle 126"/>
            <p:cNvSpPr>
              <a:spLocks noChangeArrowheads="1"/>
            </p:cNvSpPr>
            <p:nvPr/>
          </p:nvSpPr>
          <p:spPr bwMode="auto">
            <a:xfrm>
              <a:off x="3659" y="2945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5" name="Rectangle 127"/>
            <p:cNvSpPr>
              <a:spLocks noChangeArrowheads="1"/>
            </p:cNvSpPr>
            <p:nvPr/>
          </p:nvSpPr>
          <p:spPr bwMode="auto">
            <a:xfrm>
              <a:off x="3720" y="294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6" name="Rectangle 128"/>
            <p:cNvSpPr>
              <a:spLocks noChangeArrowheads="1"/>
            </p:cNvSpPr>
            <p:nvPr/>
          </p:nvSpPr>
          <p:spPr bwMode="auto">
            <a:xfrm>
              <a:off x="3288" y="2558"/>
              <a:ext cx="1080" cy="562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7" name="Rectangle 129"/>
            <p:cNvSpPr>
              <a:spLocks noChangeArrowheads="1"/>
            </p:cNvSpPr>
            <p:nvPr/>
          </p:nvSpPr>
          <p:spPr bwMode="auto">
            <a:xfrm>
              <a:off x="3789" y="259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8" name="Rectangle 130"/>
            <p:cNvSpPr>
              <a:spLocks noChangeArrowheads="1"/>
            </p:cNvSpPr>
            <p:nvPr/>
          </p:nvSpPr>
          <p:spPr bwMode="auto">
            <a:xfrm>
              <a:off x="3288" y="2774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9" name="Rectangle 131"/>
            <p:cNvSpPr>
              <a:spLocks noChangeArrowheads="1"/>
            </p:cNvSpPr>
            <p:nvPr/>
          </p:nvSpPr>
          <p:spPr bwMode="auto">
            <a:xfrm>
              <a:off x="3343" y="2803"/>
              <a:ext cx="27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0" name="Rectangle 132"/>
            <p:cNvSpPr>
              <a:spLocks noChangeArrowheads="1"/>
            </p:cNvSpPr>
            <p:nvPr/>
          </p:nvSpPr>
          <p:spPr bwMode="auto">
            <a:xfrm>
              <a:off x="3567" y="2799"/>
              <a:ext cx="17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 3" pitchFamily="18" charset="2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1" name="Rectangle 133"/>
            <p:cNvSpPr>
              <a:spLocks noChangeArrowheads="1"/>
            </p:cNvSpPr>
            <p:nvPr/>
          </p:nvSpPr>
          <p:spPr bwMode="auto">
            <a:xfrm>
              <a:off x="3684" y="281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2" name="Rectangle 134"/>
            <p:cNvSpPr>
              <a:spLocks noChangeArrowheads="1"/>
            </p:cNvSpPr>
            <p:nvPr/>
          </p:nvSpPr>
          <p:spPr bwMode="auto">
            <a:xfrm>
              <a:off x="3343" y="2934"/>
              <a:ext cx="28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3" name="Rectangle 135"/>
            <p:cNvSpPr>
              <a:spLocks noChangeArrowheads="1"/>
            </p:cNvSpPr>
            <p:nvPr/>
          </p:nvSpPr>
          <p:spPr bwMode="auto">
            <a:xfrm>
              <a:off x="3573" y="2934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4" name="Rectangle 136"/>
            <p:cNvSpPr>
              <a:spLocks noChangeArrowheads="1"/>
            </p:cNvSpPr>
            <p:nvPr/>
          </p:nvSpPr>
          <p:spPr bwMode="auto">
            <a:xfrm>
              <a:off x="3659" y="2945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5" name="Rectangle 137"/>
            <p:cNvSpPr>
              <a:spLocks noChangeArrowheads="1"/>
            </p:cNvSpPr>
            <p:nvPr/>
          </p:nvSpPr>
          <p:spPr bwMode="auto">
            <a:xfrm>
              <a:off x="3720" y="294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6" name="Rectangle 138"/>
            <p:cNvSpPr>
              <a:spLocks noChangeArrowheads="1"/>
            </p:cNvSpPr>
            <p:nvPr/>
          </p:nvSpPr>
          <p:spPr bwMode="auto">
            <a:xfrm>
              <a:off x="3288" y="1996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7" name="Rectangle 139"/>
            <p:cNvSpPr>
              <a:spLocks noChangeArrowheads="1"/>
            </p:cNvSpPr>
            <p:nvPr/>
          </p:nvSpPr>
          <p:spPr bwMode="auto">
            <a:xfrm>
              <a:off x="3779" y="2034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8" name="Rectangle 140"/>
            <p:cNvSpPr>
              <a:spLocks noChangeArrowheads="1"/>
            </p:cNvSpPr>
            <p:nvPr/>
          </p:nvSpPr>
          <p:spPr bwMode="auto">
            <a:xfrm>
              <a:off x="3288" y="2169"/>
              <a:ext cx="908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9" name="Rectangle 141"/>
            <p:cNvSpPr>
              <a:spLocks noChangeArrowheads="1"/>
            </p:cNvSpPr>
            <p:nvPr/>
          </p:nvSpPr>
          <p:spPr bwMode="auto">
            <a:xfrm>
              <a:off x="3343" y="2197"/>
              <a:ext cx="45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M_Cnd</a:t>
              </a:r>
              <a:r>
                <a:rPr kumimoji="0" 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= 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0" name="Rectangle 142"/>
            <p:cNvSpPr>
              <a:spLocks noChangeArrowheads="1"/>
            </p:cNvSpPr>
            <p:nvPr/>
          </p:nvSpPr>
          <p:spPr bwMode="auto">
            <a:xfrm>
              <a:off x="3771" y="2208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1" name="Rectangle 143"/>
            <p:cNvSpPr>
              <a:spLocks noChangeArrowheads="1"/>
            </p:cNvSpPr>
            <p:nvPr/>
          </p:nvSpPr>
          <p:spPr bwMode="auto">
            <a:xfrm>
              <a:off x="3343" y="2336"/>
              <a:ext cx="190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M_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2" name="Rectangle 144"/>
            <p:cNvSpPr>
              <a:spLocks noChangeArrowheads="1"/>
            </p:cNvSpPr>
            <p:nvPr/>
          </p:nvSpPr>
          <p:spPr bwMode="auto">
            <a:xfrm>
              <a:off x="3483" y="2336"/>
              <a:ext cx="24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valA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3" name="Rectangle 145"/>
            <p:cNvSpPr>
              <a:spLocks noChangeArrowheads="1"/>
            </p:cNvSpPr>
            <p:nvPr/>
          </p:nvSpPr>
          <p:spPr bwMode="auto">
            <a:xfrm>
              <a:off x="3706" y="2336"/>
              <a:ext cx="4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0x007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4" name="Rectangle 146"/>
            <p:cNvSpPr>
              <a:spLocks noChangeArrowheads="1"/>
            </p:cNvSpPr>
            <p:nvPr/>
          </p:nvSpPr>
          <p:spPr bwMode="auto">
            <a:xfrm>
              <a:off x="3288" y="3119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5" name="Rectangle 147"/>
            <p:cNvSpPr>
              <a:spLocks noChangeArrowheads="1"/>
            </p:cNvSpPr>
            <p:nvPr/>
          </p:nvSpPr>
          <p:spPr bwMode="auto">
            <a:xfrm>
              <a:off x="3786" y="3157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6" name="Rectangle 148"/>
            <p:cNvSpPr>
              <a:spLocks noChangeArrowheads="1"/>
            </p:cNvSpPr>
            <p:nvPr/>
          </p:nvSpPr>
          <p:spPr bwMode="auto">
            <a:xfrm>
              <a:off x="3288" y="3335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7" name="Rectangle 149"/>
            <p:cNvSpPr>
              <a:spLocks noChangeArrowheads="1"/>
            </p:cNvSpPr>
            <p:nvPr/>
          </p:nvSpPr>
          <p:spPr bwMode="auto">
            <a:xfrm>
              <a:off x="3343" y="3363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valC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8" name="Rectangle 150"/>
            <p:cNvSpPr>
              <a:spLocks noChangeArrowheads="1"/>
            </p:cNvSpPr>
            <p:nvPr/>
          </p:nvSpPr>
          <p:spPr bwMode="auto">
            <a:xfrm>
              <a:off x="3572" y="3363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9" name="Rectangle 151"/>
            <p:cNvSpPr>
              <a:spLocks noChangeArrowheads="1"/>
            </p:cNvSpPr>
            <p:nvPr/>
          </p:nvSpPr>
          <p:spPr bwMode="auto">
            <a:xfrm>
              <a:off x="3658" y="337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0" name="Rectangle 152"/>
            <p:cNvSpPr>
              <a:spLocks noChangeArrowheads="1"/>
            </p:cNvSpPr>
            <p:nvPr/>
          </p:nvSpPr>
          <p:spPr bwMode="auto">
            <a:xfrm>
              <a:off x="3343" y="3495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1" name="Rectangle 153"/>
            <p:cNvSpPr>
              <a:spLocks noChangeArrowheads="1"/>
            </p:cNvSpPr>
            <p:nvPr/>
          </p:nvSpPr>
          <p:spPr bwMode="auto">
            <a:xfrm>
              <a:off x="3573" y="3495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2" name="Rectangle 154"/>
            <p:cNvSpPr>
              <a:spLocks noChangeArrowheads="1"/>
            </p:cNvSpPr>
            <p:nvPr/>
          </p:nvSpPr>
          <p:spPr bwMode="auto">
            <a:xfrm>
              <a:off x="3659" y="3506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3" name="Rectangle 155"/>
            <p:cNvSpPr>
              <a:spLocks noChangeArrowheads="1"/>
            </p:cNvSpPr>
            <p:nvPr/>
          </p:nvSpPr>
          <p:spPr bwMode="auto">
            <a:xfrm>
              <a:off x="3720" y="3506"/>
              <a:ext cx="25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ecx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4" name="Rectangle 156"/>
            <p:cNvSpPr>
              <a:spLocks noChangeArrowheads="1"/>
            </p:cNvSpPr>
            <p:nvPr/>
          </p:nvSpPr>
          <p:spPr bwMode="auto">
            <a:xfrm>
              <a:off x="3288" y="3119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5" name="Rectangle 157"/>
            <p:cNvSpPr>
              <a:spLocks noChangeArrowheads="1"/>
            </p:cNvSpPr>
            <p:nvPr/>
          </p:nvSpPr>
          <p:spPr bwMode="auto">
            <a:xfrm>
              <a:off x="3786" y="3157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6" name="Rectangle 158"/>
            <p:cNvSpPr>
              <a:spLocks noChangeArrowheads="1"/>
            </p:cNvSpPr>
            <p:nvPr/>
          </p:nvSpPr>
          <p:spPr bwMode="auto">
            <a:xfrm>
              <a:off x="3288" y="3335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7" name="Rectangle 159"/>
            <p:cNvSpPr>
              <a:spLocks noChangeArrowheads="1"/>
            </p:cNvSpPr>
            <p:nvPr/>
          </p:nvSpPr>
          <p:spPr bwMode="auto">
            <a:xfrm>
              <a:off x="3343" y="3363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valC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8" name="Rectangle 160"/>
            <p:cNvSpPr>
              <a:spLocks noChangeArrowheads="1"/>
            </p:cNvSpPr>
            <p:nvPr/>
          </p:nvSpPr>
          <p:spPr bwMode="auto">
            <a:xfrm>
              <a:off x="3572" y="3363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9" name="Rectangle 161"/>
            <p:cNvSpPr>
              <a:spLocks noChangeArrowheads="1"/>
            </p:cNvSpPr>
            <p:nvPr/>
          </p:nvSpPr>
          <p:spPr bwMode="auto">
            <a:xfrm>
              <a:off x="3658" y="337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0" name="Rectangle 162"/>
            <p:cNvSpPr>
              <a:spLocks noChangeArrowheads="1"/>
            </p:cNvSpPr>
            <p:nvPr/>
          </p:nvSpPr>
          <p:spPr bwMode="auto">
            <a:xfrm>
              <a:off x="3343" y="3495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1" name="Rectangle 163"/>
            <p:cNvSpPr>
              <a:spLocks noChangeArrowheads="1"/>
            </p:cNvSpPr>
            <p:nvPr/>
          </p:nvSpPr>
          <p:spPr bwMode="auto">
            <a:xfrm>
              <a:off x="3573" y="3495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2" name="Rectangle 164"/>
            <p:cNvSpPr>
              <a:spLocks noChangeArrowheads="1"/>
            </p:cNvSpPr>
            <p:nvPr/>
          </p:nvSpPr>
          <p:spPr bwMode="auto">
            <a:xfrm>
              <a:off x="3659" y="3506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3" name="Rectangle 165"/>
            <p:cNvSpPr>
              <a:spLocks noChangeArrowheads="1"/>
            </p:cNvSpPr>
            <p:nvPr/>
          </p:nvSpPr>
          <p:spPr bwMode="auto">
            <a:xfrm>
              <a:off x="3720" y="3506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300" b="0" dirty="0" err="1">
                  <a:solidFill>
                    <a:srgbClr val="000000"/>
                  </a:solidFill>
                  <a:latin typeface="Courier New" pitchFamily="49" charset="0"/>
                  <a:cs typeface="Arial" pitchFamily="34" charset="0"/>
                </a:rPr>
                <a:t>r</a:t>
              </a:r>
              <a:r>
                <a:rPr kumimoji="0" lang="en-US" sz="13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cx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236" name="Group 188"/>
            <p:cNvGrpSpPr>
              <a:grpSpLocks/>
            </p:cNvGrpSpPr>
            <p:nvPr/>
          </p:nvGrpSpPr>
          <p:grpSpPr bwMode="auto">
            <a:xfrm>
              <a:off x="3288" y="1608"/>
              <a:ext cx="1080" cy="2635"/>
              <a:chOff x="3288" y="1608"/>
              <a:chExt cx="1080" cy="2635"/>
            </a:xfrm>
          </p:grpSpPr>
          <p:sp>
            <p:nvSpPr>
              <p:cNvPr id="2214" name="Rectangle 166"/>
              <p:cNvSpPr>
                <a:spLocks noChangeArrowheads="1"/>
              </p:cNvSpPr>
              <p:nvPr/>
            </p:nvSpPr>
            <p:spPr bwMode="auto">
              <a:xfrm>
                <a:off x="3288" y="3681"/>
                <a:ext cx="1080" cy="562"/>
              </a:xfrm>
              <a:prstGeom prst="rect">
                <a:avLst/>
              </a:prstGeom>
              <a:solidFill>
                <a:srgbClr val="B2B2B2"/>
              </a:solidFill>
              <a:ln w="5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5" name="Rectangle 167"/>
              <p:cNvSpPr>
                <a:spLocks noChangeArrowheads="1"/>
              </p:cNvSpPr>
              <p:nvPr/>
            </p:nvSpPr>
            <p:spPr bwMode="auto">
              <a:xfrm>
                <a:off x="3792" y="3718"/>
                <a:ext cx="126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6" name="Rectangle 168"/>
              <p:cNvSpPr>
                <a:spLocks noChangeArrowheads="1"/>
              </p:cNvSpPr>
              <p:nvPr/>
            </p:nvSpPr>
            <p:spPr bwMode="auto">
              <a:xfrm>
                <a:off x="3288" y="3897"/>
                <a:ext cx="1080" cy="303"/>
              </a:xfrm>
              <a:prstGeom prst="rect">
                <a:avLst/>
              </a:prstGeom>
              <a:solidFill>
                <a:srgbClr val="FFFFFF"/>
              </a:solidFill>
              <a:ln w="7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7" name="Rectangle 169"/>
              <p:cNvSpPr>
                <a:spLocks noChangeArrowheads="1"/>
              </p:cNvSpPr>
              <p:nvPr/>
            </p:nvSpPr>
            <p:spPr bwMode="auto">
              <a:xfrm>
                <a:off x="3343" y="3933"/>
                <a:ext cx="255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valC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8" name="Rectangle 170"/>
              <p:cNvSpPr>
                <a:spLocks noChangeArrowheads="1"/>
              </p:cNvSpPr>
              <p:nvPr/>
            </p:nvSpPr>
            <p:spPr bwMode="auto">
              <a:xfrm>
                <a:off x="3572" y="3929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9" name="Rectangle 171"/>
              <p:cNvSpPr>
                <a:spLocks noChangeArrowheads="1"/>
              </p:cNvSpPr>
              <p:nvPr/>
            </p:nvSpPr>
            <p:spPr bwMode="auto">
              <a:xfrm>
                <a:off x="3690" y="3933"/>
                <a:ext cx="104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0" name="Rectangle 172"/>
              <p:cNvSpPr>
                <a:spLocks noChangeArrowheads="1"/>
              </p:cNvSpPr>
              <p:nvPr/>
            </p:nvSpPr>
            <p:spPr bwMode="auto">
              <a:xfrm>
                <a:off x="3343" y="4058"/>
                <a:ext cx="150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rB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1" name="Rectangle 173"/>
              <p:cNvSpPr>
                <a:spLocks noChangeArrowheads="1"/>
              </p:cNvSpPr>
              <p:nvPr/>
            </p:nvSpPr>
            <p:spPr bwMode="auto">
              <a:xfrm>
                <a:off x="3472" y="4054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2" name="Rectangle 174"/>
              <p:cNvSpPr>
                <a:spLocks noChangeArrowheads="1"/>
              </p:cNvSpPr>
              <p:nvPr/>
            </p:nvSpPr>
            <p:spPr bwMode="auto">
              <a:xfrm>
                <a:off x="3590" y="4069"/>
                <a:ext cx="126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%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3" name="Rectangle 175"/>
              <p:cNvSpPr>
                <a:spLocks noChangeArrowheads="1"/>
              </p:cNvSpPr>
              <p:nvPr/>
            </p:nvSpPr>
            <p:spPr bwMode="auto">
              <a:xfrm>
                <a:off x="3650" y="4069"/>
                <a:ext cx="189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rax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4" name="Rectangle 176"/>
              <p:cNvSpPr>
                <a:spLocks noChangeArrowheads="1"/>
              </p:cNvSpPr>
              <p:nvPr/>
            </p:nvSpPr>
            <p:spPr bwMode="auto">
              <a:xfrm>
                <a:off x="3288" y="3681"/>
                <a:ext cx="1080" cy="562"/>
              </a:xfrm>
              <a:prstGeom prst="rect">
                <a:avLst/>
              </a:prstGeom>
              <a:solidFill>
                <a:srgbClr val="B2B2B2"/>
              </a:solidFill>
              <a:ln w="5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5" name="Rectangle 177"/>
              <p:cNvSpPr>
                <a:spLocks noChangeArrowheads="1"/>
              </p:cNvSpPr>
              <p:nvPr/>
            </p:nvSpPr>
            <p:spPr bwMode="auto">
              <a:xfrm>
                <a:off x="3792" y="3718"/>
                <a:ext cx="126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6" name="Rectangle 178"/>
              <p:cNvSpPr>
                <a:spLocks noChangeArrowheads="1"/>
              </p:cNvSpPr>
              <p:nvPr/>
            </p:nvSpPr>
            <p:spPr bwMode="auto">
              <a:xfrm>
                <a:off x="3288" y="3897"/>
                <a:ext cx="1080" cy="303"/>
              </a:xfrm>
              <a:prstGeom prst="rect">
                <a:avLst/>
              </a:prstGeom>
              <a:solidFill>
                <a:srgbClr val="FFFFFF"/>
              </a:solidFill>
              <a:ln w="7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7" name="Rectangle 179"/>
              <p:cNvSpPr>
                <a:spLocks noChangeArrowheads="1"/>
              </p:cNvSpPr>
              <p:nvPr/>
            </p:nvSpPr>
            <p:spPr bwMode="auto">
              <a:xfrm>
                <a:off x="3343" y="3933"/>
                <a:ext cx="255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valC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8" name="Rectangle 180"/>
              <p:cNvSpPr>
                <a:spLocks noChangeArrowheads="1"/>
              </p:cNvSpPr>
              <p:nvPr/>
            </p:nvSpPr>
            <p:spPr bwMode="auto">
              <a:xfrm>
                <a:off x="3572" y="3929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9" name="Rectangle 181"/>
              <p:cNvSpPr>
                <a:spLocks noChangeArrowheads="1"/>
              </p:cNvSpPr>
              <p:nvPr/>
            </p:nvSpPr>
            <p:spPr bwMode="auto">
              <a:xfrm>
                <a:off x="3690" y="3933"/>
                <a:ext cx="104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0" name="Rectangle 182"/>
              <p:cNvSpPr>
                <a:spLocks noChangeArrowheads="1"/>
              </p:cNvSpPr>
              <p:nvPr/>
            </p:nvSpPr>
            <p:spPr bwMode="auto">
              <a:xfrm>
                <a:off x="3343" y="4058"/>
                <a:ext cx="150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rB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1" name="Rectangle 183"/>
              <p:cNvSpPr>
                <a:spLocks noChangeArrowheads="1"/>
              </p:cNvSpPr>
              <p:nvPr/>
            </p:nvSpPr>
            <p:spPr bwMode="auto">
              <a:xfrm>
                <a:off x="3472" y="4054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2" name="Rectangle 184"/>
              <p:cNvSpPr>
                <a:spLocks noChangeArrowheads="1"/>
              </p:cNvSpPr>
              <p:nvPr/>
            </p:nvSpPr>
            <p:spPr bwMode="auto">
              <a:xfrm>
                <a:off x="3590" y="4069"/>
                <a:ext cx="126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%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3" name="Rectangle 185"/>
              <p:cNvSpPr>
                <a:spLocks noChangeArrowheads="1"/>
              </p:cNvSpPr>
              <p:nvPr/>
            </p:nvSpPr>
            <p:spPr bwMode="auto">
              <a:xfrm>
                <a:off x="3650" y="4069"/>
                <a:ext cx="189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rax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 flipH="1">
                <a:off x="3288" y="1608"/>
                <a:ext cx="388" cy="388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>
                <a:off x="3936" y="1608"/>
                <a:ext cx="431" cy="388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620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228600" y="914400"/>
            <a:ext cx="8610600" cy="5078314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  0x000: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Stack,%</a:t>
            </a:r>
            <a:r>
              <a:rPr lang="en-US" dirty="0" err="1">
                <a:latin typeface="Courier New" pitchFamily="49" charset="0"/>
              </a:rPr>
              <a:t>rsp</a:t>
            </a:r>
            <a:r>
              <a:rPr lang="en-US" dirty="0">
                <a:latin typeface="Courier New" pitchFamily="49" charset="0"/>
              </a:rPr>
              <a:t>  # </a:t>
            </a:r>
            <a:r>
              <a:rPr lang="en-US" dirty="0" err="1">
                <a:latin typeface="Courier New" pitchFamily="49" charset="0"/>
              </a:rPr>
              <a:t>Intialize</a:t>
            </a:r>
            <a:r>
              <a:rPr lang="en-US" dirty="0">
                <a:latin typeface="Courier New" pitchFamily="49" charset="0"/>
              </a:rPr>
              <a:t> stack pointer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0x00a:    </a:t>
            </a:r>
            <a:r>
              <a:rPr lang="en-US" dirty="0" err="1">
                <a:latin typeface="Courier New" pitchFamily="49" charset="0"/>
              </a:rPr>
              <a:t>nop</a:t>
            </a:r>
            <a:r>
              <a:rPr lang="en-US" dirty="0">
                <a:latin typeface="Courier New" pitchFamily="49" charset="0"/>
              </a:rPr>
              <a:t>                  # Avoid hazard on %</a:t>
            </a:r>
            <a:r>
              <a:rPr lang="en-US" dirty="0" err="1">
                <a:latin typeface="Courier New" pitchFamily="49" charset="0"/>
              </a:rPr>
              <a:t>rsp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0x00b: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0x00c: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0x00d:    call p               # Procedure call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0x016: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$5,%rsi       # Return point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0x020:    halt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0x020: .</a:t>
            </a:r>
            <a:r>
              <a:rPr lang="en-US" dirty="0" err="1">
                <a:latin typeface="Courier New" pitchFamily="49" charset="0"/>
              </a:rPr>
              <a:t>pos</a:t>
            </a:r>
            <a:r>
              <a:rPr lang="en-US" dirty="0">
                <a:latin typeface="Courier New" pitchFamily="49" charset="0"/>
              </a:rPr>
              <a:t> 0x20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0x020: p: </a:t>
            </a:r>
            <a:r>
              <a:rPr lang="en-US" dirty="0" err="1">
                <a:latin typeface="Courier New" pitchFamily="49" charset="0"/>
              </a:rPr>
              <a:t>nop</a:t>
            </a:r>
            <a:r>
              <a:rPr lang="en-US" dirty="0">
                <a:latin typeface="Courier New" pitchFamily="49" charset="0"/>
              </a:rPr>
              <a:t>                   # procedure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0x021: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0x022: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0x023:    ret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0x024: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$1,%rax        # Should not be executed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0x02e: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$2,%rcx        # Should not be executed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0x038: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$3,%rdx        # Should not be executed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0x042: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$4,%rbx        # Should not be executed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0x100: .</a:t>
            </a:r>
            <a:r>
              <a:rPr lang="en-US" dirty="0" err="1">
                <a:latin typeface="Courier New" pitchFamily="49" charset="0"/>
              </a:rPr>
              <a:t>pos</a:t>
            </a:r>
            <a:r>
              <a:rPr lang="en-US" dirty="0">
                <a:latin typeface="Courier New" pitchFamily="49" charset="0"/>
              </a:rPr>
              <a:t> 0x100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0x100: Stack:                   # Initial stack pointer</a:t>
            </a:r>
          </a:p>
        </p:txBody>
      </p:sp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Example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5943600"/>
            <a:ext cx="8294687" cy="488950"/>
          </a:xfrm>
        </p:spPr>
        <p:txBody>
          <a:bodyPr/>
          <a:lstStyle/>
          <a:p>
            <a:pPr lvl="1"/>
            <a:r>
              <a:rPr lang="en-US"/>
              <a:t>Require lots of nops to avoid data hazards</a:t>
            </a:r>
          </a:p>
        </p:txBody>
      </p:sp>
      <p:sp>
        <p:nvSpPr>
          <p:cNvPr id="432133" name="Text Box 5"/>
          <p:cNvSpPr txBox="1">
            <a:spLocks noChangeArrowheads="1"/>
          </p:cNvSpPr>
          <p:nvPr/>
        </p:nvSpPr>
        <p:spPr bwMode="auto">
          <a:xfrm>
            <a:off x="5334000" y="304800"/>
            <a:ext cx="159385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latin typeface="Courier New" pitchFamily="49" charset="0"/>
              </a:rPr>
              <a:t>demo-ret.ys</a:t>
            </a:r>
          </a:p>
        </p:txBody>
      </p:sp>
    </p:spTree>
    <p:extLst>
      <p:ext uri="{BB962C8B-B14F-4D97-AF65-F5344CB8AC3E}">
        <p14:creationId xmlns:p14="http://schemas.microsoft.com/office/powerpoint/2010/main" val="1196548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50" y="831850"/>
            <a:ext cx="6253320" cy="5899150"/>
          </a:xfrm>
          <a:prstGeom prst="rect">
            <a:avLst/>
          </a:prstGeom>
        </p:spPr>
      </p:pic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0"/>
            <a:ext cx="8704262" cy="779463"/>
          </a:xfrm>
        </p:spPr>
        <p:txBody>
          <a:bodyPr/>
          <a:lstStyle/>
          <a:p>
            <a:r>
              <a:rPr lang="en-US" dirty="0"/>
              <a:t>Incorrect Return Example</a:t>
            </a:r>
          </a:p>
        </p:txBody>
      </p:sp>
      <p:sp>
        <p:nvSpPr>
          <p:cNvPr id="431108" name="Rectangle 4"/>
          <p:cNvSpPr>
            <a:spLocks noChangeArrowheads="1"/>
          </p:cNvSpPr>
          <p:nvPr/>
        </p:nvSpPr>
        <p:spPr bwMode="auto">
          <a:xfrm>
            <a:off x="381000" y="2743200"/>
            <a:ext cx="4648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Incorrectly execute 3 instructions following </a:t>
            </a:r>
            <a:r>
              <a:rPr lang="en-US" sz="2000">
                <a:latin typeface="Courier New" pitchFamily="49" charset="0"/>
              </a:rPr>
              <a:t>ret</a:t>
            </a:r>
          </a:p>
        </p:txBody>
      </p:sp>
    </p:spTree>
    <p:extLst>
      <p:ext uri="{BB962C8B-B14F-4D97-AF65-F5344CB8AC3E}">
        <p14:creationId xmlns:p14="http://schemas.microsoft.com/office/powerpoint/2010/main" val="1356760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Summary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Concept</a:t>
            </a:r>
          </a:p>
          <a:p>
            <a:pPr lvl="1"/>
            <a:r>
              <a:rPr lang="en-US"/>
              <a:t>Break instruction execution into 5 stages</a:t>
            </a:r>
          </a:p>
          <a:p>
            <a:pPr lvl="1"/>
            <a:r>
              <a:rPr lang="en-US"/>
              <a:t>Run instructions through in pipelined mode</a:t>
            </a:r>
          </a:p>
          <a:p>
            <a:r>
              <a:rPr lang="en-US"/>
              <a:t>Limitations</a:t>
            </a:r>
          </a:p>
          <a:p>
            <a:pPr lvl="1"/>
            <a:r>
              <a:rPr lang="en-US"/>
              <a:t>Can’t handle dependencies between instructions when instructions follow too closely</a:t>
            </a:r>
          </a:p>
          <a:p>
            <a:pPr lvl="1"/>
            <a:r>
              <a:rPr lang="en-US"/>
              <a:t>Data dependencies</a:t>
            </a:r>
          </a:p>
          <a:p>
            <a:pPr lvl="2"/>
            <a:r>
              <a:rPr lang="en-US"/>
              <a:t>One instruction writes register, later one reads it</a:t>
            </a:r>
          </a:p>
          <a:p>
            <a:pPr lvl="1"/>
            <a:r>
              <a:rPr lang="en-US"/>
              <a:t>Control dependency</a:t>
            </a:r>
          </a:p>
          <a:p>
            <a:pPr lvl="2"/>
            <a:r>
              <a:rPr lang="en-US"/>
              <a:t>Instruction sets PC in way that pipeline did not predict correctly</a:t>
            </a:r>
          </a:p>
          <a:p>
            <a:pPr lvl="2"/>
            <a:r>
              <a:rPr lang="en-US"/>
              <a:t>Mispredicted branch and return</a:t>
            </a:r>
          </a:p>
          <a:p>
            <a:r>
              <a:rPr lang="en-US"/>
              <a:t>Fixing the Pipeline</a:t>
            </a:r>
          </a:p>
          <a:p>
            <a:pPr lvl="1"/>
            <a:r>
              <a:rPr lang="en-US"/>
              <a:t>We’ll do that next time</a:t>
            </a:r>
          </a:p>
        </p:txBody>
      </p:sp>
    </p:spTree>
    <p:extLst>
      <p:ext uri="{BB962C8B-B14F-4D97-AF65-F5344CB8AC3E}">
        <p14:creationId xmlns:p14="http://schemas.microsoft.com/office/powerpoint/2010/main" val="1094679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686647" y="1521178"/>
            <a:ext cx="7758007" cy="2174017"/>
          </a:xfrm>
        </p:spPr>
        <p:txBody>
          <a:bodyPr/>
          <a:lstStyle/>
          <a:p>
            <a:r>
              <a:rPr lang="en-US" dirty="0"/>
              <a:t>Processor Architecture: Pipelined Implementation: 2</a:t>
            </a:r>
            <a:br>
              <a:rPr lang="en-US" dirty="0"/>
            </a:br>
            <a:br>
              <a:rPr lang="en-US" dirty="0"/>
            </a:br>
            <a:br>
              <a:rPr lang="en-US" b="0" dirty="0"/>
            </a:br>
            <a:endParaRPr lang="en-US" sz="1996" b="0" dirty="0"/>
          </a:p>
        </p:txBody>
      </p:sp>
    </p:spTree>
    <p:extLst>
      <p:ext uri="{BB962C8B-B14F-4D97-AF65-F5344CB8AC3E}">
        <p14:creationId xmlns:p14="http://schemas.microsoft.com/office/powerpoint/2010/main" val="64991637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ctr">
              <a:buFont typeface="Wingdings" pitchFamily="2" charset="2"/>
              <a:buNone/>
            </a:pPr>
            <a:r>
              <a:rPr lang="en-US" sz="2400" i="1" dirty="0">
                <a:solidFill>
                  <a:srgbClr val="FF3300"/>
                </a:solidFill>
              </a:rPr>
              <a:t>Make the pipelined processor work!</a:t>
            </a:r>
          </a:p>
          <a:p>
            <a:r>
              <a:rPr lang="en-US" dirty="0"/>
              <a:t>Data Hazards</a:t>
            </a:r>
          </a:p>
          <a:p>
            <a:pPr lvl="1"/>
            <a:r>
              <a:rPr lang="en-US" dirty="0"/>
              <a:t>Instruction having register R as source follows shortly after instruction having register R as destination</a:t>
            </a:r>
          </a:p>
          <a:p>
            <a:pPr lvl="1"/>
            <a:r>
              <a:rPr lang="en-US" dirty="0"/>
              <a:t>Common condition, don’t want to slow down pipeline</a:t>
            </a:r>
          </a:p>
          <a:p>
            <a:r>
              <a:rPr lang="en-US" dirty="0"/>
              <a:t>Control Hazards</a:t>
            </a:r>
          </a:p>
          <a:p>
            <a:pPr lvl="1"/>
            <a:r>
              <a:rPr lang="en-US" dirty="0" err="1"/>
              <a:t>Mispredict</a:t>
            </a:r>
            <a:r>
              <a:rPr lang="en-US" dirty="0"/>
              <a:t> conditional branch</a:t>
            </a:r>
          </a:p>
          <a:p>
            <a:pPr lvl="2"/>
            <a:r>
              <a:rPr lang="en-US" dirty="0"/>
              <a:t>Our design predicts all branches as being taken</a:t>
            </a:r>
          </a:p>
          <a:p>
            <a:pPr lvl="2"/>
            <a:r>
              <a:rPr lang="en-US" dirty="0"/>
              <a:t>Naïve pipeline executes two extra instructions</a:t>
            </a:r>
          </a:p>
          <a:p>
            <a:pPr lvl="1"/>
            <a:r>
              <a:rPr lang="en-US" dirty="0"/>
              <a:t>Getting return address for </a:t>
            </a:r>
            <a:r>
              <a:rPr lang="en-US" dirty="0">
                <a:latin typeface="Courier New" pitchFamily="49" charset="0"/>
              </a:rPr>
              <a:t>ret</a:t>
            </a:r>
            <a:r>
              <a:rPr lang="en-US" dirty="0"/>
              <a:t> instruction</a:t>
            </a:r>
          </a:p>
          <a:p>
            <a:pPr lvl="2"/>
            <a:r>
              <a:rPr lang="en-US" dirty="0"/>
              <a:t>Naïve pipeline executes three extra instructions</a:t>
            </a:r>
          </a:p>
          <a:p>
            <a:r>
              <a:rPr lang="en-US" dirty="0"/>
              <a:t>Making Sure It Really Works</a:t>
            </a:r>
          </a:p>
          <a:p>
            <a:pPr lvl="1"/>
            <a:r>
              <a:rPr lang="en-US" dirty="0"/>
              <a:t>What if multiple special cases happen simultaneously?</a:t>
            </a:r>
          </a:p>
        </p:txBody>
      </p:sp>
    </p:spTree>
    <p:extLst>
      <p:ext uri="{BB962C8B-B14F-4D97-AF65-F5344CB8AC3E}">
        <p14:creationId xmlns:p14="http://schemas.microsoft.com/office/powerpoint/2010/main" val="1778093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Stages</a:t>
            </a:r>
          </a:p>
        </p:txBody>
      </p:sp>
      <p:sp>
        <p:nvSpPr>
          <p:cNvPr id="414725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4191000" cy="5213350"/>
          </a:xfrm>
        </p:spPr>
        <p:txBody>
          <a:bodyPr/>
          <a:lstStyle/>
          <a:p>
            <a:r>
              <a:rPr lang="en-US"/>
              <a:t>Fetch</a:t>
            </a:r>
          </a:p>
          <a:p>
            <a:pPr lvl="1"/>
            <a:r>
              <a:rPr lang="en-US"/>
              <a:t>Select current PC</a:t>
            </a:r>
          </a:p>
          <a:p>
            <a:pPr lvl="1"/>
            <a:r>
              <a:rPr lang="en-US"/>
              <a:t>Read instruction</a:t>
            </a:r>
          </a:p>
          <a:p>
            <a:pPr lvl="1"/>
            <a:r>
              <a:rPr lang="en-US"/>
              <a:t>Compute incremented PC</a:t>
            </a:r>
          </a:p>
          <a:p>
            <a:r>
              <a:rPr lang="en-US"/>
              <a:t>Decode</a:t>
            </a:r>
          </a:p>
          <a:p>
            <a:pPr lvl="1"/>
            <a:r>
              <a:rPr lang="en-US"/>
              <a:t>Read program registers</a:t>
            </a:r>
          </a:p>
          <a:p>
            <a:r>
              <a:rPr lang="en-US"/>
              <a:t>Execute</a:t>
            </a:r>
          </a:p>
          <a:p>
            <a:pPr lvl="1"/>
            <a:r>
              <a:rPr lang="en-US"/>
              <a:t>Operate ALU</a:t>
            </a:r>
          </a:p>
          <a:p>
            <a:r>
              <a:rPr lang="en-US"/>
              <a:t>Memory</a:t>
            </a:r>
          </a:p>
          <a:p>
            <a:pPr lvl="1"/>
            <a:r>
              <a:rPr lang="en-US"/>
              <a:t>Read or write data memory</a:t>
            </a:r>
          </a:p>
          <a:p>
            <a:r>
              <a:rPr lang="en-US"/>
              <a:t>Write Back</a:t>
            </a:r>
          </a:p>
          <a:p>
            <a:pPr lvl="1"/>
            <a:r>
              <a:rPr lang="en-US"/>
              <a:t>Update register file</a:t>
            </a:r>
          </a:p>
        </p:txBody>
      </p:sp>
      <p:pic>
        <p:nvPicPr>
          <p:cNvPr id="5" name="Picture 8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1850" y="593724"/>
            <a:ext cx="4284876" cy="610552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9997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PIPE- Hardware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1219200"/>
            <a:ext cx="3900487" cy="5213350"/>
          </a:xfrm>
        </p:spPr>
        <p:txBody>
          <a:bodyPr/>
          <a:lstStyle/>
          <a:p>
            <a:pPr lvl="1"/>
            <a:r>
              <a:rPr lang="en-US"/>
              <a:t>Pipeline registers hold intermediate values from instruction execution</a:t>
            </a:r>
          </a:p>
          <a:p>
            <a:r>
              <a:rPr lang="en-US"/>
              <a:t>Forward (Upward) Paths</a:t>
            </a:r>
          </a:p>
          <a:p>
            <a:pPr lvl="1"/>
            <a:r>
              <a:rPr lang="en-US"/>
              <a:t>Values passed from one stage to next</a:t>
            </a:r>
          </a:p>
          <a:p>
            <a:pPr lvl="1"/>
            <a:r>
              <a:rPr lang="en-US"/>
              <a:t>Cannot jump past stages</a:t>
            </a:r>
          </a:p>
          <a:p>
            <a:pPr lvl="2"/>
            <a:r>
              <a:rPr lang="en-US"/>
              <a:t>e.g., valC passes through decode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9450" y="222250"/>
            <a:ext cx="4495800" cy="6391275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657733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704263" cy="779463"/>
          </a:xfrm>
        </p:spPr>
        <p:txBody>
          <a:bodyPr/>
          <a:lstStyle/>
          <a:p>
            <a:r>
              <a:rPr lang="en-US"/>
              <a:t>Data Dependencies: 2 Nop’s</a:t>
            </a:r>
          </a:p>
        </p:txBody>
      </p:sp>
      <p:grpSp>
        <p:nvGrpSpPr>
          <p:cNvPr id="275" name="Group 532"/>
          <p:cNvGrpSpPr>
            <a:grpSpLocks/>
          </p:cNvGrpSpPr>
          <p:nvPr/>
        </p:nvGrpSpPr>
        <p:grpSpPr bwMode="auto">
          <a:xfrm>
            <a:off x="679450" y="908050"/>
            <a:ext cx="7469188" cy="5564188"/>
            <a:chOff x="519" y="399"/>
            <a:chExt cx="4705" cy="3505"/>
          </a:xfrm>
        </p:grpSpPr>
        <p:sp>
          <p:nvSpPr>
            <p:cNvPr id="276" name="Rectangle 261"/>
            <p:cNvSpPr>
              <a:spLocks noChangeArrowheads="1"/>
            </p:cNvSpPr>
            <p:nvPr/>
          </p:nvSpPr>
          <p:spPr bwMode="auto">
            <a:xfrm>
              <a:off x="519" y="63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Rectangle 262"/>
            <p:cNvSpPr>
              <a:spLocks noChangeArrowheads="1"/>
            </p:cNvSpPr>
            <p:nvPr/>
          </p:nvSpPr>
          <p:spPr bwMode="auto">
            <a:xfrm>
              <a:off x="610" y="678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 dirty="0"/>
            </a:p>
          </p:txBody>
        </p:sp>
        <p:sp>
          <p:nvSpPr>
            <p:cNvPr id="278" name="Rectangle 263"/>
            <p:cNvSpPr>
              <a:spLocks noChangeArrowheads="1"/>
            </p:cNvSpPr>
            <p:nvPr/>
          </p:nvSpPr>
          <p:spPr bwMode="auto">
            <a:xfrm>
              <a:off x="1110" y="67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279" name="Rectangle 264"/>
            <p:cNvSpPr>
              <a:spLocks noChangeArrowheads="1"/>
            </p:cNvSpPr>
            <p:nvPr/>
          </p:nvSpPr>
          <p:spPr bwMode="auto">
            <a:xfrm>
              <a:off x="1548" y="678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280" name="Rectangle 265"/>
            <p:cNvSpPr>
              <a:spLocks noChangeArrowheads="1"/>
            </p:cNvSpPr>
            <p:nvPr/>
          </p:nvSpPr>
          <p:spPr bwMode="auto">
            <a:xfrm>
              <a:off x="1882" y="67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281" name="Rectangle 266"/>
            <p:cNvSpPr>
              <a:spLocks noChangeArrowheads="1"/>
            </p:cNvSpPr>
            <p:nvPr/>
          </p:nvSpPr>
          <p:spPr bwMode="auto">
            <a:xfrm>
              <a:off x="234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Rectangle 267"/>
            <p:cNvSpPr>
              <a:spLocks noChangeArrowheads="1"/>
            </p:cNvSpPr>
            <p:nvPr/>
          </p:nvSpPr>
          <p:spPr bwMode="auto">
            <a:xfrm>
              <a:off x="248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283" name="Rectangle 268"/>
            <p:cNvSpPr>
              <a:spLocks noChangeArrowheads="1"/>
            </p:cNvSpPr>
            <p:nvPr/>
          </p:nvSpPr>
          <p:spPr bwMode="auto">
            <a:xfrm>
              <a:off x="263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Rectangle 269"/>
            <p:cNvSpPr>
              <a:spLocks noChangeArrowheads="1"/>
            </p:cNvSpPr>
            <p:nvPr/>
          </p:nvSpPr>
          <p:spPr bwMode="auto">
            <a:xfrm>
              <a:off x="276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285" name="Rectangle 270"/>
            <p:cNvSpPr>
              <a:spLocks noChangeArrowheads="1"/>
            </p:cNvSpPr>
            <p:nvPr/>
          </p:nvSpPr>
          <p:spPr bwMode="auto">
            <a:xfrm>
              <a:off x="291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Rectangle 271"/>
            <p:cNvSpPr>
              <a:spLocks noChangeArrowheads="1"/>
            </p:cNvSpPr>
            <p:nvPr/>
          </p:nvSpPr>
          <p:spPr bwMode="auto">
            <a:xfrm>
              <a:off x="305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287" name="Rectangle 272"/>
            <p:cNvSpPr>
              <a:spLocks noChangeArrowheads="1"/>
            </p:cNvSpPr>
            <p:nvPr/>
          </p:nvSpPr>
          <p:spPr bwMode="auto">
            <a:xfrm>
              <a:off x="320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Rectangle 273"/>
            <p:cNvSpPr>
              <a:spLocks noChangeArrowheads="1"/>
            </p:cNvSpPr>
            <p:nvPr/>
          </p:nvSpPr>
          <p:spPr bwMode="auto">
            <a:xfrm>
              <a:off x="334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289" name="Rectangle 274"/>
            <p:cNvSpPr>
              <a:spLocks noChangeArrowheads="1"/>
            </p:cNvSpPr>
            <p:nvPr/>
          </p:nvSpPr>
          <p:spPr bwMode="auto">
            <a:xfrm>
              <a:off x="349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Rectangle 275"/>
            <p:cNvSpPr>
              <a:spLocks noChangeArrowheads="1"/>
            </p:cNvSpPr>
            <p:nvPr/>
          </p:nvSpPr>
          <p:spPr bwMode="auto">
            <a:xfrm>
              <a:off x="3633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291" name="Rectangle 276"/>
            <p:cNvSpPr>
              <a:spLocks noChangeArrowheads="1"/>
            </p:cNvSpPr>
            <p:nvPr/>
          </p:nvSpPr>
          <p:spPr bwMode="auto">
            <a:xfrm>
              <a:off x="378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Rectangle 277"/>
            <p:cNvSpPr>
              <a:spLocks noChangeArrowheads="1"/>
            </p:cNvSpPr>
            <p:nvPr/>
          </p:nvSpPr>
          <p:spPr bwMode="auto">
            <a:xfrm>
              <a:off x="392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293" name="Rectangle 278"/>
            <p:cNvSpPr>
              <a:spLocks noChangeArrowheads="1"/>
            </p:cNvSpPr>
            <p:nvPr/>
          </p:nvSpPr>
          <p:spPr bwMode="auto">
            <a:xfrm>
              <a:off x="407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Rectangle 279"/>
            <p:cNvSpPr>
              <a:spLocks noChangeArrowheads="1"/>
            </p:cNvSpPr>
            <p:nvPr/>
          </p:nvSpPr>
          <p:spPr bwMode="auto">
            <a:xfrm>
              <a:off x="420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295" name="Rectangle 280"/>
            <p:cNvSpPr>
              <a:spLocks noChangeArrowheads="1"/>
            </p:cNvSpPr>
            <p:nvPr/>
          </p:nvSpPr>
          <p:spPr bwMode="auto">
            <a:xfrm>
              <a:off x="435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Rectangle 281"/>
            <p:cNvSpPr>
              <a:spLocks noChangeArrowheads="1"/>
            </p:cNvSpPr>
            <p:nvPr/>
          </p:nvSpPr>
          <p:spPr bwMode="auto">
            <a:xfrm>
              <a:off x="449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297" name="Rectangle 282"/>
            <p:cNvSpPr>
              <a:spLocks noChangeArrowheads="1"/>
            </p:cNvSpPr>
            <p:nvPr/>
          </p:nvSpPr>
          <p:spPr bwMode="auto">
            <a:xfrm>
              <a:off x="464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Rectangle 283"/>
            <p:cNvSpPr>
              <a:spLocks noChangeArrowheads="1"/>
            </p:cNvSpPr>
            <p:nvPr/>
          </p:nvSpPr>
          <p:spPr bwMode="auto">
            <a:xfrm>
              <a:off x="478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299" name="Rectangle 28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Rectangle 28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01" name="Rectangle 28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Rectangle 28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03" name="Rectangle 28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Rectangle 28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05" name="Rectangle 29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Rectangle 29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07" name="Rectangle 29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Rectangle 29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09" name="Rectangle 29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Rectangle 29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11" name="Rectangle 29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Rectangle 29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13" name="Rectangle 29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Rectangle 29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15" name="Rectangle 30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Rectangle 30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17" name="Rectangle 30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Rectangle 30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19" name="Rectangle 304"/>
            <p:cNvSpPr>
              <a:spLocks noChangeArrowheads="1"/>
            </p:cNvSpPr>
            <p:nvPr/>
          </p:nvSpPr>
          <p:spPr bwMode="auto">
            <a:xfrm>
              <a:off x="519" y="83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Rectangle 305"/>
            <p:cNvSpPr>
              <a:spLocks noChangeArrowheads="1"/>
            </p:cNvSpPr>
            <p:nvPr/>
          </p:nvSpPr>
          <p:spPr bwMode="auto">
            <a:xfrm>
              <a:off x="641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321" name="Rectangle 306"/>
            <p:cNvSpPr>
              <a:spLocks noChangeArrowheads="1"/>
            </p:cNvSpPr>
            <p:nvPr/>
          </p:nvSpPr>
          <p:spPr bwMode="auto">
            <a:xfrm>
              <a:off x="1110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322" name="Rectangle 307"/>
            <p:cNvSpPr>
              <a:spLocks noChangeArrowheads="1"/>
            </p:cNvSpPr>
            <p:nvPr/>
          </p:nvSpPr>
          <p:spPr bwMode="auto">
            <a:xfrm>
              <a:off x="1615" y="870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323" name="Rectangle 308"/>
            <p:cNvSpPr>
              <a:spLocks noChangeArrowheads="1"/>
            </p:cNvSpPr>
            <p:nvPr/>
          </p:nvSpPr>
          <p:spPr bwMode="auto">
            <a:xfrm>
              <a:off x="1882" y="87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324" name="Rectangle 30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Rectangle 31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26" name="Rectangle 31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" name="Rectangle 31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28" name="Rectangle 31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Rectangle 31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30" name="Rectangle 31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Rectangle 31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32" name="Rectangle 31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Rectangle 31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34" name="Rectangle 31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Rectangle 32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36" name="Rectangle 32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7" name="Rectangle 32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38" name="Rectangle 32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Rectangle 32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40" name="Rectangle 32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Rectangle 32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42" name="Rectangle 32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Rectangle 32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44" name="Rectangle 329"/>
            <p:cNvSpPr>
              <a:spLocks noChangeArrowheads="1"/>
            </p:cNvSpPr>
            <p:nvPr/>
          </p:nvSpPr>
          <p:spPr bwMode="auto">
            <a:xfrm>
              <a:off x="519" y="102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Rectangle 330"/>
            <p:cNvSpPr>
              <a:spLocks noChangeArrowheads="1"/>
            </p:cNvSpPr>
            <p:nvPr/>
          </p:nvSpPr>
          <p:spPr bwMode="auto">
            <a:xfrm>
              <a:off x="641" y="106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346" name="Rectangle 331"/>
            <p:cNvSpPr>
              <a:spLocks noChangeArrowheads="1"/>
            </p:cNvSpPr>
            <p:nvPr/>
          </p:nvSpPr>
          <p:spPr bwMode="auto">
            <a:xfrm>
              <a:off x="1079" y="1062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347" name="Rectangle 33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Rectangle 33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49" name="Rectangle 33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Rectangle 33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51" name="Rectangle 33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2" name="Rectangle 33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53" name="Rectangle 33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Rectangle 33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55" name="Rectangle 34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Rectangle 34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57" name="Rectangle 34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Rectangle 34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59" name="Rectangle 34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Rectangle 34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61" name="Rectangle 34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Rectangle 34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63" name="Rectangle 34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Rectangle 34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65" name="Rectangle 35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6" name="Rectangle 35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67" name="Rectangle 352"/>
            <p:cNvSpPr>
              <a:spLocks noChangeArrowheads="1"/>
            </p:cNvSpPr>
            <p:nvPr/>
          </p:nvSpPr>
          <p:spPr bwMode="auto">
            <a:xfrm>
              <a:off x="519" y="121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Rectangle 353"/>
            <p:cNvSpPr>
              <a:spLocks noChangeArrowheads="1"/>
            </p:cNvSpPr>
            <p:nvPr/>
          </p:nvSpPr>
          <p:spPr bwMode="auto">
            <a:xfrm>
              <a:off x="641" y="125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369" name="Rectangle 354"/>
            <p:cNvSpPr>
              <a:spLocks noChangeArrowheads="1"/>
            </p:cNvSpPr>
            <p:nvPr/>
          </p:nvSpPr>
          <p:spPr bwMode="auto">
            <a:xfrm>
              <a:off x="1079" y="125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370" name="Rectangle 35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1" name="Rectangle 35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72" name="Rectangle 35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3" name="Rectangle 35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74" name="Rectangle 35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5" name="Rectangle 36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76" name="Rectangle 36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Rectangle 36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78" name="Rectangle 36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Rectangle 36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80" name="Rectangle 36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1" name="Rectangle 36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82" name="Rectangle 36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Rectangle 36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84" name="Rectangle 36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Rectangle 37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386" name="Rectangle 37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7" name="Rectangle 37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388" name="Rectangle 37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Rectangle 37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390" name="Rectangle 375"/>
            <p:cNvSpPr>
              <a:spLocks noChangeArrowheads="1"/>
            </p:cNvSpPr>
            <p:nvPr/>
          </p:nvSpPr>
          <p:spPr bwMode="auto">
            <a:xfrm>
              <a:off x="519" y="140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Rectangle 376"/>
            <p:cNvSpPr>
              <a:spLocks noChangeArrowheads="1"/>
            </p:cNvSpPr>
            <p:nvPr/>
          </p:nvSpPr>
          <p:spPr bwMode="auto">
            <a:xfrm>
              <a:off x="641" y="1446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392" name="Rectangle 377"/>
            <p:cNvSpPr>
              <a:spLocks noChangeArrowheads="1"/>
            </p:cNvSpPr>
            <p:nvPr/>
          </p:nvSpPr>
          <p:spPr bwMode="auto">
            <a:xfrm>
              <a:off x="1077" y="1446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393" name="Rectangle 378"/>
            <p:cNvSpPr>
              <a:spLocks noChangeArrowheads="1"/>
            </p:cNvSpPr>
            <p:nvPr/>
          </p:nvSpPr>
          <p:spPr bwMode="auto">
            <a:xfrm>
              <a:off x="1414" y="1446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394" name="Rectangle 379"/>
            <p:cNvSpPr>
              <a:spLocks noChangeArrowheads="1"/>
            </p:cNvSpPr>
            <p:nvPr/>
          </p:nvSpPr>
          <p:spPr bwMode="auto">
            <a:xfrm>
              <a:off x="1480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395" name="Rectangle 380"/>
            <p:cNvSpPr>
              <a:spLocks noChangeArrowheads="1"/>
            </p:cNvSpPr>
            <p:nvPr/>
          </p:nvSpPr>
          <p:spPr bwMode="auto">
            <a:xfrm>
              <a:off x="1682" y="1446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396" name="Rectangle 381"/>
            <p:cNvSpPr>
              <a:spLocks noChangeArrowheads="1"/>
            </p:cNvSpPr>
            <p:nvPr/>
          </p:nvSpPr>
          <p:spPr bwMode="auto">
            <a:xfrm>
              <a:off x="1815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397" name="Rectangle 38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Rectangle 38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399" name="Rectangle 38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" name="Rectangle 38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01" name="Rectangle 38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2" name="Rectangle 38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03" name="Rectangle 38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4" name="Rectangle 38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05" name="Rectangle 39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6" name="Rectangle 39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07" name="Rectangle 39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8" name="Rectangle 39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09" name="Rectangle 39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" name="Rectangle 39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11" name="Rectangle 39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" name="Rectangle 39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13" name="Rectangle 39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" name="Rectangle 39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15" name="Rectangle 40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" name="Rectangle 40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17" name="Rectangle 402"/>
            <p:cNvSpPr>
              <a:spLocks noChangeArrowheads="1"/>
            </p:cNvSpPr>
            <p:nvPr/>
          </p:nvSpPr>
          <p:spPr bwMode="auto">
            <a:xfrm>
              <a:off x="519" y="159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8" name="Rectangle 403"/>
            <p:cNvSpPr>
              <a:spLocks noChangeArrowheads="1"/>
            </p:cNvSpPr>
            <p:nvPr/>
          </p:nvSpPr>
          <p:spPr bwMode="auto">
            <a:xfrm>
              <a:off x="605" y="1638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0x018: halt</a:t>
              </a:r>
              <a:endParaRPr lang="en-US" dirty="0"/>
            </a:p>
          </p:txBody>
        </p:sp>
        <p:sp>
          <p:nvSpPr>
            <p:cNvPr id="419" name="Rectangle 40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" name="Rectangle 40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1" name="Rectangle 40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2" name="Rectangle 40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3" name="Rectangle 40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" name="Rectangle 40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" name="Rectangle 41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" name="Rectangle 41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" name="Rectangle 41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8" name="Rectangle 41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9" name="Rectangle 41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Rectangle 41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31" name="Rectangle 41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2" name="Rectangle 41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33" name="Rectangle 41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4" name="Rectangle 41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35" name="Rectangle 42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Rectangle 42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37" name="Rectangle 42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8" name="Rectangle 42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39" name="Line 424"/>
            <p:cNvSpPr>
              <a:spLocks noChangeShapeType="1"/>
            </p:cNvSpPr>
            <p:nvPr/>
          </p:nvSpPr>
          <p:spPr bwMode="auto">
            <a:xfrm flipH="1">
              <a:off x="3303" y="1791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" name="Line 425"/>
            <p:cNvSpPr>
              <a:spLocks noChangeShapeType="1"/>
            </p:cNvSpPr>
            <p:nvPr/>
          </p:nvSpPr>
          <p:spPr bwMode="auto">
            <a:xfrm>
              <a:off x="4071" y="1791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" name="Rectangle 426"/>
            <p:cNvSpPr>
              <a:spLocks noChangeArrowheads="1"/>
            </p:cNvSpPr>
            <p:nvPr/>
          </p:nvSpPr>
          <p:spPr bwMode="auto">
            <a:xfrm>
              <a:off x="493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2" name="Rectangle 427"/>
            <p:cNvSpPr>
              <a:spLocks noChangeArrowheads="1"/>
            </p:cNvSpPr>
            <p:nvPr/>
          </p:nvSpPr>
          <p:spPr bwMode="auto">
            <a:xfrm>
              <a:off x="5047" y="443"/>
              <a:ext cx="106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43" name="Rectangle 428"/>
            <p:cNvSpPr>
              <a:spLocks noChangeArrowheads="1"/>
            </p:cNvSpPr>
            <p:nvPr/>
          </p:nvSpPr>
          <p:spPr bwMode="auto">
            <a:xfrm>
              <a:off x="519" y="44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4" name="Rectangle 429"/>
            <p:cNvSpPr>
              <a:spLocks noChangeArrowheads="1"/>
            </p:cNvSpPr>
            <p:nvPr/>
          </p:nvSpPr>
          <p:spPr bwMode="auto">
            <a:xfrm>
              <a:off x="610" y="481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demo-h2.ys</a:t>
              </a:r>
              <a:endParaRPr lang="en-US"/>
            </a:p>
          </p:txBody>
        </p:sp>
        <p:grpSp>
          <p:nvGrpSpPr>
            <p:cNvPr id="445" name="Group 439"/>
            <p:cNvGrpSpPr>
              <a:grpSpLocks/>
            </p:cNvGrpSpPr>
            <p:nvPr/>
          </p:nvGrpSpPr>
          <p:grpSpPr bwMode="auto">
            <a:xfrm>
              <a:off x="3303" y="2271"/>
              <a:ext cx="1201" cy="625"/>
              <a:chOff x="3303" y="2271"/>
              <a:chExt cx="1201" cy="625"/>
            </a:xfrm>
          </p:grpSpPr>
          <p:sp>
            <p:nvSpPr>
              <p:cNvPr id="538" name="Rectangle 430"/>
              <p:cNvSpPr>
                <a:spLocks noChangeArrowheads="1"/>
              </p:cNvSpPr>
              <p:nvPr/>
            </p:nvSpPr>
            <p:spPr bwMode="auto">
              <a:xfrm>
                <a:off x="3303" y="2271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Rectangle 431"/>
              <p:cNvSpPr>
                <a:spLocks noChangeArrowheads="1"/>
              </p:cNvSpPr>
              <p:nvPr/>
            </p:nvSpPr>
            <p:spPr bwMode="auto">
              <a:xfrm>
                <a:off x="3868" y="2312"/>
                <a:ext cx="12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540" name="Rectangle 432"/>
              <p:cNvSpPr>
                <a:spLocks noChangeArrowheads="1"/>
              </p:cNvSpPr>
              <p:nvPr/>
            </p:nvSpPr>
            <p:spPr bwMode="auto">
              <a:xfrm>
                <a:off x="3303" y="2511"/>
                <a:ext cx="1201" cy="19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Rectangle 433"/>
              <p:cNvSpPr>
                <a:spLocks noChangeArrowheads="1"/>
              </p:cNvSpPr>
              <p:nvPr/>
            </p:nvSpPr>
            <p:spPr bwMode="auto">
              <a:xfrm>
                <a:off x="3389" y="254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542" name="Rectangle 434"/>
              <p:cNvSpPr>
                <a:spLocks noChangeArrowheads="1"/>
              </p:cNvSpPr>
              <p:nvPr/>
            </p:nvSpPr>
            <p:spPr bwMode="auto">
              <a:xfrm>
                <a:off x="3510" y="255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543" name="Rectangle 435"/>
              <p:cNvSpPr>
                <a:spLocks noChangeArrowheads="1"/>
              </p:cNvSpPr>
              <p:nvPr/>
            </p:nvSpPr>
            <p:spPr bwMode="auto">
              <a:xfrm>
                <a:off x="3576" y="255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544" name="Rectangle 436"/>
              <p:cNvSpPr>
                <a:spLocks noChangeArrowheads="1"/>
              </p:cNvSpPr>
              <p:nvPr/>
            </p:nvSpPr>
            <p:spPr bwMode="auto">
              <a:xfrm>
                <a:off x="3769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545" name="Rectangle 437"/>
              <p:cNvSpPr>
                <a:spLocks noChangeArrowheads="1"/>
              </p:cNvSpPr>
              <p:nvPr/>
            </p:nvSpPr>
            <p:spPr bwMode="auto">
              <a:xfrm>
                <a:off x="3850" y="253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546" name="Rectangle 438"/>
              <p:cNvSpPr>
                <a:spLocks noChangeArrowheads="1"/>
              </p:cNvSpPr>
              <p:nvPr/>
            </p:nvSpPr>
            <p:spPr bwMode="auto">
              <a:xfrm>
                <a:off x="3962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</p:grpSp>
        <p:grpSp>
          <p:nvGrpSpPr>
            <p:cNvPr id="446" name="Group 459"/>
            <p:cNvGrpSpPr>
              <a:grpSpLocks/>
            </p:cNvGrpSpPr>
            <p:nvPr/>
          </p:nvGrpSpPr>
          <p:grpSpPr bwMode="auto">
            <a:xfrm>
              <a:off x="3303" y="3279"/>
              <a:ext cx="1201" cy="625"/>
              <a:chOff x="3303" y="3279"/>
              <a:chExt cx="1201" cy="625"/>
            </a:xfrm>
          </p:grpSpPr>
          <p:sp>
            <p:nvSpPr>
              <p:cNvPr id="519" name="Rectangle 440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Rectangle 441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521" name="Rectangle 442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Rectangle 443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523" name="Rectangle 444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524" name="Rectangle 445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525" name="Rectangle 446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526" name="Rectangle 447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527" name="Rectangle 448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528" name="Rectangle 449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529" name="Rectangle 450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530" name="Rectangle 451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531" name="Rectangle 452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532" name="Rectangle 453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533" name="Rectangle 454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534" name="Rectangle 455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535" name="Rectangle 456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536" name="Rectangle 457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537" name="Rectangle 458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</p:grpSp>
        <p:sp>
          <p:nvSpPr>
            <p:cNvPr id="447" name="Rectangle 460"/>
            <p:cNvSpPr>
              <a:spLocks noChangeArrowheads="1"/>
            </p:cNvSpPr>
            <p:nvPr/>
          </p:nvSpPr>
          <p:spPr bwMode="auto">
            <a:xfrm>
              <a:off x="3831" y="2895"/>
              <a:ext cx="16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" name="Rectangle 461"/>
            <p:cNvSpPr>
              <a:spLocks noChangeArrowheads="1"/>
            </p:cNvSpPr>
            <p:nvPr/>
          </p:nvSpPr>
          <p:spPr bwMode="auto">
            <a:xfrm>
              <a:off x="3917" y="2896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49" name="Rectangle 462"/>
            <p:cNvSpPr>
              <a:spLocks noChangeArrowheads="1"/>
            </p:cNvSpPr>
            <p:nvPr/>
          </p:nvSpPr>
          <p:spPr bwMode="auto">
            <a:xfrm>
              <a:off x="3917" y="3004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50" name="Rectangle 463"/>
            <p:cNvSpPr>
              <a:spLocks noChangeArrowheads="1"/>
            </p:cNvSpPr>
            <p:nvPr/>
          </p:nvSpPr>
          <p:spPr bwMode="auto">
            <a:xfrm>
              <a:off x="3917" y="3112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51" name="Rectangle 464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2" name="Rectangle 465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53" name="Rectangle 466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4" name="Rectangle 467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55" name="Rectangle 468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56" name="Rectangle 469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57" name="Rectangle 470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58" name="Rectangle 471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59" name="Rectangle 472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60" name="Rectangle 473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" name="Rectangle 474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" name="Rectangle 475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" name="Rectangle 476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64" name="Rectangle 477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5" name="Rectangle 478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6" name="Rectangle 479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67" name="Rectangle 480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68" name="Rectangle 481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grpSp>
          <p:nvGrpSpPr>
            <p:cNvPr id="469" name="Group 531"/>
            <p:cNvGrpSpPr>
              <a:grpSpLocks/>
            </p:cNvGrpSpPr>
            <p:nvPr/>
          </p:nvGrpSpPr>
          <p:grpSpPr bwMode="auto">
            <a:xfrm>
              <a:off x="3303" y="2031"/>
              <a:ext cx="1709" cy="1873"/>
              <a:chOff x="3303" y="2031"/>
              <a:chExt cx="1709" cy="1873"/>
            </a:xfrm>
          </p:grpSpPr>
          <p:sp>
            <p:nvSpPr>
              <p:cNvPr id="470" name="Rectangle 482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Rectangle 483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72" name="Rectangle 484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Rectangle 485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74" name="Rectangle 486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75" name="Rectangle 487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76" name="Rectangle 488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77" name="Rectangle 489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78" name="Rectangle 490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79" name="Rectangle 491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80" name="Rectangle 492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81" name="Rectangle 493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82" name="Rectangle 494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83" name="Rectangle 495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84" name="Rectangle 496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85" name="Rectangle 497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86" name="Rectangle 498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87" name="Rectangle 499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88" name="Rectangle 500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89" name="Rectangle 501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Rectangle 502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91" name="Rectangle 503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" name="Rectangle 504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93" name="Rectangle 505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94" name="Rectangle 506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95" name="Rectangle 507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96" name="Rectangle 508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97" name="Rectangle 509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98" name="Rectangle 510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99" name="Rectangle 511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500" name="Rectangle 512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501" name="Rectangle 513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502" name="Rectangle 514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503" name="Rectangle 515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504" name="Rectangle 516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505" name="Rectangle 517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506" name="Rectangle 518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507" name="Rectangle 519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508" name="Rectangle 520"/>
              <p:cNvSpPr>
                <a:spLocks noChangeArrowheads="1"/>
              </p:cNvSpPr>
              <p:nvPr/>
            </p:nvSpPr>
            <p:spPr bwMode="auto">
              <a:xfrm>
                <a:off x="3831" y="2895"/>
                <a:ext cx="162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Rectangle 521"/>
              <p:cNvSpPr>
                <a:spLocks noChangeArrowheads="1"/>
              </p:cNvSpPr>
              <p:nvPr/>
            </p:nvSpPr>
            <p:spPr bwMode="auto">
              <a:xfrm>
                <a:off x="3917" y="2896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510" name="Rectangle 522"/>
              <p:cNvSpPr>
                <a:spLocks noChangeArrowheads="1"/>
              </p:cNvSpPr>
              <p:nvPr/>
            </p:nvSpPr>
            <p:spPr bwMode="auto">
              <a:xfrm>
                <a:off x="3917" y="3004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511" name="Rectangle 523"/>
              <p:cNvSpPr>
                <a:spLocks noChangeArrowheads="1"/>
              </p:cNvSpPr>
              <p:nvPr/>
            </p:nvSpPr>
            <p:spPr bwMode="auto">
              <a:xfrm>
                <a:off x="3917" y="3112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512" name="Rectangle 524"/>
              <p:cNvSpPr>
                <a:spLocks noChangeArrowheads="1"/>
              </p:cNvSpPr>
              <p:nvPr/>
            </p:nvSpPr>
            <p:spPr bwMode="auto">
              <a:xfrm>
                <a:off x="3303" y="2031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Rectangle 525"/>
              <p:cNvSpPr>
                <a:spLocks noChangeArrowheads="1"/>
              </p:cNvSpPr>
              <p:nvPr/>
            </p:nvSpPr>
            <p:spPr bwMode="auto">
              <a:xfrm>
                <a:off x="3719" y="2069"/>
                <a:ext cx="423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6</a:t>
                </a:r>
                <a:endParaRPr lang="en-US"/>
              </a:p>
            </p:txBody>
          </p:sp>
          <p:grpSp>
            <p:nvGrpSpPr>
              <p:cNvPr id="514" name="Group 528"/>
              <p:cNvGrpSpPr>
                <a:grpSpLocks/>
              </p:cNvGrpSpPr>
              <p:nvPr/>
            </p:nvGrpSpPr>
            <p:grpSpPr bwMode="auto">
              <a:xfrm>
                <a:off x="4359" y="3615"/>
                <a:ext cx="336" cy="109"/>
                <a:chOff x="4359" y="3615"/>
                <a:chExt cx="336" cy="109"/>
              </a:xfrm>
            </p:grpSpPr>
            <p:sp>
              <p:nvSpPr>
                <p:cNvPr id="517" name="Line 526"/>
                <p:cNvSpPr>
                  <a:spLocks noChangeShapeType="1"/>
                </p:cNvSpPr>
                <p:nvPr/>
              </p:nvSpPr>
              <p:spPr bwMode="auto">
                <a:xfrm flipH="1">
                  <a:off x="4417" y="3615"/>
                  <a:ext cx="278" cy="7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8" name="Freeform 527"/>
                <p:cNvSpPr>
                  <a:spLocks/>
                </p:cNvSpPr>
                <p:nvPr/>
              </p:nvSpPr>
              <p:spPr bwMode="auto">
                <a:xfrm>
                  <a:off x="4359" y="3664"/>
                  <a:ext cx="69" cy="60"/>
                </a:xfrm>
                <a:custGeom>
                  <a:avLst/>
                  <a:gdLst/>
                  <a:ahLst/>
                  <a:cxnLst>
                    <a:cxn ang="0">
                      <a:pos x="52" y="0"/>
                    </a:cxn>
                    <a:cxn ang="0">
                      <a:pos x="0" y="47"/>
                    </a:cxn>
                    <a:cxn ang="0">
                      <a:pos x="69" y="60"/>
                    </a:cxn>
                    <a:cxn ang="0">
                      <a:pos x="52" y="0"/>
                    </a:cxn>
                  </a:cxnLst>
                  <a:rect l="0" t="0" r="r" b="b"/>
                  <a:pathLst>
                    <a:path w="69" h="60">
                      <a:moveTo>
                        <a:pt x="52" y="0"/>
                      </a:moveTo>
                      <a:lnTo>
                        <a:pt x="0" y="47"/>
                      </a:lnTo>
                      <a:lnTo>
                        <a:pt x="69" y="60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15" name="Rectangle 529"/>
              <p:cNvSpPr>
                <a:spLocks noChangeArrowheads="1"/>
              </p:cNvSpPr>
              <p:nvPr/>
            </p:nvSpPr>
            <p:spPr bwMode="auto">
              <a:xfrm>
                <a:off x="4647" y="3519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Rectangle 530"/>
              <p:cNvSpPr>
                <a:spLocks noChangeArrowheads="1"/>
              </p:cNvSpPr>
              <p:nvPr/>
            </p:nvSpPr>
            <p:spPr bwMode="auto">
              <a:xfrm>
                <a:off x="4729" y="3555"/>
                <a:ext cx="248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i="1">
                    <a:solidFill>
                      <a:srgbClr val="000000"/>
                    </a:solidFill>
                  </a:rPr>
                  <a:t>Error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879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704263" cy="779463"/>
          </a:xfrm>
        </p:spPr>
        <p:txBody>
          <a:bodyPr/>
          <a:lstStyle/>
          <a:p>
            <a:r>
              <a:rPr lang="en-US"/>
              <a:t>Data Dependencies: No Nop</a:t>
            </a:r>
          </a:p>
        </p:txBody>
      </p:sp>
      <p:grpSp>
        <p:nvGrpSpPr>
          <p:cNvPr id="155" name="Group 412"/>
          <p:cNvGrpSpPr>
            <a:grpSpLocks/>
          </p:cNvGrpSpPr>
          <p:nvPr/>
        </p:nvGrpSpPr>
        <p:grpSpPr bwMode="auto">
          <a:xfrm>
            <a:off x="1281113" y="747713"/>
            <a:ext cx="6554787" cy="5335587"/>
            <a:chOff x="807" y="471"/>
            <a:chExt cx="4129" cy="3361"/>
          </a:xfrm>
        </p:grpSpPr>
        <p:sp>
          <p:nvSpPr>
            <p:cNvPr id="156" name="Rectangle 261"/>
            <p:cNvSpPr>
              <a:spLocks noChangeArrowheads="1"/>
            </p:cNvSpPr>
            <p:nvPr/>
          </p:nvSpPr>
          <p:spPr bwMode="auto">
            <a:xfrm>
              <a:off x="807" y="71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Rectangle 262"/>
            <p:cNvSpPr>
              <a:spLocks noChangeArrowheads="1"/>
            </p:cNvSpPr>
            <p:nvPr/>
          </p:nvSpPr>
          <p:spPr bwMode="auto">
            <a:xfrm>
              <a:off x="865" y="750"/>
              <a:ext cx="536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158" name="Rectangle 263"/>
            <p:cNvSpPr>
              <a:spLocks noChangeArrowheads="1"/>
            </p:cNvSpPr>
            <p:nvPr/>
          </p:nvSpPr>
          <p:spPr bwMode="auto">
            <a:xfrm>
              <a:off x="1398" y="75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59" name="Rectangle 264"/>
            <p:cNvSpPr>
              <a:spLocks noChangeArrowheads="1"/>
            </p:cNvSpPr>
            <p:nvPr/>
          </p:nvSpPr>
          <p:spPr bwMode="auto">
            <a:xfrm>
              <a:off x="1803" y="750"/>
              <a:ext cx="40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160" name="Rectangle 265"/>
            <p:cNvSpPr>
              <a:spLocks noChangeArrowheads="1"/>
            </p:cNvSpPr>
            <p:nvPr/>
          </p:nvSpPr>
          <p:spPr bwMode="auto">
            <a:xfrm>
              <a:off x="2170" y="75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161" name="Rectangle 266"/>
            <p:cNvSpPr>
              <a:spLocks noChangeArrowheads="1"/>
            </p:cNvSpPr>
            <p:nvPr/>
          </p:nvSpPr>
          <p:spPr bwMode="auto">
            <a:xfrm>
              <a:off x="2631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Rectangle 267"/>
            <p:cNvSpPr>
              <a:spLocks noChangeArrowheads="1"/>
            </p:cNvSpPr>
            <p:nvPr/>
          </p:nvSpPr>
          <p:spPr bwMode="auto">
            <a:xfrm>
              <a:off x="2748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163" name="Rectangle 268"/>
            <p:cNvSpPr>
              <a:spLocks noChangeArrowheads="1"/>
            </p:cNvSpPr>
            <p:nvPr/>
          </p:nvSpPr>
          <p:spPr bwMode="auto">
            <a:xfrm>
              <a:off x="2919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Rectangle 269"/>
            <p:cNvSpPr>
              <a:spLocks noChangeArrowheads="1"/>
            </p:cNvSpPr>
            <p:nvPr/>
          </p:nvSpPr>
          <p:spPr bwMode="auto">
            <a:xfrm>
              <a:off x="3036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165" name="Rectangle 270"/>
            <p:cNvSpPr>
              <a:spLocks noChangeArrowheads="1"/>
            </p:cNvSpPr>
            <p:nvPr/>
          </p:nvSpPr>
          <p:spPr bwMode="auto">
            <a:xfrm>
              <a:off x="3207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Rectangle 271"/>
            <p:cNvSpPr>
              <a:spLocks noChangeArrowheads="1"/>
            </p:cNvSpPr>
            <p:nvPr/>
          </p:nvSpPr>
          <p:spPr bwMode="auto">
            <a:xfrm>
              <a:off x="3324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167" name="Rectangle 272"/>
            <p:cNvSpPr>
              <a:spLocks noChangeArrowheads="1"/>
            </p:cNvSpPr>
            <p:nvPr/>
          </p:nvSpPr>
          <p:spPr bwMode="auto">
            <a:xfrm>
              <a:off x="3495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Rectangle 273"/>
            <p:cNvSpPr>
              <a:spLocks noChangeArrowheads="1"/>
            </p:cNvSpPr>
            <p:nvPr/>
          </p:nvSpPr>
          <p:spPr bwMode="auto">
            <a:xfrm>
              <a:off x="3612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169" name="Rectangle 274"/>
            <p:cNvSpPr>
              <a:spLocks noChangeArrowheads="1"/>
            </p:cNvSpPr>
            <p:nvPr/>
          </p:nvSpPr>
          <p:spPr bwMode="auto">
            <a:xfrm>
              <a:off x="3783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Rectangle 275"/>
            <p:cNvSpPr>
              <a:spLocks noChangeArrowheads="1"/>
            </p:cNvSpPr>
            <p:nvPr/>
          </p:nvSpPr>
          <p:spPr bwMode="auto">
            <a:xfrm>
              <a:off x="3900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171" name="Rectangle 276"/>
            <p:cNvSpPr>
              <a:spLocks noChangeArrowheads="1"/>
            </p:cNvSpPr>
            <p:nvPr/>
          </p:nvSpPr>
          <p:spPr bwMode="auto">
            <a:xfrm>
              <a:off x="4071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Rectangle 277"/>
            <p:cNvSpPr>
              <a:spLocks noChangeArrowheads="1"/>
            </p:cNvSpPr>
            <p:nvPr/>
          </p:nvSpPr>
          <p:spPr bwMode="auto">
            <a:xfrm>
              <a:off x="4188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173" name="Rectangle 278"/>
            <p:cNvSpPr>
              <a:spLocks noChangeArrowheads="1"/>
            </p:cNvSpPr>
            <p:nvPr/>
          </p:nvSpPr>
          <p:spPr bwMode="auto">
            <a:xfrm>
              <a:off x="4359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Rectangle 279"/>
            <p:cNvSpPr>
              <a:spLocks noChangeArrowheads="1"/>
            </p:cNvSpPr>
            <p:nvPr/>
          </p:nvSpPr>
          <p:spPr bwMode="auto">
            <a:xfrm>
              <a:off x="4476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175" name="Rectangle 280"/>
            <p:cNvSpPr>
              <a:spLocks noChangeArrowheads="1"/>
            </p:cNvSpPr>
            <p:nvPr/>
          </p:nvSpPr>
          <p:spPr bwMode="auto">
            <a:xfrm>
              <a:off x="4647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Rectangle 281"/>
            <p:cNvSpPr>
              <a:spLocks noChangeArrowheads="1"/>
            </p:cNvSpPr>
            <p:nvPr/>
          </p:nvSpPr>
          <p:spPr bwMode="auto">
            <a:xfrm>
              <a:off x="4764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177" name="Rectangle 282"/>
            <p:cNvSpPr>
              <a:spLocks noChangeArrowheads="1"/>
            </p:cNvSpPr>
            <p:nvPr/>
          </p:nvSpPr>
          <p:spPr bwMode="auto">
            <a:xfrm>
              <a:off x="2631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Rectangle 283"/>
            <p:cNvSpPr>
              <a:spLocks noChangeArrowheads="1"/>
            </p:cNvSpPr>
            <p:nvPr/>
          </p:nvSpPr>
          <p:spPr bwMode="auto">
            <a:xfrm>
              <a:off x="2736" y="739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179" name="Rectangle 284"/>
            <p:cNvSpPr>
              <a:spLocks noChangeArrowheads="1"/>
            </p:cNvSpPr>
            <p:nvPr/>
          </p:nvSpPr>
          <p:spPr bwMode="auto">
            <a:xfrm>
              <a:off x="2919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Rectangle 285"/>
            <p:cNvSpPr>
              <a:spLocks noChangeArrowheads="1"/>
            </p:cNvSpPr>
            <p:nvPr/>
          </p:nvSpPr>
          <p:spPr bwMode="auto">
            <a:xfrm>
              <a:off x="3017" y="739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181" name="Rectangle 286"/>
            <p:cNvSpPr>
              <a:spLocks noChangeArrowheads="1"/>
            </p:cNvSpPr>
            <p:nvPr/>
          </p:nvSpPr>
          <p:spPr bwMode="auto">
            <a:xfrm>
              <a:off x="3207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Rectangle 287"/>
            <p:cNvSpPr>
              <a:spLocks noChangeArrowheads="1"/>
            </p:cNvSpPr>
            <p:nvPr/>
          </p:nvSpPr>
          <p:spPr bwMode="auto">
            <a:xfrm>
              <a:off x="3308" y="739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183" name="Rectangle 288"/>
            <p:cNvSpPr>
              <a:spLocks noChangeArrowheads="1"/>
            </p:cNvSpPr>
            <p:nvPr/>
          </p:nvSpPr>
          <p:spPr bwMode="auto">
            <a:xfrm>
              <a:off x="3495" y="71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Rectangle 289"/>
            <p:cNvSpPr>
              <a:spLocks noChangeArrowheads="1"/>
            </p:cNvSpPr>
            <p:nvPr/>
          </p:nvSpPr>
          <p:spPr bwMode="auto">
            <a:xfrm>
              <a:off x="3585" y="739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185" name="Rectangle 290"/>
            <p:cNvSpPr>
              <a:spLocks noChangeArrowheads="1"/>
            </p:cNvSpPr>
            <p:nvPr/>
          </p:nvSpPr>
          <p:spPr bwMode="auto">
            <a:xfrm>
              <a:off x="4071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Rectangle 291"/>
            <p:cNvSpPr>
              <a:spLocks noChangeArrowheads="1"/>
            </p:cNvSpPr>
            <p:nvPr/>
          </p:nvSpPr>
          <p:spPr bwMode="auto">
            <a:xfrm>
              <a:off x="4152" y="931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187" name="Rectangle 292"/>
            <p:cNvSpPr>
              <a:spLocks noChangeArrowheads="1"/>
            </p:cNvSpPr>
            <p:nvPr/>
          </p:nvSpPr>
          <p:spPr bwMode="auto">
            <a:xfrm>
              <a:off x="807" y="90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Rectangle 293"/>
            <p:cNvSpPr>
              <a:spLocks noChangeArrowheads="1"/>
            </p:cNvSpPr>
            <p:nvPr/>
          </p:nvSpPr>
          <p:spPr bwMode="auto">
            <a:xfrm>
              <a:off x="929" y="94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189" name="Rectangle 294"/>
            <p:cNvSpPr>
              <a:spLocks noChangeArrowheads="1"/>
            </p:cNvSpPr>
            <p:nvPr/>
          </p:nvSpPr>
          <p:spPr bwMode="auto">
            <a:xfrm>
              <a:off x="1398" y="94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90" name="Rectangle 295"/>
            <p:cNvSpPr>
              <a:spLocks noChangeArrowheads="1"/>
            </p:cNvSpPr>
            <p:nvPr/>
          </p:nvSpPr>
          <p:spPr bwMode="auto">
            <a:xfrm>
              <a:off x="1870" y="942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191" name="Rectangle 296"/>
            <p:cNvSpPr>
              <a:spLocks noChangeArrowheads="1"/>
            </p:cNvSpPr>
            <p:nvPr/>
          </p:nvSpPr>
          <p:spPr bwMode="auto">
            <a:xfrm>
              <a:off x="2170" y="94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192" name="Rectangle 297"/>
            <p:cNvSpPr>
              <a:spLocks noChangeArrowheads="1"/>
            </p:cNvSpPr>
            <p:nvPr/>
          </p:nvSpPr>
          <p:spPr bwMode="auto">
            <a:xfrm>
              <a:off x="2919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Rectangle 298"/>
            <p:cNvSpPr>
              <a:spLocks noChangeArrowheads="1"/>
            </p:cNvSpPr>
            <p:nvPr/>
          </p:nvSpPr>
          <p:spPr bwMode="auto">
            <a:xfrm>
              <a:off x="3024" y="931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194" name="Rectangle 299"/>
            <p:cNvSpPr>
              <a:spLocks noChangeArrowheads="1"/>
            </p:cNvSpPr>
            <p:nvPr/>
          </p:nvSpPr>
          <p:spPr bwMode="auto">
            <a:xfrm>
              <a:off x="3207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Rectangle 300"/>
            <p:cNvSpPr>
              <a:spLocks noChangeArrowheads="1"/>
            </p:cNvSpPr>
            <p:nvPr/>
          </p:nvSpPr>
          <p:spPr bwMode="auto">
            <a:xfrm>
              <a:off x="3305" y="93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196" name="Rectangle 301"/>
            <p:cNvSpPr>
              <a:spLocks noChangeArrowheads="1"/>
            </p:cNvSpPr>
            <p:nvPr/>
          </p:nvSpPr>
          <p:spPr bwMode="auto">
            <a:xfrm>
              <a:off x="3495" y="90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Rectangle 302"/>
            <p:cNvSpPr>
              <a:spLocks noChangeArrowheads="1"/>
            </p:cNvSpPr>
            <p:nvPr/>
          </p:nvSpPr>
          <p:spPr bwMode="auto">
            <a:xfrm>
              <a:off x="3596" y="931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198" name="Rectangle 303"/>
            <p:cNvSpPr>
              <a:spLocks noChangeArrowheads="1"/>
            </p:cNvSpPr>
            <p:nvPr/>
          </p:nvSpPr>
          <p:spPr bwMode="auto">
            <a:xfrm>
              <a:off x="3783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Rectangle 304"/>
            <p:cNvSpPr>
              <a:spLocks noChangeArrowheads="1"/>
            </p:cNvSpPr>
            <p:nvPr/>
          </p:nvSpPr>
          <p:spPr bwMode="auto">
            <a:xfrm>
              <a:off x="3873" y="931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200" name="Rectangle 305"/>
            <p:cNvSpPr>
              <a:spLocks noChangeArrowheads="1"/>
            </p:cNvSpPr>
            <p:nvPr/>
          </p:nvSpPr>
          <p:spPr bwMode="auto">
            <a:xfrm>
              <a:off x="3783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Rectangle 306"/>
            <p:cNvSpPr>
              <a:spLocks noChangeArrowheads="1"/>
            </p:cNvSpPr>
            <p:nvPr/>
          </p:nvSpPr>
          <p:spPr bwMode="auto">
            <a:xfrm>
              <a:off x="3864" y="739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202" name="Rectangle 307"/>
            <p:cNvSpPr>
              <a:spLocks noChangeArrowheads="1"/>
            </p:cNvSpPr>
            <p:nvPr/>
          </p:nvSpPr>
          <p:spPr bwMode="auto">
            <a:xfrm>
              <a:off x="3207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Rectangle 308"/>
            <p:cNvSpPr>
              <a:spLocks noChangeArrowheads="1"/>
            </p:cNvSpPr>
            <p:nvPr/>
          </p:nvSpPr>
          <p:spPr bwMode="auto">
            <a:xfrm>
              <a:off x="3312" y="1123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204" name="Rectangle 309"/>
            <p:cNvSpPr>
              <a:spLocks noChangeArrowheads="1"/>
            </p:cNvSpPr>
            <p:nvPr/>
          </p:nvSpPr>
          <p:spPr bwMode="auto">
            <a:xfrm>
              <a:off x="3495" y="109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Rectangle 310"/>
            <p:cNvSpPr>
              <a:spLocks noChangeArrowheads="1"/>
            </p:cNvSpPr>
            <p:nvPr/>
          </p:nvSpPr>
          <p:spPr bwMode="auto">
            <a:xfrm>
              <a:off x="3593" y="1123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206" name="Rectangle 311"/>
            <p:cNvSpPr>
              <a:spLocks noChangeArrowheads="1"/>
            </p:cNvSpPr>
            <p:nvPr/>
          </p:nvSpPr>
          <p:spPr bwMode="auto">
            <a:xfrm>
              <a:off x="3783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Rectangle 312"/>
            <p:cNvSpPr>
              <a:spLocks noChangeArrowheads="1"/>
            </p:cNvSpPr>
            <p:nvPr/>
          </p:nvSpPr>
          <p:spPr bwMode="auto">
            <a:xfrm>
              <a:off x="3884" y="1123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208" name="Rectangle 313"/>
            <p:cNvSpPr>
              <a:spLocks noChangeArrowheads="1"/>
            </p:cNvSpPr>
            <p:nvPr/>
          </p:nvSpPr>
          <p:spPr bwMode="auto">
            <a:xfrm>
              <a:off x="4071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Rectangle 314"/>
            <p:cNvSpPr>
              <a:spLocks noChangeArrowheads="1"/>
            </p:cNvSpPr>
            <p:nvPr/>
          </p:nvSpPr>
          <p:spPr bwMode="auto">
            <a:xfrm>
              <a:off x="4161" y="1123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210" name="Rectangle 315"/>
            <p:cNvSpPr>
              <a:spLocks noChangeArrowheads="1"/>
            </p:cNvSpPr>
            <p:nvPr/>
          </p:nvSpPr>
          <p:spPr bwMode="auto">
            <a:xfrm>
              <a:off x="4359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Rectangle 316"/>
            <p:cNvSpPr>
              <a:spLocks noChangeArrowheads="1"/>
            </p:cNvSpPr>
            <p:nvPr/>
          </p:nvSpPr>
          <p:spPr bwMode="auto">
            <a:xfrm>
              <a:off x="4440" y="112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212" name="Rectangle 317"/>
            <p:cNvSpPr>
              <a:spLocks noChangeArrowheads="1"/>
            </p:cNvSpPr>
            <p:nvPr/>
          </p:nvSpPr>
          <p:spPr bwMode="auto">
            <a:xfrm>
              <a:off x="807" y="109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Rectangle 318"/>
            <p:cNvSpPr>
              <a:spLocks noChangeArrowheads="1"/>
            </p:cNvSpPr>
            <p:nvPr/>
          </p:nvSpPr>
          <p:spPr bwMode="auto">
            <a:xfrm>
              <a:off x="929" y="113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214" name="Rectangle 319"/>
            <p:cNvSpPr>
              <a:spLocks noChangeArrowheads="1"/>
            </p:cNvSpPr>
            <p:nvPr/>
          </p:nvSpPr>
          <p:spPr bwMode="auto">
            <a:xfrm>
              <a:off x="1365" y="1134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215" name="Rectangle 320"/>
            <p:cNvSpPr>
              <a:spLocks noChangeArrowheads="1"/>
            </p:cNvSpPr>
            <p:nvPr/>
          </p:nvSpPr>
          <p:spPr bwMode="auto">
            <a:xfrm>
              <a:off x="1669" y="113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216" name="Rectangle 321"/>
            <p:cNvSpPr>
              <a:spLocks noChangeArrowheads="1"/>
            </p:cNvSpPr>
            <p:nvPr/>
          </p:nvSpPr>
          <p:spPr bwMode="auto">
            <a:xfrm>
              <a:off x="1768" y="113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217" name="Rectangle 322"/>
            <p:cNvSpPr>
              <a:spLocks noChangeArrowheads="1"/>
            </p:cNvSpPr>
            <p:nvPr/>
          </p:nvSpPr>
          <p:spPr bwMode="auto">
            <a:xfrm>
              <a:off x="1937" y="1134"/>
              <a:ext cx="20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218" name="Rectangle 323"/>
            <p:cNvSpPr>
              <a:spLocks noChangeArrowheads="1"/>
            </p:cNvSpPr>
            <p:nvPr/>
          </p:nvSpPr>
          <p:spPr bwMode="auto">
            <a:xfrm>
              <a:off x="2103" y="113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219" name="Rectangle 324"/>
            <p:cNvSpPr>
              <a:spLocks noChangeArrowheads="1"/>
            </p:cNvSpPr>
            <p:nvPr/>
          </p:nvSpPr>
          <p:spPr bwMode="auto">
            <a:xfrm>
              <a:off x="3495" y="128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Rectangle 325"/>
            <p:cNvSpPr>
              <a:spLocks noChangeArrowheads="1"/>
            </p:cNvSpPr>
            <p:nvPr/>
          </p:nvSpPr>
          <p:spPr bwMode="auto">
            <a:xfrm>
              <a:off x="3600" y="1315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221" name="Rectangle 326"/>
            <p:cNvSpPr>
              <a:spLocks noChangeArrowheads="1"/>
            </p:cNvSpPr>
            <p:nvPr/>
          </p:nvSpPr>
          <p:spPr bwMode="auto">
            <a:xfrm>
              <a:off x="3783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Rectangle 327"/>
            <p:cNvSpPr>
              <a:spLocks noChangeArrowheads="1"/>
            </p:cNvSpPr>
            <p:nvPr/>
          </p:nvSpPr>
          <p:spPr bwMode="auto">
            <a:xfrm>
              <a:off x="3881" y="1315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223" name="Rectangle 328"/>
            <p:cNvSpPr>
              <a:spLocks noChangeArrowheads="1"/>
            </p:cNvSpPr>
            <p:nvPr/>
          </p:nvSpPr>
          <p:spPr bwMode="auto">
            <a:xfrm>
              <a:off x="4071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Rectangle 329"/>
            <p:cNvSpPr>
              <a:spLocks noChangeArrowheads="1"/>
            </p:cNvSpPr>
            <p:nvPr/>
          </p:nvSpPr>
          <p:spPr bwMode="auto">
            <a:xfrm>
              <a:off x="4172" y="1315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225" name="Rectangle 330"/>
            <p:cNvSpPr>
              <a:spLocks noChangeArrowheads="1"/>
            </p:cNvSpPr>
            <p:nvPr/>
          </p:nvSpPr>
          <p:spPr bwMode="auto">
            <a:xfrm>
              <a:off x="4359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Rectangle 331"/>
            <p:cNvSpPr>
              <a:spLocks noChangeArrowheads="1"/>
            </p:cNvSpPr>
            <p:nvPr/>
          </p:nvSpPr>
          <p:spPr bwMode="auto">
            <a:xfrm>
              <a:off x="4449" y="1315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227" name="Rectangle 332"/>
            <p:cNvSpPr>
              <a:spLocks noChangeArrowheads="1"/>
            </p:cNvSpPr>
            <p:nvPr/>
          </p:nvSpPr>
          <p:spPr bwMode="auto">
            <a:xfrm>
              <a:off x="4647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Rectangle 333"/>
            <p:cNvSpPr>
              <a:spLocks noChangeArrowheads="1"/>
            </p:cNvSpPr>
            <p:nvPr/>
          </p:nvSpPr>
          <p:spPr bwMode="auto">
            <a:xfrm>
              <a:off x="4728" y="1315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229" name="Rectangle 334"/>
            <p:cNvSpPr>
              <a:spLocks noChangeArrowheads="1"/>
            </p:cNvSpPr>
            <p:nvPr/>
          </p:nvSpPr>
          <p:spPr bwMode="auto">
            <a:xfrm>
              <a:off x="807" y="128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Rectangle 335"/>
            <p:cNvSpPr>
              <a:spLocks noChangeArrowheads="1"/>
            </p:cNvSpPr>
            <p:nvPr/>
          </p:nvSpPr>
          <p:spPr bwMode="auto">
            <a:xfrm>
              <a:off x="894" y="1326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0x016: halt</a:t>
              </a:r>
              <a:endParaRPr lang="en-US" dirty="0"/>
            </a:p>
          </p:txBody>
        </p:sp>
        <p:sp>
          <p:nvSpPr>
            <p:cNvPr id="231" name="Rectangle 336"/>
            <p:cNvSpPr>
              <a:spLocks noChangeArrowheads="1"/>
            </p:cNvSpPr>
            <p:nvPr/>
          </p:nvSpPr>
          <p:spPr bwMode="auto">
            <a:xfrm>
              <a:off x="807" y="51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Rectangle 337"/>
            <p:cNvSpPr>
              <a:spLocks noChangeArrowheads="1"/>
            </p:cNvSpPr>
            <p:nvPr/>
          </p:nvSpPr>
          <p:spPr bwMode="auto">
            <a:xfrm>
              <a:off x="898" y="553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demo-h0.ys</a:t>
              </a:r>
              <a:endParaRPr lang="en-US"/>
            </a:p>
          </p:txBody>
        </p:sp>
        <p:sp>
          <p:nvSpPr>
            <p:cNvPr id="233" name="Line 338"/>
            <p:cNvSpPr>
              <a:spLocks noChangeShapeType="1"/>
            </p:cNvSpPr>
            <p:nvPr/>
          </p:nvSpPr>
          <p:spPr bwMode="auto">
            <a:xfrm flipH="1">
              <a:off x="3015" y="1479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Line 339"/>
            <p:cNvSpPr>
              <a:spLocks noChangeShapeType="1"/>
            </p:cNvSpPr>
            <p:nvPr/>
          </p:nvSpPr>
          <p:spPr bwMode="auto">
            <a:xfrm>
              <a:off x="3783" y="1479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Rectangle 340"/>
            <p:cNvSpPr>
              <a:spLocks noChangeArrowheads="1"/>
            </p:cNvSpPr>
            <p:nvPr/>
          </p:nvSpPr>
          <p:spPr bwMode="auto">
            <a:xfrm>
              <a:off x="3015" y="2583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Rectangle 341"/>
            <p:cNvSpPr>
              <a:spLocks noChangeArrowheads="1"/>
            </p:cNvSpPr>
            <p:nvPr/>
          </p:nvSpPr>
          <p:spPr bwMode="auto">
            <a:xfrm>
              <a:off x="3572" y="262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grpSp>
          <p:nvGrpSpPr>
            <p:cNvPr id="237" name="Group 411"/>
            <p:cNvGrpSpPr>
              <a:grpSpLocks/>
            </p:cNvGrpSpPr>
            <p:nvPr/>
          </p:nvGrpSpPr>
          <p:grpSpPr bwMode="auto">
            <a:xfrm>
              <a:off x="3015" y="1719"/>
              <a:ext cx="1729" cy="2113"/>
              <a:chOff x="3015" y="1719"/>
              <a:chExt cx="1729" cy="2113"/>
            </a:xfrm>
          </p:grpSpPr>
          <p:sp>
            <p:nvSpPr>
              <p:cNvPr id="238" name="Rectangle 342"/>
              <p:cNvSpPr>
                <a:spLocks noChangeArrowheads="1"/>
              </p:cNvSpPr>
              <p:nvPr/>
            </p:nvSpPr>
            <p:spPr bwMode="auto">
              <a:xfrm>
                <a:off x="3015" y="320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Rectangle 343"/>
              <p:cNvSpPr>
                <a:spLocks noChangeArrowheads="1"/>
              </p:cNvSpPr>
              <p:nvPr/>
            </p:nvSpPr>
            <p:spPr bwMode="auto">
              <a:xfrm>
                <a:off x="3569" y="32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240" name="Rectangle 344"/>
              <p:cNvSpPr>
                <a:spLocks noChangeArrowheads="1"/>
              </p:cNvSpPr>
              <p:nvPr/>
            </p:nvSpPr>
            <p:spPr bwMode="auto">
              <a:xfrm>
                <a:off x="3015" y="344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Rectangle 345"/>
              <p:cNvSpPr>
                <a:spLocks noChangeArrowheads="1"/>
              </p:cNvSpPr>
              <p:nvPr/>
            </p:nvSpPr>
            <p:spPr bwMode="auto">
              <a:xfrm>
                <a:off x="3101" y="347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242" name="Rectangle 346"/>
              <p:cNvSpPr>
                <a:spLocks noChangeArrowheads="1"/>
              </p:cNvSpPr>
              <p:nvPr/>
            </p:nvSpPr>
            <p:spPr bwMode="auto">
              <a:xfrm>
                <a:off x="3325" y="3475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43" name="Rectangle 347"/>
              <p:cNvSpPr>
                <a:spLocks noChangeArrowheads="1"/>
              </p:cNvSpPr>
              <p:nvPr/>
            </p:nvSpPr>
            <p:spPr bwMode="auto">
              <a:xfrm>
                <a:off x="3456" y="3479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44" name="Rectangle 348"/>
              <p:cNvSpPr>
                <a:spLocks noChangeArrowheads="1"/>
              </p:cNvSpPr>
              <p:nvPr/>
            </p:nvSpPr>
            <p:spPr bwMode="auto">
              <a:xfrm>
                <a:off x="3568" y="349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45" name="Rectangle 349"/>
              <p:cNvSpPr>
                <a:spLocks noChangeArrowheads="1"/>
              </p:cNvSpPr>
              <p:nvPr/>
            </p:nvSpPr>
            <p:spPr bwMode="auto">
              <a:xfrm>
                <a:off x="3667" y="349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246" name="Rectangle 350"/>
              <p:cNvSpPr>
                <a:spLocks noChangeArrowheads="1"/>
              </p:cNvSpPr>
              <p:nvPr/>
            </p:nvSpPr>
            <p:spPr bwMode="auto">
              <a:xfrm>
                <a:off x="3836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47" name="Rectangle 351"/>
              <p:cNvSpPr>
                <a:spLocks noChangeArrowheads="1"/>
              </p:cNvSpPr>
              <p:nvPr/>
            </p:nvSpPr>
            <p:spPr bwMode="auto">
              <a:xfrm>
                <a:off x="3898" y="347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48" name="Rectangle 352"/>
              <p:cNvSpPr>
                <a:spLocks noChangeArrowheads="1"/>
              </p:cNvSpPr>
              <p:nvPr/>
            </p:nvSpPr>
            <p:spPr bwMode="auto">
              <a:xfrm>
                <a:off x="3994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249" name="Rectangle 353"/>
              <p:cNvSpPr>
                <a:spLocks noChangeArrowheads="1"/>
              </p:cNvSpPr>
              <p:nvPr/>
            </p:nvSpPr>
            <p:spPr bwMode="auto">
              <a:xfrm>
                <a:off x="3101" y="362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250" name="Rectangle 354"/>
              <p:cNvSpPr>
                <a:spLocks noChangeArrowheads="1"/>
              </p:cNvSpPr>
              <p:nvPr/>
            </p:nvSpPr>
            <p:spPr bwMode="auto">
              <a:xfrm>
                <a:off x="3325" y="3622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51" name="Rectangle 355"/>
              <p:cNvSpPr>
                <a:spLocks noChangeArrowheads="1"/>
              </p:cNvSpPr>
              <p:nvPr/>
            </p:nvSpPr>
            <p:spPr bwMode="auto">
              <a:xfrm>
                <a:off x="3456" y="3626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52" name="Rectangle 356"/>
              <p:cNvSpPr>
                <a:spLocks noChangeArrowheads="1"/>
              </p:cNvSpPr>
              <p:nvPr/>
            </p:nvSpPr>
            <p:spPr bwMode="auto">
              <a:xfrm>
                <a:off x="3568" y="3638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53" name="Rectangle 357"/>
              <p:cNvSpPr>
                <a:spLocks noChangeArrowheads="1"/>
              </p:cNvSpPr>
              <p:nvPr/>
            </p:nvSpPr>
            <p:spPr bwMode="auto">
              <a:xfrm>
                <a:off x="3667" y="363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254" name="Rectangle 358"/>
              <p:cNvSpPr>
                <a:spLocks noChangeArrowheads="1"/>
              </p:cNvSpPr>
              <p:nvPr/>
            </p:nvSpPr>
            <p:spPr bwMode="auto">
              <a:xfrm>
                <a:off x="3836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55" name="Rectangle 359"/>
              <p:cNvSpPr>
                <a:spLocks noChangeArrowheads="1"/>
              </p:cNvSpPr>
              <p:nvPr/>
            </p:nvSpPr>
            <p:spPr bwMode="auto">
              <a:xfrm>
                <a:off x="3898" y="3626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56" name="Rectangle 360"/>
              <p:cNvSpPr>
                <a:spLocks noChangeArrowheads="1"/>
              </p:cNvSpPr>
              <p:nvPr/>
            </p:nvSpPr>
            <p:spPr bwMode="auto">
              <a:xfrm>
                <a:off x="3994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257" name="Rectangle 361"/>
              <p:cNvSpPr>
                <a:spLocks noChangeArrowheads="1"/>
              </p:cNvSpPr>
              <p:nvPr/>
            </p:nvSpPr>
            <p:spPr bwMode="auto">
              <a:xfrm>
                <a:off x="3015" y="320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Rectangle 362"/>
              <p:cNvSpPr>
                <a:spLocks noChangeArrowheads="1"/>
              </p:cNvSpPr>
              <p:nvPr/>
            </p:nvSpPr>
            <p:spPr bwMode="auto">
              <a:xfrm>
                <a:off x="3569" y="32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259" name="Rectangle 363"/>
              <p:cNvSpPr>
                <a:spLocks noChangeArrowheads="1"/>
              </p:cNvSpPr>
              <p:nvPr/>
            </p:nvSpPr>
            <p:spPr bwMode="auto">
              <a:xfrm>
                <a:off x="3015" y="344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Rectangle 364"/>
              <p:cNvSpPr>
                <a:spLocks noChangeArrowheads="1"/>
              </p:cNvSpPr>
              <p:nvPr/>
            </p:nvSpPr>
            <p:spPr bwMode="auto">
              <a:xfrm>
                <a:off x="3101" y="347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261" name="Rectangle 365"/>
              <p:cNvSpPr>
                <a:spLocks noChangeArrowheads="1"/>
              </p:cNvSpPr>
              <p:nvPr/>
            </p:nvSpPr>
            <p:spPr bwMode="auto">
              <a:xfrm>
                <a:off x="3325" y="3475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62" name="Rectangle 366"/>
              <p:cNvSpPr>
                <a:spLocks noChangeArrowheads="1"/>
              </p:cNvSpPr>
              <p:nvPr/>
            </p:nvSpPr>
            <p:spPr bwMode="auto">
              <a:xfrm>
                <a:off x="3456" y="3479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63" name="Rectangle 367"/>
              <p:cNvSpPr>
                <a:spLocks noChangeArrowheads="1"/>
              </p:cNvSpPr>
              <p:nvPr/>
            </p:nvSpPr>
            <p:spPr bwMode="auto">
              <a:xfrm>
                <a:off x="3568" y="349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64" name="Rectangle 368"/>
              <p:cNvSpPr>
                <a:spLocks noChangeArrowheads="1"/>
              </p:cNvSpPr>
              <p:nvPr/>
            </p:nvSpPr>
            <p:spPr bwMode="auto">
              <a:xfrm>
                <a:off x="3667" y="349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265" name="Rectangle 369"/>
              <p:cNvSpPr>
                <a:spLocks noChangeArrowheads="1"/>
              </p:cNvSpPr>
              <p:nvPr/>
            </p:nvSpPr>
            <p:spPr bwMode="auto">
              <a:xfrm>
                <a:off x="3836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66" name="Rectangle 370"/>
              <p:cNvSpPr>
                <a:spLocks noChangeArrowheads="1"/>
              </p:cNvSpPr>
              <p:nvPr/>
            </p:nvSpPr>
            <p:spPr bwMode="auto">
              <a:xfrm>
                <a:off x="3898" y="347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67" name="Rectangle 371"/>
              <p:cNvSpPr>
                <a:spLocks noChangeArrowheads="1"/>
              </p:cNvSpPr>
              <p:nvPr/>
            </p:nvSpPr>
            <p:spPr bwMode="auto">
              <a:xfrm>
                <a:off x="3994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268" name="Rectangle 372"/>
              <p:cNvSpPr>
                <a:spLocks noChangeArrowheads="1"/>
              </p:cNvSpPr>
              <p:nvPr/>
            </p:nvSpPr>
            <p:spPr bwMode="auto">
              <a:xfrm>
                <a:off x="3101" y="362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269" name="Rectangle 373"/>
              <p:cNvSpPr>
                <a:spLocks noChangeArrowheads="1"/>
              </p:cNvSpPr>
              <p:nvPr/>
            </p:nvSpPr>
            <p:spPr bwMode="auto">
              <a:xfrm>
                <a:off x="3325" y="3622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70" name="Rectangle 374"/>
              <p:cNvSpPr>
                <a:spLocks noChangeArrowheads="1"/>
              </p:cNvSpPr>
              <p:nvPr/>
            </p:nvSpPr>
            <p:spPr bwMode="auto">
              <a:xfrm>
                <a:off x="3456" y="3626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71" name="Rectangle 375"/>
              <p:cNvSpPr>
                <a:spLocks noChangeArrowheads="1"/>
              </p:cNvSpPr>
              <p:nvPr/>
            </p:nvSpPr>
            <p:spPr bwMode="auto">
              <a:xfrm>
                <a:off x="3568" y="3638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72" name="Rectangle 376"/>
              <p:cNvSpPr>
                <a:spLocks noChangeArrowheads="1"/>
              </p:cNvSpPr>
              <p:nvPr/>
            </p:nvSpPr>
            <p:spPr bwMode="auto">
              <a:xfrm>
                <a:off x="3667" y="363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273" name="Rectangle 377"/>
              <p:cNvSpPr>
                <a:spLocks noChangeArrowheads="1"/>
              </p:cNvSpPr>
              <p:nvPr/>
            </p:nvSpPr>
            <p:spPr bwMode="auto">
              <a:xfrm>
                <a:off x="3836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74" name="Rectangle 378"/>
              <p:cNvSpPr>
                <a:spLocks noChangeArrowheads="1"/>
              </p:cNvSpPr>
              <p:nvPr/>
            </p:nvSpPr>
            <p:spPr bwMode="auto">
              <a:xfrm>
                <a:off x="3898" y="3626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75" name="Rectangle 379"/>
              <p:cNvSpPr>
                <a:spLocks noChangeArrowheads="1"/>
              </p:cNvSpPr>
              <p:nvPr/>
            </p:nvSpPr>
            <p:spPr bwMode="auto">
              <a:xfrm>
                <a:off x="3994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276" name="Rectangle 380"/>
              <p:cNvSpPr>
                <a:spLocks noChangeArrowheads="1"/>
              </p:cNvSpPr>
              <p:nvPr/>
            </p:nvSpPr>
            <p:spPr bwMode="auto">
              <a:xfrm>
                <a:off x="3015" y="1719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Rectangle 381"/>
              <p:cNvSpPr>
                <a:spLocks noChangeArrowheads="1"/>
              </p:cNvSpPr>
              <p:nvPr/>
            </p:nvSpPr>
            <p:spPr bwMode="auto">
              <a:xfrm>
                <a:off x="3403" y="1757"/>
                <a:ext cx="480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Cycle 4</a:t>
                </a:r>
                <a:endParaRPr lang="en-US"/>
              </a:p>
            </p:txBody>
          </p:sp>
          <p:grpSp>
            <p:nvGrpSpPr>
              <p:cNvPr id="278" name="Group 384"/>
              <p:cNvGrpSpPr>
                <a:grpSpLocks/>
              </p:cNvGrpSpPr>
              <p:nvPr/>
            </p:nvGrpSpPr>
            <p:grpSpPr bwMode="auto">
              <a:xfrm>
                <a:off x="4071" y="3495"/>
                <a:ext cx="336" cy="149"/>
                <a:chOff x="4071" y="3495"/>
                <a:chExt cx="336" cy="149"/>
              </a:xfrm>
            </p:grpSpPr>
            <p:sp>
              <p:nvSpPr>
                <p:cNvPr id="305" name="Line 382"/>
                <p:cNvSpPr>
                  <a:spLocks noChangeShapeType="1"/>
                </p:cNvSpPr>
                <p:nvPr/>
              </p:nvSpPr>
              <p:spPr bwMode="auto">
                <a:xfrm flipH="1">
                  <a:off x="4126" y="3495"/>
                  <a:ext cx="281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6" name="Freeform 383"/>
                <p:cNvSpPr>
                  <a:spLocks/>
                </p:cNvSpPr>
                <p:nvPr/>
              </p:nvSpPr>
              <p:spPr bwMode="auto">
                <a:xfrm>
                  <a:off x="4071" y="3586"/>
                  <a:ext cx="70" cy="5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0" y="53"/>
                    </a:cxn>
                    <a:cxn ang="0">
                      <a:pos x="70" y="5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70" h="58">
                      <a:moveTo>
                        <a:pt x="46" y="0"/>
                      </a:moveTo>
                      <a:lnTo>
                        <a:pt x="0" y="53"/>
                      </a:lnTo>
                      <a:lnTo>
                        <a:pt x="70" y="5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9" name="Rectangle 385"/>
              <p:cNvSpPr>
                <a:spLocks noChangeArrowheads="1"/>
              </p:cNvSpPr>
              <p:nvPr/>
            </p:nvSpPr>
            <p:spPr bwMode="auto">
              <a:xfrm>
                <a:off x="4379" y="3351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Rectangle 386"/>
              <p:cNvSpPr>
                <a:spLocks noChangeArrowheads="1"/>
              </p:cNvSpPr>
              <p:nvPr/>
            </p:nvSpPr>
            <p:spPr bwMode="auto">
              <a:xfrm>
                <a:off x="4437" y="3387"/>
                <a:ext cx="297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i="1">
                    <a:solidFill>
                      <a:srgbClr val="000000"/>
                    </a:solidFill>
                  </a:rPr>
                  <a:t>Error</a:t>
                </a:r>
                <a:endParaRPr lang="en-US"/>
              </a:p>
            </p:txBody>
          </p:sp>
          <p:sp>
            <p:nvSpPr>
              <p:cNvPr id="281" name="Rectangle 387"/>
              <p:cNvSpPr>
                <a:spLocks noChangeArrowheads="1"/>
              </p:cNvSpPr>
              <p:nvPr/>
            </p:nvSpPr>
            <p:spPr bwMode="auto">
              <a:xfrm>
                <a:off x="3015" y="195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Rectangle 388"/>
              <p:cNvSpPr>
                <a:spLocks noChangeArrowheads="1"/>
              </p:cNvSpPr>
              <p:nvPr/>
            </p:nvSpPr>
            <p:spPr bwMode="auto">
              <a:xfrm>
                <a:off x="3561" y="2000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283" name="Rectangle 389"/>
              <p:cNvSpPr>
                <a:spLocks noChangeArrowheads="1"/>
              </p:cNvSpPr>
              <p:nvPr/>
            </p:nvSpPr>
            <p:spPr bwMode="auto">
              <a:xfrm>
                <a:off x="3015" y="2151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Rectangle 390"/>
              <p:cNvSpPr>
                <a:spLocks noChangeArrowheads="1"/>
              </p:cNvSpPr>
              <p:nvPr/>
            </p:nvSpPr>
            <p:spPr bwMode="auto">
              <a:xfrm>
                <a:off x="3077" y="2190"/>
                <a:ext cx="20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285" name="Rectangle 391"/>
              <p:cNvSpPr>
                <a:spLocks noChangeArrowheads="1"/>
              </p:cNvSpPr>
              <p:nvPr/>
            </p:nvSpPr>
            <p:spPr bwMode="auto">
              <a:xfrm>
                <a:off x="3256" y="2190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286" name="Rectangle 392"/>
              <p:cNvSpPr>
                <a:spLocks noChangeArrowheads="1"/>
              </p:cNvSpPr>
              <p:nvPr/>
            </p:nvSpPr>
            <p:spPr bwMode="auto">
              <a:xfrm>
                <a:off x="3480" y="2190"/>
                <a:ext cx="269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10</a:t>
                </a:r>
                <a:endParaRPr lang="en-US"/>
              </a:p>
            </p:txBody>
          </p:sp>
          <p:sp>
            <p:nvSpPr>
              <p:cNvPr id="287" name="Rectangle 393"/>
              <p:cNvSpPr>
                <a:spLocks noChangeArrowheads="1"/>
              </p:cNvSpPr>
              <p:nvPr/>
            </p:nvSpPr>
            <p:spPr bwMode="auto">
              <a:xfrm>
                <a:off x="3077" y="2329"/>
                <a:ext cx="20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288" name="Rectangle 394"/>
              <p:cNvSpPr>
                <a:spLocks noChangeArrowheads="1"/>
              </p:cNvSpPr>
              <p:nvPr/>
            </p:nvSpPr>
            <p:spPr bwMode="auto">
              <a:xfrm>
                <a:off x="3256" y="2329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289" name="Rectangle 395"/>
              <p:cNvSpPr>
                <a:spLocks noChangeArrowheads="1"/>
              </p:cNvSpPr>
              <p:nvPr/>
            </p:nvSpPr>
            <p:spPr bwMode="auto">
              <a:xfrm>
                <a:off x="3487" y="232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290" name="Rectangle 396"/>
              <p:cNvSpPr>
                <a:spLocks noChangeArrowheads="1"/>
              </p:cNvSpPr>
              <p:nvPr/>
            </p:nvSpPr>
            <p:spPr bwMode="auto">
              <a:xfrm>
                <a:off x="3583" y="234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91" name="Rectangle 397"/>
              <p:cNvSpPr>
                <a:spLocks noChangeArrowheads="1"/>
              </p:cNvSpPr>
              <p:nvPr/>
            </p:nvSpPr>
            <p:spPr bwMode="auto">
              <a:xfrm>
                <a:off x="3682" y="234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grpSp>
            <p:nvGrpSpPr>
              <p:cNvPr id="292" name="Group 400"/>
              <p:cNvGrpSpPr>
                <a:grpSpLocks/>
              </p:cNvGrpSpPr>
              <p:nvPr/>
            </p:nvGrpSpPr>
            <p:grpSpPr bwMode="auto">
              <a:xfrm>
                <a:off x="4071" y="3447"/>
                <a:ext cx="336" cy="70"/>
                <a:chOff x="4071" y="3447"/>
                <a:chExt cx="336" cy="70"/>
              </a:xfrm>
            </p:grpSpPr>
            <p:sp>
              <p:nvSpPr>
                <p:cNvPr id="303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4130" y="3447"/>
                  <a:ext cx="277" cy="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4" name="Freeform 399"/>
                <p:cNvSpPr>
                  <a:spLocks/>
                </p:cNvSpPr>
                <p:nvPr/>
              </p:nvSpPr>
              <p:spPr bwMode="auto">
                <a:xfrm>
                  <a:off x="4071" y="3455"/>
                  <a:ext cx="67" cy="62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0" y="40"/>
                    </a:cxn>
                    <a:cxn ang="0">
                      <a:pos x="67" y="62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67" h="62">
                      <a:moveTo>
                        <a:pt x="58" y="0"/>
                      </a:moveTo>
                      <a:lnTo>
                        <a:pt x="0" y="40"/>
                      </a:lnTo>
                      <a:lnTo>
                        <a:pt x="67" y="62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93" name="Rectangle 401"/>
              <p:cNvSpPr>
                <a:spLocks noChangeArrowheads="1"/>
              </p:cNvSpPr>
              <p:nvPr/>
            </p:nvSpPr>
            <p:spPr bwMode="auto">
              <a:xfrm>
                <a:off x="3015" y="2775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Rectangle 402"/>
              <p:cNvSpPr>
                <a:spLocks noChangeArrowheads="1"/>
              </p:cNvSpPr>
              <p:nvPr/>
            </p:nvSpPr>
            <p:spPr bwMode="auto">
              <a:xfrm>
                <a:off x="3077" y="2815"/>
                <a:ext cx="173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e_</a:t>
                </a:r>
                <a:endParaRPr lang="en-US"/>
              </a:p>
            </p:txBody>
          </p:sp>
          <p:sp>
            <p:nvSpPr>
              <p:cNvPr id="295" name="Rectangle 403"/>
              <p:cNvSpPr>
                <a:spLocks noChangeArrowheads="1"/>
              </p:cNvSpPr>
              <p:nvPr/>
            </p:nvSpPr>
            <p:spPr bwMode="auto">
              <a:xfrm>
                <a:off x="3225" y="2815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296" name="Rectangle 404"/>
              <p:cNvSpPr>
                <a:spLocks noChangeArrowheads="1"/>
              </p:cNvSpPr>
              <p:nvPr/>
            </p:nvSpPr>
            <p:spPr bwMode="auto">
              <a:xfrm>
                <a:off x="3449" y="2811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97" name="Rectangle 405"/>
              <p:cNvSpPr>
                <a:spLocks noChangeArrowheads="1"/>
              </p:cNvSpPr>
              <p:nvPr/>
            </p:nvSpPr>
            <p:spPr bwMode="auto">
              <a:xfrm>
                <a:off x="3580" y="2815"/>
                <a:ext cx="520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 + 3 = 3 </a:t>
                </a:r>
                <a:endParaRPr lang="en-US"/>
              </a:p>
            </p:txBody>
          </p:sp>
          <p:sp>
            <p:nvSpPr>
              <p:cNvPr id="298" name="Rectangle 406"/>
              <p:cNvSpPr>
                <a:spLocks noChangeArrowheads="1"/>
              </p:cNvSpPr>
              <p:nvPr/>
            </p:nvSpPr>
            <p:spPr bwMode="auto">
              <a:xfrm>
                <a:off x="3077" y="2953"/>
                <a:ext cx="186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E_</a:t>
                </a:r>
                <a:endParaRPr lang="en-US"/>
              </a:p>
            </p:txBody>
          </p:sp>
          <p:sp>
            <p:nvSpPr>
              <p:cNvPr id="299" name="Rectangle 407"/>
              <p:cNvSpPr>
                <a:spLocks noChangeArrowheads="1"/>
              </p:cNvSpPr>
              <p:nvPr/>
            </p:nvSpPr>
            <p:spPr bwMode="auto">
              <a:xfrm>
                <a:off x="3238" y="2953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300" name="Rectangle 408"/>
              <p:cNvSpPr>
                <a:spLocks noChangeArrowheads="1"/>
              </p:cNvSpPr>
              <p:nvPr/>
            </p:nvSpPr>
            <p:spPr bwMode="auto">
              <a:xfrm>
                <a:off x="3469" y="2953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301" name="Rectangle 409"/>
              <p:cNvSpPr>
                <a:spLocks noChangeArrowheads="1"/>
              </p:cNvSpPr>
              <p:nvPr/>
            </p:nvSpPr>
            <p:spPr bwMode="auto">
              <a:xfrm>
                <a:off x="3565" y="2965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302" name="Rectangle 410"/>
              <p:cNvSpPr>
                <a:spLocks noChangeArrowheads="1"/>
              </p:cNvSpPr>
              <p:nvPr/>
            </p:nvSpPr>
            <p:spPr bwMode="auto">
              <a:xfrm>
                <a:off x="3664" y="2965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2771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Stalling for Data Dependencies</a:t>
            </a:r>
          </a:p>
        </p:txBody>
      </p:sp>
      <p:sp>
        <p:nvSpPr>
          <p:cNvPr id="436436" name="Rectangle 212"/>
          <p:cNvSpPr>
            <a:spLocks noGrp="1" noChangeArrowheads="1"/>
          </p:cNvSpPr>
          <p:nvPr>
            <p:ph idx="1"/>
          </p:nvPr>
        </p:nvSpPr>
        <p:spPr>
          <a:xfrm>
            <a:off x="290513" y="3810000"/>
            <a:ext cx="8294687" cy="2622550"/>
          </a:xfrm>
        </p:spPr>
        <p:txBody>
          <a:bodyPr/>
          <a:lstStyle/>
          <a:p>
            <a:pPr lvl="1"/>
            <a:r>
              <a:rPr lang="en-US"/>
              <a:t>If instruction follows too closely after one that writes register, slow it down</a:t>
            </a:r>
          </a:p>
          <a:p>
            <a:pPr lvl="1"/>
            <a:r>
              <a:rPr lang="en-US"/>
              <a:t>Hold instruction in decode</a:t>
            </a:r>
          </a:p>
          <a:p>
            <a:pPr lvl="1"/>
            <a:r>
              <a:rPr lang="en-US"/>
              <a:t>Dynamically inject nop into execute stage</a:t>
            </a:r>
          </a:p>
        </p:txBody>
      </p:sp>
      <p:sp>
        <p:nvSpPr>
          <p:cNvPr id="436379" name="Rectangle 155"/>
          <p:cNvSpPr>
            <a:spLocks noChangeArrowheads="1"/>
          </p:cNvSpPr>
          <p:nvPr/>
        </p:nvSpPr>
        <p:spPr bwMode="auto">
          <a:xfrm>
            <a:off x="685800" y="1371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0x000: </a:t>
            </a:r>
            <a:r>
              <a:rPr lang="en-US" sz="1400" b="0" dirty="0" err="1">
                <a:latin typeface="Courier New" pitchFamily="49" charset="0"/>
              </a:rPr>
              <a:t>irmovq</a:t>
            </a:r>
            <a:r>
              <a:rPr lang="en-US" sz="1400" b="0" dirty="0">
                <a:latin typeface="Courier New" pitchFamily="49" charset="0"/>
              </a:rPr>
              <a:t> $10,%rdx</a:t>
            </a:r>
          </a:p>
        </p:txBody>
      </p:sp>
      <p:sp>
        <p:nvSpPr>
          <p:cNvPr id="436380" name="Rectangle 156"/>
          <p:cNvSpPr>
            <a:spLocks noChangeArrowheads="1"/>
          </p:cNvSpPr>
          <p:nvPr/>
        </p:nvSpPr>
        <p:spPr bwMode="auto">
          <a:xfrm>
            <a:off x="3581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36381" name="Rectangle 157"/>
          <p:cNvSpPr>
            <a:spLocks noChangeArrowheads="1"/>
          </p:cNvSpPr>
          <p:nvPr/>
        </p:nvSpPr>
        <p:spPr bwMode="auto">
          <a:xfrm>
            <a:off x="4038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36382" name="Rectangle 158"/>
          <p:cNvSpPr>
            <a:spLocks noChangeArrowheads="1"/>
          </p:cNvSpPr>
          <p:nvPr/>
        </p:nvSpPr>
        <p:spPr bwMode="auto">
          <a:xfrm>
            <a:off x="4495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36383" name="Rectangle 159"/>
          <p:cNvSpPr>
            <a:spLocks noChangeArrowheads="1"/>
          </p:cNvSpPr>
          <p:nvPr/>
        </p:nvSpPr>
        <p:spPr bwMode="auto">
          <a:xfrm>
            <a:off x="4953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36384" name="Rectangle 160"/>
          <p:cNvSpPr>
            <a:spLocks noChangeArrowheads="1"/>
          </p:cNvSpPr>
          <p:nvPr/>
        </p:nvSpPr>
        <p:spPr bwMode="auto">
          <a:xfrm>
            <a:off x="5410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36385" name="Rectangle 161"/>
          <p:cNvSpPr>
            <a:spLocks noChangeArrowheads="1"/>
          </p:cNvSpPr>
          <p:nvPr/>
        </p:nvSpPr>
        <p:spPr bwMode="auto">
          <a:xfrm>
            <a:off x="5867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436386" name="Rectangle 162"/>
          <p:cNvSpPr>
            <a:spLocks noChangeArrowheads="1"/>
          </p:cNvSpPr>
          <p:nvPr/>
        </p:nvSpPr>
        <p:spPr bwMode="auto">
          <a:xfrm>
            <a:off x="6324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436387" name="Rectangle 163"/>
          <p:cNvSpPr>
            <a:spLocks noChangeArrowheads="1"/>
          </p:cNvSpPr>
          <p:nvPr/>
        </p:nvSpPr>
        <p:spPr bwMode="auto">
          <a:xfrm>
            <a:off x="6781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8</a:t>
            </a:r>
          </a:p>
        </p:txBody>
      </p:sp>
      <p:sp>
        <p:nvSpPr>
          <p:cNvPr id="436388" name="Rectangle 164"/>
          <p:cNvSpPr>
            <a:spLocks noChangeArrowheads="1"/>
          </p:cNvSpPr>
          <p:nvPr/>
        </p:nvSpPr>
        <p:spPr bwMode="auto">
          <a:xfrm>
            <a:off x="7239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9</a:t>
            </a:r>
          </a:p>
        </p:txBody>
      </p:sp>
      <p:grpSp>
        <p:nvGrpSpPr>
          <p:cNvPr id="436389" name="Group 165"/>
          <p:cNvGrpSpPr>
            <a:grpSpLocks/>
          </p:cNvGrpSpPr>
          <p:nvPr/>
        </p:nvGrpSpPr>
        <p:grpSpPr bwMode="auto">
          <a:xfrm>
            <a:off x="3581400" y="1371600"/>
            <a:ext cx="2286000" cy="304800"/>
            <a:chOff x="1920" y="1296"/>
            <a:chExt cx="1440" cy="192"/>
          </a:xfrm>
        </p:grpSpPr>
        <p:sp>
          <p:nvSpPr>
            <p:cNvPr id="436390" name="Rectangle 166"/>
            <p:cNvSpPr>
              <a:spLocks noChangeArrowheads="1"/>
            </p:cNvSpPr>
            <p:nvPr/>
          </p:nvSpPr>
          <p:spPr bwMode="auto">
            <a:xfrm>
              <a:off x="192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36391" name="Rectangle 167"/>
            <p:cNvSpPr>
              <a:spLocks noChangeArrowheads="1"/>
            </p:cNvSpPr>
            <p:nvPr/>
          </p:nvSpPr>
          <p:spPr bwMode="auto">
            <a:xfrm>
              <a:off x="220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36392" name="Rectangle 168"/>
            <p:cNvSpPr>
              <a:spLocks noChangeArrowheads="1"/>
            </p:cNvSpPr>
            <p:nvPr/>
          </p:nvSpPr>
          <p:spPr bwMode="auto">
            <a:xfrm>
              <a:off x="249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36393" name="Rectangle 169"/>
            <p:cNvSpPr>
              <a:spLocks noChangeArrowheads="1"/>
            </p:cNvSpPr>
            <p:nvPr/>
          </p:nvSpPr>
          <p:spPr bwMode="auto">
            <a:xfrm>
              <a:off x="278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36394" name="Rectangle 170"/>
            <p:cNvSpPr>
              <a:spLocks noChangeArrowheads="1"/>
            </p:cNvSpPr>
            <p:nvPr/>
          </p:nvSpPr>
          <p:spPr bwMode="auto">
            <a:xfrm>
              <a:off x="3072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</p:grpSp>
      <p:sp>
        <p:nvSpPr>
          <p:cNvPr id="436395" name="Rectangle 171"/>
          <p:cNvSpPr>
            <a:spLocks noChangeArrowheads="1"/>
          </p:cNvSpPr>
          <p:nvPr/>
        </p:nvSpPr>
        <p:spPr bwMode="auto">
          <a:xfrm>
            <a:off x="685800" y="1676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0x00a: </a:t>
            </a:r>
            <a:r>
              <a:rPr lang="en-US" sz="1400" b="0" dirty="0" err="1">
                <a:latin typeface="Courier New" pitchFamily="49" charset="0"/>
              </a:rPr>
              <a:t>irmovq</a:t>
            </a:r>
            <a:r>
              <a:rPr lang="en-US" sz="1400" b="0" dirty="0">
                <a:latin typeface="Courier New" pitchFamily="49" charset="0"/>
              </a:rPr>
              <a:t>  $3,%rax</a:t>
            </a:r>
          </a:p>
        </p:txBody>
      </p:sp>
      <p:sp>
        <p:nvSpPr>
          <p:cNvPr id="436396" name="Rectangle 172"/>
          <p:cNvSpPr>
            <a:spLocks noChangeArrowheads="1"/>
          </p:cNvSpPr>
          <p:nvPr/>
        </p:nvSpPr>
        <p:spPr bwMode="auto">
          <a:xfrm>
            <a:off x="40386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397" name="Rectangle 173"/>
          <p:cNvSpPr>
            <a:spLocks noChangeArrowheads="1"/>
          </p:cNvSpPr>
          <p:nvPr/>
        </p:nvSpPr>
        <p:spPr bwMode="auto">
          <a:xfrm>
            <a:off x="44958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398" name="Rectangle 174"/>
          <p:cNvSpPr>
            <a:spLocks noChangeArrowheads="1"/>
          </p:cNvSpPr>
          <p:nvPr/>
        </p:nvSpPr>
        <p:spPr bwMode="auto">
          <a:xfrm>
            <a:off x="49530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399" name="Rectangle 175"/>
          <p:cNvSpPr>
            <a:spLocks noChangeArrowheads="1"/>
          </p:cNvSpPr>
          <p:nvPr/>
        </p:nvSpPr>
        <p:spPr bwMode="auto">
          <a:xfrm>
            <a:off x="54102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00" name="Rectangle 176"/>
          <p:cNvSpPr>
            <a:spLocks noChangeArrowheads="1"/>
          </p:cNvSpPr>
          <p:nvPr/>
        </p:nvSpPr>
        <p:spPr bwMode="auto">
          <a:xfrm>
            <a:off x="58674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01" name="Rectangle 177"/>
          <p:cNvSpPr>
            <a:spLocks noChangeArrowheads="1"/>
          </p:cNvSpPr>
          <p:nvPr/>
        </p:nvSpPr>
        <p:spPr bwMode="auto">
          <a:xfrm>
            <a:off x="685800" y="1981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0x014: </a:t>
            </a:r>
            <a:r>
              <a:rPr lang="en-US" sz="1400" b="0" dirty="0" err="1">
                <a:latin typeface="Courier New" pitchFamily="49" charset="0"/>
              </a:rPr>
              <a:t>nop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6402" name="Rectangle 178"/>
          <p:cNvSpPr>
            <a:spLocks noChangeArrowheads="1"/>
          </p:cNvSpPr>
          <p:nvPr/>
        </p:nvSpPr>
        <p:spPr bwMode="auto">
          <a:xfrm>
            <a:off x="44958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403" name="Rectangle 179"/>
          <p:cNvSpPr>
            <a:spLocks noChangeArrowheads="1"/>
          </p:cNvSpPr>
          <p:nvPr/>
        </p:nvSpPr>
        <p:spPr bwMode="auto">
          <a:xfrm>
            <a:off x="49530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04" name="Rectangle 180"/>
          <p:cNvSpPr>
            <a:spLocks noChangeArrowheads="1"/>
          </p:cNvSpPr>
          <p:nvPr/>
        </p:nvSpPr>
        <p:spPr bwMode="auto">
          <a:xfrm>
            <a:off x="54102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405" name="Rectangle 181"/>
          <p:cNvSpPr>
            <a:spLocks noChangeArrowheads="1"/>
          </p:cNvSpPr>
          <p:nvPr/>
        </p:nvSpPr>
        <p:spPr bwMode="auto">
          <a:xfrm>
            <a:off x="58674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06" name="Rectangle 182"/>
          <p:cNvSpPr>
            <a:spLocks noChangeArrowheads="1"/>
          </p:cNvSpPr>
          <p:nvPr/>
        </p:nvSpPr>
        <p:spPr bwMode="auto">
          <a:xfrm>
            <a:off x="63246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07" name="Rectangle 183"/>
          <p:cNvSpPr>
            <a:spLocks noChangeArrowheads="1"/>
          </p:cNvSpPr>
          <p:nvPr/>
        </p:nvSpPr>
        <p:spPr bwMode="auto">
          <a:xfrm>
            <a:off x="685800" y="2590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>
                <a:latin typeface="Courier New" pitchFamily="49" charset="0"/>
              </a:rPr>
              <a:t>       </a:t>
            </a:r>
            <a:r>
              <a:rPr lang="en-US" sz="1400" i="1">
                <a:latin typeface="Courier New" pitchFamily="49" charset="0"/>
              </a:rPr>
              <a:t>bubble</a:t>
            </a:r>
          </a:p>
        </p:txBody>
      </p:sp>
      <p:grpSp>
        <p:nvGrpSpPr>
          <p:cNvPr id="436408" name="Group 184"/>
          <p:cNvGrpSpPr>
            <a:grpSpLocks/>
          </p:cNvGrpSpPr>
          <p:nvPr/>
        </p:nvGrpSpPr>
        <p:grpSpPr bwMode="auto">
          <a:xfrm>
            <a:off x="5410200" y="2590800"/>
            <a:ext cx="2286000" cy="609600"/>
            <a:chOff x="2976" y="1008"/>
            <a:chExt cx="1440" cy="384"/>
          </a:xfrm>
        </p:grpSpPr>
        <p:sp>
          <p:nvSpPr>
            <p:cNvPr id="436409" name="Rectangle 185"/>
            <p:cNvSpPr>
              <a:spLocks noChangeArrowheads="1"/>
            </p:cNvSpPr>
            <p:nvPr/>
          </p:nvSpPr>
          <p:spPr bwMode="auto">
            <a:xfrm>
              <a:off x="2976" y="120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36410" name="Rectangle 186"/>
            <p:cNvSpPr>
              <a:spLocks noChangeArrowheads="1"/>
            </p:cNvSpPr>
            <p:nvPr/>
          </p:nvSpPr>
          <p:spPr bwMode="auto">
            <a:xfrm>
              <a:off x="3552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36411" name="Rectangle 187"/>
            <p:cNvSpPr>
              <a:spLocks noChangeArrowheads="1"/>
            </p:cNvSpPr>
            <p:nvPr/>
          </p:nvSpPr>
          <p:spPr bwMode="auto">
            <a:xfrm>
              <a:off x="3840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36412" name="Rectangle 188"/>
            <p:cNvSpPr>
              <a:spLocks noChangeArrowheads="1"/>
            </p:cNvSpPr>
            <p:nvPr/>
          </p:nvSpPr>
          <p:spPr bwMode="auto">
            <a:xfrm>
              <a:off x="4128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</p:grpSp>
      <p:sp>
        <p:nvSpPr>
          <p:cNvPr id="436413" name="Rectangle 189"/>
          <p:cNvSpPr>
            <a:spLocks noChangeArrowheads="1"/>
          </p:cNvSpPr>
          <p:nvPr/>
        </p:nvSpPr>
        <p:spPr bwMode="auto">
          <a:xfrm>
            <a:off x="685800" y="2895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0x016: </a:t>
            </a:r>
            <a:r>
              <a:rPr lang="en-US" sz="1400" b="0" dirty="0" err="1">
                <a:latin typeface="Courier New" pitchFamily="49" charset="0"/>
              </a:rPr>
              <a:t>addq</a:t>
            </a:r>
            <a:r>
              <a:rPr lang="en-US" sz="1400" b="0" dirty="0">
                <a:latin typeface="Courier New" pitchFamily="49" charset="0"/>
              </a:rPr>
              <a:t> %</a:t>
            </a:r>
            <a:r>
              <a:rPr lang="en-US" sz="1400" b="0" dirty="0" err="1">
                <a:latin typeface="Courier New" pitchFamily="49" charset="0"/>
              </a:rPr>
              <a:t>rdx</a:t>
            </a:r>
            <a:r>
              <a:rPr lang="en-US" sz="1400" b="0" dirty="0">
                <a:latin typeface="Courier New" pitchFamily="49" charset="0"/>
              </a:rPr>
              <a:t>,%</a:t>
            </a:r>
            <a:r>
              <a:rPr lang="en-US" sz="1400" b="0" dirty="0" err="1">
                <a:latin typeface="Courier New" pitchFamily="49" charset="0"/>
              </a:rPr>
              <a:t>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6414" name="Rectangle 190"/>
          <p:cNvSpPr>
            <a:spLocks noChangeArrowheads="1"/>
          </p:cNvSpPr>
          <p:nvPr/>
        </p:nvSpPr>
        <p:spPr bwMode="auto">
          <a:xfrm>
            <a:off x="58674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15" name="Rectangle 191"/>
          <p:cNvSpPr>
            <a:spLocks noChangeArrowheads="1"/>
          </p:cNvSpPr>
          <p:nvPr/>
        </p:nvSpPr>
        <p:spPr bwMode="auto">
          <a:xfrm>
            <a:off x="63246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16" name="Rectangle 192"/>
          <p:cNvSpPr>
            <a:spLocks noChangeArrowheads="1"/>
          </p:cNvSpPr>
          <p:nvPr/>
        </p:nvSpPr>
        <p:spPr bwMode="auto">
          <a:xfrm>
            <a:off x="67818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417" name="Rectangle 193"/>
          <p:cNvSpPr>
            <a:spLocks noChangeArrowheads="1"/>
          </p:cNvSpPr>
          <p:nvPr/>
        </p:nvSpPr>
        <p:spPr bwMode="auto">
          <a:xfrm>
            <a:off x="72390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18" name="Rectangle 194"/>
          <p:cNvSpPr>
            <a:spLocks noChangeArrowheads="1"/>
          </p:cNvSpPr>
          <p:nvPr/>
        </p:nvSpPr>
        <p:spPr bwMode="auto">
          <a:xfrm>
            <a:off x="76962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19" name="Rectangle 195"/>
          <p:cNvSpPr>
            <a:spLocks noChangeArrowheads="1"/>
          </p:cNvSpPr>
          <p:nvPr/>
        </p:nvSpPr>
        <p:spPr bwMode="auto">
          <a:xfrm>
            <a:off x="685800" y="3200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0x018: halt</a:t>
            </a:r>
          </a:p>
        </p:txBody>
      </p:sp>
      <p:sp>
        <p:nvSpPr>
          <p:cNvPr id="436420" name="Rectangle 196"/>
          <p:cNvSpPr>
            <a:spLocks noChangeArrowheads="1"/>
          </p:cNvSpPr>
          <p:nvPr/>
        </p:nvSpPr>
        <p:spPr bwMode="auto">
          <a:xfrm>
            <a:off x="63246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421" name="Rectangle 197"/>
          <p:cNvSpPr>
            <a:spLocks noChangeArrowheads="1"/>
          </p:cNvSpPr>
          <p:nvPr/>
        </p:nvSpPr>
        <p:spPr bwMode="auto">
          <a:xfrm>
            <a:off x="67818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22" name="Rectangle 198"/>
          <p:cNvSpPr>
            <a:spLocks noChangeArrowheads="1"/>
          </p:cNvSpPr>
          <p:nvPr/>
        </p:nvSpPr>
        <p:spPr bwMode="auto">
          <a:xfrm>
            <a:off x="72390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423" name="Rectangle 199"/>
          <p:cNvSpPr>
            <a:spLocks noChangeArrowheads="1"/>
          </p:cNvSpPr>
          <p:nvPr/>
        </p:nvSpPr>
        <p:spPr bwMode="auto">
          <a:xfrm>
            <a:off x="76962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24" name="Rectangle 200"/>
          <p:cNvSpPr>
            <a:spLocks noChangeArrowheads="1"/>
          </p:cNvSpPr>
          <p:nvPr/>
        </p:nvSpPr>
        <p:spPr bwMode="auto">
          <a:xfrm>
            <a:off x="8153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25" name="Rectangle 201"/>
          <p:cNvSpPr>
            <a:spLocks noChangeArrowheads="1"/>
          </p:cNvSpPr>
          <p:nvPr/>
        </p:nvSpPr>
        <p:spPr bwMode="auto">
          <a:xfrm>
            <a:off x="7696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36426" name="Rectangle 202"/>
          <p:cNvSpPr>
            <a:spLocks noChangeArrowheads="1"/>
          </p:cNvSpPr>
          <p:nvPr/>
        </p:nvSpPr>
        <p:spPr bwMode="auto">
          <a:xfrm>
            <a:off x="685800" y="1066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# demo-h2.ys</a:t>
            </a:r>
          </a:p>
        </p:txBody>
      </p:sp>
      <p:sp>
        <p:nvSpPr>
          <p:cNvPr id="436427" name="Freeform 203"/>
          <p:cNvSpPr>
            <a:spLocks/>
          </p:cNvSpPr>
          <p:nvPr/>
        </p:nvSpPr>
        <p:spPr bwMode="auto">
          <a:xfrm>
            <a:off x="6172200" y="27432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6428" name="Rectangle 204"/>
          <p:cNvSpPr>
            <a:spLocks noChangeArrowheads="1"/>
          </p:cNvSpPr>
          <p:nvPr/>
        </p:nvSpPr>
        <p:spPr bwMode="auto">
          <a:xfrm>
            <a:off x="5867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429" name="Rectangle 205"/>
          <p:cNvSpPr>
            <a:spLocks noChangeArrowheads="1"/>
          </p:cNvSpPr>
          <p:nvPr/>
        </p:nvSpPr>
        <p:spPr bwMode="auto">
          <a:xfrm>
            <a:off x="49530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6430" name="Rectangle 206"/>
          <p:cNvSpPr>
            <a:spLocks noChangeArrowheads="1"/>
          </p:cNvSpPr>
          <p:nvPr/>
        </p:nvSpPr>
        <p:spPr bwMode="auto">
          <a:xfrm>
            <a:off x="54102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6431" name="Rectangle 207"/>
          <p:cNvSpPr>
            <a:spLocks noChangeArrowheads="1"/>
          </p:cNvSpPr>
          <p:nvPr/>
        </p:nvSpPr>
        <p:spPr bwMode="auto">
          <a:xfrm>
            <a:off x="58674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6432" name="Rectangle 208"/>
          <p:cNvSpPr>
            <a:spLocks noChangeArrowheads="1"/>
          </p:cNvSpPr>
          <p:nvPr/>
        </p:nvSpPr>
        <p:spPr bwMode="auto">
          <a:xfrm>
            <a:off x="63246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6433" name="Rectangle 209"/>
          <p:cNvSpPr>
            <a:spLocks noChangeArrowheads="1"/>
          </p:cNvSpPr>
          <p:nvPr/>
        </p:nvSpPr>
        <p:spPr bwMode="auto">
          <a:xfrm>
            <a:off x="67818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6434" name="Rectangle 210"/>
          <p:cNvSpPr>
            <a:spLocks noChangeArrowheads="1"/>
          </p:cNvSpPr>
          <p:nvPr/>
        </p:nvSpPr>
        <p:spPr bwMode="auto">
          <a:xfrm>
            <a:off x="685800" y="2286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0x015: </a:t>
            </a:r>
            <a:r>
              <a:rPr lang="en-US" sz="1400" b="0" dirty="0" err="1">
                <a:latin typeface="Courier New" pitchFamily="49" charset="0"/>
              </a:rPr>
              <a:t>nop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6435" name="Rectangle 211"/>
          <p:cNvSpPr>
            <a:spLocks noChangeArrowheads="1"/>
          </p:cNvSpPr>
          <p:nvPr/>
        </p:nvSpPr>
        <p:spPr bwMode="auto">
          <a:xfrm>
            <a:off x="8153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85770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Stall Condition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984250"/>
            <a:ext cx="3900487" cy="5213350"/>
          </a:xfrm>
        </p:spPr>
        <p:txBody>
          <a:bodyPr/>
          <a:lstStyle/>
          <a:p>
            <a:r>
              <a:rPr lang="en-US" dirty="0"/>
              <a:t>Source Registers</a:t>
            </a:r>
          </a:p>
          <a:p>
            <a:pPr lvl="1"/>
            <a:r>
              <a:rPr lang="en-US" dirty="0" err="1"/>
              <a:t>srcA</a:t>
            </a:r>
            <a:r>
              <a:rPr lang="en-US" dirty="0"/>
              <a:t> and </a:t>
            </a:r>
            <a:r>
              <a:rPr lang="en-US" dirty="0" err="1"/>
              <a:t>srcB</a:t>
            </a:r>
            <a:r>
              <a:rPr lang="en-US" dirty="0"/>
              <a:t> of current instruction in decode stage</a:t>
            </a:r>
          </a:p>
          <a:p>
            <a:r>
              <a:rPr lang="en-US" dirty="0"/>
              <a:t>Destination Registers</a:t>
            </a:r>
          </a:p>
          <a:p>
            <a:pPr lvl="1"/>
            <a:r>
              <a:rPr lang="en-US" dirty="0" err="1"/>
              <a:t>dstE</a:t>
            </a:r>
            <a:r>
              <a:rPr lang="en-US" dirty="0"/>
              <a:t> and </a:t>
            </a:r>
            <a:r>
              <a:rPr lang="en-US" dirty="0" err="1"/>
              <a:t>dstM</a:t>
            </a:r>
            <a:r>
              <a:rPr lang="en-US" dirty="0"/>
              <a:t> fields</a:t>
            </a:r>
          </a:p>
          <a:p>
            <a:pPr lvl="1"/>
            <a:r>
              <a:rPr lang="en-US" dirty="0"/>
              <a:t>Instructions in execute, memory, and write-back stages</a:t>
            </a:r>
          </a:p>
          <a:p>
            <a:r>
              <a:rPr lang="en-US" dirty="0"/>
              <a:t>Special Case</a:t>
            </a:r>
          </a:p>
          <a:p>
            <a:pPr lvl="1"/>
            <a:r>
              <a:rPr lang="en-US" dirty="0"/>
              <a:t>Don’t stall for register ID 15 (0xF)</a:t>
            </a:r>
          </a:p>
          <a:p>
            <a:pPr lvl="2"/>
            <a:r>
              <a:rPr lang="en-US" dirty="0"/>
              <a:t>Indicates absence of register operand</a:t>
            </a:r>
          </a:p>
          <a:p>
            <a:pPr lvl="2"/>
            <a:r>
              <a:rPr lang="en-US" dirty="0"/>
              <a:t>Or failed cond. move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0850" y="21537"/>
            <a:ext cx="4794250" cy="682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76351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Detecting Stall Condition</a:t>
            </a:r>
          </a:p>
        </p:txBody>
      </p:sp>
      <p:sp>
        <p:nvSpPr>
          <p:cNvPr id="439300" name="Rectangle 4"/>
          <p:cNvSpPr>
            <a:spLocks noChangeArrowheads="1"/>
          </p:cNvSpPr>
          <p:nvPr/>
        </p:nvSpPr>
        <p:spPr bwMode="auto">
          <a:xfrm>
            <a:off x="685800" y="1371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0x000: </a:t>
            </a:r>
            <a:r>
              <a:rPr lang="en-US" sz="1400" b="0" dirty="0" err="1">
                <a:latin typeface="Courier New" pitchFamily="49" charset="0"/>
              </a:rPr>
              <a:t>irmovq</a:t>
            </a:r>
            <a:r>
              <a:rPr lang="en-US" sz="1400" b="0" dirty="0">
                <a:latin typeface="Courier New" pitchFamily="49" charset="0"/>
              </a:rPr>
              <a:t> $10,%rdx</a:t>
            </a:r>
          </a:p>
        </p:txBody>
      </p:sp>
      <p:sp>
        <p:nvSpPr>
          <p:cNvPr id="439301" name="Rectangle 5"/>
          <p:cNvSpPr>
            <a:spLocks noChangeArrowheads="1"/>
          </p:cNvSpPr>
          <p:nvPr/>
        </p:nvSpPr>
        <p:spPr bwMode="auto">
          <a:xfrm>
            <a:off x="3581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39302" name="Rectangle 6"/>
          <p:cNvSpPr>
            <a:spLocks noChangeArrowheads="1"/>
          </p:cNvSpPr>
          <p:nvPr/>
        </p:nvSpPr>
        <p:spPr bwMode="auto">
          <a:xfrm>
            <a:off x="4038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39303" name="Rectangle 7"/>
          <p:cNvSpPr>
            <a:spLocks noChangeArrowheads="1"/>
          </p:cNvSpPr>
          <p:nvPr/>
        </p:nvSpPr>
        <p:spPr bwMode="auto">
          <a:xfrm>
            <a:off x="4495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39304" name="Rectangle 8"/>
          <p:cNvSpPr>
            <a:spLocks noChangeArrowheads="1"/>
          </p:cNvSpPr>
          <p:nvPr/>
        </p:nvSpPr>
        <p:spPr bwMode="auto">
          <a:xfrm>
            <a:off x="4953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39305" name="Rectangle 9"/>
          <p:cNvSpPr>
            <a:spLocks noChangeArrowheads="1"/>
          </p:cNvSpPr>
          <p:nvPr/>
        </p:nvSpPr>
        <p:spPr bwMode="auto">
          <a:xfrm>
            <a:off x="5410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39306" name="Rectangle 10"/>
          <p:cNvSpPr>
            <a:spLocks noChangeArrowheads="1"/>
          </p:cNvSpPr>
          <p:nvPr/>
        </p:nvSpPr>
        <p:spPr bwMode="auto">
          <a:xfrm>
            <a:off x="5867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439307" name="Rectangle 11"/>
          <p:cNvSpPr>
            <a:spLocks noChangeArrowheads="1"/>
          </p:cNvSpPr>
          <p:nvPr/>
        </p:nvSpPr>
        <p:spPr bwMode="auto">
          <a:xfrm>
            <a:off x="63246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439308" name="Rectangle 12"/>
          <p:cNvSpPr>
            <a:spLocks noChangeArrowheads="1"/>
          </p:cNvSpPr>
          <p:nvPr/>
        </p:nvSpPr>
        <p:spPr bwMode="auto">
          <a:xfrm>
            <a:off x="67818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8</a:t>
            </a:r>
          </a:p>
        </p:txBody>
      </p:sp>
      <p:sp>
        <p:nvSpPr>
          <p:cNvPr id="439309" name="Rectangle 13"/>
          <p:cNvSpPr>
            <a:spLocks noChangeArrowheads="1"/>
          </p:cNvSpPr>
          <p:nvPr/>
        </p:nvSpPr>
        <p:spPr bwMode="auto">
          <a:xfrm>
            <a:off x="72390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9</a:t>
            </a:r>
          </a:p>
        </p:txBody>
      </p:sp>
      <p:grpSp>
        <p:nvGrpSpPr>
          <p:cNvPr id="439310" name="Group 14"/>
          <p:cNvGrpSpPr>
            <a:grpSpLocks/>
          </p:cNvGrpSpPr>
          <p:nvPr/>
        </p:nvGrpSpPr>
        <p:grpSpPr bwMode="auto">
          <a:xfrm>
            <a:off x="3581400" y="1371600"/>
            <a:ext cx="2286000" cy="304800"/>
            <a:chOff x="1920" y="1296"/>
            <a:chExt cx="1440" cy="192"/>
          </a:xfrm>
        </p:grpSpPr>
        <p:sp>
          <p:nvSpPr>
            <p:cNvPr id="439311" name="Rectangle 15"/>
            <p:cNvSpPr>
              <a:spLocks noChangeArrowheads="1"/>
            </p:cNvSpPr>
            <p:nvPr/>
          </p:nvSpPr>
          <p:spPr bwMode="auto">
            <a:xfrm>
              <a:off x="192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39312" name="Rectangle 16"/>
            <p:cNvSpPr>
              <a:spLocks noChangeArrowheads="1"/>
            </p:cNvSpPr>
            <p:nvPr/>
          </p:nvSpPr>
          <p:spPr bwMode="auto">
            <a:xfrm>
              <a:off x="220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39313" name="Rectangle 17"/>
            <p:cNvSpPr>
              <a:spLocks noChangeArrowheads="1"/>
            </p:cNvSpPr>
            <p:nvPr/>
          </p:nvSpPr>
          <p:spPr bwMode="auto">
            <a:xfrm>
              <a:off x="249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39314" name="Rectangle 18"/>
            <p:cNvSpPr>
              <a:spLocks noChangeArrowheads="1"/>
            </p:cNvSpPr>
            <p:nvPr/>
          </p:nvSpPr>
          <p:spPr bwMode="auto">
            <a:xfrm>
              <a:off x="278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39315" name="Rectangle 19"/>
            <p:cNvSpPr>
              <a:spLocks noChangeArrowheads="1"/>
            </p:cNvSpPr>
            <p:nvPr/>
          </p:nvSpPr>
          <p:spPr bwMode="auto">
            <a:xfrm>
              <a:off x="3072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</p:grpSp>
      <p:sp>
        <p:nvSpPr>
          <p:cNvPr id="439316" name="Rectangle 20"/>
          <p:cNvSpPr>
            <a:spLocks noChangeArrowheads="1"/>
          </p:cNvSpPr>
          <p:nvPr/>
        </p:nvSpPr>
        <p:spPr bwMode="auto">
          <a:xfrm>
            <a:off x="685800" y="1676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0x00a: </a:t>
            </a:r>
            <a:r>
              <a:rPr lang="en-US" sz="1400" b="0" dirty="0" err="1">
                <a:latin typeface="Courier New" pitchFamily="49" charset="0"/>
              </a:rPr>
              <a:t>irmovq</a:t>
            </a:r>
            <a:r>
              <a:rPr lang="en-US" sz="1400" b="0" dirty="0">
                <a:latin typeface="Courier New" pitchFamily="49" charset="0"/>
              </a:rPr>
              <a:t>  $3,%rax</a:t>
            </a:r>
          </a:p>
        </p:txBody>
      </p:sp>
      <p:sp>
        <p:nvSpPr>
          <p:cNvPr id="439317" name="Rectangle 21"/>
          <p:cNvSpPr>
            <a:spLocks noChangeArrowheads="1"/>
          </p:cNvSpPr>
          <p:nvPr/>
        </p:nvSpPr>
        <p:spPr bwMode="auto">
          <a:xfrm>
            <a:off x="40386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18" name="Rectangle 22"/>
          <p:cNvSpPr>
            <a:spLocks noChangeArrowheads="1"/>
          </p:cNvSpPr>
          <p:nvPr/>
        </p:nvSpPr>
        <p:spPr bwMode="auto">
          <a:xfrm>
            <a:off x="44958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19" name="Rectangle 23"/>
          <p:cNvSpPr>
            <a:spLocks noChangeArrowheads="1"/>
          </p:cNvSpPr>
          <p:nvPr/>
        </p:nvSpPr>
        <p:spPr bwMode="auto">
          <a:xfrm>
            <a:off x="49530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20" name="Rectangle 24"/>
          <p:cNvSpPr>
            <a:spLocks noChangeArrowheads="1"/>
          </p:cNvSpPr>
          <p:nvPr/>
        </p:nvSpPr>
        <p:spPr bwMode="auto">
          <a:xfrm>
            <a:off x="54102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21" name="Rectangle 25"/>
          <p:cNvSpPr>
            <a:spLocks noChangeArrowheads="1"/>
          </p:cNvSpPr>
          <p:nvPr/>
        </p:nvSpPr>
        <p:spPr bwMode="auto">
          <a:xfrm>
            <a:off x="5867400" y="1676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22" name="Rectangle 26"/>
          <p:cNvSpPr>
            <a:spLocks noChangeArrowheads="1"/>
          </p:cNvSpPr>
          <p:nvPr/>
        </p:nvSpPr>
        <p:spPr bwMode="auto">
          <a:xfrm>
            <a:off x="685800" y="1981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0x014: </a:t>
            </a:r>
            <a:r>
              <a:rPr lang="en-US" sz="1400" b="0" dirty="0" err="1">
                <a:latin typeface="Courier New" pitchFamily="49" charset="0"/>
              </a:rPr>
              <a:t>nop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9323" name="Rectangle 27"/>
          <p:cNvSpPr>
            <a:spLocks noChangeArrowheads="1"/>
          </p:cNvSpPr>
          <p:nvPr/>
        </p:nvSpPr>
        <p:spPr bwMode="auto">
          <a:xfrm>
            <a:off x="44958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24" name="Rectangle 28"/>
          <p:cNvSpPr>
            <a:spLocks noChangeArrowheads="1"/>
          </p:cNvSpPr>
          <p:nvPr/>
        </p:nvSpPr>
        <p:spPr bwMode="auto">
          <a:xfrm>
            <a:off x="49530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25" name="Rectangle 29"/>
          <p:cNvSpPr>
            <a:spLocks noChangeArrowheads="1"/>
          </p:cNvSpPr>
          <p:nvPr/>
        </p:nvSpPr>
        <p:spPr bwMode="auto">
          <a:xfrm>
            <a:off x="54102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26" name="Rectangle 30"/>
          <p:cNvSpPr>
            <a:spLocks noChangeArrowheads="1"/>
          </p:cNvSpPr>
          <p:nvPr/>
        </p:nvSpPr>
        <p:spPr bwMode="auto">
          <a:xfrm>
            <a:off x="58674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27" name="Rectangle 31"/>
          <p:cNvSpPr>
            <a:spLocks noChangeArrowheads="1"/>
          </p:cNvSpPr>
          <p:nvPr/>
        </p:nvSpPr>
        <p:spPr bwMode="auto">
          <a:xfrm>
            <a:off x="6324600" y="1981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28" name="Rectangle 32"/>
          <p:cNvSpPr>
            <a:spLocks noChangeArrowheads="1"/>
          </p:cNvSpPr>
          <p:nvPr/>
        </p:nvSpPr>
        <p:spPr bwMode="auto">
          <a:xfrm>
            <a:off x="685800" y="2590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>
                <a:latin typeface="Courier New" pitchFamily="49" charset="0"/>
              </a:rPr>
              <a:t>       </a:t>
            </a:r>
            <a:r>
              <a:rPr lang="en-US" sz="1400" i="1">
                <a:latin typeface="Courier New" pitchFamily="49" charset="0"/>
              </a:rPr>
              <a:t>bubble</a:t>
            </a:r>
          </a:p>
        </p:txBody>
      </p:sp>
      <p:grpSp>
        <p:nvGrpSpPr>
          <p:cNvPr id="439329" name="Group 33"/>
          <p:cNvGrpSpPr>
            <a:grpSpLocks/>
          </p:cNvGrpSpPr>
          <p:nvPr/>
        </p:nvGrpSpPr>
        <p:grpSpPr bwMode="auto">
          <a:xfrm>
            <a:off x="5410200" y="2590800"/>
            <a:ext cx="2286000" cy="609600"/>
            <a:chOff x="2976" y="1008"/>
            <a:chExt cx="1440" cy="384"/>
          </a:xfrm>
        </p:grpSpPr>
        <p:sp>
          <p:nvSpPr>
            <p:cNvPr id="439330" name="Rectangle 34"/>
            <p:cNvSpPr>
              <a:spLocks noChangeArrowheads="1"/>
            </p:cNvSpPr>
            <p:nvPr/>
          </p:nvSpPr>
          <p:spPr bwMode="auto">
            <a:xfrm>
              <a:off x="2976" y="120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39331" name="Rectangle 35"/>
            <p:cNvSpPr>
              <a:spLocks noChangeArrowheads="1"/>
            </p:cNvSpPr>
            <p:nvPr/>
          </p:nvSpPr>
          <p:spPr bwMode="auto">
            <a:xfrm>
              <a:off x="3552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39332" name="Rectangle 36"/>
            <p:cNvSpPr>
              <a:spLocks noChangeArrowheads="1"/>
            </p:cNvSpPr>
            <p:nvPr/>
          </p:nvSpPr>
          <p:spPr bwMode="auto">
            <a:xfrm>
              <a:off x="3840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39333" name="Rectangle 37"/>
            <p:cNvSpPr>
              <a:spLocks noChangeArrowheads="1"/>
            </p:cNvSpPr>
            <p:nvPr/>
          </p:nvSpPr>
          <p:spPr bwMode="auto">
            <a:xfrm>
              <a:off x="4128" y="1008"/>
              <a:ext cx="28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</p:grpSp>
      <p:sp>
        <p:nvSpPr>
          <p:cNvPr id="439334" name="Rectangle 38"/>
          <p:cNvSpPr>
            <a:spLocks noChangeArrowheads="1"/>
          </p:cNvSpPr>
          <p:nvPr/>
        </p:nvSpPr>
        <p:spPr bwMode="auto">
          <a:xfrm>
            <a:off x="685800" y="2895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0x016: </a:t>
            </a:r>
            <a:r>
              <a:rPr lang="en-US" sz="1400" b="0" dirty="0" err="1">
                <a:latin typeface="Courier New" pitchFamily="49" charset="0"/>
              </a:rPr>
              <a:t>addq</a:t>
            </a:r>
            <a:r>
              <a:rPr lang="en-US" sz="1400" b="0" dirty="0">
                <a:latin typeface="Courier New" pitchFamily="49" charset="0"/>
              </a:rPr>
              <a:t> %</a:t>
            </a:r>
            <a:r>
              <a:rPr lang="en-US" sz="1400" b="0" dirty="0" err="1">
                <a:latin typeface="Courier New" pitchFamily="49" charset="0"/>
              </a:rPr>
              <a:t>rdx</a:t>
            </a:r>
            <a:r>
              <a:rPr lang="en-US" sz="1400" b="0" dirty="0">
                <a:latin typeface="Courier New" pitchFamily="49" charset="0"/>
              </a:rPr>
              <a:t>,%</a:t>
            </a:r>
            <a:r>
              <a:rPr lang="en-US" sz="1400" b="0" dirty="0" err="1">
                <a:latin typeface="Courier New" pitchFamily="49" charset="0"/>
              </a:rPr>
              <a:t>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9335" name="Rectangle 39"/>
          <p:cNvSpPr>
            <a:spLocks noChangeArrowheads="1"/>
          </p:cNvSpPr>
          <p:nvPr/>
        </p:nvSpPr>
        <p:spPr bwMode="auto">
          <a:xfrm>
            <a:off x="58674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36" name="Rectangle 40"/>
          <p:cNvSpPr>
            <a:spLocks noChangeArrowheads="1"/>
          </p:cNvSpPr>
          <p:nvPr/>
        </p:nvSpPr>
        <p:spPr bwMode="auto">
          <a:xfrm>
            <a:off x="63246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37" name="Rectangle 41"/>
          <p:cNvSpPr>
            <a:spLocks noChangeArrowheads="1"/>
          </p:cNvSpPr>
          <p:nvPr/>
        </p:nvSpPr>
        <p:spPr bwMode="auto">
          <a:xfrm>
            <a:off x="67818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38" name="Rectangle 42"/>
          <p:cNvSpPr>
            <a:spLocks noChangeArrowheads="1"/>
          </p:cNvSpPr>
          <p:nvPr/>
        </p:nvSpPr>
        <p:spPr bwMode="auto">
          <a:xfrm>
            <a:off x="72390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39" name="Rectangle 43"/>
          <p:cNvSpPr>
            <a:spLocks noChangeArrowheads="1"/>
          </p:cNvSpPr>
          <p:nvPr/>
        </p:nvSpPr>
        <p:spPr bwMode="auto">
          <a:xfrm>
            <a:off x="7696200" y="2895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40" name="Rectangle 44"/>
          <p:cNvSpPr>
            <a:spLocks noChangeArrowheads="1"/>
          </p:cNvSpPr>
          <p:nvPr/>
        </p:nvSpPr>
        <p:spPr bwMode="auto">
          <a:xfrm>
            <a:off x="685800" y="3200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0x018: halt</a:t>
            </a:r>
          </a:p>
        </p:txBody>
      </p:sp>
      <p:sp>
        <p:nvSpPr>
          <p:cNvPr id="439341" name="Rectangle 45"/>
          <p:cNvSpPr>
            <a:spLocks noChangeArrowheads="1"/>
          </p:cNvSpPr>
          <p:nvPr/>
        </p:nvSpPr>
        <p:spPr bwMode="auto">
          <a:xfrm>
            <a:off x="63246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42" name="Rectangle 46"/>
          <p:cNvSpPr>
            <a:spLocks noChangeArrowheads="1"/>
          </p:cNvSpPr>
          <p:nvPr/>
        </p:nvSpPr>
        <p:spPr bwMode="auto">
          <a:xfrm>
            <a:off x="67818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43" name="Rectangle 47"/>
          <p:cNvSpPr>
            <a:spLocks noChangeArrowheads="1"/>
          </p:cNvSpPr>
          <p:nvPr/>
        </p:nvSpPr>
        <p:spPr bwMode="auto">
          <a:xfrm>
            <a:off x="72390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44" name="Rectangle 48"/>
          <p:cNvSpPr>
            <a:spLocks noChangeArrowheads="1"/>
          </p:cNvSpPr>
          <p:nvPr/>
        </p:nvSpPr>
        <p:spPr bwMode="auto">
          <a:xfrm>
            <a:off x="76962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45" name="Rectangle 49"/>
          <p:cNvSpPr>
            <a:spLocks noChangeArrowheads="1"/>
          </p:cNvSpPr>
          <p:nvPr/>
        </p:nvSpPr>
        <p:spPr bwMode="auto">
          <a:xfrm>
            <a:off x="8153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46" name="Rectangle 50"/>
          <p:cNvSpPr>
            <a:spLocks noChangeArrowheads="1"/>
          </p:cNvSpPr>
          <p:nvPr/>
        </p:nvSpPr>
        <p:spPr bwMode="auto">
          <a:xfrm>
            <a:off x="76962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39347" name="Rectangle 51"/>
          <p:cNvSpPr>
            <a:spLocks noChangeArrowheads="1"/>
          </p:cNvSpPr>
          <p:nvPr/>
        </p:nvSpPr>
        <p:spPr bwMode="auto">
          <a:xfrm>
            <a:off x="685800" y="1066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# demo-h2.ys</a:t>
            </a:r>
          </a:p>
        </p:txBody>
      </p:sp>
      <p:sp>
        <p:nvSpPr>
          <p:cNvPr id="439348" name="Freeform 52"/>
          <p:cNvSpPr>
            <a:spLocks/>
          </p:cNvSpPr>
          <p:nvPr/>
        </p:nvSpPr>
        <p:spPr bwMode="auto">
          <a:xfrm>
            <a:off x="6172200" y="27432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9349" name="Rectangle 53"/>
          <p:cNvSpPr>
            <a:spLocks noChangeArrowheads="1"/>
          </p:cNvSpPr>
          <p:nvPr/>
        </p:nvSpPr>
        <p:spPr bwMode="auto">
          <a:xfrm>
            <a:off x="5867400" y="3200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50" name="Rectangle 54"/>
          <p:cNvSpPr>
            <a:spLocks noChangeArrowheads="1"/>
          </p:cNvSpPr>
          <p:nvPr/>
        </p:nvSpPr>
        <p:spPr bwMode="auto">
          <a:xfrm>
            <a:off x="49530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39351" name="Rectangle 55"/>
          <p:cNvSpPr>
            <a:spLocks noChangeArrowheads="1"/>
          </p:cNvSpPr>
          <p:nvPr/>
        </p:nvSpPr>
        <p:spPr bwMode="auto">
          <a:xfrm>
            <a:off x="54102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39352" name="Rectangle 56"/>
          <p:cNvSpPr>
            <a:spLocks noChangeArrowheads="1"/>
          </p:cNvSpPr>
          <p:nvPr/>
        </p:nvSpPr>
        <p:spPr bwMode="auto">
          <a:xfrm>
            <a:off x="58674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39353" name="Rectangle 57"/>
          <p:cNvSpPr>
            <a:spLocks noChangeArrowheads="1"/>
          </p:cNvSpPr>
          <p:nvPr/>
        </p:nvSpPr>
        <p:spPr bwMode="auto">
          <a:xfrm>
            <a:off x="63246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39354" name="Rectangle 58"/>
          <p:cNvSpPr>
            <a:spLocks noChangeArrowheads="1"/>
          </p:cNvSpPr>
          <p:nvPr/>
        </p:nvSpPr>
        <p:spPr bwMode="auto">
          <a:xfrm>
            <a:off x="6781800" y="22860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39355" name="Rectangle 59"/>
          <p:cNvSpPr>
            <a:spLocks noChangeArrowheads="1"/>
          </p:cNvSpPr>
          <p:nvPr/>
        </p:nvSpPr>
        <p:spPr bwMode="auto">
          <a:xfrm>
            <a:off x="685800" y="2286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0x015: </a:t>
            </a:r>
            <a:r>
              <a:rPr lang="en-US" sz="1400" b="0" dirty="0" err="1">
                <a:latin typeface="Courier New" pitchFamily="49" charset="0"/>
              </a:rPr>
              <a:t>nop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39356" name="Rectangle 60"/>
          <p:cNvSpPr>
            <a:spLocks noChangeArrowheads="1"/>
          </p:cNvSpPr>
          <p:nvPr/>
        </p:nvSpPr>
        <p:spPr bwMode="auto">
          <a:xfrm>
            <a:off x="8153400" y="990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11</a:t>
            </a:r>
          </a:p>
        </p:txBody>
      </p:sp>
      <p:sp>
        <p:nvSpPr>
          <p:cNvPr id="439357" name="Line 61"/>
          <p:cNvSpPr>
            <a:spLocks noChangeShapeType="1"/>
          </p:cNvSpPr>
          <p:nvPr/>
        </p:nvSpPr>
        <p:spPr bwMode="auto">
          <a:xfrm flipH="1">
            <a:off x="5181600" y="3492500"/>
            <a:ext cx="6858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9358" name="Line 62"/>
          <p:cNvSpPr>
            <a:spLocks noChangeShapeType="1"/>
          </p:cNvSpPr>
          <p:nvPr/>
        </p:nvSpPr>
        <p:spPr bwMode="auto">
          <a:xfrm>
            <a:off x="6324600" y="3492500"/>
            <a:ext cx="6858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39368" name="Group 72"/>
          <p:cNvGrpSpPr>
            <a:grpSpLocks/>
          </p:cNvGrpSpPr>
          <p:nvPr/>
        </p:nvGrpSpPr>
        <p:grpSpPr bwMode="auto">
          <a:xfrm>
            <a:off x="5181600" y="3733800"/>
            <a:ext cx="1828800" cy="2971800"/>
            <a:chOff x="2880" y="2440"/>
            <a:chExt cx="1152" cy="1872"/>
          </a:xfrm>
        </p:grpSpPr>
        <p:sp>
          <p:nvSpPr>
            <p:cNvPr id="439359" name="Rectangle 63"/>
            <p:cNvSpPr>
              <a:spLocks noChangeArrowheads="1"/>
            </p:cNvSpPr>
            <p:nvPr/>
          </p:nvSpPr>
          <p:spPr bwMode="auto">
            <a:xfrm>
              <a:off x="2880" y="2440"/>
              <a:ext cx="115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Cycle 6</a:t>
              </a:r>
            </a:p>
          </p:txBody>
        </p:sp>
        <p:sp>
          <p:nvSpPr>
            <p:cNvPr id="439360" name="Rectangle 64"/>
            <p:cNvSpPr>
              <a:spLocks noChangeArrowheads="1"/>
            </p:cNvSpPr>
            <p:nvPr/>
          </p:nvSpPr>
          <p:spPr bwMode="auto">
            <a:xfrm>
              <a:off x="2880" y="2680"/>
              <a:ext cx="1152" cy="62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39362" name="Rectangle 66"/>
            <p:cNvSpPr>
              <a:spLocks noChangeArrowheads="1"/>
            </p:cNvSpPr>
            <p:nvPr/>
          </p:nvSpPr>
          <p:spPr bwMode="auto">
            <a:xfrm>
              <a:off x="2880" y="3688"/>
              <a:ext cx="1152" cy="62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39364" name="Rectangle 68"/>
            <p:cNvSpPr>
              <a:spLocks noChangeArrowheads="1"/>
            </p:cNvSpPr>
            <p:nvPr/>
          </p:nvSpPr>
          <p:spPr bwMode="auto">
            <a:xfrm>
              <a:off x="3343" y="3312"/>
              <a:ext cx="161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 eaLnBrk="1" hangingPunct="1">
                <a:lnSpc>
                  <a:spcPct val="70000"/>
                </a:lnSpc>
              </a:pPr>
              <a:r>
                <a:rPr lang="en-US" sz="1600" b="0"/>
                <a:t>•</a:t>
              </a:r>
            </a:p>
            <a:p>
              <a:pPr algn="l" eaLnBrk="1" hangingPunct="1">
                <a:lnSpc>
                  <a:spcPct val="70000"/>
                </a:lnSpc>
              </a:pPr>
              <a:r>
                <a:rPr lang="en-US" sz="1600" b="0"/>
                <a:t>•</a:t>
              </a:r>
            </a:p>
            <a:p>
              <a:pPr algn="l" eaLnBrk="1" hangingPunct="1">
                <a:lnSpc>
                  <a:spcPct val="70000"/>
                </a:lnSpc>
              </a:pPr>
              <a:r>
                <a:rPr lang="en-US" sz="1600" b="0"/>
                <a:t>•</a:t>
              </a:r>
            </a:p>
          </p:txBody>
        </p:sp>
        <p:sp>
          <p:nvSpPr>
            <p:cNvPr id="439365" name="Rectangle 69"/>
            <p:cNvSpPr>
              <a:spLocks noChangeArrowheads="1"/>
            </p:cNvSpPr>
            <p:nvPr/>
          </p:nvSpPr>
          <p:spPr bwMode="auto">
            <a:xfrm>
              <a:off x="2880" y="2920"/>
              <a:ext cx="1152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W_dstE</a:t>
              </a:r>
              <a:r>
                <a:rPr lang="en-US" sz="1400" b="0" dirty="0"/>
                <a:t> = </a:t>
              </a:r>
              <a:r>
                <a:rPr lang="en-US" sz="1400" dirty="0">
                  <a:solidFill>
                    <a:srgbClr val="FF3300"/>
                  </a:solidFill>
                  <a:latin typeface="Courier New" pitchFamily="49" charset="0"/>
                </a:rPr>
                <a:t>%</a:t>
              </a:r>
              <a:r>
                <a:rPr lang="en-US" sz="1400" dirty="0" err="1">
                  <a:solidFill>
                    <a:srgbClr val="FF33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FF3300"/>
                </a:solidFill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W_valE</a:t>
              </a:r>
              <a:r>
                <a:rPr lang="en-US" sz="1400" b="0" dirty="0"/>
                <a:t> = 3</a:t>
              </a:r>
            </a:p>
          </p:txBody>
        </p:sp>
        <p:sp>
          <p:nvSpPr>
            <p:cNvPr id="439366" name="Rectangle 70"/>
            <p:cNvSpPr>
              <a:spLocks noChangeArrowheads="1"/>
            </p:cNvSpPr>
            <p:nvPr/>
          </p:nvSpPr>
          <p:spPr bwMode="auto">
            <a:xfrm>
              <a:off x="2880" y="3928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srcA</a:t>
              </a:r>
              <a:r>
                <a:rPr lang="en-US" sz="1400" b="0" dirty="0"/>
                <a:t> = </a:t>
              </a:r>
              <a:r>
                <a:rPr lang="en-US" sz="1400" b="0" dirty="0">
                  <a:latin typeface="Courier New" pitchFamily="49" charset="0"/>
                </a:rPr>
                <a:t>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endParaRPr lang="en-US" sz="1400" b="0" dirty="0"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srcB</a:t>
              </a:r>
              <a:r>
                <a:rPr lang="en-US" sz="1400" b="0" dirty="0"/>
                <a:t> = </a:t>
              </a:r>
              <a:r>
                <a:rPr lang="en-US" sz="1400" dirty="0">
                  <a:solidFill>
                    <a:srgbClr val="008000"/>
                  </a:solidFill>
                  <a:latin typeface="Courier New" pitchFamily="49" charset="0"/>
                </a:rPr>
                <a:t>%</a:t>
              </a:r>
              <a:r>
                <a:rPr lang="en-US" sz="1400" dirty="0" err="1">
                  <a:solidFill>
                    <a:srgbClr val="0080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008000"/>
                </a:solidFill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3868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152400"/>
            <a:ext cx="8704262" cy="779463"/>
          </a:xfrm>
        </p:spPr>
        <p:txBody>
          <a:bodyPr/>
          <a:lstStyle/>
          <a:p>
            <a:r>
              <a:rPr lang="en-US"/>
              <a:t>Stalling X3</a:t>
            </a:r>
          </a:p>
        </p:txBody>
      </p:sp>
      <p:sp>
        <p:nvSpPr>
          <p:cNvPr id="441405" name="Rectangle 61"/>
          <p:cNvSpPr>
            <a:spLocks noChangeArrowheads="1"/>
          </p:cNvSpPr>
          <p:nvPr/>
        </p:nvSpPr>
        <p:spPr bwMode="auto">
          <a:xfrm>
            <a:off x="685800" y="1295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0x000: </a:t>
            </a:r>
            <a:r>
              <a:rPr lang="en-US" sz="1400" b="0" dirty="0" err="1">
                <a:latin typeface="Courier New" pitchFamily="49" charset="0"/>
              </a:rPr>
              <a:t>irmovq</a:t>
            </a:r>
            <a:r>
              <a:rPr lang="en-US" sz="1400" b="0" dirty="0">
                <a:latin typeface="Courier New" pitchFamily="49" charset="0"/>
              </a:rPr>
              <a:t> $10,%rdx</a:t>
            </a:r>
          </a:p>
        </p:txBody>
      </p:sp>
      <p:sp>
        <p:nvSpPr>
          <p:cNvPr id="441406" name="Rectangle 62"/>
          <p:cNvSpPr>
            <a:spLocks noChangeArrowheads="1"/>
          </p:cNvSpPr>
          <p:nvPr/>
        </p:nvSpPr>
        <p:spPr bwMode="auto">
          <a:xfrm>
            <a:off x="3581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41407" name="Rectangle 63"/>
          <p:cNvSpPr>
            <a:spLocks noChangeArrowheads="1"/>
          </p:cNvSpPr>
          <p:nvPr/>
        </p:nvSpPr>
        <p:spPr bwMode="auto">
          <a:xfrm>
            <a:off x="40386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41408" name="Rectangle 64"/>
          <p:cNvSpPr>
            <a:spLocks noChangeArrowheads="1"/>
          </p:cNvSpPr>
          <p:nvPr/>
        </p:nvSpPr>
        <p:spPr bwMode="auto">
          <a:xfrm>
            <a:off x="44958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41409" name="Rectangle 65"/>
          <p:cNvSpPr>
            <a:spLocks noChangeArrowheads="1"/>
          </p:cNvSpPr>
          <p:nvPr/>
        </p:nvSpPr>
        <p:spPr bwMode="auto">
          <a:xfrm>
            <a:off x="49530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41410" name="Rectangle 66"/>
          <p:cNvSpPr>
            <a:spLocks noChangeArrowheads="1"/>
          </p:cNvSpPr>
          <p:nvPr/>
        </p:nvSpPr>
        <p:spPr bwMode="auto">
          <a:xfrm>
            <a:off x="54102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41411" name="Rectangle 67"/>
          <p:cNvSpPr>
            <a:spLocks noChangeArrowheads="1"/>
          </p:cNvSpPr>
          <p:nvPr/>
        </p:nvSpPr>
        <p:spPr bwMode="auto">
          <a:xfrm>
            <a:off x="5867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441412" name="Rectangle 68"/>
          <p:cNvSpPr>
            <a:spLocks noChangeArrowheads="1"/>
          </p:cNvSpPr>
          <p:nvPr/>
        </p:nvSpPr>
        <p:spPr bwMode="auto">
          <a:xfrm>
            <a:off x="63246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441413" name="Rectangle 69"/>
          <p:cNvSpPr>
            <a:spLocks noChangeArrowheads="1"/>
          </p:cNvSpPr>
          <p:nvPr/>
        </p:nvSpPr>
        <p:spPr bwMode="auto">
          <a:xfrm>
            <a:off x="67818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8</a:t>
            </a:r>
          </a:p>
        </p:txBody>
      </p:sp>
      <p:sp>
        <p:nvSpPr>
          <p:cNvPr id="441414" name="Rectangle 70"/>
          <p:cNvSpPr>
            <a:spLocks noChangeArrowheads="1"/>
          </p:cNvSpPr>
          <p:nvPr/>
        </p:nvSpPr>
        <p:spPr bwMode="auto">
          <a:xfrm>
            <a:off x="72390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9</a:t>
            </a:r>
          </a:p>
        </p:txBody>
      </p:sp>
      <p:sp>
        <p:nvSpPr>
          <p:cNvPr id="441415" name="Rectangle 71"/>
          <p:cNvSpPr>
            <a:spLocks noChangeArrowheads="1"/>
          </p:cNvSpPr>
          <p:nvPr/>
        </p:nvSpPr>
        <p:spPr bwMode="auto">
          <a:xfrm>
            <a:off x="35814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16" name="Rectangle 72"/>
          <p:cNvSpPr>
            <a:spLocks noChangeArrowheads="1"/>
          </p:cNvSpPr>
          <p:nvPr/>
        </p:nvSpPr>
        <p:spPr bwMode="auto">
          <a:xfrm>
            <a:off x="40386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17" name="Rectangle 73"/>
          <p:cNvSpPr>
            <a:spLocks noChangeArrowheads="1"/>
          </p:cNvSpPr>
          <p:nvPr/>
        </p:nvSpPr>
        <p:spPr bwMode="auto">
          <a:xfrm>
            <a:off x="44958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18" name="Rectangle 74"/>
          <p:cNvSpPr>
            <a:spLocks noChangeArrowheads="1"/>
          </p:cNvSpPr>
          <p:nvPr/>
        </p:nvSpPr>
        <p:spPr bwMode="auto">
          <a:xfrm>
            <a:off x="49530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19" name="Rectangle 75"/>
          <p:cNvSpPr>
            <a:spLocks noChangeArrowheads="1"/>
          </p:cNvSpPr>
          <p:nvPr/>
        </p:nvSpPr>
        <p:spPr bwMode="auto">
          <a:xfrm>
            <a:off x="5410200" y="1295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20" name="Rectangle 76"/>
          <p:cNvSpPr>
            <a:spLocks noChangeArrowheads="1"/>
          </p:cNvSpPr>
          <p:nvPr/>
        </p:nvSpPr>
        <p:spPr bwMode="auto">
          <a:xfrm>
            <a:off x="685800" y="1600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0x00a: </a:t>
            </a:r>
            <a:r>
              <a:rPr lang="en-US" sz="1400" b="0" dirty="0" err="1">
                <a:latin typeface="Courier New" pitchFamily="49" charset="0"/>
              </a:rPr>
              <a:t>irmovq</a:t>
            </a:r>
            <a:r>
              <a:rPr lang="en-US" sz="1400" b="0" dirty="0">
                <a:latin typeface="Courier New" pitchFamily="49" charset="0"/>
              </a:rPr>
              <a:t>  $3,%rax</a:t>
            </a:r>
          </a:p>
        </p:txBody>
      </p:sp>
      <p:sp>
        <p:nvSpPr>
          <p:cNvPr id="441421" name="Rectangle 77"/>
          <p:cNvSpPr>
            <a:spLocks noChangeArrowheads="1"/>
          </p:cNvSpPr>
          <p:nvPr/>
        </p:nvSpPr>
        <p:spPr bwMode="auto">
          <a:xfrm>
            <a:off x="40386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22" name="Rectangle 78"/>
          <p:cNvSpPr>
            <a:spLocks noChangeArrowheads="1"/>
          </p:cNvSpPr>
          <p:nvPr/>
        </p:nvSpPr>
        <p:spPr bwMode="auto">
          <a:xfrm>
            <a:off x="44958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23" name="Rectangle 79"/>
          <p:cNvSpPr>
            <a:spLocks noChangeArrowheads="1"/>
          </p:cNvSpPr>
          <p:nvPr/>
        </p:nvSpPr>
        <p:spPr bwMode="auto">
          <a:xfrm>
            <a:off x="49530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24" name="Rectangle 80"/>
          <p:cNvSpPr>
            <a:spLocks noChangeArrowheads="1"/>
          </p:cNvSpPr>
          <p:nvPr/>
        </p:nvSpPr>
        <p:spPr bwMode="auto">
          <a:xfrm>
            <a:off x="54102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25" name="Rectangle 81"/>
          <p:cNvSpPr>
            <a:spLocks noChangeArrowheads="1"/>
          </p:cNvSpPr>
          <p:nvPr/>
        </p:nvSpPr>
        <p:spPr bwMode="auto">
          <a:xfrm>
            <a:off x="5867400" y="1600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26" name="Rectangle 82"/>
          <p:cNvSpPr>
            <a:spLocks noChangeArrowheads="1"/>
          </p:cNvSpPr>
          <p:nvPr/>
        </p:nvSpPr>
        <p:spPr bwMode="auto">
          <a:xfrm>
            <a:off x="685800" y="1905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>
                <a:latin typeface="Courier New" pitchFamily="49" charset="0"/>
              </a:rPr>
              <a:t>       </a:t>
            </a:r>
            <a:r>
              <a:rPr lang="en-US" sz="1400" i="1">
                <a:latin typeface="Courier New" pitchFamily="49" charset="0"/>
              </a:rPr>
              <a:t>bubble</a:t>
            </a:r>
          </a:p>
        </p:txBody>
      </p:sp>
      <p:sp>
        <p:nvSpPr>
          <p:cNvPr id="441427" name="Rectangle 83"/>
          <p:cNvSpPr>
            <a:spLocks noChangeArrowheads="1"/>
          </p:cNvSpPr>
          <p:nvPr/>
        </p:nvSpPr>
        <p:spPr bwMode="auto">
          <a:xfrm>
            <a:off x="44958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28" name="Rectangle 84"/>
          <p:cNvSpPr>
            <a:spLocks noChangeArrowheads="1"/>
          </p:cNvSpPr>
          <p:nvPr/>
        </p:nvSpPr>
        <p:spPr bwMode="auto">
          <a:xfrm>
            <a:off x="54102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29" name="Rectangle 85"/>
          <p:cNvSpPr>
            <a:spLocks noChangeArrowheads="1"/>
          </p:cNvSpPr>
          <p:nvPr/>
        </p:nvSpPr>
        <p:spPr bwMode="auto">
          <a:xfrm>
            <a:off x="58674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30" name="Rectangle 86"/>
          <p:cNvSpPr>
            <a:spLocks noChangeArrowheads="1"/>
          </p:cNvSpPr>
          <p:nvPr/>
        </p:nvSpPr>
        <p:spPr bwMode="auto">
          <a:xfrm>
            <a:off x="6324600" y="19050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31" name="Rectangle 87"/>
          <p:cNvSpPr>
            <a:spLocks noChangeArrowheads="1"/>
          </p:cNvSpPr>
          <p:nvPr/>
        </p:nvSpPr>
        <p:spPr bwMode="auto">
          <a:xfrm>
            <a:off x="685800" y="2209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>
                <a:latin typeface="Courier New" pitchFamily="49" charset="0"/>
              </a:rPr>
              <a:t>       </a:t>
            </a:r>
            <a:r>
              <a:rPr lang="en-US" sz="1400" i="1">
                <a:latin typeface="Courier New" pitchFamily="49" charset="0"/>
              </a:rPr>
              <a:t>bubble</a:t>
            </a:r>
          </a:p>
        </p:txBody>
      </p:sp>
      <p:sp>
        <p:nvSpPr>
          <p:cNvPr id="441432" name="Rectangle 88"/>
          <p:cNvSpPr>
            <a:spLocks noChangeArrowheads="1"/>
          </p:cNvSpPr>
          <p:nvPr/>
        </p:nvSpPr>
        <p:spPr bwMode="auto">
          <a:xfrm>
            <a:off x="49530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33" name="Rectangle 89"/>
          <p:cNvSpPr>
            <a:spLocks noChangeArrowheads="1"/>
          </p:cNvSpPr>
          <p:nvPr/>
        </p:nvSpPr>
        <p:spPr bwMode="auto">
          <a:xfrm>
            <a:off x="58674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34" name="Rectangle 90"/>
          <p:cNvSpPr>
            <a:spLocks noChangeArrowheads="1"/>
          </p:cNvSpPr>
          <p:nvPr/>
        </p:nvSpPr>
        <p:spPr bwMode="auto">
          <a:xfrm>
            <a:off x="63246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35" name="Rectangle 91"/>
          <p:cNvSpPr>
            <a:spLocks noChangeArrowheads="1"/>
          </p:cNvSpPr>
          <p:nvPr/>
        </p:nvSpPr>
        <p:spPr bwMode="auto">
          <a:xfrm>
            <a:off x="6781800" y="2209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36" name="Rectangle 92"/>
          <p:cNvSpPr>
            <a:spLocks noChangeArrowheads="1"/>
          </p:cNvSpPr>
          <p:nvPr/>
        </p:nvSpPr>
        <p:spPr bwMode="auto">
          <a:xfrm>
            <a:off x="685800" y="2819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0x014: </a:t>
            </a:r>
            <a:r>
              <a:rPr lang="en-US" sz="1400" b="0" dirty="0" err="1">
                <a:latin typeface="Courier New" pitchFamily="49" charset="0"/>
              </a:rPr>
              <a:t>addq</a:t>
            </a:r>
            <a:r>
              <a:rPr lang="en-US" sz="1400" b="0" dirty="0">
                <a:latin typeface="Courier New" pitchFamily="49" charset="0"/>
              </a:rPr>
              <a:t> %</a:t>
            </a:r>
            <a:r>
              <a:rPr lang="en-US" sz="1400" b="0" dirty="0" err="1">
                <a:latin typeface="Courier New" pitchFamily="49" charset="0"/>
              </a:rPr>
              <a:t>rdx</a:t>
            </a:r>
            <a:r>
              <a:rPr lang="en-US" sz="1400" b="0" dirty="0">
                <a:latin typeface="Courier New" pitchFamily="49" charset="0"/>
              </a:rPr>
              <a:t>,%</a:t>
            </a:r>
            <a:r>
              <a:rPr lang="en-US" sz="1400" b="0" dirty="0" err="1">
                <a:latin typeface="Courier New" pitchFamily="49" charset="0"/>
              </a:rPr>
              <a:t>rax</a:t>
            </a:r>
            <a:endParaRPr lang="en-US" sz="1400" b="0" dirty="0">
              <a:latin typeface="Courier New" pitchFamily="49" charset="0"/>
            </a:endParaRPr>
          </a:p>
        </p:txBody>
      </p:sp>
      <p:sp>
        <p:nvSpPr>
          <p:cNvPr id="441437" name="Rectangle 93"/>
          <p:cNvSpPr>
            <a:spLocks noChangeArrowheads="1"/>
          </p:cNvSpPr>
          <p:nvPr/>
        </p:nvSpPr>
        <p:spPr bwMode="auto">
          <a:xfrm>
            <a:off x="54102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38" name="Rectangle 94"/>
          <p:cNvSpPr>
            <a:spLocks noChangeArrowheads="1"/>
          </p:cNvSpPr>
          <p:nvPr/>
        </p:nvSpPr>
        <p:spPr bwMode="auto">
          <a:xfrm>
            <a:off x="63246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39" name="Rectangle 95"/>
          <p:cNvSpPr>
            <a:spLocks noChangeArrowheads="1"/>
          </p:cNvSpPr>
          <p:nvPr/>
        </p:nvSpPr>
        <p:spPr bwMode="auto">
          <a:xfrm>
            <a:off x="67818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40" name="Rectangle 96"/>
          <p:cNvSpPr>
            <a:spLocks noChangeArrowheads="1"/>
          </p:cNvSpPr>
          <p:nvPr/>
        </p:nvSpPr>
        <p:spPr bwMode="auto">
          <a:xfrm>
            <a:off x="72390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41" name="Rectangle 97"/>
          <p:cNvSpPr>
            <a:spLocks noChangeArrowheads="1"/>
          </p:cNvSpPr>
          <p:nvPr/>
        </p:nvSpPr>
        <p:spPr bwMode="auto">
          <a:xfrm>
            <a:off x="76962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42" name="Rectangle 98"/>
          <p:cNvSpPr>
            <a:spLocks noChangeArrowheads="1"/>
          </p:cNvSpPr>
          <p:nvPr/>
        </p:nvSpPr>
        <p:spPr bwMode="auto">
          <a:xfrm>
            <a:off x="685800" y="3124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>
                <a:latin typeface="Courier New" pitchFamily="49" charset="0"/>
              </a:rPr>
              <a:t>0x016: halt</a:t>
            </a:r>
          </a:p>
        </p:txBody>
      </p:sp>
      <p:sp>
        <p:nvSpPr>
          <p:cNvPr id="441443" name="Rectangle 99"/>
          <p:cNvSpPr>
            <a:spLocks noChangeArrowheads="1"/>
          </p:cNvSpPr>
          <p:nvPr/>
        </p:nvSpPr>
        <p:spPr bwMode="auto">
          <a:xfrm>
            <a:off x="63246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44" name="Rectangle 100"/>
          <p:cNvSpPr>
            <a:spLocks noChangeArrowheads="1"/>
          </p:cNvSpPr>
          <p:nvPr/>
        </p:nvSpPr>
        <p:spPr bwMode="auto">
          <a:xfrm>
            <a:off x="67818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45" name="Rectangle 101"/>
          <p:cNvSpPr>
            <a:spLocks noChangeArrowheads="1"/>
          </p:cNvSpPr>
          <p:nvPr/>
        </p:nvSpPr>
        <p:spPr bwMode="auto">
          <a:xfrm>
            <a:off x="72390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46" name="Rectangle 102"/>
          <p:cNvSpPr>
            <a:spLocks noChangeArrowheads="1"/>
          </p:cNvSpPr>
          <p:nvPr/>
        </p:nvSpPr>
        <p:spPr bwMode="auto">
          <a:xfrm>
            <a:off x="76962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47" name="Rectangle 103"/>
          <p:cNvSpPr>
            <a:spLocks noChangeArrowheads="1"/>
          </p:cNvSpPr>
          <p:nvPr/>
        </p:nvSpPr>
        <p:spPr bwMode="auto">
          <a:xfrm>
            <a:off x="81534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48" name="Rectangle 104"/>
          <p:cNvSpPr>
            <a:spLocks noChangeArrowheads="1"/>
          </p:cNvSpPr>
          <p:nvPr/>
        </p:nvSpPr>
        <p:spPr bwMode="auto">
          <a:xfrm>
            <a:off x="76962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41449" name="Rectangle 105"/>
          <p:cNvSpPr>
            <a:spLocks noChangeArrowheads="1"/>
          </p:cNvSpPr>
          <p:nvPr/>
        </p:nvSpPr>
        <p:spPr bwMode="auto">
          <a:xfrm>
            <a:off x="685800" y="990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>
                <a:latin typeface="Courier New" pitchFamily="49" charset="0"/>
              </a:rPr>
              <a:t># demo-h0.ys</a:t>
            </a:r>
          </a:p>
        </p:txBody>
      </p:sp>
      <p:sp>
        <p:nvSpPr>
          <p:cNvPr id="441450" name="Freeform 106"/>
          <p:cNvSpPr>
            <a:spLocks/>
          </p:cNvSpPr>
          <p:nvPr/>
        </p:nvSpPr>
        <p:spPr bwMode="auto">
          <a:xfrm>
            <a:off x="5257800" y="2057400"/>
            <a:ext cx="152400" cy="7620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51" name="Freeform 107"/>
          <p:cNvSpPr>
            <a:spLocks/>
          </p:cNvSpPr>
          <p:nvPr/>
        </p:nvSpPr>
        <p:spPr bwMode="auto">
          <a:xfrm>
            <a:off x="5715000" y="2362200"/>
            <a:ext cx="152400" cy="4572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52" name="Rectangle 108"/>
          <p:cNvSpPr>
            <a:spLocks noChangeArrowheads="1"/>
          </p:cNvSpPr>
          <p:nvPr/>
        </p:nvSpPr>
        <p:spPr bwMode="auto">
          <a:xfrm>
            <a:off x="49530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53" name="Rectangle 109"/>
          <p:cNvSpPr>
            <a:spLocks noChangeArrowheads="1"/>
          </p:cNvSpPr>
          <p:nvPr/>
        </p:nvSpPr>
        <p:spPr bwMode="auto">
          <a:xfrm>
            <a:off x="54102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54" name="Rectangle 110"/>
          <p:cNvSpPr>
            <a:spLocks noChangeArrowheads="1"/>
          </p:cNvSpPr>
          <p:nvPr/>
        </p:nvSpPr>
        <p:spPr bwMode="auto">
          <a:xfrm>
            <a:off x="5867400" y="2819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41455" name="Rectangle 111"/>
          <p:cNvSpPr>
            <a:spLocks noChangeArrowheads="1"/>
          </p:cNvSpPr>
          <p:nvPr/>
        </p:nvSpPr>
        <p:spPr bwMode="auto">
          <a:xfrm>
            <a:off x="5867400" y="31242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41456" name="Rectangle 112"/>
          <p:cNvSpPr>
            <a:spLocks noChangeArrowheads="1"/>
          </p:cNvSpPr>
          <p:nvPr/>
        </p:nvSpPr>
        <p:spPr bwMode="auto">
          <a:xfrm>
            <a:off x="63246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41457" name="Rectangle 113"/>
          <p:cNvSpPr>
            <a:spLocks noChangeArrowheads="1"/>
          </p:cNvSpPr>
          <p:nvPr/>
        </p:nvSpPr>
        <p:spPr bwMode="auto">
          <a:xfrm>
            <a:off x="67818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41458" name="Rectangle 114"/>
          <p:cNvSpPr>
            <a:spLocks noChangeArrowheads="1"/>
          </p:cNvSpPr>
          <p:nvPr/>
        </p:nvSpPr>
        <p:spPr bwMode="auto">
          <a:xfrm>
            <a:off x="7239000" y="25146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W</a:t>
            </a:r>
          </a:p>
        </p:txBody>
      </p:sp>
      <p:sp>
        <p:nvSpPr>
          <p:cNvPr id="441459" name="Freeform 115"/>
          <p:cNvSpPr>
            <a:spLocks/>
          </p:cNvSpPr>
          <p:nvPr/>
        </p:nvSpPr>
        <p:spPr bwMode="auto">
          <a:xfrm>
            <a:off x="6172200" y="2667000"/>
            <a:ext cx="152400" cy="1524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0" y="0"/>
              </a:cxn>
              <a:cxn ang="0">
                <a:pos x="96" y="0"/>
              </a:cxn>
            </a:cxnLst>
            <a:rect l="0" t="0" r="r" b="b"/>
            <a:pathLst>
              <a:path w="96" h="240">
                <a:moveTo>
                  <a:pt x="0" y="240"/>
                </a:moveTo>
                <a:lnTo>
                  <a:pt x="0" y="0"/>
                </a:lnTo>
                <a:lnTo>
                  <a:pt x="9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 type="triangl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60" name="Rectangle 116"/>
          <p:cNvSpPr>
            <a:spLocks noChangeArrowheads="1"/>
          </p:cNvSpPr>
          <p:nvPr/>
        </p:nvSpPr>
        <p:spPr bwMode="auto">
          <a:xfrm>
            <a:off x="685800" y="2514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>
                <a:latin typeface="Courier New" pitchFamily="49" charset="0"/>
              </a:rPr>
              <a:t>       </a:t>
            </a:r>
            <a:r>
              <a:rPr lang="en-US" sz="1400" i="1">
                <a:latin typeface="Courier New" pitchFamily="49" charset="0"/>
              </a:rPr>
              <a:t>bubble</a:t>
            </a:r>
          </a:p>
        </p:txBody>
      </p:sp>
      <p:sp>
        <p:nvSpPr>
          <p:cNvPr id="441461" name="Rectangle 117"/>
          <p:cNvSpPr>
            <a:spLocks noChangeArrowheads="1"/>
          </p:cNvSpPr>
          <p:nvPr/>
        </p:nvSpPr>
        <p:spPr bwMode="auto">
          <a:xfrm>
            <a:off x="8153400" y="9144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11</a:t>
            </a:r>
          </a:p>
        </p:txBody>
      </p:sp>
      <p:sp>
        <p:nvSpPr>
          <p:cNvPr id="441462" name="Line 118"/>
          <p:cNvSpPr>
            <a:spLocks noChangeShapeType="1"/>
          </p:cNvSpPr>
          <p:nvPr/>
        </p:nvSpPr>
        <p:spPr bwMode="auto">
          <a:xfrm flipH="1">
            <a:off x="2971800" y="3429000"/>
            <a:ext cx="1981200" cy="191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63" name="Line 119"/>
          <p:cNvSpPr>
            <a:spLocks noChangeShapeType="1"/>
          </p:cNvSpPr>
          <p:nvPr/>
        </p:nvSpPr>
        <p:spPr bwMode="auto">
          <a:xfrm flipH="1">
            <a:off x="4419600" y="3429000"/>
            <a:ext cx="990600" cy="130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65" name="Rectangle 121"/>
          <p:cNvSpPr>
            <a:spLocks noChangeArrowheads="1"/>
          </p:cNvSpPr>
          <p:nvPr/>
        </p:nvSpPr>
        <p:spPr bwMode="auto">
          <a:xfrm>
            <a:off x="2971800" y="4953000"/>
            <a:ext cx="1447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Cycle 4</a:t>
            </a:r>
          </a:p>
        </p:txBody>
      </p:sp>
      <p:sp>
        <p:nvSpPr>
          <p:cNvPr id="441468" name="Rectangle 124"/>
          <p:cNvSpPr>
            <a:spLocks noChangeArrowheads="1"/>
          </p:cNvSpPr>
          <p:nvPr/>
        </p:nvSpPr>
        <p:spPr bwMode="auto">
          <a:xfrm>
            <a:off x="6400800" y="5105400"/>
            <a:ext cx="255588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</p:txBody>
      </p:sp>
      <p:grpSp>
        <p:nvGrpSpPr>
          <p:cNvPr id="441490" name="Group 146"/>
          <p:cNvGrpSpPr>
            <a:grpSpLocks/>
          </p:cNvGrpSpPr>
          <p:nvPr/>
        </p:nvGrpSpPr>
        <p:grpSpPr bwMode="auto">
          <a:xfrm>
            <a:off x="5867400" y="4114800"/>
            <a:ext cx="1447800" cy="609600"/>
            <a:chOff x="1728" y="2736"/>
            <a:chExt cx="912" cy="384"/>
          </a:xfrm>
        </p:grpSpPr>
        <p:sp>
          <p:nvSpPr>
            <p:cNvPr id="441466" name="Rectangle 122"/>
            <p:cNvSpPr>
              <a:spLocks noChangeArrowheads="1"/>
            </p:cNvSpPr>
            <p:nvPr/>
          </p:nvSpPr>
          <p:spPr bwMode="auto">
            <a:xfrm>
              <a:off x="1728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41469" name="Rectangle 125"/>
            <p:cNvSpPr>
              <a:spLocks noChangeArrowheads="1"/>
            </p:cNvSpPr>
            <p:nvPr/>
          </p:nvSpPr>
          <p:spPr bwMode="auto">
            <a:xfrm>
              <a:off x="1728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W_dstE</a:t>
              </a:r>
              <a:r>
                <a:rPr lang="en-US" sz="1400" b="0" dirty="0"/>
                <a:t> = </a:t>
              </a:r>
              <a:r>
                <a:rPr lang="en-US" sz="1400" dirty="0">
                  <a:solidFill>
                    <a:srgbClr val="FF3300"/>
                  </a:solidFill>
                  <a:latin typeface="Courier New" pitchFamily="49" charset="0"/>
                </a:rPr>
                <a:t>%</a:t>
              </a:r>
              <a:r>
                <a:rPr lang="en-US" sz="1400" dirty="0" err="1">
                  <a:solidFill>
                    <a:srgbClr val="FF33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FF3300"/>
                </a:solidFill>
                <a:latin typeface="Courier New" pitchFamily="49" charset="0"/>
              </a:endParaRPr>
            </a:p>
          </p:txBody>
        </p:sp>
      </p:grpSp>
      <p:grpSp>
        <p:nvGrpSpPr>
          <p:cNvPr id="441472" name="Group 128"/>
          <p:cNvGrpSpPr>
            <a:grpSpLocks/>
          </p:cNvGrpSpPr>
          <p:nvPr/>
        </p:nvGrpSpPr>
        <p:grpSpPr bwMode="auto">
          <a:xfrm>
            <a:off x="5867400" y="5943600"/>
            <a:ext cx="1447800" cy="838200"/>
            <a:chOff x="1728" y="3648"/>
            <a:chExt cx="912" cy="528"/>
          </a:xfrm>
        </p:grpSpPr>
        <p:sp>
          <p:nvSpPr>
            <p:cNvPr id="441467" name="Rectangle 123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41470" name="Rectangle 126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srcA</a:t>
              </a:r>
              <a:r>
                <a:rPr lang="en-US" sz="1400" b="0" dirty="0"/>
                <a:t> = </a:t>
              </a:r>
              <a:r>
                <a:rPr lang="en-US" sz="1400" b="0" dirty="0">
                  <a:latin typeface="Courier New" pitchFamily="49" charset="0"/>
                </a:rPr>
                <a:t>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endParaRPr lang="en-US" sz="1400" b="0" dirty="0"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srcB</a:t>
              </a:r>
              <a:r>
                <a:rPr lang="en-US" sz="1400" b="0" dirty="0"/>
                <a:t> = </a:t>
              </a:r>
              <a:r>
                <a:rPr lang="en-US" sz="1400" dirty="0">
                  <a:solidFill>
                    <a:srgbClr val="008000"/>
                  </a:solidFill>
                  <a:latin typeface="Courier New" pitchFamily="49" charset="0"/>
                </a:rPr>
                <a:t>%</a:t>
              </a:r>
              <a:r>
                <a:rPr lang="en-US" sz="1400" dirty="0" err="1">
                  <a:solidFill>
                    <a:srgbClr val="0080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008000"/>
                </a:solidFill>
                <a:latin typeface="Courier New" pitchFamily="49" charset="0"/>
              </a:endParaRPr>
            </a:p>
          </p:txBody>
        </p:sp>
      </p:grpSp>
      <p:sp>
        <p:nvSpPr>
          <p:cNvPr id="441474" name="Rectangle 130"/>
          <p:cNvSpPr>
            <a:spLocks noChangeArrowheads="1"/>
          </p:cNvSpPr>
          <p:nvPr/>
        </p:nvSpPr>
        <p:spPr bwMode="auto">
          <a:xfrm>
            <a:off x="5002213" y="5410200"/>
            <a:ext cx="255587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  <a:p>
            <a:pPr algn="l" eaLnBrk="1" hangingPunct="1">
              <a:lnSpc>
                <a:spcPct val="70000"/>
              </a:lnSpc>
            </a:pPr>
            <a:r>
              <a:rPr lang="en-US" sz="1600" b="0"/>
              <a:t>•</a:t>
            </a:r>
          </a:p>
        </p:txBody>
      </p:sp>
      <p:grpSp>
        <p:nvGrpSpPr>
          <p:cNvPr id="441489" name="Group 145"/>
          <p:cNvGrpSpPr>
            <a:grpSpLocks/>
          </p:cNvGrpSpPr>
          <p:nvPr/>
        </p:nvGrpSpPr>
        <p:grpSpPr bwMode="auto">
          <a:xfrm>
            <a:off x="4419600" y="4724400"/>
            <a:ext cx="1447800" cy="609600"/>
            <a:chOff x="816" y="2736"/>
            <a:chExt cx="912" cy="384"/>
          </a:xfrm>
        </p:grpSpPr>
        <p:sp>
          <p:nvSpPr>
            <p:cNvPr id="441476" name="Rectangle 132"/>
            <p:cNvSpPr>
              <a:spLocks noChangeArrowheads="1"/>
            </p:cNvSpPr>
            <p:nvPr/>
          </p:nvSpPr>
          <p:spPr bwMode="auto">
            <a:xfrm>
              <a:off x="816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41477" name="Rectangle 133"/>
            <p:cNvSpPr>
              <a:spLocks noChangeArrowheads="1"/>
            </p:cNvSpPr>
            <p:nvPr/>
          </p:nvSpPr>
          <p:spPr bwMode="auto">
            <a:xfrm>
              <a:off x="816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M_dstE</a:t>
              </a:r>
              <a:r>
                <a:rPr lang="en-US" sz="1400" b="0" dirty="0"/>
                <a:t> = </a:t>
              </a:r>
              <a:r>
                <a:rPr lang="en-US" sz="1400" dirty="0">
                  <a:solidFill>
                    <a:srgbClr val="FF3300"/>
                  </a:solidFill>
                  <a:latin typeface="Courier New" pitchFamily="49" charset="0"/>
                </a:rPr>
                <a:t>%</a:t>
              </a:r>
              <a:r>
                <a:rPr lang="en-US" sz="1400" dirty="0" err="1">
                  <a:solidFill>
                    <a:srgbClr val="FF33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FF3300"/>
                </a:solidFill>
                <a:latin typeface="Courier New" pitchFamily="49" charset="0"/>
              </a:endParaRPr>
            </a:p>
          </p:txBody>
        </p:sp>
      </p:grpSp>
      <p:grpSp>
        <p:nvGrpSpPr>
          <p:cNvPr id="441478" name="Group 134"/>
          <p:cNvGrpSpPr>
            <a:grpSpLocks/>
          </p:cNvGrpSpPr>
          <p:nvPr/>
        </p:nvGrpSpPr>
        <p:grpSpPr bwMode="auto">
          <a:xfrm>
            <a:off x="4419600" y="5943600"/>
            <a:ext cx="1447800" cy="838200"/>
            <a:chOff x="1728" y="3648"/>
            <a:chExt cx="912" cy="528"/>
          </a:xfrm>
        </p:grpSpPr>
        <p:sp>
          <p:nvSpPr>
            <p:cNvPr id="441479" name="Rectangle 135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41480" name="Rectangle 136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srcA</a:t>
              </a:r>
              <a:r>
                <a:rPr lang="en-US" sz="1400" b="0" dirty="0"/>
                <a:t> = </a:t>
              </a:r>
              <a:r>
                <a:rPr lang="en-US" sz="1400" b="0" dirty="0">
                  <a:latin typeface="Courier New" pitchFamily="49" charset="0"/>
                </a:rPr>
                <a:t>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endParaRPr lang="en-US" sz="1400" b="0" dirty="0"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srcB</a:t>
              </a:r>
              <a:r>
                <a:rPr lang="en-US" sz="1400" b="0" dirty="0"/>
                <a:t> = </a:t>
              </a:r>
              <a:r>
                <a:rPr lang="en-US" sz="1400" dirty="0">
                  <a:solidFill>
                    <a:srgbClr val="008000"/>
                  </a:solidFill>
                  <a:latin typeface="Courier New" pitchFamily="49" charset="0"/>
                </a:rPr>
                <a:t>%</a:t>
              </a:r>
              <a:r>
                <a:rPr lang="en-US" sz="1400" dirty="0" err="1">
                  <a:solidFill>
                    <a:srgbClr val="0080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008000"/>
                </a:solidFill>
                <a:latin typeface="Courier New" pitchFamily="49" charset="0"/>
              </a:endParaRPr>
            </a:p>
          </p:txBody>
        </p:sp>
      </p:grpSp>
      <p:grpSp>
        <p:nvGrpSpPr>
          <p:cNvPr id="441488" name="Group 144"/>
          <p:cNvGrpSpPr>
            <a:grpSpLocks/>
          </p:cNvGrpSpPr>
          <p:nvPr/>
        </p:nvGrpSpPr>
        <p:grpSpPr bwMode="auto">
          <a:xfrm>
            <a:off x="2971800" y="5334000"/>
            <a:ext cx="1447800" cy="609600"/>
            <a:chOff x="-96" y="2736"/>
            <a:chExt cx="912" cy="384"/>
          </a:xfrm>
        </p:grpSpPr>
        <p:sp>
          <p:nvSpPr>
            <p:cNvPr id="441483" name="Rectangle 139"/>
            <p:cNvSpPr>
              <a:spLocks noChangeArrowheads="1"/>
            </p:cNvSpPr>
            <p:nvPr/>
          </p:nvSpPr>
          <p:spPr bwMode="auto">
            <a:xfrm>
              <a:off x="-96" y="2736"/>
              <a:ext cx="912" cy="38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41484" name="Rectangle 140"/>
            <p:cNvSpPr>
              <a:spLocks noChangeArrowheads="1"/>
            </p:cNvSpPr>
            <p:nvPr/>
          </p:nvSpPr>
          <p:spPr bwMode="auto">
            <a:xfrm>
              <a:off x="-96" y="2920"/>
              <a:ext cx="912" cy="2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e_dstE</a:t>
              </a:r>
              <a:r>
                <a:rPr lang="en-US" sz="1400" b="0" dirty="0"/>
                <a:t> = </a:t>
              </a:r>
              <a:r>
                <a:rPr lang="en-US" sz="1400" dirty="0">
                  <a:solidFill>
                    <a:srgbClr val="FF3300"/>
                  </a:solidFill>
                  <a:latin typeface="Courier New" pitchFamily="49" charset="0"/>
                </a:rPr>
                <a:t>%</a:t>
              </a:r>
              <a:r>
                <a:rPr lang="en-US" sz="1400" dirty="0" err="1">
                  <a:solidFill>
                    <a:srgbClr val="FF33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FF3300"/>
                </a:solidFill>
                <a:latin typeface="Courier New" pitchFamily="49" charset="0"/>
              </a:endParaRPr>
            </a:p>
          </p:txBody>
        </p:sp>
      </p:grpSp>
      <p:grpSp>
        <p:nvGrpSpPr>
          <p:cNvPr id="441485" name="Group 141"/>
          <p:cNvGrpSpPr>
            <a:grpSpLocks/>
          </p:cNvGrpSpPr>
          <p:nvPr/>
        </p:nvGrpSpPr>
        <p:grpSpPr bwMode="auto">
          <a:xfrm>
            <a:off x="2971800" y="5943600"/>
            <a:ext cx="1447800" cy="838200"/>
            <a:chOff x="1728" y="3648"/>
            <a:chExt cx="912" cy="528"/>
          </a:xfrm>
        </p:grpSpPr>
        <p:sp>
          <p:nvSpPr>
            <p:cNvPr id="441486" name="Rectangle 142"/>
            <p:cNvSpPr>
              <a:spLocks noChangeArrowheads="1"/>
            </p:cNvSpPr>
            <p:nvPr/>
          </p:nvSpPr>
          <p:spPr bwMode="auto">
            <a:xfrm>
              <a:off x="1728" y="3648"/>
              <a:ext cx="912" cy="52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41487" name="Rectangle 143"/>
            <p:cNvSpPr>
              <a:spLocks noChangeArrowheads="1"/>
            </p:cNvSpPr>
            <p:nvPr/>
          </p:nvSpPr>
          <p:spPr bwMode="auto">
            <a:xfrm>
              <a:off x="1728" y="3832"/>
              <a:ext cx="76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srcA</a:t>
              </a:r>
              <a:r>
                <a:rPr lang="en-US" sz="1400" b="0" dirty="0"/>
                <a:t> = </a:t>
              </a:r>
              <a:r>
                <a:rPr lang="en-US" sz="1400" b="0" dirty="0">
                  <a:latin typeface="Courier New" pitchFamily="49" charset="0"/>
                </a:rPr>
                <a:t>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endParaRPr lang="en-US" sz="1400" b="0" dirty="0">
                <a:latin typeface="Courier New" pitchFamily="49" charset="0"/>
              </a:endParaRPr>
            </a:p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/>
                <a:t>srcB</a:t>
              </a:r>
              <a:r>
                <a:rPr lang="en-US" sz="1400" b="0" dirty="0"/>
                <a:t> = </a:t>
              </a:r>
              <a:r>
                <a:rPr lang="en-US" sz="1400" dirty="0">
                  <a:solidFill>
                    <a:srgbClr val="008000"/>
                  </a:solidFill>
                  <a:latin typeface="Courier New" pitchFamily="49" charset="0"/>
                </a:rPr>
                <a:t>%</a:t>
              </a:r>
              <a:r>
                <a:rPr lang="en-US" sz="1400" dirty="0" err="1">
                  <a:solidFill>
                    <a:srgbClr val="008000"/>
                  </a:solidFill>
                  <a:latin typeface="Courier New" pitchFamily="49" charset="0"/>
                </a:rPr>
                <a:t>rax</a:t>
              </a:r>
              <a:endParaRPr lang="en-US" sz="1400" dirty="0">
                <a:solidFill>
                  <a:srgbClr val="008000"/>
                </a:solidFill>
                <a:latin typeface="Courier New" pitchFamily="49" charset="0"/>
              </a:endParaRPr>
            </a:p>
          </p:txBody>
        </p:sp>
      </p:grpSp>
      <p:sp>
        <p:nvSpPr>
          <p:cNvPr id="441491" name="Rectangle 147"/>
          <p:cNvSpPr>
            <a:spLocks noChangeArrowheads="1"/>
          </p:cNvSpPr>
          <p:nvPr/>
        </p:nvSpPr>
        <p:spPr bwMode="auto">
          <a:xfrm>
            <a:off x="4419600" y="4343400"/>
            <a:ext cx="1447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Cycle 5</a:t>
            </a:r>
          </a:p>
        </p:txBody>
      </p:sp>
      <p:sp>
        <p:nvSpPr>
          <p:cNvPr id="441492" name="Rectangle 148"/>
          <p:cNvSpPr>
            <a:spLocks noChangeArrowheads="1"/>
          </p:cNvSpPr>
          <p:nvPr/>
        </p:nvSpPr>
        <p:spPr bwMode="auto">
          <a:xfrm>
            <a:off x="5867400" y="3733800"/>
            <a:ext cx="1143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Cycle 6</a:t>
            </a:r>
          </a:p>
        </p:txBody>
      </p:sp>
      <p:sp>
        <p:nvSpPr>
          <p:cNvPr id="441493" name="Line 149"/>
          <p:cNvSpPr>
            <a:spLocks noChangeShapeType="1"/>
          </p:cNvSpPr>
          <p:nvPr/>
        </p:nvSpPr>
        <p:spPr bwMode="auto">
          <a:xfrm>
            <a:off x="5867400" y="3429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1494" name="Line 150"/>
          <p:cNvSpPr>
            <a:spLocks noChangeShapeType="1"/>
          </p:cNvSpPr>
          <p:nvPr/>
        </p:nvSpPr>
        <p:spPr bwMode="auto">
          <a:xfrm>
            <a:off x="6324600" y="34290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846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Happens When Stalling?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3505200"/>
            <a:ext cx="8294688" cy="2590800"/>
          </a:xfrm>
        </p:spPr>
        <p:txBody>
          <a:bodyPr/>
          <a:lstStyle/>
          <a:p>
            <a:pPr lvl="1"/>
            <a:r>
              <a:rPr lang="en-US"/>
              <a:t>Stalling instruction held back in decode stage</a:t>
            </a:r>
          </a:p>
          <a:p>
            <a:pPr lvl="1"/>
            <a:r>
              <a:rPr lang="en-US"/>
              <a:t>Following instruction stays in fetch stage</a:t>
            </a:r>
          </a:p>
          <a:p>
            <a:pPr lvl="1"/>
            <a:r>
              <a:rPr lang="en-US"/>
              <a:t>Bubbles injected into execute stage</a:t>
            </a:r>
          </a:p>
          <a:p>
            <a:pPr lvl="2"/>
            <a:r>
              <a:rPr lang="en-US"/>
              <a:t>Like dynamically generated nop’s</a:t>
            </a:r>
          </a:p>
          <a:p>
            <a:pPr lvl="2"/>
            <a:r>
              <a:rPr lang="en-US"/>
              <a:t>Move through later stages</a:t>
            </a:r>
          </a:p>
        </p:txBody>
      </p:sp>
      <p:grpSp>
        <p:nvGrpSpPr>
          <p:cNvPr id="443482" name="Group 90"/>
          <p:cNvGrpSpPr>
            <a:grpSpLocks/>
          </p:cNvGrpSpPr>
          <p:nvPr/>
        </p:nvGrpSpPr>
        <p:grpSpPr bwMode="auto">
          <a:xfrm>
            <a:off x="5327650" y="1289050"/>
            <a:ext cx="2590800" cy="1828800"/>
            <a:chOff x="-1104" y="1680"/>
            <a:chExt cx="1632" cy="1152"/>
          </a:xfrm>
        </p:grpSpPr>
        <p:sp>
          <p:nvSpPr>
            <p:cNvPr id="443452" name="Rectangle 60"/>
            <p:cNvSpPr>
              <a:spLocks noChangeArrowheads="1"/>
            </p:cNvSpPr>
            <p:nvPr/>
          </p:nvSpPr>
          <p:spPr bwMode="auto">
            <a:xfrm>
              <a:off x="-1104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0x000: </a:t>
              </a: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$10,%rdx</a:t>
              </a:r>
            </a:p>
          </p:txBody>
        </p:sp>
        <p:sp>
          <p:nvSpPr>
            <p:cNvPr id="443453" name="Rectangle 61"/>
            <p:cNvSpPr>
              <a:spLocks noChangeArrowheads="1"/>
            </p:cNvSpPr>
            <p:nvPr/>
          </p:nvSpPr>
          <p:spPr bwMode="auto">
            <a:xfrm>
              <a:off x="-1104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0x00a: </a:t>
              </a: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$3,%rax</a:t>
              </a:r>
            </a:p>
          </p:txBody>
        </p:sp>
        <p:sp>
          <p:nvSpPr>
            <p:cNvPr id="443456" name="Rectangle 64"/>
            <p:cNvSpPr>
              <a:spLocks noChangeArrowheads="1"/>
            </p:cNvSpPr>
            <p:nvPr/>
          </p:nvSpPr>
          <p:spPr bwMode="auto">
            <a:xfrm>
              <a:off x="-1104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0x014: </a:t>
              </a:r>
              <a:r>
                <a:rPr lang="en-US" sz="1400" b="0" dirty="0" err="1">
                  <a:latin typeface="Courier New" pitchFamily="49" charset="0"/>
                </a:rPr>
                <a:t>addq</a:t>
              </a:r>
              <a:r>
                <a:rPr lang="en-US" sz="1400" b="0" dirty="0">
                  <a:latin typeface="Courier New" pitchFamily="49" charset="0"/>
                </a:rPr>
                <a:t> 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r>
                <a:rPr lang="en-US" sz="1400" b="0" dirty="0">
                  <a:latin typeface="Courier New" pitchFamily="49" charset="0"/>
                </a:rPr>
                <a:t>,%</a:t>
              </a:r>
              <a:r>
                <a:rPr lang="en-US" sz="1400" b="0" dirty="0" err="1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58" name="Rectangle 66"/>
            <p:cNvSpPr>
              <a:spLocks noChangeArrowheads="1"/>
            </p:cNvSpPr>
            <p:nvPr/>
          </p:nvSpPr>
          <p:spPr bwMode="auto">
            <a:xfrm>
              <a:off x="-1104" y="1680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/>
                <a:t>Cycle 4</a:t>
              </a:r>
            </a:p>
          </p:txBody>
        </p:sp>
        <p:sp>
          <p:nvSpPr>
            <p:cNvPr id="443471" name="Rectangle 79"/>
            <p:cNvSpPr>
              <a:spLocks noChangeArrowheads="1"/>
            </p:cNvSpPr>
            <p:nvPr/>
          </p:nvSpPr>
          <p:spPr bwMode="auto">
            <a:xfrm>
              <a:off x="-1104" y="2640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0x016: halt</a:t>
              </a:r>
            </a:p>
          </p:txBody>
        </p:sp>
      </p:grpSp>
      <p:grpSp>
        <p:nvGrpSpPr>
          <p:cNvPr id="443473" name="Group 81"/>
          <p:cNvGrpSpPr>
            <a:grpSpLocks/>
          </p:cNvGrpSpPr>
          <p:nvPr/>
        </p:nvGrpSpPr>
        <p:grpSpPr bwMode="auto">
          <a:xfrm>
            <a:off x="304800" y="1143000"/>
            <a:ext cx="2895600" cy="1600200"/>
            <a:chOff x="1968" y="816"/>
            <a:chExt cx="1824" cy="1008"/>
          </a:xfrm>
        </p:grpSpPr>
        <p:sp>
          <p:nvSpPr>
            <p:cNvPr id="443416" name="Rectangle 24"/>
            <p:cNvSpPr>
              <a:spLocks noChangeArrowheads="1"/>
            </p:cNvSpPr>
            <p:nvPr/>
          </p:nvSpPr>
          <p:spPr bwMode="auto">
            <a:xfrm>
              <a:off x="1968" y="816"/>
              <a:ext cx="1824" cy="1008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43409" name="Rectangle 17"/>
            <p:cNvSpPr>
              <a:spLocks noChangeArrowheads="1"/>
            </p:cNvSpPr>
            <p:nvPr/>
          </p:nvSpPr>
          <p:spPr bwMode="auto">
            <a:xfrm>
              <a:off x="2112" y="1056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0x000: </a:t>
              </a: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$10,%rdx</a:t>
              </a:r>
            </a:p>
          </p:txBody>
        </p:sp>
        <p:sp>
          <p:nvSpPr>
            <p:cNvPr id="443410" name="Rectangle 18"/>
            <p:cNvSpPr>
              <a:spLocks noChangeArrowheads="1"/>
            </p:cNvSpPr>
            <p:nvPr/>
          </p:nvSpPr>
          <p:spPr bwMode="auto">
            <a:xfrm>
              <a:off x="2112" y="1248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0x00a: </a:t>
              </a: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$3,%rax</a:t>
              </a:r>
            </a:p>
          </p:txBody>
        </p:sp>
        <p:sp>
          <p:nvSpPr>
            <p:cNvPr id="443413" name="Rectangle 21"/>
            <p:cNvSpPr>
              <a:spLocks noChangeArrowheads="1"/>
            </p:cNvSpPr>
            <p:nvPr/>
          </p:nvSpPr>
          <p:spPr bwMode="auto">
            <a:xfrm>
              <a:off x="2112" y="1440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0x014: </a:t>
              </a:r>
              <a:r>
                <a:rPr lang="en-US" sz="1400" b="0" dirty="0" err="1">
                  <a:latin typeface="Courier New" pitchFamily="49" charset="0"/>
                </a:rPr>
                <a:t>addq</a:t>
              </a:r>
              <a:r>
                <a:rPr lang="en-US" sz="1400" b="0" dirty="0">
                  <a:latin typeface="Courier New" pitchFamily="49" charset="0"/>
                </a:rPr>
                <a:t> 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r>
                <a:rPr lang="en-US" sz="1400" b="0" dirty="0">
                  <a:latin typeface="Courier New" pitchFamily="49" charset="0"/>
                </a:rPr>
                <a:t>,%</a:t>
              </a:r>
              <a:r>
                <a:rPr lang="en-US" sz="1400" b="0" dirty="0" err="1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15" name="Rectangle 23"/>
            <p:cNvSpPr>
              <a:spLocks noChangeArrowheads="1"/>
            </p:cNvSpPr>
            <p:nvPr/>
          </p:nvSpPr>
          <p:spPr bwMode="auto">
            <a:xfrm>
              <a:off x="2112" y="864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>
                  <a:latin typeface="Courier New" pitchFamily="49" charset="0"/>
                </a:rPr>
                <a:t># demo-h0.ys</a:t>
              </a:r>
            </a:p>
          </p:txBody>
        </p:sp>
        <p:sp>
          <p:nvSpPr>
            <p:cNvPr id="443472" name="Rectangle 80"/>
            <p:cNvSpPr>
              <a:spLocks noChangeArrowheads="1"/>
            </p:cNvSpPr>
            <p:nvPr/>
          </p:nvSpPr>
          <p:spPr bwMode="auto">
            <a:xfrm>
              <a:off x="2112" y="1632"/>
              <a:ext cx="1632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0x016: halt</a:t>
              </a:r>
            </a:p>
          </p:txBody>
        </p:sp>
      </p:grpSp>
      <p:grpSp>
        <p:nvGrpSpPr>
          <p:cNvPr id="443481" name="Group 89"/>
          <p:cNvGrpSpPr>
            <a:grpSpLocks/>
          </p:cNvGrpSpPr>
          <p:nvPr/>
        </p:nvGrpSpPr>
        <p:grpSpPr bwMode="auto">
          <a:xfrm>
            <a:off x="5327650" y="1289050"/>
            <a:ext cx="2590800" cy="1828800"/>
            <a:chOff x="528" y="1680"/>
            <a:chExt cx="1632" cy="1152"/>
          </a:xfrm>
        </p:grpSpPr>
        <p:sp>
          <p:nvSpPr>
            <p:cNvPr id="443444" name="Rectangle 52"/>
            <p:cNvSpPr>
              <a:spLocks noChangeArrowheads="1"/>
            </p:cNvSpPr>
            <p:nvPr/>
          </p:nvSpPr>
          <p:spPr bwMode="auto">
            <a:xfrm>
              <a:off x="528" y="1872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0x000: </a:t>
              </a: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$10,%rdx</a:t>
              </a:r>
            </a:p>
          </p:txBody>
        </p:sp>
        <p:sp>
          <p:nvSpPr>
            <p:cNvPr id="443445" name="Rectangle 53"/>
            <p:cNvSpPr>
              <a:spLocks noChangeArrowheads="1"/>
            </p:cNvSpPr>
            <p:nvPr/>
          </p:nvSpPr>
          <p:spPr bwMode="auto">
            <a:xfrm>
              <a:off x="528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0x00a: </a:t>
              </a: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$3,%rax</a:t>
              </a:r>
            </a:p>
          </p:txBody>
        </p:sp>
        <p:sp>
          <p:nvSpPr>
            <p:cNvPr id="443446" name="Rectangle 54"/>
            <p:cNvSpPr>
              <a:spLocks noChangeArrowheads="1"/>
            </p:cNvSpPr>
            <p:nvPr/>
          </p:nvSpPr>
          <p:spPr bwMode="auto">
            <a:xfrm>
              <a:off x="528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       </a:t>
              </a:r>
              <a:r>
                <a:rPr lang="en-US" sz="1400" i="1">
                  <a:latin typeface="Courier New" pitchFamily="49" charset="0"/>
                </a:rPr>
                <a:t>bubble</a:t>
              </a:r>
            </a:p>
          </p:txBody>
        </p:sp>
        <p:sp>
          <p:nvSpPr>
            <p:cNvPr id="443448" name="Rectangle 56"/>
            <p:cNvSpPr>
              <a:spLocks noChangeArrowheads="1"/>
            </p:cNvSpPr>
            <p:nvPr/>
          </p:nvSpPr>
          <p:spPr bwMode="auto">
            <a:xfrm>
              <a:off x="528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0x014: </a:t>
              </a:r>
              <a:r>
                <a:rPr lang="en-US" sz="1400" b="0" dirty="0" err="1">
                  <a:latin typeface="Courier New" pitchFamily="49" charset="0"/>
                </a:rPr>
                <a:t>addq</a:t>
              </a:r>
              <a:r>
                <a:rPr lang="en-US" sz="1400" b="0" dirty="0">
                  <a:latin typeface="Courier New" pitchFamily="49" charset="0"/>
                </a:rPr>
                <a:t> 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r>
                <a:rPr lang="en-US" sz="1400" b="0" dirty="0">
                  <a:latin typeface="Courier New" pitchFamily="49" charset="0"/>
                </a:rPr>
                <a:t>,%</a:t>
              </a:r>
              <a:r>
                <a:rPr lang="en-US" sz="1400" b="0" dirty="0" err="1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50" name="Rectangle 58"/>
            <p:cNvSpPr>
              <a:spLocks noChangeArrowheads="1"/>
            </p:cNvSpPr>
            <p:nvPr/>
          </p:nvSpPr>
          <p:spPr bwMode="auto">
            <a:xfrm>
              <a:off x="528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/>
                <a:t>Cycle 5</a:t>
              </a:r>
            </a:p>
          </p:txBody>
        </p:sp>
        <p:sp>
          <p:nvSpPr>
            <p:cNvPr id="443474" name="Rectangle 82"/>
            <p:cNvSpPr>
              <a:spLocks noChangeArrowheads="1"/>
            </p:cNvSpPr>
            <p:nvPr/>
          </p:nvSpPr>
          <p:spPr bwMode="auto">
            <a:xfrm>
              <a:off x="528" y="2640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0x016: halt</a:t>
              </a:r>
            </a:p>
          </p:txBody>
        </p:sp>
      </p:grpSp>
      <p:grpSp>
        <p:nvGrpSpPr>
          <p:cNvPr id="443480" name="Group 88"/>
          <p:cNvGrpSpPr>
            <a:grpSpLocks/>
          </p:cNvGrpSpPr>
          <p:nvPr/>
        </p:nvGrpSpPr>
        <p:grpSpPr bwMode="auto">
          <a:xfrm>
            <a:off x="5327650" y="1289050"/>
            <a:ext cx="2590800" cy="1828800"/>
            <a:chOff x="2160" y="1680"/>
            <a:chExt cx="1632" cy="1152"/>
          </a:xfrm>
        </p:grpSpPr>
        <p:sp>
          <p:nvSpPr>
            <p:cNvPr id="443437" name="Rectangle 45"/>
            <p:cNvSpPr>
              <a:spLocks noChangeArrowheads="1"/>
            </p:cNvSpPr>
            <p:nvPr/>
          </p:nvSpPr>
          <p:spPr bwMode="auto">
            <a:xfrm>
              <a:off x="2160" y="1872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0x00a: </a:t>
              </a:r>
              <a:r>
                <a:rPr lang="en-US" sz="1400" b="0" dirty="0" err="1">
                  <a:latin typeface="Courier New" pitchFamily="49" charset="0"/>
                </a:rPr>
                <a:t>irmovq</a:t>
              </a:r>
              <a:r>
                <a:rPr lang="en-US" sz="1400" b="0" dirty="0">
                  <a:latin typeface="Courier New" pitchFamily="49" charset="0"/>
                </a:rPr>
                <a:t>  $3,%rax</a:t>
              </a:r>
            </a:p>
          </p:txBody>
        </p:sp>
        <p:sp>
          <p:nvSpPr>
            <p:cNvPr id="443439" name="Rectangle 47"/>
            <p:cNvSpPr>
              <a:spLocks noChangeArrowheads="1"/>
            </p:cNvSpPr>
            <p:nvPr/>
          </p:nvSpPr>
          <p:spPr bwMode="auto">
            <a:xfrm>
              <a:off x="2160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       </a:t>
              </a:r>
              <a:r>
                <a:rPr lang="en-US" sz="1400" i="1">
                  <a:latin typeface="Courier New" pitchFamily="49" charset="0"/>
                </a:rPr>
                <a:t>bubble</a:t>
              </a:r>
            </a:p>
          </p:txBody>
        </p:sp>
        <p:sp>
          <p:nvSpPr>
            <p:cNvPr id="443440" name="Rectangle 48"/>
            <p:cNvSpPr>
              <a:spLocks noChangeArrowheads="1"/>
            </p:cNvSpPr>
            <p:nvPr/>
          </p:nvSpPr>
          <p:spPr bwMode="auto">
            <a:xfrm>
              <a:off x="2160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0x014: </a:t>
              </a:r>
              <a:r>
                <a:rPr lang="en-US" sz="1400" b="0" dirty="0" err="1">
                  <a:latin typeface="Courier New" pitchFamily="49" charset="0"/>
                </a:rPr>
                <a:t>addq</a:t>
              </a:r>
              <a:r>
                <a:rPr lang="en-US" sz="1400" b="0" dirty="0">
                  <a:latin typeface="Courier New" pitchFamily="49" charset="0"/>
                </a:rPr>
                <a:t> 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r>
                <a:rPr lang="en-US" sz="1400" b="0" dirty="0">
                  <a:latin typeface="Courier New" pitchFamily="49" charset="0"/>
                </a:rPr>
                <a:t>,%</a:t>
              </a:r>
              <a:r>
                <a:rPr lang="en-US" sz="1400" b="0" dirty="0" err="1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41" name="Rectangle 49"/>
            <p:cNvSpPr>
              <a:spLocks noChangeArrowheads="1"/>
            </p:cNvSpPr>
            <p:nvPr/>
          </p:nvSpPr>
          <p:spPr bwMode="auto">
            <a:xfrm>
              <a:off x="2160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       </a:t>
              </a:r>
              <a:r>
                <a:rPr lang="en-US" sz="1400" i="1">
                  <a:latin typeface="Courier New" pitchFamily="49" charset="0"/>
                </a:rPr>
                <a:t>bubble</a:t>
              </a:r>
            </a:p>
          </p:txBody>
        </p:sp>
        <p:sp>
          <p:nvSpPr>
            <p:cNvPr id="443442" name="Rectangle 50"/>
            <p:cNvSpPr>
              <a:spLocks noChangeArrowheads="1"/>
            </p:cNvSpPr>
            <p:nvPr/>
          </p:nvSpPr>
          <p:spPr bwMode="auto">
            <a:xfrm>
              <a:off x="2160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/>
                <a:t>Cycle 6</a:t>
              </a:r>
            </a:p>
          </p:txBody>
        </p:sp>
        <p:sp>
          <p:nvSpPr>
            <p:cNvPr id="443475" name="Rectangle 83"/>
            <p:cNvSpPr>
              <a:spLocks noChangeArrowheads="1"/>
            </p:cNvSpPr>
            <p:nvPr/>
          </p:nvSpPr>
          <p:spPr bwMode="auto">
            <a:xfrm>
              <a:off x="2160" y="2640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0x016: halt</a:t>
              </a:r>
            </a:p>
          </p:txBody>
        </p:sp>
      </p:grpSp>
      <p:grpSp>
        <p:nvGrpSpPr>
          <p:cNvPr id="443479" name="Group 87"/>
          <p:cNvGrpSpPr>
            <a:grpSpLocks/>
          </p:cNvGrpSpPr>
          <p:nvPr/>
        </p:nvGrpSpPr>
        <p:grpSpPr bwMode="auto">
          <a:xfrm>
            <a:off x="5327650" y="1289050"/>
            <a:ext cx="2590800" cy="1828800"/>
            <a:chOff x="3792" y="1680"/>
            <a:chExt cx="1632" cy="1152"/>
          </a:xfrm>
        </p:grpSpPr>
        <p:sp>
          <p:nvSpPr>
            <p:cNvPr id="443430" name="Rectangle 38"/>
            <p:cNvSpPr>
              <a:spLocks noChangeArrowheads="1"/>
            </p:cNvSpPr>
            <p:nvPr/>
          </p:nvSpPr>
          <p:spPr bwMode="auto">
            <a:xfrm>
              <a:off x="3792" y="1872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       </a:t>
              </a:r>
              <a:r>
                <a:rPr lang="en-US" sz="1400" i="1">
                  <a:latin typeface="Courier New" pitchFamily="49" charset="0"/>
                </a:rPr>
                <a:t>bubble</a:t>
              </a:r>
            </a:p>
          </p:txBody>
        </p:sp>
        <p:sp>
          <p:nvSpPr>
            <p:cNvPr id="443431" name="Rectangle 39"/>
            <p:cNvSpPr>
              <a:spLocks noChangeArrowheads="1"/>
            </p:cNvSpPr>
            <p:nvPr/>
          </p:nvSpPr>
          <p:spPr bwMode="auto">
            <a:xfrm>
              <a:off x="3792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       </a:t>
              </a:r>
              <a:r>
                <a:rPr lang="en-US" sz="1400" i="1">
                  <a:latin typeface="Courier New" pitchFamily="49" charset="0"/>
                </a:rPr>
                <a:t>bubble</a:t>
              </a:r>
            </a:p>
          </p:txBody>
        </p:sp>
        <p:sp>
          <p:nvSpPr>
            <p:cNvPr id="443432" name="Rectangle 40"/>
            <p:cNvSpPr>
              <a:spLocks noChangeArrowheads="1"/>
            </p:cNvSpPr>
            <p:nvPr/>
          </p:nvSpPr>
          <p:spPr bwMode="auto">
            <a:xfrm>
              <a:off x="3792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0x014: </a:t>
              </a:r>
              <a:r>
                <a:rPr lang="en-US" sz="1400" b="0" dirty="0" err="1">
                  <a:latin typeface="Courier New" pitchFamily="49" charset="0"/>
                </a:rPr>
                <a:t>addq</a:t>
              </a:r>
              <a:r>
                <a:rPr lang="en-US" sz="1400" b="0" dirty="0">
                  <a:latin typeface="Courier New" pitchFamily="49" charset="0"/>
                </a:rPr>
                <a:t> 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r>
                <a:rPr lang="en-US" sz="1400" b="0" dirty="0">
                  <a:latin typeface="Courier New" pitchFamily="49" charset="0"/>
                </a:rPr>
                <a:t>,%</a:t>
              </a:r>
              <a:r>
                <a:rPr lang="en-US" sz="1400" b="0" dirty="0" err="1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33" name="Rectangle 41"/>
            <p:cNvSpPr>
              <a:spLocks noChangeArrowheads="1"/>
            </p:cNvSpPr>
            <p:nvPr/>
          </p:nvSpPr>
          <p:spPr bwMode="auto">
            <a:xfrm>
              <a:off x="3792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en-US" sz="1400" i="1" dirty="0">
                  <a:latin typeface="Courier New" pitchFamily="49" charset="0"/>
                </a:rPr>
                <a:t>bubble</a:t>
              </a:r>
            </a:p>
          </p:txBody>
        </p:sp>
        <p:sp>
          <p:nvSpPr>
            <p:cNvPr id="443434" name="Rectangle 42"/>
            <p:cNvSpPr>
              <a:spLocks noChangeArrowheads="1"/>
            </p:cNvSpPr>
            <p:nvPr/>
          </p:nvSpPr>
          <p:spPr bwMode="auto">
            <a:xfrm>
              <a:off x="3792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/>
                <a:t>Cycle 7</a:t>
              </a:r>
            </a:p>
          </p:txBody>
        </p:sp>
        <p:sp>
          <p:nvSpPr>
            <p:cNvPr id="443476" name="Rectangle 84"/>
            <p:cNvSpPr>
              <a:spLocks noChangeArrowheads="1"/>
            </p:cNvSpPr>
            <p:nvPr/>
          </p:nvSpPr>
          <p:spPr bwMode="auto">
            <a:xfrm>
              <a:off x="3792" y="2640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0x016: halt</a:t>
              </a:r>
            </a:p>
          </p:txBody>
        </p:sp>
      </p:grpSp>
      <p:grpSp>
        <p:nvGrpSpPr>
          <p:cNvPr id="443478" name="Group 86"/>
          <p:cNvGrpSpPr>
            <a:grpSpLocks/>
          </p:cNvGrpSpPr>
          <p:nvPr/>
        </p:nvGrpSpPr>
        <p:grpSpPr bwMode="auto">
          <a:xfrm>
            <a:off x="5327650" y="1289050"/>
            <a:ext cx="2667000" cy="1981200"/>
            <a:chOff x="5424" y="1680"/>
            <a:chExt cx="1680" cy="1248"/>
          </a:xfrm>
        </p:grpSpPr>
        <p:sp>
          <p:nvSpPr>
            <p:cNvPr id="443399" name="Rectangle 7"/>
            <p:cNvSpPr>
              <a:spLocks noChangeArrowheads="1"/>
            </p:cNvSpPr>
            <p:nvPr/>
          </p:nvSpPr>
          <p:spPr bwMode="auto">
            <a:xfrm>
              <a:off x="5424" y="1872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       </a:t>
              </a:r>
              <a:r>
                <a:rPr lang="en-US" sz="1400" i="1" dirty="0">
                  <a:latin typeface="Courier New" pitchFamily="49" charset="0"/>
                </a:rPr>
                <a:t>bubble</a:t>
              </a:r>
            </a:p>
          </p:txBody>
        </p:sp>
        <p:sp>
          <p:nvSpPr>
            <p:cNvPr id="443402" name="Rectangle 10"/>
            <p:cNvSpPr>
              <a:spLocks noChangeArrowheads="1"/>
            </p:cNvSpPr>
            <p:nvPr/>
          </p:nvSpPr>
          <p:spPr bwMode="auto">
            <a:xfrm>
              <a:off x="5424" y="2064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       </a:t>
              </a:r>
              <a:r>
                <a:rPr lang="en-US" sz="1400" i="1">
                  <a:latin typeface="Courier New" pitchFamily="49" charset="0"/>
                </a:rPr>
                <a:t>bubble</a:t>
              </a:r>
            </a:p>
          </p:txBody>
        </p:sp>
        <p:sp>
          <p:nvSpPr>
            <p:cNvPr id="443425" name="Rectangle 33"/>
            <p:cNvSpPr>
              <a:spLocks noChangeArrowheads="1"/>
            </p:cNvSpPr>
            <p:nvPr/>
          </p:nvSpPr>
          <p:spPr bwMode="auto">
            <a:xfrm>
              <a:off x="5424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b="0"/>
                <a:t>Cycle 8</a:t>
              </a:r>
            </a:p>
          </p:txBody>
        </p:sp>
        <p:sp>
          <p:nvSpPr>
            <p:cNvPr id="443468" name="Rectangle 76"/>
            <p:cNvSpPr>
              <a:spLocks noChangeArrowheads="1"/>
            </p:cNvSpPr>
            <p:nvPr/>
          </p:nvSpPr>
          <p:spPr bwMode="auto">
            <a:xfrm>
              <a:off x="5424" y="2640"/>
              <a:ext cx="1680" cy="288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43400" name="Rectangle 8"/>
            <p:cNvSpPr>
              <a:spLocks noChangeArrowheads="1"/>
            </p:cNvSpPr>
            <p:nvPr/>
          </p:nvSpPr>
          <p:spPr bwMode="auto">
            <a:xfrm>
              <a:off x="5424" y="2256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0x014: </a:t>
              </a:r>
              <a:r>
                <a:rPr lang="en-US" sz="1400" b="0" dirty="0" err="1">
                  <a:latin typeface="Courier New" pitchFamily="49" charset="0"/>
                </a:rPr>
                <a:t>addq</a:t>
              </a:r>
              <a:r>
                <a:rPr lang="en-US" sz="1400" b="0" dirty="0">
                  <a:latin typeface="Courier New" pitchFamily="49" charset="0"/>
                </a:rPr>
                <a:t> %</a:t>
              </a:r>
              <a:r>
                <a:rPr lang="en-US" sz="1400" b="0" dirty="0" err="1">
                  <a:latin typeface="Courier New" pitchFamily="49" charset="0"/>
                </a:rPr>
                <a:t>rdx</a:t>
              </a:r>
              <a:r>
                <a:rPr lang="en-US" sz="1400" b="0" dirty="0">
                  <a:latin typeface="Courier New" pitchFamily="49" charset="0"/>
                </a:rPr>
                <a:t>,%</a:t>
              </a:r>
              <a:r>
                <a:rPr lang="en-US" sz="1400" b="0" dirty="0" err="1">
                  <a:latin typeface="Courier New" pitchFamily="49" charset="0"/>
                </a:rPr>
                <a:t>rax</a:t>
              </a:r>
              <a:endParaRPr lang="en-US" sz="1400" b="0" dirty="0">
                <a:latin typeface="Courier New" pitchFamily="49" charset="0"/>
              </a:endParaRPr>
            </a:p>
          </p:txBody>
        </p:sp>
        <p:sp>
          <p:nvSpPr>
            <p:cNvPr id="443477" name="Rectangle 85"/>
            <p:cNvSpPr>
              <a:spLocks noChangeArrowheads="1"/>
            </p:cNvSpPr>
            <p:nvPr/>
          </p:nvSpPr>
          <p:spPr bwMode="auto">
            <a:xfrm>
              <a:off x="5424" y="2448"/>
              <a:ext cx="1632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0x016: halt</a:t>
              </a:r>
            </a:p>
          </p:txBody>
        </p:sp>
      </p:grpSp>
      <p:grpSp>
        <p:nvGrpSpPr>
          <p:cNvPr id="443424" name="Group 32"/>
          <p:cNvGrpSpPr>
            <a:grpSpLocks/>
          </p:cNvGrpSpPr>
          <p:nvPr/>
        </p:nvGrpSpPr>
        <p:grpSpPr bwMode="auto">
          <a:xfrm>
            <a:off x="3810000" y="1600200"/>
            <a:ext cx="1524000" cy="1524000"/>
            <a:chOff x="-48" y="1344"/>
            <a:chExt cx="960" cy="960"/>
          </a:xfrm>
        </p:grpSpPr>
        <p:sp>
          <p:nvSpPr>
            <p:cNvPr id="443403" name="Rectangle 11"/>
            <p:cNvSpPr>
              <a:spLocks noChangeArrowheads="1"/>
            </p:cNvSpPr>
            <p:nvPr/>
          </p:nvSpPr>
          <p:spPr bwMode="auto">
            <a:xfrm>
              <a:off x="-48" y="1344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Write Back</a:t>
              </a:r>
            </a:p>
          </p:txBody>
        </p:sp>
        <p:sp>
          <p:nvSpPr>
            <p:cNvPr id="443404" name="Rectangle 12"/>
            <p:cNvSpPr>
              <a:spLocks noChangeArrowheads="1"/>
            </p:cNvSpPr>
            <p:nvPr/>
          </p:nvSpPr>
          <p:spPr bwMode="auto">
            <a:xfrm>
              <a:off x="-48" y="1536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Memory</a:t>
              </a:r>
            </a:p>
          </p:txBody>
        </p:sp>
        <p:sp>
          <p:nvSpPr>
            <p:cNvPr id="443405" name="Rectangle 13"/>
            <p:cNvSpPr>
              <a:spLocks noChangeArrowheads="1"/>
            </p:cNvSpPr>
            <p:nvPr/>
          </p:nvSpPr>
          <p:spPr bwMode="auto">
            <a:xfrm>
              <a:off x="-48" y="1728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Execute</a:t>
              </a:r>
              <a:endParaRPr lang="en-US" i="1"/>
            </a:p>
          </p:txBody>
        </p:sp>
        <p:sp>
          <p:nvSpPr>
            <p:cNvPr id="443406" name="Rectangle 14"/>
            <p:cNvSpPr>
              <a:spLocks noChangeArrowheads="1"/>
            </p:cNvSpPr>
            <p:nvPr/>
          </p:nvSpPr>
          <p:spPr bwMode="auto">
            <a:xfrm>
              <a:off x="-48" y="1920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Decode</a:t>
              </a:r>
              <a:endParaRPr lang="en-US" i="1"/>
            </a:p>
          </p:txBody>
        </p:sp>
        <p:sp>
          <p:nvSpPr>
            <p:cNvPr id="443408" name="Rectangle 16"/>
            <p:cNvSpPr>
              <a:spLocks noChangeArrowheads="1"/>
            </p:cNvSpPr>
            <p:nvPr/>
          </p:nvSpPr>
          <p:spPr bwMode="auto">
            <a:xfrm>
              <a:off x="-48" y="2112"/>
              <a:ext cx="960" cy="19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8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b="0"/>
                <a:t>Fetch</a:t>
              </a:r>
              <a:endParaRPr lang="en-US" i="1"/>
            </a:p>
          </p:txBody>
        </p:sp>
      </p:grpSp>
    </p:spTree>
    <p:extLst>
      <p:ext uri="{BB962C8B-B14F-4D97-AF65-F5344CB8AC3E}">
        <p14:creationId xmlns:p14="http://schemas.microsoft.com/office/powerpoint/2010/main" val="146419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76200"/>
            <a:ext cx="8704262" cy="779463"/>
          </a:xfrm>
        </p:spPr>
        <p:txBody>
          <a:bodyPr/>
          <a:lstStyle/>
          <a:p>
            <a:r>
              <a:rPr lang="en-US"/>
              <a:t>Implementing Stalling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5238750"/>
            <a:ext cx="8294688" cy="1295400"/>
          </a:xfrm>
        </p:spPr>
        <p:txBody>
          <a:bodyPr/>
          <a:lstStyle/>
          <a:p>
            <a:r>
              <a:rPr lang="en-US"/>
              <a:t>Pipeline Control</a:t>
            </a:r>
          </a:p>
          <a:p>
            <a:pPr lvl="1"/>
            <a:r>
              <a:rPr lang="en-US"/>
              <a:t>Combinational logic detects stall condition</a:t>
            </a:r>
          </a:p>
          <a:p>
            <a:pPr lvl="1"/>
            <a:r>
              <a:rPr lang="en-US"/>
              <a:t>Sets mode signals for how pipeline registers should update</a:t>
            </a:r>
          </a:p>
        </p:txBody>
      </p:sp>
      <p:sp>
        <p:nvSpPr>
          <p:cNvPr id="185" name="AutoShape 246"/>
          <p:cNvSpPr>
            <a:spLocks noChangeArrowheads="1"/>
          </p:cNvSpPr>
          <p:nvPr/>
        </p:nvSpPr>
        <p:spPr bwMode="auto">
          <a:xfrm>
            <a:off x="609600" y="7086600"/>
            <a:ext cx="671513" cy="57150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0" tIns="45715" rIns="91430" bIns="45715" anchor="ctr"/>
          <a:lstStyle/>
          <a:p>
            <a:r>
              <a:rPr lang="en-US" sz="1200" dirty="0"/>
              <a:t>Pipeline</a:t>
            </a:r>
          </a:p>
          <a:p>
            <a:r>
              <a:rPr lang="en-US" sz="1200" dirty="0"/>
              <a:t>control</a:t>
            </a:r>
          </a:p>
          <a:p>
            <a:r>
              <a:rPr lang="en-US" sz="1200" dirty="0"/>
              <a:t>logic</a:t>
            </a:r>
          </a:p>
        </p:txBody>
      </p:sp>
      <p:sp>
        <p:nvSpPr>
          <p:cNvPr id="186" name="AutoShape 246"/>
          <p:cNvSpPr>
            <a:spLocks noChangeArrowheads="1"/>
          </p:cNvSpPr>
          <p:nvPr/>
        </p:nvSpPr>
        <p:spPr bwMode="auto">
          <a:xfrm>
            <a:off x="762000" y="7239000"/>
            <a:ext cx="671513" cy="57150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0" tIns="45715" rIns="91430" bIns="45715" anchor="ctr"/>
          <a:lstStyle/>
          <a:p>
            <a:r>
              <a:rPr lang="en-US" sz="1200" dirty="0"/>
              <a:t>Pipeline</a:t>
            </a:r>
          </a:p>
          <a:p>
            <a:r>
              <a:rPr lang="en-US" sz="1200" dirty="0"/>
              <a:t>control</a:t>
            </a:r>
          </a:p>
          <a:p>
            <a:r>
              <a:rPr lang="en-US" sz="1200" dirty="0"/>
              <a:t>logic</a:t>
            </a:r>
          </a:p>
        </p:txBody>
      </p:sp>
      <p:sp>
        <p:nvSpPr>
          <p:cNvPr id="187" name="AutoShape 246"/>
          <p:cNvSpPr>
            <a:spLocks noChangeArrowheads="1"/>
          </p:cNvSpPr>
          <p:nvPr/>
        </p:nvSpPr>
        <p:spPr bwMode="auto">
          <a:xfrm>
            <a:off x="914400" y="7391400"/>
            <a:ext cx="671513" cy="57150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0" tIns="45715" rIns="91430" bIns="45715" anchor="ctr"/>
          <a:lstStyle/>
          <a:p>
            <a:r>
              <a:rPr lang="en-US" sz="1200" dirty="0"/>
              <a:t>Pipeline</a:t>
            </a:r>
          </a:p>
          <a:p>
            <a:r>
              <a:rPr lang="en-US" sz="1200" dirty="0"/>
              <a:t>control</a:t>
            </a:r>
          </a:p>
          <a:p>
            <a:r>
              <a:rPr lang="en-US" sz="1200" dirty="0"/>
              <a:t>logic</a:t>
            </a:r>
          </a:p>
        </p:txBody>
      </p:sp>
      <p:sp>
        <p:nvSpPr>
          <p:cNvPr id="188" name="AutoShape 246"/>
          <p:cNvSpPr>
            <a:spLocks noChangeArrowheads="1"/>
          </p:cNvSpPr>
          <p:nvPr/>
        </p:nvSpPr>
        <p:spPr bwMode="auto">
          <a:xfrm>
            <a:off x="1066800" y="7543800"/>
            <a:ext cx="671513" cy="571500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30" tIns="45715" rIns="91430" bIns="45715" anchor="ctr"/>
          <a:lstStyle/>
          <a:p>
            <a:r>
              <a:rPr lang="en-US" sz="1200" dirty="0"/>
              <a:t>Pipeline</a:t>
            </a:r>
          </a:p>
          <a:p>
            <a:r>
              <a:rPr lang="en-US" sz="1200" dirty="0"/>
              <a:t>control</a:t>
            </a:r>
          </a:p>
          <a:p>
            <a:r>
              <a:rPr lang="en-US" sz="1200" dirty="0"/>
              <a:t>logic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908050"/>
            <a:ext cx="6064250" cy="417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368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Register Modes</a:t>
            </a:r>
          </a:p>
        </p:txBody>
      </p:sp>
      <p:grpSp>
        <p:nvGrpSpPr>
          <p:cNvPr id="445507" name="Group 67"/>
          <p:cNvGrpSpPr>
            <a:grpSpLocks/>
          </p:cNvGrpSpPr>
          <p:nvPr/>
        </p:nvGrpSpPr>
        <p:grpSpPr bwMode="auto">
          <a:xfrm>
            <a:off x="4927600" y="1217613"/>
            <a:ext cx="3559175" cy="1117600"/>
            <a:chOff x="3104" y="767"/>
            <a:chExt cx="2242" cy="704"/>
          </a:xfrm>
        </p:grpSpPr>
        <p:sp>
          <p:nvSpPr>
            <p:cNvPr id="445452" name="Freeform 12"/>
            <p:cNvSpPr>
              <a:spLocks/>
            </p:cNvSpPr>
            <p:nvPr/>
          </p:nvSpPr>
          <p:spPr bwMode="auto">
            <a:xfrm>
              <a:off x="3482" y="1112"/>
              <a:ext cx="346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53" name="Rectangle 13"/>
            <p:cNvSpPr>
              <a:spLocks noChangeArrowheads="1"/>
            </p:cNvSpPr>
            <p:nvPr/>
          </p:nvSpPr>
          <p:spPr bwMode="auto">
            <a:xfrm>
              <a:off x="3328" y="767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54" name="Rectangle 14"/>
            <p:cNvSpPr>
              <a:spLocks noChangeArrowheads="1"/>
            </p:cNvSpPr>
            <p:nvPr/>
          </p:nvSpPr>
          <p:spPr bwMode="auto">
            <a:xfrm>
              <a:off x="3532" y="797"/>
              <a:ext cx="334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Rising</a:t>
              </a:r>
              <a:endParaRPr lang="en-US"/>
            </a:p>
          </p:txBody>
        </p:sp>
        <p:sp>
          <p:nvSpPr>
            <p:cNvPr id="445455" name="Rectangle 15"/>
            <p:cNvSpPr>
              <a:spLocks noChangeArrowheads="1"/>
            </p:cNvSpPr>
            <p:nvPr/>
          </p:nvSpPr>
          <p:spPr bwMode="auto">
            <a:xfrm>
              <a:off x="3557" y="920"/>
              <a:ext cx="2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clock</a:t>
              </a:r>
              <a:endParaRPr lang="en-US"/>
            </a:p>
          </p:txBody>
        </p:sp>
        <p:sp>
          <p:nvSpPr>
            <p:cNvPr id="445456" name="Freeform 16"/>
            <p:cNvSpPr>
              <a:spLocks/>
            </p:cNvSpPr>
            <p:nvPr/>
          </p:nvSpPr>
          <p:spPr bwMode="auto">
            <a:xfrm>
              <a:off x="3482" y="1112"/>
              <a:ext cx="346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57" name="Rectangle 17"/>
            <p:cNvSpPr>
              <a:spLocks noChangeArrowheads="1"/>
            </p:cNvSpPr>
            <p:nvPr/>
          </p:nvSpPr>
          <p:spPr bwMode="auto">
            <a:xfrm>
              <a:off x="3328" y="767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58" name="Rectangle 18"/>
            <p:cNvSpPr>
              <a:spLocks noChangeArrowheads="1"/>
            </p:cNvSpPr>
            <p:nvPr/>
          </p:nvSpPr>
          <p:spPr bwMode="auto">
            <a:xfrm>
              <a:off x="3532" y="797"/>
              <a:ext cx="334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Rising</a:t>
              </a:r>
              <a:endParaRPr lang="en-US"/>
            </a:p>
          </p:txBody>
        </p:sp>
        <p:sp>
          <p:nvSpPr>
            <p:cNvPr id="445459" name="Rectangle 19"/>
            <p:cNvSpPr>
              <a:spLocks noChangeArrowheads="1"/>
            </p:cNvSpPr>
            <p:nvPr/>
          </p:nvSpPr>
          <p:spPr bwMode="auto">
            <a:xfrm>
              <a:off x="3557" y="920"/>
              <a:ext cx="2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clock</a:t>
              </a:r>
              <a:endParaRPr lang="en-US"/>
            </a:p>
          </p:txBody>
        </p:sp>
        <p:sp>
          <p:nvSpPr>
            <p:cNvPr id="445461" name="Rectangle 21"/>
            <p:cNvSpPr>
              <a:spLocks noChangeArrowheads="1"/>
            </p:cNvSpPr>
            <p:nvPr/>
          </p:nvSpPr>
          <p:spPr bwMode="auto">
            <a:xfrm>
              <a:off x="3104" y="902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900" b="0">
                  <a:solidFill>
                    <a:srgbClr val="000099"/>
                  </a:solidFill>
                  <a:latin typeface="Wingdings 3" pitchFamily="18" charset="2"/>
                </a:rPr>
                <a:t>_</a:t>
              </a:r>
              <a:endParaRPr lang="en-US"/>
            </a:p>
          </p:txBody>
        </p:sp>
        <p:sp>
          <p:nvSpPr>
            <p:cNvPr id="445462" name="Rectangle 22"/>
            <p:cNvSpPr>
              <a:spLocks noChangeArrowheads="1"/>
            </p:cNvSpPr>
            <p:nvPr/>
          </p:nvSpPr>
          <p:spPr bwMode="auto">
            <a:xfrm>
              <a:off x="4017" y="866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3" name="Rectangle 23"/>
            <p:cNvSpPr>
              <a:spLocks noChangeArrowheads="1"/>
            </p:cNvSpPr>
            <p:nvPr/>
          </p:nvSpPr>
          <p:spPr bwMode="auto">
            <a:xfrm>
              <a:off x="4063" y="902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900" b="0">
                  <a:solidFill>
                    <a:srgbClr val="000099"/>
                  </a:solidFill>
                  <a:latin typeface="Wingdings 3" pitchFamily="18" charset="2"/>
                </a:rPr>
                <a:t>_</a:t>
              </a:r>
              <a:endParaRPr lang="en-US"/>
            </a:p>
          </p:txBody>
        </p:sp>
        <p:sp>
          <p:nvSpPr>
            <p:cNvPr id="445470" name="Rectangle 30"/>
            <p:cNvSpPr>
              <a:spLocks noChangeArrowheads="1"/>
            </p:cNvSpPr>
            <p:nvPr/>
          </p:nvSpPr>
          <p:spPr bwMode="auto">
            <a:xfrm>
              <a:off x="4775" y="856"/>
              <a:ext cx="567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71" name="Rectangle 31"/>
            <p:cNvSpPr>
              <a:spLocks noChangeArrowheads="1"/>
            </p:cNvSpPr>
            <p:nvPr/>
          </p:nvSpPr>
          <p:spPr bwMode="auto">
            <a:xfrm>
              <a:off x="4821" y="886"/>
              <a:ext cx="52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Output = y</a:t>
              </a:r>
              <a:endParaRPr lang="en-US"/>
            </a:p>
          </p:txBody>
        </p:sp>
        <p:grpSp>
          <p:nvGrpSpPr>
            <p:cNvPr id="445506" name="Group 66"/>
            <p:cNvGrpSpPr>
              <a:grpSpLocks/>
            </p:cNvGrpSpPr>
            <p:nvPr/>
          </p:nvGrpSpPr>
          <p:grpSpPr bwMode="auto">
            <a:xfrm>
              <a:off x="4375" y="817"/>
              <a:ext cx="575" cy="654"/>
              <a:chOff x="4375" y="817"/>
              <a:chExt cx="575" cy="654"/>
            </a:xfrm>
          </p:grpSpPr>
          <p:sp>
            <p:nvSpPr>
              <p:cNvPr id="445498" name="Rectangle 58"/>
              <p:cNvSpPr>
                <a:spLocks noChangeArrowheads="1"/>
              </p:cNvSpPr>
              <p:nvPr/>
            </p:nvSpPr>
            <p:spPr bwMode="auto">
              <a:xfrm>
                <a:off x="4605" y="817"/>
                <a:ext cx="116" cy="654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99" name="Rectangle 59"/>
              <p:cNvSpPr>
                <a:spLocks noChangeArrowheads="1"/>
              </p:cNvSpPr>
              <p:nvPr/>
            </p:nvSpPr>
            <p:spPr bwMode="auto">
              <a:xfrm>
                <a:off x="4631" y="1076"/>
                <a:ext cx="121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y</a:t>
                </a:r>
                <a:endParaRPr lang="en-US"/>
              </a:p>
            </p:txBody>
          </p:sp>
          <p:sp>
            <p:nvSpPr>
              <p:cNvPr id="445500" name="Freeform 60"/>
              <p:cNvSpPr>
                <a:spLocks/>
              </p:cNvSpPr>
              <p:nvPr/>
            </p:nvSpPr>
            <p:spPr bwMode="auto">
              <a:xfrm>
                <a:off x="4375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01" name="Freeform 61"/>
              <p:cNvSpPr>
                <a:spLocks/>
              </p:cNvSpPr>
              <p:nvPr/>
            </p:nvSpPr>
            <p:spPr bwMode="auto">
              <a:xfrm>
                <a:off x="4720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66CC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02" name="Rectangle 62"/>
              <p:cNvSpPr>
                <a:spLocks noChangeArrowheads="1"/>
              </p:cNvSpPr>
              <p:nvPr/>
            </p:nvSpPr>
            <p:spPr bwMode="auto">
              <a:xfrm>
                <a:off x="4605" y="817"/>
                <a:ext cx="116" cy="654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03" name="Rectangle 63"/>
              <p:cNvSpPr>
                <a:spLocks noChangeArrowheads="1"/>
              </p:cNvSpPr>
              <p:nvPr/>
            </p:nvSpPr>
            <p:spPr bwMode="auto">
              <a:xfrm>
                <a:off x="4631" y="1076"/>
                <a:ext cx="121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y</a:t>
                </a:r>
                <a:endParaRPr lang="en-US"/>
              </a:p>
            </p:txBody>
          </p:sp>
          <p:sp>
            <p:nvSpPr>
              <p:cNvPr id="445504" name="Freeform 64"/>
              <p:cNvSpPr>
                <a:spLocks/>
              </p:cNvSpPr>
              <p:nvPr/>
            </p:nvSpPr>
            <p:spPr bwMode="auto">
              <a:xfrm>
                <a:off x="4375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05" name="Freeform 65"/>
              <p:cNvSpPr>
                <a:spLocks/>
              </p:cNvSpPr>
              <p:nvPr/>
            </p:nvSpPr>
            <p:spPr bwMode="auto">
              <a:xfrm>
                <a:off x="4720" y="10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1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1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1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66CC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45565" name="Group 125"/>
          <p:cNvGrpSpPr>
            <a:grpSpLocks/>
          </p:cNvGrpSpPr>
          <p:nvPr/>
        </p:nvGrpSpPr>
        <p:grpSpPr bwMode="auto">
          <a:xfrm>
            <a:off x="4833938" y="3103563"/>
            <a:ext cx="3636962" cy="1136650"/>
            <a:chOff x="3045" y="1955"/>
            <a:chExt cx="2291" cy="716"/>
          </a:xfrm>
        </p:grpSpPr>
        <p:sp>
          <p:nvSpPr>
            <p:cNvPr id="445510" name="Freeform 70"/>
            <p:cNvSpPr>
              <a:spLocks/>
            </p:cNvSpPr>
            <p:nvPr/>
          </p:nvSpPr>
          <p:spPr bwMode="auto">
            <a:xfrm>
              <a:off x="3470" y="2300"/>
              <a:ext cx="345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1" name="Rectangle 71"/>
            <p:cNvSpPr>
              <a:spLocks noChangeArrowheads="1"/>
            </p:cNvSpPr>
            <p:nvPr/>
          </p:nvSpPr>
          <p:spPr bwMode="auto">
            <a:xfrm>
              <a:off x="3316" y="1955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2" name="Rectangle 72"/>
            <p:cNvSpPr>
              <a:spLocks noChangeArrowheads="1"/>
            </p:cNvSpPr>
            <p:nvPr/>
          </p:nvSpPr>
          <p:spPr bwMode="auto">
            <a:xfrm>
              <a:off x="3520" y="1985"/>
              <a:ext cx="334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Rising</a:t>
              </a:r>
              <a:endParaRPr lang="en-US"/>
            </a:p>
          </p:txBody>
        </p:sp>
        <p:sp>
          <p:nvSpPr>
            <p:cNvPr id="445513" name="Rectangle 73"/>
            <p:cNvSpPr>
              <a:spLocks noChangeArrowheads="1"/>
            </p:cNvSpPr>
            <p:nvPr/>
          </p:nvSpPr>
          <p:spPr bwMode="auto">
            <a:xfrm>
              <a:off x="3545" y="2108"/>
              <a:ext cx="2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clock</a:t>
              </a:r>
              <a:endParaRPr lang="en-US"/>
            </a:p>
          </p:txBody>
        </p:sp>
        <p:sp>
          <p:nvSpPr>
            <p:cNvPr id="445514" name="Freeform 74"/>
            <p:cNvSpPr>
              <a:spLocks/>
            </p:cNvSpPr>
            <p:nvPr/>
          </p:nvSpPr>
          <p:spPr bwMode="auto">
            <a:xfrm>
              <a:off x="3470" y="2300"/>
              <a:ext cx="345" cy="231"/>
            </a:xfrm>
            <a:custGeom>
              <a:avLst/>
              <a:gdLst/>
              <a:ahLst/>
              <a:cxnLst>
                <a:cxn ang="0">
                  <a:pos x="0" y="460"/>
                </a:cxn>
                <a:cxn ang="0">
                  <a:pos x="384" y="460"/>
                </a:cxn>
                <a:cxn ang="0">
                  <a:pos x="384" y="0"/>
                </a:cxn>
                <a:cxn ang="0">
                  <a:pos x="691" y="0"/>
                </a:cxn>
              </a:cxnLst>
              <a:rect l="0" t="0" r="r" b="b"/>
              <a:pathLst>
                <a:path w="691" h="460">
                  <a:moveTo>
                    <a:pt x="0" y="460"/>
                  </a:moveTo>
                  <a:lnTo>
                    <a:pt x="384" y="460"/>
                  </a:lnTo>
                  <a:lnTo>
                    <a:pt x="384" y="0"/>
                  </a:lnTo>
                  <a:lnTo>
                    <a:pt x="69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5" name="Rectangle 75"/>
            <p:cNvSpPr>
              <a:spLocks noChangeArrowheads="1"/>
            </p:cNvSpPr>
            <p:nvPr/>
          </p:nvSpPr>
          <p:spPr bwMode="auto">
            <a:xfrm>
              <a:off x="3316" y="1955"/>
              <a:ext cx="692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6" name="Rectangle 76"/>
            <p:cNvSpPr>
              <a:spLocks noChangeArrowheads="1"/>
            </p:cNvSpPr>
            <p:nvPr/>
          </p:nvSpPr>
          <p:spPr bwMode="auto">
            <a:xfrm>
              <a:off x="3520" y="1985"/>
              <a:ext cx="334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Rising</a:t>
              </a:r>
              <a:endParaRPr lang="en-US"/>
            </a:p>
          </p:txBody>
        </p:sp>
        <p:sp>
          <p:nvSpPr>
            <p:cNvPr id="445517" name="Rectangle 77"/>
            <p:cNvSpPr>
              <a:spLocks noChangeArrowheads="1"/>
            </p:cNvSpPr>
            <p:nvPr/>
          </p:nvSpPr>
          <p:spPr bwMode="auto">
            <a:xfrm>
              <a:off x="3545" y="2108"/>
              <a:ext cx="28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clock</a:t>
              </a:r>
              <a:endParaRPr lang="en-US"/>
            </a:p>
          </p:txBody>
        </p:sp>
        <p:sp>
          <p:nvSpPr>
            <p:cNvPr id="445518" name="Rectangle 78"/>
            <p:cNvSpPr>
              <a:spLocks noChangeArrowheads="1"/>
            </p:cNvSpPr>
            <p:nvPr/>
          </p:nvSpPr>
          <p:spPr bwMode="auto">
            <a:xfrm>
              <a:off x="3045" y="2054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19" name="Rectangle 79"/>
            <p:cNvSpPr>
              <a:spLocks noChangeArrowheads="1"/>
            </p:cNvSpPr>
            <p:nvPr/>
          </p:nvSpPr>
          <p:spPr bwMode="auto">
            <a:xfrm>
              <a:off x="3092" y="2090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900" b="0">
                  <a:solidFill>
                    <a:srgbClr val="000099"/>
                  </a:solidFill>
                  <a:latin typeface="Wingdings 3" pitchFamily="18" charset="2"/>
                </a:rPr>
                <a:t>_</a:t>
              </a:r>
              <a:endParaRPr lang="en-US"/>
            </a:p>
          </p:txBody>
        </p:sp>
        <p:sp>
          <p:nvSpPr>
            <p:cNvPr id="445520" name="Rectangle 80"/>
            <p:cNvSpPr>
              <a:spLocks noChangeArrowheads="1"/>
            </p:cNvSpPr>
            <p:nvPr/>
          </p:nvSpPr>
          <p:spPr bwMode="auto">
            <a:xfrm>
              <a:off x="4005" y="2054"/>
              <a:ext cx="310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21" name="Rectangle 81"/>
            <p:cNvSpPr>
              <a:spLocks noChangeArrowheads="1"/>
            </p:cNvSpPr>
            <p:nvPr/>
          </p:nvSpPr>
          <p:spPr bwMode="auto">
            <a:xfrm>
              <a:off x="4051" y="2090"/>
              <a:ext cx="397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900" b="0">
                  <a:solidFill>
                    <a:srgbClr val="000099"/>
                  </a:solidFill>
                  <a:latin typeface="Wingdings 3" pitchFamily="18" charset="2"/>
                </a:rPr>
                <a:t>_</a:t>
              </a:r>
              <a:endParaRPr lang="en-US"/>
            </a:p>
          </p:txBody>
        </p:sp>
        <p:sp>
          <p:nvSpPr>
            <p:cNvPr id="445528" name="Rectangle 88"/>
            <p:cNvSpPr>
              <a:spLocks noChangeArrowheads="1"/>
            </p:cNvSpPr>
            <p:nvPr/>
          </p:nvSpPr>
          <p:spPr bwMode="auto">
            <a:xfrm>
              <a:off x="4762" y="2044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29" name="Rectangle 89"/>
            <p:cNvSpPr>
              <a:spLocks noChangeArrowheads="1"/>
            </p:cNvSpPr>
            <p:nvPr/>
          </p:nvSpPr>
          <p:spPr bwMode="auto">
            <a:xfrm>
              <a:off x="4809" y="2074"/>
              <a:ext cx="52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Output = x</a:t>
              </a:r>
              <a:endParaRPr lang="en-US"/>
            </a:p>
          </p:txBody>
        </p:sp>
        <p:grpSp>
          <p:nvGrpSpPr>
            <p:cNvPr id="445564" name="Group 124"/>
            <p:cNvGrpSpPr>
              <a:grpSpLocks/>
            </p:cNvGrpSpPr>
            <p:nvPr/>
          </p:nvGrpSpPr>
          <p:grpSpPr bwMode="auto">
            <a:xfrm>
              <a:off x="4362" y="2017"/>
              <a:ext cx="576" cy="654"/>
              <a:chOff x="4362" y="2017"/>
              <a:chExt cx="576" cy="654"/>
            </a:xfrm>
          </p:grpSpPr>
          <p:sp>
            <p:nvSpPr>
              <p:cNvPr id="445556" name="Rectangle 116"/>
              <p:cNvSpPr>
                <a:spLocks noChangeArrowheads="1"/>
              </p:cNvSpPr>
              <p:nvPr/>
            </p:nvSpPr>
            <p:spPr bwMode="auto">
              <a:xfrm>
                <a:off x="4593" y="2017"/>
                <a:ext cx="116" cy="654"/>
              </a:xfrm>
              <a:prstGeom prst="rect">
                <a:avLst/>
              </a:prstGeom>
              <a:solidFill>
                <a:srgbClr val="B2B2B2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57" name="Rectangle 117"/>
              <p:cNvSpPr>
                <a:spLocks noChangeArrowheads="1"/>
              </p:cNvSpPr>
              <p:nvPr/>
            </p:nvSpPr>
            <p:spPr bwMode="auto">
              <a:xfrm>
                <a:off x="4619" y="2276"/>
                <a:ext cx="12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x</a:t>
                </a:r>
                <a:endParaRPr lang="en-US"/>
              </a:p>
            </p:txBody>
          </p:sp>
          <p:sp>
            <p:nvSpPr>
              <p:cNvPr id="445558" name="Freeform 118"/>
              <p:cNvSpPr>
                <a:spLocks/>
              </p:cNvSpPr>
              <p:nvPr/>
            </p:nvSpPr>
            <p:spPr bwMode="auto">
              <a:xfrm>
                <a:off x="4362" y="2286"/>
                <a:ext cx="231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59" name="Freeform 119"/>
              <p:cNvSpPr>
                <a:spLocks/>
              </p:cNvSpPr>
              <p:nvPr/>
            </p:nvSpPr>
            <p:spPr bwMode="auto">
              <a:xfrm>
                <a:off x="4708" y="22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B2B2B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0" name="Rectangle 120"/>
              <p:cNvSpPr>
                <a:spLocks noChangeArrowheads="1"/>
              </p:cNvSpPr>
              <p:nvPr/>
            </p:nvSpPr>
            <p:spPr bwMode="auto">
              <a:xfrm>
                <a:off x="4593" y="2017"/>
                <a:ext cx="116" cy="654"/>
              </a:xfrm>
              <a:prstGeom prst="rect">
                <a:avLst/>
              </a:prstGeom>
              <a:solidFill>
                <a:srgbClr val="B2B2B2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1" name="Rectangle 121"/>
              <p:cNvSpPr>
                <a:spLocks noChangeArrowheads="1"/>
              </p:cNvSpPr>
              <p:nvPr/>
            </p:nvSpPr>
            <p:spPr bwMode="auto">
              <a:xfrm>
                <a:off x="4619" y="2276"/>
                <a:ext cx="12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x</a:t>
                </a:r>
                <a:endParaRPr lang="en-US"/>
              </a:p>
            </p:txBody>
          </p:sp>
          <p:sp>
            <p:nvSpPr>
              <p:cNvPr id="445562" name="Freeform 122"/>
              <p:cNvSpPr>
                <a:spLocks/>
              </p:cNvSpPr>
              <p:nvPr/>
            </p:nvSpPr>
            <p:spPr bwMode="auto">
              <a:xfrm>
                <a:off x="4362" y="2286"/>
                <a:ext cx="231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3" name="Freeform 123"/>
              <p:cNvSpPr>
                <a:spLocks/>
              </p:cNvSpPr>
              <p:nvPr/>
            </p:nvSpPr>
            <p:spPr bwMode="auto">
              <a:xfrm>
                <a:off x="4708" y="2286"/>
                <a:ext cx="230" cy="115"/>
              </a:xfrm>
              <a:custGeom>
                <a:avLst/>
                <a:gdLst/>
                <a:ahLst/>
                <a:cxnLst>
                  <a:cxn ang="0">
                    <a:pos x="307" y="0"/>
                  </a:cxn>
                  <a:cxn ang="0">
                    <a:pos x="307" y="96"/>
                  </a:cxn>
                  <a:cxn ang="0">
                    <a:pos x="0" y="96"/>
                  </a:cxn>
                  <a:cxn ang="0">
                    <a:pos x="0" y="134"/>
                  </a:cxn>
                  <a:cxn ang="0">
                    <a:pos x="307" y="134"/>
                  </a:cxn>
                  <a:cxn ang="0">
                    <a:pos x="307" y="230"/>
                  </a:cxn>
                  <a:cxn ang="0">
                    <a:pos x="460" y="115"/>
                  </a:cxn>
                  <a:cxn ang="0">
                    <a:pos x="307" y="0"/>
                  </a:cxn>
                </a:cxnLst>
                <a:rect l="0" t="0" r="r" b="b"/>
                <a:pathLst>
                  <a:path w="460" h="230">
                    <a:moveTo>
                      <a:pt x="307" y="0"/>
                    </a:moveTo>
                    <a:lnTo>
                      <a:pt x="307" y="96"/>
                    </a:lnTo>
                    <a:lnTo>
                      <a:pt x="0" y="96"/>
                    </a:lnTo>
                    <a:lnTo>
                      <a:pt x="0" y="134"/>
                    </a:lnTo>
                    <a:lnTo>
                      <a:pt x="307" y="134"/>
                    </a:lnTo>
                    <a:lnTo>
                      <a:pt x="307" y="230"/>
                    </a:lnTo>
                    <a:lnTo>
                      <a:pt x="460" y="115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rgbClr val="B2B2B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45595" name="Rectangle 155"/>
          <p:cNvSpPr>
            <a:spLocks noChangeArrowheads="1"/>
          </p:cNvSpPr>
          <p:nvPr/>
        </p:nvSpPr>
        <p:spPr bwMode="auto">
          <a:xfrm>
            <a:off x="3513138" y="4992688"/>
            <a:ext cx="184150" cy="1038225"/>
          </a:xfrm>
          <a:prstGeom prst="rect">
            <a:avLst/>
          </a:prstGeom>
          <a:solidFill>
            <a:srgbClr val="B2B2B2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596" name="Rectangle 156"/>
          <p:cNvSpPr>
            <a:spLocks noChangeArrowheads="1"/>
          </p:cNvSpPr>
          <p:nvPr/>
        </p:nvSpPr>
        <p:spPr bwMode="auto">
          <a:xfrm>
            <a:off x="3598863" y="5403850"/>
            <a:ext cx="1016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x</a:t>
            </a:r>
            <a:endParaRPr lang="en-US"/>
          </a:p>
        </p:txBody>
      </p:sp>
      <p:grpSp>
        <p:nvGrpSpPr>
          <p:cNvPr id="445599" name="Group 159"/>
          <p:cNvGrpSpPr>
            <a:grpSpLocks/>
          </p:cNvGrpSpPr>
          <p:nvPr/>
        </p:nvGrpSpPr>
        <p:grpSpPr bwMode="auto">
          <a:xfrm>
            <a:off x="3330575" y="6029325"/>
            <a:ext cx="252413" cy="182563"/>
            <a:chOff x="2098" y="3798"/>
            <a:chExt cx="159" cy="115"/>
          </a:xfrm>
        </p:grpSpPr>
        <p:sp>
          <p:nvSpPr>
            <p:cNvPr id="445597" name="Freeform 157"/>
            <p:cNvSpPr>
              <a:spLocks/>
            </p:cNvSpPr>
            <p:nvPr/>
          </p:nvSpPr>
          <p:spPr bwMode="auto">
            <a:xfrm>
              <a:off x="2098" y="3827"/>
              <a:ext cx="143" cy="86"/>
            </a:xfrm>
            <a:custGeom>
              <a:avLst/>
              <a:gdLst/>
              <a:ahLst/>
              <a:cxnLst>
                <a:cxn ang="0">
                  <a:pos x="286" y="0"/>
                </a:cxn>
                <a:cxn ang="0">
                  <a:pos x="230" y="173"/>
                </a:cxn>
                <a:cxn ang="0">
                  <a:pos x="0" y="173"/>
                </a:cxn>
              </a:cxnLst>
              <a:rect l="0" t="0" r="r" b="b"/>
              <a:pathLst>
                <a:path w="286" h="173">
                  <a:moveTo>
                    <a:pt x="286" y="0"/>
                  </a:moveTo>
                  <a:lnTo>
                    <a:pt x="230" y="173"/>
                  </a:lnTo>
                  <a:lnTo>
                    <a:pt x="0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98" name="Freeform 158"/>
            <p:cNvSpPr>
              <a:spLocks/>
            </p:cNvSpPr>
            <p:nvPr/>
          </p:nvSpPr>
          <p:spPr bwMode="auto">
            <a:xfrm>
              <a:off x="2225" y="3798"/>
              <a:ext cx="32" cy="36"/>
            </a:xfrm>
            <a:custGeom>
              <a:avLst/>
              <a:gdLst/>
              <a:ahLst/>
              <a:cxnLst>
                <a:cxn ang="0">
                  <a:pos x="62" y="74"/>
                </a:cxn>
                <a:cxn ang="0">
                  <a:pos x="51" y="0"/>
                </a:cxn>
                <a:cxn ang="0">
                  <a:pos x="0" y="53"/>
                </a:cxn>
                <a:cxn ang="0">
                  <a:pos x="62" y="74"/>
                </a:cxn>
              </a:cxnLst>
              <a:rect l="0" t="0" r="r" b="b"/>
              <a:pathLst>
                <a:path w="62" h="74">
                  <a:moveTo>
                    <a:pt x="62" y="74"/>
                  </a:moveTo>
                  <a:lnTo>
                    <a:pt x="51" y="0"/>
                  </a:lnTo>
                  <a:lnTo>
                    <a:pt x="0" y="53"/>
                  </a:lnTo>
                  <a:lnTo>
                    <a:pt x="62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5602" name="Group 162"/>
          <p:cNvGrpSpPr>
            <a:grpSpLocks/>
          </p:cNvGrpSpPr>
          <p:nvPr/>
        </p:nvGrpSpPr>
        <p:grpSpPr bwMode="auto">
          <a:xfrm>
            <a:off x="3627438" y="6029325"/>
            <a:ext cx="250825" cy="182563"/>
            <a:chOff x="2285" y="3798"/>
            <a:chExt cx="158" cy="115"/>
          </a:xfrm>
        </p:grpSpPr>
        <p:sp>
          <p:nvSpPr>
            <p:cNvPr id="445600" name="Freeform 160"/>
            <p:cNvSpPr>
              <a:spLocks/>
            </p:cNvSpPr>
            <p:nvPr/>
          </p:nvSpPr>
          <p:spPr bwMode="auto">
            <a:xfrm>
              <a:off x="2300" y="3827"/>
              <a:ext cx="143" cy="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" y="173"/>
                </a:cxn>
                <a:cxn ang="0">
                  <a:pos x="286" y="173"/>
                </a:cxn>
              </a:cxnLst>
              <a:rect l="0" t="0" r="r" b="b"/>
              <a:pathLst>
                <a:path w="286" h="173">
                  <a:moveTo>
                    <a:pt x="0" y="0"/>
                  </a:moveTo>
                  <a:lnTo>
                    <a:pt x="56" y="173"/>
                  </a:lnTo>
                  <a:lnTo>
                    <a:pt x="286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601" name="Freeform 161"/>
            <p:cNvSpPr>
              <a:spLocks/>
            </p:cNvSpPr>
            <p:nvPr/>
          </p:nvSpPr>
          <p:spPr bwMode="auto">
            <a:xfrm>
              <a:off x="2285" y="3798"/>
              <a:ext cx="31" cy="36"/>
            </a:xfrm>
            <a:custGeom>
              <a:avLst/>
              <a:gdLst/>
              <a:ahLst/>
              <a:cxnLst>
                <a:cxn ang="0">
                  <a:pos x="63" y="53"/>
                </a:cxn>
                <a:cxn ang="0">
                  <a:pos x="10" y="0"/>
                </a:cxn>
                <a:cxn ang="0">
                  <a:pos x="0" y="74"/>
                </a:cxn>
                <a:cxn ang="0">
                  <a:pos x="63" y="53"/>
                </a:cxn>
              </a:cxnLst>
              <a:rect l="0" t="0" r="r" b="b"/>
              <a:pathLst>
                <a:path w="63" h="74">
                  <a:moveTo>
                    <a:pt x="63" y="53"/>
                  </a:moveTo>
                  <a:lnTo>
                    <a:pt x="10" y="0"/>
                  </a:lnTo>
                  <a:lnTo>
                    <a:pt x="0" y="74"/>
                  </a:lnTo>
                  <a:lnTo>
                    <a:pt x="6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5603" name="Freeform 163"/>
          <p:cNvSpPr>
            <a:spLocks/>
          </p:cNvSpPr>
          <p:nvPr/>
        </p:nvSpPr>
        <p:spPr bwMode="auto">
          <a:xfrm>
            <a:off x="3146425" y="5419725"/>
            <a:ext cx="366713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66CCFF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604" name="Freeform 164"/>
          <p:cNvSpPr>
            <a:spLocks/>
          </p:cNvSpPr>
          <p:nvPr/>
        </p:nvSpPr>
        <p:spPr bwMode="auto">
          <a:xfrm>
            <a:off x="3695700" y="5419725"/>
            <a:ext cx="365125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B2B2B2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605" name="Rectangle 165"/>
          <p:cNvSpPr>
            <a:spLocks noChangeArrowheads="1"/>
          </p:cNvSpPr>
          <p:nvPr/>
        </p:nvSpPr>
        <p:spPr bwMode="auto">
          <a:xfrm>
            <a:off x="3513138" y="4992688"/>
            <a:ext cx="184150" cy="1038225"/>
          </a:xfrm>
          <a:prstGeom prst="rect">
            <a:avLst/>
          </a:prstGeom>
          <a:solidFill>
            <a:srgbClr val="B2B2B2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606" name="Rectangle 166"/>
          <p:cNvSpPr>
            <a:spLocks noChangeArrowheads="1"/>
          </p:cNvSpPr>
          <p:nvPr/>
        </p:nvSpPr>
        <p:spPr bwMode="auto">
          <a:xfrm>
            <a:off x="3598863" y="5403850"/>
            <a:ext cx="1016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x</a:t>
            </a:r>
            <a:endParaRPr lang="en-US"/>
          </a:p>
        </p:txBody>
      </p:sp>
      <p:grpSp>
        <p:nvGrpSpPr>
          <p:cNvPr id="445609" name="Group 169"/>
          <p:cNvGrpSpPr>
            <a:grpSpLocks/>
          </p:cNvGrpSpPr>
          <p:nvPr/>
        </p:nvGrpSpPr>
        <p:grpSpPr bwMode="auto">
          <a:xfrm>
            <a:off x="3330575" y="6029325"/>
            <a:ext cx="252413" cy="182563"/>
            <a:chOff x="2098" y="3798"/>
            <a:chExt cx="159" cy="115"/>
          </a:xfrm>
        </p:grpSpPr>
        <p:sp>
          <p:nvSpPr>
            <p:cNvPr id="445607" name="Freeform 167"/>
            <p:cNvSpPr>
              <a:spLocks/>
            </p:cNvSpPr>
            <p:nvPr/>
          </p:nvSpPr>
          <p:spPr bwMode="auto">
            <a:xfrm>
              <a:off x="2098" y="3827"/>
              <a:ext cx="143" cy="86"/>
            </a:xfrm>
            <a:custGeom>
              <a:avLst/>
              <a:gdLst/>
              <a:ahLst/>
              <a:cxnLst>
                <a:cxn ang="0">
                  <a:pos x="286" y="0"/>
                </a:cxn>
                <a:cxn ang="0">
                  <a:pos x="230" y="173"/>
                </a:cxn>
                <a:cxn ang="0">
                  <a:pos x="0" y="173"/>
                </a:cxn>
              </a:cxnLst>
              <a:rect l="0" t="0" r="r" b="b"/>
              <a:pathLst>
                <a:path w="286" h="173">
                  <a:moveTo>
                    <a:pt x="286" y="0"/>
                  </a:moveTo>
                  <a:lnTo>
                    <a:pt x="230" y="173"/>
                  </a:lnTo>
                  <a:lnTo>
                    <a:pt x="0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608" name="Freeform 168"/>
            <p:cNvSpPr>
              <a:spLocks/>
            </p:cNvSpPr>
            <p:nvPr/>
          </p:nvSpPr>
          <p:spPr bwMode="auto">
            <a:xfrm>
              <a:off x="2225" y="3798"/>
              <a:ext cx="32" cy="36"/>
            </a:xfrm>
            <a:custGeom>
              <a:avLst/>
              <a:gdLst/>
              <a:ahLst/>
              <a:cxnLst>
                <a:cxn ang="0">
                  <a:pos x="62" y="74"/>
                </a:cxn>
                <a:cxn ang="0">
                  <a:pos x="51" y="0"/>
                </a:cxn>
                <a:cxn ang="0">
                  <a:pos x="0" y="53"/>
                </a:cxn>
                <a:cxn ang="0">
                  <a:pos x="62" y="74"/>
                </a:cxn>
              </a:cxnLst>
              <a:rect l="0" t="0" r="r" b="b"/>
              <a:pathLst>
                <a:path w="62" h="74">
                  <a:moveTo>
                    <a:pt x="62" y="74"/>
                  </a:moveTo>
                  <a:lnTo>
                    <a:pt x="51" y="0"/>
                  </a:lnTo>
                  <a:lnTo>
                    <a:pt x="0" y="53"/>
                  </a:lnTo>
                  <a:lnTo>
                    <a:pt x="62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5612" name="Group 172"/>
          <p:cNvGrpSpPr>
            <a:grpSpLocks/>
          </p:cNvGrpSpPr>
          <p:nvPr/>
        </p:nvGrpSpPr>
        <p:grpSpPr bwMode="auto">
          <a:xfrm>
            <a:off x="3627438" y="6029325"/>
            <a:ext cx="250825" cy="182563"/>
            <a:chOff x="2285" y="3798"/>
            <a:chExt cx="158" cy="115"/>
          </a:xfrm>
        </p:grpSpPr>
        <p:sp>
          <p:nvSpPr>
            <p:cNvPr id="445610" name="Freeform 170"/>
            <p:cNvSpPr>
              <a:spLocks/>
            </p:cNvSpPr>
            <p:nvPr/>
          </p:nvSpPr>
          <p:spPr bwMode="auto">
            <a:xfrm>
              <a:off x="2300" y="3827"/>
              <a:ext cx="143" cy="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6" y="173"/>
                </a:cxn>
                <a:cxn ang="0">
                  <a:pos x="286" y="173"/>
                </a:cxn>
              </a:cxnLst>
              <a:rect l="0" t="0" r="r" b="b"/>
              <a:pathLst>
                <a:path w="286" h="173">
                  <a:moveTo>
                    <a:pt x="0" y="0"/>
                  </a:moveTo>
                  <a:lnTo>
                    <a:pt x="56" y="173"/>
                  </a:lnTo>
                  <a:lnTo>
                    <a:pt x="286" y="173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611" name="Freeform 171"/>
            <p:cNvSpPr>
              <a:spLocks/>
            </p:cNvSpPr>
            <p:nvPr/>
          </p:nvSpPr>
          <p:spPr bwMode="auto">
            <a:xfrm>
              <a:off x="2285" y="3798"/>
              <a:ext cx="31" cy="36"/>
            </a:xfrm>
            <a:custGeom>
              <a:avLst/>
              <a:gdLst/>
              <a:ahLst/>
              <a:cxnLst>
                <a:cxn ang="0">
                  <a:pos x="63" y="53"/>
                </a:cxn>
                <a:cxn ang="0">
                  <a:pos x="10" y="0"/>
                </a:cxn>
                <a:cxn ang="0">
                  <a:pos x="0" y="74"/>
                </a:cxn>
                <a:cxn ang="0">
                  <a:pos x="63" y="53"/>
                </a:cxn>
              </a:cxnLst>
              <a:rect l="0" t="0" r="r" b="b"/>
              <a:pathLst>
                <a:path w="63" h="74">
                  <a:moveTo>
                    <a:pt x="63" y="53"/>
                  </a:moveTo>
                  <a:lnTo>
                    <a:pt x="10" y="0"/>
                  </a:lnTo>
                  <a:lnTo>
                    <a:pt x="0" y="74"/>
                  </a:lnTo>
                  <a:lnTo>
                    <a:pt x="63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5613" name="Freeform 173"/>
          <p:cNvSpPr>
            <a:spLocks/>
          </p:cNvSpPr>
          <p:nvPr/>
        </p:nvSpPr>
        <p:spPr bwMode="auto">
          <a:xfrm>
            <a:off x="3146425" y="5419725"/>
            <a:ext cx="366713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66CCFF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5614" name="Freeform 174"/>
          <p:cNvSpPr>
            <a:spLocks/>
          </p:cNvSpPr>
          <p:nvPr/>
        </p:nvSpPr>
        <p:spPr bwMode="auto">
          <a:xfrm>
            <a:off x="3695700" y="5419725"/>
            <a:ext cx="365125" cy="182563"/>
          </a:xfrm>
          <a:custGeom>
            <a:avLst/>
            <a:gdLst/>
            <a:ahLst/>
            <a:cxnLst>
              <a:cxn ang="0">
                <a:pos x="307" y="0"/>
              </a:cxn>
              <a:cxn ang="0">
                <a:pos x="307" y="96"/>
              </a:cxn>
              <a:cxn ang="0">
                <a:pos x="0" y="96"/>
              </a:cxn>
              <a:cxn ang="0">
                <a:pos x="0" y="134"/>
              </a:cxn>
              <a:cxn ang="0">
                <a:pos x="307" y="134"/>
              </a:cxn>
              <a:cxn ang="0">
                <a:pos x="307" y="230"/>
              </a:cxn>
              <a:cxn ang="0">
                <a:pos x="460" y="115"/>
              </a:cxn>
              <a:cxn ang="0">
                <a:pos x="307" y="0"/>
              </a:cxn>
            </a:cxnLst>
            <a:rect l="0" t="0" r="r" b="b"/>
            <a:pathLst>
              <a:path w="460" h="230">
                <a:moveTo>
                  <a:pt x="307" y="0"/>
                </a:moveTo>
                <a:lnTo>
                  <a:pt x="307" y="96"/>
                </a:lnTo>
                <a:lnTo>
                  <a:pt x="0" y="96"/>
                </a:lnTo>
                <a:lnTo>
                  <a:pt x="0" y="134"/>
                </a:lnTo>
                <a:lnTo>
                  <a:pt x="307" y="134"/>
                </a:lnTo>
                <a:lnTo>
                  <a:pt x="307" y="230"/>
                </a:lnTo>
                <a:lnTo>
                  <a:pt x="460" y="115"/>
                </a:lnTo>
                <a:lnTo>
                  <a:pt x="307" y="0"/>
                </a:lnTo>
                <a:close/>
              </a:path>
            </a:pathLst>
          </a:custGeom>
          <a:solidFill>
            <a:srgbClr val="B2B2B2"/>
          </a:solidFill>
          <a:ln w="7938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45624" name="Group 184"/>
          <p:cNvGrpSpPr>
            <a:grpSpLocks/>
          </p:cNvGrpSpPr>
          <p:nvPr/>
        </p:nvGrpSpPr>
        <p:grpSpPr bwMode="auto">
          <a:xfrm>
            <a:off x="4833938" y="4864100"/>
            <a:ext cx="3843337" cy="1155700"/>
            <a:chOff x="3045" y="3064"/>
            <a:chExt cx="2421" cy="728"/>
          </a:xfrm>
        </p:grpSpPr>
        <p:grpSp>
          <p:nvGrpSpPr>
            <p:cNvPr id="445623" name="Group 183"/>
            <p:cNvGrpSpPr>
              <a:grpSpLocks/>
            </p:cNvGrpSpPr>
            <p:nvPr/>
          </p:nvGrpSpPr>
          <p:grpSpPr bwMode="auto">
            <a:xfrm>
              <a:off x="3045" y="3064"/>
              <a:ext cx="2421" cy="728"/>
              <a:chOff x="3045" y="3071"/>
              <a:chExt cx="2421" cy="728"/>
            </a:xfrm>
          </p:grpSpPr>
          <p:sp>
            <p:nvSpPr>
              <p:cNvPr id="445578" name="Rectangle 138"/>
              <p:cNvSpPr>
                <a:spLocks noChangeArrowheads="1"/>
              </p:cNvSpPr>
              <p:nvPr/>
            </p:nvSpPr>
            <p:spPr bwMode="auto">
              <a:xfrm>
                <a:off x="3045" y="3170"/>
                <a:ext cx="311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6" name="Rectangle 126"/>
              <p:cNvSpPr>
                <a:spLocks noChangeArrowheads="1"/>
              </p:cNvSpPr>
              <p:nvPr/>
            </p:nvSpPr>
            <p:spPr bwMode="auto">
              <a:xfrm>
                <a:off x="4593" y="3145"/>
                <a:ext cx="116" cy="654"/>
              </a:xfrm>
              <a:prstGeom prst="rect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67" name="Rectangle 127"/>
              <p:cNvSpPr>
                <a:spLocks noChangeArrowheads="1"/>
              </p:cNvSpPr>
              <p:nvPr/>
            </p:nvSpPr>
            <p:spPr bwMode="auto">
              <a:xfrm>
                <a:off x="4638" y="327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n</a:t>
                </a:r>
                <a:endParaRPr lang="en-US"/>
              </a:p>
            </p:txBody>
          </p:sp>
          <p:sp>
            <p:nvSpPr>
              <p:cNvPr id="445568" name="Rectangle 128"/>
              <p:cNvSpPr>
                <a:spLocks noChangeArrowheads="1"/>
              </p:cNvSpPr>
              <p:nvPr/>
            </p:nvSpPr>
            <p:spPr bwMode="auto">
              <a:xfrm>
                <a:off x="4638" y="3412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o</a:t>
                </a:r>
                <a:endParaRPr lang="en-US"/>
              </a:p>
            </p:txBody>
          </p:sp>
          <p:sp>
            <p:nvSpPr>
              <p:cNvPr id="445569" name="Rectangle 129"/>
              <p:cNvSpPr>
                <a:spLocks noChangeArrowheads="1"/>
              </p:cNvSpPr>
              <p:nvPr/>
            </p:nvSpPr>
            <p:spPr bwMode="auto">
              <a:xfrm>
                <a:off x="4638" y="355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p</a:t>
                </a:r>
                <a:endParaRPr lang="en-US"/>
              </a:p>
            </p:txBody>
          </p:sp>
          <p:sp>
            <p:nvSpPr>
              <p:cNvPr id="445570" name="Freeform 130"/>
              <p:cNvSpPr>
                <a:spLocks/>
              </p:cNvSpPr>
              <p:nvPr/>
            </p:nvSpPr>
            <p:spPr bwMode="auto">
              <a:xfrm>
                <a:off x="3470" y="3416"/>
                <a:ext cx="346" cy="231"/>
              </a:xfrm>
              <a:custGeom>
                <a:avLst/>
                <a:gdLst/>
                <a:ahLst/>
                <a:cxnLst>
                  <a:cxn ang="0">
                    <a:pos x="0" y="460"/>
                  </a:cxn>
                  <a:cxn ang="0">
                    <a:pos x="384" y="460"/>
                  </a:cxn>
                  <a:cxn ang="0">
                    <a:pos x="384" y="0"/>
                  </a:cxn>
                  <a:cxn ang="0">
                    <a:pos x="691" y="0"/>
                  </a:cxn>
                </a:cxnLst>
                <a:rect l="0" t="0" r="r" b="b"/>
                <a:pathLst>
                  <a:path w="691" h="460">
                    <a:moveTo>
                      <a:pt x="0" y="460"/>
                    </a:moveTo>
                    <a:lnTo>
                      <a:pt x="384" y="460"/>
                    </a:lnTo>
                    <a:lnTo>
                      <a:pt x="384" y="0"/>
                    </a:lnTo>
                    <a:lnTo>
                      <a:pt x="691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71" name="Rectangle 131"/>
              <p:cNvSpPr>
                <a:spLocks noChangeArrowheads="1"/>
              </p:cNvSpPr>
              <p:nvPr/>
            </p:nvSpPr>
            <p:spPr bwMode="auto">
              <a:xfrm>
                <a:off x="3316" y="3071"/>
                <a:ext cx="692" cy="2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72" name="Rectangle 132"/>
              <p:cNvSpPr>
                <a:spLocks noChangeArrowheads="1"/>
              </p:cNvSpPr>
              <p:nvPr/>
            </p:nvSpPr>
            <p:spPr bwMode="auto">
              <a:xfrm>
                <a:off x="3542" y="3101"/>
                <a:ext cx="28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Rising</a:t>
                </a:r>
                <a:endParaRPr lang="en-US"/>
              </a:p>
            </p:txBody>
          </p:sp>
          <p:sp>
            <p:nvSpPr>
              <p:cNvPr id="445573" name="Rectangle 133"/>
              <p:cNvSpPr>
                <a:spLocks noChangeArrowheads="1"/>
              </p:cNvSpPr>
              <p:nvPr/>
            </p:nvSpPr>
            <p:spPr bwMode="auto">
              <a:xfrm>
                <a:off x="3567" y="3224"/>
                <a:ext cx="237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clock</a:t>
                </a:r>
                <a:endParaRPr lang="en-US"/>
              </a:p>
            </p:txBody>
          </p:sp>
          <p:sp>
            <p:nvSpPr>
              <p:cNvPr id="445574" name="Freeform 134"/>
              <p:cNvSpPr>
                <a:spLocks/>
              </p:cNvSpPr>
              <p:nvPr/>
            </p:nvSpPr>
            <p:spPr bwMode="auto">
              <a:xfrm>
                <a:off x="3470" y="3416"/>
                <a:ext cx="346" cy="231"/>
              </a:xfrm>
              <a:custGeom>
                <a:avLst/>
                <a:gdLst/>
                <a:ahLst/>
                <a:cxnLst>
                  <a:cxn ang="0">
                    <a:pos x="0" y="460"/>
                  </a:cxn>
                  <a:cxn ang="0">
                    <a:pos x="384" y="460"/>
                  </a:cxn>
                  <a:cxn ang="0">
                    <a:pos x="384" y="0"/>
                  </a:cxn>
                  <a:cxn ang="0">
                    <a:pos x="691" y="0"/>
                  </a:cxn>
                </a:cxnLst>
                <a:rect l="0" t="0" r="r" b="b"/>
                <a:pathLst>
                  <a:path w="691" h="460">
                    <a:moveTo>
                      <a:pt x="0" y="460"/>
                    </a:moveTo>
                    <a:lnTo>
                      <a:pt x="384" y="460"/>
                    </a:lnTo>
                    <a:lnTo>
                      <a:pt x="384" y="0"/>
                    </a:lnTo>
                    <a:lnTo>
                      <a:pt x="691" y="0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75" name="Rectangle 135"/>
              <p:cNvSpPr>
                <a:spLocks noChangeArrowheads="1"/>
              </p:cNvSpPr>
              <p:nvPr/>
            </p:nvSpPr>
            <p:spPr bwMode="auto">
              <a:xfrm>
                <a:off x="3316" y="3071"/>
                <a:ext cx="692" cy="2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76" name="Rectangle 136"/>
              <p:cNvSpPr>
                <a:spLocks noChangeArrowheads="1"/>
              </p:cNvSpPr>
              <p:nvPr/>
            </p:nvSpPr>
            <p:spPr bwMode="auto">
              <a:xfrm>
                <a:off x="3542" y="3101"/>
                <a:ext cx="28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Rising</a:t>
                </a:r>
                <a:endParaRPr lang="en-US"/>
              </a:p>
            </p:txBody>
          </p:sp>
          <p:sp>
            <p:nvSpPr>
              <p:cNvPr id="445577" name="Rectangle 137"/>
              <p:cNvSpPr>
                <a:spLocks noChangeArrowheads="1"/>
              </p:cNvSpPr>
              <p:nvPr/>
            </p:nvSpPr>
            <p:spPr bwMode="auto">
              <a:xfrm>
                <a:off x="3567" y="3224"/>
                <a:ext cx="237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clock</a:t>
                </a:r>
                <a:endParaRPr lang="en-US"/>
              </a:p>
            </p:txBody>
          </p:sp>
          <p:sp>
            <p:nvSpPr>
              <p:cNvPr id="445579" name="Rectangle 139"/>
              <p:cNvSpPr>
                <a:spLocks noChangeArrowheads="1"/>
              </p:cNvSpPr>
              <p:nvPr/>
            </p:nvSpPr>
            <p:spPr bwMode="auto">
              <a:xfrm>
                <a:off x="3181" y="3206"/>
                <a:ext cx="2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900" b="0">
                    <a:solidFill>
                      <a:srgbClr val="000099"/>
                    </a:solidFill>
                    <a:latin typeface="Wingdings 3" pitchFamily="18" charset="2"/>
                  </a:rPr>
                  <a:t>_</a:t>
                </a:r>
                <a:endParaRPr lang="en-US"/>
              </a:p>
            </p:txBody>
          </p:sp>
          <p:sp>
            <p:nvSpPr>
              <p:cNvPr id="445580" name="Rectangle 140"/>
              <p:cNvSpPr>
                <a:spLocks noChangeArrowheads="1"/>
              </p:cNvSpPr>
              <p:nvPr/>
            </p:nvSpPr>
            <p:spPr bwMode="auto">
              <a:xfrm>
                <a:off x="4005" y="3170"/>
                <a:ext cx="310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81" name="Rectangle 141"/>
              <p:cNvSpPr>
                <a:spLocks noChangeArrowheads="1"/>
              </p:cNvSpPr>
              <p:nvPr/>
            </p:nvSpPr>
            <p:spPr bwMode="auto">
              <a:xfrm>
                <a:off x="4141" y="3206"/>
                <a:ext cx="2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900" b="0">
                    <a:solidFill>
                      <a:srgbClr val="000099"/>
                    </a:solidFill>
                    <a:latin typeface="Wingdings 3" pitchFamily="18" charset="2"/>
                  </a:rPr>
                  <a:t>_</a:t>
                </a:r>
                <a:endParaRPr lang="en-US"/>
              </a:p>
            </p:txBody>
          </p:sp>
          <p:sp>
            <p:nvSpPr>
              <p:cNvPr id="445586" name="Rectangle 146"/>
              <p:cNvSpPr>
                <a:spLocks noChangeArrowheads="1"/>
              </p:cNvSpPr>
              <p:nvPr/>
            </p:nvSpPr>
            <p:spPr bwMode="auto">
              <a:xfrm>
                <a:off x="4763" y="3166"/>
                <a:ext cx="703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87" name="Rectangle 147"/>
              <p:cNvSpPr>
                <a:spLocks noChangeArrowheads="1"/>
              </p:cNvSpPr>
              <p:nvPr/>
            </p:nvSpPr>
            <p:spPr bwMode="auto">
              <a:xfrm>
                <a:off x="4830" y="3190"/>
                <a:ext cx="432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Output = </a:t>
                </a:r>
                <a:endParaRPr lang="en-US"/>
              </a:p>
            </p:txBody>
          </p:sp>
          <p:sp>
            <p:nvSpPr>
              <p:cNvPr id="445588" name="Rectangle 148"/>
              <p:cNvSpPr>
                <a:spLocks noChangeArrowheads="1"/>
              </p:cNvSpPr>
              <p:nvPr/>
            </p:nvSpPr>
            <p:spPr bwMode="auto">
              <a:xfrm>
                <a:off x="5266" y="3200"/>
                <a:ext cx="18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  <a:latin typeface="Courier New" pitchFamily="49" charset="0"/>
                  </a:rPr>
                  <a:t>nop</a:t>
                </a:r>
                <a:endParaRPr lang="en-US"/>
              </a:p>
            </p:txBody>
          </p:sp>
        </p:grpSp>
        <p:sp>
          <p:nvSpPr>
            <p:cNvPr id="445615" name="Freeform 175"/>
            <p:cNvSpPr>
              <a:spLocks/>
            </p:cNvSpPr>
            <p:nvPr/>
          </p:nvSpPr>
          <p:spPr bwMode="auto">
            <a:xfrm>
              <a:off x="4363" y="3414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1" y="115"/>
                </a:cxn>
                <a:cxn ang="0">
                  <a:pos x="307" y="0"/>
                </a:cxn>
              </a:cxnLst>
              <a:rect l="0" t="0" r="r" b="b"/>
              <a:pathLst>
                <a:path w="461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1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616" name="Freeform 176"/>
            <p:cNvSpPr>
              <a:spLocks/>
            </p:cNvSpPr>
            <p:nvPr/>
          </p:nvSpPr>
          <p:spPr bwMode="auto">
            <a:xfrm>
              <a:off x="4708" y="3414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1" y="115"/>
                </a:cxn>
                <a:cxn ang="0">
                  <a:pos x="307" y="0"/>
                </a:cxn>
              </a:cxnLst>
              <a:rect l="0" t="0" r="r" b="b"/>
              <a:pathLst>
                <a:path w="461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1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5619" name="Group 179"/>
          <p:cNvGrpSpPr>
            <a:grpSpLocks/>
          </p:cNvGrpSpPr>
          <p:nvPr/>
        </p:nvGrpSpPr>
        <p:grpSpPr bwMode="auto">
          <a:xfrm>
            <a:off x="609600" y="1296988"/>
            <a:ext cx="4737100" cy="1360487"/>
            <a:chOff x="384" y="817"/>
            <a:chExt cx="2984" cy="857"/>
          </a:xfrm>
        </p:grpSpPr>
        <p:sp>
          <p:nvSpPr>
            <p:cNvPr id="445460" name="Rectangle 20"/>
            <p:cNvSpPr>
              <a:spLocks noChangeArrowheads="1"/>
            </p:cNvSpPr>
            <p:nvPr/>
          </p:nvSpPr>
          <p:spPr bwMode="auto">
            <a:xfrm>
              <a:off x="3057" y="866"/>
              <a:ext cx="311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4" name="Rectangle 24"/>
            <p:cNvSpPr>
              <a:spLocks noChangeArrowheads="1"/>
            </p:cNvSpPr>
            <p:nvPr/>
          </p:nvSpPr>
          <p:spPr bwMode="auto">
            <a:xfrm>
              <a:off x="2356" y="856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5" name="Rectangle 25"/>
            <p:cNvSpPr>
              <a:spLocks noChangeArrowheads="1"/>
            </p:cNvSpPr>
            <p:nvPr/>
          </p:nvSpPr>
          <p:spPr bwMode="auto">
            <a:xfrm>
              <a:off x="2402" y="886"/>
              <a:ext cx="52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Output = x</a:t>
              </a:r>
              <a:endParaRPr lang="en-US"/>
            </a:p>
          </p:txBody>
        </p:sp>
        <p:sp>
          <p:nvSpPr>
            <p:cNvPr id="445466" name="Rectangle 26"/>
            <p:cNvSpPr>
              <a:spLocks noChangeArrowheads="1"/>
            </p:cNvSpPr>
            <p:nvPr/>
          </p:nvSpPr>
          <p:spPr bwMode="auto">
            <a:xfrm>
              <a:off x="1728" y="856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67" name="Rectangle 27"/>
            <p:cNvSpPr>
              <a:spLocks noChangeArrowheads="1"/>
            </p:cNvSpPr>
            <p:nvPr/>
          </p:nvSpPr>
          <p:spPr bwMode="auto">
            <a:xfrm>
              <a:off x="1774" y="886"/>
              <a:ext cx="44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Input = y</a:t>
              </a:r>
              <a:endParaRPr lang="en-US"/>
            </a:p>
          </p:txBody>
        </p:sp>
        <p:sp>
          <p:nvSpPr>
            <p:cNvPr id="445472" name="Rectangle 32"/>
            <p:cNvSpPr>
              <a:spLocks noChangeArrowheads="1"/>
            </p:cNvSpPr>
            <p:nvPr/>
          </p:nvSpPr>
          <p:spPr bwMode="auto">
            <a:xfrm>
              <a:off x="1831" y="1381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73" name="Rectangle 33"/>
            <p:cNvSpPr>
              <a:spLocks noChangeArrowheads="1"/>
            </p:cNvSpPr>
            <p:nvPr/>
          </p:nvSpPr>
          <p:spPr bwMode="auto">
            <a:xfrm>
              <a:off x="1878" y="1411"/>
              <a:ext cx="25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stall </a:t>
              </a:r>
              <a:endParaRPr lang="en-US"/>
            </a:p>
          </p:txBody>
        </p:sp>
        <p:sp>
          <p:nvSpPr>
            <p:cNvPr id="445474" name="Rectangle 34"/>
            <p:cNvSpPr>
              <a:spLocks noChangeArrowheads="1"/>
            </p:cNvSpPr>
            <p:nvPr/>
          </p:nvSpPr>
          <p:spPr bwMode="auto">
            <a:xfrm>
              <a:off x="1878" y="1534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= 0</a:t>
              </a:r>
              <a:endParaRPr lang="en-US"/>
            </a:p>
          </p:txBody>
        </p:sp>
        <p:sp>
          <p:nvSpPr>
            <p:cNvPr id="445475" name="Rectangle 35"/>
            <p:cNvSpPr>
              <a:spLocks noChangeArrowheads="1"/>
            </p:cNvSpPr>
            <p:nvPr/>
          </p:nvSpPr>
          <p:spPr bwMode="auto">
            <a:xfrm>
              <a:off x="2330" y="1381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76" name="Rectangle 36"/>
            <p:cNvSpPr>
              <a:spLocks noChangeArrowheads="1"/>
            </p:cNvSpPr>
            <p:nvPr/>
          </p:nvSpPr>
          <p:spPr bwMode="auto">
            <a:xfrm>
              <a:off x="2377" y="1411"/>
              <a:ext cx="35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bubble</a:t>
              </a:r>
              <a:endParaRPr lang="en-US"/>
            </a:p>
          </p:txBody>
        </p:sp>
        <p:sp>
          <p:nvSpPr>
            <p:cNvPr id="445477" name="Rectangle 37"/>
            <p:cNvSpPr>
              <a:spLocks noChangeArrowheads="1"/>
            </p:cNvSpPr>
            <p:nvPr/>
          </p:nvSpPr>
          <p:spPr bwMode="auto">
            <a:xfrm>
              <a:off x="2561" y="1534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= 0</a:t>
              </a:r>
              <a:endParaRPr lang="en-US"/>
            </a:p>
          </p:txBody>
        </p:sp>
        <p:sp>
          <p:nvSpPr>
            <p:cNvPr id="445478" name="Rectangle 38"/>
            <p:cNvSpPr>
              <a:spLocks noChangeArrowheads="1"/>
            </p:cNvSpPr>
            <p:nvPr/>
          </p:nvSpPr>
          <p:spPr bwMode="auto">
            <a:xfrm>
              <a:off x="2225" y="8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79" name="Rectangle 39"/>
            <p:cNvSpPr>
              <a:spLocks noChangeArrowheads="1"/>
            </p:cNvSpPr>
            <p:nvPr/>
          </p:nvSpPr>
          <p:spPr bwMode="auto">
            <a:xfrm>
              <a:off x="2251" y="10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x</a:t>
              </a:r>
              <a:endParaRPr lang="en-US"/>
            </a:p>
          </p:txBody>
        </p:sp>
        <p:grpSp>
          <p:nvGrpSpPr>
            <p:cNvPr id="445482" name="Group 42"/>
            <p:cNvGrpSpPr>
              <a:grpSpLocks/>
            </p:cNvGrpSpPr>
            <p:nvPr/>
          </p:nvGrpSpPr>
          <p:grpSpPr bwMode="auto">
            <a:xfrm>
              <a:off x="2110" y="1470"/>
              <a:ext cx="159" cy="115"/>
              <a:chOff x="2110" y="1470"/>
              <a:chExt cx="159" cy="115"/>
            </a:xfrm>
          </p:grpSpPr>
          <p:sp>
            <p:nvSpPr>
              <p:cNvPr id="445480" name="Freeform 40"/>
              <p:cNvSpPr>
                <a:spLocks/>
              </p:cNvSpPr>
              <p:nvPr/>
            </p:nvSpPr>
            <p:spPr bwMode="auto">
              <a:xfrm>
                <a:off x="2110" y="1498"/>
                <a:ext cx="143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81" name="Freeform 41"/>
              <p:cNvSpPr>
                <a:spLocks/>
              </p:cNvSpPr>
              <p:nvPr/>
            </p:nvSpPr>
            <p:spPr bwMode="auto">
              <a:xfrm>
                <a:off x="2237" y="14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5485" name="Group 45"/>
            <p:cNvGrpSpPr>
              <a:grpSpLocks/>
            </p:cNvGrpSpPr>
            <p:nvPr/>
          </p:nvGrpSpPr>
          <p:grpSpPr bwMode="auto">
            <a:xfrm>
              <a:off x="2297" y="1470"/>
              <a:ext cx="158" cy="115"/>
              <a:chOff x="2297" y="1470"/>
              <a:chExt cx="158" cy="115"/>
            </a:xfrm>
          </p:grpSpPr>
          <p:sp>
            <p:nvSpPr>
              <p:cNvPr id="445483" name="Freeform 43"/>
              <p:cNvSpPr>
                <a:spLocks/>
              </p:cNvSpPr>
              <p:nvPr/>
            </p:nvSpPr>
            <p:spPr bwMode="auto">
              <a:xfrm>
                <a:off x="2312" y="14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84" name="Freeform 44"/>
              <p:cNvSpPr>
                <a:spLocks/>
              </p:cNvSpPr>
              <p:nvPr/>
            </p:nvSpPr>
            <p:spPr bwMode="auto">
              <a:xfrm>
                <a:off x="2297" y="14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486" name="Freeform 46"/>
            <p:cNvSpPr>
              <a:spLocks/>
            </p:cNvSpPr>
            <p:nvPr/>
          </p:nvSpPr>
          <p:spPr bwMode="auto">
            <a:xfrm>
              <a:off x="1994" y="10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87" name="Freeform 47"/>
            <p:cNvSpPr>
              <a:spLocks/>
            </p:cNvSpPr>
            <p:nvPr/>
          </p:nvSpPr>
          <p:spPr bwMode="auto">
            <a:xfrm>
              <a:off x="2340" y="10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88" name="Rectangle 48"/>
            <p:cNvSpPr>
              <a:spLocks noChangeArrowheads="1"/>
            </p:cNvSpPr>
            <p:nvPr/>
          </p:nvSpPr>
          <p:spPr bwMode="auto">
            <a:xfrm>
              <a:off x="2225" y="8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89" name="Rectangle 49"/>
            <p:cNvSpPr>
              <a:spLocks noChangeArrowheads="1"/>
            </p:cNvSpPr>
            <p:nvPr/>
          </p:nvSpPr>
          <p:spPr bwMode="auto">
            <a:xfrm>
              <a:off x="2251" y="10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x</a:t>
              </a:r>
              <a:endParaRPr lang="en-US"/>
            </a:p>
          </p:txBody>
        </p:sp>
        <p:grpSp>
          <p:nvGrpSpPr>
            <p:cNvPr id="445492" name="Group 52"/>
            <p:cNvGrpSpPr>
              <a:grpSpLocks/>
            </p:cNvGrpSpPr>
            <p:nvPr/>
          </p:nvGrpSpPr>
          <p:grpSpPr bwMode="auto">
            <a:xfrm>
              <a:off x="2110" y="1470"/>
              <a:ext cx="159" cy="115"/>
              <a:chOff x="2110" y="1470"/>
              <a:chExt cx="159" cy="115"/>
            </a:xfrm>
          </p:grpSpPr>
          <p:sp>
            <p:nvSpPr>
              <p:cNvPr id="445490" name="Freeform 50"/>
              <p:cNvSpPr>
                <a:spLocks/>
              </p:cNvSpPr>
              <p:nvPr/>
            </p:nvSpPr>
            <p:spPr bwMode="auto">
              <a:xfrm>
                <a:off x="2110" y="1498"/>
                <a:ext cx="143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91" name="Freeform 51"/>
              <p:cNvSpPr>
                <a:spLocks/>
              </p:cNvSpPr>
              <p:nvPr/>
            </p:nvSpPr>
            <p:spPr bwMode="auto">
              <a:xfrm>
                <a:off x="2237" y="14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5495" name="Group 55"/>
            <p:cNvGrpSpPr>
              <a:grpSpLocks/>
            </p:cNvGrpSpPr>
            <p:nvPr/>
          </p:nvGrpSpPr>
          <p:grpSpPr bwMode="auto">
            <a:xfrm>
              <a:off x="2297" y="1470"/>
              <a:ext cx="158" cy="115"/>
              <a:chOff x="2297" y="1470"/>
              <a:chExt cx="158" cy="115"/>
            </a:xfrm>
          </p:grpSpPr>
          <p:sp>
            <p:nvSpPr>
              <p:cNvPr id="445493" name="Freeform 53"/>
              <p:cNvSpPr>
                <a:spLocks/>
              </p:cNvSpPr>
              <p:nvPr/>
            </p:nvSpPr>
            <p:spPr bwMode="auto">
              <a:xfrm>
                <a:off x="2312" y="14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494" name="Freeform 54"/>
              <p:cNvSpPr>
                <a:spLocks/>
              </p:cNvSpPr>
              <p:nvPr/>
            </p:nvSpPr>
            <p:spPr bwMode="auto">
              <a:xfrm>
                <a:off x="2297" y="14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496" name="Freeform 56"/>
            <p:cNvSpPr>
              <a:spLocks/>
            </p:cNvSpPr>
            <p:nvPr/>
          </p:nvSpPr>
          <p:spPr bwMode="auto">
            <a:xfrm>
              <a:off x="1994" y="10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97" name="Freeform 57"/>
            <p:cNvSpPr>
              <a:spLocks/>
            </p:cNvSpPr>
            <p:nvPr/>
          </p:nvSpPr>
          <p:spPr bwMode="auto">
            <a:xfrm>
              <a:off x="2340" y="10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47" name="Text Box 7"/>
            <p:cNvSpPr txBox="1">
              <a:spLocks noChangeArrowheads="1"/>
            </p:cNvSpPr>
            <p:nvPr/>
          </p:nvSpPr>
          <p:spPr bwMode="auto">
            <a:xfrm>
              <a:off x="384" y="1046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algn="r"/>
              <a:r>
                <a:rPr lang="en-US"/>
                <a:t>Normal</a:t>
              </a:r>
            </a:p>
          </p:txBody>
        </p:sp>
      </p:grpSp>
      <p:grpSp>
        <p:nvGrpSpPr>
          <p:cNvPr id="445620" name="Group 180"/>
          <p:cNvGrpSpPr>
            <a:grpSpLocks/>
          </p:cNvGrpSpPr>
          <p:nvPr/>
        </p:nvGrpSpPr>
        <p:grpSpPr bwMode="auto">
          <a:xfrm>
            <a:off x="609600" y="3201988"/>
            <a:ext cx="4021138" cy="1341437"/>
            <a:chOff x="384" y="2017"/>
            <a:chExt cx="2533" cy="845"/>
          </a:xfrm>
        </p:grpSpPr>
        <p:sp>
          <p:nvSpPr>
            <p:cNvPr id="445522" name="Rectangle 82"/>
            <p:cNvSpPr>
              <a:spLocks noChangeArrowheads="1"/>
            </p:cNvSpPr>
            <p:nvPr/>
          </p:nvSpPr>
          <p:spPr bwMode="auto">
            <a:xfrm>
              <a:off x="2344" y="2044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23" name="Rectangle 83"/>
            <p:cNvSpPr>
              <a:spLocks noChangeArrowheads="1"/>
            </p:cNvSpPr>
            <p:nvPr/>
          </p:nvSpPr>
          <p:spPr bwMode="auto">
            <a:xfrm>
              <a:off x="2390" y="2074"/>
              <a:ext cx="52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Output = x</a:t>
              </a:r>
              <a:endParaRPr lang="en-US"/>
            </a:p>
          </p:txBody>
        </p:sp>
        <p:sp>
          <p:nvSpPr>
            <p:cNvPr id="445524" name="Rectangle 84"/>
            <p:cNvSpPr>
              <a:spLocks noChangeArrowheads="1"/>
            </p:cNvSpPr>
            <p:nvPr/>
          </p:nvSpPr>
          <p:spPr bwMode="auto">
            <a:xfrm>
              <a:off x="1716" y="2044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25" name="Rectangle 85"/>
            <p:cNvSpPr>
              <a:spLocks noChangeArrowheads="1"/>
            </p:cNvSpPr>
            <p:nvPr/>
          </p:nvSpPr>
          <p:spPr bwMode="auto">
            <a:xfrm>
              <a:off x="1762" y="2074"/>
              <a:ext cx="44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Input = y</a:t>
              </a:r>
              <a:endParaRPr lang="en-US"/>
            </a:p>
          </p:txBody>
        </p:sp>
        <p:sp>
          <p:nvSpPr>
            <p:cNvPr id="445530" name="Rectangle 90"/>
            <p:cNvSpPr>
              <a:spLocks noChangeArrowheads="1"/>
            </p:cNvSpPr>
            <p:nvPr/>
          </p:nvSpPr>
          <p:spPr bwMode="auto">
            <a:xfrm>
              <a:off x="1819" y="2569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31" name="Rectangle 91"/>
            <p:cNvSpPr>
              <a:spLocks noChangeArrowheads="1"/>
            </p:cNvSpPr>
            <p:nvPr/>
          </p:nvSpPr>
          <p:spPr bwMode="auto">
            <a:xfrm>
              <a:off x="1876" y="2599"/>
              <a:ext cx="23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FF3300"/>
                  </a:solidFill>
                </a:rPr>
                <a:t>stall </a:t>
              </a:r>
            </a:p>
          </p:txBody>
        </p:sp>
        <p:sp>
          <p:nvSpPr>
            <p:cNvPr id="445532" name="Rectangle 92"/>
            <p:cNvSpPr>
              <a:spLocks noChangeArrowheads="1"/>
            </p:cNvSpPr>
            <p:nvPr/>
          </p:nvSpPr>
          <p:spPr bwMode="auto">
            <a:xfrm>
              <a:off x="1888" y="2722"/>
              <a:ext cx="14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FF3300"/>
                  </a:solidFill>
                </a:rPr>
                <a:t>= 1</a:t>
              </a:r>
              <a:endParaRPr lang="en-US">
                <a:solidFill>
                  <a:srgbClr val="FF3300"/>
                </a:solidFill>
              </a:endParaRPr>
            </a:p>
          </p:txBody>
        </p:sp>
        <p:sp>
          <p:nvSpPr>
            <p:cNvPr id="445533" name="Rectangle 93"/>
            <p:cNvSpPr>
              <a:spLocks noChangeArrowheads="1"/>
            </p:cNvSpPr>
            <p:nvPr/>
          </p:nvSpPr>
          <p:spPr bwMode="auto">
            <a:xfrm>
              <a:off x="2318" y="2569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34" name="Rectangle 94"/>
            <p:cNvSpPr>
              <a:spLocks noChangeArrowheads="1"/>
            </p:cNvSpPr>
            <p:nvPr/>
          </p:nvSpPr>
          <p:spPr bwMode="auto">
            <a:xfrm>
              <a:off x="2365" y="2599"/>
              <a:ext cx="35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bubble</a:t>
              </a:r>
              <a:endParaRPr lang="en-US"/>
            </a:p>
          </p:txBody>
        </p:sp>
        <p:sp>
          <p:nvSpPr>
            <p:cNvPr id="445535" name="Rectangle 95"/>
            <p:cNvSpPr>
              <a:spLocks noChangeArrowheads="1"/>
            </p:cNvSpPr>
            <p:nvPr/>
          </p:nvSpPr>
          <p:spPr bwMode="auto">
            <a:xfrm>
              <a:off x="2549" y="2722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= 0</a:t>
              </a:r>
              <a:endParaRPr lang="en-US"/>
            </a:p>
          </p:txBody>
        </p:sp>
        <p:sp>
          <p:nvSpPr>
            <p:cNvPr id="445536" name="Rectangle 96"/>
            <p:cNvSpPr>
              <a:spLocks noChangeArrowheads="1"/>
            </p:cNvSpPr>
            <p:nvPr/>
          </p:nvSpPr>
          <p:spPr bwMode="auto">
            <a:xfrm>
              <a:off x="2213" y="20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37" name="Rectangle 97"/>
            <p:cNvSpPr>
              <a:spLocks noChangeArrowheads="1"/>
            </p:cNvSpPr>
            <p:nvPr/>
          </p:nvSpPr>
          <p:spPr bwMode="auto">
            <a:xfrm>
              <a:off x="2239" y="22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x</a:t>
              </a:r>
              <a:endParaRPr lang="en-US"/>
            </a:p>
          </p:txBody>
        </p:sp>
        <p:grpSp>
          <p:nvGrpSpPr>
            <p:cNvPr id="445540" name="Group 100"/>
            <p:cNvGrpSpPr>
              <a:grpSpLocks/>
            </p:cNvGrpSpPr>
            <p:nvPr/>
          </p:nvGrpSpPr>
          <p:grpSpPr bwMode="auto">
            <a:xfrm>
              <a:off x="2097" y="2670"/>
              <a:ext cx="160" cy="115"/>
              <a:chOff x="2097" y="2670"/>
              <a:chExt cx="160" cy="115"/>
            </a:xfrm>
          </p:grpSpPr>
          <p:sp>
            <p:nvSpPr>
              <p:cNvPr id="445538" name="Freeform 98"/>
              <p:cNvSpPr>
                <a:spLocks/>
              </p:cNvSpPr>
              <p:nvPr/>
            </p:nvSpPr>
            <p:spPr bwMode="auto">
              <a:xfrm>
                <a:off x="2097" y="2698"/>
                <a:ext cx="144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39" name="Freeform 99"/>
              <p:cNvSpPr>
                <a:spLocks/>
              </p:cNvSpPr>
              <p:nvPr/>
            </p:nvSpPr>
            <p:spPr bwMode="auto">
              <a:xfrm>
                <a:off x="2225" y="26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5543" name="Group 103"/>
            <p:cNvGrpSpPr>
              <a:grpSpLocks/>
            </p:cNvGrpSpPr>
            <p:nvPr/>
          </p:nvGrpSpPr>
          <p:grpSpPr bwMode="auto">
            <a:xfrm>
              <a:off x="2285" y="2670"/>
              <a:ext cx="158" cy="115"/>
              <a:chOff x="2285" y="2670"/>
              <a:chExt cx="158" cy="115"/>
            </a:xfrm>
          </p:grpSpPr>
          <p:sp>
            <p:nvSpPr>
              <p:cNvPr id="445541" name="Freeform 101"/>
              <p:cNvSpPr>
                <a:spLocks/>
              </p:cNvSpPr>
              <p:nvPr/>
            </p:nvSpPr>
            <p:spPr bwMode="auto">
              <a:xfrm>
                <a:off x="2300" y="26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42" name="Freeform 102"/>
              <p:cNvSpPr>
                <a:spLocks/>
              </p:cNvSpPr>
              <p:nvPr/>
            </p:nvSpPr>
            <p:spPr bwMode="auto">
              <a:xfrm>
                <a:off x="2285" y="26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544" name="Freeform 104"/>
            <p:cNvSpPr>
              <a:spLocks/>
            </p:cNvSpPr>
            <p:nvPr/>
          </p:nvSpPr>
          <p:spPr bwMode="auto">
            <a:xfrm>
              <a:off x="1982" y="22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45" name="Freeform 105"/>
            <p:cNvSpPr>
              <a:spLocks/>
            </p:cNvSpPr>
            <p:nvPr/>
          </p:nvSpPr>
          <p:spPr bwMode="auto">
            <a:xfrm>
              <a:off x="2328" y="22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46" name="Rectangle 106"/>
            <p:cNvSpPr>
              <a:spLocks noChangeArrowheads="1"/>
            </p:cNvSpPr>
            <p:nvPr/>
          </p:nvSpPr>
          <p:spPr bwMode="auto">
            <a:xfrm>
              <a:off x="2213" y="2017"/>
              <a:ext cx="116" cy="654"/>
            </a:xfrm>
            <a:prstGeom prst="rect">
              <a:avLst/>
            </a:prstGeom>
            <a:solidFill>
              <a:srgbClr val="B2B2B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47" name="Rectangle 107"/>
            <p:cNvSpPr>
              <a:spLocks noChangeArrowheads="1"/>
            </p:cNvSpPr>
            <p:nvPr/>
          </p:nvSpPr>
          <p:spPr bwMode="auto">
            <a:xfrm>
              <a:off x="2239" y="2276"/>
              <a:ext cx="12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x</a:t>
              </a:r>
              <a:endParaRPr lang="en-US"/>
            </a:p>
          </p:txBody>
        </p:sp>
        <p:grpSp>
          <p:nvGrpSpPr>
            <p:cNvPr id="445550" name="Group 110"/>
            <p:cNvGrpSpPr>
              <a:grpSpLocks/>
            </p:cNvGrpSpPr>
            <p:nvPr/>
          </p:nvGrpSpPr>
          <p:grpSpPr bwMode="auto">
            <a:xfrm>
              <a:off x="2097" y="2670"/>
              <a:ext cx="160" cy="115"/>
              <a:chOff x="2097" y="2670"/>
              <a:chExt cx="160" cy="115"/>
            </a:xfrm>
          </p:grpSpPr>
          <p:sp>
            <p:nvSpPr>
              <p:cNvPr id="445548" name="Freeform 108"/>
              <p:cNvSpPr>
                <a:spLocks/>
              </p:cNvSpPr>
              <p:nvPr/>
            </p:nvSpPr>
            <p:spPr bwMode="auto">
              <a:xfrm>
                <a:off x="2097" y="2698"/>
                <a:ext cx="144" cy="87"/>
              </a:xfrm>
              <a:custGeom>
                <a:avLst/>
                <a:gdLst/>
                <a:ahLst/>
                <a:cxnLst>
                  <a:cxn ang="0">
                    <a:pos x="286" y="0"/>
                  </a:cxn>
                  <a:cxn ang="0">
                    <a:pos x="230" y="173"/>
                  </a:cxn>
                  <a:cxn ang="0">
                    <a:pos x="0" y="173"/>
                  </a:cxn>
                </a:cxnLst>
                <a:rect l="0" t="0" r="r" b="b"/>
                <a:pathLst>
                  <a:path w="286" h="173">
                    <a:moveTo>
                      <a:pt x="286" y="0"/>
                    </a:moveTo>
                    <a:lnTo>
                      <a:pt x="230" y="173"/>
                    </a:lnTo>
                    <a:lnTo>
                      <a:pt x="0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49" name="Freeform 109"/>
              <p:cNvSpPr>
                <a:spLocks/>
              </p:cNvSpPr>
              <p:nvPr/>
            </p:nvSpPr>
            <p:spPr bwMode="auto">
              <a:xfrm>
                <a:off x="2225" y="2670"/>
                <a:ext cx="32" cy="36"/>
              </a:xfrm>
              <a:custGeom>
                <a:avLst/>
                <a:gdLst/>
                <a:ahLst/>
                <a:cxnLst>
                  <a:cxn ang="0">
                    <a:pos x="62" y="74"/>
                  </a:cxn>
                  <a:cxn ang="0">
                    <a:pos x="51" y="0"/>
                  </a:cxn>
                  <a:cxn ang="0">
                    <a:pos x="0" y="53"/>
                  </a:cxn>
                  <a:cxn ang="0">
                    <a:pos x="62" y="74"/>
                  </a:cxn>
                </a:cxnLst>
                <a:rect l="0" t="0" r="r" b="b"/>
                <a:pathLst>
                  <a:path w="62" h="74">
                    <a:moveTo>
                      <a:pt x="62" y="74"/>
                    </a:moveTo>
                    <a:lnTo>
                      <a:pt x="51" y="0"/>
                    </a:lnTo>
                    <a:lnTo>
                      <a:pt x="0" y="53"/>
                    </a:lnTo>
                    <a:lnTo>
                      <a:pt x="62" y="7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45553" name="Group 113"/>
            <p:cNvGrpSpPr>
              <a:grpSpLocks/>
            </p:cNvGrpSpPr>
            <p:nvPr/>
          </p:nvGrpSpPr>
          <p:grpSpPr bwMode="auto">
            <a:xfrm>
              <a:off x="2285" y="2670"/>
              <a:ext cx="158" cy="115"/>
              <a:chOff x="2285" y="2670"/>
              <a:chExt cx="158" cy="115"/>
            </a:xfrm>
          </p:grpSpPr>
          <p:sp>
            <p:nvSpPr>
              <p:cNvPr id="445551" name="Freeform 111"/>
              <p:cNvSpPr>
                <a:spLocks/>
              </p:cNvSpPr>
              <p:nvPr/>
            </p:nvSpPr>
            <p:spPr bwMode="auto">
              <a:xfrm>
                <a:off x="2300" y="2698"/>
                <a:ext cx="143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6" y="173"/>
                  </a:cxn>
                  <a:cxn ang="0">
                    <a:pos x="286" y="173"/>
                  </a:cxn>
                </a:cxnLst>
                <a:rect l="0" t="0" r="r" b="b"/>
                <a:pathLst>
                  <a:path w="286" h="173">
                    <a:moveTo>
                      <a:pt x="0" y="0"/>
                    </a:moveTo>
                    <a:lnTo>
                      <a:pt x="56" y="173"/>
                    </a:lnTo>
                    <a:lnTo>
                      <a:pt x="286" y="173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552" name="Freeform 112"/>
              <p:cNvSpPr>
                <a:spLocks/>
              </p:cNvSpPr>
              <p:nvPr/>
            </p:nvSpPr>
            <p:spPr bwMode="auto">
              <a:xfrm>
                <a:off x="2285" y="2670"/>
                <a:ext cx="31" cy="36"/>
              </a:xfrm>
              <a:custGeom>
                <a:avLst/>
                <a:gdLst/>
                <a:ahLst/>
                <a:cxnLst>
                  <a:cxn ang="0">
                    <a:pos x="63" y="53"/>
                  </a:cxn>
                  <a:cxn ang="0">
                    <a:pos x="10" y="0"/>
                  </a:cxn>
                  <a:cxn ang="0">
                    <a:pos x="0" y="74"/>
                  </a:cxn>
                  <a:cxn ang="0">
                    <a:pos x="63" y="53"/>
                  </a:cxn>
                </a:cxnLst>
                <a:rect l="0" t="0" r="r" b="b"/>
                <a:pathLst>
                  <a:path w="63" h="74">
                    <a:moveTo>
                      <a:pt x="63" y="53"/>
                    </a:moveTo>
                    <a:lnTo>
                      <a:pt x="10" y="0"/>
                    </a:lnTo>
                    <a:lnTo>
                      <a:pt x="0" y="74"/>
                    </a:lnTo>
                    <a:lnTo>
                      <a:pt x="63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5554" name="Freeform 114"/>
            <p:cNvSpPr>
              <a:spLocks/>
            </p:cNvSpPr>
            <p:nvPr/>
          </p:nvSpPr>
          <p:spPr bwMode="auto">
            <a:xfrm>
              <a:off x="1982" y="2286"/>
              <a:ext cx="231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66CC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55" name="Freeform 115"/>
            <p:cNvSpPr>
              <a:spLocks/>
            </p:cNvSpPr>
            <p:nvPr/>
          </p:nvSpPr>
          <p:spPr bwMode="auto">
            <a:xfrm>
              <a:off x="2328" y="2286"/>
              <a:ext cx="230" cy="115"/>
            </a:xfrm>
            <a:custGeom>
              <a:avLst/>
              <a:gdLst/>
              <a:ahLst/>
              <a:cxnLst>
                <a:cxn ang="0">
                  <a:pos x="307" y="0"/>
                </a:cxn>
                <a:cxn ang="0">
                  <a:pos x="307" y="96"/>
                </a:cxn>
                <a:cxn ang="0">
                  <a:pos x="0" y="96"/>
                </a:cxn>
                <a:cxn ang="0">
                  <a:pos x="0" y="134"/>
                </a:cxn>
                <a:cxn ang="0">
                  <a:pos x="307" y="134"/>
                </a:cxn>
                <a:cxn ang="0">
                  <a:pos x="307" y="230"/>
                </a:cxn>
                <a:cxn ang="0">
                  <a:pos x="460" y="115"/>
                </a:cxn>
                <a:cxn ang="0">
                  <a:pos x="307" y="0"/>
                </a:cxn>
              </a:cxnLst>
              <a:rect l="0" t="0" r="r" b="b"/>
              <a:pathLst>
                <a:path w="460" h="230">
                  <a:moveTo>
                    <a:pt x="307" y="0"/>
                  </a:moveTo>
                  <a:lnTo>
                    <a:pt x="307" y="96"/>
                  </a:lnTo>
                  <a:lnTo>
                    <a:pt x="0" y="96"/>
                  </a:lnTo>
                  <a:lnTo>
                    <a:pt x="0" y="134"/>
                  </a:lnTo>
                  <a:lnTo>
                    <a:pt x="307" y="134"/>
                  </a:lnTo>
                  <a:lnTo>
                    <a:pt x="307" y="230"/>
                  </a:lnTo>
                  <a:lnTo>
                    <a:pt x="460" y="115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B2B2B2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448" name="Text Box 8"/>
            <p:cNvSpPr txBox="1">
              <a:spLocks noChangeArrowheads="1"/>
            </p:cNvSpPr>
            <p:nvPr/>
          </p:nvSpPr>
          <p:spPr bwMode="auto">
            <a:xfrm>
              <a:off x="384" y="2234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algn="r"/>
              <a:r>
                <a:rPr lang="en-US"/>
                <a:t>Stall</a:t>
              </a:r>
            </a:p>
          </p:txBody>
        </p:sp>
      </p:grpSp>
      <p:grpSp>
        <p:nvGrpSpPr>
          <p:cNvPr id="445622" name="Group 182"/>
          <p:cNvGrpSpPr>
            <a:grpSpLocks/>
          </p:cNvGrpSpPr>
          <p:nvPr/>
        </p:nvGrpSpPr>
        <p:grpSpPr bwMode="auto">
          <a:xfrm>
            <a:off x="609600" y="5016500"/>
            <a:ext cx="4021138" cy="1298575"/>
            <a:chOff x="384" y="3160"/>
            <a:chExt cx="2533" cy="818"/>
          </a:xfrm>
        </p:grpSpPr>
        <p:sp>
          <p:nvSpPr>
            <p:cNvPr id="445582" name="Rectangle 142"/>
            <p:cNvSpPr>
              <a:spLocks noChangeArrowheads="1"/>
            </p:cNvSpPr>
            <p:nvPr/>
          </p:nvSpPr>
          <p:spPr bwMode="auto">
            <a:xfrm>
              <a:off x="2344" y="3160"/>
              <a:ext cx="570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83" name="Rectangle 143"/>
            <p:cNvSpPr>
              <a:spLocks noChangeArrowheads="1"/>
            </p:cNvSpPr>
            <p:nvPr/>
          </p:nvSpPr>
          <p:spPr bwMode="auto">
            <a:xfrm>
              <a:off x="2390" y="3190"/>
              <a:ext cx="52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Output = x</a:t>
              </a:r>
              <a:endParaRPr lang="en-US"/>
            </a:p>
          </p:txBody>
        </p:sp>
        <p:sp>
          <p:nvSpPr>
            <p:cNvPr id="445584" name="Rectangle 144"/>
            <p:cNvSpPr>
              <a:spLocks noChangeArrowheads="1"/>
            </p:cNvSpPr>
            <p:nvPr/>
          </p:nvSpPr>
          <p:spPr bwMode="auto">
            <a:xfrm>
              <a:off x="1716" y="3160"/>
              <a:ext cx="488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85" name="Rectangle 145"/>
            <p:cNvSpPr>
              <a:spLocks noChangeArrowheads="1"/>
            </p:cNvSpPr>
            <p:nvPr/>
          </p:nvSpPr>
          <p:spPr bwMode="auto">
            <a:xfrm>
              <a:off x="1762" y="3190"/>
              <a:ext cx="44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Input = y</a:t>
              </a:r>
              <a:endParaRPr lang="en-US"/>
            </a:p>
          </p:txBody>
        </p:sp>
        <p:sp>
          <p:nvSpPr>
            <p:cNvPr id="445589" name="Rectangle 149"/>
            <p:cNvSpPr>
              <a:spLocks noChangeArrowheads="1"/>
            </p:cNvSpPr>
            <p:nvPr/>
          </p:nvSpPr>
          <p:spPr bwMode="auto">
            <a:xfrm>
              <a:off x="1819" y="3685"/>
              <a:ext cx="375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90" name="Rectangle 150"/>
            <p:cNvSpPr>
              <a:spLocks noChangeArrowheads="1"/>
            </p:cNvSpPr>
            <p:nvPr/>
          </p:nvSpPr>
          <p:spPr bwMode="auto">
            <a:xfrm>
              <a:off x="1866" y="3715"/>
              <a:ext cx="25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stall </a:t>
              </a:r>
              <a:endParaRPr lang="en-US"/>
            </a:p>
          </p:txBody>
        </p:sp>
        <p:sp>
          <p:nvSpPr>
            <p:cNvPr id="445591" name="Rectangle 151"/>
            <p:cNvSpPr>
              <a:spLocks noChangeArrowheads="1"/>
            </p:cNvSpPr>
            <p:nvPr/>
          </p:nvSpPr>
          <p:spPr bwMode="auto">
            <a:xfrm>
              <a:off x="1866" y="3838"/>
              <a:ext cx="1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= 0</a:t>
              </a:r>
              <a:endParaRPr lang="en-US"/>
            </a:p>
          </p:txBody>
        </p:sp>
        <p:sp>
          <p:nvSpPr>
            <p:cNvPr id="445592" name="Rectangle 152"/>
            <p:cNvSpPr>
              <a:spLocks noChangeArrowheads="1"/>
            </p:cNvSpPr>
            <p:nvPr/>
          </p:nvSpPr>
          <p:spPr bwMode="auto">
            <a:xfrm>
              <a:off x="2318" y="3685"/>
              <a:ext cx="423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593" name="Rectangle 153"/>
            <p:cNvSpPr>
              <a:spLocks noChangeArrowheads="1"/>
            </p:cNvSpPr>
            <p:nvPr/>
          </p:nvSpPr>
          <p:spPr bwMode="auto">
            <a:xfrm>
              <a:off x="2372" y="3715"/>
              <a:ext cx="343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FF3300"/>
                  </a:solidFill>
                </a:rPr>
                <a:t>bubble</a:t>
              </a:r>
            </a:p>
          </p:txBody>
        </p:sp>
        <p:sp>
          <p:nvSpPr>
            <p:cNvPr id="445594" name="Rectangle 154"/>
            <p:cNvSpPr>
              <a:spLocks noChangeArrowheads="1"/>
            </p:cNvSpPr>
            <p:nvPr/>
          </p:nvSpPr>
          <p:spPr bwMode="auto">
            <a:xfrm>
              <a:off x="2571" y="3838"/>
              <a:ext cx="148" cy="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FF3300"/>
                  </a:solidFill>
                </a:rPr>
                <a:t>= 1</a:t>
              </a:r>
            </a:p>
          </p:txBody>
        </p:sp>
        <p:sp>
          <p:nvSpPr>
            <p:cNvPr id="445449" name="Text Box 9"/>
            <p:cNvSpPr txBox="1">
              <a:spLocks noChangeArrowheads="1"/>
            </p:cNvSpPr>
            <p:nvPr/>
          </p:nvSpPr>
          <p:spPr bwMode="auto">
            <a:xfrm>
              <a:off x="384" y="3360"/>
              <a:ext cx="997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pPr algn="r"/>
              <a:r>
                <a:rPr lang="en-US"/>
                <a:t>Bubble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990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Forwarding</a:t>
            </a:r>
          </a:p>
        </p:txBody>
      </p:sp>
      <p:sp>
        <p:nvSpPr>
          <p:cNvPr id="447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Naïve Pipeline</a:t>
            </a:r>
          </a:p>
          <a:p>
            <a:pPr lvl="1"/>
            <a:r>
              <a:rPr lang="en-US"/>
              <a:t>Register isn’t written until completion of write-back stage</a:t>
            </a:r>
          </a:p>
          <a:p>
            <a:pPr lvl="1"/>
            <a:r>
              <a:rPr lang="en-US"/>
              <a:t>Source operands read from register file in decode stage</a:t>
            </a:r>
          </a:p>
          <a:p>
            <a:pPr lvl="2"/>
            <a:r>
              <a:rPr lang="en-US"/>
              <a:t>Needs to be in register file at start of stage</a:t>
            </a:r>
          </a:p>
          <a:p>
            <a:r>
              <a:rPr lang="en-US"/>
              <a:t>Observation</a:t>
            </a:r>
          </a:p>
          <a:p>
            <a:pPr lvl="1"/>
            <a:r>
              <a:rPr lang="en-US"/>
              <a:t>Value generated in execute or memory stage</a:t>
            </a:r>
          </a:p>
          <a:p>
            <a:r>
              <a:rPr lang="en-US"/>
              <a:t>Trick</a:t>
            </a:r>
          </a:p>
          <a:p>
            <a:pPr lvl="1"/>
            <a:r>
              <a:rPr lang="en-US"/>
              <a:t>Pass value directly from generating instruction to decode stage</a:t>
            </a:r>
          </a:p>
          <a:p>
            <a:pPr lvl="1"/>
            <a:r>
              <a:rPr lang="en-US"/>
              <a:t>Needs to be available at end of decode stage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839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Forwarding Example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048000"/>
            <a:ext cx="3443287" cy="3384550"/>
          </a:xfrm>
        </p:spPr>
        <p:txBody>
          <a:bodyPr/>
          <a:lstStyle/>
          <a:p>
            <a:pPr lvl="1"/>
            <a:r>
              <a:rPr lang="en-US" dirty="0"/>
              <a:t>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/>
              <a:t> in write-back stage</a:t>
            </a:r>
          </a:p>
          <a:p>
            <a:pPr lvl="1"/>
            <a:r>
              <a:rPr lang="en-US" dirty="0"/>
              <a:t>Destination value in W pipeline register</a:t>
            </a:r>
          </a:p>
          <a:p>
            <a:pPr lvl="1"/>
            <a:r>
              <a:rPr lang="en-US" dirty="0"/>
              <a:t>Forward as </a:t>
            </a:r>
            <a:r>
              <a:rPr lang="en-US" dirty="0" err="1"/>
              <a:t>valB</a:t>
            </a:r>
            <a:r>
              <a:rPr lang="en-US" dirty="0"/>
              <a:t> for decode stage</a:t>
            </a:r>
          </a:p>
        </p:txBody>
      </p:sp>
      <p:grpSp>
        <p:nvGrpSpPr>
          <p:cNvPr id="448966" name="Group 454"/>
          <p:cNvGrpSpPr>
            <a:grpSpLocks/>
          </p:cNvGrpSpPr>
          <p:nvPr/>
        </p:nvGrpSpPr>
        <p:grpSpPr bwMode="auto">
          <a:xfrm>
            <a:off x="2514600" y="914400"/>
            <a:ext cx="5973763" cy="4449763"/>
            <a:chOff x="1584" y="576"/>
            <a:chExt cx="3763" cy="2803"/>
          </a:xfrm>
        </p:grpSpPr>
        <p:sp>
          <p:nvSpPr>
            <p:cNvPr id="448742" name="Rectangle 230"/>
            <p:cNvSpPr>
              <a:spLocks noChangeArrowheads="1"/>
            </p:cNvSpPr>
            <p:nvPr/>
          </p:nvSpPr>
          <p:spPr bwMode="auto">
            <a:xfrm>
              <a:off x="1584" y="768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43" name="Rectangle 231"/>
            <p:cNvSpPr>
              <a:spLocks noChangeArrowheads="1"/>
            </p:cNvSpPr>
            <p:nvPr/>
          </p:nvSpPr>
          <p:spPr bwMode="auto">
            <a:xfrm>
              <a:off x="1630" y="799"/>
              <a:ext cx="461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48744" name="Rectangle 232"/>
            <p:cNvSpPr>
              <a:spLocks noChangeArrowheads="1"/>
            </p:cNvSpPr>
            <p:nvPr/>
          </p:nvSpPr>
          <p:spPr bwMode="auto">
            <a:xfrm>
              <a:off x="2075" y="799"/>
              <a:ext cx="323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1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48745" name="Rectangle 233"/>
            <p:cNvSpPr>
              <a:spLocks noChangeArrowheads="1"/>
            </p:cNvSpPr>
            <p:nvPr/>
          </p:nvSpPr>
          <p:spPr bwMode="auto">
            <a:xfrm>
              <a:off x="2381" y="799"/>
              <a:ext cx="346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48746" name="Rectangle 234"/>
            <p:cNvSpPr>
              <a:spLocks noChangeArrowheads="1"/>
            </p:cNvSpPr>
            <p:nvPr/>
          </p:nvSpPr>
          <p:spPr bwMode="auto">
            <a:xfrm>
              <a:off x="2684" y="799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48747" name="Rectangle 235"/>
            <p:cNvSpPr>
              <a:spLocks noChangeArrowheads="1"/>
            </p:cNvSpPr>
            <p:nvPr/>
          </p:nvSpPr>
          <p:spPr bwMode="auto">
            <a:xfrm>
              <a:off x="3043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48" name="Rectangle 236"/>
            <p:cNvSpPr>
              <a:spLocks noChangeArrowheads="1"/>
            </p:cNvSpPr>
            <p:nvPr/>
          </p:nvSpPr>
          <p:spPr bwMode="auto">
            <a:xfrm>
              <a:off x="3136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48749" name="Rectangle 237"/>
            <p:cNvSpPr>
              <a:spLocks noChangeArrowheads="1"/>
            </p:cNvSpPr>
            <p:nvPr/>
          </p:nvSpPr>
          <p:spPr bwMode="auto">
            <a:xfrm>
              <a:off x="3273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0" name="Rectangle 238"/>
            <p:cNvSpPr>
              <a:spLocks noChangeArrowheads="1"/>
            </p:cNvSpPr>
            <p:nvPr/>
          </p:nvSpPr>
          <p:spPr bwMode="auto">
            <a:xfrm>
              <a:off x="3367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48751" name="Rectangle 239"/>
            <p:cNvSpPr>
              <a:spLocks noChangeArrowheads="1"/>
            </p:cNvSpPr>
            <p:nvPr/>
          </p:nvSpPr>
          <p:spPr bwMode="auto">
            <a:xfrm>
              <a:off x="3504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2" name="Rectangle 240"/>
            <p:cNvSpPr>
              <a:spLocks noChangeArrowheads="1"/>
            </p:cNvSpPr>
            <p:nvPr/>
          </p:nvSpPr>
          <p:spPr bwMode="auto">
            <a:xfrm>
              <a:off x="3597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48753" name="Rectangle 241"/>
            <p:cNvSpPr>
              <a:spLocks noChangeArrowheads="1"/>
            </p:cNvSpPr>
            <p:nvPr/>
          </p:nvSpPr>
          <p:spPr bwMode="auto">
            <a:xfrm>
              <a:off x="3734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4" name="Rectangle 242"/>
            <p:cNvSpPr>
              <a:spLocks noChangeArrowheads="1"/>
            </p:cNvSpPr>
            <p:nvPr/>
          </p:nvSpPr>
          <p:spPr bwMode="auto">
            <a:xfrm>
              <a:off x="382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48755" name="Rectangle 243"/>
            <p:cNvSpPr>
              <a:spLocks noChangeArrowheads="1"/>
            </p:cNvSpPr>
            <p:nvPr/>
          </p:nvSpPr>
          <p:spPr bwMode="auto">
            <a:xfrm>
              <a:off x="3964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6" name="Rectangle 244"/>
            <p:cNvSpPr>
              <a:spLocks noChangeArrowheads="1"/>
            </p:cNvSpPr>
            <p:nvPr/>
          </p:nvSpPr>
          <p:spPr bwMode="auto">
            <a:xfrm>
              <a:off x="405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48757" name="Rectangle 245"/>
            <p:cNvSpPr>
              <a:spLocks noChangeArrowheads="1"/>
            </p:cNvSpPr>
            <p:nvPr/>
          </p:nvSpPr>
          <p:spPr bwMode="auto">
            <a:xfrm>
              <a:off x="4195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58" name="Rectangle 246"/>
            <p:cNvSpPr>
              <a:spLocks noChangeArrowheads="1"/>
            </p:cNvSpPr>
            <p:nvPr/>
          </p:nvSpPr>
          <p:spPr bwMode="auto">
            <a:xfrm>
              <a:off x="4288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48759" name="Rectangle 247"/>
            <p:cNvSpPr>
              <a:spLocks noChangeArrowheads="1"/>
            </p:cNvSpPr>
            <p:nvPr/>
          </p:nvSpPr>
          <p:spPr bwMode="auto">
            <a:xfrm>
              <a:off x="4425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0" name="Rectangle 248"/>
            <p:cNvSpPr>
              <a:spLocks noChangeArrowheads="1"/>
            </p:cNvSpPr>
            <p:nvPr/>
          </p:nvSpPr>
          <p:spPr bwMode="auto">
            <a:xfrm>
              <a:off x="451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48761" name="Rectangle 249"/>
            <p:cNvSpPr>
              <a:spLocks noChangeArrowheads="1"/>
            </p:cNvSpPr>
            <p:nvPr/>
          </p:nvSpPr>
          <p:spPr bwMode="auto">
            <a:xfrm>
              <a:off x="4655" y="576"/>
              <a:ext cx="231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2" name="Rectangle 250"/>
            <p:cNvSpPr>
              <a:spLocks noChangeArrowheads="1"/>
            </p:cNvSpPr>
            <p:nvPr/>
          </p:nvSpPr>
          <p:spPr bwMode="auto">
            <a:xfrm>
              <a:off x="474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48763" name="Rectangle 251"/>
            <p:cNvSpPr>
              <a:spLocks noChangeArrowheads="1"/>
            </p:cNvSpPr>
            <p:nvPr/>
          </p:nvSpPr>
          <p:spPr bwMode="auto">
            <a:xfrm>
              <a:off x="4886" y="576"/>
              <a:ext cx="230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4" name="Rectangle 252"/>
            <p:cNvSpPr>
              <a:spLocks noChangeArrowheads="1"/>
            </p:cNvSpPr>
            <p:nvPr/>
          </p:nvSpPr>
          <p:spPr bwMode="auto">
            <a:xfrm>
              <a:off x="4979" y="611"/>
              <a:ext cx="80" cy="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48765" name="Rectangle 253"/>
            <p:cNvSpPr>
              <a:spLocks noChangeArrowheads="1"/>
            </p:cNvSpPr>
            <p:nvPr/>
          </p:nvSpPr>
          <p:spPr bwMode="auto">
            <a:xfrm>
              <a:off x="304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6" name="Rectangle 254"/>
            <p:cNvSpPr>
              <a:spLocks noChangeArrowheads="1"/>
            </p:cNvSpPr>
            <p:nvPr/>
          </p:nvSpPr>
          <p:spPr bwMode="auto">
            <a:xfrm>
              <a:off x="3127" y="790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767" name="Rectangle 255"/>
            <p:cNvSpPr>
              <a:spLocks noChangeArrowheads="1"/>
            </p:cNvSpPr>
            <p:nvPr/>
          </p:nvSpPr>
          <p:spPr bwMode="auto">
            <a:xfrm>
              <a:off x="327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68" name="Rectangle 256"/>
            <p:cNvSpPr>
              <a:spLocks noChangeArrowheads="1"/>
            </p:cNvSpPr>
            <p:nvPr/>
          </p:nvSpPr>
          <p:spPr bwMode="auto">
            <a:xfrm>
              <a:off x="3352" y="790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769" name="Rectangle 257"/>
            <p:cNvSpPr>
              <a:spLocks noChangeArrowheads="1"/>
            </p:cNvSpPr>
            <p:nvPr/>
          </p:nvSpPr>
          <p:spPr bwMode="auto">
            <a:xfrm>
              <a:off x="350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0" name="Rectangle 258"/>
            <p:cNvSpPr>
              <a:spLocks noChangeArrowheads="1"/>
            </p:cNvSpPr>
            <p:nvPr/>
          </p:nvSpPr>
          <p:spPr bwMode="auto">
            <a:xfrm>
              <a:off x="3584" y="790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771" name="Rectangle 259"/>
            <p:cNvSpPr>
              <a:spLocks noChangeArrowheads="1"/>
            </p:cNvSpPr>
            <p:nvPr/>
          </p:nvSpPr>
          <p:spPr bwMode="auto">
            <a:xfrm>
              <a:off x="373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2" name="Rectangle 260"/>
            <p:cNvSpPr>
              <a:spLocks noChangeArrowheads="1"/>
            </p:cNvSpPr>
            <p:nvPr/>
          </p:nvSpPr>
          <p:spPr bwMode="auto">
            <a:xfrm>
              <a:off x="3806" y="790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773" name="Rectangle 261"/>
            <p:cNvSpPr>
              <a:spLocks noChangeArrowheads="1"/>
            </p:cNvSpPr>
            <p:nvPr/>
          </p:nvSpPr>
          <p:spPr bwMode="auto">
            <a:xfrm>
              <a:off x="396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4" name="Rectangle 262"/>
            <p:cNvSpPr>
              <a:spLocks noChangeArrowheads="1"/>
            </p:cNvSpPr>
            <p:nvPr/>
          </p:nvSpPr>
          <p:spPr bwMode="auto">
            <a:xfrm>
              <a:off x="4029" y="790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775" name="Rectangle 263"/>
            <p:cNvSpPr>
              <a:spLocks noChangeArrowheads="1"/>
            </p:cNvSpPr>
            <p:nvPr/>
          </p:nvSpPr>
          <p:spPr bwMode="auto">
            <a:xfrm>
              <a:off x="304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6" name="Rectangle 264"/>
            <p:cNvSpPr>
              <a:spLocks noChangeArrowheads="1"/>
            </p:cNvSpPr>
            <p:nvPr/>
          </p:nvSpPr>
          <p:spPr bwMode="auto">
            <a:xfrm>
              <a:off x="3127" y="790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777" name="Rectangle 265"/>
            <p:cNvSpPr>
              <a:spLocks noChangeArrowheads="1"/>
            </p:cNvSpPr>
            <p:nvPr/>
          </p:nvSpPr>
          <p:spPr bwMode="auto">
            <a:xfrm>
              <a:off x="3273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78" name="Rectangle 266"/>
            <p:cNvSpPr>
              <a:spLocks noChangeArrowheads="1"/>
            </p:cNvSpPr>
            <p:nvPr/>
          </p:nvSpPr>
          <p:spPr bwMode="auto">
            <a:xfrm>
              <a:off x="3352" y="790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779" name="Rectangle 267"/>
            <p:cNvSpPr>
              <a:spLocks noChangeArrowheads="1"/>
            </p:cNvSpPr>
            <p:nvPr/>
          </p:nvSpPr>
          <p:spPr bwMode="auto">
            <a:xfrm>
              <a:off x="350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80" name="Rectangle 268"/>
            <p:cNvSpPr>
              <a:spLocks noChangeArrowheads="1"/>
            </p:cNvSpPr>
            <p:nvPr/>
          </p:nvSpPr>
          <p:spPr bwMode="auto">
            <a:xfrm>
              <a:off x="3584" y="790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781" name="Rectangle 269"/>
            <p:cNvSpPr>
              <a:spLocks noChangeArrowheads="1"/>
            </p:cNvSpPr>
            <p:nvPr/>
          </p:nvSpPr>
          <p:spPr bwMode="auto">
            <a:xfrm>
              <a:off x="373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82" name="Rectangle 270"/>
            <p:cNvSpPr>
              <a:spLocks noChangeArrowheads="1"/>
            </p:cNvSpPr>
            <p:nvPr/>
          </p:nvSpPr>
          <p:spPr bwMode="auto">
            <a:xfrm>
              <a:off x="3806" y="790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783" name="Rectangle 271"/>
            <p:cNvSpPr>
              <a:spLocks noChangeArrowheads="1"/>
            </p:cNvSpPr>
            <p:nvPr/>
          </p:nvSpPr>
          <p:spPr bwMode="auto">
            <a:xfrm>
              <a:off x="3964" y="768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84" name="Rectangle 272"/>
            <p:cNvSpPr>
              <a:spLocks noChangeArrowheads="1"/>
            </p:cNvSpPr>
            <p:nvPr/>
          </p:nvSpPr>
          <p:spPr bwMode="auto">
            <a:xfrm>
              <a:off x="4029" y="790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785" name="Rectangle 273"/>
            <p:cNvSpPr>
              <a:spLocks noChangeArrowheads="1"/>
            </p:cNvSpPr>
            <p:nvPr/>
          </p:nvSpPr>
          <p:spPr bwMode="auto">
            <a:xfrm>
              <a:off x="1584" y="921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86" name="Rectangle 274"/>
            <p:cNvSpPr>
              <a:spLocks noChangeArrowheads="1"/>
            </p:cNvSpPr>
            <p:nvPr/>
          </p:nvSpPr>
          <p:spPr bwMode="auto">
            <a:xfrm>
              <a:off x="1701" y="953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48787" name="Rectangle 275"/>
            <p:cNvSpPr>
              <a:spLocks noChangeArrowheads="1"/>
            </p:cNvSpPr>
            <p:nvPr/>
          </p:nvSpPr>
          <p:spPr bwMode="auto">
            <a:xfrm>
              <a:off x="2075" y="953"/>
              <a:ext cx="323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1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48788" name="Rectangle 276"/>
            <p:cNvSpPr>
              <a:spLocks noChangeArrowheads="1"/>
            </p:cNvSpPr>
            <p:nvPr/>
          </p:nvSpPr>
          <p:spPr bwMode="auto">
            <a:xfrm>
              <a:off x="2434" y="953"/>
              <a:ext cx="288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48789" name="Rectangle 277"/>
            <p:cNvSpPr>
              <a:spLocks noChangeArrowheads="1"/>
            </p:cNvSpPr>
            <p:nvPr/>
          </p:nvSpPr>
          <p:spPr bwMode="auto">
            <a:xfrm>
              <a:off x="2684" y="953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48790" name="Rectangle 278"/>
            <p:cNvSpPr>
              <a:spLocks noChangeArrowheads="1"/>
            </p:cNvSpPr>
            <p:nvPr/>
          </p:nvSpPr>
          <p:spPr bwMode="auto">
            <a:xfrm>
              <a:off x="3273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1" name="Rectangle 279"/>
            <p:cNvSpPr>
              <a:spLocks noChangeArrowheads="1"/>
            </p:cNvSpPr>
            <p:nvPr/>
          </p:nvSpPr>
          <p:spPr bwMode="auto">
            <a:xfrm>
              <a:off x="3357" y="94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792" name="Rectangle 280"/>
            <p:cNvSpPr>
              <a:spLocks noChangeArrowheads="1"/>
            </p:cNvSpPr>
            <p:nvPr/>
          </p:nvSpPr>
          <p:spPr bwMode="auto">
            <a:xfrm>
              <a:off x="350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3" name="Rectangle 281"/>
            <p:cNvSpPr>
              <a:spLocks noChangeArrowheads="1"/>
            </p:cNvSpPr>
            <p:nvPr/>
          </p:nvSpPr>
          <p:spPr bwMode="auto">
            <a:xfrm>
              <a:off x="3582" y="94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794" name="Rectangle 282"/>
            <p:cNvSpPr>
              <a:spLocks noChangeArrowheads="1"/>
            </p:cNvSpPr>
            <p:nvPr/>
          </p:nvSpPr>
          <p:spPr bwMode="auto">
            <a:xfrm>
              <a:off x="373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5" name="Rectangle 283"/>
            <p:cNvSpPr>
              <a:spLocks noChangeArrowheads="1"/>
            </p:cNvSpPr>
            <p:nvPr/>
          </p:nvSpPr>
          <p:spPr bwMode="auto">
            <a:xfrm>
              <a:off x="3815" y="94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796" name="Rectangle 284"/>
            <p:cNvSpPr>
              <a:spLocks noChangeArrowheads="1"/>
            </p:cNvSpPr>
            <p:nvPr/>
          </p:nvSpPr>
          <p:spPr bwMode="auto">
            <a:xfrm>
              <a:off x="396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7" name="Rectangle 285"/>
            <p:cNvSpPr>
              <a:spLocks noChangeArrowheads="1"/>
            </p:cNvSpPr>
            <p:nvPr/>
          </p:nvSpPr>
          <p:spPr bwMode="auto">
            <a:xfrm>
              <a:off x="4036" y="94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798" name="Rectangle 286"/>
            <p:cNvSpPr>
              <a:spLocks noChangeArrowheads="1"/>
            </p:cNvSpPr>
            <p:nvPr/>
          </p:nvSpPr>
          <p:spPr bwMode="auto">
            <a:xfrm>
              <a:off x="4195" y="921"/>
              <a:ext cx="231" cy="15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799" name="Rectangle 287"/>
            <p:cNvSpPr>
              <a:spLocks noChangeArrowheads="1"/>
            </p:cNvSpPr>
            <p:nvPr/>
          </p:nvSpPr>
          <p:spPr bwMode="auto">
            <a:xfrm>
              <a:off x="4259" y="94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00" name="Rectangle 288"/>
            <p:cNvSpPr>
              <a:spLocks noChangeArrowheads="1"/>
            </p:cNvSpPr>
            <p:nvPr/>
          </p:nvSpPr>
          <p:spPr bwMode="auto">
            <a:xfrm>
              <a:off x="3273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1" name="Rectangle 289"/>
            <p:cNvSpPr>
              <a:spLocks noChangeArrowheads="1"/>
            </p:cNvSpPr>
            <p:nvPr/>
          </p:nvSpPr>
          <p:spPr bwMode="auto">
            <a:xfrm>
              <a:off x="3357" y="94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02" name="Rectangle 290"/>
            <p:cNvSpPr>
              <a:spLocks noChangeArrowheads="1"/>
            </p:cNvSpPr>
            <p:nvPr/>
          </p:nvSpPr>
          <p:spPr bwMode="auto">
            <a:xfrm>
              <a:off x="350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3" name="Rectangle 291"/>
            <p:cNvSpPr>
              <a:spLocks noChangeArrowheads="1"/>
            </p:cNvSpPr>
            <p:nvPr/>
          </p:nvSpPr>
          <p:spPr bwMode="auto">
            <a:xfrm>
              <a:off x="3582" y="94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04" name="Rectangle 292"/>
            <p:cNvSpPr>
              <a:spLocks noChangeArrowheads="1"/>
            </p:cNvSpPr>
            <p:nvPr/>
          </p:nvSpPr>
          <p:spPr bwMode="auto">
            <a:xfrm>
              <a:off x="373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5" name="Rectangle 293"/>
            <p:cNvSpPr>
              <a:spLocks noChangeArrowheads="1"/>
            </p:cNvSpPr>
            <p:nvPr/>
          </p:nvSpPr>
          <p:spPr bwMode="auto">
            <a:xfrm>
              <a:off x="3815" y="94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06" name="Rectangle 294"/>
            <p:cNvSpPr>
              <a:spLocks noChangeArrowheads="1"/>
            </p:cNvSpPr>
            <p:nvPr/>
          </p:nvSpPr>
          <p:spPr bwMode="auto">
            <a:xfrm>
              <a:off x="3964" y="921"/>
              <a:ext cx="231" cy="15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7" name="Rectangle 295"/>
            <p:cNvSpPr>
              <a:spLocks noChangeArrowheads="1"/>
            </p:cNvSpPr>
            <p:nvPr/>
          </p:nvSpPr>
          <p:spPr bwMode="auto">
            <a:xfrm>
              <a:off x="4036" y="94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08" name="Rectangle 296"/>
            <p:cNvSpPr>
              <a:spLocks noChangeArrowheads="1"/>
            </p:cNvSpPr>
            <p:nvPr/>
          </p:nvSpPr>
          <p:spPr bwMode="auto">
            <a:xfrm>
              <a:off x="4195" y="921"/>
              <a:ext cx="231" cy="15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09" name="Rectangle 297"/>
            <p:cNvSpPr>
              <a:spLocks noChangeArrowheads="1"/>
            </p:cNvSpPr>
            <p:nvPr/>
          </p:nvSpPr>
          <p:spPr bwMode="auto">
            <a:xfrm>
              <a:off x="4259" y="94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10" name="Rectangle 298"/>
            <p:cNvSpPr>
              <a:spLocks noChangeArrowheads="1"/>
            </p:cNvSpPr>
            <p:nvPr/>
          </p:nvSpPr>
          <p:spPr bwMode="auto">
            <a:xfrm>
              <a:off x="1584" y="1075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11" name="Rectangle 299"/>
            <p:cNvSpPr>
              <a:spLocks noChangeArrowheads="1"/>
            </p:cNvSpPr>
            <p:nvPr/>
          </p:nvSpPr>
          <p:spPr bwMode="auto">
            <a:xfrm>
              <a:off x="1701" y="1107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48812" name="Rectangle 300"/>
            <p:cNvSpPr>
              <a:spLocks noChangeArrowheads="1"/>
            </p:cNvSpPr>
            <p:nvPr/>
          </p:nvSpPr>
          <p:spPr bwMode="auto">
            <a:xfrm>
              <a:off x="2041" y="1107"/>
              <a:ext cx="159" cy="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48813" name="Rectangle 301"/>
            <p:cNvSpPr>
              <a:spLocks noChangeArrowheads="1"/>
            </p:cNvSpPr>
            <p:nvPr/>
          </p:nvSpPr>
          <p:spPr bwMode="auto">
            <a:xfrm>
              <a:off x="350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14" name="Rectangle 302"/>
            <p:cNvSpPr>
              <a:spLocks noChangeArrowheads="1"/>
            </p:cNvSpPr>
            <p:nvPr/>
          </p:nvSpPr>
          <p:spPr bwMode="auto">
            <a:xfrm>
              <a:off x="3588" y="1097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15" name="Rectangle 303"/>
            <p:cNvSpPr>
              <a:spLocks noChangeArrowheads="1"/>
            </p:cNvSpPr>
            <p:nvPr/>
          </p:nvSpPr>
          <p:spPr bwMode="auto">
            <a:xfrm>
              <a:off x="373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16" name="Rectangle 304"/>
            <p:cNvSpPr>
              <a:spLocks noChangeArrowheads="1"/>
            </p:cNvSpPr>
            <p:nvPr/>
          </p:nvSpPr>
          <p:spPr bwMode="auto">
            <a:xfrm>
              <a:off x="3812" y="1097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17" name="Rectangle 305"/>
            <p:cNvSpPr>
              <a:spLocks noChangeArrowheads="1"/>
            </p:cNvSpPr>
            <p:nvPr/>
          </p:nvSpPr>
          <p:spPr bwMode="auto">
            <a:xfrm>
              <a:off x="396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18" name="Rectangle 306"/>
            <p:cNvSpPr>
              <a:spLocks noChangeArrowheads="1"/>
            </p:cNvSpPr>
            <p:nvPr/>
          </p:nvSpPr>
          <p:spPr bwMode="auto">
            <a:xfrm>
              <a:off x="4045" y="1097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19" name="Rectangle 307"/>
            <p:cNvSpPr>
              <a:spLocks noChangeArrowheads="1"/>
            </p:cNvSpPr>
            <p:nvPr/>
          </p:nvSpPr>
          <p:spPr bwMode="auto">
            <a:xfrm>
              <a:off x="4195" y="1075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0" name="Rectangle 308"/>
            <p:cNvSpPr>
              <a:spLocks noChangeArrowheads="1"/>
            </p:cNvSpPr>
            <p:nvPr/>
          </p:nvSpPr>
          <p:spPr bwMode="auto">
            <a:xfrm>
              <a:off x="4267" y="1097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21" name="Rectangle 309"/>
            <p:cNvSpPr>
              <a:spLocks noChangeArrowheads="1"/>
            </p:cNvSpPr>
            <p:nvPr/>
          </p:nvSpPr>
          <p:spPr bwMode="auto">
            <a:xfrm>
              <a:off x="4425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2" name="Rectangle 310"/>
            <p:cNvSpPr>
              <a:spLocks noChangeArrowheads="1"/>
            </p:cNvSpPr>
            <p:nvPr/>
          </p:nvSpPr>
          <p:spPr bwMode="auto">
            <a:xfrm>
              <a:off x="4490" y="1097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23" name="Rectangle 311"/>
            <p:cNvSpPr>
              <a:spLocks noChangeArrowheads="1"/>
            </p:cNvSpPr>
            <p:nvPr/>
          </p:nvSpPr>
          <p:spPr bwMode="auto">
            <a:xfrm>
              <a:off x="350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4" name="Rectangle 312"/>
            <p:cNvSpPr>
              <a:spLocks noChangeArrowheads="1"/>
            </p:cNvSpPr>
            <p:nvPr/>
          </p:nvSpPr>
          <p:spPr bwMode="auto">
            <a:xfrm>
              <a:off x="3588" y="1097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25" name="Rectangle 313"/>
            <p:cNvSpPr>
              <a:spLocks noChangeArrowheads="1"/>
            </p:cNvSpPr>
            <p:nvPr/>
          </p:nvSpPr>
          <p:spPr bwMode="auto">
            <a:xfrm>
              <a:off x="373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6" name="Rectangle 314"/>
            <p:cNvSpPr>
              <a:spLocks noChangeArrowheads="1"/>
            </p:cNvSpPr>
            <p:nvPr/>
          </p:nvSpPr>
          <p:spPr bwMode="auto">
            <a:xfrm>
              <a:off x="3812" y="1097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27" name="Rectangle 315"/>
            <p:cNvSpPr>
              <a:spLocks noChangeArrowheads="1"/>
            </p:cNvSpPr>
            <p:nvPr/>
          </p:nvSpPr>
          <p:spPr bwMode="auto">
            <a:xfrm>
              <a:off x="3964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28" name="Rectangle 316"/>
            <p:cNvSpPr>
              <a:spLocks noChangeArrowheads="1"/>
            </p:cNvSpPr>
            <p:nvPr/>
          </p:nvSpPr>
          <p:spPr bwMode="auto">
            <a:xfrm>
              <a:off x="4045" y="1097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29" name="Rectangle 317"/>
            <p:cNvSpPr>
              <a:spLocks noChangeArrowheads="1"/>
            </p:cNvSpPr>
            <p:nvPr/>
          </p:nvSpPr>
          <p:spPr bwMode="auto">
            <a:xfrm>
              <a:off x="4195" y="1075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0" name="Rectangle 318"/>
            <p:cNvSpPr>
              <a:spLocks noChangeArrowheads="1"/>
            </p:cNvSpPr>
            <p:nvPr/>
          </p:nvSpPr>
          <p:spPr bwMode="auto">
            <a:xfrm>
              <a:off x="4267" y="1097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31" name="Rectangle 319"/>
            <p:cNvSpPr>
              <a:spLocks noChangeArrowheads="1"/>
            </p:cNvSpPr>
            <p:nvPr/>
          </p:nvSpPr>
          <p:spPr bwMode="auto">
            <a:xfrm>
              <a:off x="4425" y="1075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2" name="Rectangle 320"/>
            <p:cNvSpPr>
              <a:spLocks noChangeArrowheads="1"/>
            </p:cNvSpPr>
            <p:nvPr/>
          </p:nvSpPr>
          <p:spPr bwMode="auto">
            <a:xfrm>
              <a:off x="4490" y="1097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33" name="Rectangle 321"/>
            <p:cNvSpPr>
              <a:spLocks noChangeArrowheads="1"/>
            </p:cNvSpPr>
            <p:nvPr/>
          </p:nvSpPr>
          <p:spPr bwMode="auto">
            <a:xfrm>
              <a:off x="1584" y="1229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4" name="Rectangle 322"/>
            <p:cNvSpPr>
              <a:spLocks noChangeArrowheads="1"/>
            </p:cNvSpPr>
            <p:nvPr/>
          </p:nvSpPr>
          <p:spPr bwMode="auto">
            <a:xfrm>
              <a:off x="1701" y="1260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48835" name="Rectangle 323"/>
            <p:cNvSpPr>
              <a:spLocks noChangeArrowheads="1"/>
            </p:cNvSpPr>
            <p:nvPr/>
          </p:nvSpPr>
          <p:spPr bwMode="auto">
            <a:xfrm>
              <a:off x="2041" y="1260"/>
              <a:ext cx="159" cy="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48836" name="Rectangle 324"/>
            <p:cNvSpPr>
              <a:spLocks noChangeArrowheads="1"/>
            </p:cNvSpPr>
            <p:nvPr/>
          </p:nvSpPr>
          <p:spPr bwMode="auto">
            <a:xfrm>
              <a:off x="373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7" name="Rectangle 325"/>
            <p:cNvSpPr>
              <a:spLocks noChangeArrowheads="1"/>
            </p:cNvSpPr>
            <p:nvPr/>
          </p:nvSpPr>
          <p:spPr bwMode="auto">
            <a:xfrm>
              <a:off x="3818" y="1251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38" name="Rectangle 326"/>
            <p:cNvSpPr>
              <a:spLocks noChangeArrowheads="1"/>
            </p:cNvSpPr>
            <p:nvPr/>
          </p:nvSpPr>
          <p:spPr bwMode="auto">
            <a:xfrm>
              <a:off x="396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39" name="Rectangle 327"/>
            <p:cNvSpPr>
              <a:spLocks noChangeArrowheads="1"/>
            </p:cNvSpPr>
            <p:nvPr/>
          </p:nvSpPr>
          <p:spPr bwMode="auto">
            <a:xfrm>
              <a:off x="4043" y="1251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40" name="Rectangle 328"/>
            <p:cNvSpPr>
              <a:spLocks noChangeArrowheads="1"/>
            </p:cNvSpPr>
            <p:nvPr/>
          </p:nvSpPr>
          <p:spPr bwMode="auto">
            <a:xfrm>
              <a:off x="4195" y="1229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1" name="Rectangle 329"/>
            <p:cNvSpPr>
              <a:spLocks noChangeArrowheads="1"/>
            </p:cNvSpPr>
            <p:nvPr/>
          </p:nvSpPr>
          <p:spPr bwMode="auto">
            <a:xfrm>
              <a:off x="4275" y="1251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42" name="Rectangle 330"/>
            <p:cNvSpPr>
              <a:spLocks noChangeArrowheads="1"/>
            </p:cNvSpPr>
            <p:nvPr/>
          </p:nvSpPr>
          <p:spPr bwMode="auto">
            <a:xfrm>
              <a:off x="442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3" name="Rectangle 331"/>
            <p:cNvSpPr>
              <a:spLocks noChangeArrowheads="1"/>
            </p:cNvSpPr>
            <p:nvPr/>
          </p:nvSpPr>
          <p:spPr bwMode="auto">
            <a:xfrm>
              <a:off x="4497" y="1251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44" name="Rectangle 332"/>
            <p:cNvSpPr>
              <a:spLocks noChangeArrowheads="1"/>
            </p:cNvSpPr>
            <p:nvPr/>
          </p:nvSpPr>
          <p:spPr bwMode="auto">
            <a:xfrm>
              <a:off x="465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5" name="Rectangle 333"/>
            <p:cNvSpPr>
              <a:spLocks noChangeArrowheads="1"/>
            </p:cNvSpPr>
            <p:nvPr/>
          </p:nvSpPr>
          <p:spPr bwMode="auto">
            <a:xfrm>
              <a:off x="4720" y="1251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46" name="Rectangle 334"/>
            <p:cNvSpPr>
              <a:spLocks noChangeArrowheads="1"/>
            </p:cNvSpPr>
            <p:nvPr/>
          </p:nvSpPr>
          <p:spPr bwMode="auto">
            <a:xfrm>
              <a:off x="373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7" name="Rectangle 335"/>
            <p:cNvSpPr>
              <a:spLocks noChangeArrowheads="1"/>
            </p:cNvSpPr>
            <p:nvPr/>
          </p:nvSpPr>
          <p:spPr bwMode="auto">
            <a:xfrm>
              <a:off x="3818" y="1251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48" name="Rectangle 336"/>
            <p:cNvSpPr>
              <a:spLocks noChangeArrowheads="1"/>
            </p:cNvSpPr>
            <p:nvPr/>
          </p:nvSpPr>
          <p:spPr bwMode="auto">
            <a:xfrm>
              <a:off x="3964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49" name="Rectangle 337"/>
            <p:cNvSpPr>
              <a:spLocks noChangeArrowheads="1"/>
            </p:cNvSpPr>
            <p:nvPr/>
          </p:nvSpPr>
          <p:spPr bwMode="auto">
            <a:xfrm>
              <a:off x="4043" y="1251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50" name="Rectangle 338"/>
            <p:cNvSpPr>
              <a:spLocks noChangeArrowheads="1"/>
            </p:cNvSpPr>
            <p:nvPr/>
          </p:nvSpPr>
          <p:spPr bwMode="auto">
            <a:xfrm>
              <a:off x="4195" y="1229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51" name="Rectangle 339"/>
            <p:cNvSpPr>
              <a:spLocks noChangeArrowheads="1"/>
            </p:cNvSpPr>
            <p:nvPr/>
          </p:nvSpPr>
          <p:spPr bwMode="auto">
            <a:xfrm>
              <a:off x="4275" y="1251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52" name="Rectangle 340"/>
            <p:cNvSpPr>
              <a:spLocks noChangeArrowheads="1"/>
            </p:cNvSpPr>
            <p:nvPr/>
          </p:nvSpPr>
          <p:spPr bwMode="auto">
            <a:xfrm>
              <a:off x="442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53" name="Rectangle 341"/>
            <p:cNvSpPr>
              <a:spLocks noChangeArrowheads="1"/>
            </p:cNvSpPr>
            <p:nvPr/>
          </p:nvSpPr>
          <p:spPr bwMode="auto">
            <a:xfrm>
              <a:off x="4497" y="1251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54" name="Rectangle 342"/>
            <p:cNvSpPr>
              <a:spLocks noChangeArrowheads="1"/>
            </p:cNvSpPr>
            <p:nvPr/>
          </p:nvSpPr>
          <p:spPr bwMode="auto">
            <a:xfrm>
              <a:off x="4655" y="1229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55" name="Rectangle 343"/>
            <p:cNvSpPr>
              <a:spLocks noChangeArrowheads="1"/>
            </p:cNvSpPr>
            <p:nvPr/>
          </p:nvSpPr>
          <p:spPr bwMode="auto">
            <a:xfrm>
              <a:off x="4720" y="1251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56" name="Rectangle 344"/>
            <p:cNvSpPr>
              <a:spLocks noChangeArrowheads="1"/>
            </p:cNvSpPr>
            <p:nvPr/>
          </p:nvSpPr>
          <p:spPr bwMode="auto">
            <a:xfrm>
              <a:off x="1584" y="1382"/>
              <a:ext cx="1305" cy="1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57" name="Rectangle 345"/>
            <p:cNvSpPr>
              <a:spLocks noChangeArrowheads="1"/>
            </p:cNvSpPr>
            <p:nvPr/>
          </p:nvSpPr>
          <p:spPr bwMode="auto">
            <a:xfrm>
              <a:off x="1703" y="1414"/>
              <a:ext cx="32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448858" name="Rectangle 346"/>
            <p:cNvSpPr>
              <a:spLocks noChangeArrowheads="1"/>
            </p:cNvSpPr>
            <p:nvPr/>
          </p:nvSpPr>
          <p:spPr bwMode="auto">
            <a:xfrm>
              <a:off x="2041" y="1414"/>
              <a:ext cx="218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48859" name="Rectangle 347"/>
            <p:cNvSpPr>
              <a:spLocks noChangeArrowheads="1"/>
            </p:cNvSpPr>
            <p:nvPr/>
          </p:nvSpPr>
          <p:spPr bwMode="auto">
            <a:xfrm>
              <a:off x="2273" y="1414"/>
              <a:ext cx="11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48860" name="Rectangle 348"/>
            <p:cNvSpPr>
              <a:spLocks noChangeArrowheads="1"/>
            </p:cNvSpPr>
            <p:nvPr/>
          </p:nvSpPr>
          <p:spPr bwMode="auto">
            <a:xfrm>
              <a:off x="2362" y="1414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48861" name="Rectangle 349"/>
            <p:cNvSpPr>
              <a:spLocks noChangeArrowheads="1"/>
            </p:cNvSpPr>
            <p:nvPr/>
          </p:nvSpPr>
          <p:spPr bwMode="auto">
            <a:xfrm>
              <a:off x="2488" y="1414"/>
              <a:ext cx="173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48862" name="Rectangle 350"/>
            <p:cNvSpPr>
              <a:spLocks noChangeArrowheads="1"/>
            </p:cNvSpPr>
            <p:nvPr/>
          </p:nvSpPr>
          <p:spPr bwMode="auto">
            <a:xfrm>
              <a:off x="2630" y="1414"/>
              <a:ext cx="160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48863" name="Rectangle 351"/>
            <p:cNvSpPr>
              <a:spLocks noChangeArrowheads="1"/>
            </p:cNvSpPr>
            <p:nvPr/>
          </p:nvSpPr>
          <p:spPr bwMode="auto">
            <a:xfrm>
              <a:off x="3964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64" name="Rectangle 352"/>
            <p:cNvSpPr>
              <a:spLocks noChangeArrowheads="1"/>
            </p:cNvSpPr>
            <p:nvPr/>
          </p:nvSpPr>
          <p:spPr bwMode="auto">
            <a:xfrm>
              <a:off x="4048" y="140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65" name="Rectangle 353"/>
            <p:cNvSpPr>
              <a:spLocks noChangeArrowheads="1"/>
            </p:cNvSpPr>
            <p:nvPr/>
          </p:nvSpPr>
          <p:spPr bwMode="auto">
            <a:xfrm>
              <a:off x="4195" y="1382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66" name="Rectangle 354"/>
            <p:cNvSpPr>
              <a:spLocks noChangeArrowheads="1"/>
            </p:cNvSpPr>
            <p:nvPr/>
          </p:nvSpPr>
          <p:spPr bwMode="auto">
            <a:xfrm>
              <a:off x="4273" y="140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67" name="Rectangle 355"/>
            <p:cNvSpPr>
              <a:spLocks noChangeArrowheads="1"/>
            </p:cNvSpPr>
            <p:nvPr/>
          </p:nvSpPr>
          <p:spPr bwMode="auto">
            <a:xfrm>
              <a:off x="442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68" name="Rectangle 356"/>
            <p:cNvSpPr>
              <a:spLocks noChangeArrowheads="1"/>
            </p:cNvSpPr>
            <p:nvPr/>
          </p:nvSpPr>
          <p:spPr bwMode="auto">
            <a:xfrm>
              <a:off x="4506" y="140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69" name="Rectangle 357"/>
            <p:cNvSpPr>
              <a:spLocks noChangeArrowheads="1"/>
            </p:cNvSpPr>
            <p:nvPr/>
          </p:nvSpPr>
          <p:spPr bwMode="auto">
            <a:xfrm>
              <a:off x="465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0" name="Rectangle 358"/>
            <p:cNvSpPr>
              <a:spLocks noChangeArrowheads="1"/>
            </p:cNvSpPr>
            <p:nvPr/>
          </p:nvSpPr>
          <p:spPr bwMode="auto">
            <a:xfrm>
              <a:off x="4727" y="140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71" name="Rectangle 359"/>
            <p:cNvSpPr>
              <a:spLocks noChangeArrowheads="1"/>
            </p:cNvSpPr>
            <p:nvPr/>
          </p:nvSpPr>
          <p:spPr bwMode="auto">
            <a:xfrm>
              <a:off x="4886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2" name="Rectangle 360"/>
            <p:cNvSpPr>
              <a:spLocks noChangeArrowheads="1"/>
            </p:cNvSpPr>
            <p:nvPr/>
          </p:nvSpPr>
          <p:spPr bwMode="auto">
            <a:xfrm>
              <a:off x="4950" y="140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73" name="Rectangle 361"/>
            <p:cNvSpPr>
              <a:spLocks noChangeArrowheads="1"/>
            </p:cNvSpPr>
            <p:nvPr/>
          </p:nvSpPr>
          <p:spPr bwMode="auto">
            <a:xfrm>
              <a:off x="3964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4" name="Rectangle 362"/>
            <p:cNvSpPr>
              <a:spLocks noChangeArrowheads="1"/>
            </p:cNvSpPr>
            <p:nvPr/>
          </p:nvSpPr>
          <p:spPr bwMode="auto">
            <a:xfrm>
              <a:off x="4048" y="1404"/>
              <a:ext cx="10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48875" name="Rectangle 363"/>
            <p:cNvSpPr>
              <a:spLocks noChangeArrowheads="1"/>
            </p:cNvSpPr>
            <p:nvPr/>
          </p:nvSpPr>
          <p:spPr bwMode="auto">
            <a:xfrm>
              <a:off x="4195" y="1382"/>
              <a:ext cx="231" cy="154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6" name="Rectangle 364"/>
            <p:cNvSpPr>
              <a:spLocks noChangeArrowheads="1"/>
            </p:cNvSpPr>
            <p:nvPr/>
          </p:nvSpPr>
          <p:spPr bwMode="auto">
            <a:xfrm>
              <a:off x="4273" y="1404"/>
              <a:ext cx="12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48877" name="Rectangle 365"/>
            <p:cNvSpPr>
              <a:spLocks noChangeArrowheads="1"/>
            </p:cNvSpPr>
            <p:nvPr/>
          </p:nvSpPr>
          <p:spPr bwMode="auto">
            <a:xfrm>
              <a:off x="442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78" name="Rectangle 366"/>
            <p:cNvSpPr>
              <a:spLocks noChangeArrowheads="1"/>
            </p:cNvSpPr>
            <p:nvPr/>
          </p:nvSpPr>
          <p:spPr bwMode="auto">
            <a:xfrm>
              <a:off x="4506" y="1404"/>
              <a:ext cx="1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48879" name="Rectangle 367"/>
            <p:cNvSpPr>
              <a:spLocks noChangeArrowheads="1"/>
            </p:cNvSpPr>
            <p:nvPr/>
          </p:nvSpPr>
          <p:spPr bwMode="auto">
            <a:xfrm>
              <a:off x="4655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80" name="Rectangle 368"/>
            <p:cNvSpPr>
              <a:spLocks noChangeArrowheads="1"/>
            </p:cNvSpPr>
            <p:nvPr/>
          </p:nvSpPr>
          <p:spPr bwMode="auto">
            <a:xfrm>
              <a:off x="4727" y="1404"/>
              <a:ext cx="13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48881" name="Rectangle 369"/>
            <p:cNvSpPr>
              <a:spLocks noChangeArrowheads="1"/>
            </p:cNvSpPr>
            <p:nvPr/>
          </p:nvSpPr>
          <p:spPr bwMode="auto">
            <a:xfrm>
              <a:off x="4886" y="1382"/>
              <a:ext cx="231" cy="1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82" name="Rectangle 370"/>
            <p:cNvSpPr>
              <a:spLocks noChangeArrowheads="1"/>
            </p:cNvSpPr>
            <p:nvPr/>
          </p:nvSpPr>
          <p:spPr bwMode="auto">
            <a:xfrm>
              <a:off x="4950" y="1404"/>
              <a:ext cx="14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3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48883" name="Rectangle 371"/>
            <p:cNvSpPr>
              <a:spLocks noChangeArrowheads="1"/>
            </p:cNvSpPr>
            <p:nvPr/>
          </p:nvSpPr>
          <p:spPr bwMode="auto">
            <a:xfrm>
              <a:off x="1584" y="1536"/>
              <a:ext cx="1305" cy="15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884" name="Rectangle 372"/>
            <p:cNvSpPr>
              <a:spLocks noChangeArrowheads="1"/>
            </p:cNvSpPr>
            <p:nvPr/>
          </p:nvSpPr>
          <p:spPr bwMode="auto">
            <a:xfrm>
              <a:off x="1682" y="1567"/>
              <a:ext cx="587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0" dirty="0">
                  <a:solidFill>
                    <a:srgbClr val="000000"/>
                  </a:solidFill>
                  <a:latin typeface="Courier New" pitchFamily="49" charset="0"/>
                </a:rPr>
                <a:t>0x018: halt</a:t>
              </a:r>
              <a:endParaRPr lang="en-US" dirty="0"/>
            </a:p>
          </p:txBody>
        </p:sp>
        <p:grpSp>
          <p:nvGrpSpPr>
            <p:cNvPr id="448965" name="Group 453"/>
            <p:cNvGrpSpPr>
              <a:grpSpLocks/>
            </p:cNvGrpSpPr>
            <p:nvPr/>
          </p:nvGrpSpPr>
          <p:grpSpPr bwMode="auto">
            <a:xfrm>
              <a:off x="1584" y="576"/>
              <a:ext cx="3763" cy="2803"/>
              <a:chOff x="1584" y="576"/>
              <a:chExt cx="3763" cy="2803"/>
            </a:xfrm>
          </p:grpSpPr>
          <p:sp>
            <p:nvSpPr>
              <p:cNvPr id="448885" name="Rectangle 373"/>
              <p:cNvSpPr>
                <a:spLocks noChangeArrowheads="1"/>
              </p:cNvSpPr>
              <p:nvPr/>
            </p:nvSpPr>
            <p:spPr bwMode="auto">
              <a:xfrm>
                <a:off x="4195" y="1536"/>
                <a:ext cx="231" cy="15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86" name="Rectangle 374"/>
              <p:cNvSpPr>
                <a:spLocks noChangeArrowheads="1"/>
              </p:cNvSpPr>
              <p:nvPr/>
            </p:nvSpPr>
            <p:spPr bwMode="auto">
              <a:xfrm>
                <a:off x="4301" y="1558"/>
                <a:ext cx="64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48887" name="Rectangle 375"/>
              <p:cNvSpPr>
                <a:spLocks noChangeArrowheads="1"/>
              </p:cNvSpPr>
              <p:nvPr/>
            </p:nvSpPr>
            <p:spPr bwMode="auto">
              <a:xfrm>
                <a:off x="442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88" name="Rectangle 376"/>
              <p:cNvSpPr>
                <a:spLocks noChangeArrowheads="1"/>
              </p:cNvSpPr>
              <p:nvPr/>
            </p:nvSpPr>
            <p:spPr bwMode="auto">
              <a:xfrm>
                <a:off x="4526" y="1558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48889" name="Rectangle 377"/>
              <p:cNvSpPr>
                <a:spLocks noChangeArrowheads="1"/>
              </p:cNvSpPr>
              <p:nvPr/>
            </p:nvSpPr>
            <p:spPr bwMode="auto">
              <a:xfrm>
                <a:off x="465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0" name="Rectangle 378"/>
              <p:cNvSpPr>
                <a:spLocks noChangeArrowheads="1"/>
              </p:cNvSpPr>
              <p:nvPr/>
            </p:nvSpPr>
            <p:spPr bwMode="auto">
              <a:xfrm>
                <a:off x="4759" y="1558"/>
                <a:ext cx="6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48891" name="Rectangle 379"/>
              <p:cNvSpPr>
                <a:spLocks noChangeArrowheads="1"/>
              </p:cNvSpPr>
              <p:nvPr/>
            </p:nvSpPr>
            <p:spPr bwMode="auto">
              <a:xfrm>
                <a:off x="488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2" name="Rectangle 380"/>
              <p:cNvSpPr>
                <a:spLocks noChangeArrowheads="1"/>
              </p:cNvSpPr>
              <p:nvPr/>
            </p:nvSpPr>
            <p:spPr bwMode="auto">
              <a:xfrm>
                <a:off x="4981" y="1558"/>
                <a:ext cx="8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48893" name="Rectangle 381"/>
              <p:cNvSpPr>
                <a:spLocks noChangeArrowheads="1"/>
              </p:cNvSpPr>
              <p:nvPr/>
            </p:nvSpPr>
            <p:spPr bwMode="auto">
              <a:xfrm>
                <a:off x="511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4" name="Rectangle 382"/>
              <p:cNvSpPr>
                <a:spLocks noChangeArrowheads="1"/>
              </p:cNvSpPr>
              <p:nvPr/>
            </p:nvSpPr>
            <p:spPr bwMode="auto">
              <a:xfrm>
                <a:off x="5202" y="1558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48895" name="Rectangle 383"/>
              <p:cNvSpPr>
                <a:spLocks noChangeArrowheads="1"/>
              </p:cNvSpPr>
              <p:nvPr/>
            </p:nvSpPr>
            <p:spPr bwMode="auto">
              <a:xfrm>
                <a:off x="4195" y="1536"/>
                <a:ext cx="231" cy="15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6" name="Rectangle 384"/>
              <p:cNvSpPr>
                <a:spLocks noChangeArrowheads="1"/>
              </p:cNvSpPr>
              <p:nvPr/>
            </p:nvSpPr>
            <p:spPr bwMode="auto">
              <a:xfrm>
                <a:off x="4301" y="1558"/>
                <a:ext cx="64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48897" name="Rectangle 385"/>
              <p:cNvSpPr>
                <a:spLocks noChangeArrowheads="1"/>
              </p:cNvSpPr>
              <p:nvPr/>
            </p:nvSpPr>
            <p:spPr bwMode="auto">
              <a:xfrm>
                <a:off x="442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898" name="Rectangle 386"/>
              <p:cNvSpPr>
                <a:spLocks noChangeArrowheads="1"/>
              </p:cNvSpPr>
              <p:nvPr/>
            </p:nvSpPr>
            <p:spPr bwMode="auto">
              <a:xfrm>
                <a:off x="4526" y="1558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48899" name="Rectangle 387"/>
              <p:cNvSpPr>
                <a:spLocks noChangeArrowheads="1"/>
              </p:cNvSpPr>
              <p:nvPr/>
            </p:nvSpPr>
            <p:spPr bwMode="auto">
              <a:xfrm>
                <a:off x="4655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0" name="Rectangle 388"/>
              <p:cNvSpPr>
                <a:spLocks noChangeArrowheads="1"/>
              </p:cNvSpPr>
              <p:nvPr/>
            </p:nvSpPr>
            <p:spPr bwMode="auto">
              <a:xfrm>
                <a:off x="4759" y="1558"/>
                <a:ext cx="69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48901" name="Rectangle 389"/>
              <p:cNvSpPr>
                <a:spLocks noChangeArrowheads="1"/>
              </p:cNvSpPr>
              <p:nvPr/>
            </p:nvSpPr>
            <p:spPr bwMode="auto">
              <a:xfrm>
                <a:off x="488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2" name="Rectangle 390"/>
              <p:cNvSpPr>
                <a:spLocks noChangeArrowheads="1"/>
              </p:cNvSpPr>
              <p:nvPr/>
            </p:nvSpPr>
            <p:spPr bwMode="auto">
              <a:xfrm>
                <a:off x="4981" y="1558"/>
                <a:ext cx="8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48903" name="Rectangle 391"/>
              <p:cNvSpPr>
                <a:spLocks noChangeArrowheads="1"/>
              </p:cNvSpPr>
              <p:nvPr/>
            </p:nvSpPr>
            <p:spPr bwMode="auto">
              <a:xfrm>
                <a:off x="5116" y="1536"/>
                <a:ext cx="231" cy="15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4" name="Rectangle 392"/>
              <p:cNvSpPr>
                <a:spLocks noChangeArrowheads="1"/>
              </p:cNvSpPr>
              <p:nvPr/>
            </p:nvSpPr>
            <p:spPr bwMode="auto">
              <a:xfrm>
                <a:off x="5202" y="1558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48905" name="Line 393"/>
              <p:cNvSpPr>
                <a:spLocks noChangeShapeType="1"/>
              </p:cNvSpPr>
              <p:nvPr/>
            </p:nvSpPr>
            <p:spPr bwMode="auto">
              <a:xfrm flipH="1">
                <a:off x="3542" y="1689"/>
                <a:ext cx="653" cy="38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6" name="Line 394"/>
              <p:cNvSpPr>
                <a:spLocks noChangeShapeType="1"/>
              </p:cNvSpPr>
              <p:nvPr/>
            </p:nvSpPr>
            <p:spPr bwMode="auto">
              <a:xfrm>
                <a:off x="4425" y="1689"/>
                <a:ext cx="653" cy="38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7" name="Rectangle 395"/>
              <p:cNvSpPr>
                <a:spLocks noChangeArrowheads="1"/>
              </p:cNvSpPr>
              <p:nvPr/>
            </p:nvSpPr>
            <p:spPr bwMode="auto">
              <a:xfrm>
                <a:off x="5116" y="576"/>
                <a:ext cx="230" cy="1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08" name="Rectangle 396"/>
              <p:cNvSpPr>
                <a:spLocks noChangeArrowheads="1"/>
              </p:cNvSpPr>
              <p:nvPr/>
            </p:nvSpPr>
            <p:spPr bwMode="auto">
              <a:xfrm>
                <a:off x="5207" y="611"/>
                <a:ext cx="88" cy="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00" b="0">
                    <a:solidFill>
                      <a:srgbClr val="3333CC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48909" name="Rectangle 397"/>
              <p:cNvSpPr>
                <a:spLocks noChangeArrowheads="1"/>
              </p:cNvSpPr>
              <p:nvPr/>
            </p:nvSpPr>
            <p:spPr bwMode="auto">
              <a:xfrm>
                <a:off x="1584" y="614"/>
                <a:ext cx="1305" cy="15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10" name="Rectangle 398"/>
              <p:cNvSpPr>
                <a:spLocks noChangeArrowheads="1"/>
              </p:cNvSpPr>
              <p:nvPr/>
            </p:nvSpPr>
            <p:spPr bwMode="auto">
              <a:xfrm>
                <a:off x="1675" y="642"/>
                <a:ext cx="6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en-US" sz="1100">
                    <a:solidFill>
                      <a:srgbClr val="000000"/>
                    </a:solidFill>
                    <a:latin typeface="Courier New" pitchFamily="49" charset="0"/>
                  </a:rPr>
                  <a:t># demo-h2.ys</a:t>
                </a:r>
                <a:endParaRPr lang="en-US"/>
              </a:p>
            </p:txBody>
          </p:sp>
          <p:sp>
            <p:nvSpPr>
              <p:cNvPr id="448911" name="Rectangle 399"/>
              <p:cNvSpPr>
                <a:spLocks noChangeArrowheads="1"/>
              </p:cNvSpPr>
              <p:nvPr/>
            </p:nvSpPr>
            <p:spPr bwMode="auto">
              <a:xfrm>
                <a:off x="3811" y="1881"/>
                <a:ext cx="960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12" name="Rectangle 400"/>
              <p:cNvSpPr>
                <a:spLocks noChangeArrowheads="1"/>
              </p:cNvSpPr>
              <p:nvPr/>
            </p:nvSpPr>
            <p:spPr bwMode="auto">
              <a:xfrm>
                <a:off x="4143" y="1911"/>
                <a:ext cx="34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Cycle 6</a:t>
                </a:r>
                <a:endParaRPr lang="en-US"/>
              </a:p>
            </p:txBody>
          </p:sp>
          <p:sp>
            <p:nvSpPr>
              <p:cNvPr id="448913" name="Rectangle 401"/>
              <p:cNvSpPr>
                <a:spLocks noChangeArrowheads="1"/>
              </p:cNvSpPr>
              <p:nvPr/>
            </p:nvSpPr>
            <p:spPr bwMode="auto">
              <a:xfrm>
                <a:off x="3542" y="2073"/>
                <a:ext cx="1536" cy="500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14" name="Rectangle 402"/>
              <p:cNvSpPr>
                <a:spLocks noChangeArrowheads="1"/>
              </p:cNvSpPr>
              <p:nvPr/>
            </p:nvSpPr>
            <p:spPr bwMode="auto">
              <a:xfrm>
                <a:off x="4280" y="2106"/>
                <a:ext cx="103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48915" name="Rectangle 403"/>
              <p:cNvSpPr>
                <a:spLocks noChangeArrowheads="1"/>
              </p:cNvSpPr>
              <p:nvPr/>
            </p:nvSpPr>
            <p:spPr bwMode="auto">
              <a:xfrm>
                <a:off x="4463" y="2265"/>
                <a:ext cx="615" cy="15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16" name="Rectangle 404"/>
              <p:cNvSpPr>
                <a:spLocks noChangeArrowheads="1"/>
              </p:cNvSpPr>
              <p:nvPr/>
            </p:nvSpPr>
            <p:spPr bwMode="auto">
              <a:xfrm>
                <a:off x="4538" y="2289"/>
                <a:ext cx="8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48917" name="Rectangle 405"/>
              <p:cNvSpPr>
                <a:spLocks noChangeArrowheads="1"/>
              </p:cNvSpPr>
              <p:nvPr/>
            </p:nvSpPr>
            <p:spPr bwMode="auto">
              <a:xfrm>
                <a:off x="4634" y="2299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48918" name="Rectangle 406"/>
              <p:cNvSpPr>
                <a:spLocks noChangeArrowheads="1"/>
              </p:cNvSpPr>
              <p:nvPr/>
            </p:nvSpPr>
            <p:spPr bwMode="auto">
              <a:xfrm>
                <a:off x="4691" y="2299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48919" name="Rectangle 407"/>
              <p:cNvSpPr>
                <a:spLocks noChangeArrowheads="1"/>
              </p:cNvSpPr>
              <p:nvPr/>
            </p:nvSpPr>
            <p:spPr bwMode="auto">
              <a:xfrm>
                <a:off x="4840" y="2289"/>
                <a:ext cx="4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48920" name="Rectangle 408"/>
              <p:cNvSpPr>
                <a:spLocks noChangeArrowheads="1"/>
              </p:cNvSpPr>
              <p:nvPr/>
            </p:nvSpPr>
            <p:spPr bwMode="auto">
              <a:xfrm>
                <a:off x="4908" y="2286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48921" name="Rectangle 409"/>
              <p:cNvSpPr>
                <a:spLocks noChangeArrowheads="1"/>
              </p:cNvSpPr>
              <p:nvPr/>
            </p:nvSpPr>
            <p:spPr bwMode="auto">
              <a:xfrm>
                <a:off x="4994" y="2289"/>
                <a:ext cx="49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448922" name="Rectangle 410"/>
              <p:cNvSpPr>
                <a:spLocks noChangeArrowheads="1"/>
              </p:cNvSpPr>
              <p:nvPr/>
            </p:nvSpPr>
            <p:spPr bwMode="auto">
              <a:xfrm>
                <a:off x="3542" y="2879"/>
                <a:ext cx="1536" cy="500"/>
              </a:xfrm>
              <a:prstGeom prst="rect">
                <a:avLst/>
              </a:prstGeom>
              <a:solidFill>
                <a:srgbClr val="66CCFF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23" name="Rectangle 411"/>
              <p:cNvSpPr>
                <a:spLocks noChangeArrowheads="1"/>
              </p:cNvSpPr>
              <p:nvPr/>
            </p:nvSpPr>
            <p:spPr bwMode="auto">
              <a:xfrm>
                <a:off x="4296" y="2912"/>
                <a:ext cx="75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48924" name="Rectangle 412"/>
              <p:cNvSpPr>
                <a:spLocks noChangeArrowheads="1"/>
              </p:cNvSpPr>
              <p:nvPr/>
            </p:nvSpPr>
            <p:spPr bwMode="auto">
              <a:xfrm>
                <a:off x="4156" y="3071"/>
                <a:ext cx="922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25" name="Rectangle 413"/>
              <p:cNvSpPr>
                <a:spLocks noChangeArrowheads="1"/>
              </p:cNvSpPr>
              <p:nvPr/>
            </p:nvSpPr>
            <p:spPr bwMode="auto">
              <a:xfrm>
                <a:off x="4235" y="3097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48926" name="Rectangle 414"/>
              <p:cNvSpPr>
                <a:spLocks noChangeArrowheads="1"/>
              </p:cNvSpPr>
              <p:nvPr/>
            </p:nvSpPr>
            <p:spPr bwMode="auto">
              <a:xfrm>
                <a:off x="4445" y="3094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48927" name="Rectangle 415"/>
              <p:cNvSpPr>
                <a:spLocks noChangeArrowheads="1"/>
              </p:cNvSpPr>
              <p:nvPr/>
            </p:nvSpPr>
            <p:spPr bwMode="auto">
              <a:xfrm>
                <a:off x="4534" y="3097"/>
                <a:ext cx="8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48928" name="Rectangle 416"/>
              <p:cNvSpPr>
                <a:spLocks noChangeArrowheads="1"/>
              </p:cNvSpPr>
              <p:nvPr/>
            </p:nvSpPr>
            <p:spPr bwMode="auto">
              <a:xfrm>
                <a:off x="4630" y="3107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48929" name="Rectangle 417"/>
              <p:cNvSpPr>
                <a:spLocks noChangeArrowheads="1"/>
              </p:cNvSpPr>
              <p:nvPr/>
            </p:nvSpPr>
            <p:spPr bwMode="auto">
              <a:xfrm>
                <a:off x="4687" y="3107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48930" name="Rectangle 418"/>
              <p:cNvSpPr>
                <a:spLocks noChangeArrowheads="1"/>
              </p:cNvSpPr>
              <p:nvPr/>
            </p:nvSpPr>
            <p:spPr bwMode="auto">
              <a:xfrm>
                <a:off x="4836" y="3097"/>
                <a:ext cx="4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48931" name="Rectangle 419"/>
              <p:cNvSpPr>
                <a:spLocks noChangeArrowheads="1"/>
              </p:cNvSpPr>
              <p:nvPr/>
            </p:nvSpPr>
            <p:spPr bwMode="auto">
              <a:xfrm>
                <a:off x="4888" y="3097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32" name="Rectangle 420"/>
              <p:cNvSpPr>
                <a:spLocks noChangeArrowheads="1"/>
              </p:cNvSpPr>
              <p:nvPr/>
            </p:nvSpPr>
            <p:spPr bwMode="auto">
              <a:xfrm>
                <a:off x="4965" y="3097"/>
                <a:ext cx="9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48933" name="Rectangle 421"/>
              <p:cNvSpPr>
                <a:spLocks noChangeArrowheads="1"/>
              </p:cNvSpPr>
              <p:nvPr/>
            </p:nvSpPr>
            <p:spPr bwMode="auto">
              <a:xfrm>
                <a:off x="4235" y="3221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48934" name="Rectangle 422"/>
              <p:cNvSpPr>
                <a:spLocks noChangeArrowheads="1"/>
              </p:cNvSpPr>
              <p:nvPr/>
            </p:nvSpPr>
            <p:spPr bwMode="auto">
              <a:xfrm>
                <a:off x="4445" y="3218"/>
                <a:ext cx="78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48935" name="Rectangle 423"/>
              <p:cNvSpPr>
                <a:spLocks noChangeArrowheads="1"/>
              </p:cNvSpPr>
              <p:nvPr/>
            </p:nvSpPr>
            <p:spPr bwMode="auto">
              <a:xfrm>
                <a:off x="4535" y="3221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W_</a:t>
                </a:r>
                <a:endParaRPr lang="en-US"/>
              </a:p>
            </p:txBody>
          </p:sp>
          <p:sp>
            <p:nvSpPr>
              <p:cNvPr id="448936" name="Rectangle 424"/>
              <p:cNvSpPr>
                <a:spLocks noChangeArrowheads="1"/>
              </p:cNvSpPr>
              <p:nvPr/>
            </p:nvSpPr>
            <p:spPr bwMode="auto">
              <a:xfrm>
                <a:off x="4674" y="3221"/>
                <a:ext cx="171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48937" name="Rectangle 425"/>
              <p:cNvSpPr>
                <a:spLocks noChangeArrowheads="1"/>
              </p:cNvSpPr>
              <p:nvPr/>
            </p:nvSpPr>
            <p:spPr bwMode="auto">
              <a:xfrm>
                <a:off x="4868" y="3221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38" name="Rectangle 426"/>
              <p:cNvSpPr>
                <a:spLocks noChangeArrowheads="1"/>
              </p:cNvSpPr>
              <p:nvPr/>
            </p:nvSpPr>
            <p:spPr bwMode="auto">
              <a:xfrm>
                <a:off x="4943" y="3221"/>
                <a:ext cx="49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448939" name="Rectangle 427"/>
              <p:cNvSpPr>
                <a:spLocks noChangeArrowheads="1"/>
              </p:cNvSpPr>
              <p:nvPr/>
            </p:nvSpPr>
            <p:spPr bwMode="auto">
              <a:xfrm>
                <a:off x="4233" y="2572"/>
                <a:ext cx="130" cy="3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40" name="Rectangle 428"/>
              <p:cNvSpPr>
                <a:spLocks noChangeArrowheads="1"/>
              </p:cNvSpPr>
              <p:nvPr/>
            </p:nvSpPr>
            <p:spPr bwMode="auto">
              <a:xfrm>
                <a:off x="4302" y="2573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48941" name="Rectangle 429"/>
              <p:cNvSpPr>
                <a:spLocks noChangeArrowheads="1"/>
              </p:cNvSpPr>
              <p:nvPr/>
            </p:nvSpPr>
            <p:spPr bwMode="auto">
              <a:xfrm>
                <a:off x="4302" y="2659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48942" name="Rectangle 430"/>
              <p:cNvSpPr>
                <a:spLocks noChangeArrowheads="1"/>
              </p:cNvSpPr>
              <p:nvPr/>
            </p:nvSpPr>
            <p:spPr bwMode="auto">
              <a:xfrm>
                <a:off x="4302" y="2746"/>
                <a:ext cx="36" cy="1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48943" name="Rectangle 431"/>
              <p:cNvSpPr>
                <a:spLocks noChangeArrowheads="1"/>
              </p:cNvSpPr>
              <p:nvPr/>
            </p:nvSpPr>
            <p:spPr bwMode="auto">
              <a:xfrm>
                <a:off x="3542" y="2265"/>
                <a:ext cx="922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44" name="Rectangle 432"/>
              <p:cNvSpPr>
                <a:spLocks noChangeArrowheads="1"/>
              </p:cNvSpPr>
              <p:nvPr/>
            </p:nvSpPr>
            <p:spPr bwMode="auto">
              <a:xfrm>
                <a:off x="3618" y="2292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W_</a:t>
                </a:r>
                <a:endParaRPr lang="en-US"/>
              </a:p>
            </p:txBody>
          </p:sp>
          <p:sp>
            <p:nvSpPr>
              <p:cNvPr id="448945" name="Rectangle 433"/>
              <p:cNvSpPr>
                <a:spLocks noChangeArrowheads="1"/>
              </p:cNvSpPr>
              <p:nvPr/>
            </p:nvSpPr>
            <p:spPr bwMode="auto">
              <a:xfrm>
                <a:off x="3757" y="2292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48946" name="Rectangle 434"/>
              <p:cNvSpPr>
                <a:spLocks noChangeArrowheads="1"/>
              </p:cNvSpPr>
              <p:nvPr/>
            </p:nvSpPr>
            <p:spPr bwMode="auto">
              <a:xfrm>
                <a:off x="3957" y="2292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47" name="Rectangle 435"/>
              <p:cNvSpPr>
                <a:spLocks noChangeArrowheads="1"/>
              </p:cNvSpPr>
              <p:nvPr/>
            </p:nvSpPr>
            <p:spPr bwMode="auto">
              <a:xfrm>
                <a:off x="4037" y="2298"/>
                <a:ext cx="57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>
                    <a:solidFill>
                      <a:srgbClr val="FF0000"/>
                    </a:solidFill>
                    <a:latin typeface="Courier New" pitchFamily="49" charset="0"/>
                  </a:rPr>
                  <a:t>%</a:t>
                </a:r>
                <a:endParaRPr 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448948" name="Rectangle 436"/>
              <p:cNvSpPr>
                <a:spLocks noChangeArrowheads="1"/>
              </p:cNvSpPr>
              <p:nvPr/>
            </p:nvSpPr>
            <p:spPr bwMode="auto">
              <a:xfrm>
                <a:off x="4092" y="2298"/>
                <a:ext cx="17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dirty="0" err="1">
                    <a:solidFill>
                      <a:srgbClr val="FF0000"/>
                    </a:solidFill>
                    <a:latin typeface="Courier New" pitchFamily="49" charset="0"/>
                  </a:rPr>
                  <a:t>rax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48949" name="Rectangle 437"/>
              <p:cNvSpPr>
                <a:spLocks noChangeArrowheads="1"/>
              </p:cNvSpPr>
              <p:nvPr/>
            </p:nvSpPr>
            <p:spPr bwMode="auto">
              <a:xfrm>
                <a:off x="3618" y="2405"/>
                <a:ext cx="13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W_</a:t>
                </a:r>
                <a:endParaRPr lang="en-US"/>
              </a:p>
            </p:txBody>
          </p:sp>
          <p:sp>
            <p:nvSpPr>
              <p:cNvPr id="448950" name="Rectangle 438"/>
              <p:cNvSpPr>
                <a:spLocks noChangeArrowheads="1"/>
              </p:cNvSpPr>
              <p:nvPr/>
            </p:nvSpPr>
            <p:spPr bwMode="auto">
              <a:xfrm>
                <a:off x="3758" y="2405"/>
                <a:ext cx="1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valE </a:t>
                </a:r>
                <a:endParaRPr lang="en-US"/>
              </a:p>
            </p:txBody>
          </p:sp>
          <p:sp>
            <p:nvSpPr>
              <p:cNvPr id="448951" name="Rectangle 439"/>
              <p:cNvSpPr>
                <a:spLocks noChangeArrowheads="1"/>
              </p:cNvSpPr>
              <p:nvPr/>
            </p:nvSpPr>
            <p:spPr bwMode="auto">
              <a:xfrm>
                <a:off x="3953" y="2405"/>
                <a:ext cx="124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3</a:t>
                </a:r>
                <a:endParaRPr lang="en-US"/>
              </a:p>
            </p:txBody>
          </p:sp>
          <p:sp>
            <p:nvSpPr>
              <p:cNvPr id="448952" name="Rectangle 440"/>
              <p:cNvSpPr>
                <a:spLocks noChangeArrowheads="1"/>
              </p:cNvSpPr>
              <p:nvPr/>
            </p:nvSpPr>
            <p:spPr bwMode="auto">
              <a:xfrm>
                <a:off x="3542" y="3071"/>
                <a:ext cx="615" cy="2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953" name="Rectangle 441"/>
              <p:cNvSpPr>
                <a:spLocks noChangeArrowheads="1"/>
              </p:cNvSpPr>
              <p:nvPr/>
            </p:nvSpPr>
            <p:spPr bwMode="auto">
              <a:xfrm>
                <a:off x="3621" y="3098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srcA</a:t>
                </a:r>
                <a:endParaRPr lang="en-US"/>
              </a:p>
            </p:txBody>
          </p:sp>
          <p:sp>
            <p:nvSpPr>
              <p:cNvPr id="448954" name="Rectangle 442"/>
              <p:cNvSpPr>
                <a:spLocks noChangeArrowheads="1"/>
              </p:cNvSpPr>
              <p:nvPr/>
            </p:nvSpPr>
            <p:spPr bwMode="auto">
              <a:xfrm>
                <a:off x="3821" y="3098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55" name="Rectangle 443"/>
              <p:cNvSpPr>
                <a:spLocks noChangeArrowheads="1"/>
              </p:cNvSpPr>
              <p:nvPr/>
            </p:nvSpPr>
            <p:spPr bwMode="auto">
              <a:xfrm>
                <a:off x="3903" y="3108"/>
                <a:ext cx="53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48956" name="Rectangle 444"/>
              <p:cNvSpPr>
                <a:spLocks noChangeArrowheads="1"/>
              </p:cNvSpPr>
              <p:nvPr/>
            </p:nvSpPr>
            <p:spPr bwMode="auto">
              <a:xfrm>
                <a:off x="3961" y="3108"/>
                <a:ext cx="16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48957" name="Rectangle 445"/>
              <p:cNvSpPr>
                <a:spLocks noChangeArrowheads="1"/>
              </p:cNvSpPr>
              <p:nvPr/>
            </p:nvSpPr>
            <p:spPr bwMode="auto">
              <a:xfrm>
                <a:off x="3621" y="3205"/>
                <a:ext cx="17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srcB</a:t>
                </a:r>
                <a:endParaRPr lang="en-US"/>
              </a:p>
            </p:txBody>
          </p:sp>
          <p:sp>
            <p:nvSpPr>
              <p:cNvPr id="448958" name="Rectangle 446"/>
              <p:cNvSpPr>
                <a:spLocks noChangeArrowheads="1"/>
              </p:cNvSpPr>
              <p:nvPr/>
            </p:nvSpPr>
            <p:spPr bwMode="auto">
              <a:xfrm>
                <a:off x="3821" y="3205"/>
                <a:ext cx="7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48959" name="Rectangle 447"/>
              <p:cNvSpPr>
                <a:spLocks noChangeArrowheads="1"/>
              </p:cNvSpPr>
              <p:nvPr/>
            </p:nvSpPr>
            <p:spPr bwMode="auto">
              <a:xfrm>
                <a:off x="3901" y="3211"/>
                <a:ext cx="57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dirty="0">
                    <a:solidFill>
                      <a:srgbClr val="008000"/>
                    </a:solidFill>
                    <a:latin typeface="Courier New" pitchFamily="49" charset="0"/>
                  </a:rPr>
                  <a:t>%</a:t>
                </a:r>
                <a:endParaRPr lang="en-US" dirty="0">
                  <a:solidFill>
                    <a:srgbClr val="008000"/>
                  </a:solidFill>
                </a:endParaRPr>
              </a:p>
            </p:txBody>
          </p:sp>
          <p:sp>
            <p:nvSpPr>
              <p:cNvPr id="448960" name="Rectangle 448"/>
              <p:cNvSpPr>
                <a:spLocks noChangeArrowheads="1"/>
              </p:cNvSpPr>
              <p:nvPr/>
            </p:nvSpPr>
            <p:spPr bwMode="auto">
              <a:xfrm>
                <a:off x="3956" y="3211"/>
                <a:ext cx="170" cy="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dirty="0" err="1">
                    <a:solidFill>
                      <a:srgbClr val="008000"/>
                    </a:solidFill>
                    <a:latin typeface="Courier New" pitchFamily="49" charset="0"/>
                  </a:rPr>
                  <a:t>rax</a:t>
                </a:r>
                <a:endParaRPr lang="en-US" dirty="0">
                  <a:solidFill>
                    <a:srgbClr val="008000"/>
                  </a:solidFill>
                </a:endParaRPr>
              </a:p>
            </p:txBody>
          </p:sp>
          <p:grpSp>
            <p:nvGrpSpPr>
              <p:cNvPr id="448963" name="Group 451"/>
              <p:cNvGrpSpPr>
                <a:grpSpLocks/>
              </p:cNvGrpSpPr>
              <p:nvPr/>
            </p:nvGrpSpPr>
            <p:grpSpPr bwMode="auto">
              <a:xfrm>
                <a:off x="4463" y="2488"/>
                <a:ext cx="537" cy="583"/>
                <a:chOff x="4463" y="2488"/>
                <a:chExt cx="537" cy="583"/>
              </a:xfrm>
            </p:grpSpPr>
            <p:sp>
              <p:nvSpPr>
                <p:cNvPr id="448961" name="Freeform 449"/>
                <p:cNvSpPr>
                  <a:spLocks/>
                </p:cNvSpPr>
                <p:nvPr/>
              </p:nvSpPr>
              <p:spPr bwMode="auto">
                <a:xfrm>
                  <a:off x="4463" y="2488"/>
                  <a:ext cx="507" cy="51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"/>
                    </a:cxn>
                    <a:cxn ang="0">
                      <a:pos x="998" y="29"/>
                    </a:cxn>
                    <a:cxn ang="0">
                      <a:pos x="998" y="15"/>
                    </a:cxn>
                    <a:cxn ang="0">
                      <a:pos x="984" y="15"/>
                    </a:cxn>
                    <a:cxn ang="0">
                      <a:pos x="985" y="19"/>
                    </a:cxn>
                    <a:cxn ang="0">
                      <a:pos x="988" y="24"/>
                    </a:cxn>
                    <a:cxn ang="0">
                      <a:pos x="993" y="27"/>
                    </a:cxn>
                    <a:cxn ang="0">
                      <a:pos x="984" y="15"/>
                    </a:cxn>
                    <a:cxn ang="0">
                      <a:pos x="984" y="1022"/>
                    </a:cxn>
                    <a:cxn ang="0">
                      <a:pos x="1012" y="1022"/>
                    </a:cxn>
                    <a:cxn ang="0">
                      <a:pos x="1012" y="15"/>
                    </a:cxn>
                    <a:cxn ang="0">
                      <a:pos x="1012" y="15"/>
                    </a:cxn>
                    <a:cxn ang="0">
                      <a:pos x="1011" y="10"/>
                    </a:cxn>
                    <a:cxn ang="0">
                      <a:pos x="1008" y="5"/>
                    </a:cxn>
                    <a:cxn ang="0">
                      <a:pos x="1003" y="2"/>
                    </a:cxn>
                    <a:cxn ang="0">
                      <a:pos x="998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12" h="1022">
                      <a:moveTo>
                        <a:pt x="0" y="0"/>
                      </a:moveTo>
                      <a:lnTo>
                        <a:pt x="0" y="29"/>
                      </a:lnTo>
                      <a:lnTo>
                        <a:pt x="998" y="29"/>
                      </a:lnTo>
                      <a:lnTo>
                        <a:pt x="998" y="15"/>
                      </a:lnTo>
                      <a:lnTo>
                        <a:pt x="984" y="15"/>
                      </a:lnTo>
                      <a:lnTo>
                        <a:pt x="985" y="19"/>
                      </a:lnTo>
                      <a:lnTo>
                        <a:pt x="988" y="24"/>
                      </a:lnTo>
                      <a:lnTo>
                        <a:pt x="993" y="27"/>
                      </a:lnTo>
                      <a:lnTo>
                        <a:pt x="984" y="15"/>
                      </a:lnTo>
                      <a:lnTo>
                        <a:pt x="984" y="1022"/>
                      </a:lnTo>
                      <a:lnTo>
                        <a:pt x="1012" y="1022"/>
                      </a:lnTo>
                      <a:lnTo>
                        <a:pt x="1012" y="15"/>
                      </a:lnTo>
                      <a:lnTo>
                        <a:pt x="1012" y="15"/>
                      </a:lnTo>
                      <a:lnTo>
                        <a:pt x="1011" y="10"/>
                      </a:lnTo>
                      <a:lnTo>
                        <a:pt x="1008" y="5"/>
                      </a:lnTo>
                      <a:lnTo>
                        <a:pt x="1003" y="2"/>
                      </a:lnTo>
                      <a:lnTo>
                        <a:pt x="9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8962" name="Freeform 450"/>
                <p:cNvSpPr>
                  <a:spLocks/>
                </p:cNvSpPr>
                <p:nvPr/>
              </p:nvSpPr>
              <p:spPr bwMode="auto">
                <a:xfrm>
                  <a:off x="4926" y="2998"/>
                  <a:ext cx="74" cy="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4" y="147"/>
                    </a:cxn>
                    <a:cxn ang="0">
                      <a:pos x="149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9" h="147">
                      <a:moveTo>
                        <a:pt x="0" y="0"/>
                      </a:moveTo>
                      <a:lnTo>
                        <a:pt x="74" y="147"/>
                      </a:lnTo>
                      <a:lnTo>
                        <a:pt x="1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58935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Bypass Paths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1066800"/>
            <a:ext cx="3900487" cy="5365750"/>
          </a:xfrm>
        </p:spPr>
        <p:txBody>
          <a:bodyPr/>
          <a:lstStyle/>
          <a:p>
            <a:r>
              <a:rPr lang="en-US"/>
              <a:t>Decode Stage</a:t>
            </a:r>
          </a:p>
          <a:p>
            <a:pPr lvl="1"/>
            <a:r>
              <a:rPr lang="en-US"/>
              <a:t>Forwarding logic selects valA and valB</a:t>
            </a:r>
          </a:p>
          <a:p>
            <a:pPr lvl="1"/>
            <a:r>
              <a:rPr lang="en-US"/>
              <a:t>Normally from register file</a:t>
            </a:r>
          </a:p>
          <a:p>
            <a:pPr lvl="1"/>
            <a:r>
              <a:rPr lang="en-US"/>
              <a:t>Forwarding: get valA or valB from later pipeline stage</a:t>
            </a:r>
          </a:p>
          <a:p>
            <a:r>
              <a:rPr lang="en-US"/>
              <a:t>Forwarding Sources</a:t>
            </a:r>
          </a:p>
          <a:p>
            <a:pPr lvl="1"/>
            <a:r>
              <a:rPr lang="en-US"/>
              <a:t>Execute: valE</a:t>
            </a:r>
          </a:p>
          <a:p>
            <a:pPr lvl="1"/>
            <a:r>
              <a:rPr lang="en-US"/>
              <a:t>Memory: valE, valM</a:t>
            </a:r>
          </a:p>
          <a:p>
            <a:pPr lvl="1"/>
            <a:r>
              <a:rPr lang="en-US"/>
              <a:t>Write back: valE, valM</a:t>
            </a:r>
          </a:p>
        </p:txBody>
      </p:sp>
      <p:pic>
        <p:nvPicPr>
          <p:cNvPr id="44954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3076" y="0"/>
            <a:ext cx="4525010" cy="6845300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4454706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56523" y="69850"/>
            <a:ext cx="7581548" cy="760589"/>
          </a:xfrm>
        </p:spPr>
        <p:txBody>
          <a:bodyPr/>
          <a:lstStyle/>
          <a:p>
            <a:r>
              <a:rPr lang="en-US"/>
              <a:t>Data Forwarding Example #2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819400"/>
            <a:ext cx="3443288" cy="3384550"/>
          </a:xfrm>
        </p:spPr>
        <p:txBody>
          <a:bodyPr/>
          <a:lstStyle/>
          <a:p>
            <a:r>
              <a:rPr lang="en-US" sz="2000" dirty="0"/>
              <a:t>Register </a:t>
            </a:r>
            <a:r>
              <a:rPr lang="en-US" sz="2000" dirty="0">
                <a:latin typeface="Courier New" pitchFamily="49" charset="0"/>
              </a:rPr>
              <a:t>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  <a:p>
            <a:pPr lvl="1"/>
            <a:r>
              <a:rPr lang="en-US" sz="1800" dirty="0"/>
              <a:t>Generated by ALU during previous cycle</a:t>
            </a:r>
          </a:p>
          <a:p>
            <a:pPr lvl="1"/>
            <a:r>
              <a:rPr lang="en-US" sz="1800" dirty="0"/>
              <a:t>Forward from memory as </a:t>
            </a:r>
            <a:r>
              <a:rPr lang="en-US" sz="1800" dirty="0" err="1"/>
              <a:t>valA</a:t>
            </a:r>
            <a:endParaRPr lang="en-US" sz="1800" dirty="0"/>
          </a:p>
          <a:p>
            <a:r>
              <a:rPr lang="en-US" sz="2000" dirty="0"/>
              <a:t>Register </a:t>
            </a:r>
            <a:r>
              <a:rPr lang="en-US" sz="2000" dirty="0">
                <a:latin typeface="Courier New" pitchFamily="49" charset="0"/>
              </a:rPr>
              <a:t>%</a:t>
            </a:r>
            <a:r>
              <a:rPr lang="en-US" sz="2000" dirty="0" err="1">
                <a:latin typeface="Courier New" pitchFamily="49" charset="0"/>
              </a:rPr>
              <a:t>rax</a:t>
            </a:r>
            <a:endParaRPr lang="en-US" sz="2000" dirty="0">
              <a:latin typeface="Courier New" pitchFamily="49" charset="0"/>
            </a:endParaRPr>
          </a:p>
          <a:p>
            <a:pPr lvl="1"/>
            <a:r>
              <a:rPr lang="en-US" sz="1800" dirty="0"/>
              <a:t>Value just generated by ALU</a:t>
            </a:r>
          </a:p>
          <a:p>
            <a:pPr lvl="1"/>
            <a:r>
              <a:rPr lang="en-US" sz="1800" dirty="0"/>
              <a:t>Forward from execute as </a:t>
            </a:r>
            <a:r>
              <a:rPr lang="en-US" sz="1800" dirty="0" err="1"/>
              <a:t>valB</a:t>
            </a:r>
            <a:endParaRPr lang="en-US" sz="1800" dirty="0"/>
          </a:p>
        </p:txBody>
      </p:sp>
      <p:grpSp>
        <p:nvGrpSpPr>
          <p:cNvPr id="2" name="Group 1"/>
          <p:cNvGrpSpPr/>
          <p:nvPr/>
        </p:nvGrpSpPr>
        <p:grpSpPr>
          <a:xfrm>
            <a:off x="1822450" y="831850"/>
            <a:ext cx="6553200" cy="5334000"/>
            <a:chOff x="152400" y="76200"/>
            <a:chExt cx="6553200" cy="5334000"/>
          </a:xfrm>
        </p:grpSpPr>
        <p:sp>
          <p:nvSpPr>
            <p:cNvPr id="50" name="Rectangle 5"/>
            <p:cNvSpPr>
              <a:spLocks noChangeArrowheads="1"/>
            </p:cNvSpPr>
            <p:nvPr/>
          </p:nvSpPr>
          <p:spPr bwMode="auto">
            <a:xfrm>
              <a:off x="152400" y="4572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0x000: 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$10,%rdx</a:t>
              </a:r>
            </a:p>
          </p:txBody>
        </p:sp>
        <p:sp>
          <p:nvSpPr>
            <p:cNvPr id="51" name="Rectangle 6"/>
            <p:cNvSpPr>
              <a:spLocks noChangeArrowheads="1"/>
            </p:cNvSpPr>
            <p:nvPr/>
          </p:nvSpPr>
          <p:spPr bwMode="auto">
            <a:xfrm>
              <a:off x="30480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1</a:t>
              </a:r>
            </a:p>
          </p:txBody>
        </p: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>
              <a:off x="35052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2</a:t>
              </a:r>
            </a:p>
          </p:txBody>
        </p:sp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>
              <a:off x="39624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3</a:t>
              </a:r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44196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4</a:t>
              </a:r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48768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5</a:t>
              </a:r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53340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6</a:t>
              </a:r>
            </a:p>
          </p:txBody>
        </p:sp>
        <p:sp>
          <p:nvSpPr>
            <p:cNvPr id="57" name="Rectangle 12"/>
            <p:cNvSpPr>
              <a:spLocks noChangeArrowheads="1"/>
            </p:cNvSpPr>
            <p:nvPr/>
          </p:nvSpPr>
          <p:spPr bwMode="auto">
            <a:xfrm>
              <a:off x="57912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7</a:t>
              </a:r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6248400" y="76200"/>
              <a:ext cx="457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Helvetica" charset="0"/>
                </a:rPr>
                <a:t>8</a:t>
              </a:r>
            </a:p>
          </p:txBody>
        </p:sp>
        <p:sp>
          <p:nvSpPr>
            <p:cNvPr id="59" name="Rectangle 2"/>
            <p:cNvSpPr>
              <a:spLocks noChangeArrowheads="1"/>
            </p:cNvSpPr>
            <p:nvPr/>
          </p:nvSpPr>
          <p:spPr bwMode="auto">
            <a:xfrm>
              <a:off x="30480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F</a:t>
              </a:r>
            </a:p>
          </p:txBody>
        </p:sp>
        <p:sp>
          <p:nvSpPr>
            <p:cNvPr id="60" name="Rectangle 15"/>
            <p:cNvSpPr>
              <a:spLocks noChangeArrowheads="1"/>
            </p:cNvSpPr>
            <p:nvPr/>
          </p:nvSpPr>
          <p:spPr bwMode="auto">
            <a:xfrm>
              <a:off x="35052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61" name="Rectangle 16"/>
            <p:cNvSpPr>
              <a:spLocks noChangeArrowheads="1"/>
            </p:cNvSpPr>
            <p:nvPr/>
          </p:nvSpPr>
          <p:spPr bwMode="auto">
            <a:xfrm>
              <a:off x="39624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62" name="Rectangle 17"/>
            <p:cNvSpPr>
              <a:spLocks noChangeArrowheads="1"/>
            </p:cNvSpPr>
            <p:nvPr/>
          </p:nvSpPr>
          <p:spPr bwMode="auto">
            <a:xfrm>
              <a:off x="4419600" y="4572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63" name="Rectangle 18"/>
            <p:cNvSpPr>
              <a:spLocks noChangeArrowheads="1"/>
            </p:cNvSpPr>
            <p:nvPr/>
          </p:nvSpPr>
          <p:spPr bwMode="auto">
            <a:xfrm>
              <a:off x="53340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W</a:t>
              </a:r>
            </a:p>
          </p:txBody>
        </p:sp>
        <p:sp>
          <p:nvSpPr>
            <p:cNvPr id="64" name="Rectangle 20"/>
            <p:cNvSpPr>
              <a:spLocks noChangeArrowheads="1"/>
            </p:cNvSpPr>
            <p:nvPr/>
          </p:nvSpPr>
          <p:spPr bwMode="auto">
            <a:xfrm>
              <a:off x="152400" y="7620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0x00a: 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$3,%rax</a:t>
              </a:r>
            </a:p>
          </p:txBody>
        </p:sp>
        <p:sp>
          <p:nvSpPr>
            <p:cNvPr id="65" name="Rectangle 19"/>
            <p:cNvSpPr>
              <a:spLocks noChangeArrowheads="1"/>
            </p:cNvSpPr>
            <p:nvPr/>
          </p:nvSpPr>
          <p:spPr bwMode="auto">
            <a:xfrm>
              <a:off x="35052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F</a:t>
              </a:r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39624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4419600" y="7620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68" name="Rectangle 23"/>
            <p:cNvSpPr>
              <a:spLocks noChangeArrowheads="1"/>
            </p:cNvSpPr>
            <p:nvPr/>
          </p:nvSpPr>
          <p:spPr bwMode="auto">
            <a:xfrm>
              <a:off x="4876800" y="7620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69" name="Rectangle 24"/>
            <p:cNvSpPr>
              <a:spLocks noChangeArrowheads="1"/>
            </p:cNvSpPr>
            <p:nvPr/>
          </p:nvSpPr>
          <p:spPr bwMode="auto">
            <a:xfrm>
              <a:off x="4876800" y="4572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W</a:t>
              </a:r>
            </a:p>
          </p:txBody>
        </p:sp>
        <p:sp>
          <p:nvSpPr>
            <p:cNvPr id="70" name="Rectangle 31"/>
            <p:cNvSpPr>
              <a:spLocks noChangeArrowheads="1"/>
            </p:cNvSpPr>
            <p:nvPr/>
          </p:nvSpPr>
          <p:spPr bwMode="auto">
            <a:xfrm>
              <a:off x="39624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F</a:t>
              </a: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4419600" y="10668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72" name="Rectangle 34"/>
            <p:cNvSpPr>
              <a:spLocks noChangeArrowheads="1"/>
            </p:cNvSpPr>
            <p:nvPr/>
          </p:nvSpPr>
          <p:spPr bwMode="auto">
            <a:xfrm>
              <a:off x="48768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73" name="Rectangle 35"/>
            <p:cNvSpPr>
              <a:spLocks noChangeArrowheads="1"/>
            </p:cNvSpPr>
            <p:nvPr/>
          </p:nvSpPr>
          <p:spPr bwMode="auto">
            <a:xfrm>
              <a:off x="53340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74" name="Rectangle 36"/>
            <p:cNvSpPr>
              <a:spLocks noChangeArrowheads="1"/>
            </p:cNvSpPr>
            <p:nvPr/>
          </p:nvSpPr>
          <p:spPr bwMode="auto">
            <a:xfrm>
              <a:off x="5791200" y="10668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W</a:t>
              </a:r>
            </a:p>
          </p:txBody>
        </p:sp>
        <p:sp>
          <p:nvSpPr>
            <p:cNvPr id="75" name="Rectangle 38"/>
            <p:cNvSpPr>
              <a:spLocks noChangeArrowheads="1"/>
            </p:cNvSpPr>
            <p:nvPr/>
          </p:nvSpPr>
          <p:spPr bwMode="auto">
            <a:xfrm>
              <a:off x="152400" y="10668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0x014: 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addq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,%</a:t>
              </a: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rax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</p:txBody>
        </p:sp>
        <p:sp>
          <p:nvSpPr>
            <p:cNvPr id="76" name="Rectangle 37"/>
            <p:cNvSpPr>
              <a:spLocks noChangeArrowheads="1"/>
            </p:cNvSpPr>
            <p:nvPr/>
          </p:nvSpPr>
          <p:spPr bwMode="auto">
            <a:xfrm>
              <a:off x="4419600" y="1371600"/>
              <a:ext cx="457200" cy="304800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F</a:t>
              </a:r>
            </a:p>
          </p:txBody>
        </p:sp>
        <p:sp>
          <p:nvSpPr>
            <p:cNvPr id="77" name="Rectangle 39"/>
            <p:cNvSpPr>
              <a:spLocks noChangeArrowheads="1"/>
            </p:cNvSpPr>
            <p:nvPr/>
          </p:nvSpPr>
          <p:spPr bwMode="auto">
            <a:xfrm>
              <a:off x="48768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78" name="Rectangle 40"/>
            <p:cNvSpPr>
              <a:spLocks noChangeArrowheads="1"/>
            </p:cNvSpPr>
            <p:nvPr/>
          </p:nvSpPr>
          <p:spPr bwMode="auto">
            <a:xfrm>
              <a:off x="53340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79" name="Rectangle 41"/>
            <p:cNvSpPr>
              <a:spLocks noChangeArrowheads="1"/>
            </p:cNvSpPr>
            <p:nvPr/>
          </p:nvSpPr>
          <p:spPr bwMode="auto">
            <a:xfrm>
              <a:off x="57912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80" name="Rectangle 42"/>
            <p:cNvSpPr>
              <a:spLocks noChangeArrowheads="1"/>
            </p:cNvSpPr>
            <p:nvPr/>
          </p:nvSpPr>
          <p:spPr bwMode="auto">
            <a:xfrm>
              <a:off x="6248400" y="1371600"/>
              <a:ext cx="457200" cy="3048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W</a:t>
              </a:r>
            </a:p>
          </p:txBody>
        </p:sp>
        <p:sp>
          <p:nvSpPr>
            <p:cNvPr id="81" name="Rectangle 44"/>
            <p:cNvSpPr>
              <a:spLocks noChangeArrowheads="1"/>
            </p:cNvSpPr>
            <p:nvPr/>
          </p:nvSpPr>
          <p:spPr bwMode="auto">
            <a:xfrm>
              <a:off x="152400" y="13716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0x016: halt</a:t>
              </a:r>
            </a:p>
          </p:txBody>
        </p:sp>
        <p:sp>
          <p:nvSpPr>
            <p:cNvPr id="82" name="Rectangle 88"/>
            <p:cNvSpPr>
              <a:spLocks noChangeArrowheads="1"/>
            </p:cNvSpPr>
            <p:nvPr/>
          </p:nvSpPr>
          <p:spPr bwMode="auto">
            <a:xfrm>
              <a:off x="152400" y="152400"/>
              <a:ext cx="25908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# demo-h0.ys</a:t>
              </a:r>
            </a:p>
          </p:txBody>
        </p:sp>
        <p:sp>
          <p:nvSpPr>
            <p:cNvPr id="83" name="Line 121"/>
            <p:cNvSpPr>
              <a:spLocks noChangeShapeType="1"/>
            </p:cNvSpPr>
            <p:nvPr/>
          </p:nvSpPr>
          <p:spPr bwMode="auto">
            <a:xfrm flipH="1">
              <a:off x="3124200" y="1676400"/>
              <a:ext cx="1295400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Line 122"/>
            <p:cNvSpPr>
              <a:spLocks noChangeShapeType="1"/>
            </p:cNvSpPr>
            <p:nvPr/>
          </p:nvSpPr>
          <p:spPr bwMode="auto">
            <a:xfrm>
              <a:off x="4876800" y="1676400"/>
              <a:ext cx="1295400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Rectangle 123"/>
            <p:cNvSpPr>
              <a:spLocks noChangeArrowheads="1"/>
            </p:cNvSpPr>
            <p:nvPr/>
          </p:nvSpPr>
          <p:spPr bwMode="auto">
            <a:xfrm>
              <a:off x="3657600" y="2057400"/>
              <a:ext cx="19050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1600">
                  <a:latin typeface="Helvetica" charset="0"/>
                </a:rPr>
                <a:t>Cycle 4</a:t>
              </a:r>
            </a:p>
          </p:txBody>
        </p:sp>
        <p:sp>
          <p:nvSpPr>
            <p:cNvPr id="86" name="Rectangle 124"/>
            <p:cNvSpPr>
              <a:spLocks noChangeArrowheads="1"/>
            </p:cNvSpPr>
            <p:nvPr/>
          </p:nvSpPr>
          <p:spPr bwMode="auto">
            <a:xfrm>
              <a:off x="3124200" y="24384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</a:t>
              </a:r>
            </a:p>
          </p:txBody>
        </p:sp>
        <p:sp>
          <p:nvSpPr>
            <p:cNvPr id="87" name="Rectangle 126"/>
            <p:cNvSpPr>
              <a:spLocks noChangeArrowheads="1"/>
            </p:cNvSpPr>
            <p:nvPr/>
          </p:nvSpPr>
          <p:spPr bwMode="auto">
            <a:xfrm>
              <a:off x="3124200" y="44196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D</a:t>
              </a:r>
            </a:p>
          </p:txBody>
        </p:sp>
        <p:sp>
          <p:nvSpPr>
            <p:cNvPr id="88" name="Rectangle 127"/>
            <p:cNvSpPr>
              <a:spLocks noChangeArrowheads="1"/>
            </p:cNvSpPr>
            <p:nvPr/>
          </p:nvSpPr>
          <p:spPr bwMode="auto">
            <a:xfrm>
              <a:off x="4343400" y="48006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valA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M_valE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sym typeface="Symbol" charset="0"/>
                </a:rPr>
                <a:t>=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10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valB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e_valE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  <a:sym typeface="Symbol" charset="0"/>
                </a:rPr>
                <a:t>= </a:t>
              </a: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3</a:t>
              </a:r>
            </a:p>
          </p:txBody>
        </p:sp>
        <p:sp>
          <p:nvSpPr>
            <p:cNvPr id="89" name="Rectangle 129"/>
            <p:cNvSpPr>
              <a:spLocks noChangeArrowheads="1"/>
            </p:cNvSpPr>
            <p:nvPr/>
          </p:nvSpPr>
          <p:spPr bwMode="auto">
            <a:xfrm>
              <a:off x="3124200" y="28194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M_dstE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M_valE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10</a:t>
              </a:r>
            </a:p>
          </p:txBody>
        </p:sp>
        <p:sp>
          <p:nvSpPr>
            <p:cNvPr id="90" name="Rectangle 130"/>
            <p:cNvSpPr>
              <a:spLocks noChangeArrowheads="1"/>
            </p:cNvSpPr>
            <p:nvPr/>
          </p:nvSpPr>
          <p:spPr bwMode="auto">
            <a:xfrm>
              <a:off x="3124200" y="4800600"/>
              <a:ext cx="12192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srcA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srcB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rax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</p:txBody>
        </p:sp>
        <p:sp>
          <p:nvSpPr>
            <p:cNvPr id="91" name="Rectangle 131"/>
            <p:cNvSpPr>
              <a:spLocks noChangeArrowheads="1"/>
            </p:cNvSpPr>
            <p:nvPr/>
          </p:nvSpPr>
          <p:spPr bwMode="auto">
            <a:xfrm>
              <a:off x="3124200" y="3429000"/>
              <a:ext cx="3048000" cy="990600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</a:t>
              </a:r>
            </a:p>
          </p:txBody>
        </p:sp>
        <p:sp>
          <p:nvSpPr>
            <p:cNvPr id="92" name="Rectangle 132"/>
            <p:cNvSpPr>
              <a:spLocks noChangeArrowheads="1"/>
            </p:cNvSpPr>
            <p:nvPr/>
          </p:nvSpPr>
          <p:spPr bwMode="auto">
            <a:xfrm>
              <a:off x="3124200" y="3810000"/>
              <a:ext cx="18288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E_dstE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= </a:t>
              </a: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400" b="1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rax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e_valE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Wingdings 3" charset="0"/>
                  <a:sym typeface="Symbol" charset="0"/>
                </a:rPr>
                <a:t>f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charset="0"/>
                </a:rPr>
                <a:t> 0 + 3 = 3</a:t>
              </a:r>
            </a:p>
          </p:txBody>
        </p:sp>
        <p:sp>
          <p:nvSpPr>
            <p:cNvPr id="93" name="Freeform 133"/>
            <p:cNvSpPr>
              <a:spLocks/>
            </p:cNvSpPr>
            <p:nvPr/>
          </p:nvSpPr>
          <p:spPr bwMode="auto">
            <a:xfrm>
              <a:off x="4953000" y="3200400"/>
              <a:ext cx="1143000" cy="1600200"/>
            </a:xfrm>
            <a:custGeom>
              <a:avLst/>
              <a:gdLst>
                <a:gd name="T0" fmla="*/ 0 w 96"/>
                <a:gd name="T1" fmla="*/ 0 h 912"/>
                <a:gd name="T2" fmla="*/ 96 w 96"/>
                <a:gd name="T3" fmla="*/ 0 h 912"/>
                <a:gd name="T4" fmla="*/ 96 w 96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12">
                  <a:moveTo>
                    <a:pt x="0" y="0"/>
                  </a:moveTo>
                  <a:lnTo>
                    <a:pt x="96" y="0"/>
                  </a:lnTo>
                  <a:lnTo>
                    <a:pt x="96" y="912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Freeform 134"/>
            <p:cNvSpPr>
              <a:spLocks/>
            </p:cNvSpPr>
            <p:nvPr/>
          </p:nvSpPr>
          <p:spPr bwMode="auto">
            <a:xfrm>
              <a:off x="4953000" y="4191000"/>
              <a:ext cx="990600" cy="609600"/>
            </a:xfrm>
            <a:custGeom>
              <a:avLst/>
              <a:gdLst>
                <a:gd name="T0" fmla="*/ 0 w 96"/>
                <a:gd name="T1" fmla="*/ 0 h 912"/>
                <a:gd name="T2" fmla="*/ 96 w 96"/>
                <a:gd name="T3" fmla="*/ 0 h 912"/>
                <a:gd name="T4" fmla="*/ 96 w 96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912">
                  <a:moveTo>
                    <a:pt x="0" y="0"/>
                  </a:moveTo>
                  <a:lnTo>
                    <a:pt x="96" y="0"/>
                  </a:lnTo>
                  <a:lnTo>
                    <a:pt x="96" y="912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0988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56523" y="71261"/>
            <a:ext cx="7581548" cy="760589"/>
          </a:xfrm>
        </p:spPr>
        <p:txBody>
          <a:bodyPr/>
          <a:lstStyle/>
          <a:p>
            <a:r>
              <a:rPr lang="en-US" dirty="0"/>
              <a:t>Forwarding Priority</a:t>
            </a:r>
          </a:p>
        </p:txBody>
      </p:sp>
      <p:sp>
        <p:nvSpPr>
          <p:cNvPr id="323" name="Content Placeholder 322"/>
          <p:cNvSpPr>
            <a:spLocks noGrp="1"/>
          </p:cNvSpPr>
          <p:nvPr>
            <p:ph idx="1"/>
          </p:nvPr>
        </p:nvSpPr>
        <p:spPr>
          <a:xfrm>
            <a:off x="290513" y="3041650"/>
            <a:ext cx="3665537" cy="3390900"/>
          </a:xfrm>
        </p:spPr>
        <p:txBody>
          <a:bodyPr/>
          <a:lstStyle/>
          <a:p>
            <a:r>
              <a:rPr lang="en-US" dirty="0"/>
              <a:t>Multiple Forwarding Choices</a:t>
            </a:r>
          </a:p>
          <a:p>
            <a:pPr lvl="1"/>
            <a:r>
              <a:rPr lang="en-US" dirty="0"/>
              <a:t>Which one should have priority</a:t>
            </a:r>
          </a:p>
          <a:p>
            <a:pPr lvl="1"/>
            <a:r>
              <a:rPr lang="en-US" dirty="0"/>
              <a:t>Match serial semantics</a:t>
            </a:r>
          </a:p>
          <a:p>
            <a:pPr lvl="1"/>
            <a:r>
              <a:rPr lang="en-US" dirty="0"/>
              <a:t>Use matching value from earliest pipeline stage</a:t>
            </a:r>
          </a:p>
        </p:txBody>
      </p:sp>
      <p:grpSp>
        <p:nvGrpSpPr>
          <p:cNvPr id="249" name="Group 248"/>
          <p:cNvGrpSpPr/>
          <p:nvPr/>
        </p:nvGrpSpPr>
        <p:grpSpPr>
          <a:xfrm>
            <a:off x="603250" y="830262"/>
            <a:ext cx="7626316" cy="1906588"/>
            <a:chOff x="603250" y="762000"/>
            <a:chExt cx="7626316" cy="1906588"/>
          </a:xfrm>
        </p:grpSpPr>
        <p:sp>
          <p:nvSpPr>
            <p:cNvPr id="425221" name="Rectangle 261"/>
            <p:cNvSpPr>
              <a:spLocks noChangeArrowheads="1"/>
            </p:cNvSpPr>
            <p:nvPr/>
          </p:nvSpPr>
          <p:spPr bwMode="auto">
            <a:xfrm>
              <a:off x="603250" y="11430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2" name="Rectangle 262"/>
            <p:cNvSpPr>
              <a:spLocks noChangeArrowheads="1"/>
            </p:cNvSpPr>
            <p:nvPr/>
          </p:nvSpPr>
          <p:spPr bwMode="auto">
            <a:xfrm>
              <a:off x="800764" y="12049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$1, %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26" name="Rectangle 266"/>
            <p:cNvSpPr>
              <a:spLocks noChangeArrowheads="1"/>
            </p:cNvSpPr>
            <p:nvPr/>
          </p:nvSpPr>
          <p:spPr bwMode="auto">
            <a:xfrm>
              <a:off x="3560393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7" name="Rectangle 267"/>
            <p:cNvSpPr>
              <a:spLocks noChangeArrowheads="1"/>
            </p:cNvSpPr>
            <p:nvPr/>
          </p:nvSpPr>
          <p:spPr bwMode="auto">
            <a:xfrm>
              <a:off x="3784124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5228" name="Rectangle 268"/>
            <p:cNvSpPr>
              <a:spLocks noChangeArrowheads="1"/>
            </p:cNvSpPr>
            <p:nvPr/>
          </p:nvSpPr>
          <p:spPr bwMode="auto">
            <a:xfrm>
              <a:off x="4027311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9" name="Rectangle 269"/>
            <p:cNvSpPr>
              <a:spLocks noChangeArrowheads="1"/>
            </p:cNvSpPr>
            <p:nvPr/>
          </p:nvSpPr>
          <p:spPr bwMode="auto">
            <a:xfrm>
              <a:off x="4251042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5230" name="Rectangle 270"/>
            <p:cNvSpPr>
              <a:spLocks noChangeArrowheads="1"/>
            </p:cNvSpPr>
            <p:nvPr/>
          </p:nvSpPr>
          <p:spPr bwMode="auto">
            <a:xfrm>
              <a:off x="4494228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1" name="Rectangle 271"/>
            <p:cNvSpPr>
              <a:spLocks noChangeArrowheads="1"/>
            </p:cNvSpPr>
            <p:nvPr/>
          </p:nvSpPr>
          <p:spPr bwMode="auto">
            <a:xfrm>
              <a:off x="4717959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5232" name="Rectangle 272"/>
            <p:cNvSpPr>
              <a:spLocks noChangeArrowheads="1"/>
            </p:cNvSpPr>
            <p:nvPr/>
          </p:nvSpPr>
          <p:spPr bwMode="auto">
            <a:xfrm>
              <a:off x="4961145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3" name="Rectangle 273"/>
            <p:cNvSpPr>
              <a:spLocks noChangeArrowheads="1"/>
            </p:cNvSpPr>
            <p:nvPr/>
          </p:nvSpPr>
          <p:spPr bwMode="auto">
            <a:xfrm>
              <a:off x="5184877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5234" name="Rectangle 274"/>
            <p:cNvSpPr>
              <a:spLocks noChangeArrowheads="1"/>
            </p:cNvSpPr>
            <p:nvPr/>
          </p:nvSpPr>
          <p:spPr bwMode="auto">
            <a:xfrm>
              <a:off x="5428063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5" name="Rectangle 275"/>
            <p:cNvSpPr>
              <a:spLocks noChangeArrowheads="1"/>
            </p:cNvSpPr>
            <p:nvPr/>
          </p:nvSpPr>
          <p:spPr bwMode="auto">
            <a:xfrm>
              <a:off x="5651794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5236" name="Rectangle 276"/>
            <p:cNvSpPr>
              <a:spLocks noChangeArrowheads="1"/>
            </p:cNvSpPr>
            <p:nvPr/>
          </p:nvSpPr>
          <p:spPr bwMode="auto">
            <a:xfrm>
              <a:off x="5894980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7" name="Rectangle 277"/>
            <p:cNvSpPr>
              <a:spLocks noChangeArrowheads="1"/>
            </p:cNvSpPr>
            <p:nvPr/>
          </p:nvSpPr>
          <p:spPr bwMode="auto">
            <a:xfrm>
              <a:off x="6118711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5238" name="Rectangle 278"/>
            <p:cNvSpPr>
              <a:spLocks noChangeArrowheads="1"/>
            </p:cNvSpPr>
            <p:nvPr/>
          </p:nvSpPr>
          <p:spPr bwMode="auto">
            <a:xfrm>
              <a:off x="6361897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9" name="Rectangle 279"/>
            <p:cNvSpPr>
              <a:spLocks noChangeArrowheads="1"/>
            </p:cNvSpPr>
            <p:nvPr/>
          </p:nvSpPr>
          <p:spPr bwMode="auto">
            <a:xfrm>
              <a:off x="6585629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5240" name="Rectangle 280"/>
            <p:cNvSpPr>
              <a:spLocks noChangeArrowheads="1"/>
            </p:cNvSpPr>
            <p:nvPr/>
          </p:nvSpPr>
          <p:spPr bwMode="auto">
            <a:xfrm>
              <a:off x="6828815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1" name="Rectangle 281"/>
            <p:cNvSpPr>
              <a:spLocks noChangeArrowheads="1"/>
            </p:cNvSpPr>
            <p:nvPr/>
          </p:nvSpPr>
          <p:spPr bwMode="auto">
            <a:xfrm>
              <a:off x="7052546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5242" name="Rectangle 282"/>
            <p:cNvSpPr>
              <a:spLocks noChangeArrowheads="1"/>
            </p:cNvSpPr>
            <p:nvPr/>
          </p:nvSpPr>
          <p:spPr bwMode="auto">
            <a:xfrm>
              <a:off x="7295732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3" name="Rectangle 283"/>
            <p:cNvSpPr>
              <a:spLocks noChangeArrowheads="1"/>
            </p:cNvSpPr>
            <p:nvPr/>
          </p:nvSpPr>
          <p:spPr bwMode="auto">
            <a:xfrm>
              <a:off x="7519463" y="831850"/>
              <a:ext cx="85926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5244" name="Rectangle 284"/>
            <p:cNvSpPr>
              <a:spLocks noChangeArrowheads="1"/>
            </p:cNvSpPr>
            <p:nvPr/>
          </p:nvSpPr>
          <p:spPr bwMode="auto">
            <a:xfrm>
              <a:off x="356039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5" name="Rectangle 285"/>
            <p:cNvSpPr>
              <a:spLocks noChangeArrowheads="1"/>
            </p:cNvSpPr>
            <p:nvPr/>
          </p:nvSpPr>
          <p:spPr bwMode="auto">
            <a:xfrm>
              <a:off x="3776018" y="11874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46" name="Rectangle 286"/>
            <p:cNvSpPr>
              <a:spLocks noChangeArrowheads="1"/>
            </p:cNvSpPr>
            <p:nvPr/>
          </p:nvSpPr>
          <p:spPr bwMode="auto">
            <a:xfrm>
              <a:off x="4027311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7" name="Rectangle 287"/>
            <p:cNvSpPr>
              <a:spLocks noChangeArrowheads="1"/>
            </p:cNvSpPr>
            <p:nvPr/>
          </p:nvSpPr>
          <p:spPr bwMode="auto">
            <a:xfrm>
              <a:off x="4231587" y="11874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48" name="Rectangle 288"/>
            <p:cNvSpPr>
              <a:spLocks noChangeArrowheads="1"/>
            </p:cNvSpPr>
            <p:nvPr/>
          </p:nvSpPr>
          <p:spPr bwMode="auto">
            <a:xfrm>
              <a:off x="4494228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9" name="Rectangle 289"/>
            <p:cNvSpPr>
              <a:spLocks noChangeArrowheads="1"/>
            </p:cNvSpPr>
            <p:nvPr/>
          </p:nvSpPr>
          <p:spPr bwMode="auto">
            <a:xfrm>
              <a:off x="4703368" y="11874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50" name="Rectangle 290"/>
            <p:cNvSpPr>
              <a:spLocks noChangeArrowheads="1"/>
            </p:cNvSpPr>
            <p:nvPr/>
          </p:nvSpPr>
          <p:spPr bwMode="auto">
            <a:xfrm>
              <a:off x="4961145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1" name="Rectangle 291"/>
            <p:cNvSpPr>
              <a:spLocks noChangeArrowheads="1"/>
            </p:cNvSpPr>
            <p:nvPr/>
          </p:nvSpPr>
          <p:spPr bwMode="auto">
            <a:xfrm>
              <a:off x="5152452" y="11874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52" name="Rectangle 292"/>
            <p:cNvSpPr>
              <a:spLocks noChangeArrowheads="1"/>
            </p:cNvSpPr>
            <p:nvPr/>
          </p:nvSpPr>
          <p:spPr bwMode="auto">
            <a:xfrm>
              <a:off x="542806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3" name="Rectangle 293"/>
            <p:cNvSpPr>
              <a:spLocks noChangeArrowheads="1"/>
            </p:cNvSpPr>
            <p:nvPr/>
          </p:nvSpPr>
          <p:spPr bwMode="auto">
            <a:xfrm>
              <a:off x="5604778" y="11874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54" name="Rectangle 294"/>
            <p:cNvSpPr>
              <a:spLocks noChangeArrowheads="1"/>
            </p:cNvSpPr>
            <p:nvPr/>
          </p:nvSpPr>
          <p:spPr bwMode="auto">
            <a:xfrm>
              <a:off x="356039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5" name="Rectangle 295"/>
            <p:cNvSpPr>
              <a:spLocks noChangeArrowheads="1"/>
            </p:cNvSpPr>
            <p:nvPr/>
          </p:nvSpPr>
          <p:spPr bwMode="auto">
            <a:xfrm>
              <a:off x="3776018" y="11874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56" name="Rectangle 296"/>
            <p:cNvSpPr>
              <a:spLocks noChangeArrowheads="1"/>
            </p:cNvSpPr>
            <p:nvPr/>
          </p:nvSpPr>
          <p:spPr bwMode="auto">
            <a:xfrm>
              <a:off x="4027311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7" name="Rectangle 297"/>
            <p:cNvSpPr>
              <a:spLocks noChangeArrowheads="1"/>
            </p:cNvSpPr>
            <p:nvPr/>
          </p:nvSpPr>
          <p:spPr bwMode="auto">
            <a:xfrm>
              <a:off x="4231587" y="11874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</a:rPr>
                <a:t>D</a:t>
              </a:r>
              <a:endParaRPr lang="en-US" dirty="0"/>
            </a:p>
          </p:txBody>
        </p:sp>
        <p:sp>
          <p:nvSpPr>
            <p:cNvPr id="425258" name="Rectangle 298"/>
            <p:cNvSpPr>
              <a:spLocks noChangeArrowheads="1"/>
            </p:cNvSpPr>
            <p:nvPr/>
          </p:nvSpPr>
          <p:spPr bwMode="auto">
            <a:xfrm>
              <a:off x="4494228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9" name="Rectangle 299"/>
            <p:cNvSpPr>
              <a:spLocks noChangeArrowheads="1"/>
            </p:cNvSpPr>
            <p:nvPr/>
          </p:nvSpPr>
          <p:spPr bwMode="auto">
            <a:xfrm>
              <a:off x="4703368" y="11874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60" name="Rectangle 300"/>
            <p:cNvSpPr>
              <a:spLocks noChangeArrowheads="1"/>
            </p:cNvSpPr>
            <p:nvPr/>
          </p:nvSpPr>
          <p:spPr bwMode="auto">
            <a:xfrm>
              <a:off x="4961145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1" name="Rectangle 301"/>
            <p:cNvSpPr>
              <a:spLocks noChangeArrowheads="1"/>
            </p:cNvSpPr>
            <p:nvPr/>
          </p:nvSpPr>
          <p:spPr bwMode="auto">
            <a:xfrm>
              <a:off x="5152452" y="11874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62" name="Rectangle 302"/>
            <p:cNvSpPr>
              <a:spLocks noChangeArrowheads="1"/>
            </p:cNvSpPr>
            <p:nvPr/>
          </p:nvSpPr>
          <p:spPr bwMode="auto">
            <a:xfrm>
              <a:off x="5428063" y="11430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3" name="Rectangle 303"/>
            <p:cNvSpPr>
              <a:spLocks noChangeArrowheads="1"/>
            </p:cNvSpPr>
            <p:nvPr/>
          </p:nvSpPr>
          <p:spPr bwMode="auto">
            <a:xfrm>
              <a:off x="5604778" y="11874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64" name="Rectangle 304"/>
            <p:cNvSpPr>
              <a:spLocks noChangeArrowheads="1"/>
            </p:cNvSpPr>
            <p:nvPr/>
          </p:nvSpPr>
          <p:spPr bwMode="auto">
            <a:xfrm>
              <a:off x="603250" y="14478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5" name="Rectangle 305"/>
            <p:cNvSpPr>
              <a:spLocks noChangeArrowheads="1"/>
            </p:cNvSpPr>
            <p:nvPr/>
          </p:nvSpPr>
          <p:spPr bwMode="auto">
            <a:xfrm>
              <a:off x="800764" y="15097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$2, %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69" name="Rectangle 309"/>
            <p:cNvSpPr>
              <a:spLocks noChangeArrowheads="1"/>
            </p:cNvSpPr>
            <p:nvPr/>
          </p:nvSpPr>
          <p:spPr bwMode="auto">
            <a:xfrm>
              <a:off x="4027311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0" name="Rectangle 310"/>
            <p:cNvSpPr>
              <a:spLocks noChangeArrowheads="1"/>
            </p:cNvSpPr>
            <p:nvPr/>
          </p:nvSpPr>
          <p:spPr bwMode="auto">
            <a:xfrm>
              <a:off x="4242936" y="14922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71" name="Rectangle 311"/>
            <p:cNvSpPr>
              <a:spLocks noChangeArrowheads="1"/>
            </p:cNvSpPr>
            <p:nvPr/>
          </p:nvSpPr>
          <p:spPr bwMode="auto">
            <a:xfrm>
              <a:off x="4494228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2" name="Rectangle 312"/>
            <p:cNvSpPr>
              <a:spLocks noChangeArrowheads="1"/>
            </p:cNvSpPr>
            <p:nvPr/>
          </p:nvSpPr>
          <p:spPr bwMode="auto">
            <a:xfrm>
              <a:off x="4698504" y="14922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73" name="Rectangle 313"/>
            <p:cNvSpPr>
              <a:spLocks noChangeArrowheads="1"/>
            </p:cNvSpPr>
            <p:nvPr/>
          </p:nvSpPr>
          <p:spPr bwMode="auto">
            <a:xfrm>
              <a:off x="4961145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4" name="Rectangle 314"/>
            <p:cNvSpPr>
              <a:spLocks noChangeArrowheads="1"/>
            </p:cNvSpPr>
            <p:nvPr/>
          </p:nvSpPr>
          <p:spPr bwMode="auto">
            <a:xfrm>
              <a:off x="5170285" y="14922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75" name="Rectangle 315"/>
            <p:cNvSpPr>
              <a:spLocks noChangeArrowheads="1"/>
            </p:cNvSpPr>
            <p:nvPr/>
          </p:nvSpPr>
          <p:spPr bwMode="auto">
            <a:xfrm>
              <a:off x="5428063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6" name="Rectangle 316"/>
            <p:cNvSpPr>
              <a:spLocks noChangeArrowheads="1"/>
            </p:cNvSpPr>
            <p:nvPr/>
          </p:nvSpPr>
          <p:spPr bwMode="auto">
            <a:xfrm>
              <a:off x="5619369" y="14922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77" name="Rectangle 317"/>
            <p:cNvSpPr>
              <a:spLocks noChangeArrowheads="1"/>
            </p:cNvSpPr>
            <p:nvPr/>
          </p:nvSpPr>
          <p:spPr bwMode="auto">
            <a:xfrm>
              <a:off x="5894980" y="14478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8" name="Rectangle 318"/>
            <p:cNvSpPr>
              <a:spLocks noChangeArrowheads="1"/>
            </p:cNvSpPr>
            <p:nvPr/>
          </p:nvSpPr>
          <p:spPr bwMode="auto">
            <a:xfrm>
              <a:off x="6071695" y="14922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79" name="Rectangle 319"/>
            <p:cNvSpPr>
              <a:spLocks noChangeArrowheads="1"/>
            </p:cNvSpPr>
            <p:nvPr/>
          </p:nvSpPr>
          <p:spPr bwMode="auto">
            <a:xfrm>
              <a:off x="4027311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0" name="Rectangle 320"/>
            <p:cNvSpPr>
              <a:spLocks noChangeArrowheads="1"/>
            </p:cNvSpPr>
            <p:nvPr/>
          </p:nvSpPr>
          <p:spPr bwMode="auto">
            <a:xfrm>
              <a:off x="4242936" y="14922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81" name="Rectangle 321"/>
            <p:cNvSpPr>
              <a:spLocks noChangeArrowheads="1"/>
            </p:cNvSpPr>
            <p:nvPr/>
          </p:nvSpPr>
          <p:spPr bwMode="auto">
            <a:xfrm>
              <a:off x="4494228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2" name="Rectangle 322"/>
            <p:cNvSpPr>
              <a:spLocks noChangeArrowheads="1"/>
            </p:cNvSpPr>
            <p:nvPr/>
          </p:nvSpPr>
          <p:spPr bwMode="auto">
            <a:xfrm>
              <a:off x="4698504" y="14922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83" name="Rectangle 323"/>
            <p:cNvSpPr>
              <a:spLocks noChangeArrowheads="1"/>
            </p:cNvSpPr>
            <p:nvPr/>
          </p:nvSpPr>
          <p:spPr bwMode="auto">
            <a:xfrm>
              <a:off x="4961145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4" name="Rectangle 324"/>
            <p:cNvSpPr>
              <a:spLocks noChangeArrowheads="1"/>
            </p:cNvSpPr>
            <p:nvPr/>
          </p:nvSpPr>
          <p:spPr bwMode="auto">
            <a:xfrm>
              <a:off x="5170285" y="14922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85" name="Rectangle 325"/>
            <p:cNvSpPr>
              <a:spLocks noChangeArrowheads="1"/>
            </p:cNvSpPr>
            <p:nvPr/>
          </p:nvSpPr>
          <p:spPr bwMode="auto">
            <a:xfrm>
              <a:off x="5428063" y="14478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6" name="Rectangle 326"/>
            <p:cNvSpPr>
              <a:spLocks noChangeArrowheads="1"/>
            </p:cNvSpPr>
            <p:nvPr/>
          </p:nvSpPr>
          <p:spPr bwMode="auto">
            <a:xfrm>
              <a:off x="5619369" y="14922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87" name="Rectangle 327"/>
            <p:cNvSpPr>
              <a:spLocks noChangeArrowheads="1"/>
            </p:cNvSpPr>
            <p:nvPr/>
          </p:nvSpPr>
          <p:spPr bwMode="auto">
            <a:xfrm>
              <a:off x="5894980" y="14478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8" name="Rectangle 328"/>
            <p:cNvSpPr>
              <a:spLocks noChangeArrowheads="1"/>
            </p:cNvSpPr>
            <p:nvPr/>
          </p:nvSpPr>
          <p:spPr bwMode="auto">
            <a:xfrm>
              <a:off x="6071695" y="14922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</a:rPr>
                <a:t>W</a:t>
              </a:r>
              <a:endParaRPr lang="en-US" dirty="0"/>
            </a:p>
          </p:txBody>
        </p:sp>
        <p:sp>
          <p:nvSpPr>
            <p:cNvPr id="425289" name="Rectangle 329"/>
            <p:cNvSpPr>
              <a:spLocks noChangeArrowheads="1"/>
            </p:cNvSpPr>
            <p:nvPr/>
          </p:nvSpPr>
          <p:spPr bwMode="auto">
            <a:xfrm>
              <a:off x="603250" y="17526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0" name="Rectangle 330"/>
            <p:cNvSpPr>
              <a:spLocks noChangeArrowheads="1"/>
            </p:cNvSpPr>
            <p:nvPr/>
          </p:nvSpPr>
          <p:spPr bwMode="auto">
            <a:xfrm>
              <a:off x="800764" y="1814513"/>
              <a:ext cx="2370265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$3, %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92" name="Rectangle 332"/>
            <p:cNvSpPr>
              <a:spLocks noChangeArrowheads="1"/>
            </p:cNvSpPr>
            <p:nvPr/>
          </p:nvSpPr>
          <p:spPr bwMode="auto">
            <a:xfrm>
              <a:off x="4494228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3" name="Rectangle 333"/>
            <p:cNvSpPr>
              <a:spLocks noChangeArrowheads="1"/>
            </p:cNvSpPr>
            <p:nvPr/>
          </p:nvSpPr>
          <p:spPr bwMode="auto">
            <a:xfrm>
              <a:off x="4709853" y="17970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94" name="Rectangle 334"/>
            <p:cNvSpPr>
              <a:spLocks noChangeArrowheads="1"/>
            </p:cNvSpPr>
            <p:nvPr/>
          </p:nvSpPr>
          <p:spPr bwMode="auto">
            <a:xfrm>
              <a:off x="4961145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5" name="Rectangle 335"/>
            <p:cNvSpPr>
              <a:spLocks noChangeArrowheads="1"/>
            </p:cNvSpPr>
            <p:nvPr/>
          </p:nvSpPr>
          <p:spPr bwMode="auto">
            <a:xfrm>
              <a:off x="5165422" y="17970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96" name="Rectangle 336"/>
            <p:cNvSpPr>
              <a:spLocks noChangeArrowheads="1"/>
            </p:cNvSpPr>
            <p:nvPr/>
          </p:nvSpPr>
          <p:spPr bwMode="auto">
            <a:xfrm>
              <a:off x="5428063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7" name="Rectangle 337"/>
            <p:cNvSpPr>
              <a:spLocks noChangeArrowheads="1"/>
            </p:cNvSpPr>
            <p:nvPr/>
          </p:nvSpPr>
          <p:spPr bwMode="auto">
            <a:xfrm>
              <a:off x="5637203" y="17970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98" name="Rectangle 338"/>
            <p:cNvSpPr>
              <a:spLocks noChangeArrowheads="1"/>
            </p:cNvSpPr>
            <p:nvPr/>
          </p:nvSpPr>
          <p:spPr bwMode="auto">
            <a:xfrm>
              <a:off x="5894980" y="17526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9" name="Rectangle 339"/>
            <p:cNvSpPr>
              <a:spLocks noChangeArrowheads="1"/>
            </p:cNvSpPr>
            <p:nvPr/>
          </p:nvSpPr>
          <p:spPr bwMode="auto">
            <a:xfrm>
              <a:off x="6086286" y="17970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00" name="Rectangle 340"/>
            <p:cNvSpPr>
              <a:spLocks noChangeArrowheads="1"/>
            </p:cNvSpPr>
            <p:nvPr/>
          </p:nvSpPr>
          <p:spPr bwMode="auto">
            <a:xfrm>
              <a:off x="6361897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1" name="Rectangle 341"/>
            <p:cNvSpPr>
              <a:spLocks noChangeArrowheads="1"/>
            </p:cNvSpPr>
            <p:nvPr/>
          </p:nvSpPr>
          <p:spPr bwMode="auto">
            <a:xfrm>
              <a:off x="6538613" y="17970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02" name="Rectangle 342"/>
            <p:cNvSpPr>
              <a:spLocks noChangeArrowheads="1"/>
            </p:cNvSpPr>
            <p:nvPr/>
          </p:nvSpPr>
          <p:spPr bwMode="auto">
            <a:xfrm>
              <a:off x="4494228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3" name="Rectangle 343"/>
            <p:cNvSpPr>
              <a:spLocks noChangeArrowheads="1"/>
            </p:cNvSpPr>
            <p:nvPr/>
          </p:nvSpPr>
          <p:spPr bwMode="auto">
            <a:xfrm>
              <a:off x="4709853" y="17970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04" name="Rectangle 344"/>
            <p:cNvSpPr>
              <a:spLocks noChangeArrowheads="1"/>
            </p:cNvSpPr>
            <p:nvPr/>
          </p:nvSpPr>
          <p:spPr bwMode="auto">
            <a:xfrm>
              <a:off x="4961145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5" name="Rectangle 345"/>
            <p:cNvSpPr>
              <a:spLocks noChangeArrowheads="1"/>
            </p:cNvSpPr>
            <p:nvPr/>
          </p:nvSpPr>
          <p:spPr bwMode="auto">
            <a:xfrm>
              <a:off x="5165422" y="17970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06" name="Rectangle 346"/>
            <p:cNvSpPr>
              <a:spLocks noChangeArrowheads="1"/>
            </p:cNvSpPr>
            <p:nvPr/>
          </p:nvSpPr>
          <p:spPr bwMode="auto">
            <a:xfrm>
              <a:off x="5428063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7" name="Rectangle 347"/>
            <p:cNvSpPr>
              <a:spLocks noChangeArrowheads="1"/>
            </p:cNvSpPr>
            <p:nvPr/>
          </p:nvSpPr>
          <p:spPr bwMode="auto">
            <a:xfrm>
              <a:off x="5637203" y="17970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08" name="Rectangle 348"/>
            <p:cNvSpPr>
              <a:spLocks noChangeArrowheads="1"/>
            </p:cNvSpPr>
            <p:nvPr/>
          </p:nvSpPr>
          <p:spPr bwMode="auto">
            <a:xfrm>
              <a:off x="5894980" y="17526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9" name="Rectangle 349"/>
            <p:cNvSpPr>
              <a:spLocks noChangeArrowheads="1"/>
            </p:cNvSpPr>
            <p:nvPr/>
          </p:nvSpPr>
          <p:spPr bwMode="auto">
            <a:xfrm>
              <a:off x="6086286" y="17970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10" name="Rectangle 350"/>
            <p:cNvSpPr>
              <a:spLocks noChangeArrowheads="1"/>
            </p:cNvSpPr>
            <p:nvPr/>
          </p:nvSpPr>
          <p:spPr bwMode="auto">
            <a:xfrm>
              <a:off x="6361897" y="17526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1" name="Rectangle 351"/>
            <p:cNvSpPr>
              <a:spLocks noChangeArrowheads="1"/>
            </p:cNvSpPr>
            <p:nvPr/>
          </p:nvSpPr>
          <p:spPr bwMode="auto">
            <a:xfrm>
              <a:off x="6538613" y="17970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12" name="Rectangle 352"/>
            <p:cNvSpPr>
              <a:spLocks noChangeArrowheads="1"/>
            </p:cNvSpPr>
            <p:nvPr/>
          </p:nvSpPr>
          <p:spPr bwMode="auto">
            <a:xfrm>
              <a:off x="603250" y="20574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3" name="Rectangle 353"/>
            <p:cNvSpPr>
              <a:spLocks noChangeArrowheads="1"/>
            </p:cNvSpPr>
            <p:nvPr/>
          </p:nvSpPr>
          <p:spPr bwMode="auto">
            <a:xfrm>
              <a:off x="854127" y="2119313"/>
              <a:ext cx="2585744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0x01e: 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%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, %</a:t>
              </a:r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 </a:t>
              </a:r>
              <a:endParaRPr lang="en-US" dirty="0"/>
            </a:p>
          </p:txBody>
        </p:sp>
        <p:sp>
          <p:nvSpPr>
            <p:cNvPr id="425315" name="Rectangle 355"/>
            <p:cNvSpPr>
              <a:spLocks noChangeArrowheads="1"/>
            </p:cNvSpPr>
            <p:nvPr/>
          </p:nvSpPr>
          <p:spPr bwMode="auto">
            <a:xfrm>
              <a:off x="496114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6" name="Rectangle 356"/>
            <p:cNvSpPr>
              <a:spLocks noChangeArrowheads="1"/>
            </p:cNvSpPr>
            <p:nvPr/>
          </p:nvSpPr>
          <p:spPr bwMode="auto">
            <a:xfrm>
              <a:off x="5176770" y="21018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17" name="Rectangle 357"/>
            <p:cNvSpPr>
              <a:spLocks noChangeArrowheads="1"/>
            </p:cNvSpPr>
            <p:nvPr/>
          </p:nvSpPr>
          <p:spPr bwMode="auto">
            <a:xfrm>
              <a:off x="5428063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8" name="Rectangle 358"/>
            <p:cNvSpPr>
              <a:spLocks noChangeArrowheads="1"/>
            </p:cNvSpPr>
            <p:nvPr/>
          </p:nvSpPr>
          <p:spPr bwMode="auto">
            <a:xfrm>
              <a:off x="5632339" y="21018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19" name="Rectangle 359"/>
            <p:cNvSpPr>
              <a:spLocks noChangeArrowheads="1"/>
            </p:cNvSpPr>
            <p:nvPr/>
          </p:nvSpPr>
          <p:spPr bwMode="auto">
            <a:xfrm>
              <a:off x="5894980" y="20574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0" name="Rectangle 360"/>
            <p:cNvSpPr>
              <a:spLocks noChangeArrowheads="1"/>
            </p:cNvSpPr>
            <p:nvPr/>
          </p:nvSpPr>
          <p:spPr bwMode="auto">
            <a:xfrm>
              <a:off x="6104120" y="21018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21" name="Rectangle 361"/>
            <p:cNvSpPr>
              <a:spLocks noChangeArrowheads="1"/>
            </p:cNvSpPr>
            <p:nvPr/>
          </p:nvSpPr>
          <p:spPr bwMode="auto">
            <a:xfrm>
              <a:off x="6361897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2" name="Rectangle 362"/>
            <p:cNvSpPr>
              <a:spLocks noChangeArrowheads="1"/>
            </p:cNvSpPr>
            <p:nvPr/>
          </p:nvSpPr>
          <p:spPr bwMode="auto">
            <a:xfrm>
              <a:off x="6553204" y="21018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23" name="Rectangle 363"/>
            <p:cNvSpPr>
              <a:spLocks noChangeArrowheads="1"/>
            </p:cNvSpPr>
            <p:nvPr/>
          </p:nvSpPr>
          <p:spPr bwMode="auto">
            <a:xfrm>
              <a:off x="682881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4" name="Rectangle 364"/>
            <p:cNvSpPr>
              <a:spLocks noChangeArrowheads="1"/>
            </p:cNvSpPr>
            <p:nvPr/>
          </p:nvSpPr>
          <p:spPr bwMode="auto">
            <a:xfrm>
              <a:off x="7005530" y="21018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25" name="Rectangle 365"/>
            <p:cNvSpPr>
              <a:spLocks noChangeArrowheads="1"/>
            </p:cNvSpPr>
            <p:nvPr/>
          </p:nvSpPr>
          <p:spPr bwMode="auto">
            <a:xfrm>
              <a:off x="496114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6" name="Rectangle 366"/>
            <p:cNvSpPr>
              <a:spLocks noChangeArrowheads="1"/>
            </p:cNvSpPr>
            <p:nvPr/>
          </p:nvSpPr>
          <p:spPr bwMode="auto">
            <a:xfrm>
              <a:off x="5176770" y="21018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27" name="Rectangle 367"/>
            <p:cNvSpPr>
              <a:spLocks noChangeArrowheads="1"/>
            </p:cNvSpPr>
            <p:nvPr/>
          </p:nvSpPr>
          <p:spPr bwMode="auto">
            <a:xfrm>
              <a:off x="5428063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8" name="Rectangle 368"/>
            <p:cNvSpPr>
              <a:spLocks noChangeArrowheads="1"/>
            </p:cNvSpPr>
            <p:nvPr/>
          </p:nvSpPr>
          <p:spPr bwMode="auto">
            <a:xfrm>
              <a:off x="5632339" y="21018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29" name="Rectangle 369"/>
            <p:cNvSpPr>
              <a:spLocks noChangeArrowheads="1"/>
            </p:cNvSpPr>
            <p:nvPr/>
          </p:nvSpPr>
          <p:spPr bwMode="auto">
            <a:xfrm>
              <a:off x="5894980" y="20574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0" name="Rectangle 370"/>
            <p:cNvSpPr>
              <a:spLocks noChangeArrowheads="1"/>
            </p:cNvSpPr>
            <p:nvPr/>
          </p:nvSpPr>
          <p:spPr bwMode="auto">
            <a:xfrm>
              <a:off x="6104120" y="21018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31" name="Rectangle 371"/>
            <p:cNvSpPr>
              <a:spLocks noChangeArrowheads="1"/>
            </p:cNvSpPr>
            <p:nvPr/>
          </p:nvSpPr>
          <p:spPr bwMode="auto">
            <a:xfrm>
              <a:off x="6361897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2" name="Rectangle 372"/>
            <p:cNvSpPr>
              <a:spLocks noChangeArrowheads="1"/>
            </p:cNvSpPr>
            <p:nvPr/>
          </p:nvSpPr>
          <p:spPr bwMode="auto">
            <a:xfrm>
              <a:off x="6553204" y="21018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33" name="Rectangle 373"/>
            <p:cNvSpPr>
              <a:spLocks noChangeArrowheads="1"/>
            </p:cNvSpPr>
            <p:nvPr/>
          </p:nvSpPr>
          <p:spPr bwMode="auto">
            <a:xfrm>
              <a:off x="6828815" y="20574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4" name="Rectangle 374"/>
            <p:cNvSpPr>
              <a:spLocks noChangeArrowheads="1"/>
            </p:cNvSpPr>
            <p:nvPr/>
          </p:nvSpPr>
          <p:spPr bwMode="auto">
            <a:xfrm>
              <a:off x="7005530" y="21018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35" name="Rectangle 375"/>
            <p:cNvSpPr>
              <a:spLocks noChangeArrowheads="1"/>
            </p:cNvSpPr>
            <p:nvPr/>
          </p:nvSpPr>
          <p:spPr bwMode="auto">
            <a:xfrm>
              <a:off x="603250" y="23622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6" name="Rectangle 376"/>
            <p:cNvSpPr>
              <a:spLocks noChangeArrowheads="1"/>
            </p:cNvSpPr>
            <p:nvPr/>
          </p:nvSpPr>
          <p:spPr bwMode="auto">
            <a:xfrm>
              <a:off x="802623" y="2424113"/>
              <a:ext cx="1185133" cy="1974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0x020: halt </a:t>
              </a:r>
              <a:endParaRPr lang="en-US" dirty="0"/>
            </a:p>
          </p:txBody>
        </p:sp>
        <p:sp>
          <p:nvSpPr>
            <p:cNvPr id="425342" name="Rectangle 382"/>
            <p:cNvSpPr>
              <a:spLocks noChangeArrowheads="1"/>
            </p:cNvSpPr>
            <p:nvPr/>
          </p:nvSpPr>
          <p:spPr bwMode="auto">
            <a:xfrm>
              <a:off x="5428063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3" name="Rectangle 383"/>
            <p:cNvSpPr>
              <a:spLocks noChangeArrowheads="1"/>
            </p:cNvSpPr>
            <p:nvPr/>
          </p:nvSpPr>
          <p:spPr bwMode="auto">
            <a:xfrm>
              <a:off x="5643688" y="24066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44" name="Rectangle 384"/>
            <p:cNvSpPr>
              <a:spLocks noChangeArrowheads="1"/>
            </p:cNvSpPr>
            <p:nvPr/>
          </p:nvSpPr>
          <p:spPr bwMode="auto">
            <a:xfrm>
              <a:off x="5894980" y="23622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5" name="Rectangle 385"/>
            <p:cNvSpPr>
              <a:spLocks noChangeArrowheads="1"/>
            </p:cNvSpPr>
            <p:nvPr/>
          </p:nvSpPr>
          <p:spPr bwMode="auto">
            <a:xfrm>
              <a:off x="6099256" y="24066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46" name="Rectangle 386"/>
            <p:cNvSpPr>
              <a:spLocks noChangeArrowheads="1"/>
            </p:cNvSpPr>
            <p:nvPr/>
          </p:nvSpPr>
          <p:spPr bwMode="auto">
            <a:xfrm>
              <a:off x="6361897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7" name="Rectangle 387"/>
            <p:cNvSpPr>
              <a:spLocks noChangeArrowheads="1"/>
            </p:cNvSpPr>
            <p:nvPr/>
          </p:nvSpPr>
          <p:spPr bwMode="auto">
            <a:xfrm>
              <a:off x="6571037" y="24066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48" name="Rectangle 388"/>
            <p:cNvSpPr>
              <a:spLocks noChangeArrowheads="1"/>
            </p:cNvSpPr>
            <p:nvPr/>
          </p:nvSpPr>
          <p:spPr bwMode="auto">
            <a:xfrm>
              <a:off x="6828815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9" name="Rectangle 389"/>
            <p:cNvSpPr>
              <a:spLocks noChangeArrowheads="1"/>
            </p:cNvSpPr>
            <p:nvPr/>
          </p:nvSpPr>
          <p:spPr bwMode="auto">
            <a:xfrm>
              <a:off x="7020121" y="24066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50" name="Rectangle 390"/>
            <p:cNvSpPr>
              <a:spLocks noChangeArrowheads="1"/>
            </p:cNvSpPr>
            <p:nvPr/>
          </p:nvSpPr>
          <p:spPr bwMode="auto">
            <a:xfrm>
              <a:off x="7295732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1" name="Rectangle 391"/>
            <p:cNvSpPr>
              <a:spLocks noChangeArrowheads="1"/>
            </p:cNvSpPr>
            <p:nvPr/>
          </p:nvSpPr>
          <p:spPr bwMode="auto">
            <a:xfrm>
              <a:off x="7472447" y="24066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52" name="Rectangle 392"/>
            <p:cNvSpPr>
              <a:spLocks noChangeArrowheads="1"/>
            </p:cNvSpPr>
            <p:nvPr/>
          </p:nvSpPr>
          <p:spPr bwMode="auto">
            <a:xfrm>
              <a:off x="5428063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3" name="Rectangle 393"/>
            <p:cNvSpPr>
              <a:spLocks noChangeArrowheads="1"/>
            </p:cNvSpPr>
            <p:nvPr/>
          </p:nvSpPr>
          <p:spPr bwMode="auto">
            <a:xfrm>
              <a:off x="5643688" y="2406650"/>
              <a:ext cx="126457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54" name="Rectangle 394"/>
            <p:cNvSpPr>
              <a:spLocks noChangeArrowheads="1"/>
            </p:cNvSpPr>
            <p:nvPr/>
          </p:nvSpPr>
          <p:spPr bwMode="auto">
            <a:xfrm>
              <a:off x="5894980" y="2362200"/>
              <a:ext cx="468539" cy="30638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5" name="Rectangle 395"/>
            <p:cNvSpPr>
              <a:spLocks noChangeArrowheads="1"/>
            </p:cNvSpPr>
            <p:nvPr/>
          </p:nvSpPr>
          <p:spPr bwMode="auto">
            <a:xfrm>
              <a:off x="6099256" y="2406650"/>
              <a:ext cx="149154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56" name="Rectangle 396"/>
            <p:cNvSpPr>
              <a:spLocks noChangeArrowheads="1"/>
            </p:cNvSpPr>
            <p:nvPr/>
          </p:nvSpPr>
          <p:spPr bwMode="auto">
            <a:xfrm>
              <a:off x="6361897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7" name="Rectangle 397"/>
            <p:cNvSpPr>
              <a:spLocks noChangeArrowheads="1"/>
            </p:cNvSpPr>
            <p:nvPr/>
          </p:nvSpPr>
          <p:spPr bwMode="auto">
            <a:xfrm>
              <a:off x="6571037" y="2406650"/>
              <a:ext cx="13780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58" name="Rectangle 398"/>
            <p:cNvSpPr>
              <a:spLocks noChangeArrowheads="1"/>
            </p:cNvSpPr>
            <p:nvPr/>
          </p:nvSpPr>
          <p:spPr bwMode="auto">
            <a:xfrm>
              <a:off x="6828815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9" name="Rectangle 399"/>
            <p:cNvSpPr>
              <a:spLocks noChangeArrowheads="1"/>
            </p:cNvSpPr>
            <p:nvPr/>
          </p:nvSpPr>
          <p:spPr bwMode="auto">
            <a:xfrm>
              <a:off x="7020121" y="2406650"/>
              <a:ext cx="173473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60" name="Rectangle 400"/>
            <p:cNvSpPr>
              <a:spLocks noChangeArrowheads="1"/>
            </p:cNvSpPr>
            <p:nvPr/>
          </p:nvSpPr>
          <p:spPr bwMode="auto">
            <a:xfrm>
              <a:off x="7295732" y="2362200"/>
              <a:ext cx="468539" cy="30638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1" name="Rectangle 401"/>
            <p:cNvSpPr>
              <a:spLocks noChangeArrowheads="1"/>
            </p:cNvSpPr>
            <p:nvPr/>
          </p:nvSpPr>
          <p:spPr bwMode="auto">
            <a:xfrm>
              <a:off x="7472447" y="2406650"/>
              <a:ext cx="202655" cy="220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</a:rPr>
                <a:t>W</a:t>
              </a:r>
              <a:endParaRPr lang="en-US" dirty="0"/>
            </a:p>
          </p:txBody>
        </p:sp>
        <p:sp>
          <p:nvSpPr>
            <p:cNvPr id="425386" name="Rectangle 426"/>
            <p:cNvSpPr>
              <a:spLocks noChangeArrowheads="1"/>
            </p:cNvSpPr>
            <p:nvPr/>
          </p:nvSpPr>
          <p:spPr bwMode="auto">
            <a:xfrm>
              <a:off x="7762649" y="762000"/>
              <a:ext cx="466917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7" name="Rectangle 427"/>
            <p:cNvSpPr>
              <a:spLocks noChangeArrowheads="1"/>
            </p:cNvSpPr>
            <p:nvPr/>
          </p:nvSpPr>
          <p:spPr bwMode="auto">
            <a:xfrm>
              <a:off x="7944228" y="831850"/>
              <a:ext cx="171852" cy="165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25388" name="Rectangle 428"/>
            <p:cNvSpPr>
              <a:spLocks noChangeArrowheads="1"/>
            </p:cNvSpPr>
            <p:nvPr/>
          </p:nvSpPr>
          <p:spPr bwMode="auto">
            <a:xfrm>
              <a:off x="603250" y="838200"/>
              <a:ext cx="2645865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9" name="Rectangle 429"/>
            <p:cNvSpPr>
              <a:spLocks noChangeArrowheads="1"/>
            </p:cNvSpPr>
            <p:nvPr/>
          </p:nvSpPr>
          <p:spPr bwMode="auto">
            <a:xfrm>
              <a:off x="750783" y="892175"/>
              <a:ext cx="1974671" cy="198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000000"/>
                  </a:solidFill>
                  <a:latin typeface="Courier New" pitchFamily="49" charset="0"/>
                </a:rPr>
                <a:t># demo-</a:t>
              </a:r>
              <a:r>
                <a:rPr lang="en-US" sz="1400" dirty="0" err="1">
                  <a:solidFill>
                    <a:srgbClr val="000000"/>
                  </a:solidFill>
                  <a:latin typeface="Courier New" pitchFamily="49" charset="0"/>
                </a:rPr>
                <a:t>priority.ys</a:t>
              </a:r>
              <a:endParaRPr lang="en-US" dirty="0"/>
            </a:p>
          </p:txBody>
        </p:sp>
      </p:grpSp>
      <p:grpSp>
        <p:nvGrpSpPr>
          <p:cNvPr id="250" name="Group 249"/>
          <p:cNvGrpSpPr/>
          <p:nvPr/>
        </p:nvGrpSpPr>
        <p:grpSpPr>
          <a:xfrm>
            <a:off x="4641850" y="2735262"/>
            <a:ext cx="3616723" cy="3811588"/>
            <a:chOff x="4675939" y="2660650"/>
            <a:chExt cx="3616723" cy="3811588"/>
          </a:xfrm>
        </p:grpSpPr>
        <p:sp>
          <p:nvSpPr>
            <p:cNvPr id="425384" name="Line 424"/>
            <p:cNvSpPr>
              <a:spLocks noChangeShapeType="1"/>
            </p:cNvSpPr>
            <p:nvPr/>
          </p:nvSpPr>
          <p:spPr bwMode="auto">
            <a:xfrm flipH="1">
              <a:off x="4690549" y="2660650"/>
              <a:ext cx="778196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5" name="Line 425"/>
            <p:cNvSpPr>
              <a:spLocks noChangeShapeType="1"/>
            </p:cNvSpPr>
            <p:nvPr/>
          </p:nvSpPr>
          <p:spPr bwMode="auto">
            <a:xfrm>
              <a:off x="5935662" y="2660650"/>
              <a:ext cx="700376" cy="76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5" name="Group 274"/>
            <p:cNvGrpSpPr/>
            <p:nvPr/>
          </p:nvGrpSpPr>
          <p:grpSpPr>
            <a:xfrm>
              <a:off x="4675939" y="3422650"/>
              <a:ext cx="1947111" cy="687388"/>
              <a:chOff x="4690549" y="3422650"/>
              <a:chExt cx="1947111" cy="687388"/>
            </a:xfrm>
          </p:grpSpPr>
          <p:sp>
            <p:nvSpPr>
              <p:cNvPr id="425424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25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5426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27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28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29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30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31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32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425433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34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5435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36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37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38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39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40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41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>
                    <a:solidFill>
                      <a:srgbClr val="000000"/>
                    </a:solidFill>
                  </a:rPr>
                  <a:t>1</a:t>
                </a:r>
                <a:endParaRPr lang="en-US" dirty="0"/>
              </a:p>
            </p:txBody>
          </p:sp>
        </p:grpSp>
        <p:grpSp>
          <p:nvGrpSpPr>
            <p:cNvPr id="314" name="Group 313"/>
            <p:cNvGrpSpPr/>
            <p:nvPr/>
          </p:nvGrpSpPr>
          <p:grpSpPr>
            <a:xfrm>
              <a:off x="4675939" y="5480050"/>
              <a:ext cx="1947111" cy="992188"/>
              <a:chOff x="4690549" y="5480050"/>
              <a:chExt cx="1947111" cy="992188"/>
            </a:xfrm>
          </p:grpSpPr>
          <p:grpSp>
            <p:nvGrpSpPr>
              <p:cNvPr id="4" name="Group 459"/>
              <p:cNvGrpSpPr>
                <a:grpSpLocks/>
              </p:cNvGrpSpPr>
              <p:nvPr/>
            </p:nvGrpSpPr>
            <p:grpSpPr bwMode="auto">
              <a:xfrm>
                <a:off x="4690549" y="5480050"/>
                <a:ext cx="1947110" cy="992188"/>
                <a:chOff x="3303" y="3279"/>
                <a:chExt cx="1201" cy="625"/>
              </a:xfrm>
            </p:grpSpPr>
            <p:sp>
              <p:nvSpPr>
                <p:cNvPr id="425400" name="Rectangle 440"/>
                <p:cNvSpPr>
                  <a:spLocks noChangeArrowheads="1"/>
                </p:cNvSpPr>
                <p:nvPr/>
              </p:nvSpPr>
              <p:spPr bwMode="auto">
                <a:xfrm>
                  <a:off x="3303" y="3279"/>
                  <a:ext cx="1201" cy="625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401" name="Rectangle 441"/>
                <p:cNvSpPr>
                  <a:spLocks noChangeArrowheads="1"/>
                </p:cNvSpPr>
                <p:nvPr/>
              </p:nvSpPr>
              <p:spPr bwMode="auto">
                <a:xfrm>
                  <a:off x="3885" y="3320"/>
                  <a:ext cx="92" cy="1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600" b="0">
                      <a:solidFill>
                        <a:srgbClr val="000000"/>
                      </a:solidFill>
                    </a:rPr>
                    <a:t>D</a:t>
                  </a:r>
                  <a:endParaRPr lang="en-US"/>
                </a:p>
              </p:txBody>
            </p:sp>
            <p:sp>
              <p:nvSpPr>
                <p:cNvPr id="425402" name="Rectangle 442"/>
                <p:cNvSpPr>
                  <a:spLocks noChangeArrowheads="1"/>
                </p:cNvSpPr>
                <p:nvPr/>
              </p:nvSpPr>
              <p:spPr bwMode="auto">
                <a:xfrm>
                  <a:off x="3303" y="3519"/>
                  <a:ext cx="1201" cy="337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403" name="Rectangle 443"/>
                <p:cNvSpPr>
                  <a:spLocks noChangeArrowheads="1"/>
                </p:cNvSpPr>
                <p:nvPr/>
              </p:nvSpPr>
              <p:spPr bwMode="auto">
                <a:xfrm>
                  <a:off x="3389" y="3551"/>
                  <a:ext cx="21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valA</a:t>
                  </a:r>
                  <a:endParaRPr lang="en-US"/>
                </a:p>
              </p:txBody>
            </p:sp>
            <p:sp>
              <p:nvSpPr>
                <p:cNvPr id="425404" name="Rectangle 444"/>
                <p:cNvSpPr>
                  <a:spLocks noChangeArrowheads="1"/>
                </p:cNvSpPr>
                <p:nvPr/>
              </p:nvSpPr>
              <p:spPr bwMode="auto">
                <a:xfrm>
                  <a:off x="3656" y="3547"/>
                  <a:ext cx="100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  <a:latin typeface="Wingdings 3" pitchFamily="18" charset="2"/>
                    </a:rPr>
                    <a:t>f</a:t>
                  </a:r>
                  <a:endParaRPr lang="en-US"/>
                </a:p>
              </p:txBody>
            </p:sp>
            <p:sp>
              <p:nvSpPr>
                <p:cNvPr id="425405" name="Rectangle 445"/>
                <p:cNvSpPr>
                  <a:spLocks noChangeArrowheads="1"/>
                </p:cNvSpPr>
                <p:nvPr/>
              </p:nvSpPr>
              <p:spPr bwMode="auto">
                <a:xfrm>
                  <a:off x="3768" y="3551"/>
                  <a:ext cx="11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R[</a:t>
                  </a:r>
                  <a:endParaRPr lang="en-US"/>
                </a:p>
              </p:txBody>
            </p:sp>
            <p:sp>
              <p:nvSpPr>
                <p:cNvPr id="425406" name="Rectangle 446"/>
                <p:cNvSpPr>
                  <a:spLocks noChangeArrowheads="1"/>
                </p:cNvSpPr>
                <p:nvPr/>
              </p:nvSpPr>
              <p:spPr bwMode="auto">
                <a:xfrm>
                  <a:off x="3889" y="3563"/>
                  <a:ext cx="6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  <a:latin typeface="Courier New" pitchFamily="49" charset="0"/>
                    </a:rPr>
                    <a:t>%</a:t>
                  </a:r>
                  <a:endParaRPr lang="en-US"/>
                </a:p>
              </p:txBody>
            </p:sp>
            <p:sp>
              <p:nvSpPr>
                <p:cNvPr id="425407" name="Rectangle 447"/>
                <p:cNvSpPr>
                  <a:spLocks noChangeArrowheads="1"/>
                </p:cNvSpPr>
                <p:nvPr/>
              </p:nvSpPr>
              <p:spPr bwMode="auto">
                <a:xfrm>
                  <a:off x="3957" y="3563"/>
                  <a:ext cx="199" cy="1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 dirty="0" err="1">
                      <a:solidFill>
                        <a:srgbClr val="000000"/>
                      </a:solidFill>
                      <a:latin typeface="Courier New" pitchFamily="49" charset="0"/>
                    </a:rPr>
                    <a:t>rdx</a:t>
                  </a:r>
                  <a:endParaRPr lang="en-US" dirty="0"/>
                </a:p>
              </p:txBody>
            </p:sp>
            <p:sp>
              <p:nvSpPr>
                <p:cNvPr id="425408" name="Rectangle 448"/>
                <p:cNvSpPr>
                  <a:spLocks noChangeArrowheads="1"/>
                </p:cNvSpPr>
                <p:nvPr/>
              </p:nvSpPr>
              <p:spPr bwMode="auto">
                <a:xfrm>
                  <a:off x="4148" y="3551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] </a:t>
                  </a:r>
                  <a:endParaRPr lang="en-US"/>
                </a:p>
              </p:txBody>
            </p:sp>
            <p:sp>
              <p:nvSpPr>
                <p:cNvPr id="425409" name="Rectangle 449"/>
                <p:cNvSpPr>
                  <a:spLocks noChangeArrowheads="1"/>
                </p:cNvSpPr>
                <p:nvPr/>
              </p:nvSpPr>
              <p:spPr bwMode="auto">
                <a:xfrm>
                  <a:off x="4210" y="3551"/>
                  <a:ext cx="96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= </a:t>
                  </a:r>
                  <a:endParaRPr lang="en-US"/>
                </a:p>
              </p:txBody>
            </p:sp>
            <p:sp>
              <p:nvSpPr>
                <p:cNvPr id="425410" name="Rectangle 450"/>
                <p:cNvSpPr>
                  <a:spLocks noChangeArrowheads="1"/>
                </p:cNvSpPr>
                <p:nvPr/>
              </p:nvSpPr>
              <p:spPr bwMode="auto">
                <a:xfrm>
                  <a:off x="4306" y="3551"/>
                  <a:ext cx="124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10</a:t>
                  </a:r>
                  <a:endParaRPr lang="en-US"/>
                </a:p>
              </p:txBody>
            </p:sp>
            <p:sp>
              <p:nvSpPr>
                <p:cNvPr id="425411" name="Rectangle 451"/>
                <p:cNvSpPr>
                  <a:spLocks noChangeArrowheads="1"/>
                </p:cNvSpPr>
                <p:nvPr/>
              </p:nvSpPr>
              <p:spPr bwMode="auto">
                <a:xfrm>
                  <a:off x="3389" y="3698"/>
                  <a:ext cx="21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valB</a:t>
                  </a:r>
                  <a:endParaRPr lang="en-US"/>
                </a:p>
              </p:txBody>
            </p:sp>
            <p:sp>
              <p:nvSpPr>
                <p:cNvPr id="425412" name="Rectangle 452"/>
                <p:cNvSpPr>
                  <a:spLocks noChangeArrowheads="1"/>
                </p:cNvSpPr>
                <p:nvPr/>
              </p:nvSpPr>
              <p:spPr bwMode="auto">
                <a:xfrm>
                  <a:off x="3656" y="3694"/>
                  <a:ext cx="100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  <a:latin typeface="Wingdings 3" pitchFamily="18" charset="2"/>
                    </a:rPr>
                    <a:t>f</a:t>
                  </a:r>
                  <a:endParaRPr lang="en-US"/>
                </a:p>
              </p:txBody>
            </p:sp>
            <p:sp>
              <p:nvSpPr>
                <p:cNvPr id="425413" name="Rectangle 453"/>
                <p:cNvSpPr>
                  <a:spLocks noChangeArrowheads="1"/>
                </p:cNvSpPr>
                <p:nvPr/>
              </p:nvSpPr>
              <p:spPr bwMode="auto">
                <a:xfrm>
                  <a:off x="3768" y="3698"/>
                  <a:ext cx="11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R[</a:t>
                  </a:r>
                  <a:endParaRPr lang="en-US"/>
                </a:p>
              </p:txBody>
            </p:sp>
            <p:sp>
              <p:nvSpPr>
                <p:cNvPr id="425414" name="Rectangle 454"/>
                <p:cNvSpPr>
                  <a:spLocks noChangeArrowheads="1"/>
                </p:cNvSpPr>
                <p:nvPr/>
              </p:nvSpPr>
              <p:spPr bwMode="auto">
                <a:xfrm>
                  <a:off x="3889" y="3710"/>
                  <a:ext cx="67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  <a:latin typeface="Courier New" pitchFamily="49" charset="0"/>
                    </a:rPr>
                    <a:t>%</a:t>
                  </a:r>
                  <a:endParaRPr lang="en-US"/>
                </a:p>
              </p:txBody>
            </p:sp>
            <p:sp>
              <p:nvSpPr>
                <p:cNvPr id="425415" name="Rectangle 455"/>
                <p:cNvSpPr>
                  <a:spLocks noChangeArrowheads="1"/>
                </p:cNvSpPr>
                <p:nvPr/>
              </p:nvSpPr>
              <p:spPr bwMode="auto">
                <a:xfrm>
                  <a:off x="3957" y="3710"/>
                  <a:ext cx="199" cy="1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 dirty="0" err="1">
                      <a:solidFill>
                        <a:srgbClr val="000000"/>
                      </a:solidFill>
                      <a:latin typeface="Courier New" pitchFamily="49" charset="0"/>
                    </a:rPr>
                    <a:t>rax</a:t>
                  </a:r>
                  <a:endParaRPr lang="en-US" dirty="0"/>
                </a:p>
              </p:txBody>
            </p:sp>
            <p:sp>
              <p:nvSpPr>
                <p:cNvPr id="425416" name="Rectangle 456"/>
                <p:cNvSpPr>
                  <a:spLocks noChangeArrowheads="1"/>
                </p:cNvSpPr>
                <p:nvPr/>
              </p:nvSpPr>
              <p:spPr bwMode="auto">
                <a:xfrm>
                  <a:off x="4148" y="3698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] </a:t>
                  </a:r>
                  <a:endParaRPr lang="en-US"/>
                </a:p>
              </p:txBody>
            </p:sp>
            <p:sp>
              <p:nvSpPr>
                <p:cNvPr id="425417" name="Rectangle 457"/>
                <p:cNvSpPr>
                  <a:spLocks noChangeArrowheads="1"/>
                </p:cNvSpPr>
                <p:nvPr/>
              </p:nvSpPr>
              <p:spPr bwMode="auto">
                <a:xfrm>
                  <a:off x="4210" y="3698"/>
                  <a:ext cx="96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= </a:t>
                  </a:r>
                  <a:endParaRPr lang="en-US"/>
                </a:p>
              </p:txBody>
            </p:sp>
            <p:sp>
              <p:nvSpPr>
                <p:cNvPr id="425418" name="Rectangle 458"/>
                <p:cNvSpPr>
                  <a:spLocks noChangeArrowheads="1"/>
                </p:cNvSpPr>
                <p:nvPr/>
              </p:nvSpPr>
              <p:spPr bwMode="auto">
                <a:xfrm>
                  <a:off x="4306" y="3698"/>
                  <a:ext cx="62" cy="1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0">
                      <a:solidFill>
                        <a:srgbClr val="000000"/>
                      </a:solidFill>
                    </a:rPr>
                    <a:t>0</a:t>
                  </a:r>
                  <a:endParaRPr lang="en-US"/>
                </a:p>
              </p:txBody>
            </p:sp>
          </p:grpSp>
          <p:sp>
            <p:nvSpPr>
              <p:cNvPr id="425442" name="Rectangle 482"/>
              <p:cNvSpPr>
                <a:spLocks noChangeArrowheads="1"/>
              </p:cNvSpPr>
              <p:nvPr/>
            </p:nvSpPr>
            <p:spPr bwMode="auto">
              <a:xfrm>
                <a:off x="4690549" y="5480050"/>
                <a:ext cx="1947111" cy="99218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3" name="Rectangle 483"/>
              <p:cNvSpPr>
                <a:spLocks noChangeArrowheads="1"/>
              </p:cNvSpPr>
              <p:nvPr/>
            </p:nvSpPr>
            <p:spPr bwMode="auto">
              <a:xfrm>
                <a:off x="5634111" y="5545138"/>
                <a:ext cx="149154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44" name="Rectangle 484"/>
              <p:cNvSpPr>
                <a:spLocks noChangeArrowheads="1"/>
              </p:cNvSpPr>
              <p:nvPr/>
            </p:nvSpPr>
            <p:spPr bwMode="auto">
              <a:xfrm>
                <a:off x="4690549" y="5861050"/>
                <a:ext cx="1947111" cy="5349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5" name="Rectangle 485"/>
              <p:cNvSpPr>
                <a:spLocks noChangeArrowheads="1"/>
              </p:cNvSpPr>
              <p:nvPr/>
            </p:nvSpPr>
            <p:spPr bwMode="auto">
              <a:xfrm>
                <a:off x="4829976" y="5911850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46" name="Rectangle 486"/>
              <p:cNvSpPr>
                <a:spLocks noChangeArrowheads="1"/>
              </p:cNvSpPr>
              <p:nvPr/>
            </p:nvSpPr>
            <p:spPr bwMode="auto">
              <a:xfrm>
                <a:off x="5262847" y="5905500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47" name="Rectangle 487"/>
              <p:cNvSpPr>
                <a:spLocks noChangeArrowheads="1"/>
              </p:cNvSpPr>
              <p:nvPr/>
            </p:nvSpPr>
            <p:spPr bwMode="auto">
              <a:xfrm>
                <a:off x="5444426" y="5911850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48" name="Rectangle 488"/>
              <p:cNvSpPr>
                <a:spLocks noChangeArrowheads="1"/>
              </p:cNvSpPr>
              <p:nvPr/>
            </p:nvSpPr>
            <p:spPr bwMode="auto">
              <a:xfrm>
                <a:off x="5640596" y="5930900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49" name="Rectangle 489"/>
              <p:cNvSpPr>
                <a:spLocks noChangeArrowheads="1"/>
              </p:cNvSpPr>
              <p:nvPr/>
            </p:nvSpPr>
            <p:spPr bwMode="auto">
              <a:xfrm>
                <a:off x="5750544" y="5930900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50" name="Rectangle 490"/>
              <p:cNvSpPr>
                <a:spLocks noChangeArrowheads="1"/>
              </p:cNvSpPr>
              <p:nvPr/>
            </p:nvSpPr>
            <p:spPr bwMode="auto">
              <a:xfrm>
                <a:off x="6060498" y="5911850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51" name="Rectangle 491"/>
              <p:cNvSpPr>
                <a:spLocks noChangeArrowheads="1"/>
              </p:cNvSpPr>
              <p:nvPr/>
            </p:nvSpPr>
            <p:spPr bwMode="auto">
              <a:xfrm>
                <a:off x="6161015" y="5911850"/>
                <a:ext cx="15563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52" name="Rectangle 492"/>
              <p:cNvSpPr>
                <a:spLocks noChangeArrowheads="1"/>
              </p:cNvSpPr>
              <p:nvPr/>
            </p:nvSpPr>
            <p:spPr bwMode="auto">
              <a:xfrm>
                <a:off x="6316654" y="5911850"/>
                <a:ext cx="20103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53" name="Rectangle 493"/>
              <p:cNvSpPr>
                <a:spLocks noChangeArrowheads="1"/>
              </p:cNvSpPr>
              <p:nvPr/>
            </p:nvSpPr>
            <p:spPr bwMode="auto">
              <a:xfrm>
                <a:off x="4829976" y="6145213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54" name="Rectangle 494"/>
              <p:cNvSpPr>
                <a:spLocks noChangeArrowheads="1"/>
              </p:cNvSpPr>
              <p:nvPr/>
            </p:nvSpPr>
            <p:spPr bwMode="auto">
              <a:xfrm>
                <a:off x="5262847" y="6138863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55" name="Rectangle 495"/>
              <p:cNvSpPr>
                <a:spLocks noChangeArrowheads="1"/>
              </p:cNvSpPr>
              <p:nvPr/>
            </p:nvSpPr>
            <p:spPr bwMode="auto">
              <a:xfrm>
                <a:off x="5444426" y="6145213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61" name="Rectangle 501"/>
              <p:cNvSpPr>
                <a:spLocks noChangeArrowheads="1"/>
              </p:cNvSpPr>
              <p:nvPr/>
            </p:nvSpPr>
            <p:spPr bwMode="auto">
              <a:xfrm>
                <a:off x="4690549" y="5480050"/>
                <a:ext cx="1947111" cy="992188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2" name="Rectangle 502"/>
              <p:cNvSpPr>
                <a:spLocks noChangeArrowheads="1"/>
              </p:cNvSpPr>
              <p:nvPr/>
            </p:nvSpPr>
            <p:spPr bwMode="auto">
              <a:xfrm>
                <a:off x="5634111" y="5545138"/>
                <a:ext cx="149154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63" name="Rectangle 503"/>
              <p:cNvSpPr>
                <a:spLocks noChangeArrowheads="1"/>
              </p:cNvSpPr>
              <p:nvPr/>
            </p:nvSpPr>
            <p:spPr bwMode="auto">
              <a:xfrm>
                <a:off x="4690549" y="5861050"/>
                <a:ext cx="1947111" cy="5349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4" name="Rectangle 504"/>
              <p:cNvSpPr>
                <a:spLocks noChangeArrowheads="1"/>
              </p:cNvSpPr>
              <p:nvPr/>
            </p:nvSpPr>
            <p:spPr bwMode="auto">
              <a:xfrm>
                <a:off x="4829976" y="5911850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65" name="Rectangle 505"/>
              <p:cNvSpPr>
                <a:spLocks noChangeArrowheads="1"/>
              </p:cNvSpPr>
              <p:nvPr/>
            </p:nvSpPr>
            <p:spPr bwMode="auto">
              <a:xfrm>
                <a:off x="5262847" y="5905500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66" name="Rectangle 506"/>
              <p:cNvSpPr>
                <a:spLocks noChangeArrowheads="1"/>
              </p:cNvSpPr>
              <p:nvPr/>
            </p:nvSpPr>
            <p:spPr bwMode="auto">
              <a:xfrm>
                <a:off x="5444426" y="5911850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67" name="Rectangle 507"/>
              <p:cNvSpPr>
                <a:spLocks noChangeArrowheads="1"/>
              </p:cNvSpPr>
              <p:nvPr/>
            </p:nvSpPr>
            <p:spPr bwMode="auto">
              <a:xfrm>
                <a:off x="5640596" y="5930900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68" name="Rectangle 508"/>
              <p:cNvSpPr>
                <a:spLocks noChangeArrowheads="1"/>
              </p:cNvSpPr>
              <p:nvPr/>
            </p:nvSpPr>
            <p:spPr bwMode="auto">
              <a:xfrm>
                <a:off x="5748712" y="5930900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69" name="Rectangle 509"/>
              <p:cNvSpPr>
                <a:spLocks noChangeArrowheads="1"/>
              </p:cNvSpPr>
              <p:nvPr/>
            </p:nvSpPr>
            <p:spPr bwMode="auto">
              <a:xfrm>
                <a:off x="6060498" y="5911850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70" name="Rectangle 510"/>
              <p:cNvSpPr>
                <a:spLocks noChangeArrowheads="1"/>
              </p:cNvSpPr>
              <p:nvPr/>
            </p:nvSpPr>
            <p:spPr bwMode="auto">
              <a:xfrm>
                <a:off x="6161015" y="5911850"/>
                <a:ext cx="15563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71" name="Rectangle 511"/>
              <p:cNvSpPr>
                <a:spLocks noChangeArrowheads="1"/>
              </p:cNvSpPr>
              <p:nvPr/>
            </p:nvSpPr>
            <p:spPr bwMode="auto">
              <a:xfrm>
                <a:off x="6316654" y="5911850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>
                    <a:solidFill>
                      <a:srgbClr val="000000"/>
                    </a:solidFill>
                  </a:rPr>
                  <a:t>?</a:t>
                </a:r>
                <a:endParaRPr lang="en-US" dirty="0"/>
              </a:p>
            </p:txBody>
          </p:sp>
          <p:sp>
            <p:nvSpPr>
              <p:cNvPr id="425472" name="Rectangle 512"/>
              <p:cNvSpPr>
                <a:spLocks noChangeArrowheads="1"/>
              </p:cNvSpPr>
              <p:nvPr/>
            </p:nvSpPr>
            <p:spPr bwMode="auto">
              <a:xfrm>
                <a:off x="4829976" y="6145213"/>
                <a:ext cx="35180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73" name="Rectangle 513"/>
              <p:cNvSpPr>
                <a:spLocks noChangeArrowheads="1"/>
              </p:cNvSpPr>
              <p:nvPr/>
            </p:nvSpPr>
            <p:spPr bwMode="auto">
              <a:xfrm>
                <a:off x="5262847" y="6138863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74" name="Rectangle 514"/>
              <p:cNvSpPr>
                <a:spLocks noChangeArrowheads="1"/>
              </p:cNvSpPr>
              <p:nvPr/>
            </p:nvSpPr>
            <p:spPr bwMode="auto">
              <a:xfrm>
                <a:off x="5444426" y="6145213"/>
                <a:ext cx="99386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>
                    <a:solidFill>
                      <a:srgbClr val="000000"/>
                    </a:solidFill>
                  </a:rPr>
                  <a:t>0</a:t>
                </a:r>
                <a:endParaRPr lang="en-US" dirty="0"/>
              </a:p>
            </p:txBody>
          </p:sp>
        </p:grpSp>
        <p:sp>
          <p:nvSpPr>
            <p:cNvPr id="425484" name="Rectangle 524"/>
            <p:cNvSpPr>
              <a:spLocks noChangeArrowheads="1"/>
            </p:cNvSpPr>
            <p:nvPr/>
          </p:nvSpPr>
          <p:spPr bwMode="auto">
            <a:xfrm>
              <a:off x="4690549" y="3041650"/>
              <a:ext cx="1947111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85" name="Rectangle 525"/>
            <p:cNvSpPr>
              <a:spLocks noChangeArrowheads="1"/>
            </p:cNvSpPr>
            <p:nvPr/>
          </p:nvSpPr>
          <p:spPr bwMode="auto">
            <a:xfrm>
              <a:off x="5364985" y="3101975"/>
              <a:ext cx="682879" cy="2215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>
                  <a:solidFill>
                    <a:srgbClr val="000000"/>
                  </a:solidFill>
                </a:rPr>
                <a:t>Cycle 5</a:t>
              </a:r>
              <a:endParaRPr lang="en-US" dirty="0"/>
            </a:p>
          </p:txBody>
        </p:sp>
        <p:grpSp>
          <p:nvGrpSpPr>
            <p:cNvPr id="276" name="Group 275"/>
            <p:cNvGrpSpPr/>
            <p:nvPr/>
          </p:nvGrpSpPr>
          <p:grpSpPr>
            <a:xfrm>
              <a:off x="4675939" y="4106862"/>
              <a:ext cx="1947111" cy="687388"/>
              <a:chOff x="4690549" y="3422650"/>
              <a:chExt cx="1947111" cy="687388"/>
            </a:xfrm>
          </p:grpSpPr>
          <p:sp>
            <p:nvSpPr>
              <p:cNvPr id="277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279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81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82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283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84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85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286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171522" cy="2215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 dirty="0">
                    <a:solidFill>
                      <a:srgbClr val="000000"/>
                    </a:solidFill>
                  </a:rPr>
                  <a:t>M</a:t>
                </a:r>
                <a:endParaRPr lang="en-US" dirty="0"/>
              </a:p>
            </p:txBody>
          </p:sp>
          <p:sp>
            <p:nvSpPr>
              <p:cNvPr id="288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290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291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292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293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294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>
                    <a:solidFill>
                      <a:srgbClr val="000000"/>
                    </a:solidFill>
                  </a:rPr>
                  <a:t>2</a:t>
                </a:r>
                <a:endParaRPr lang="en-US" dirty="0"/>
              </a:p>
            </p:txBody>
          </p:sp>
        </p:grpSp>
        <p:grpSp>
          <p:nvGrpSpPr>
            <p:cNvPr id="295" name="Group 294"/>
            <p:cNvGrpSpPr/>
            <p:nvPr/>
          </p:nvGrpSpPr>
          <p:grpSpPr>
            <a:xfrm>
              <a:off x="4675939" y="4791074"/>
              <a:ext cx="1947111" cy="687388"/>
              <a:chOff x="4690549" y="3422650"/>
              <a:chExt cx="1947111" cy="687388"/>
            </a:xfrm>
          </p:grpSpPr>
          <p:sp>
            <p:nvSpPr>
              <p:cNvPr id="296" name="Rectangle 464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Rectangle 465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202655" cy="220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298" name="Rectangle 466"/>
              <p:cNvSpPr>
                <a:spLocks noChangeArrowheads="1"/>
              </p:cNvSpPr>
              <p:nvPr/>
            </p:nvSpPr>
            <p:spPr bwMode="auto">
              <a:xfrm>
                <a:off x="4690549" y="3803650"/>
                <a:ext cx="1947110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Rectangle 467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300" name="Rectangle 468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301" name="Rectangle 469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302" name="Rectangle 470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303" name="Rectangle 471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304" name="Rectangle 472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  <p:sp>
            <p:nvSpPr>
              <p:cNvPr id="305" name="Rectangle 473"/>
              <p:cNvSpPr>
                <a:spLocks noChangeArrowheads="1"/>
              </p:cNvSpPr>
              <p:nvPr/>
            </p:nvSpPr>
            <p:spPr bwMode="auto">
              <a:xfrm>
                <a:off x="4690549" y="3422650"/>
                <a:ext cx="1947110" cy="68580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Rectangle 474"/>
              <p:cNvSpPr>
                <a:spLocks noChangeArrowheads="1"/>
              </p:cNvSpPr>
              <p:nvPr/>
            </p:nvSpPr>
            <p:spPr bwMode="auto">
              <a:xfrm>
                <a:off x="5606550" y="3487738"/>
                <a:ext cx="136256" cy="2215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 dirty="0">
                    <a:solidFill>
                      <a:srgbClr val="000000"/>
                    </a:solidFill>
                  </a:rPr>
                  <a:t>E</a:t>
                </a:r>
                <a:endParaRPr lang="en-US" dirty="0"/>
              </a:p>
            </p:txBody>
          </p:sp>
          <p:sp>
            <p:nvSpPr>
              <p:cNvPr id="307" name="Rectangle 475"/>
              <p:cNvSpPr>
                <a:spLocks noChangeArrowheads="1"/>
              </p:cNvSpPr>
              <p:nvPr/>
            </p:nvSpPr>
            <p:spPr bwMode="auto">
              <a:xfrm>
                <a:off x="5468745" y="3803650"/>
                <a:ext cx="1168915" cy="30638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Rectangle 476"/>
              <p:cNvSpPr>
                <a:spLocks noChangeArrowheads="1"/>
              </p:cNvSpPr>
              <p:nvPr/>
            </p:nvSpPr>
            <p:spPr bwMode="auto">
              <a:xfrm>
                <a:off x="5528731" y="3851275"/>
                <a:ext cx="181579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309" name="Rectangle 477"/>
              <p:cNvSpPr>
                <a:spLocks noChangeArrowheads="1"/>
              </p:cNvSpPr>
              <p:nvPr/>
            </p:nvSpPr>
            <p:spPr bwMode="auto">
              <a:xfrm>
                <a:off x="5724901" y="3870325"/>
                <a:ext cx="108623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310" name="Rectangle 478"/>
              <p:cNvSpPr>
                <a:spLocks noChangeArrowheads="1"/>
              </p:cNvSpPr>
              <p:nvPr/>
            </p:nvSpPr>
            <p:spPr bwMode="auto">
              <a:xfrm>
                <a:off x="5834849" y="3870325"/>
                <a:ext cx="323218" cy="197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311" name="Rectangle 479"/>
              <p:cNvSpPr>
                <a:spLocks noChangeArrowheads="1"/>
              </p:cNvSpPr>
              <p:nvPr/>
            </p:nvSpPr>
            <p:spPr bwMode="auto">
              <a:xfrm>
                <a:off x="6144802" y="3851275"/>
                <a:ext cx="100517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312" name="Rectangle 480"/>
              <p:cNvSpPr>
                <a:spLocks noChangeArrowheads="1"/>
              </p:cNvSpPr>
              <p:nvPr/>
            </p:nvSpPr>
            <p:spPr bwMode="auto">
              <a:xfrm>
                <a:off x="6276123" y="3844925"/>
                <a:ext cx="162124" cy="1920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313" name="Rectangle 481"/>
              <p:cNvSpPr>
                <a:spLocks noChangeArrowheads="1"/>
              </p:cNvSpPr>
              <p:nvPr/>
            </p:nvSpPr>
            <p:spPr bwMode="auto">
              <a:xfrm>
                <a:off x="6457702" y="3851275"/>
                <a:ext cx="99387" cy="1938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>
                    <a:solidFill>
                      <a:srgbClr val="000000"/>
                    </a:solidFill>
                  </a:rPr>
                  <a:t>3</a:t>
                </a:r>
                <a:endParaRPr lang="en-US" dirty="0"/>
              </a:p>
            </p:txBody>
          </p:sp>
        </p:grpSp>
        <p:sp>
          <p:nvSpPr>
            <p:cNvPr id="320" name="Freeform 319"/>
            <p:cNvSpPr/>
            <p:nvPr/>
          </p:nvSpPr>
          <p:spPr bwMode="auto">
            <a:xfrm>
              <a:off x="6621517" y="3957144"/>
              <a:ext cx="1671145" cy="2361106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</a:endParaRPr>
            </a:p>
          </p:txBody>
        </p:sp>
        <p:sp>
          <p:nvSpPr>
            <p:cNvPr id="321" name="Freeform 320"/>
            <p:cNvSpPr/>
            <p:nvPr/>
          </p:nvSpPr>
          <p:spPr bwMode="auto">
            <a:xfrm>
              <a:off x="6623051" y="4559300"/>
              <a:ext cx="1371600" cy="1606550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</a:endParaRPr>
            </a:p>
          </p:txBody>
        </p:sp>
        <p:sp>
          <p:nvSpPr>
            <p:cNvPr id="322" name="Freeform 321"/>
            <p:cNvSpPr/>
            <p:nvPr/>
          </p:nvSpPr>
          <p:spPr bwMode="auto">
            <a:xfrm>
              <a:off x="6623050" y="5321300"/>
              <a:ext cx="685799" cy="692150"/>
            </a:xfrm>
            <a:custGeom>
              <a:avLst/>
              <a:gdLst>
                <a:gd name="connsiteX0" fmla="*/ 0 w 1671145"/>
                <a:gd name="connsiteY0" fmla="*/ 0 h 2286000"/>
                <a:gd name="connsiteX1" fmla="*/ 1324304 w 1671145"/>
                <a:gd name="connsiteY1" fmla="*/ 441434 h 2286000"/>
                <a:gd name="connsiteX2" fmla="*/ 1450428 w 1671145"/>
                <a:gd name="connsiteY2" fmla="*/ 1655379 h 2286000"/>
                <a:gd name="connsiteX3" fmla="*/ 0 w 1671145"/>
                <a:gd name="connsiteY3" fmla="*/ 2286000 h 22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1145" h="2286000">
                  <a:moveTo>
                    <a:pt x="0" y="0"/>
                  </a:moveTo>
                  <a:cubicBezTo>
                    <a:pt x="541283" y="82769"/>
                    <a:pt x="1082566" y="165538"/>
                    <a:pt x="1324304" y="441434"/>
                  </a:cubicBezTo>
                  <a:cubicBezTo>
                    <a:pt x="1566042" y="717331"/>
                    <a:pt x="1671145" y="1347951"/>
                    <a:pt x="1450428" y="1655379"/>
                  </a:cubicBezTo>
                  <a:cubicBezTo>
                    <a:pt x="1229711" y="1962807"/>
                    <a:pt x="0" y="2286000"/>
                    <a:pt x="0" y="2286000"/>
                  </a:cubicBezTo>
                </a:path>
              </a:pathLst>
            </a:custGeom>
            <a:noFill/>
            <a:ln w="31750" cap="flat" cmpd="sng" algn="ctr">
              <a:solidFill>
                <a:schemeClr val="accent4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triangle" w="lg" len="med"/>
            </a:ln>
            <a:effectLst/>
          </p:spPr>
          <p:txBody>
            <a:bodyPr vert="horz" wrap="square" lIns="45720" tIns="45720" rIns="4572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50722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0" y="76200"/>
            <a:ext cx="3622675" cy="1123950"/>
          </a:xfrm>
        </p:spPr>
        <p:txBody>
          <a:bodyPr/>
          <a:lstStyle/>
          <a:p>
            <a:pPr algn="r"/>
            <a:r>
              <a:rPr lang="en-US"/>
              <a:t>Implementing Forwarding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idx="1"/>
          </p:nvPr>
        </p:nvSpPr>
        <p:spPr>
          <a:xfrm>
            <a:off x="5029200" y="1295400"/>
            <a:ext cx="4102100" cy="5137150"/>
          </a:xfrm>
        </p:spPr>
        <p:txBody>
          <a:bodyPr/>
          <a:lstStyle/>
          <a:p>
            <a:pPr lvl="1"/>
            <a:r>
              <a:rPr lang="en-US"/>
              <a:t>Add additional feedback paths from E, M, and W pipeline registers into decode stage</a:t>
            </a:r>
          </a:p>
          <a:p>
            <a:pPr lvl="1"/>
            <a:r>
              <a:rPr lang="en-US"/>
              <a:t>Create logic blocks to select from multiple sources for valA and valB in decode stage</a:t>
            </a:r>
          </a:p>
        </p:txBody>
      </p:sp>
      <p:pic>
        <p:nvPicPr>
          <p:cNvPr id="45363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6350" y="374650"/>
            <a:ext cx="5545138" cy="598575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4669077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50" name="Rectangle 6"/>
          <p:cNvSpPr>
            <a:spLocks noGrp="1" noChangeArrowheads="1"/>
          </p:cNvSpPr>
          <p:nvPr>
            <p:ph type="title"/>
          </p:nvPr>
        </p:nvSpPr>
        <p:spPr>
          <a:xfrm>
            <a:off x="404813" y="76200"/>
            <a:ext cx="8704262" cy="779463"/>
          </a:xfrm>
        </p:spPr>
        <p:txBody>
          <a:bodyPr/>
          <a:lstStyle/>
          <a:p>
            <a:r>
              <a:rPr lang="en-US"/>
              <a:t>Implementing Forwarding</a:t>
            </a:r>
          </a:p>
        </p:txBody>
      </p:sp>
      <p:sp>
        <p:nvSpPr>
          <p:cNvPr id="466949" name="Text Box 5"/>
          <p:cNvSpPr txBox="1">
            <a:spLocks noChangeArrowheads="1"/>
          </p:cNvSpPr>
          <p:nvPr/>
        </p:nvSpPr>
        <p:spPr bwMode="auto">
          <a:xfrm>
            <a:off x="3886200" y="1066800"/>
            <a:ext cx="5245100" cy="42481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## What should be the A value?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d_valA</a:t>
            </a:r>
            <a:r>
              <a:rPr lang="en-US" sz="1600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 # Use incremented PC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D_icode</a:t>
            </a:r>
            <a:r>
              <a:rPr lang="en-US" sz="1600" dirty="0">
                <a:latin typeface="Courier New" pitchFamily="49" charset="0"/>
              </a:rPr>
              <a:t> in { ICALL, IJXX } : </a:t>
            </a:r>
            <a:r>
              <a:rPr lang="en-US" sz="1600" dirty="0" err="1">
                <a:latin typeface="Courier New" pitchFamily="49" charset="0"/>
              </a:rPr>
              <a:t>D_valP</a:t>
            </a:r>
            <a:r>
              <a:rPr lang="en-US" sz="1600" dirty="0">
                <a:latin typeface="Courier New" pitchFamily="49" charset="0"/>
              </a:rPr>
              <a:t>;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 # Forward </a:t>
            </a:r>
            <a:r>
              <a:rPr lang="en-US" sz="1600" dirty="0" err="1">
                <a:latin typeface="Courier New" pitchFamily="49" charset="0"/>
              </a:rPr>
              <a:t>valE</a:t>
            </a:r>
            <a:r>
              <a:rPr lang="en-US" sz="1600" dirty="0">
                <a:latin typeface="Courier New" pitchFamily="49" charset="0"/>
              </a:rPr>
              <a:t> from execute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dirty="0" err="1">
                <a:latin typeface="Courier New" pitchFamily="49" charset="0"/>
              </a:rPr>
              <a:t>e_dstE</a:t>
            </a:r>
            <a:r>
              <a:rPr lang="en-US" sz="1600" dirty="0">
                <a:latin typeface="Courier New" pitchFamily="49" charset="0"/>
              </a:rPr>
              <a:t> : </a:t>
            </a:r>
            <a:r>
              <a:rPr lang="en-US" sz="1600" dirty="0" err="1">
                <a:latin typeface="Courier New" pitchFamily="49" charset="0"/>
              </a:rPr>
              <a:t>e_valE</a:t>
            </a:r>
            <a:r>
              <a:rPr lang="en-US" sz="1600" dirty="0">
                <a:latin typeface="Courier New" pitchFamily="49" charset="0"/>
              </a:rPr>
              <a:t>;   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 # Forward </a:t>
            </a:r>
            <a:r>
              <a:rPr lang="en-US" sz="1600" dirty="0" err="1">
                <a:latin typeface="Courier New" pitchFamily="49" charset="0"/>
              </a:rPr>
              <a:t>valM</a:t>
            </a:r>
            <a:r>
              <a:rPr lang="en-US" sz="1600" dirty="0">
                <a:latin typeface="Courier New" pitchFamily="49" charset="0"/>
              </a:rPr>
              <a:t> from memory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dirty="0" err="1">
                <a:latin typeface="Courier New" pitchFamily="49" charset="0"/>
              </a:rPr>
              <a:t>M_dstM</a:t>
            </a:r>
            <a:r>
              <a:rPr lang="en-US" sz="1600" dirty="0">
                <a:latin typeface="Courier New" pitchFamily="49" charset="0"/>
              </a:rPr>
              <a:t> : </a:t>
            </a:r>
            <a:r>
              <a:rPr lang="en-US" sz="1600" dirty="0" err="1">
                <a:latin typeface="Courier New" pitchFamily="49" charset="0"/>
              </a:rPr>
              <a:t>m_valM</a:t>
            </a:r>
            <a:r>
              <a:rPr lang="en-US" sz="1600" dirty="0">
                <a:latin typeface="Courier New" pitchFamily="49" charset="0"/>
              </a:rPr>
              <a:t>;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 # Forward </a:t>
            </a:r>
            <a:r>
              <a:rPr lang="en-US" sz="1600" dirty="0" err="1">
                <a:latin typeface="Courier New" pitchFamily="49" charset="0"/>
              </a:rPr>
              <a:t>valE</a:t>
            </a:r>
            <a:r>
              <a:rPr lang="en-US" sz="1600" dirty="0">
                <a:latin typeface="Courier New" pitchFamily="49" charset="0"/>
              </a:rPr>
              <a:t> from memory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dirty="0" err="1">
                <a:latin typeface="Courier New" pitchFamily="49" charset="0"/>
              </a:rPr>
              <a:t>M_dstE</a:t>
            </a:r>
            <a:r>
              <a:rPr lang="en-US" sz="1600" dirty="0">
                <a:latin typeface="Courier New" pitchFamily="49" charset="0"/>
              </a:rPr>
              <a:t> : </a:t>
            </a:r>
            <a:r>
              <a:rPr lang="en-US" sz="1600" dirty="0" err="1">
                <a:latin typeface="Courier New" pitchFamily="49" charset="0"/>
              </a:rPr>
              <a:t>M_valE</a:t>
            </a:r>
            <a:r>
              <a:rPr lang="en-US" sz="1600" dirty="0">
                <a:latin typeface="Courier New" pitchFamily="49" charset="0"/>
              </a:rPr>
              <a:t>;   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 # Forward </a:t>
            </a:r>
            <a:r>
              <a:rPr lang="en-US" sz="1600" dirty="0" err="1">
                <a:latin typeface="Courier New" pitchFamily="49" charset="0"/>
              </a:rPr>
              <a:t>valM</a:t>
            </a:r>
            <a:r>
              <a:rPr lang="en-US" sz="1600" dirty="0">
                <a:latin typeface="Courier New" pitchFamily="49" charset="0"/>
              </a:rPr>
              <a:t> from write back 	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dirty="0" err="1">
                <a:latin typeface="Courier New" pitchFamily="49" charset="0"/>
              </a:rPr>
              <a:t>W_dstM</a:t>
            </a:r>
            <a:r>
              <a:rPr lang="en-US" sz="1600" dirty="0">
                <a:latin typeface="Courier New" pitchFamily="49" charset="0"/>
              </a:rPr>
              <a:t> : </a:t>
            </a:r>
            <a:r>
              <a:rPr lang="en-US" sz="1600" dirty="0" err="1">
                <a:latin typeface="Courier New" pitchFamily="49" charset="0"/>
              </a:rPr>
              <a:t>W_valM</a:t>
            </a:r>
            <a:r>
              <a:rPr lang="en-US" sz="1600" dirty="0">
                <a:latin typeface="Courier New" pitchFamily="49" charset="0"/>
              </a:rPr>
              <a:t>;   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 # Forward </a:t>
            </a:r>
            <a:r>
              <a:rPr lang="en-US" sz="1600" dirty="0" err="1">
                <a:latin typeface="Courier New" pitchFamily="49" charset="0"/>
              </a:rPr>
              <a:t>valE</a:t>
            </a:r>
            <a:r>
              <a:rPr lang="en-US" sz="1600" dirty="0">
                <a:latin typeface="Courier New" pitchFamily="49" charset="0"/>
              </a:rPr>
              <a:t> from write back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 == </a:t>
            </a:r>
            <a:r>
              <a:rPr lang="en-US" sz="1600" dirty="0" err="1">
                <a:latin typeface="Courier New" pitchFamily="49" charset="0"/>
              </a:rPr>
              <a:t>W_dstE</a:t>
            </a:r>
            <a:r>
              <a:rPr lang="en-US" sz="1600" dirty="0">
                <a:latin typeface="Courier New" pitchFamily="49" charset="0"/>
              </a:rPr>
              <a:t> : </a:t>
            </a:r>
            <a:r>
              <a:rPr lang="en-US" sz="1600" dirty="0" err="1">
                <a:latin typeface="Courier New" pitchFamily="49" charset="0"/>
              </a:rPr>
              <a:t>W_valE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 # Use value read from register file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	1 : </a:t>
            </a:r>
            <a:r>
              <a:rPr lang="en-US" sz="1600" dirty="0" err="1">
                <a:latin typeface="Courier New" pitchFamily="49" charset="0"/>
              </a:rPr>
              <a:t>d_rvalA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];</a:t>
            </a:r>
          </a:p>
        </p:txBody>
      </p:sp>
      <p:pic>
        <p:nvPicPr>
          <p:cNvPr id="466952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450" y="755650"/>
            <a:ext cx="3511366" cy="5872163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07043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952610"/>
            <a:ext cx="7207250" cy="5562489"/>
          </a:xfrm>
          <a:prstGeom prst="rect">
            <a:avLst/>
          </a:prstGeom>
        </p:spPr>
      </p:pic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76200"/>
            <a:ext cx="8704262" cy="779463"/>
          </a:xfrm>
        </p:spPr>
        <p:txBody>
          <a:bodyPr/>
          <a:lstStyle/>
          <a:p>
            <a:r>
              <a:rPr lang="en-US"/>
              <a:t>Limitation of Forwarding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879850"/>
            <a:ext cx="4357687" cy="2552700"/>
          </a:xfrm>
        </p:spPr>
        <p:txBody>
          <a:bodyPr/>
          <a:lstStyle/>
          <a:p>
            <a:r>
              <a:rPr lang="en-US" dirty="0"/>
              <a:t>Load-use dependency</a:t>
            </a:r>
          </a:p>
          <a:p>
            <a:pPr lvl="1"/>
            <a:r>
              <a:rPr lang="en-US" dirty="0"/>
              <a:t>Value needed by end of decode stage in cycle 7</a:t>
            </a:r>
          </a:p>
          <a:p>
            <a:pPr lvl="1"/>
            <a:r>
              <a:rPr lang="en-US" dirty="0"/>
              <a:t>Value read from memory in memory stage of cycle 8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2554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766162"/>
            <a:ext cx="7305726" cy="6079138"/>
          </a:xfrm>
          <a:prstGeom prst="rect">
            <a:avLst/>
          </a:prstGeom>
        </p:spPr>
      </p:pic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0"/>
            <a:ext cx="8704262" cy="779463"/>
          </a:xfrm>
        </p:spPr>
        <p:txBody>
          <a:bodyPr/>
          <a:lstStyle/>
          <a:p>
            <a:r>
              <a:rPr lang="en-US"/>
              <a:t>Avoiding Load/Use Hazard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4032250"/>
            <a:ext cx="4357687" cy="2400300"/>
          </a:xfrm>
        </p:spPr>
        <p:txBody>
          <a:bodyPr/>
          <a:lstStyle/>
          <a:p>
            <a:pPr lvl="1"/>
            <a:r>
              <a:rPr lang="en-US" dirty="0"/>
              <a:t>Stall using instruction for one cycle</a:t>
            </a:r>
          </a:p>
          <a:p>
            <a:pPr lvl="1"/>
            <a:r>
              <a:rPr lang="en-US" dirty="0"/>
              <a:t>Can then pick up loaded value by forwarding from memory stage</a:t>
            </a:r>
          </a:p>
        </p:txBody>
      </p:sp>
    </p:spTree>
    <p:extLst>
      <p:ext uri="{BB962C8B-B14F-4D97-AF65-F5344CB8AC3E}">
        <p14:creationId xmlns:p14="http://schemas.microsoft.com/office/powerpoint/2010/main" val="1532889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468" name="Rectangle 788"/>
          <p:cNvSpPr>
            <a:spLocks noGrp="1" noChangeArrowheads="1"/>
          </p:cNvSpPr>
          <p:nvPr>
            <p:ph type="title"/>
          </p:nvPr>
        </p:nvSpPr>
        <p:spPr>
          <a:xfrm>
            <a:off x="427038" y="152400"/>
            <a:ext cx="8704262" cy="779463"/>
          </a:xfrm>
        </p:spPr>
        <p:txBody>
          <a:bodyPr/>
          <a:lstStyle/>
          <a:p>
            <a:r>
              <a:rPr lang="en-US"/>
              <a:t>Detecting Load/Use Hazard</a:t>
            </a:r>
          </a:p>
        </p:txBody>
      </p:sp>
      <p:graphicFrame>
        <p:nvGraphicFramePr>
          <p:cNvPr id="456488" name="Group 808"/>
          <p:cNvGraphicFramePr>
            <a:graphicFrameLocks noGrp="1"/>
          </p:cNvGraphicFramePr>
          <p:nvPr>
            <p:extLst/>
          </p:nvPr>
        </p:nvGraphicFramePr>
        <p:xfrm>
          <a:off x="914400" y="5105400"/>
          <a:ext cx="6630988" cy="1050608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5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5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Trigger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5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E_icode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in { IMRMOVQ, IPOPQ }  &amp;&amp;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E_dstM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in {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d_srcA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,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d_srcB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56529" name="Picture 84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886655"/>
            <a:ext cx="5357813" cy="3713089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4952630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0"/>
            <a:ext cx="8704262" cy="779463"/>
          </a:xfrm>
        </p:spPr>
        <p:txBody>
          <a:bodyPr/>
          <a:lstStyle/>
          <a:p>
            <a:r>
              <a:rPr lang="en-US"/>
              <a:t>Control for Load/Use Hazard</a:t>
            </a:r>
          </a:p>
        </p:txBody>
      </p:sp>
      <p:sp>
        <p:nvSpPr>
          <p:cNvPr id="46285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352800"/>
            <a:ext cx="4357687" cy="3079750"/>
          </a:xfrm>
        </p:spPr>
        <p:txBody>
          <a:bodyPr/>
          <a:lstStyle/>
          <a:p>
            <a:pPr lvl="1"/>
            <a:r>
              <a:rPr lang="en-US"/>
              <a:t>Stall instructions in fetch and decode stages</a:t>
            </a:r>
          </a:p>
          <a:p>
            <a:pPr lvl="1"/>
            <a:r>
              <a:rPr lang="en-US"/>
              <a:t>Inject bubble into execute stage</a:t>
            </a:r>
          </a:p>
          <a:p>
            <a:pPr lvl="1"/>
            <a:endParaRPr lang="en-US"/>
          </a:p>
        </p:txBody>
      </p:sp>
      <p:grpSp>
        <p:nvGrpSpPr>
          <p:cNvPr id="463192" name="Group 344"/>
          <p:cNvGrpSpPr>
            <a:grpSpLocks/>
          </p:cNvGrpSpPr>
          <p:nvPr/>
        </p:nvGrpSpPr>
        <p:grpSpPr bwMode="auto">
          <a:xfrm>
            <a:off x="914400" y="762000"/>
            <a:ext cx="7326313" cy="2400300"/>
            <a:chOff x="576" y="432"/>
            <a:chExt cx="4615" cy="1512"/>
          </a:xfrm>
        </p:grpSpPr>
        <p:sp>
          <p:nvSpPr>
            <p:cNvPr id="462876" name="Rectangle 28"/>
            <p:cNvSpPr>
              <a:spLocks noChangeArrowheads="1"/>
            </p:cNvSpPr>
            <p:nvPr/>
          </p:nvSpPr>
          <p:spPr bwMode="auto">
            <a:xfrm>
              <a:off x="576" y="636"/>
              <a:ext cx="1388" cy="1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77" name="Rectangle 29"/>
            <p:cNvSpPr>
              <a:spLocks noChangeArrowheads="1"/>
            </p:cNvSpPr>
            <p:nvPr/>
          </p:nvSpPr>
          <p:spPr bwMode="auto">
            <a:xfrm>
              <a:off x="659" y="661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62878" name="Rectangle 30"/>
            <p:cNvSpPr>
              <a:spLocks noChangeArrowheads="1"/>
            </p:cNvSpPr>
            <p:nvPr/>
          </p:nvSpPr>
          <p:spPr bwMode="auto">
            <a:xfrm>
              <a:off x="1149" y="66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2879" name="Rectangle 31"/>
            <p:cNvSpPr>
              <a:spLocks noChangeArrowheads="1"/>
            </p:cNvSpPr>
            <p:nvPr/>
          </p:nvSpPr>
          <p:spPr bwMode="auto">
            <a:xfrm>
              <a:off x="1576" y="661"/>
              <a:ext cx="40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$128,%</a:t>
              </a:r>
              <a:endParaRPr lang="en-US"/>
            </a:p>
          </p:txBody>
        </p:sp>
        <p:sp>
          <p:nvSpPr>
            <p:cNvPr id="462880" name="Rectangle 32"/>
            <p:cNvSpPr>
              <a:spLocks noChangeArrowheads="1"/>
            </p:cNvSpPr>
            <p:nvPr/>
          </p:nvSpPr>
          <p:spPr bwMode="auto">
            <a:xfrm>
              <a:off x="1968" y="661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62881" name="Rectangle 33"/>
            <p:cNvSpPr>
              <a:spLocks noChangeArrowheads="1"/>
            </p:cNvSpPr>
            <p:nvPr/>
          </p:nvSpPr>
          <p:spPr bwMode="auto">
            <a:xfrm>
              <a:off x="225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82" name="Rectangle 34"/>
            <p:cNvSpPr>
              <a:spLocks noChangeArrowheads="1"/>
            </p:cNvSpPr>
            <p:nvPr/>
          </p:nvSpPr>
          <p:spPr bwMode="auto">
            <a:xfrm>
              <a:off x="2371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62883" name="Rectangle 35"/>
            <p:cNvSpPr>
              <a:spLocks noChangeArrowheads="1"/>
            </p:cNvSpPr>
            <p:nvPr/>
          </p:nvSpPr>
          <p:spPr bwMode="auto">
            <a:xfrm>
              <a:off x="249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84" name="Rectangle 36"/>
            <p:cNvSpPr>
              <a:spLocks noChangeArrowheads="1"/>
            </p:cNvSpPr>
            <p:nvPr/>
          </p:nvSpPr>
          <p:spPr bwMode="auto">
            <a:xfrm>
              <a:off x="2616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62885" name="Rectangle 37"/>
            <p:cNvSpPr>
              <a:spLocks noChangeArrowheads="1"/>
            </p:cNvSpPr>
            <p:nvPr/>
          </p:nvSpPr>
          <p:spPr bwMode="auto">
            <a:xfrm>
              <a:off x="274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86" name="Rectangle 38"/>
            <p:cNvSpPr>
              <a:spLocks noChangeArrowheads="1"/>
            </p:cNvSpPr>
            <p:nvPr/>
          </p:nvSpPr>
          <p:spPr bwMode="auto">
            <a:xfrm>
              <a:off x="2861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62887" name="Rectangle 39"/>
            <p:cNvSpPr>
              <a:spLocks noChangeArrowheads="1"/>
            </p:cNvSpPr>
            <p:nvPr/>
          </p:nvSpPr>
          <p:spPr bwMode="auto">
            <a:xfrm>
              <a:off x="298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88" name="Rectangle 40"/>
            <p:cNvSpPr>
              <a:spLocks noChangeArrowheads="1"/>
            </p:cNvSpPr>
            <p:nvPr/>
          </p:nvSpPr>
          <p:spPr bwMode="auto">
            <a:xfrm>
              <a:off x="3105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62889" name="Rectangle 41"/>
            <p:cNvSpPr>
              <a:spLocks noChangeArrowheads="1"/>
            </p:cNvSpPr>
            <p:nvPr/>
          </p:nvSpPr>
          <p:spPr bwMode="auto">
            <a:xfrm>
              <a:off x="323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0" name="Rectangle 42"/>
            <p:cNvSpPr>
              <a:spLocks noChangeArrowheads="1"/>
            </p:cNvSpPr>
            <p:nvPr/>
          </p:nvSpPr>
          <p:spPr bwMode="auto">
            <a:xfrm>
              <a:off x="3350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62891" name="Rectangle 43"/>
            <p:cNvSpPr>
              <a:spLocks noChangeArrowheads="1"/>
            </p:cNvSpPr>
            <p:nvPr/>
          </p:nvSpPr>
          <p:spPr bwMode="auto">
            <a:xfrm>
              <a:off x="347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2" name="Rectangle 44"/>
            <p:cNvSpPr>
              <a:spLocks noChangeArrowheads="1"/>
            </p:cNvSpPr>
            <p:nvPr/>
          </p:nvSpPr>
          <p:spPr bwMode="auto">
            <a:xfrm>
              <a:off x="3595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62893" name="Rectangle 45"/>
            <p:cNvSpPr>
              <a:spLocks noChangeArrowheads="1"/>
            </p:cNvSpPr>
            <p:nvPr/>
          </p:nvSpPr>
          <p:spPr bwMode="auto">
            <a:xfrm>
              <a:off x="372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4" name="Rectangle 46"/>
            <p:cNvSpPr>
              <a:spLocks noChangeArrowheads="1"/>
            </p:cNvSpPr>
            <p:nvPr/>
          </p:nvSpPr>
          <p:spPr bwMode="auto">
            <a:xfrm>
              <a:off x="3840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62895" name="Rectangle 47"/>
            <p:cNvSpPr>
              <a:spLocks noChangeArrowheads="1"/>
            </p:cNvSpPr>
            <p:nvPr/>
          </p:nvSpPr>
          <p:spPr bwMode="auto">
            <a:xfrm>
              <a:off x="396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6" name="Rectangle 48"/>
            <p:cNvSpPr>
              <a:spLocks noChangeArrowheads="1"/>
            </p:cNvSpPr>
            <p:nvPr/>
          </p:nvSpPr>
          <p:spPr bwMode="auto">
            <a:xfrm>
              <a:off x="4085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62897" name="Rectangle 49"/>
            <p:cNvSpPr>
              <a:spLocks noChangeArrowheads="1"/>
            </p:cNvSpPr>
            <p:nvPr/>
          </p:nvSpPr>
          <p:spPr bwMode="auto">
            <a:xfrm>
              <a:off x="421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898" name="Rectangle 50"/>
            <p:cNvSpPr>
              <a:spLocks noChangeArrowheads="1"/>
            </p:cNvSpPr>
            <p:nvPr/>
          </p:nvSpPr>
          <p:spPr bwMode="auto">
            <a:xfrm>
              <a:off x="4330" y="470"/>
              <a:ext cx="44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62899" name="Rectangle 51"/>
            <p:cNvSpPr>
              <a:spLocks noChangeArrowheads="1"/>
            </p:cNvSpPr>
            <p:nvPr/>
          </p:nvSpPr>
          <p:spPr bwMode="auto">
            <a:xfrm>
              <a:off x="225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0" name="Rectangle 52"/>
            <p:cNvSpPr>
              <a:spLocks noChangeArrowheads="1"/>
            </p:cNvSpPr>
            <p:nvPr/>
          </p:nvSpPr>
          <p:spPr bwMode="auto">
            <a:xfrm>
              <a:off x="2364" y="66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01" name="Rectangle 53"/>
            <p:cNvSpPr>
              <a:spLocks noChangeArrowheads="1"/>
            </p:cNvSpPr>
            <p:nvPr/>
          </p:nvSpPr>
          <p:spPr bwMode="auto">
            <a:xfrm>
              <a:off x="2495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2" name="Rectangle 54"/>
            <p:cNvSpPr>
              <a:spLocks noChangeArrowheads="1"/>
            </p:cNvSpPr>
            <p:nvPr/>
          </p:nvSpPr>
          <p:spPr bwMode="auto">
            <a:xfrm>
              <a:off x="2602" y="66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03" name="Rectangle 55"/>
            <p:cNvSpPr>
              <a:spLocks noChangeArrowheads="1"/>
            </p:cNvSpPr>
            <p:nvPr/>
          </p:nvSpPr>
          <p:spPr bwMode="auto">
            <a:xfrm>
              <a:off x="274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4" name="Rectangle 56"/>
            <p:cNvSpPr>
              <a:spLocks noChangeArrowheads="1"/>
            </p:cNvSpPr>
            <p:nvPr/>
          </p:nvSpPr>
          <p:spPr bwMode="auto">
            <a:xfrm>
              <a:off x="2850" y="66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05" name="Rectangle 57"/>
            <p:cNvSpPr>
              <a:spLocks noChangeArrowheads="1"/>
            </p:cNvSpPr>
            <p:nvPr/>
          </p:nvSpPr>
          <p:spPr bwMode="auto">
            <a:xfrm>
              <a:off x="2985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6" name="Rectangle 58"/>
            <p:cNvSpPr>
              <a:spLocks noChangeArrowheads="1"/>
            </p:cNvSpPr>
            <p:nvPr/>
          </p:nvSpPr>
          <p:spPr bwMode="auto">
            <a:xfrm>
              <a:off x="3087" y="66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07" name="Rectangle 59"/>
            <p:cNvSpPr>
              <a:spLocks noChangeArrowheads="1"/>
            </p:cNvSpPr>
            <p:nvPr/>
          </p:nvSpPr>
          <p:spPr bwMode="auto">
            <a:xfrm>
              <a:off x="347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08" name="Rectangle 60"/>
            <p:cNvSpPr>
              <a:spLocks noChangeArrowheads="1"/>
            </p:cNvSpPr>
            <p:nvPr/>
          </p:nvSpPr>
          <p:spPr bwMode="auto">
            <a:xfrm>
              <a:off x="3569" y="82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09" name="Rectangle 61"/>
            <p:cNvSpPr>
              <a:spLocks noChangeArrowheads="1"/>
            </p:cNvSpPr>
            <p:nvPr/>
          </p:nvSpPr>
          <p:spPr bwMode="auto">
            <a:xfrm>
              <a:off x="225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0" name="Rectangle 62"/>
            <p:cNvSpPr>
              <a:spLocks noChangeArrowheads="1"/>
            </p:cNvSpPr>
            <p:nvPr/>
          </p:nvSpPr>
          <p:spPr bwMode="auto">
            <a:xfrm>
              <a:off x="2364" y="66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11" name="Rectangle 63"/>
            <p:cNvSpPr>
              <a:spLocks noChangeArrowheads="1"/>
            </p:cNvSpPr>
            <p:nvPr/>
          </p:nvSpPr>
          <p:spPr bwMode="auto">
            <a:xfrm>
              <a:off x="2495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2" name="Rectangle 64"/>
            <p:cNvSpPr>
              <a:spLocks noChangeArrowheads="1"/>
            </p:cNvSpPr>
            <p:nvPr/>
          </p:nvSpPr>
          <p:spPr bwMode="auto">
            <a:xfrm>
              <a:off x="2602" y="66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13" name="Rectangle 65"/>
            <p:cNvSpPr>
              <a:spLocks noChangeArrowheads="1"/>
            </p:cNvSpPr>
            <p:nvPr/>
          </p:nvSpPr>
          <p:spPr bwMode="auto">
            <a:xfrm>
              <a:off x="274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4" name="Rectangle 66"/>
            <p:cNvSpPr>
              <a:spLocks noChangeArrowheads="1"/>
            </p:cNvSpPr>
            <p:nvPr/>
          </p:nvSpPr>
          <p:spPr bwMode="auto">
            <a:xfrm>
              <a:off x="2850" y="66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15" name="Rectangle 67"/>
            <p:cNvSpPr>
              <a:spLocks noChangeArrowheads="1"/>
            </p:cNvSpPr>
            <p:nvPr/>
          </p:nvSpPr>
          <p:spPr bwMode="auto">
            <a:xfrm>
              <a:off x="2985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6" name="Rectangle 68"/>
            <p:cNvSpPr>
              <a:spLocks noChangeArrowheads="1"/>
            </p:cNvSpPr>
            <p:nvPr/>
          </p:nvSpPr>
          <p:spPr bwMode="auto">
            <a:xfrm>
              <a:off x="3087" y="66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17" name="Rectangle 69"/>
            <p:cNvSpPr>
              <a:spLocks noChangeArrowheads="1"/>
            </p:cNvSpPr>
            <p:nvPr/>
          </p:nvSpPr>
          <p:spPr bwMode="auto">
            <a:xfrm>
              <a:off x="347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18" name="Rectangle 70"/>
            <p:cNvSpPr>
              <a:spLocks noChangeArrowheads="1"/>
            </p:cNvSpPr>
            <p:nvPr/>
          </p:nvSpPr>
          <p:spPr bwMode="auto">
            <a:xfrm>
              <a:off x="3569" y="82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19" name="Rectangle 71"/>
            <p:cNvSpPr>
              <a:spLocks noChangeArrowheads="1"/>
            </p:cNvSpPr>
            <p:nvPr/>
          </p:nvSpPr>
          <p:spPr bwMode="auto">
            <a:xfrm>
              <a:off x="576" y="800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20" name="Rectangle 72"/>
            <p:cNvSpPr>
              <a:spLocks noChangeArrowheads="1"/>
            </p:cNvSpPr>
            <p:nvPr/>
          </p:nvSpPr>
          <p:spPr bwMode="auto">
            <a:xfrm>
              <a:off x="690" y="82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62921" name="Rectangle 73"/>
            <p:cNvSpPr>
              <a:spLocks noChangeArrowheads="1"/>
            </p:cNvSpPr>
            <p:nvPr/>
          </p:nvSpPr>
          <p:spPr bwMode="auto">
            <a:xfrm>
              <a:off x="1149" y="82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2922" name="Rectangle 74"/>
            <p:cNvSpPr>
              <a:spLocks noChangeArrowheads="1"/>
            </p:cNvSpPr>
            <p:nvPr/>
          </p:nvSpPr>
          <p:spPr bwMode="auto">
            <a:xfrm>
              <a:off x="1642" y="825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62923" name="Rectangle 75"/>
            <p:cNvSpPr>
              <a:spLocks noChangeArrowheads="1"/>
            </p:cNvSpPr>
            <p:nvPr/>
          </p:nvSpPr>
          <p:spPr bwMode="auto">
            <a:xfrm>
              <a:off x="1903" y="825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rcx</a:t>
              </a:r>
              <a:endParaRPr lang="en-US" dirty="0"/>
            </a:p>
          </p:txBody>
        </p:sp>
        <p:sp>
          <p:nvSpPr>
            <p:cNvPr id="462924" name="Rectangle 76"/>
            <p:cNvSpPr>
              <a:spLocks noChangeArrowheads="1"/>
            </p:cNvSpPr>
            <p:nvPr/>
          </p:nvSpPr>
          <p:spPr bwMode="auto">
            <a:xfrm>
              <a:off x="249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25" name="Rectangle 77"/>
            <p:cNvSpPr>
              <a:spLocks noChangeArrowheads="1"/>
            </p:cNvSpPr>
            <p:nvPr/>
          </p:nvSpPr>
          <p:spPr bwMode="auto">
            <a:xfrm>
              <a:off x="2609" y="82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26" name="Rectangle 78"/>
            <p:cNvSpPr>
              <a:spLocks noChangeArrowheads="1"/>
            </p:cNvSpPr>
            <p:nvPr/>
          </p:nvSpPr>
          <p:spPr bwMode="auto">
            <a:xfrm>
              <a:off x="2740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27" name="Rectangle 79"/>
            <p:cNvSpPr>
              <a:spLocks noChangeArrowheads="1"/>
            </p:cNvSpPr>
            <p:nvPr/>
          </p:nvSpPr>
          <p:spPr bwMode="auto">
            <a:xfrm>
              <a:off x="2847" y="82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28" name="Rectangle 80"/>
            <p:cNvSpPr>
              <a:spLocks noChangeArrowheads="1"/>
            </p:cNvSpPr>
            <p:nvPr/>
          </p:nvSpPr>
          <p:spPr bwMode="auto">
            <a:xfrm>
              <a:off x="298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29" name="Rectangle 81"/>
            <p:cNvSpPr>
              <a:spLocks noChangeArrowheads="1"/>
            </p:cNvSpPr>
            <p:nvPr/>
          </p:nvSpPr>
          <p:spPr bwMode="auto">
            <a:xfrm>
              <a:off x="3095" y="82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30" name="Rectangle 82"/>
            <p:cNvSpPr>
              <a:spLocks noChangeArrowheads="1"/>
            </p:cNvSpPr>
            <p:nvPr/>
          </p:nvSpPr>
          <p:spPr bwMode="auto">
            <a:xfrm>
              <a:off x="3230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1" name="Rectangle 83"/>
            <p:cNvSpPr>
              <a:spLocks noChangeArrowheads="1"/>
            </p:cNvSpPr>
            <p:nvPr/>
          </p:nvSpPr>
          <p:spPr bwMode="auto">
            <a:xfrm>
              <a:off x="3332" y="82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32" name="Rectangle 84"/>
            <p:cNvSpPr>
              <a:spLocks noChangeArrowheads="1"/>
            </p:cNvSpPr>
            <p:nvPr/>
          </p:nvSpPr>
          <p:spPr bwMode="auto">
            <a:xfrm>
              <a:off x="323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3" name="Rectangle 85"/>
            <p:cNvSpPr>
              <a:spLocks noChangeArrowheads="1"/>
            </p:cNvSpPr>
            <p:nvPr/>
          </p:nvSpPr>
          <p:spPr bwMode="auto">
            <a:xfrm>
              <a:off x="3324" y="66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34" name="Rectangle 86"/>
            <p:cNvSpPr>
              <a:spLocks noChangeArrowheads="1"/>
            </p:cNvSpPr>
            <p:nvPr/>
          </p:nvSpPr>
          <p:spPr bwMode="auto">
            <a:xfrm>
              <a:off x="249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5" name="Rectangle 87"/>
            <p:cNvSpPr>
              <a:spLocks noChangeArrowheads="1"/>
            </p:cNvSpPr>
            <p:nvPr/>
          </p:nvSpPr>
          <p:spPr bwMode="auto">
            <a:xfrm>
              <a:off x="2609" y="82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36" name="Rectangle 88"/>
            <p:cNvSpPr>
              <a:spLocks noChangeArrowheads="1"/>
            </p:cNvSpPr>
            <p:nvPr/>
          </p:nvSpPr>
          <p:spPr bwMode="auto">
            <a:xfrm>
              <a:off x="2740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7" name="Rectangle 89"/>
            <p:cNvSpPr>
              <a:spLocks noChangeArrowheads="1"/>
            </p:cNvSpPr>
            <p:nvPr/>
          </p:nvSpPr>
          <p:spPr bwMode="auto">
            <a:xfrm>
              <a:off x="2847" y="82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38" name="Rectangle 90"/>
            <p:cNvSpPr>
              <a:spLocks noChangeArrowheads="1"/>
            </p:cNvSpPr>
            <p:nvPr/>
          </p:nvSpPr>
          <p:spPr bwMode="auto">
            <a:xfrm>
              <a:off x="2985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39" name="Rectangle 91"/>
            <p:cNvSpPr>
              <a:spLocks noChangeArrowheads="1"/>
            </p:cNvSpPr>
            <p:nvPr/>
          </p:nvSpPr>
          <p:spPr bwMode="auto">
            <a:xfrm>
              <a:off x="3095" y="82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40" name="Rectangle 92"/>
            <p:cNvSpPr>
              <a:spLocks noChangeArrowheads="1"/>
            </p:cNvSpPr>
            <p:nvPr/>
          </p:nvSpPr>
          <p:spPr bwMode="auto">
            <a:xfrm>
              <a:off x="3230" y="80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41" name="Rectangle 93"/>
            <p:cNvSpPr>
              <a:spLocks noChangeArrowheads="1"/>
            </p:cNvSpPr>
            <p:nvPr/>
          </p:nvSpPr>
          <p:spPr bwMode="auto">
            <a:xfrm>
              <a:off x="3332" y="82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42" name="Rectangle 94"/>
            <p:cNvSpPr>
              <a:spLocks noChangeArrowheads="1"/>
            </p:cNvSpPr>
            <p:nvPr/>
          </p:nvSpPr>
          <p:spPr bwMode="auto">
            <a:xfrm>
              <a:off x="3230" y="63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43" name="Rectangle 95"/>
            <p:cNvSpPr>
              <a:spLocks noChangeArrowheads="1"/>
            </p:cNvSpPr>
            <p:nvPr/>
          </p:nvSpPr>
          <p:spPr bwMode="auto">
            <a:xfrm>
              <a:off x="3324" y="66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44" name="Rectangle 96"/>
            <p:cNvSpPr>
              <a:spLocks noChangeArrowheads="1"/>
            </p:cNvSpPr>
            <p:nvPr/>
          </p:nvSpPr>
          <p:spPr bwMode="auto">
            <a:xfrm>
              <a:off x="576" y="963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45" name="Rectangle 97"/>
            <p:cNvSpPr>
              <a:spLocks noChangeArrowheads="1"/>
            </p:cNvSpPr>
            <p:nvPr/>
          </p:nvSpPr>
          <p:spPr bwMode="auto">
            <a:xfrm>
              <a:off x="690" y="98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62946" name="Rectangle 98"/>
            <p:cNvSpPr>
              <a:spLocks noChangeArrowheads="1"/>
            </p:cNvSpPr>
            <p:nvPr/>
          </p:nvSpPr>
          <p:spPr bwMode="auto">
            <a:xfrm>
              <a:off x="1149" y="98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rmmovq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2947" name="Rectangle 99"/>
            <p:cNvSpPr>
              <a:spLocks noChangeArrowheads="1"/>
            </p:cNvSpPr>
            <p:nvPr/>
          </p:nvSpPr>
          <p:spPr bwMode="auto">
            <a:xfrm>
              <a:off x="1575" y="988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2948" name="Rectangle 100"/>
            <p:cNvSpPr>
              <a:spLocks noChangeArrowheads="1"/>
            </p:cNvSpPr>
            <p:nvPr/>
          </p:nvSpPr>
          <p:spPr bwMode="auto">
            <a:xfrm>
              <a:off x="1641" y="98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rcx</a:t>
              </a:r>
              <a:endParaRPr lang="en-US" dirty="0"/>
            </a:p>
          </p:txBody>
        </p:sp>
        <p:sp>
          <p:nvSpPr>
            <p:cNvPr id="462949" name="Rectangle 101"/>
            <p:cNvSpPr>
              <a:spLocks noChangeArrowheads="1"/>
            </p:cNvSpPr>
            <p:nvPr/>
          </p:nvSpPr>
          <p:spPr bwMode="auto">
            <a:xfrm>
              <a:off x="1838" y="988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 0(%</a:t>
              </a:r>
              <a:endParaRPr lang="en-US"/>
            </a:p>
          </p:txBody>
        </p:sp>
        <p:sp>
          <p:nvSpPr>
            <p:cNvPr id="462950" name="Rectangle 102"/>
            <p:cNvSpPr>
              <a:spLocks noChangeArrowheads="1"/>
            </p:cNvSpPr>
            <p:nvPr/>
          </p:nvSpPr>
          <p:spPr bwMode="auto">
            <a:xfrm>
              <a:off x="2165" y="98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62951" name="Rectangle 103"/>
            <p:cNvSpPr>
              <a:spLocks noChangeArrowheads="1"/>
            </p:cNvSpPr>
            <p:nvPr/>
          </p:nvSpPr>
          <p:spPr bwMode="auto">
            <a:xfrm>
              <a:off x="2361" y="988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)</a:t>
              </a:r>
              <a:endParaRPr lang="en-US"/>
            </a:p>
          </p:txBody>
        </p:sp>
        <p:sp>
          <p:nvSpPr>
            <p:cNvPr id="462952" name="Rectangle 104"/>
            <p:cNvSpPr>
              <a:spLocks noChangeArrowheads="1"/>
            </p:cNvSpPr>
            <p:nvPr/>
          </p:nvSpPr>
          <p:spPr bwMode="auto">
            <a:xfrm>
              <a:off x="274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53" name="Rectangle 105"/>
            <p:cNvSpPr>
              <a:spLocks noChangeArrowheads="1"/>
            </p:cNvSpPr>
            <p:nvPr/>
          </p:nvSpPr>
          <p:spPr bwMode="auto">
            <a:xfrm>
              <a:off x="2854" y="987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54" name="Rectangle 106"/>
            <p:cNvSpPr>
              <a:spLocks noChangeArrowheads="1"/>
            </p:cNvSpPr>
            <p:nvPr/>
          </p:nvSpPr>
          <p:spPr bwMode="auto">
            <a:xfrm>
              <a:off x="2985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55" name="Rectangle 107"/>
            <p:cNvSpPr>
              <a:spLocks noChangeArrowheads="1"/>
            </p:cNvSpPr>
            <p:nvPr/>
          </p:nvSpPr>
          <p:spPr bwMode="auto">
            <a:xfrm>
              <a:off x="3092" y="987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56" name="Rectangle 108"/>
            <p:cNvSpPr>
              <a:spLocks noChangeArrowheads="1"/>
            </p:cNvSpPr>
            <p:nvPr/>
          </p:nvSpPr>
          <p:spPr bwMode="auto">
            <a:xfrm>
              <a:off x="323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57" name="Rectangle 109"/>
            <p:cNvSpPr>
              <a:spLocks noChangeArrowheads="1"/>
            </p:cNvSpPr>
            <p:nvPr/>
          </p:nvSpPr>
          <p:spPr bwMode="auto">
            <a:xfrm>
              <a:off x="3340" y="987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58" name="Rectangle 110"/>
            <p:cNvSpPr>
              <a:spLocks noChangeArrowheads="1"/>
            </p:cNvSpPr>
            <p:nvPr/>
          </p:nvSpPr>
          <p:spPr bwMode="auto">
            <a:xfrm>
              <a:off x="3475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59" name="Rectangle 111"/>
            <p:cNvSpPr>
              <a:spLocks noChangeArrowheads="1"/>
            </p:cNvSpPr>
            <p:nvPr/>
          </p:nvSpPr>
          <p:spPr bwMode="auto">
            <a:xfrm>
              <a:off x="3576" y="987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60" name="Rectangle 112"/>
            <p:cNvSpPr>
              <a:spLocks noChangeArrowheads="1"/>
            </p:cNvSpPr>
            <p:nvPr/>
          </p:nvSpPr>
          <p:spPr bwMode="auto">
            <a:xfrm>
              <a:off x="372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1" name="Rectangle 113"/>
            <p:cNvSpPr>
              <a:spLocks noChangeArrowheads="1"/>
            </p:cNvSpPr>
            <p:nvPr/>
          </p:nvSpPr>
          <p:spPr bwMode="auto">
            <a:xfrm>
              <a:off x="3814" y="987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62" name="Rectangle 114"/>
            <p:cNvSpPr>
              <a:spLocks noChangeArrowheads="1"/>
            </p:cNvSpPr>
            <p:nvPr/>
          </p:nvSpPr>
          <p:spPr bwMode="auto">
            <a:xfrm>
              <a:off x="274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3" name="Rectangle 115"/>
            <p:cNvSpPr>
              <a:spLocks noChangeArrowheads="1"/>
            </p:cNvSpPr>
            <p:nvPr/>
          </p:nvSpPr>
          <p:spPr bwMode="auto">
            <a:xfrm>
              <a:off x="2854" y="987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64" name="Rectangle 116"/>
            <p:cNvSpPr>
              <a:spLocks noChangeArrowheads="1"/>
            </p:cNvSpPr>
            <p:nvPr/>
          </p:nvSpPr>
          <p:spPr bwMode="auto">
            <a:xfrm>
              <a:off x="2985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5" name="Rectangle 117"/>
            <p:cNvSpPr>
              <a:spLocks noChangeArrowheads="1"/>
            </p:cNvSpPr>
            <p:nvPr/>
          </p:nvSpPr>
          <p:spPr bwMode="auto">
            <a:xfrm>
              <a:off x="3092" y="987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66" name="Rectangle 118"/>
            <p:cNvSpPr>
              <a:spLocks noChangeArrowheads="1"/>
            </p:cNvSpPr>
            <p:nvPr/>
          </p:nvSpPr>
          <p:spPr bwMode="auto">
            <a:xfrm>
              <a:off x="323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7" name="Rectangle 119"/>
            <p:cNvSpPr>
              <a:spLocks noChangeArrowheads="1"/>
            </p:cNvSpPr>
            <p:nvPr/>
          </p:nvSpPr>
          <p:spPr bwMode="auto">
            <a:xfrm>
              <a:off x="3340" y="987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68" name="Rectangle 120"/>
            <p:cNvSpPr>
              <a:spLocks noChangeArrowheads="1"/>
            </p:cNvSpPr>
            <p:nvPr/>
          </p:nvSpPr>
          <p:spPr bwMode="auto">
            <a:xfrm>
              <a:off x="3475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69" name="Rectangle 121"/>
            <p:cNvSpPr>
              <a:spLocks noChangeArrowheads="1"/>
            </p:cNvSpPr>
            <p:nvPr/>
          </p:nvSpPr>
          <p:spPr bwMode="auto">
            <a:xfrm>
              <a:off x="3576" y="987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70" name="Rectangle 122"/>
            <p:cNvSpPr>
              <a:spLocks noChangeArrowheads="1"/>
            </p:cNvSpPr>
            <p:nvPr/>
          </p:nvSpPr>
          <p:spPr bwMode="auto">
            <a:xfrm>
              <a:off x="3720" y="963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71" name="Rectangle 123"/>
            <p:cNvSpPr>
              <a:spLocks noChangeArrowheads="1"/>
            </p:cNvSpPr>
            <p:nvPr/>
          </p:nvSpPr>
          <p:spPr bwMode="auto">
            <a:xfrm>
              <a:off x="3814" y="987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72" name="Rectangle 124"/>
            <p:cNvSpPr>
              <a:spLocks noChangeArrowheads="1"/>
            </p:cNvSpPr>
            <p:nvPr/>
          </p:nvSpPr>
          <p:spPr bwMode="auto">
            <a:xfrm>
              <a:off x="576" y="1126"/>
              <a:ext cx="1388" cy="1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73" name="Rectangle 125"/>
            <p:cNvSpPr>
              <a:spLocks noChangeArrowheads="1"/>
            </p:cNvSpPr>
            <p:nvPr/>
          </p:nvSpPr>
          <p:spPr bwMode="auto">
            <a:xfrm>
              <a:off x="690" y="115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0x01e: </a:t>
              </a:r>
              <a:endParaRPr lang="en-US" dirty="0"/>
            </a:p>
          </p:txBody>
        </p:sp>
        <p:sp>
          <p:nvSpPr>
            <p:cNvPr id="462974" name="Rectangle 126"/>
            <p:cNvSpPr>
              <a:spLocks noChangeArrowheads="1"/>
            </p:cNvSpPr>
            <p:nvPr/>
          </p:nvSpPr>
          <p:spPr bwMode="auto">
            <a:xfrm>
              <a:off x="1149" y="115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2975" name="Rectangle 127"/>
            <p:cNvSpPr>
              <a:spLocks noChangeArrowheads="1"/>
            </p:cNvSpPr>
            <p:nvPr/>
          </p:nvSpPr>
          <p:spPr bwMode="auto">
            <a:xfrm>
              <a:off x="1576" y="1151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62976" name="Rectangle 128"/>
            <p:cNvSpPr>
              <a:spLocks noChangeArrowheads="1"/>
            </p:cNvSpPr>
            <p:nvPr/>
          </p:nvSpPr>
          <p:spPr bwMode="auto">
            <a:xfrm>
              <a:off x="1904" y="1151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ebx</a:t>
              </a:r>
              <a:endParaRPr lang="en-US"/>
            </a:p>
          </p:txBody>
        </p:sp>
        <p:sp>
          <p:nvSpPr>
            <p:cNvPr id="462977" name="Rectangle 129"/>
            <p:cNvSpPr>
              <a:spLocks noChangeArrowheads="1"/>
            </p:cNvSpPr>
            <p:nvPr/>
          </p:nvSpPr>
          <p:spPr bwMode="auto">
            <a:xfrm>
              <a:off x="2985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78" name="Rectangle 130"/>
            <p:cNvSpPr>
              <a:spLocks noChangeArrowheads="1"/>
            </p:cNvSpPr>
            <p:nvPr/>
          </p:nvSpPr>
          <p:spPr bwMode="auto">
            <a:xfrm>
              <a:off x="3099" y="115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79" name="Rectangle 131"/>
            <p:cNvSpPr>
              <a:spLocks noChangeArrowheads="1"/>
            </p:cNvSpPr>
            <p:nvPr/>
          </p:nvSpPr>
          <p:spPr bwMode="auto">
            <a:xfrm>
              <a:off x="3230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0" name="Rectangle 132"/>
            <p:cNvSpPr>
              <a:spLocks noChangeArrowheads="1"/>
            </p:cNvSpPr>
            <p:nvPr/>
          </p:nvSpPr>
          <p:spPr bwMode="auto">
            <a:xfrm>
              <a:off x="3337" y="115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81" name="Rectangle 133"/>
            <p:cNvSpPr>
              <a:spLocks noChangeArrowheads="1"/>
            </p:cNvSpPr>
            <p:nvPr/>
          </p:nvSpPr>
          <p:spPr bwMode="auto">
            <a:xfrm>
              <a:off x="3475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2" name="Rectangle 134"/>
            <p:cNvSpPr>
              <a:spLocks noChangeArrowheads="1"/>
            </p:cNvSpPr>
            <p:nvPr/>
          </p:nvSpPr>
          <p:spPr bwMode="auto">
            <a:xfrm>
              <a:off x="3585" y="115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83" name="Rectangle 135"/>
            <p:cNvSpPr>
              <a:spLocks noChangeArrowheads="1"/>
            </p:cNvSpPr>
            <p:nvPr/>
          </p:nvSpPr>
          <p:spPr bwMode="auto">
            <a:xfrm>
              <a:off x="3720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4" name="Rectangle 136"/>
            <p:cNvSpPr>
              <a:spLocks noChangeArrowheads="1"/>
            </p:cNvSpPr>
            <p:nvPr/>
          </p:nvSpPr>
          <p:spPr bwMode="auto">
            <a:xfrm>
              <a:off x="3821" y="115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85" name="Rectangle 137"/>
            <p:cNvSpPr>
              <a:spLocks noChangeArrowheads="1"/>
            </p:cNvSpPr>
            <p:nvPr/>
          </p:nvSpPr>
          <p:spPr bwMode="auto">
            <a:xfrm>
              <a:off x="3965" y="1126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6" name="Rectangle 138"/>
            <p:cNvSpPr>
              <a:spLocks noChangeArrowheads="1"/>
            </p:cNvSpPr>
            <p:nvPr/>
          </p:nvSpPr>
          <p:spPr bwMode="auto">
            <a:xfrm>
              <a:off x="4059" y="115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87" name="Rectangle 139"/>
            <p:cNvSpPr>
              <a:spLocks noChangeArrowheads="1"/>
            </p:cNvSpPr>
            <p:nvPr/>
          </p:nvSpPr>
          <p:spPr bwMode="auto">
            <a:xfrm>
              <a:off x="2985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88" name="Rectangle 140"/>
            <p:cNvSpPr>
              <a:spLocks noChangeArrowheads="1"/>
            </p:cNvSpPr>
            <p:nvPr/>
          </p:nvSpPr>
          <p:spPr bwMode="auto">
            <a:xfrm>
              <a:off x="3099" y="115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2989" name="Rectangle 141"/>
            <p:cNvSpPr>
              <a:spLocks noChangeArrowheads="1"/>
            </p:cNvSpPr>
            <p:nvPr/>
          </p:nvSpPr>
          <p:spPr bwMode="auto">
            <a:xfrm>
              <a:off x="3230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0" name="Rectangle 142"/>
            <p:cNvSpPr>
              <a:spLocks noChangeArrowheads="1"/>
            </p:cNvSpPr>
            <p:nvPr/>
          </p:nvSpPr>
          <p:spPr bwMode="auto">
            <a:xfrm>
              <a:off x="3337" y="115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2991" name="Rectangle 143"/>
            <p:cNvSpPr>
              <a:spLocks noChangeArrowheads="1"/>
            </p:cNvSpPr>
            <p:nvPr/>
          </p:nvSpPr>
          <p:spPr bwMode="auto">
            <a:xfrm>
              <a:off x="3475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2" name="Rectangle 144"/>
            <p:cNvSpPr>
              <a:spLocks noChangeArrowheads="1"/>
            </p:cNvSpPr>
            <p:nvPr/>
          </p:nvSpPr>
          <p:spPr bwMode="auto">
            <a:xfrm>
              <a:off x="3585" y="115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2993" name="Rectangle 145"/>
            <p:cNvSpPr>
              <a:spLocks noChangeArrowheads="1"/>
            </p:cNvSpPr>
            <p:nvPr/>
          </p:nvSpPr>
          <p:spPr bwMode="auto">
            <a:xfrm>
              <a:off x="3720" y="112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4" name="Rectangle 146"/>
            <p:cNvSpPr>
              <a:spLocks noChangeArrowheads="1"/>
            </p:cNvSpPr>
            <p:nvPr/>
          </p:nvSpPr>
          <p:spPr bwMode="auto">
            <a:xfrm>
              <a:off x="3821" y="115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2995" name="Rectangle 147"/>
            <p:cNvSpPr>
              <a:spLocks noChangeArrowheads="1"/>
            </p:cNvSpPr>
            <p:nvPr/>
          </p:nvSpPr>
          <p:spPr bwMode="auto">
            <a:xfrm>
              <a:off x="3965" y="1126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6" name="Rectangle 148"/>
            <p:cNvSpPr>
              <a:spLocks noChangeArrowheads="1"/>
            </p:cNvSpPr>
            <p:nvPr/>
          </p:nvSpPr>
          <p:spPr bwMode="auto">
            <a:xfrm>
              <a:off x="4059" y="115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2997" name="Rectangle 149"/>
            <p:cNvSpPr>
              <a:spLocks noChangeArrowheads="1"/>
            </p:cNvSpPr>
            <p:nvPr/>
          </p:nvSpPr>
          <p:spPr bwMode="auto">
            <a:xfrm>
              <a:off x="576" y="1290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998" name="Rectangle 150"/>
            <p:cNvSpPr>
              <a:spLocks noChangeArrowheads="1"/>
            </p:cNvSpPr>
            <p:nvPr/>
          </p:nvSpPr>
          <p:spPr bwMode="auto">
            <a:xfrm>
              <a:off x="690" y="131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0x028: </a:t>
              </a:r>
              <a:endParaRPr lang="en-US" dirty="0"/>
            </a:p>
          </p:txBody>
        </p:sp>
        <p:sp>
          <p:nvSpPr>
            <p:cNvPr id="462999" name="Rectangle 151"/>
            <p:cNvSpPr>
              <a:spLocks noChangeArrowheads="1"/>
            </p:cNvSpPr>
            <p:nvPr/>
          </p:nvSpPr>
          <p:spPr bwMode="auto">
            <a:xfrm>
              <a:off x="1149" y="131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mrmovq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63000" name="Rectangle 152"/>
            <p:cNvSpPr>
              <a:spLocks noChangeArrowheads="1"/>
            </p:cNvSpPr>
            <p:nvPr/>
          </p:nvSpPr>
          <p:spPr bwMode="auto">
            <a:xfrm>
              <a:off x="1576" y="1315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0(%</a:t>
              </a:r>
              <a:endParaRPr lang="en-US"/>
            </a:p>
          </p:txBody>
        </p:sp>
        <p:sp>
          <p:nvSpPr>
            <p:cNvPr id="463001" name="Rectangle 153"/>
            <p:cNvSpPr>
              <a:spLocks noChangeArrowheads="1"/>
            </p:cNvSpPr>
            <p:nvPr/>
          </p:nvSpPr>
          <p:spPr bwMode="auto">
            <a:xfrm>
              <a:off x="1772" y="1315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63002" name="Rectangle 154"/>
            <p:cNvSpPr>
              <a:spLocks noChangeArrowheads="1"/>
            </p:cNvSpPr>
            <p:nvPr/>
          </p:nvSpPr>
          <p:spPr bwMode="auto">
            <a:xfrm>
              <a:off x="1969" y="1315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),</a:t>
              </a:r>
              <a:endParaRPr lang="en-US"/>
            </a:p>
          </p:txBody>
        </p:sp>
        <p:sp>
          <p:nvSpPr>
            <p:cNvPr id="463003" name="Rectangle 155"/>
            <p:cNvSpPr>
              <a:spLocks noChangeArrowheads="1"/>
            </p:cNvSpPr>
            <p:nvPr/>
          </p:nvSpPr>
          <p:spPr bwMode="auto">
            <a:xfrm>
              <a:off x="2099" y="1312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CC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3004" name="Rectangle 156"/>
            <p:cNvSpPr>
              <a:spLocks noChangeArrowheads="1"/>
            </p:cNvSpPr>
            <p:nvPr/>
          </p:nvSpPr>
          <p:spPr bwMode="auto">
            <a:xfrm>
              <a:off x="2165" y="131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err="1">
                  <a:solidFill>
                    <a:srgbClr val="00CC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3005" name="Rectangle 157"/>
            <p:cNvSpPr>
              <a:spLocks noChangeArrowheads="1"/>
            </p:cNvSpPr>
            <p:nvPr/>
          </p:nvSpPr>
          <p:spPr bwMode="auto">
            <a:xfrm>
              <a:off x="2428" y="1312"/>
              <a:ext cx="536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Load %</a:t>
              </a:r>
              <a:endParaRPr lang="en-US"/>
            </a:p>
          </p:txBody>
        </p:sp>
        <p:sp>
          <p:nvSpPr>
            <p:cNvPr id="463006" name="Rectangle 158"/>
            <p:cNvSpPr>
              <a:spLocks noChangeArrowheads="1"/>
            </p:cNvSpPr>
            <p:nvPr/>
          </p:nvSpPr>
          <p:spPr bwMode="auto">
            <a:xfrm>
              <a:off x="2951" y="131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3007" name="Rectangle 159"/>
            <p:cNvSpPr>
              <a:spLocks noChangeArrowheads="1"/>
            </p:cNvSpPr>
            <p:nvPr/>
          </p:nvSpPr>
          <p:spPr bwMode="auto">
            <a:xfrm>
              <a:off x="323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08" name="Rectangle 160"/>
            <p:cNvSpPr>
              <a:spLocks noChangeArrowheads="1"/>
            </p:cNvSpPr>
            <p:nvPr/>
          </p:nvSpPr>
          <p:spPr bwMode="auto">
            <a:xfrm>
              <a:off x="3344" y="131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09" name="Rectangle 161"/>
            <p:cNvSpPr>
              <a:spLocks noChangeArrowheads="1"/>
            </p:cNvSpPr>
            <p:nvPr/>
          </p:nvSpPr>
          <p:spPr bwMode="auto">
            <a:xfrm>
              <a:off x="3475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0" name="Rectangle 162"/>
            <p:cNvSpPr>
              <a:spLocks noChangeArrowheads="1"/>
            </p:cNvSpPr>
            <p:nvPr/>
          </p:nvSpPr>
          <p:spPr bwMode="auto">
            <a:xfrm>
              <a:off x="3582" y="131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11" name="Rectangle 163"/>
            <p:cNvSpPr>
              <a:spLocks noChangeArrowheads="1"/>
            </p:cNvSpPr>
            <p:nvPr/>
          </p:nvSpPr>
          <p:spPr bwMode="auto">
            <a:xfrm>
              <a:off x="372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2" name="Rectangle 164"/>
            <p:cNvSpPr>
              <a:spLocks noChangeArrowheads="1"/>
            </p:cNvSpPr>
            <p:nvPr/>
          </p:nvSpPr>
          <p:spPr bwMode="auto">
            <a:xfrm>
              <a:off x="3830" y="131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13" name="Rectangle 165"/>
            <p:cNvSpPr>
              <a:spLocks noChangeArrowheads="1"/>
            </p:cNvSpPr>
            <p:nvPr/>
          </p:nvSpPr>
          <p:spPr bwMode="auto">
            <a:xfrm>
              <a:off x="3965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4" name="Rectangle 166"/>
            <p:cNvSpPr>
              <a:spLocks noChangeArrowheads="1"/>
            </p:cNvSpPr>
            <p:nvPr/>
          </p:nvSpPr>
          <p:spPr bwMode="auto">
            <a:xfrm>
              <a:off x="4066" y="131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15" name="Rectangle 167"/>
            <p:cNvSpPr>
              <a:spLocks noChangeArrowheads="1"/>
            </p:cNvSpPr>
            <p:nvPr/>
          </p:nvSpPr>
          <p:spPr bwMode="auto">
            <a:xfrm>
              <a:off x="4210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6" name="Rectangle 168"/>
            <p:cNvSpPr>
              <a:spLocks noChangeArrowheads="1"/>
            </p:cNvSpPr>
            <p:nvPr/>
          </p:nvSpPr>
          <p:spPr bwMode="auto">
            <a:xfrm>
              <a:off x="4304" y="131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17" name="Rectangle 169"/>
            <p:cNvSpPr>
              <a:spLocks noChangeArrowheads="1"/>
            </p:cNvSpPr>
            <p:nvPr/>
          </p:nvSpPr>
          <p:spPr bwMode="auto">
            <a:xfrm>
              <a:off x="323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18" name="Rectangle 170"/>
            <p:cNvSpPr>
              <a:spLocks noChangeArrowheads="1"/>
            </p:cNvSpPr>
            <p:nvPr/>
          </p:nvSpPr>
          <p:spPr bwMode="auto">
            <a:xfrm>
              <a:off x="3344" y="131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19" name="Rectangle 171"/>
            <p:cNvSpPr>
              <a:spLocks noChangeArrowheads="1"/>
            </p:cNvSpPr>
            <p:nvPr/>
          </p:nvSpPr>
          <p:spPr bwMode="auto">
            <a:xfrm>
              <a:off x="3475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0" name="Rectangle 172"/>
            <p:cNvSpPr>
              <a:spLocks noChangeArrowheads="1"/>
            </p:cNvSpPr>
            <p:nvPr/>
          </p:nvSpPr>
          <p:spPr bwMode="auto">
            <a:xfrm>
              <a:off x="3582" y="131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21" name="Rectangle 173"/>
            <p:cNvSpPr>
              <a:spLocks noChangeArrowheads="1"/>
            </p:cNvSpPr>
            <p:nvPr/>
          </p:nvSpPr>
          <p:spPr bwMode="auto">
            <a:xfrm>
              <a:off x="372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2" name="Rectangle 174"/>
            <p:cNvSpPr>
              <a:spLocks noChangeArrowheads="1"/>
            </p:cNvSpPr>
            <p:nvPr/>
          </p:nvSpPr>
          <p:spPr bwMode="auto">
            <a:xfrm>
              <a:off x="3830" y="131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23" name="Rectangle 175"/>
            <p:cNvSpPr>
              <a:spLocks noChangeArrowheads="1"/>
            </p:cNvSpPr>
            <p:nvPr/>
          </p:nvSpPr>
          <p:spPr bwMode="auto">
            <a:xfrm>
              <a:off x="3965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4" name="Rectangle 176"/>
            <p:cNvSpPr>
              <a:spLocks noChangeArrowheads="1"/>
            </p:cNvSpPr>
            <p:nvPr/>
          </p:nvSpPr>
          <p:spPr bwMode="auto">
            <a:xfrm>
              <a:off x="4066" y="131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25" name="Rectangle 177"/>
            <p:cNvSpPr>
              <a:spLocks noChangeArrowheads="1"/>
            </p:cNvSpPr>
            <p:nvPr/>
          </p:nvSpPr>
          <p:spPr bwMode="auto">
            <a:xfrm>
              <a:off x="4210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6" name="Rectangle 178"/>
            <p:cNvSpPr>
              <a:spLocks noChangeArrowheads="1"/>
            </p:cNvSpPr>
            <p:nvPr/>
          </p:nvSpPr>
          <p:spPr bwMode="auto">
            <a:xfrm>
              <a:off x="4304" y="131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27" name="Rectangle 179"/>
            <p:cNvSpPr>
              <a:spLocks noChangeArrowheads="1"/>
            </p:cNvSpPr>
            <p:nvPr/>
          </p:nvSpPr>
          <p:spPr bwMode="auto">
            <a:xfrm>
              <a:off x="576" y="432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28" name="Rectangle 180"/>
            <p:cNvSpPr>
              <a:spLocks noChangeArrowheads="1"/>
            </p:cNvSpPr>
            <p:nvPr/>
          </p:nvSpPr>
          <p:spPr bwMode="auto">
            <a:xfrm>
              <a:off x="659" y="454"/>
              <a:ext cx="40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</a:t>
              </a:r>
              <a:endParaRPr lang="en-US"/>
            </a:p>
          </p:txBody>
        </p:sp>
        <p:sp>
          <p:nvSpPr>
            <p:cNvPr id="463029" name="Rectangle 181"/>
            <p:cNvSpPr>
              <a:spLocks noChangeArrowheads="1"/>
            </p:cNvSpPr>
            <p:nvPr/>
          </p:nvSpPr>
          <p:spPr bwMode="auto">
            <a:xfrm>
              <a:off x="1051" y="454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-</a:t>
              </a:r>
              <a:endParaRPr lang="en-US"/>
            </a:p>
          </p:txBody>
        </p:sp>
        <p:sp>
          <p:nvSpPr>
            <p:cNvPr id="463030" name="Rectangle 182"/>
            <p:cNvSpPr>
              <a:spLocks noChangeArrowheads="1"/>
            </p:cNvSpPr>
            <p:nvPr/>
          </p:nvSpPr>
          <p:spPr bwMode="auto">
            <a:xfrm>
              <a:off x="1118" y="45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luh</a:t>
              </a:r>
              <a:endParaRPr lang="en-US"/>
            </a:p>
          </p:txBody>
        </p:sp>
        <p:sp>
          <p:nvSpPr>
            <p:cNvPr id="463031" name="Rectangle 183"/>
            <p:cNvSpPr>
              <a:spLocks noChangeArrowheads="1"/>
            </p:cNvSpPr>
            <p:nvPr/>
          </p:nvSpPr>
          <p:spPr bwMode="auto">
            <a:xfrm>
              <a:off x="1313" y="454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.</a:t>
              </a:r>
              <a:endParaRPr lang="en-US"/>
            </a:p>
          </p:txBody>
        </p:sp>
        <p:sp>
          <p:nvSpPr>
            <p:cNvPr id="463032" name="Rectangle 184"/>
            <p:cNvSpPr>
              <a:spLocks noChangeArrowheads="1"/>
            </p:cNvSpPr>
            <p:nvPr/>
          </p:nvSpPr>
          <p:spPr bwMode="auto">
            <a:xfrm>
              <a:off x="1380" y="454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ys</a:t>
              </a:r>
              <a:endParaRPr lang="en-US"/>
            </a:p>
          </p:txBody>
        </p:sp>
        <p:sp>
          <p:nvSpPr>
            <p:cNvPr id="463033" name="Rectangle 185"/>
            <p:cNvSpPr>
              <a:spLocks noChangeArrowheads="1"/>
            </p:cNvSpPr>
            <p:nvPr/>
          </p:nvSpPr>
          <p:spPr bwMode="auto">
            <a:xfrm>
              <a:off x="576" y="1616"/>
              <a:ext cx="1388" cy="1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34" name="Rectangle 186"/>
            <p:cNvSpPr>
              <a:spLocks noChangeArrowheads="1"/>
            </p:cNvSpPr>
            <p:nvPr/>
          </p:nvSpPr>
          <p:spPr bwMode="auto">
            <a:xfrm>
              <a:off x="656" y="164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0x032:</a:t>
              </a:r>
              <a:endParaRPr lang="en-US" dirty="0"/>
            </a:p>
          </p:txBody>
        </p:sp>
        <p:sp>
          <p:nvSpPr>
            <p:cNvPr id="463035" name="Rectangle 187"/>
            <p:cNvSpPr>
              <a:spLocks noChangeArrowheads="1"/>
            </p:cNvSpPr>
            <p:nvPr/>
          </p:nvSpPr>
          <p:spPr bwMode="auto">
            <a:xfrm>
              <a:off x="1116" y="1641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63036" name="Rectangle 188"/>
            <p:cNvSpPr>
              <a:spLocks noChangeArrowheads="1"/>
            </p:cNvSpPr>
            <p:nvPr/>
          </p:nvSpPr>
          <p:spPr bwMode="auto">
            <a:xfrm>
              <a:off x="1444" y="1641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3037" name="Rectangle 189"/>
            <p:cNvSpPr>
              <a:spLocks noChangeArrowheads="1"/>
            </p:cNvSpPr>
            <p:nvPr/>
          </p:nvSpPr>
          <p:spPr bwMode="auto">
            <a:xfrm>
              <a:off x="1511" y="1641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ebx</a:t>
              </a:r>
              <a:endParaRPr lang="en-US"/>
            </a:p>
          </p:txBody>
        </p:sp>
        <p:sp>
          <p:nvSpPr>
            <p:cNvPr id="463038" name="Rectangle 190"/>
            <p:cNvSpPr>
              <a:spLocks noChangeArrowheads="1"/>
            </p:cNvSpPr>
            <p:nvPr/>
          </p:nvSpPr>
          <p:spPr bwMode="auto">
            <a:xfrm>
              <a:off x="1706" y="1641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</a:t>
              </a:r>
              <a:endParaRPr lang="en-US"/>
            </a:p>
          </p:txBody>
        </p:sp>
        <p:sp>
          <p:nvSpPr>
            <p:cNvPr id="463039" name="Rectangle 191"/>
            <p:cNvSpPr>
              <a:spLocks noChangeArrowheads="1"/>
            </p:cNvSpPr>
            <p:nvPr/>
          </p:nvSpPr>
          <p:spPr bwMode="auto">
            <a:xfrm>
              <a:off x="1772" y="1638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CC33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63040" name="Rectangle 192"/>
            <p:cNvSpPr>
              <a:spLocks noChangeArrowheads="1"/>
            </p:cNvSpPr>
            <p:nvPr/>
          </p:nvSpPr>
          <p:spPr bwMode="auto">
            <a:xfrm>
              <a:off x="1837" y="163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err="1">
                  <a:solidFill>
                    <a:srgbClr val="CC33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3041" name="Rectangle 193"/>
            <p:cNvSpPr>
              <a:spLocks noChangeArrowheads="1"/>
            </p:cNvSpPr>
            <p:nvPr/>
          </p:nvSpPr>
          <p:spPr bwMode="auto">
            <a:xfrm>
              <a:off x="2100" y="1638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Use %</a:t>
              </a:r>
              <a:endParaRPr lang="en-US"/>
            </a:p>
          </p:txBody>
        </p:sp>
        <p:sp>
          <p:nvSpPr>
            <p:cNvPr id="463042" name="Rectangle 194"/>
            <p:cNvSpPr>
              <a:spLocks noChangeArrowheads="1"/>
            </p:cNvSpPr>
            <p:nvPr/>
          </p:nvSpPr>
          <p:spPr bwMode="auto">
            <a:xfrm>
              <a:off x="2558" y="163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 err="1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63043" name="Rectangle 195"/>
            <p:cNvSpPr>
              <a:spLocks noChangeArrowheads="1"/>
            </p:cNvSpPr>
            <p:nvPr/>
          </p:nvSpPr>
          <p:spPr bwMode="auto">
            <a:xfrm>
              <a:off x="576" y="1780"/>
              <a:ext cx="1388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44" name="Rectangle 196"/>
            <p:cNvSpPr>
              <a:spLocks noChangeArrowheads="1"/>
            </p:cNvSpPr>
            <p:nvPr/>
          </p:nvSpPr>
          <p:spPr bwMode="auto">
            <a:xfrm>
              <a:off x="654" y="1805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0x034: halt</a:t>
              </a:r>
              <a:endParaRPr lang="en-US" dirty="0"/>
            </a:p>
          </p:txBody>
        </p:sp>
        <p:sp>
          <p:nvSpPr>
            <p:cNvPr id="463045" name="Rectangle 197"/>
            <p:cNvSpPr>
              <a:spLocks noChangeArrowheads="1"/>
            </p:cNvSpPr>
            <p:nvPr/>
          </p:nvSpPr>
          <p:spPr bwMode="auto">
            <a:xfrm>
              <a:off x="323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46" name="Rectangle 198"/>
            <p:cNvSpPr>
              <a:spLocks noChangeArrowheads="1"/>
            </p:cNvSpPr>
            <p:nvPr/>
          </p:nvSpPr>
          <p:spPr bwMode="auto">
            <a:xfrm>
              <a:off x="3344" y="131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47" name="Rectangle 199"/>
            <p:cNvSpPr>
              <a:spLocks noChangeArrowheads="1"/>
            </p:cNvSpPr>
            <p:nvPr/>
          </p:nvSpPr>
          <p:spPr bwMode="auto">
            <a:xfrm>
              <a:off x="3475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48" name="Rectangle 200"/>
            <p:cNvSpPr>
              <a:spLocks noChangeArrowheads="1"/>
            </p:cNvSpPr>
            <p:nvPr/>
          </p:nvSpPr>
          <p:spPr bwMode="auto">
            <a:xfrm>
              <a:off x="3582" y="131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49" name="Rectangle 201"/>
            <p:cNvSpPr>
              <a:spLocks noChangeArrowheads="1"/>
            </p:cNvSpPr>
            <p:nvPr/>
          </p:nvSpPr>
          <p:spPr bwMode="auto">
            <a:xfrm>
              <a:off x="372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0" name="Rectangle 202"/>
            <p:cNvSpPr>
              <a:spLocks noChangeArrowheads="1"/>
            </p:cNvSpPr>
            <p:nvPr/>
          </p:nvSpPr>
          <p:spPr bwMode="auto">
            <a:xfrm>
              <a:off x="3830" y="131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51" name="Rectangle 203"/>
            <p:cNvSpPr>
              <a:spLocks noChangeArrowheads="1"/>
            </p:cNvSpPr>
            <p:nvPr/>
          </p:nvSpPr>
          <p:spPr bwMode="auto">
            <a:xfrm>
              <a:off x="3965" y="129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2" name="Rectangle 204"/>
            <p:cNvSpPr>
              <a:spLocks noChangeArrowheads="1"/>
            </p:cNvSpPr>
            <p:nvPr/>
          </p:nvSpPr>
          <p:spPr bwMode="auto">
            <a:xfrm>
              <a:off x="4066" y="131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53" name="Rectangle 205"/>
            <p:cNvSpPr>
              <a:spLocks noChangeArrowheads="1"/>
            </p:cNvSpPr>
            <p:nvPr/>
          </p:nvSpPr>
          <p:spPr bwMode="auto">
            <a:xfrm>
              <a:off x="4210" y="129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4" name="Rectangle 206"/>
            <p:cNvSpPr>
              <a:spLocks noChangeArrowheads="1"/>
            </p:cNvSpPr>
            <p:nvPr/>
          </p:nvSpPr>
          <p:spPr bwMode="auto">
            <a:xfrm>
              <a:off x="4304" y="131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55" name="Rectangle 207"/>
            <p:cNvSpPr>
              <a:spLocks noChangeArrowheads="1"/>
            </p:cNvSpPr>
            <p:nvPr/>
          </p:nvSpPr>
          <p:spPr bwMode="auto">
            <a:xfrm>
              <a:off x="3965" y="1453"/>
              <a:ext cx="246" cy="164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6" name="Rectangle 208"/>
            <p:cNvSpPr>
              <a:spLocks noChangeArrowheads="1"/>
            </p:cNvSpPr>
            <p:nvPr/>
          </p:nvSpPr>
          <p:spPr bwMode="auto">
            <a:xfrm>
              <a:off x="4075" y="1477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57" name="Rectangle 209"/>
            <p:cNvSpPr>
              <a:spLocks noChangeArrowheads="1"/>
            </p:cNvSpPr>
            <p:nvPr/>
          </p:nvSpPr>
          <p:spPr bwMode="auto">
            <a:xfrm>
              <a:off x="4210" y="1453"/>
              <a:ext cx="246" cy="164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58" name="Rectangle 210"/>
            <p:cNvSpPr>
              <a:spLocks noChangeArrowheads="1"/>
            </p:cNvSpPr>
            <p:nvPr/>
          </p:nvSpPr>
          <p:spPr bwMode="auto">
            <a:xfrm>
              <a:off x="4311" y="1477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59" name="Rectangle 211"/>
            <p:cNvSpPr>
              <a:spLocks noChangeArrowheads="1"/>
            </p:cNvSpPr>
            <p:nvPr/>
          </p:nvSpPr>
          <p:spPr bwMode="auto">
            <a:xfrm>
              <a:off x="4455" y="1453"/>
              <a:ext cx="246" cy="164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0" name="Rectangle 212"/>
            <p:cNvSpPr>
              <a:spLocks noChangeArrowheads="1"/>
            </p:cNvSpPr>
            <p:nvPr/>
          </p:nvSpPr>
          <p:spPr bwMode="auto">
            <a:xfrm>
              <a:off x="4549" y="1477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61" name="Rectangle 213"/>
            <p:cNvSpPr>
              <a:spLocks noChangeArrowheads="1"/>
            </p:cNvSpPr>
            <p:nvPr/>
          </p:nvSpPr>
          <p:spPr bwMode="auto">
            <a:xfrm>
              <a:off x="4455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2" name="Rectangle 214"/>
            <p:cNvSpPr>
              <a:spLocks noChangeArrowheads="1"/>
            </p:cNvSpPr>
            <p:nvPr/>
          </p:nvSpPr>
          <p:spPr bwMode="auto">
            <a:xfrm>
              <a:off x="4555" y="470"/>
              <a:ext cx="8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63063" name="Rectangle 215"/>
            <p:cNvSpPr>
              <a:spLocks noChangeArrowheads="1"/>
            </p:cNvSpPr>
            <p:nvPr/>
          </p:nvSpPr>
          <p:spPr bwMode="auto">
            <a:xfrm>
              <a:off x="3720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4" name="Rectangle 216"/>
            <p:cNvSpPr>
              <a:spLocks noChangeArrowheads="1"/>
            </p:cNvSpPr>
            <p:nvPr/>
          </p:nvSpPr>
          <p:spPr bwMode="auto">
            <a:xfrm>
              <a:off x="3827" y="164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65" name="Rectangle 217"/>
            <p:cNvSpPr>
              <a:spLocks noChangeArrowheads="1"/>
            </p:cNvSpPr>
            <p:nvPr/>
          </p:nvSpPr>
          <p:spPr bwMode="auto">
            <a:xfrm>
              <a:off x="3965" y="1616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6" name="Rectangle 218"/>
            <p:cNvSpPr>
              <a:spLocks noChangeArrowheads="1"/>
            </p:cNvSpPr>
            <p:nvPr/>
          </p:nvSpPr>
          <p:spPr bwMode="auto">
            <a:xfrm>
              <a:off x="4072" y="1640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67" name="Rectangle 219"/>
            <p:cNvSpPr>
              <a:spLocks noChangeArrowheads="1"/>
            </p:cNvSpPr>
            <p:nvPr/>
          </p:nvSpPr>
          <p:spPr bwMode="auto">
            <a:xfrm>
              <a:off x="4210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68" name="Rectangle 220"/>
            <p:cNvSpPr>
              <a:spLocks noChangeArrowheads="1"/>
            </p:cNvSpPr>
            <p:nvPr/>
          </p:nvSpPr>
          <p:spPr bwMode="auto">
            <a:xfrm>
              <a:off x="4320" y="1640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69" name="Rectangle 221"/>
            <p:cNvSpPr>
              <a:spLocks noChangeArrowheads="1"/>
            </p:cNvSpPr>
            <p:nvPr/>
          </p:nvSpPr>
          <p:spPr bwMode="auto">
            <a:xfrm>
              <a:off x="4455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0" name="Rectangle 222"/>
            <p:cNvSpPr>
              <a:spLocks noChangeArrowheads="1"/>
            </p:cNvSpPr>
            <p:nvPr/>
          </p:nvSpPr>
          <p:spPr bwMode="auto">
            <a:xfrm>
              <a:off x="4556" y="1640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71" name="Rectangle 223"/>
            <p:cNvSpPr>
              <a:spLocks noChangeArrowheads="1"/>
            </p:cNvSpPr>
            <p:nvPr/>
          </p:nvSpPr>
          <p:spPr bwMode="auto">
            <a:xfrm>
              <a:off x="4700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2" name="Rectangle 224"/>
            <p:cNvSpPr>
              <a:spLocks noChangeArrowheads="1"/>
            </p:cNvSpPr>
            <p:nvPr/>
          </p:nvSpPr>
          <p:spPr bwMode="auto">
            <a:xfrm>
              <a:off x="4794" y="1640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73" name="Rectangle 225"/>
            <p:cNvSpPr>
              <a:spLocks noChangeArrowheads="1"/>
            </p:cNvSpPr>
            <p:nvPr/>
          </p:nvSpPr>
          <p:spPr bwMode="auto">
            <a:xfrm>
              <a:off x="4700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4" name="Rectangle 226"/>
            <p:cNvSpPr>
              <a:spLocks noChangeArrowheads="1"/>
            </p:cNvSpPr>
            <p:nvPr/>
          </p:nvSpPr>
          <p:spPr bwMode="auto">
            <a:xfrm>
              <a:off x="4800" y="470"/>
              <a:ext cx="8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11</a:t>
              </a:r>
              <a:endParaRPr lang="en-US"/>
            </a:p>
          </p:txBody>
        </p:sp>
        <p:sp>
          <p:nvSpPr>
            <p:cNvPr id="463075" name="Rectangle 227"/>
            <p:cNvSpPr>
              <a:spLocks noChangeArrowheads="1"/>
            </p:cNvSpPr>
            <p:nvPr/>
          </p:nvSpPr>
          <p:spPr bwMode="auto">
            <a:xfrm>
              <a:off x="576" y="1453"/>
              <a:ext cx="1266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6" name="Rectangle 228"/>
            <p:cNvSpPr>
              <a:spLocks noChangeArrowheads="1"/>
            </p:cNvSpPr>
            <p:nvPr/>
          </p:nvSpPr>
          <p:spPr bwMode="auto">
            <a:xfrm>
              <a:off x="1118" y="1474"/>
              <a:ext cx="40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i="1">
                  <a:solidFill>
                    <a:srgbClr val="000000"/>
                  </a:solidFill>
                  <a:latin typeface="Courier New" pitchFamily="49" charset="0"/>
                </a:rPr>
                <a:t>bubble</a:t>
              </a:r>
              <a:endParaRPr lang="en-US"/>
            </a:p>
          </p:txBody>
        </p:sp>
        <p:sp>
          <p:nvSpPr>
            <p:cNvPr id="463077" name="Rectangle 229"/>
            <p:cNvSpPr>
              <a:spLocks noChangeArrowheads="1"/>
            </p:cNvSpPr>
            <p:nvPr/>
          </p:nvSpPr>
          <p:spPr bwMode="auto">
            <a:xfrm>
              <a:off x="3965" y="1780"/>
              <a:ext cx="246" cy="164"/>
            </a:xfrm>
            <a:prstGeom prst="rect">
              <a:avLst/>
            </a:prstGeom>
            <a:solidFill>
              <a:srgbClr val="66CC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78" name="Rectangle 230"/>
            <p:cNvSpPr>
              <a:spLocks noChangeArrowheads="1"/>
            </p:cNvSpPr>
            <p:nvPr/>
          </p:nvSpPr>
          <p:spPr bwMode="auto">
            <a:xfrm>
              <a:off x="4079" y="180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79" name="Rectangle 231"/>
            <p:cNvSpPr>
              <a:spLocks noChangeArrowheads="1"/>
            </p:cNvSpPr>
            <p:nvPr/>
          </p:nvSpPr>
          <p:spPr bwMode="auto">
            <a:xfrm>
              <a:off x="4210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0" name="Rectangle 232"/>
            <p:cNvSpPr>
              <a:spLocks noChangeArrowheads="1"/>
            </p:cNvSpPr>
            <p:nvPr/>
          </p:nvSpPr>
          <p:spPr bwMode="auto">
            <a:xfrm>
              <a:off x="4317" y="1803"/>
              <a:ext cx="8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63081" name="Rectangle 233"/>
            <p:cNvSpPr>
              <a:spLocks noChangeArrowheads="1"/>
            </p:cNvSpPr>
            <p:nvPr/>
          </p:nvSpPr>
          <p:spPr bwMode="auto">
            <a:xfrm>
              <a:off x="4455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2" name="Rectangle 234"/>
            <p:cNvSpPr>
              <a:spLocks noChangeArrowheads="1"/>
            </p:cNvSpPr>
            <p:nvPr/>
          </p:nvSpPr>
          <p:spPr bwMode="auto">
            <a:xfrm>
              <a:off x="4565" y="1803"/>
              <a:ext cx="7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63083" name="Rectangle 235"/>
            <p:cNvSpPr>
              <a:spLocks noChangeArrowheads="1"/>
            </p:cNvSpPr>
            <p:nvPr/>
          </p:nvSpPr>
          <p:spPr bwMode="auto">
            <a:xfrm>
              <a:off x="4700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4" name="Rectangle 236"/>
            <p:cNvSpPr>
              <a:spLocks noChangeArrowheads="1"/>
            </p:cNvSpPr>
            <p:nvPr/>
          </p:nvSpPr>
          <p:spPr bwMode="auto">
            <a:xfrm>
              <a:off x="4801" y="1803"/>
              <a:ext cx="93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63085" name="Rectangle 237"/>
            <p:cNvSpPr>
              <a:spLocks noChangeArrowheads="1"/>
            </p:cNvSpPr>
            <p:nvPr/>
          </p:nvSpPr>
          <p:spPr bwMode="auto">
            <a:xfrm>
              <a:off x="4945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6" name="Rectangle 238"/>
            <p:cNvSpPr>
              <a:spLocks noChangeArrowheads="1"/>
            </p:cNvSpPr>
            <p:nvPr/>
          </p:nvSpPr>
          <p:spPr bwMode="auto">
            <a:xfrm>
              <a:off x="5039" y="1803"/>
              <a:ext cx="10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63087" name="Rectangle 239"/>
            <p:cNvSpPr>
              <a:spLocks noChangeArrowheads="1"/>
            </p:cNvSpPr>
            <p:nvPr/>
          </p:nvSpPr>
          <p:spPr bwMode="auto">
            <a:xfrm>
              <a:off x="3475" y="1616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88" name="Rectangle 240"/>
            <p:cNvSpPr>
              <a:spLocks noChangeArrowheads="1"/>
            </p:cNvSpPr>
            <p:nvPr/>
          </p:nvSpPr>
          <p:spPr bwMode="auto">
            <a:xfrm>
              <a:off x="3589" y="1640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63089" name="Rectangle 241"/>
            <p:cNvSpPr>
              <a:spLocks noChangeArrowheads="1"/>
            </p:cNvSpPr>
            <p:nvPr/>
          </p:nvSpPr>
          <p:spPr bwMode="auto">
            <a:xfrm>
              <a:off x="3720" y="1780"/>
              <a:ext cx="246" cy="164"/>
            </a:xfrm>
            <a:prstGeom prst="rect">
              <a:avLst/>
            </a:prstGeom>
            <a:solidFill>
              <a:srgbClr val="CC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90" name="Rectangle 242"/>
            <p:cNvSpPr>
              <a:spLocks noChangeArrowheads="1"/>
            </p:cNvSpPr>
            <p:nvPr/>
          </p:nvSpPr>
          <p:spPr bwMode="auto">
            <a:xfrm>
              <a:off x="3834" y="1803"/>
              <a:ext cx="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grpSp>
          <p:nvGrpSpPr>
            <p:cNvPr id="463094" name="Group 246"/>
            <p:cNvGrpSpPr>
              <a:grpSpLocks/>
            </p:cNvGrpSpPr>
            <p:nvPr/>
          </p:nvGrpSpPr>
          <p:grpSpPr bwMode="auto">
            <a:xfrm>
              <a:off x="3876" y="1510"/>
              <a:ext cx="89" cy="106"/>
              <a:chOff x="3876" y="1510"/>
              <a:chExt cx="89" cy="106"/>
            </a:xfrm>
          </p:grpSpPr>
          <p:sp>
            <p:nvSpPr>
              <p:cNvPr id="463091" name="Freeform 243"/>
              <p:cNvSpPr>
                <a:spLocks/>
              </p:cNvSpPr>
              <p:nvPr/>
            </p:nvSpPr>
            <p:spPr bwMode="auto">
              <a:xfrm>
                <a:off x="3883" y="1535"/>
                <a:ext cx="34" cy="81"/>
              </a:xfrm>
              <a:custGeom>
                <a:avLst/>
                <a:gdLst/>
                <a:ahLst/>
                <a:cxnLst>
                  <a:cxn ang="0">
                    <a:pos x="0" y="164"/>
                  </a:cxn>
                  <a:cxn ang="0">
                    <a:pos x="0" y="0"/>
                  </a:cxn>
                  <a:cxn ang="0">
                    <a:pos x="69" y="0"/>
                  </a:cxn>
                  <a:cxn ang="0">
                    <a:pos x="0" y="164"/>
                  </a:cxn>
                </a:cxnLst>
                <a:rect l="0" t="0" r="r" b="b"/>
                <a:pathLst>
                  <a:path w="69" h="164">
                    <a:moveTo>
                      <a:pt x="0" y="164"/>
                    </a:moveTo>
                    <a:lnTo>
                      <a:pt x="0" y="0"/>
                    </a:lnTo>
                    <a:lnTo>
                      <a:pt x="69" y="0"/>
                    </a:lnTo>
                    <a:lnTo>
                      <a:pt x="0" y="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092" name="Freeform 244"/>
              <p:cNvSpPr>
                <a:spLocks/>
              </p:cNvSpPr>
              <p:nvPr/>
            </p:nvSpPr>
            <p:spPr bwMode="auto">
              <a:xfrm>
                <a:off x="3876" y="1527"/>
                <a:ext cx="41" cy="89"/>
              </a:xfrm>
              <a:custGeom>
                <a:avLst/>
                <a:gdLst/>
                <a:ahLst/>
                <a:cxnLst>
                  <a:cxn ang="0">
                    <a:pos x="0" y="179"/>
                  </a:cxn>
                  <a:cxn ang="0">
                    <a:pos x="31" y="179"/>
                  </a:cxn>
                  <a:cxn ang="0">
                    <a:pos x="31" y="15"/>
                  </a:cxn>
                  <a:cxn ang="0">
                    <a:pos x="15" y="15"/>
                  </a:cxn>
                  <a:cxn ang="0">
                    <a:pos x="15" y="30"/>
                  </a:cxn>
                  <a:cxn ang="0">
                    <a:pos x="21" y="29"/>
                  </a:cxn>
                  <a:cxn ang="0">
                    <a:pos x="26" y="25"/>
                  </a:cxn>
                  <a:cxn ang="0">
                    <a:pos x="29" y="20"/>
                  </a:cxn>
                  <a:cxn ang="0">
                    <a:pos x="15" y="30"/>
                  </a:cxn>
                  <a:cxn ang="0">
                    <a:pos x="84" y="30"/>
                  </a:cxn>
                  <a:cxn ang="0">
                    <a:pos x="84" y="0"/>
                  </a:cxn>
                  <a:cxn ang="0">
                    <a:pos x="15" y="0"/>
                  </a:cxn>
                  <a:cxn ang="0">
                    <a:pos x="15" y="0"/>
                  </a:cxn>
                  <a:cxn ang="0">
                    <a:pos x="10" y="2"/>
                  </a:cxn>
                  <a:cxn ang="0">
                    <a:pos x="5" y="5"/>
                  </a:cxn>
                  <a:cxn ang="0">
                    <a:pos x="2" y="10"/>
                  </a:cxn>
                  <a:cxn ang="0">
                    <a:pos x="0" y="15"/>
                  </a:cxn>
                  <a:cxn ang="0">
                    <a:pos x="0" y="15"/>
                  </a:cxn>
                  <a:cxn ang="0">
                    <a:pos x="0" y="179"/>
                  </a:cxn>
                </a:cxnLst>
                <a:rect l="0" t="0" r="r" b="b"/>
                <a:pathLst>
                  <a:path w="84" h="179">
                    <a:moveTo>
                      <a:pt x="0" y="179"/>
                    </a:moveTo>
                    <a:lnTo>
                      <a:pt x="31" y="179"/>
                    </a:lnTo>
                    <a:lnTo>
                      <a:pt x="31" y="15"/>
                    </a:lnTo>
                    <a:lnTo>
                      <a:pt x="15" y="15"/>
                    </a:lnTo>
                    <a:lnTo>
                      <a:pt x="15" y="30"/>
                    </a:lnTo>
                    <a:lnTo>
                      <a:pt x="21" y="29"/>
                    </a:lnTo>
                    <a:lnTo>
                      <a:pt x="26" y="25"/>
                    </a:lnTo>
                    <a:lnTo>
                      <a:pt x="29" y="20"/>
                    </a:lnTo>
                    <a:lnTo>
                      <a:pt x="15" y="30"/>
                    </a:lnTo>
                    <a:lnTo>
                      <a:pt x="84" y="30"/>
                    </a:lnTo>
                    <a:lnTo>
                      <a:pt x="8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0" y="2"/>
                    </a:lnTo>
                    <a:lnTo>
                      <a:pt x="5" y="5"/>
                    </a:lnTo>
                    <a:lnTo>
                      <a:pt x="2" y="10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0" y="17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093" name="Freeform 245"/>
              <p:cNvSpPr>
                <a:spLocks/>
              </p:cNvSpPr>
              <p:nvPr/>
            </p:nvSpPr>
            <p:spPr bwMode="auto">
              <a:xfrm>
                <a:off x="3916" y="1510"/>
                <a:ext cx="49" cy="50"/>
              </a:xfrm>
              <a:custGeom>
                <a:avLst/>
                <a:gdLst/>
                <a:ahLst/>
                <a:cxnLst>
                  <a:cxn ang="0">
                    <a:pos x="0" y="100"/>
                  </a:cxn>
                  <a:cxn ang="0">
                    <a:pos x="99" y="49"/>
                  </a:cxn>
                  <a:cxn ang="0">
                    <a:pos x="0" y="0"/>
                  </a:cxn>
                  <a:cxn ang="0">
                    <a:pos x="0" y="100"/>
                  </a:cxn>
                </a:cxnLst>
                <a:rect l="0" t="0" r="r" b="b"/>
                <a:pathLst>
                  <a:path w="99" h="100">
                    <a:moveTo>
                      <a:pt x="0" y="100"/>
                    </a:moveTo>
                    <a:lnTo>
                      <a:pt x="99" y="49"/>
                    </a:lnTo>
                    <a:lnTo>
                      <a:pt x="0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63095" name="Rectangle 247"/>
            <p:cNvSpPr>
              <a:spLocks noChangeArrowheads="1"/>
            </p:cNvSpPr>
            <p:nvPr/>
          </p:nvSpPr>
          <p:spPr bwMode="auto">
            <a:xfrm>
              <a:off x="4904" y="432"/>
              <a:ext cx="245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3096" name="Rectangle 248"/>
            <p:cNvSpPr>
              <a:spLocks noChangeArrowheads="1"/>
            </p:cNvSpPr>
            <p:nvPr/>
          </p:nvSpPr>
          <p:spPr bwMode="auto">
            <a:xfrm>
              <a:off x="5004" y="470"/>
              <a:ext cx="8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3333CC"/>
                  </a:solidFill>
                </a:rPr>
                <a:t>12</a:t>
              </a:r>
              <a:endParaRPr lang="en-US"/>
            </a:p>
          </p:txBody>
        </p:sp>
      </p:grpSp>
      <p:graphicFrame>
        <p:nvGraphicFramePr>
          <p:cNvPr id="462853" name="Group 5"/>
          <p:cNvGraphicFramePr>
            <a:graphicFrameLocks noGrp="1"/>
          </p:cNvGraphicFramePr>
          <p:nvPr/>
        </p:nvGraphicFramePr>
        <p:xfrm>
          <a:off x="457200" y="5029200"/>
          <a:ext cx="7689850" cy="942976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9231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Misprediction Example</a:t>
            </a:r>
          </a:p>
        </p:txBody>
      </p:sp>
      <p:sp>
        <p:nvSpPr>
          <p:cNvPr id="428036" name="Rectangle 4"/>
          <p:cNvSpPr>
            <a:spLocks noGrp="1" noChangeArrowheads="1"/>
          </p:cNvSpPr>
          <p:nvPr>
            <p:ph idx="1"/>
          </p:nvPr>
        </p:nvSpPr>
        <p:spPr>
          <a:xfrm>
            <a:off x="290513" y="4953000"/>
            <a:ext cx="8294687" cy="1479550"/>
          </a:xfrm>
        </p:spPr>
        <p:txBody>
          <a:bodyPr/>
          <a:lstStyle/>
          <a:p>
            <a:pPr lvl="1"/>
            <a:r>
              <a:rPr lang="en-US"/>
              <a:t>Should only execute first 8 instructions</a:t>
            </a:r>
          </a:p>
        </p:txBody>
      </p:sp>
      <p:sp>
        <p:nvSpPr>
          <p:cNvPr id="428035" name="Text Box 3"/>
          <p:cNvSpPr txBox="1">
            <a:spLocks noChangeArrowheads="1"/>
          </p:cNvSpPr>
          <p:nvPr/>
        </p:nvSpPr>
        <p:spPr bwMode="auto">
          <a:xfrm>
            <a:off x="381000" y="1828800"/>
            <a:ext cx="8610600" cy="3139321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0x000:    </a:t>
            </a:r>
            <a:r>
              <a:rPr lang="en-US" dirty="0" err="1">
                <a:latin typeface="Courier New" pitchFamily="49" charset="0"/>
              </a:rPr>
              <a:t>xorq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,%</a:t>
            </a:r>
            <a:r>
              <a:rPr lang="en-US" dirty="0" err="1">
                <a:latin typeface="Courier New" pitchFamily="49" charset="0"/>
              </a:rPr>
              <a:t>rax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0x002:    </a:t>
            </a:r>
            <a:r>
              <a:rPr lang="en-US" i="1" dirty="0" err="1">
                <a:latin typeface="Courier New" pitchFamily="49" charset="0"/>
              </a:rPr>
              <a:t>jne</a:t>
            </a:r>
            <a:r>
              <a:rPr lang="en-US" i="1" dirty="0">
                <a:latin typeface="Courier New" pitchFamily="49" charset="0"/>
              </a:rPr>
              <a:t>  t </a:t>
            </a:r>
            <a:r>
              <a:rPr lang="en-US" dirty="0">
                <a:latin typeface="Courier New" pitchFamily="49" charset="0"/>
              </a:rPr>
              <a:t>            # Not taken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0x00b:   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</a:rPr>
              <a:t>irmovq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 $1, %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</a:rPr>
              <a:t>rax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Fall through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0x015: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0x016: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0x017: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0x018:    halt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0x019: t: 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</a:rPr>
              <a:t>irmovq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</a:rPr>
              <a:t> $3, %</a:t>
            </a:r>
            <a:r>
              <a:rPr lang="en-US" dirty="0" err="1">
                <a:solidFill>
                  <a:srgbClr val="008000"/>
                </a:solidFill>
                <a:latin typeface="Courier New" pitchFamily="49" charset="0"/>
              </a:rPr>
              <a:t>rdx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Target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0x023: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$4, %</a:t>
            </a:r>
            <a:r>
              <a:rPr lang="en-US" dirty="0" err="1">
                <a:latin typeface="Courier New" pitchFamily="49" charset="0"/>
              </a:rPr>
              <a:t>rcx</a:t>
            </a:r>
            <a:r>
              <a:rPr lang="en-US" dirty="0">
                <a:latin typeface="Courier New" pitchFamily="49" charset="0"/>
              </a:rPr>
              <a:t>    # Should not execute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0x02d: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$5, %</a:t>
            </a:r>
            <a:r>
              <a:rPr lang="en-US" dirty="0" err="1">
                <a:latin typeface="Courier New" pitchFamily="49" charset="0"/>
              </a:rPr>
              <a:t>rdx</a:t>
            </a:r>
            <a:r>
              <a:rPr lang="en-US" dirty="0">
                <a:latin typeface="Courier New" pitchFamily="49" charset="0"/>
              </a:rPr>
              <a:t>    # Should not execute</a:t>
            </a:r>
          </a:p>
          <a:p>
            <a:pPr algn="l">
              <a:lnSpc>
                <a:spcPct val="100000"/>
              </a:lnSpc>
            </a:pPr>
            <a:endParaRPr lang="en-US" dirty="0">
              <a:latin typeface="Courier New" pitchFamily="49" charset="0"/>
            </a:endParaRPr>
          </a:p>
        </p:txBody>
      </p:sp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787400" y="1219200"/>
            <a:ext cx="132080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latin typeface="Courier New" pitchFamily="49" charset="0"/>
              </a:rPr>
              <a:t>demo-j.ys</a:t>
            </a:r>
          </a:p>
        </p:txBody>
      </p:sp>
    </p:spTree>
    <p:extLst>
      <p:ext uri="{BB962C8B-B14F-4D97-AF65-F5344CB8AC3E}">
        <p14:creationId xmlns:p14="http://schemas.microsoft.com/office/powerpoint/2010/main" val="4542640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0"/>
            <a:ext cx="8704262" cy="779463"/>
          </a:xfrm>
        </p:spPr>
        <p:txBody>
          <a:bodyPr/>
          <a:lstStyle/>
          <a:p>
            <a:r>
              <a:rPr lang="en-US"/>
              <a:t>Handling Misprediction</a:t>
            </a:r>
          </a:p>
        </p:txBody>
      </p:sp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304800" y="3657600"/>
            <a:ext cx="8001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Predict branch as taken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Fetch 2 instructions at target</a:t>
            </a:r>
          </a:p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Cancel when mispredicted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Detect branch not-taken in execute stage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On following cycle, replace instructions in execute and decode by bubbles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No side effects have occurred yet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679450"/>
            <a:ext cx="77089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997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266" y="69850"/>
            <a:ext cx="7580881" cy="760589"/>
          </a:xfrm>
        </p:spPr>
        <p:txBody>
          <a:bodyPr/>
          <a:lstStyle/>
          <a:p>
            <a:r>
              <a:rPr lang="en-US" dirty="0"/>
              <a:t>Detecting </a:t>
            </a:r>
            <a:r>
              <a:rPr lang="en-US" dirty="0" err="1"/>
              <a:t>Mispredicted</a:t>
            </a:r>
            <a:r>
              <a:rPr lang="en-US" dirty="0"/>
              <a:t> Branch</a:t>
            </a:r>
          </a:p>
        </p:txBody>
      </p:sp>
      <p:graphicFrame>
        <p:nvGraphicFramePr>
          <p:cNvPr id="458784" name="Group 32"/>
          <p:cNvGraphicFramePr>
            <a:graphicFrameLocks noGrp="1"/>
          </p:cNvGraphicFramePr>
          <p:nvPr>
            <p:extLst/>
          </p:nvPr>
        </p:nvGraphicFramePr>
        <p:xfrm>
          <a:off x="1219200" y="4191000"/>
          <a:ext cx="6630988" cy="941388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Trigger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= IJXX &amp; !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e_Cnd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Courier New"/>
                        <a:cs typeface="Courier New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62220" name="Picture 244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4650" y="984250"/>
            <a:ext cx="8093075" cy="2882692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9855742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0"/>
            <a:ext cx="8704262" cy="779463"/>
          </a:xfrm>
        </p:spPr>
        <p:txBody>
          <a:bodyPr/>
          <a:lstStyle/>
          <a:p>
            <a:r>
              <a:rPr lang="en-US"/>
              <a:t>Control for Misprediction</a:t>
            </a:r>
          </a:p>
        </p:txBody>
      </p:sp>
      <p:sp>
        <p:nvSpPr>
          <p:cNvPr id="463875" name="Rectangle 3"/>
          <p:cNvSpPr>
            <a:spLocks noChangeArrowheads="1"/>
          </p:cNvSpPr>
          <p:nvPr/>
        </p:nvSpPr>
        <p:spPr bwMode="auto">
          <a:xfrm>
            <a:off x="304800" y="3657600"/>
            <a:ext cx="8001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endParaRPr lang="en-US" sz="240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463914" name="Group 42"/>
          <p:cNvGraphicFramePr>
            <a:graphicFrameLocks noGrp="1"/>
          </p:cNvGraphicFramePr>
          <p:nvPr/>
        </p:nvGraphicFramePr>
        <p:xfrm>
          <a:off x="762000" y="4800600"/>
          <a:ext cx="7689850" cy="941388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136650"/>
            <a:ext cx="77089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945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228600" y="1371600"/>
            <a:ext cx="8610600" cy="36623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0x000: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Stack,%</a:t>
            </a:r>
            <a:r>
              <a:rPr lang="en-US" dirty="0" err="1">
                <a:latin typeface="Courier New" pitchFamily="49" charset="0"/>
              </a:rPr>
              <a:t>rsp</a:t>
            </a:r>
            <a:r>
              <a:rPr lang="en-US" dirty="0">
                <a:latin typeface="Courier New" pitchFamily="49" charset="0"/>
              </a:rPr>
              <a:t>  # </a:t>
            </a:r>
            <a:r>
              <a:rPr lang="en-US" dirty="0" err="1">
                <a:latin typeface="Courier New" pitchFamily="49" charset="0"/>
              </a:rPr>
              <a:t>Intialize</a:t>
            </a:r>
            <a:r>
              <a:rPr lang="en-US" dirty="0">
                <a:latin typeface="Courier New" pitchFamily="49" charset="0"/>
              </a:rPr>
              <a:t> stack pointer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0x00a:    call p             # Procedure call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0x013:   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</a:rPr>
              <a:t>irmovq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 $5,%rsi</a:t>
            </a:r>
            <a:r>
              <a:rPr lang="en-US" dirty="0">
                <a:latin typeface="Courier New" pitchFamily="49" charset="0"/>
              </a:rPr>
              <a:t>     # Return point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0x01d:    halt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0x020: .</a:t>
            </a:r>
            <a:r>
              <a:rPr lang="en-US" dirty="0" err="1">
                <a:latin typeface="Courier New" pitchFamily="49" charset="0"/>
              </a:rPr>
              <a:t>pos</a:t>
            </a:r>
            <a:r>
              <a:rPr lang="en-US" dirty="0">
                <a:latin typeface="Courier New" pitchFamily="49" charset="0"/>
              </a:rPr>
              <a:t> 0x20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0x020: p: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$-1,%rdi    # procedure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0x02a:    </a:t>
            </a:r>
            <a:r>
              <a:rPr lang="en-US" dirty="0">
                <a:solidFill>
                  <a:srgbClr val="008000"/>
                </a:solidFill>
                <a:latin typeface="Courier New" pitchFamily="49" charset="0"/>
              </a:rPr>
              <a:t>ret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0x02b: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$1,%rax     # Should not be executed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0x035: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$2,%rcx     # Should not be executed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0x03f: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$3,%rdx     # Should not be executed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0x049: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$4,%rbx     # Should not be executed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0x100: .</a:t>
            </a:r>
            <a:r>
              <a:rPr lang="en-US" dirty="0" err="1">
                <a:latin typeface="Courier New" pitchFamily="49" charset="0"/>
              </a:rPr>
              <a:t>pos</a:t>
            </a:r>
            <a:r>
              <a:rPr lang="en-US" dirty="0">
                <a:latin typeface="Courier New" pitchFamily="49" charset="0"/>
              </a:rPr>
              <a:t> 0x100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0x100: Stack:                # Stack: Stack pointer</a:t>
            </a:r>
          </a:p>
        </p:txBody>
      </p:sp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Return Example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334000"/>
            <a:ext cx="8294688" cy="488950"/>
          </a:xfrm>
        </p:spPr>
        <p:txBody>
          <a:bodyPr/>
          <a:lstStyle/>
          <a:p>
            <a:pPr lvl="1"/>
            <a:r>
              <a:rPr lang="en-US"/>
              <a:t>Previously executed three additional instructions</a:t>
            </a:r>
          </a:p>
        </p:txBody>
      </p:sp>
      <p:sp>
        <p:nvSpPr>
          <p:cNvPr id="432133" name="Text Box 5"/>
          <p:cNvSpPr txBox="1">
            <a:spLocks noChangeArrowheads="1"/>
          </p:cNvSpPr>
          <p:nvPr/>
        </p:nvSpPr>
        <p:spPr bwMode="auto">
          <a:xfrm>
            <a:off x="5265738" y="304800"/>
            <a:ext cx="17303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latin typeface="Courier New" pitchFamily="49" charset="0"/>
              </a:rPr>
              <a:t>demo-retb.ys</a:t>
            </a:r>
          </a:p>
        </p:txBody>
      </p:sp>
    </p:spTree>
    <p:extLst>
      <p:ext uri="{BB962C8B-B14F-4D97-AF65-F5344CB8AC3E}">
        <p14:creationId xmlns:p14="http://schemas.microsoft.com/office/powerpoint/2010/main" val="21189734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10" name="Rectangle 6"/>
          <p:cNvSpPr>
            <a:spLocks noChangeArrowheads="1"/>
          </p:cNvSpPr>
          <p:nvPr/>
        </p:nvSpPr>
        <p:spPr bwMode="auto">
          <a:xfrm>
            <a:off x="990600" y="9906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1" name="Rectangle 7"/>
          <p:cNvSpPr>
            <a:spLocks noChangeArrowheads="1"/>
          </p:cNvSpPr>
          <p:nvPr/>
        </p:nvSpPr>
        <p:spPr bwMode="auto">
          <a:xfrm>
            <a:off x="1082675" y="1052513"/>
            <a:ext cx="14890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0x026:    ret</a:t>
            </a:r>
            <a:endParaRPr lang="en-US"/>
          </a:p>
        </p:txBody>
      </p:sp>
      <p:sp>
        <p:nvSpPr>
          <p:cNvPr id="431112" name="Rectangle 8"/>
          <p:cNvSpPr>
            <a:spLocks noChangeArrowheads="1"/>
          </p:cNvSpPr>
          <p:nvPr/>
        </p:nvSpPr>
        <p:spPr bwMode="auto">
          <a:xfrm>
            <a:off x="40386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3" name="Rectangle 9"/>
          <p:cNvSpPr>
            <a:spLocks noChangeArrowheads="1"/>
          </p:cNvSpPr>
          <p:nvPr/>
        </p:nvSpPr>
        <p:spPr bwMode="auto">
          <a:xfrm>
            <a:off x="4205288" y="10350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14" name="Rectangle 10"/>
          <p:cNvSpPr>
            <a:spLocks noChangeArrowheads="1"/>
          </p:cNvSpPr>
          <p:nvPr/>
        </p:nvSpPr>
        <p:spPr bwMode="auto">
          <a:xfrm>
            <a:off x="44958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5" name="Rectangle 11"/>
          <p:cNvSpPr>
            <a:spLocks noChangeArrowheads="1"/>
          </p:cNvSpPr>
          <p:nvPr/>
        </p:nvSpPr>
        <p:spPr bwMode="auto">
          <a:xfrm>
            <a:off x="4651375" y="10350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16" name="Rectangle 12"/>
          <p:cNvSpPr>
            <a:spLocks noChangeArrowheads="1"/>
          </p:cNvSpPr>
          <p:nvPr/>
        </p:nvSpPr>
        <p:spPr bwMode="auto">
          <a:xfrm>
            <a:off x="49530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7" name="Rectangle 13"/>
          <p:cNvSpPr>
            <a:spLocks noChangeArrowheads="1"/>
          </p:cNvSpPr>
          <p:nvPr/>
        </p:nvSpPr>
        <p:spPr bwMode="auto">
          <a:xfrm>
            <a:off x="5113338" y="10350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18" name="Rectangle 14"/>
          <p:cNvSpPr>
            <a:spLocks noChangeArrowheads="1"/>
          </p:cNvSpPr>
          <p:nvPr/>
        </p:nvSpPr>
        <p:spPr bwMode="auto">
          <a:xfrm>
            <a:off x="54102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19" name="Rectangle 15"/>
          <p:cNvSpPr>
            <a:spLocks noChangeArrowheads="1"/>
          </p:cNvSpPr>
          <p:nvPr/>
        </p:nvSpPr>
        <p:spPr bwMode="auto">
          <a:xfrm>
            <a:off x="5553075" y="10350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20" name="Rectangle 16"/>
          <p:cNvSpPr>
            <a:spLocks noChangeArrowheads="1"/>
          </p:cNvSpPr>
          <p:nvPr/>
        </p:nvSpPr>
        <p:spPr bwMode="auto">
          <a:xfrm>
            <a:off x="63246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1" name="Rectangle 17"/>
          <p:cNvSpPr>
            <a:spLocks noChangeArrowheads="1"/>
          </p:cNvSpPr>
          <p:nvPr/>
        </p:nvSpPr>
        <p:spPr bwMode="auto">
          <a:xfrm>
            <a:off x="6453188" y="13398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22" name="Rectangle 18"/>
          <p:cNvSpPr>
            <a:spLocks noChangeArrowheads="1"/>
          </p:cNvSpPr>
          <p:nvPr/>
        </p:nvSpPr>
        <p:spPr bwMode="auto">
          <a:xfrm>
            <a:off x="990600" y="12954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3" name="Rectangle 19"/>
          <p:cNvSpPr>
            <a:spLocks noChangeArrowheads="1"/>
          </p:cNvSpPr>
          <p:nvPr/>
        </p:nvSpPr>
        <p:spPr bwMode="auto">
          <a:xfrm>
            <a:off x="2146300" y="1347788"/>
            <a:ext cx="74453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Courier New" pitchFamily="49" charset="0"/>
              </a:rPr>
              <a:t>bubble</a:t>
            </a:r>
            <a:endParaRPr lang="en-US"/>
          </a:p>
        </p:txBody>
      </p:sp>
      <p:sp>
        <p:nvSpPr>
          <p:cNvPr id="431124" name="Rectangle 20"/>
          <p:cNvSpPr>
            <a:spLocks noChangeArrowheads="1"/>
          </p:cNvSpPr>
          <p:nvPr/>
        </p:nvSpPr>
        <p:spPr bwMode="auto">
          <a:xfrm>
            <a:off x="44958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5" name="Rectangle 21"/>
          <p:cNvSpPr>
            <a:spLocks noChangeArrowheads="1"/>
          </p:cNvSpPr>
          <p:nvPr/>
        </p:nvSpPr>
        <p:spPr bwMode="auto">
          <a:xfrm>
            <a:off x="4662488" y="13398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26" name="Rectangle 22"/>
          <p:cNvSpPr>
            <a:spLocks noChangeArrowheads="1"/>
          </p:cNvSpPr>
          <p:nvPr/>
        </p:nvSpPr>
        <p:spPr bwMode="auto">
          <a:xfrm>
            <a:off x="49530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7" name="Rectangle 23"/>
          <p:cNvSpPr>
            <a:spLocks noChangeArrowheads="1"/>
          </p:cNvSpPr>
          <p:nvPr/>
        </p:nvSpPr>
        <p:spPr bwMode="auto">
          <a:xfrm>
            <a:off x="5108575" y="13398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28" name="Rectangle 24"/>
          <p:cNvSpPr>
            <a:spLocks noChangeArrowheads="1"/>
          </p:cNvSpPr>
          <p:nvPr/>
        </p:nvSpPr>
        <p:spPr bwMode="auto">
          <a:xfrm>
            <a:off x="54102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29" name="Rectangle 25"/>
          <p:cNvSpPr>
            <a:spLocks noChangeArrowheads="1"/>
          </p:cNvSpPr>
          <p:nvPr/>
        </p:nvSpPr>
        <p:spPr bwMode="auto">
          <a:xfrm>
            <a:off x="5570538" y="13398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30" name="Rectangle 26"/>
          <p:cNvSpPr>
            <a:spLocks noChangeArrowheads="1"/>
          </p:cNvSpPr>
          <p:nvPr/>
        </p:nvSpPr>
        <p:spPr bwMode="auto">
          <a:xfrm>
            <a:off x="5867400" y="1295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1" name="Rectangle 27"/>
          <p:cNvSpPr>
            <a:spLocks noChangeArrowheads="1"/>
          </p:cNvSpPr>
          <p:nvPr/>
        </p:nvSpPr>
        <p:spPr bwMode="auto">
          <a:xfrm>
            <a:off x="6010275" y="13398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32" name="Rectangle 28"/>
          <p:cNvSpPr>
            <a:spLocks noChangeArrowheads="1"/>
          </p:cNvSpPr>
          <p:nvPr/>
        </p:nvSpPr>
        <p:spPr bwMode="auto">
          <a:xfrm>
            <a:off x="5867400" y="9906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3" name="Rectangle 29"/>
          <p:cNvSpPr>
            <a:spLocks noChangeArrowheads="1"/>
          </p:cNvSpPr>
          <p:nvPr/>
        </p:nvSpPr>
        <p:spPr bwMode="auto">
          <a:xfrm>
            <a:off x="5995988" y="10350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34" name="Rectangle 30"/>
          <p:cNvSpPr>
            <a:spLocks noChangeArrowheads="1"/>
          </p:cNvSpPr>
          <p:nvPr/>
        </p:nvSpPr>
        <p:spPr bwMode="auto">
          <a:xfrm>
            <a:off x="990600" y="16002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5" name="Rectangle 31"/>
          <p:cNvSpPr>
            <a:spLocks noChangeArrowheads="1"/>
          </p:cNvSpPr>
          <p:nvPr/>
        </p:nvSpPr>
        <p:spPr bwMode="auto">
          <a:xfrm>
            <a:off x="2146300" y="1652588"/>
            <a:ext cx="74453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Courier New" pitchFamily="49" charset="0"/>
              </a:rPr>
              <a:t>bubble</a:t>
            </a:r>
            <a:endParaRPr lang="en-US"/>
          </a:p>
        </p:txBody>
      </p:sp>
      <p:sp>
        <p:nvSpPr>
          <p:cNvPr id="431136" name="Rectangle 32"/>
          <p:cNvSpPr>
            <a:spLocks noChangeArrowheads="1"/>
          </p:cNvSpPr>
          <p:nvPr/>
        </p:nvSpPr>
        <p:spPr bwMode="auto">
          <a:xfrm>
            <a:off x="49530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7" name="Rectangle 33"/>
          <p:cNvSpPr>
            <a:spLocks noChangeArrowheads="1"/>
          </p:cNvSpPr>
          <p:nvPr/>
        </p:nvSpPr>
        <p:spPr bwMode="auto">
          <a:xfrm>
            <a:off x="5119688" y="16446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38" name="Rectangle 34"/>
          <p:cNvSpPr>
            <a:spLocks noChangeArrowheads="1"/>
          </p:cNvSpPr>
          <p:nvPr/>
        </p:nvSpPr>
        <p:spPr bwMode="auto">
          <a:xfrm>
            <a:off x="54102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39" name="Rectangle 35"/>
          <p:cNvSpPr>
            <a:spLocks noChangeArrowheads="1"/>
          </p:cNvSpPr>
          <p:nvPr/>
        </p:nvSpPr>
        <p:spPr bwMode="auto">
          <a:xfrm>
            <a:off x="5565775" y="16446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40" name="Rectangle 36"/>
          <p:cNvSpPr>
            <a:spLocks noChangeArrowheads="1"/>
          </p:cNvSpPr>
          <p:nvPr/>
        </p:nvSpPr>
        <p:spPr bwMode="auto">
          <a:xfrm>
            <a:off x="58674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1" name="Rectangle 37"/>
          <p:cNvSpPr>
            <a:spLocks noChangeArrowheads="1"/>
          </p:cNvSpPr>
          <p:nvPr/>
        </p:nvSpPr>
        <p:spPr bwMode="auto">
          <a:xfrm>
            <a:off x="6027738" y="16446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42" name="Rectangle 38"/>
          <p:cNvSpPr>
            <a:spLocks noChangeArrowheads="1"/>
          </p:cNvSpPr>
          <p:nvPr/>
        </p:nvSpPr>
        <p:spPr bwMode="auto">
          <a:xfrm>
            <a:off x="63246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3" name="Rectangle 39"/>
          <p:cNvSpPr>
            <a:spLocks noChangeArrowheads="1"/>
          </p:cNvSpPr>
          <p:nvPr/>
        </p:nvSpPr>
        <p:spPr bwMode="auto">
          <a:xfrm>
            <a:off x="6467475" y="16446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44" name="Rectangle 40"/>
          <p:cNvSpPr>
            <a:spLocks noChangeArrowheads="1"/>
          </p:cNvSpPr>
          <p:nvPr/>
        </p:nvSpPr>
        <p:spPr bwMode="auto">
          <a:xfrm>
            <a:off x="6781800" y="16002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5" name="Rectangle 41"/>
          <p:cNvSpPr>
            <a:spLocks noChangeArrowheads="1"/>
          </p:cNvSpPr>
          <p:nvPr/>
        </p:nvSpPr>
        <p:spPr bwMode="auto">
          <a:xfrm>
            <a:off x="6910388" y="16446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46" name="Rectangle 42"/>
          <p:cNvSpPr>
            <a:spLocks noChangeArrowheads="1"/>
          </p:cNvSpPr>
          <p:nvPr/>
        </p:nvSpPr>
        <p:spPr bwMode="auto">
          <a:xfrm>
            <a:off x="990600" y="19050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7" name="Rectangle 43"/>
          <p:cNvSpPr>
            <a:spLocks noChangeArrowheads="1"/>
          </p:cNvSpPr>
          <p:nvPr/>
        </p:nvSpPr>
        <p:spPr bwMode="auto">
          <a:xfrm>
            <a:off x="2146300" y="1957388"/>
            <a:ext cx="744538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Courier New" pitchFamily="49" charset="0"/>
              </a:rPr>
              <a:t>bubble</a:t>
            </a:r>
            <a:endParaRPr lang="en-US"/>
          </a:p>
        </p:txBody>
      </p:sp>
      <p:sp>
        <p:nvSpPr>
          <p:cNvPr id="431148" name="Rectangle 44"/>
          <p:cNvSpPr>
            <a:spLocks noChangeArrowheads="1"/>
          </p:cNvSpPr>
          <p:nvPr/>
        </p:nvSpPr>
        <p:spPr bwMode="auto">
          <a:xfrm>
            <a:off x="54102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49" name="Rectangle 45"/>
          <p:cNvSpPr>
            <a:spLocks noChangeArrowheads="1"/>
          </p:cNvSpPr>
          <p:nvPr/>
        </p:nvSpPr>
        <p:spPr bwMode="auto">
          <a:xfrm>
            <a:off x="5576888" y="19494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50" name="Rectangle 46"/>
          <p:cNvSpPr>
            <a:spLocks noChangeArrowheads="1"/>
          </p:cNvSpPr>
          <p:nvPr/>
        </p:nvSpPr>
        <p:spPr bwMode="auto">
          <a:xfrm>
            <a:off x="58674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1" name="Rectangle 47"/>
          <p:cNvSpPr>
            <a:spLocks noChangeArrowheads="1"/>
          </p:cNvSpPr>
          <p:nvPr/>
        </p:nvSpPr>
        <p:spPr bwMode="auto">
          <a:xfrm>
            <a:off x="6022975" y="19494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52" name="Rectangle 48"/>
          <p:cNvSpPr>
            <a:spLocks noChangeArrowheads="1"/>
          </p:cNvSpPr>
          <p:nvPr/>
        </p:nvSpPr>
        <p:spPr bwMode="auto">
          <a:xfrm>
            <a:off x="63246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3" name="Rectangle 49"/>
          <p:cNvSpPr>
            <a:spLocks noChangeArrowheads="1"/>
          </p:cNvSpPr>
          <p:nvPr/>
        </p:nvSpPr>
        <p:spPr bwMode="auto">
          <a:xfrm>
            <a:off x="6484938" y="19494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54" name="Rectangle 50"/>
          <p:cNvSpPr>
            <a:spLocks noChangeArrowheads="1"/>
          </p:cNvSpPr>
          <p:nvPr/>
        </p:nvSpPr>
        <p:spPr bwMode="auto">
          <a:xfrm>
            <a:off x="67818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5" name="Rectangle 51"/>
          <p:cNvSpPr>
            <a:spLocks noChangeArrowheads="1"/>
          </p:cNvSpPr>
          <p:nvPr/>
        </p:nvSpPr>
        <p:spPr bwMode="auto">
          <a:xfrm>
            <a:off x="6924675" y="19494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56" name="Rectangle 52"/>
          <p:cNvSpPr>
            <a:spLocks noChangeArrowheads="1"/>
          </p:cNvSpPr>
          <p:nvPr/>
        </p:nvSpPr>
        <p:spPr bwMode="auto">
          <a:xfrm>
            <a:off x="7239000" y="19050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7" name="Rectangle 53"/>
          <p:cNvSpPr>
            <a:spLocks noChangeArrowheads="1"/>
          </p:cNvSpPr>
          <p:nvPr/>
        </p:nvSpPr>
        <p:spPr bwMode="auto">
          <a:xfrm>
            <a:off x="7367588" y="19494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58" name="Rectangle 54"/>
          <p:cNvSpPr>
            <a:spLocks noChangeArrowheads="1"/>
          </p:cNvSpPr>
          <p:nvPr/>
        </p:nvSpPr>
        <p:spPr bwMode="auto">
          <a:xfrm>
            <a:off x="990600" y="22098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59" name="Rectangle 55"/>
          <p:cNvSpPr>
            <a:spLocks noChangeArrowheads="1"/>
          </p:cNvSpPr>
          <p:nvPr/>
        </p:nvSpPr>
        <p:spPr bwMode="auto">
          <a:xfrm>
            <a:off x="1136650" y="2271713"/>
            <a:ext cx="646436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0x013:    </a:t>
            </a:r>
            <a:endParaRPr lang="en-US" dirty="0"/>
          </a:p>
        </p:txBody>
      </p:sp>
      <p:sp>
        <p:nvSpPr>
          <p:cNvPr id="431160" name="Rectangle 56"/>
          <p:cNvSpPr>
            <a:spLocks noChangeArrowheads="1"/>
          </p:cNvSpPr>
          <p:nvPr/>
        </p:nvSpPr>
        <p:spPr bwMode="auto">
          <a:xfrm>
            <a:off x="2247738" y="2271713"/>
            <a:ext cx="646436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irmovq</a:t>
            </a:r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dirty="0"/>
          </a:p>
        </p:txBody>
      </p:sp>
      <p:sp>
        <p:nvSpPr>
          <p:cNvPr id="431161" name="Rectangle 57"/>
          <p:cNvSpPr>
            <a:spLocks noChangeArrowheads="1"/>
          </p:cNvSpPr>
          <p:nvPr/>
        </p:nvSpPr>
        <p:spPr bwMode="auto">
          <a:xfrm>
            <a:off x="2890838" y="2271713"/>
            <a:ext cx="5318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$5,%</a:t>
            </a:r>
            <a:endParaRPr lang="en-US"/>
          </a:p>
        </p:txBody>
      </p:sp>
      <p:sp>
        <p:nvSpPr>
          <p:cNvPr id="431162" name="Rectangle 58"/>
          <p:cNvSpPr>
            <a:spLocks noChangeArrowheads="1"/>
          </p:cNvSpPr>
          <p:nvPr/>
        </p:nvSpPr>
        <p:spPr bwMode="auto">
          <a:xfrm>
            <a:off x="3366610" y="2271713"/>
            <a:ext cx="323218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rsi</a:t>
            </a:r>
            <a:endParaRPr lang="en-US" dirty="0"/>
          </a:p>
        </p:txBody>
      </p:sp>
      <p:sp>
        <p:nvSpPr>
          <p:cNvPr id="431163" name="Rectangle 59"/>
          <p:cNvSpPr>
            <a:spLocks noChangeArrowheads="1"/>
          </p:cNvSpPr>
          <p:nvPr/>
        </p:nvSpPr>
        <p:spPr bwMode="auto">
          <a:xfrm>
            <a:off x="3741738" y="2271713"/>
            <a:ext cx="10636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# Return </a:t>
            </a:r>
            <a:endParaRPr lang="en-US"/>
          </a:p>
        </p:txBody>
      </p:sp>
      <p:sp>
        <p:nvSpPr>
          <p:cNvPr id="431164" name="Rectangle 60"/>
          <p:cNvSpPr>
            <a:spLocks noChangeArrowheads="1"/>
          </p:cNvSpPr>
          <p:nvPr/>
        </p:nvSpPr>
        <p:spPr bwMode="auto">
          <a:xfrm>
            <a:off x="58674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65" name="Rectangle 61"/>
          <p:cNvSpPr>
            <a:spLocks noChangeArrowheads="1"/>
          </p:cNvSpPr>
          <p:nvPr/>
        </p:nvSpPr>
        <p:spPr bwMode="auto">
          <a:xfrm>
            <a:off x="6034088" y="22542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66" name="Rectangle 62"/>
          <p:cNvSpPr>
            <a:spLocks noChangeArrowheads="1"/>
          </p:cNvSpPr>
          <p:nvPr/>
        </p:nvSpPr>
        <p:spPr bwMode="auto">
          <a:xfrm>
            <a:off x="6324600" y="2209800"/>
            <a:ext cx="458788" cy="306388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67" name="Rectangle 63"/>
          <p:cNvSpPr>
            <a:spLocks noChangeArrowheads="1"/>
          </p:cNvSpPr>
          <p:nvPr/>
        </p:nvSpPr>
        <p:spPr bwMode="auto">
          <a:xfrm>
            <a:off x="6480175" y="22542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68" name="Rectangle 64"/>
          <p:cNvSpPr>
            <a:spLocks noChangeArrowheads="1"/>
          </p:cNvSpPr>
          <p:nvPr/>
        </p:nvSpPr>
        <p:spPr bwMode="auto">
          <a:xfrm>
            <a:off x="67818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69" name="Rectangle 65"/>
          <p:cNvSpPr>
            <a:spLocks noChangeArrowheads="1"/>
          </p:cNvSpPr>
          <p:nvPr/>
        </p:nvSpPr>
        <p:spPr bwMode="auto">
          <a:xfrm>
            <a:off x="6942138" y="22542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70" name="Rectangle 66"/>
          <p:cNvSpPr>
            <a:spLocks noChangeArrowheads="1"/>
          </p:cNvSpPr>
          <p:nvPr/>
        </p:nvSpPr>
        <p:spPr bwMode="auto">
          <a:xfrm>
            <a:off x="72390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71" name="Rectangle 67"/>
          <p:cNvSpPr>
            <a:spLocks noChangeArrowheads="1"/>
          </p:cNvSpPr>
          <p:nvPr/>
        </p:nvSpPr>
        <p:spPr bwMode="auto">
          <a:xfrm>
            <a:off x="7381875" y="22542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72" name="Rectangle 68"/>
          <p:cNvSpPr>
            <a:spLocks noChangeArrowheads="1"/>
          </p:cNvSpPr>
          <p:nvPr/>
        </p:nvSpPr>
        <p:spPr bwMode="auto">
          <a:xfrm>
            <a:off x="76962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73" name="Rectangle 69"/>
          <p:cNvSpPr>
            <a:spLocks noChangeArrowheads="1"/>
          </p:cNvSpPr>
          <p:nvPr/>
        </p:nvSpPr>
        <p:spPr bwMode="auto">
          <a:xfrm>
            <a:off x="7824788" y="22542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74" name="Rectangle 70"/>
          <p:cNvSpPr>
            <a:spLocks noChangeArrowheads="1"/>
          </p:cNvSpPr>
          <p:nvPr/>
        </p:nvSpPr>
        <p:spPr bwMode="auto">
          <a:xfrm>
            <a:off x="990600" y="6858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75" name="Rectangle 71"/>
          <p:cNvSpPr>
            <a:spLocks noChangeArrowheads="1"/>
          </p:cNvSpPr>
          <p:nvPr/>
        </p:nvSpPr>
        <p:spPr bwMode="auto">
          <a:xfrm>
            <a:off x="1082675" y="739775"/>
            <a:ext cx="74453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# demo</a:t>
            </a:r>
            <a:endParaRPr lang="en-US" dirty="0"/>
          </a:p>
        </p:txBody>
      </p:sp>
      <p:sp>
        <p:nvSpPr>
          <p:cNvPr id="431176" name="Rectangle 72"/>
          <p:cNvSpPr>
            <a:spLocks noChangeArrowheads="1"/>
          </p:cNvSpPr>
          <p:nvPr/>
        </p:nvSpPr>
        <p:spPr bwMode="auto">
          <a:xfrm>
            <a:off x="1720850" y="739775"/>
            <a:ext cx="212725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-</a:t>
            </a:r>
            <a:endParaRPr lang="en-US"/>
          </a:p>
        </p:txBody>
      </p:sp>
      <p:sp>
        <p:nvSpPr>
          <p:cNvPr id="431177" name="Rectangle 73"/>
          <p:cNvSpPr>
            <a:spLocks noChangeArrowheads="1"/>
          </p:cNvSpPr>
          <p:nvPr/>
        </p:nvSpPr>
        <p:spPr bwMode="auto">
          <a:xfrm>
            <a:off x="1879600" y="739775"/>
            <a:ext cx="42545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retb</a:t>
            </a:r>
            <a:endParaRPr lang="en-US"/>
          </a:p>
        </p:txBody>
      </p:sp>
      <p:sp>
        <p:nvSpPr>
          <p:cNvPr id="431178" name="Rectangle 74"/>
          <p:cNvSpPr>
            <a:spLocks noChangeArrowheads="1"/>
          </p:cNvSpPr>
          <p:nvPr/>
        </p:nvSpPr>
        <p:spPr bwMode="auto">
          <a:xfrm>
            <a:off x="58674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79" name="Rectangle 75"/>
          <p:cNvSpPr>
            <a:spLocks noChangeArrowheads="1"/>
          </p:cNvSpPr>
          <p:nvPr/>
        </p:nvSpPr>
        <p:spPr bwMode="auto">
          <a:xfrm>
            <a:off x="6034088" y="2254250"/>
            <a:ext cx="2143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80" name="Rectangle 76"/>
          <p:cNvSpPr>
            <a:spLocks noChangeArrowheads="1"/>
          </p:cNvSpPr>
          <p:nvPr/>
        </p:nvSpPr>
        <p:spPr bwMode="auto">
          <a:xfrm>
            <a:off x="63246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1" name="Rectangle 77"/>
          <p:cNvSpPr>
            <a:spLocks noChangeArrowheads="1"/>
          </p:cNvSpPr>
          <p:nvPr/>
        </p:nvSpPr>
        <p:spPr bwMode="auto">
          <a:xfrm>
            <a:off x="6480175" y="2254250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31182" name="Rectangle 78"/>
          <p:cNvSpPr>
            <a:spLocks noChangeArrowheads="1"/>
          </p:cNvSpPr>
          <p:nvPr/>
        </p:nvSpPr>
        <p:spPr bwMode="auto">
          <a:xfrm>
            <a:off x="67818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3" name="Rectangle 79"/>
          <p:cNvSpPr>
            <a:spLocks noChangeArrowheads="1"/>
          </p:cNvSpPr>
          <p:nvPr/>
        </p:nvSpPr>
        <p:spPr bwMode="auto">
          <a:xfrm>
            <a:off x="6942138" y="2254250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31184" name="Rectangle 80"/>
          <p:cNvSpPr>
            <a:spLocks noChangeArrowheads="1"/>
          </p:cNvSpPr>
          <p:nvPr/>
        </p:nvSpPr>
        <p:spPr bwMode="auto">
          <a:xfrm>
            <a:off x="72390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5" name="Rectangle 81"/>
          <p:cNvSpPr>
            <a:spLocks noChangeArrowheads="1"/>
          </p:cNvSpPr>
          <p:nvPr/>
        </p:nvSpPr>
        <p:spPr bwMode="auto">
          <a:xfrm>
            <a:off x="7381875" y="2254250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31186" name="Rectangle 82"/>
          <p:cNvSpPr>
            <a:spLocks noChangeArrowheads="1"/>
          </p:cNvSpPr>
          <p:nvPr/>
        </p:nvSpPr>
        <p:spPr bwMode="auto">
          <a:xfrm>
            <a:off x="7696200" y="22098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7" name="Rectangle 83"/>
          <p:cNvSpPr>
            <a:spLocks noChangeArrowheads="1"/>
          </p:cNvSpPr>
          <p:nvPr/>
        </p:nvSpPr>
        <p:spPr bwMode="auto">
          <a:xfrm>
            <a:off x="7824788" y="2254250"/>
            <a:ext cx="2889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31188" name="Rectangle 84"/>
          <p:cNvSpPr>
            <a:spLocks noChangeArrowheads="1"/>
          </p:cNvSpPr>
          <p:nvPr/>
        </p:nvSpPr>
        <p:spPr bwMode="auto">
          <a:xfrm>
            <a:off x="5181600" y="4953000"/>
            <a:ext cx="1906588" cy="763588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89" name="Rectangle 85"/>
          <p:cNvSpPr>
            <a:spLocks noChangeArrowheads="1"/>
          </p:cNvSpPr>
          <p:nvPr/>
        </p:nvSpPr>
        <p:spPr bwMode="auto">
          <a:xfrm>
            <a:off x="6072188" y="5018088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190" name="Rectangle 86"/>
          <p:cNvSpPr>
            <a:spLocks noChangeArrowheads="1"/>
          </p:cNvSpPr>
          <p:nvPr/>
        </p:nvSpPr>
        <p:spPr bwMode="auto">
          <a:xfrm>
            <a:off x="5181600" y="5257800"/>
            <a:ext cx="1906588" cy="49371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91" name="Rectangle 87"/>
          <p:cNvSpPr>
            <a:spLocks noChangeArrowheads="1"/>
          </p:cNvSpPr>
          <p:nvPr/>
        </p:nvSpPr>
        <p:spPr bwMode="auto">
          <a:xfrm>
            <a:off x="5318125" y="5300663"/>
            <a:ext cx="354013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valC</a:t>
            </a:r>
            <a:endParaRPr lang="en-US"/>
          </a:p>
        </p:txBody>
      </p:sp>
      <p:sp>
        <p:nvSpPr>
          <p:cNvPr id="431192" name="Rectangle 88"/>
          <p:cNvSpPr>
            <a:spLocks noChangeArrowheads="1"/>
          </p:cNvSpPr>
          <p:nvPr/>
        </p:nvSpPr>
        <p:spPr bwMode="auto">
          <a:xfrm>
            <a:off x="5683250" y="5294313"/>
            <a:ext cx="296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31193" name="Rectangle 89"/>
          <p:cNvSpPr>
            <a:spLocks noChangeArrowheads="1"/>
          </p:cNvSpPr>
          <p:nvPr/>
        </p:nvSpPr>
        <p:spPr bwMode="auto">
          <a:xfrm>
            <a:off x="5891213" y="530066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5</a:t>
            </a:r>
            <a:endParaRPr lang="en-US"/>
          </a:p>
        </p:txBody>
      </p:sp>
      <p:sp>
        <p:nvSpPr>
          <p:cNvPr id="431194" name="Rectangle 90"/>
          <p:cNvSpPr>
            <a:spLocks noChangeArrowheads="1"/>
          </p:cNvSpPr>
          <p:nvPr/>
        </p:nvSpPr>
        <p:spPr bwMode="auto">
          <a:xfrm>
            <a:off x="5318125" y="5521325"/>
            <a:ext cx="17780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rB</a:t>
            </a:r>
            <a:endParaRPr lang="en-US"/>
          </a:p>
        </p:txBody>
      </p:sp>
      <p:sp>
        <p:nvSpPr>
          <p:cNvPr id="431195" name="Rectangle 91"/>
          <p:cNvSpPr>
            <a:spLocks noChangeArrowheads="1"/>
          </p:cNvSpPr>
          <p:nvPr/>
        </p:nvSpPr>
        <p:spPr bwMode="auto">
          <a:xfrm>
            <a:off x="5507038" y="5514975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31196" name="Rectangle 92"/>
          <p:cNvSpPr>
            <a:spLocks noChangeArrowheads="1"/>
          </p:cNvSpPr>
          <p:nvPr/>
        </p:nvSpPr>
        <p:spPr bwMode="auto">
          <a:xfrm>
            <a:off x="5715000" y="554037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31197" name="Rectangle 93"/>
          <p:cNvSpPr>
            <a:spLocks noChangeArrowheads="1"/>
          </p:cNvSpPr>
          <p:nvPr/>
        </p:nvSpPr>
        <p:spPr bwMode="auto">
          <a:xfrm>
            <a:off x="5873750" y="5540375"/>
            <a:ext cx="319088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esi</a:t>
            </a:r>
            <a:endParaRPr lang="en-US"/>
          </a:p>
        </p:txBody>
      </p:sp>
      <p:sp>
        <p:nvSpPr>
          <p:cNvPr id="431198" name="Rectangle 94"/>
          <p:cNvSpPr>
            <a:spLocks noChangeArrowheads="1"/>
          </p:cNvSpPr>
          <p:nvPr/>
        </p:nvSpPr>
        <p:spPr bwMode="auto">
          <a:xfrm>
            <a:off x="5181600" y="4953000"/>
            <a:ext cx="1906588" cy="763588"/>
          </a:xfrm>
          <a:prstGeom prst="rect">
            <a:avLst/>
          </a:prstGeom>
          <a:solidFill>
            <a:srgbClr val="B2B2B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199" name="Rectangle 95"/>
          <p:cNvSpPr>
            <a:spLocks noChangeArrowheads="1"/>
          </p:cNvSpPr>
          <p:nvPr/>
        </p:nvSpPr>
        <p:spPr bwMode="auto">
          <a:xfrm>
            <a:off x="6072188" y="5018088"/>
            <a:ext cx="214312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31200" name="Rectangle 96"/>
          <p:cNvSpPr>
            <a:spLocks noChangeArrowheads="1"/>
          </p:cNvSpPr>
          <p:nvPr/>
        </p:nvSpPr>
        <p:spPr bwMode="auto">
          <a:xfrm>
            <a:off x="5181600" y="5257800"/>
            <a:ext cx="1906588" cy="49371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201" name="Rectangle 97"/>
          <p:cNvSpPr>
            <a:spLocks noChangeArrowheads="1"/>
          </p:cNvSpPr>
          <p:nvPr/>
        </p:nvSpPr>
        <p:spPr bwMode="auto">
          <a:xfrm>
            <a:off x="5318125" y="5300663"/>
            <a:ext cx="354013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valC</a:t>
            </a:r>
            <a:endParaRPr lang="en-US"/>
          </a:p>
        </p:txBody>
      </p:sp>
      <p:sp>
        <p:nvSpPr>
          <p:cNvPr id="431202" name="Rectangle 98"/>
          <p:cNvSpPr>
            <a:spLocks noChangeArrowheads="1"/>
          </p:cNvSpPr>
          <p:nvPr/>
        </p:nvSpPr>
        <p:spPr bwMode="auto">
          <a:xfrm>
            <a:off x="5683250" y="5294313"/>
            <a:ext cx="296863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31203" name="Rectangle 99"/>
          <p:cNvSpPr>
            <a:spLocks noChangeArrowheads="1"/>
          </p:cNvSpPr>
          <p:nvPr/>
        </p:nvSpPr>
        <p:spPr bwMode="auto">
          <a:xfrm>
            <a:off x="5891213" y="5300663"/>
            <a:ext cx="176212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5</a:t>
            </a:r>
            <a:endParaRPr lang="en-US"/>
          </a:p>
        </p:txBody>
      </p:sp>
      <p:sp>
        <p:nvSpPr>
          <p:cNvPr id="431204" name="Rectangle 100"/>
          <p:cNvSpPr>
            <a:spLocks noChangeArrowheads="1"/>
          </p:cNvSpPr>
          <p:nvPr/>
        </p:nvSpPr>
        <p:spPr bwMode="auto">
          <a:xfrm>
            <a:off x="5318125" y="5521325"/>
            <a:ext cx="17780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</a:rPr>
              <a:t>rB</a:t>
            </a:r>
            <a:endParaRPr lang="en-US"/>
          </a:p>
        </p:txBody>
      </p:sp>
      <p:sp>
        <p:nvSpPr>
          <p:cNvPr id="431205" name="Rectangle 101"/>
          <p:cNvSpPr>
            <a:spLocks noChangeArrowheads="1"/>
          </p:cNvSpPr>
          <p:nvPr/>
        </p:nvSpPr>
        <p:spPr bwMode="auto">
          <a:xfrm>
            <a:off x="5507038" y="5514975"/>
            <a:ext cx="296862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Wingdings 3" pitchFamily="18" charset="2"/>
              </a:rPr>
              <a:t>f</a:t>
            </a:r>
            <a:endParaRPr lang="en-US"/>
          </a:p>
        </p:txBody>
      </p:sp>
      <p:sp>
        <p:nvSpPr>
          <p:cNvPr id="431206" name="Rectangle 102"/>
          <p:cNvSpPr>
            <a:spLocks noChangeArrowheads="1"/>
          </p:cNvSpPr>
          <p:nvPr/>
        </p:nvSpPr>
        <p:spPr bwMode="auto">
          <a:xfrm>
            <a:off x="5715000" y="5540375"/>
            <a:ext cx="2127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%</a:t>
            </a:r>
            <a:endParaRPr lang="en-US"/>
          </a:p>
        </p:txBody>
      </p:sp>
      <p:sp>
        <p:nvSpPr>
          <p:cNvPr id="431207" name="Rectangle 103"/>
          <p:cNvSpPr>
            <a:spLocks noChangeArrowheads="1"/>
          </p:cNvSpPr>
          <p:nvPr/>
        </p:nvSpPr>
        <p:spPr bwMode="auto">
          <a:xfrm>
            <a:off x="5871685" y="5540375"/>
            <a:ext cx="323218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rsi</a:t>
            </a:r>
            <a:endParaRPr lang="en-US" dirty="0"/>
          </a:p>
        </p:txBody>
      </p:sp>
      <p:sp>
        <p:nvSpPr>
          <p:cNvPr id="431208" name="Line 104"/>
          <p:cNvSpPr>
            <a:spLocks noChangeShapeType="1"/>
          </p:cNvSpPr>
          <p:nvPr/>
        </p:nvSpPr>
        <p:spPr bwMode="auto">
          <a:xfrm flipH="1">
            <a:off x="5181600" y="2514600"/>
            <a:ext cx="68580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1209" name="Line 105"/>
          <p:cNvSpPr>
            <a:spLocks noChangeShapeType="1"/>
          </p:cNvSpPr>
          <p:nvPr/>
        </p:nvSpPr>
        <p:spPr bwMode="auto">
          <a:xfrm>
            <a:off x="6324600" y="2514600"/>
            <a:ext cx="76200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31226" name="Group 122"/>
          <p:cNvGrpSpPr>
            <a:grpSpLocks/>
          </p:cNvGrpSpPr>
          <p:nvPr/>
        </p:nvGrpSpPr>
        <p:grpSpPr bwMode="auto">
          <a:xfrm>
            <a:off x="5181600" y="3200400"/>
            <a:ext cx="1906588" cy="1606550"/>
            <a:chOff x="3264" y="2016"/>
            <a:chExt cx="1201" cy="1012"/>
          </a:xfrm>
        </p:grpSpPr>
        <p:sp>
          <p:nvSpPr>
            <p:cNvPr id="431210" name="Rectangle 106"/>
            <p:cNvSpPr>
              <a:spLocks noChangeArrowheads="1"/>
            </p:cNvSpPr>
            <p:nvPr/>
          </p:nvSpPr>
          <p:spPr bwMode="auto">
            <a:xfrm>
              <a:off x="3264" y="2016"/>
              <a:ext cx="1201" cy="52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11" name="Rectangle 107"/>
            <p:cNvSpPr>
              <a:spLocks noChangeArrowheads="1"/>
            </p:cNvSpPr>
            <p:nvPr/>
          </p:nvSpPr>
          <p:spPr bwMode="auto">
            <a:xfrm>
              <a:off x="3801" y="2057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31212" name="Rectangle 108"/>
            <p:cNvSpPr>
              <a:spLocks noChangeArrowheads="1"/>
            </p:cNvSpPr>
            <p:nvPr/>
          </p:nvSpPr>
          <p:spPr bwMode="auto">
            <a:xfrm>
              <a:off x="3264" y="2208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13" name="Rectangle 109"/>
            <p:cNvSpPr>
              <a:spLocks noChangeArrowheads="1"/>
            </p:cNvSpPr>
            <p:nvPr/>
          </p:nvSpPr>
          <p:spPr bwMode="auto">
            <a:xfrm>
              <a:off x="3350" y="2312"/>
              <a:ext cx="2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valM</a:t>
              </a:r>
              <a:endParaRPr lang="en-US"/>
            </a:p>
          </p:txBody>
        </p:sp>
        <p:sp>
          <p:nvSpPr>
            <p:cNvPr id="431214" name="Rectangle 110"/>
            <p:cNvSpPr>
              <a:spLocks noChangeArrowheads="1"/>
            </p:cNvSpPr>
            <p:nvPr/>
          </p:nvSpPr>
          <p:spPr bwMode="auto">
            <a:xfrm>
              <a:off x="3592" y="231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31215" name="Rectangle 111"/>
            <p:cNvSpPr>
              <a:spLocks noChangeArrowheads="1"/>
            </p:cNvSpPr>
            <p:nvPr/>
          </p:nvSpPr>
          <p:spPr bwMode="auto">
            <a:xfrm>
              <a:off x="3688" y="2324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0x0b</a:t>
              </a:r>
              <a:endParaRPr lang="en-US"/>
            </a:p>
          </p:txBody>
        </p:sp>
        <p:sp>
          <p:nvSpPr>
            <p:cNvPr id="431216" name="Rectangle 112"/>
            <p:cNvSpPr>
              <a:spLocks noChangeArrowheads="1"/>
            </p:cNvSpPr>
            <p:nvPr/>
          </p:nvSpPr>
          <p:spPr bwMode="auto">
            <a:xfrm>
              <a:off x="3264" y="2016"/>
              <a:ext cx="1201" cy="529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17" name="Rectangle 113"/>
            <p:cNvSpPr>
              <a:spLocks noChangeArrowheads="1"/>
            </p:cNvSpPr>
            <p:nvPr/>
          </p:nvSpPr>
          <p:spPr bwMode="auto">
            <a:xfrm>
              <a:off x="3801" y="2057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31218" name="Rectangle 114"/>
            <p:cNvSpPr>
              <a:spLocks noChangeArrowheads="1"/>
            </p:cNvSpPr>
            <p:nvPr/>
          </p:nvSpPr>
          <p:spPr bwMode="auto">
            <a:xfrm>
              <a:off x="3264" y="2208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19" name="Rectangle 115"/>
            <p:cNvSpPr>
              <a:spLocks noChangeArrowheads="1"/>
            </p:cNvSpPr>
            <p:nvPr/>
          </p:nvSpPr>
          <p:spPr bwMode="auto">
            <a:xfrm>
              <a:off x="3350" y="2312"/>
              <a:ext cx="2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valM</a:t>
              </a:r>
              <a:endParaRPr lang="en-US"/>
            </a:p>
          </p:txBody>
        </p:sp>
        <p:sp>
          <p:nvSpPr>
            <p:cNvPr id="431220" name="Rectangle 116"/>
            <p:cNvSpPr>
              <a:spLocks noChangeArrowheads="1"/>
            </p:cNvSpPr>
            <p:nvPr/>
          </p:nvSpPr>
          <p:spPr bwMode="auto">
            <a:xfrm>
              <a:off x="3592" y="231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31221" name="Rectangle 117"/>
            <p:cNvSpPr>
              <a:spLocks noChangeArrowheads="1"/>
            </p:cNvSpPr>
            <p:nvPr/>
          </p:nvSpPr>
          <p:spPr bwMode="auto">
            <a:xfrm>
              <a:off x="3737" y="2324"/>
              <a:ext cx="339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0x013</a:t>
              </a:r>
              <a:endParaRPr lang="en-US" dirty="0"/>
            </a:p>
          </p:txBody>
        </p:sp>
        <p:sp>
          <p:nvSpPr>
            <p:cNvPr id="431222" name="Rectangle 118"/>
            <p:cNvSpPr>
              <a:spLocks noChangeArrowheads="1"/>
            </p:cNvSpPr>
            <p:nvPr/>
          </p:nvSpPr>
          <p:spPr bwMode="auto">
            <a:xfrm>
              <a:off x="3744" y="2640"/>
              <a:ext cx="16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223" name="Rectangle 119"/>
            <p:cNvSpPr>
              <a:spLocks noChangeArrowheads="1"/>
            </p:cNvSpPr>
            <p:nvPr/>
          </p:nvSpPr>
          <p:spPr bwMode="auto">
            <a:xfrm>
              <a:off x="3802" y="2641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31224" name="Rectangle 120"/>
            <p:cNvSpPr>
              <a:spLocks noChangeArrowheads="1"/>
            </p:cNvSpPr>
            <p:nvPr/>
          </p:nvSpPr>
          <p:spPr bwMode="auto">
            <a:xfrm>
              <a:off x="3802" y="2749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31225" name="Rectangle 121"/>
            <p:cNvSpPr>
              <a:spLocks noChangeArrowheads="1"/>
            </p:cNvSpPr>
            <p:nvPr/>
          </p:nvSpPr>
          <p:spPr bwMode="auto">
            <a:xfrm>
              <a:off x="3802" y="2857"/>
              <a:ext cx="10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</p:grpSp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0"/>
            <a:ext cx="8704262" cy="779463"/>
          </a:xfrm>
        </p:spPr>
        <p:txBody>
          <a:bodyPr/>
          <a:lstStyle/>
          <a:p>
            <a:r>
              <a:rPr lang="en-US"/>
              <a:t>Correct Return Example</a:t>
            </a:r>
          </a:p>
        </p:txBody>
      </p:sp>
      <p:sp>
        <p:nvSpPr>
          <p:cNvPr id="431108" name="Rectangle 4"/>
          <p:cNvSpPr>
            <a:spLocks noChangeArrowheads="1"/>
          </p:cNvSpPr>
          <p:nvPr/>
        </p:nvSpPr>
        <p:spPr bwMode="auto">
          <a:xfrm>
            <a:off x="381000" y="3200400"/>
            <a:ext cx="4648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As </a:t>
            </a:r>
            <a:r>
              <a:rPr lang="en-US" sz="2000">
                <a:latin typeface="Courier New" pitchFamily="49" charset="0"/>
              </a:rPr>
              <a:t>ret</a:t>
            </a:r>
            <a:r>
              <a:rPr lang="en-US" sz="2000"/>
              <a:t> passes through pipeline, stall at fetch stage</a:t>
            </a:r>
          </a:p>
          <a:p>
            <a:pPr marL="1144588" lvl="2" indent="-238125" algn="l" defTabSz="912813" eaLnBrk="1" hangingPunct="1">
              <a:lnSpc>
                <a:spcPct val="107000"/>
              </a:lnSpc>
              <a:spcBef>
                <a:spcPct val="10000"/>
              </a:spcBef>
              <a:buClr>
                <a:srgbClr val="005400"/>
              </a:buClr>
              <a:buSzPct val="90000"/>
              <a:buFont typeface="Wingdings" pitchFamily="2" charset="2"/>
              <a:buChar char="l"/>
            </a:pPr>
            <a:r>
              <a:rPr lang="en-US">
                <a:solidFill>
                  <a:schemeClr val="folHlink"/>
                </a:solidFill>
              </a:rPr>
              <a:t>While in decode, execute, and memory stage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Inject bubble into decode stage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Release stall when reach write-back stage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endParaRPr lang="en-US" sz="200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2374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266" y="69850"/>
            <a:ext cx="7580881" cy="760589"/>
          </a:xfrm>
        </p:spPr>
        <p:txBody>
          <a:bodyPr/>
          <a:lstStyle/>
          <a:p>
            <a:r>
              <a:rPr lang="en-US"/>
              <a:t>Detecting Return</a:t>
            </a:r>
          </a:p>
        </p:txBody>
      </p:sp>
      <p:graphicFrame>
        <p:nvGraphicFramePr>
          <p:cNvPr id="459808" name="Group 32"/>
          <p:cNvGraphicFramePr>
            <a:graphicFrameLocks noGrp="1"/>
          </p:cNvGraphicFramePr>
          <p:nvPr>
            <p:extLst/>
          </p:nvPr>
        </p:nvGraphicFramePr>
        <p:xfrm>
          <a:off x="1371600" y="5376862"/>
          <a:ext cx="7308850" cy="941388"/>
        </p:xfrm>
        <a:graphic>
          <a:graphicData uri="http://schemas.openxmlformats.org/drawingml/2006/table">
            <a:tbl>
              <a:tblPr/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Trigger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IRET in {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D_icode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M_icode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ourier New"/>
                          <a:cs typeface="Courier New"/>
                        </a:rPr>
                        <a:t>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59810" name="Picture 3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984250"/>
            <a:ext cx="6089650" cy="4144640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796777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01" name="Rectangle 5"/>
          <p:cNvSpPr>
            <a:spLocks noChangeArrowheads="1"/>
          </p:cNvSpPr>
          <p:nvPr/>
        </p:nvSpPr>
        <p:spPr bwMode="auto">
          <a:xfrm>
            <a:off x="990600" y="11430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02" name="Rectangle 6"/>
          <p:cNvSpPr>
            <a:spLocks noChangeArrowheads="1"/>
          </p:cNvSpPr>
          <p:nvPr/>
        </p:nvSpPr>
        <p:spPr bwMode="auto">
          <a:xfrm>
            <a:off x="1135063" y="1204913"/>
            <a:ext cx="1382712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0x026:    ret</a:t>
            </a:r>
            <a:endParaRPr lang="en-US"/>
          </a:p>
        </p:txBody>
      </p:sp>
      <p:sp>
        <p:nvSpPr>
          <p:cNvPr id="464903" name="Rectangle 7"/>
          <p:cNvSpPr>
            <a:spLocks noChangeArrowheads="1"/>
          </p:cNvSpPr>
          <p:nvPr/>
        </p:nvSpPr>
        <p:spPr bwMode="auto">
          <a:xfrm>
            <a:off x="40386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04" name="Rectangle 8"/>
          <p:cNvSpPr>
            <a:spLocks noChangeArrowheads="1"/>
          </p:cNvSpPr>
          <p:nvPr/>
        </p:nvSpPr>
        <p:spPr bwMode="auto">
          <a:xfrm>
            <a:off x="4249738" y="11874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05" name="Rectangle 9"/>
          <p:cNvSpPr>
            <a:spLocks noChangeArrowheads="1"/>
          </p:cNvSpPr>
          <p:nvPr/>
        </p:nvSpPr>
        <p:spPr bwMode="auto">
          <a:xfrm>
            <a:off x="44958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06" name="Rectangle 10"/>
          <p:cNvSpPr>
            <a:spLocks noChangeArrowheads="1"/>
          </p:cNvSpPr>
          <p:nvPr/>
        </p:nvSpPr>
        <p:spPr bwMode="auto">
          <a:xfrm>
            <a:off x="4695825" y="11874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07" name="Rectangle 11"/>
          <p:cNvSpPr>
            <a:spLocks noChangeArrowheads="1"/>
          </p:cNvSpPr>
          <p:nvPr/>
        </p:nvSpPr>
        <p:spPr bwMode="auto">
          <a:xfrm>
            <a:off x="49530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08" name="Rectangle 12"/>
          <p:cNvSpPr>
            <a:spLocks noChangeArrowheads="1"/>
          </p:cNvSpPr>
          <p:nvPr/>
        </p:nvSpPr>
        <p:spPr bwMode="auto">
          <a:xfrm>
            <a:off x="5157788" y="11874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09" name="Rectangle 13"/>
          <p:cNvSpPr>
            <a:spLocks noChangeArrowheads="1"/>
          </p:cNvSpPr>
          <p:nvPr/>
        </p:nvSpPr>
        <p:spPr bwMode="auto">
          <a:xfrm>
            <a:off x="54102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0" name="Rectangle 14"/>
          <p:cNvSpPr>
            <a:spLocks noChangeArrowheads="1"/>
          </p:cNvSpPr>
          <p:nvPr/>
        </p:nvSpPr>
        <p:spPr bwMode="auto">
          <a:xfrm>
            <a:off x="5597525" y="11874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11" name="Rectangle 15"/>
          <p:cNvSpPr>
            <a:spLocks noChangeArrowheads="1"/>
          </p:cNvSpPr>
          <p:nvPr/>
        </p:nvSpPr>
        <p:spPr bwMode="auto">
          <a:xfrm>
            <a:off x="63246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2" name="Rectangle 16"/>
          <p:cNvSpPr>
            <a:spLocks noChangeArrowheads="1"/>
          </p:cNvSpPr>
          <p:nvPr/>
        </p:nvSpPr>
        <p:spPr bwMode="auto">
          <a:xfrm>
            <a:off x="6497638" y="14922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13" name="Rectangle 17"/>
          <p:cNvSpPr>
            <a:spLocks noChangeArrowheads="1"/>
          </p:cNvSpPr>
          <p:nvPr/>
        </p:nvSpPr>
        <p:spPr bwMode="auto">
          <a:xfrm>
            <a:off x="990600" y="14478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4" name="Rectangle 18"/>
          <p:cNvSpPr>
            <a:spLocks noChangeArrowheads="1"/>
          </p:cNvSpPr>
          <p:nvPr/>
        </p:nvSpPr>
        <p:spPr bwMode="auto">
          <a:xfrm>
            <a:off x="2198688" y="1500188"/>
            <a:ext cx="638175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Courier New" pitchFamily="49" charset="0"/>
              </a:rPr>
              <a:t>bubble</a:t>
            </a:r>
            <a:endParaRPr lang="en-US"/>
          </a:p>
        </p:txBody>
      </p:sp>
      <p:sp>
        <p:nvSpPr>
          <p:cNvPr id="464915" name="Rectangle 19"/>
          <p:cNvSpPr>
            <a:spLocks noChangeArrowheads="1"/>
          </p:cNvSpPr>
          <p:nvPr/>
        </p:nvSpPr>
        <p:spPr bwMode="auto">
          <a:xfrm>
            <a:off x="44958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6" name="Rectangle 20"/>
          <p:cNvSpPr>
            <a:spLocks noChangeArrowheads="1"/>
          </p:cNvSpPr>
          <p:nvPr/>
        </p:nvSpPr>
        <p:spPr bwMode="auto">
          <a:xfrm>
            <a:off x="4706938" y="14922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17" name="Rectangle 21"/>
          <p:cNvSpPr>
            <a:spLocks noChangeArrowheads="1"/>
          </p:cNvSpPr>
          <p:nvPr/>
        </p:nvSpPr>
        <p:spPr bwMode="auto">
          <a:xfrm>
            <a:off x="49530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18" name="Rectangle 22"/>
          <p:cNvSpPr>
            <a:spLocks noChangeArrowheads="1"/>
          </p:cNvSpPr>
          <p:nvPr/>
        </p:nvSpPr>
        <p:spPr bwMode="auto">
          <a:xfrm>
            <a:off x="5153025" y="14922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19" name="Rectangle 23"/>
          <p:cNvSpPr>
            <a:spLocks noChangeArrowheads="1"/>
          </p:cNvSpPr>
          <p:nvPr/>
        </p:nvSpPr>
        <p:spPr bwMode="auto">
          <a:xfrm>
            <a:off x="54102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0" name="Rectangle 24"/>
          <p:cNvSpPr>
            <a:spLocks noChangeArrowheads="1"/>
          </p:cNvSpPr>
          <p:nvPr/>
        </p:nvSpPr>
        <p:spPr bwMode="auto">
          <a:xfrm>
            <a:off x="5614988" y="14922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21" name="Rectangle 25"/>
          <p:cNvSpPr>
            <a:spLocks noChangeArrowheads="1"/>
          </p:cNvSpPr>
          <p:nvPr/>
        </p:nvSpPr>
        <p:spPr bwMode="auto">
          <a:xfrm>
            <a:off x="5867400" y="14478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2" name="Rectangle 26"/>
          <p:cNvSpPr>
            <a:spLocks noChangeArrowheads="1"/>
          </p:cNvSpPr>
          <p:nvPr/>
        </p:nvSpPr>
        <p:spPr bwMode="auto">
          <a:xfrm>
            <a:off x="6054725" y="14922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23" name="Rectangle 27"/>
          <p:cNvSpPr>
            <a:spLocks noChangeArrowheads="1"/>
          </p:cNvSpPr>
          <p:nvPr/>
        </p:nvSpPr>
        <p:spPr bwMode="auto">
          <a:xfrm>
            <a:off x="5867400" y="11430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4" name="Rectangle 28"/>
          <p:cNvSpPr>
            <a:spLocks noChangeArrowheads="1"/>
          </p:cNvSpPr>
          <p:nvPr/>
        </p:nvSpPr>
        <p:spPr bwMode="auto">
          <a:xfrm>
            <a:off x="6040438" y="11874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25" name="Rectangle 29"/>
          <p:cNvSpPr>
            <a:spLocks noChangeArrowheads="1"/>
          </p:cNvSpPr>
          <p:nvPr/>
        </p:nvSpPr>
        <p:spPr bwMode="auto">
          <a:xfrm>
            <a:off x="990600" y="17526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6" name="Rectangle 30"/>
          <p:cNvSpPr>
            <a:spLocks noChangeArrowheads="1"/>
          </p:cNvSpPr>
          <p:nvPr/>
        </p:nvSpPr>
        <p:spPr bwMode="auto">
          <a:xfrm>
            <a:off x="2198688" y="1804988"/>
            <a:ext cx="638175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Courier New" pitchFamily="49" charset="0"/>
              </a:rPr>
              <a:t>bubble</a:t>
            </a:r>
            <a:endParaRPr lang="en-US"/>
          </a:p>
        </p:txBody>
      </p:sp>
      <p:sp>
        <p:nvSpPr>
          <p:cNvPr id="464927" name="Rectangle 31"/>
          <p:cNvSpPr>
            <a:spLocks noChangeArrowheads="1"/>
          </p:cNvSpPr>
          <p:nvPr/>
        </p:nvSpPr>
        <p:spPr bwMode="auto">
          <a:xfrm>
            <a:off x="49530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28" name="Rectangle 32"/>
          <p:cNvSpPr>
            <a:spLocks noChangeArrowheads="1"/>
          </p:cNvSpPr>
          <p:nvPr/>
        </p:nvSpPr>
        <p:spPr bwMode="auto">
          <a:xfrm>
            <a:off x="5164138" y="17970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29" name="Rectangle 33"/>
          <p:cNvSpPr>
            <a:spLocks noChangeArrowheads="1"/>
          </p:cNvSpPr>
          <p:nvPr/>
        </p:nvSpPr>
        <p:spPr bwMode="auto">
          <a:xfrm>
            <a:off x="54102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0" name="Rectangle 34"/>
          <p:cNvSpPr>
            <a:spLocks noChangeArrowheads="1"/>
          </p:cNvSpPr>
          <p:nvPr/>
        </p:nvSpPr>
        <p:spPr bwMode="auto">
          <a:xfrm>
            <a:off x="5610225" y="17970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31" name="Rectangle 35"/>
          <p:cNvSpPr>
            <a:spLocks noChangeArrowheads="1"/>
          </p:cNvSpPr>
          <p:nvPr/>
        </p:nvSpPr>
        <p:spPr bwMode="auto">
          <a:xfrm>
            <a:off x="58674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2" name="Rectangle 36"/>
          <p:cNvSpPr>
            <a:spLocks noChangeArrowheads="1"/>
          </p:cNvSpPr>
          <p:nvPr/>
        </p:nvSpPr>
        <p:spPr bwMode="auto">
          <a:xfrm>
            <a:off x="6072188" y="17970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33" name="Rectangle 37"/>
          <p:cNvSpPr>
            <a:spLocks noChangeArrowheads="1"/>
          </p:cNvSpPr>
          <p:nvPr/>
        </p:nvSpPr>
        <p:spPr bwMode="auto">
          <a:xfrm>
            <a:off x="63246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4" name="Rectangle 38"/>
          <p:cNvSpPr>
            <a:spLocks noChangeArrowheads="1"/>
          </p:cNvSpPr>
          <p:nvPr/>
        </p:nvSpPr>
        <p:spPr bwMode="auto">
          <a:xfrm>
            <a:off x="6511925" y="17970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35" name="Rectangle 39"/>
          <p:cNvSpPr>
            <a:spLocks noChangeArrowheads="1"/>
          </p:cNvSpPr>
          <p:nvPr/>
        </p:nvSpPr>
        <p:spPr bwMode="auto">
          <a:xfrm>
            <a:off x="6781800" y="17526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6" name="Rectangle 40"/>
          <p:cNvSpPr>
            <a:spLocks noChangeArrowheads="1"/>
          </p:cNvSpPr>
          <p:nvPr/>
        </p:nvSpPr>
        <p:spPr bwMode="auto">
          <a:xfrm>
            <a:off x="6954838" y="17970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37" name="Rectangle 41"/>
          <p:cNvSpPr>
            <a:spLocks noChangeArrowheads="1"/>
          </p:cNvSpPr>
          <p:nvPr/>
        </p:nvSpPr>
        <p:spPr bwMode="auto">
          <a:xfrm>
            <a:off x="990600" y="20574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38" name="Rectangle 42"/>
          <p:cNvSpPr>
            <a:spLocks noChangeArrowheads="1"/>
          </p:cNvSpPr>
          <p:nvPr/>
        </p:nvSpPr>
        <p:spPr bwMode="auto">
          <a:xfrm>
            <a:off x="2198688" y="2109788"/>
            <a:ext cx="638175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Courier New" pitchFamily="49" charset="0"/>
              </a:rPr>
              <a:t>bubble</a:t>
            </a:r>
            <a:endParaRPr lang="en-US"/>
          </a:p>
        </p:txBody>
      </p:sp>
      <p:sp>
        <p:nvSpPr>
          <p:cNvPr id="464939" name="Rectangle 43"/>
          <p:cNvSpPr>
            <a:spLocks noChangeArrowheads="1"/>
          </p:cNvSpPr>
          <p:nvPr/>
        </p:nvSpPr>
        <p:spPr bwMode="auto">
          <a:xfrm>
            <a:off x="54102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0" name="Rectangle 44"/>
          <p:cNvSpPr>
            <a:spLocks noChangeArrowheads="1"/>
          </p:cNvSpPr>
          <p:nvPr/>
        </p:nvSpPr>
        <p:spPr bwMode="auto">
          <a:xfrm>
            <a:off x="5621338" y="21018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41" name="Rectangle 45"/>
          <p:cNvSpPr>
            <a:spLocks noChangeArrowheads="1"/>
          </p:cNvSpPr>
          <p:nvPr/>
        </p:nvSpPr>
        <p:spPr bwMode="auto">
          <a:xfrm>
            <a:off x="58674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2" name="Rectangle 46"/>
          <p:cNvSpPr>
            <a:spLocks noChangeArrowheads="1"/>
          </p:cNvSpPr>
          <p:nvPr/>
        </p:nvSpPr>
        <p:spPr bwMode="auto">
          <a:xfrm>
            <a:off x="6067425" y="21018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43" name="Rectangle 47"/>
          <p:cNvSpPr>
            <a:spLocks noChangeArrowheads="1"/>
          </p:cNvSpPr>
          <p:nvPr/>
        </p:nvSpPr>
        <p:spPr bwMode="auto">
          <a:xfrm>
            <a:off x="63246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4" name="Rectangle 48"/>
          <p:cNvSpPr>
            <a:spLocks noChangeArrowheads="1"/>
          </p:cNvSpPr>
          <p:nvPr/>
        </p:nvSpPr>
        <p:spPr bwMode="auto">
          <a:xfrm>
            <a:off x="6529388" y="21018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45" name="Rectangle 49"/>
          <p:cNvSpPr>
            <a:spLocks noChangeArrowheads="1"/>
          </p:cNvSpPr>
          <p:nvPr/>
        </p:nvSpPr>
        <p:spPr bwMode="auto">
          <a:xfrm>
            <a:off x="67818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6" name="Rectangle 50"/>
          <p:cNvSpPr>
            <a:spLocks noChangeArrowheads="1"/>
          </p:cNvSpPr>
          <p:nvPr/>
        </p:nvSpPr>
        <p:spPr bwMode="auto">
          <a:xfrm>
            <a:off x="6969125" y="21018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47" name="Rectangle 51"/>
          <p:cNvSpPr>
            <a:spLocks noChangeArrowheads="1"/>
          </p:cNvSpPr>
          <p:nvPr/>
        </p:nvSpPr>
        <p:spPr bwMode="auto">
          <a:xfrm>
            <a:off x="7239000" y="2057400"/>
            <a:ext cx="458788" cy="30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48" name="Rectangle 52"/>
          <p:cNvSpPr>
            <a:spLocks noChangeArrowheads="1"/>
          </p:cNvSpPr>
          <p:nvPr/>
        </p:nvSpPr>
        <p:spPr bwMode="auto">
          <a:xfrm>
            <a:off x="7412038" y="21018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49" name="Rectangle 53"/>
          <p:cNvSpPr>
            <a:spLocks noChangeArrowheads="1"/>
          </p:cNvSpPr>
          <p:nvPr/>
        </p:nvSpPr>
        <p:spPr bwMode="auto">
          <a:xfrm>
            <a:off x="990600" y="23622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464950" name="Rectangle 54"/>
          <p:cNvSpPr>
            <a:spLocks noChangeArrowheads="1"/>
          </p:cNvSpPr>
          <p:nvPr/>
        </p:nvSpPr>
        <p:spPr bwMode="auto">
          <a:xfrm>
            <a:off x="1343658" y="2424113"/>
            <a:ext cx="646436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0x014:    </a:t>
            </a:r>
            <a:endParaRPr lang="en-US" dirty="0"/>
          </a:p>
        </p:txBody>
      </p:sp>
      <p:sp>
        <p:nvSpPr>
          <p:cNvPr id="464951" name="Rectangle 55"/>
          <p:cNvSpPr>
            <a:spLocks noChangeArrowheads="1"/>
          </p:cNvSpPr>
          <p:nvPr/>
        </p:nvSpPr>
        <p:spPr bwMode="auto">
          <a:xfrm>
            <a:off x="2247738" y="2424113"/>
            <a:ext cx="646436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irmovq</a:t>
            </a:r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endParaRPr lang="en-US" dirty="0"/>
          </a:p>
        </p:txBody>
      </p:sp>
      <p:sp>
        <p:nvSpPr>
          <p:cNvPr id="464952" name="Rectangle 56"/>
          <p:cNvSpPr>
            <a:spLocks noChangeArrowheads="1"/>
          </p:cNvSpPr>
          <p:nvPr/>
        </p:nvSpPr>
        <p:spPr bwMode="auto">
          <a:xfrm>
            <a:off x="2943225" y="2424113"/>
            <a:ext cx="42545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Courier New" pitchFamily="49" charset="0"/>
              </a:rPr>
              <a:t>$5,%</a:t>
            </a:r>
            <a:endParaRPr lang="en-US" dirty="0"/>
          </a:p>
        </p:txBody>
      </p:sp>
      <p:sp>
        <p:nvSpPr>
          <p:cNvPr id="464953" name="Rectangle 57"/>
          <p:cNvSpPr>
            <a:spLocks noChangeArrowheads="1"/>
          </p:cNvSpPr>
          <p:nvPr/>
        </p:nvSpPr>
        <p:spPr bwMode="auto">
          <a:xfrm>
            <a:off x="3366610" y="2424113"/>
            <a:ext cx="323218" cy="197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latin typeface="Courier New" pitchFamily="49" charset="0"/>
              </a:rPr>
              <a:t>rsi</a:t>
            </a:r>
            <a:endParaRPr lang="en-US" dirty="0"/>
          </a:p>
        </p:txBody>
      </p:sp>
      <p:sp>
        <p:nvSpPr>
          <p:cNvPr id="464954" name="Rectangle 58"/>
          <p:cNvSpPr>
            <a:spLocks noChangeArrowheads="1"/>
          </p:cNvSpPr>
          <p:nvPr/>
        </p:nvSpPr>
        <p:spPr bwMode="auto">
          <a:xfrm>
            <a:off x="3794125" y="2424113"/>
            <a:ext cx="957263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b="0">
                <a:solidFill>
                  <a:srgbClr val="000000"/>
                </a:solidFill>
                <a:latin typeface="Courier New" pitchFamily="49" charset="0"/>
              </a:rPr>
              <a:t># Return </a:t>
            </a:r>
            <a:endParaRPr lang="en-US"/>
          </a:p>
        </p:txBody>
      </p:sp>
      <p:sp>
        <p:nvSpPr>
          <p:cNvPr id="464955" name="Rectangle 59"/>
          <p:cNvSpPr>
            <a:spLocks noChangeArrowheads="1"/>
          </p:cNvSpPr>
          <p:nvPr/>
        </p:nvSpPr>
        <p:spPr bwMode="auto">
          <a:xfrm>
            <a:off x="58674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56" name="Rectangle 60"/>
          <p:cNvSpPr>
            <a:spLocks noChangeArrowheads="1"/>
          </p:cNvSpPr>
          <p:nvPr/>
        </p:nvSpPr>
        <p:spPr bwMode="auto">
          <a:xfrm>
            <a:off x="6078538" y="24066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57" name="Rectangle 61"/>
          <p:cNvSpPr>
            <a:spLocks noChangeArrowheads="1"/>
          </p:cNvSpPr>
          <p:nvPr/>
        </p:nvSpPr>
        <p:spPr bwMode="auto">
          <a:xfrm>
            <a:off x="6324600" y="2362200"/>
            <a:ext cx="458788" cy="306388"/>
          </a:xfrm>
          <a:prstGeom prst="rect">
            <a:avLst/>
          </a:prstGeom>
          <a:solidFill>
            <a:srgbClr val="66CC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58" name="Rectangle 62"/>
          <p:cNvSpPr>
            <a:spLocks noChangeArrowheads="1"/>
          </p:cNvSpPr>
          <p:nvPr/>
        </p:nvSpPr>
        <p:spPr bwMode="auto">
          <a:xfrm>
            <a:off x="6524625" y="24066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59" name="Rectangle 63"/>
          <p:cNvSpPr>
            <a:spLocks noChangeArrowheads="1"/>
          </p:cNvSpPr>
          <p:nvPr/>
        </p:nvSpPr>
        <p:spPr bwMode="auto">
          <a:xfrm>
            <a:off x="67818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60" name="Rectangle 64"/>
          <p:cNvSpPr>
            <a:spLocks noChangeArrowheads="1"/>
          </p:cNvSpPr>
          <p:nvPr/>
        </p:nvSpPr>
        <p:spPr bwMode="auto">
          <a:xfrm>
            <a:off x="6986588" y="24066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61" name="Rectangle 65"/>
          <p:cNvSpPr>
            <a:spLocks noChangeArrowheads="1"/>
          </p:cNvSpPr>
          <p:nvPr/>
        </p:nvSpPr>
        <p:spPr bwMode="auto">
          <a:xfrm>
            <a:off x="72390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62" name="Rectangle 66"/>
          <p:cNvSpPr>
            <a:spLocks noChangeArrowheads="1"/>
          </p:cNvSpPr>
          <p:nvPr/>
        </p:nvSpPr>
        <p:spPr bwMode="auto">
          <a:xfrm>
            <a:off x="7426325" y="24066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63" name="Rectangle 67"/>
          <p:cNvSpPr>
            <a:spLocks noChangeArrowheads="1"/>
          </p:cNvSpPr>
          <p:nvPr/>
        </p:nvSpPr>
        <p:spPr bwMode="auto">
          <a:xfrm>
            <a:off x="76962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64" name="Rectangle 68"/>
          <p:cNvSpPr>
            <a:spLocks noChangeArrowheads="1"/>
          </p:cNvSpPr>
          <p:nvPr/>
        </p:nvSpPr>
        <p:spPr bwMode="auto">
          <a:xfrm>
            <a:off x="7869238" y="24066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965" name="Rectangle 69"/>
          <p:cNvSpPr>
            <a:spLocks noChangeArrowheads="1"/>
          </p:cNvSpPr>
          <p:nvPr/>
        </p:nvSpPr>
        <p:spPr bwMode="auto">
          <a:xfrm>
            <a:off x="990600" y="838200"/>
            <a:ext cx="25908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66" name="Rectangle 70"/>
          <p:cNvSpPr>
            <a:spLocks noChangeArrowheads="1"/>
          </p:cNvSpPr>
          <p:nvPr/>
        </p:nvSpPr>
        <p:spPr bwMode="auto">
          <a:xfrm>
            <a:off x="1135063" y="892175"/>
            <a:ext cx="638175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# demo</a:t>
            </a:r>
            <a:endParaRPr lang="en-US"/>
          </a:p>
        </p:txBody>
      </p:sp>
      <p:sp>
        <p:nvSpPr>
          <p:cNvPr id="464967" name="Rectangle 71"/>
          <p:cNvSpPr>
            <a:spLocks noChangeArrowheads="1"/>
          </p:cNvSpPr>
          <p:nvPr/>
        </p:nvSpPr>
        <p:spPr bwMode="auto">
          <a:xfrm>
            <a:off x="1773238" y="892175"/>
            <a:ext cx="106362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-</a:t>
            </a:r>
            <a:endParaRPr lang="en-US"/>
          </a:p>
        </p:txBody>
      </p:sp>
      <p:sp>
        <p:nvSpPr>
          <p:cNvPr id="464968" name="Rectangle 72"/>
          <p:cNvSpPr>
            <a:spLocks noChangeArrowheads="1"/>
          </p:cNvSpPr>
          <p:nvPr/>
        </p:nvSpPr>
        <p:spPr bwMode="auto">
          <a:xfrm>
            <a:off x="1879600" y="892175"/>
            <a:ext cx="425450" cy="1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retb</a:t>
            </a:r>
            <a:endParaRPr lang="en-US"/>
          </a:p>
        </p:txBody>
      </p:sp>
      <p:sp>
        <p:nvSpPr>
          <p:cNvPr id="464969" name="Rectangle 73"/>
          <p:cNvSpPr>
            <a:spLocks noChangeArrowheads="1"/>
          </p:cNvSpPr>
          <p:nvPr/>
        </p:nvSpPr>
        <p:spPr bwMode="auto">
          <a:xfrm>
            <a:off x="58674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0" name="Rectangle 74"/>
          <p:cNvSpPr>
            <a:spLocks noChangeArrowheads="1"/>
          </p:cNvSpPr>
          <p:nvPr/>
        </p:nvSpPr>
        <p:spPr bwMode="auto">
          <a:xfrm>
            <a:off x="6078538" y="2406650"/>
            <a:ext cx="1238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F</a:t>
            </a:r>
            <a:endParaRPr lang="en-US"/>
          </a:p>
        </p:txBody>
      </p:sp>
      <p:sp>
        <p:nvSpPr>
          <p:cNvPr id="464971" name="Rectangle 75"/>
          <p:cNvSpPr>
            <a:spLocks noChangeArrowheads="1"/>
          </p:cNvSpPr>
          <p:nvPr/>
        </p:nvSpPr>
        <p:spPr bwMode="auto">
          <a:xfrm>
            <a:off x="63246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2" name="Rectangle 76"/>
          <p:cNvSpPr>
            <a:spLocks noChangeArrowheads="1"/>
          </p:cNvSpPr>
          <p:nvPr/>
        </p:nvSpPr>
        <p:spPr bwMode="auto">
          <a:xfrm>
            <a:off x="6524625" y="2406650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64973" name="Rectangle 77"/>
          <p:cNvSpPr>
            <a:spLocks noChangeArrowheads="1"/>
          </p:cNvSpPr>
          <p:nvPr/>
        </p:nvSpPr>
        <p:spPr bwMode="auto">
          <a:xfrm>
            <a:off x="67818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4" name="Rectangle 78"/>
          <p:cNvSpPr>
            <a:spLocks noChangeArrowheads="1"/>
          </p:cNvSpPr>
          <p:nvPr/>
        </p:nvSpPr>
        <p:spPr bwMode="auto">
          <a:xfrm>
            <a:off x="6986588" y="2406650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64975" name="Rectangle 79"/>
          <p:cNvSpPr>
            <a:spLocks noChangeArrowheads="1"/>
          </p:cNvSpPr>
          <p:nvPr/>
        </p:nvSpPr>
        <p:spPr bwMode="auto">
          <a:xfrm>
            <a:off x="72390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6" name="Rectangle 80"/>
          <p:cNvSpPr>
            <a:spLocks noChangeArrowheads="1"/>
          </p:cNvSpPr>
          <p:nvPr/>
        </p:nvSpPr>
        <p:spPr bwMode="auto">
          <a:xfrm>
            <a:off x="7426325" y="2406650"/>
            <a:ext cx="16986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64977" name="Rectangle 81"/>
          <p:cNvSpPr>
            <a:spLocks noChangeArrowheads="1"/>
          </p:cNvSpPr>
          <p:nvPr/>
        </p:nvSpPr>
        <p:spPr bwMode="auto">
          <a:xfrm>
            <a:off x="7696200" y="2362200"/>
            <a:ext cx="458788" cy="306388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4978" name="Rectangle 82"/>
          <p:cNvSpPr>
            <a:spLocks noChangeArrowheads="1"/>
          </p:cNvSpPr>
          <p:nvPr/>
        </p:nvSpPr>
        <p:spPr bwMode="auto">
          <a:xfrm>
            <a:off x="7869238" y="2406650"/>
            <a:ext cx="1984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W</a:t>
            </a:r>
            <a:endParaRPr lang="en-US"/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title"/>
          </p:nvPr>
        </p:nvSpPr>
        <p:spPr>
          <a:xfrm>
            <a:off x="357266" y="69850"/>
            <a:ext cx="7580881" cy="760589"/>
          </a:xfrm>
        </p:spPr>
        <p:txBody>
          <a:bodyPr/>
          <a:lstStyle/>
          <a:p>
            <a:r>
              <a:rPr lang="en-US"/>
              <a:t>Control for Return</a:t>
            </a:r>
          </a:p>
        </p:txBody>
      </p:sp>
      <p:sp>
        <p:nvSpPr>
          <p:cNvPr id="464900" name="Rectangle 4"/>
          <p:cNvSpPr>
            <a:spLocks noChangeArrowheads="1"/>
          </p:cNvSpPr>
          <p:nvPr/>
        </p:nvSpPr>
        <p:spPr bwMode="auto">
          <a:xfrm>
            <a:off x="381000" y="32004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endParaRPr lang="en-US" sz="2000">
              <a:latin typeface="Courier New" pitchFamily="49" charset="0"/>
            </a:endParaRPr>
          </a:p>
        </p:txBody>
      </p:sp>
      <p:graphicFrame>
        <p:nvGraphicFramePr>
          <p:cNvPr id="465057" name="Group 161"/>
          <p:cNvGraphicFramePr>
            <a:graphicFrameLocks noGrp="1"/>
          </p:cNvGraphicFramePr>
          <p:nvPr/>
        </p:nvGraphicFramePr>
        <p:xfrm>
          <a:off x="685800" y="3048000"/>
          <a:ext cx="7689850" cy="914401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7918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Control Cases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914400"/>
            <a:ext cx="8294687" cy="5518150"/>
          </a:xfrm>
        </p:spPr>
        <p:txBody>
          <a:bodyPr/>
          <a:lstStyle/>
          <a:p>
            <a:r>
              <a:rPr lang="en-US" dirty="0"/>
              <a:t>Detection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Action (on next cycle)</a:t>
            </a:r>
          </a:p>
        </p:txBody>
      </p:sp>
      <p:graphicFrame>
        <p:nvGraphicFramePr>
          <p:cNvPr id="454717" name="Group 61"/>
          <p:cNvGraphicFramePr>
            <a:graphicFrameLocks noGrp="1"/>
          </p:cNvGraphicFramePr>
          <p:nvPr>
            <p:extLst/>
          </p:nvPr>
        </p:nvGraphicFramePr>
        <p:xfrm>
          <a:off x="1143000" y="1524000"/>
          <a:ext cx="6630988" cy="2023936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Trigger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IRET in { D_icode, E_icode, M_icode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in { IMRMOVQ, IPOPQ } &amp;&amp;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E_dstM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in {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d_srcA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d_srcB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}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E_icode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 = IJXX &amp; !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e_Cnd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Helvetica" pitchFamily="34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4784" name="Group 128"/>
          <p:cNvGraphicFramePr>
            <a:graphicFrameLocks noGrp="1"/>
          </p:cNvGraphicFramePr>
          <p:nvPr/>
        </p:nvGraphicFramePr>
        <p:xfrm>
          <a:off x="914400" y="4343400"/>
          <a:ext cx="7689850" cy="1855789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/>
                          <a:cs typeface="Courier New"/>
                        </a:rPr>
                        <a:t>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9569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Pipeline Control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5715000"/>
            <a:ext cx="8294687" cy="717550"/>
          </a:xfrm>
        </p:spPr>
        <p:txBody>
          <a:bodyPr/>
          <a:lstStyle/>
          <a:p>
            <a:pPr lvl="1"/>
            <a:r>
              <a:rPr lang="en-US"/>
              <a:t>Combinational logic generates pipeline control signals</a:t>
            </a:r>
          </a:p>
          <a:p>
            <a:pPr lvl="1"/>
            <a:r>
              <a:rPr lang="en-US"/>
              <a:t>Action occurs at start of following cycle</a:t>
            </a:r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1149234"/>
            <a:ext cx="6064250" cy="417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36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Version of Pipeline Control</a:t>
            </a:r>
          </a:p>
        </p:txBody>
      </p:sp>
      <p:sp>
        <p:nvSpPr>
          <p:cNvPr id="468995" name="Text Box 3"/>
          <p:cNvSpPr txBox="1">
            <a:spLocks noChangeArrowheads="1"/>
          </p:cNvSpPr>
          <p:nvPr/>
        </p:nvSpPr>
        <p:spPr bwMode="auto">
          <a:xfrm>
            <a:off x="381000" y="990600"/>
            <a:ext cx="8534400" cy="52260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 err="1">
                <a:latin typeface="Courier New" pitchFamily="49" charset="0"/>
              </a:rPr>
              <a:t>bool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F_stall</a:t>
            </a:r>
            <a:r>
              <a:rPr lang="en-US" sz="1600" dirty="0">
                <a:latin typeface="Courier New" pitchFamily="49" charset="0"/>
              </a:rPr>
              <a:t> =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Conditions for a load/use hazard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 in { IMRMOVQ, IPOPQ } &amp;&amp; </a:t>
            </a:r>
            <a:r>
              <a:rPr lang="en-US" sz="1600" dirty="0" err="1">
                <a:latin typeface="Courier New" pitchFamily="49" charset="0"/>
              </a:rPr>
              <a:t>E_dstM</a:t>
            </a:r>
            <a:r>
              <a:rPr lang="en-US" sz="1600" dirty="0">
                <a:latin typeface="Courier New" pitchFamily="49" charset="0"/>
              </a:rPr>
              <a:t> in { 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d_srcB</a:t>
            </a:r>
            <a:r>
              <a:rPr lang="en-US" sz="1600" dirty="0">
                <a:latin typeface="Courier New" pitchFamily="49" charset="0"/>
              </a:rPr>
              <a:t> } ||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Stalling at fetch while ret passes through pipeline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IRET in { </a:t>
            </a:r>
            <a:r>
              <a:rPr lang="en-US" sz="1600" dirty="0" err="1">
                <a:latin typeface="Courier New" pitchFamily="49" charset="0"/>
              </a:rPr>
              <a:t>D_icode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M_icode</a:t>
            </a:r>
            <a:r>
              <a:rPr lang="en-US" sz="1600" dirty="0">
                <a:latin typeface="Courier New" pitchFamily="49" charset="0"/>
              </a:rPr>
              <a:t> };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 err="1">
                <a:latin typeface="Courier New" pitchFamily="49" charset="0"/>
              </a:rPr>
              <a:t>bool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D_stall</a:t>
            </a:r>
            <a:r>
              <a:rPr lang="en-US" sz="1600" dirty="0">
                <a:latin typeface="Courier New" pitchFamily="49" charset="0"/>
              </a:rPr>
              <a:t> =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Conditions for a load/use hazard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 in { IMRMOVQ, IPOPQ } &amp;&amp; </a:t>
            </a:r>
            <a:r>
              <a:rPr lang="en-US" sz="1600" dirty="0" err="1">
                <a:latin typeface="Courier New" pitchFamily="49" charset="0"/>
              </a:rPr>
              <a:t>E_dstM</a:t>
            </a:r>
            <a:r>
              <a:rPr lang="en-US" sz="1600" dirty="0">
                <a:latin typeface="Courier New" pitchFamily="49" charset="0"/>
              </a:rPr>
              <a:t> in { 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d_srcB</a:t>
            </a:r>
            <a:r>
              <a:rPr lang="en-US" sz="1600" dirty="0">
                <a:latin typeface="Courier New" pitchFamily="49" charset="0"/>
              </a:rPr>
              <a:t> };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 err="1">
                <a:latin typeface="Courier New" pitchFamily="49" charset="0"/>
              </a:rPr>
              <a:t>bool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D_bubble</a:t>
            </a:r>
            <a:r>
              <a:rPr lang="en-US" sz="1600" dirty="0">
                <a:latin typeface="Courier New" pitchFamily="49" charset="0"/>
              </a:rPr>
              <a:t> =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</a:t>
            </a:r>
            <a:r>
              <a:rPr lang="en-US" sz="1600" dirty="0" err="1">
                <a:solidFill>
                  <a:schemeClr val="hlink"/>
                </a:solidFill>
                <a:latin typeface="Courier New" pitchFamily="49" charset="0"/>
              </a:rPr>
              <a:t>Mispredicted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branch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(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 == IJXX &amp;&amp; !</a:t>
            </a:r>
            <a:r>
              <a:rPr lang="en-US" sz="1600" dirty="0" err="1">
                <a:latin typeface="Courier New" pitchFamily="49" charset="0"/>
              </a:rPr>
              <a:t>e_Cnd</a:t>
            </a:r>
            <a:r>
              <a:rPr lang="en-US" sz="1600" dirty="0">
                <a:latin typeface="Courier New" pitchFamily="49" charset="0"/>
              </a:rPr>
              <a:t>) ||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Stalling at fetch while ret passes through pipeline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 IRET in { </a:t>
            </a:r>
            <a:r>
              <a:rPr lang="en-US" sz="1600" dirty="0" err="1">
                <a:latin typeface="Courier New" pitchFamily="49" charset="0"/>
              </a:rPr>
              <a:t>D_icode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M_icode</a:t>
            </a:r>
            <a:r>
              <a:rPr lang="en-US" sz="1600" dirty="0">
                <a:latin typeface="Courier New" pitchFamily="49" charset="0"/>
              </a:rPr>
              <a:t> };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 err="1">
                <a:latin typeface="Courier New" pitchFamily="49" charset="0"/>
              </a:rPr>
              <a:t>bool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E_bubble</a:t>
            </a:r>
            <a:r>
              <a:rPr lang="en-US" sz="1600" dirty="0">
                <a:latin typeface="Courier New" pitchFamily="49" charset="0"/>
              </a:rPr>
              <a:t> =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</a:t>
            </a:r>
            <a:r>
              <a:rPr lang="en-US" sz="1600" dirty="0" err="1">
                <a:solidFill>
                  <a:schemeClr val="hlink"/>
                </a:solidFill>
                <a:latin typeface="Courier New" pitchFamily="49" charset="0"/>
              </a:rPr>
              <a:t>Mispredicted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branch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(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 == IJXX &amp;&amp; !</a:t>
            </a:r>
            <a:r>
              <a:rPr lang="en-US" sz="1600" dirty="0" err="1">
                <a:latin typeface="Courier New" pitchFamily="49" charset="0"/>
              </a:rPr>
              <a:t>e_Cnd</a:t>
            </a:r>
            <a:r>
              <a:rPr lang="en-US" sz="1600" dirty="0">
                <a:latin typeface="Courier New" pitchFamily="49" charset="0"/>
              </a:rPr>
              <a:t>) ||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Load/use hazard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 in { IMRMOVQ, IPOPQ } &amp;&amp; </a:t>
            </a:r>
            <a:r>
              <a:rPr lang="en-US" sz="1600" dirty="0" err="1">
                <a:latin typeface="Courier New" pitchFamily="49" charset="0"/>
              </a:rPr>
              <a:t>E_dstM</a:t>
            </a:r>
            <a:r>
              <a:rPr lang="en-US" sz="1600" dirty="0">
                <a:latin typeface="Courier New" pitchFamily="49" charset="0"/>
              </a:rPr>
              <a:t> in { 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d_srcB</a:t>
            </a:r>
            <a:r>
              <a:rPr lang="en-US" sz="1600" dirty="0">
                <a:latin typeface="Courier New" pitchFamily="49" charset="0"/>
              </a:rPr>
              <a:t> };</a:t>
            </a:r>
          </a:p>
        </p:txBody>
      </p:sp>
    </p:spTree>
    <p:extLst>
      <p:ext uri="{BB962C8B-B14F-4D97-AF65-F5344CB8AC3E}">
        <p14:creationId xmlns:p14="http://schemas.microsoft.com/office/powerpoint/2010/main" val="13236166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Combinations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429000"/>
            <a:ext cx="8396287" cy="3003550"/>
          </a:xfrm>
        </p:spPr>
        <p:txBody>
          <a:bodyPr/>
          <a:lstStyle/>
          <a:p>
            <a:pPr lvl="1"/>
            <a:r>
              <a:rPr lang="en-US" dirty="0"/>
              <a:t>Special cases that can arise on same clock cycle</a:t>
            </a:r>
          </a:p>
          <a:p>
            <a:r>
              <a:rPr lang="en-US" dirty="0"/>
              <a:t>Combination A</a:t>
            </a:r>
          </a:p>
          <a:p>
            <a:pPr lvl="1"/>
            <a:r>
              <a:rPr lang="en-US" dirty="0"/>
              <a:t>Not-taken branch</a:t>
            </a:r>
          </a:p>
          <a:p>
            <a:pPr lvl="1"/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ret</a:t>
            </a:r>
            <a:r>
              <a:rPr lang="en-US" dirty="0"/>
              <a:t> instruction at branch target</a:t>
            </a:r>
          </a:p>
          <a:p>
            <a:r>
              <a:rPr lang="en-US" dirty="0"/>
              <a:t>Combination B</a:t>
            </a:r>
          </a:p>
          <a:p>
            <a:pPr lvl="1"/>
            <a:r>
              <a:rPr lang="en-US" dirty="0"/>
              <a:t>Instruction that reads from memory to </a:t>
            </a:r>
            <a:r>
              <a:rPr lang="en-US" dirty="0">
                <a:latin typeface="Courier New" pitchFamily="49" charset="0"/>
              </a:rPr>
              <a:t>%</a:t>
            </a:r>
            <a:r>
              <a:rPr lang="en-US" dirty="0" err="1">
                <a:latin typeface="Courier New" pitchFamily="49" charset="0"/>
              </a:rPr>
              <a:t>rsp</a:t>
            </a:r>
            <a:endParaRPr lang="en-US" dirty="0">
              <a:latin typeface="Courier New" pitchFamily="49" charset="0"/>
            </a:endParaRPr>
          </a:p>
          <a:p>
            <a:pPr lvl="1"/>
            <a:r>
              <a:rPr lang="en-US" dirty="0"/>
              <a:t>Followed by </a:t>
            </a:r>
            <a:r>
              <a:rPr lang="en-US" dirty="0">
                <a:latin typeface="Courier New" pitchFamily="49" charset="0"/>
              </a:rPr>
              <a:t>ret</a:t>
            </a:r>
            <a:r>
              <a:rPr lang="en-US" dirty="0"/>
              <a:t> instruction</a:t>
            </a:r>
          </a:p>
          <a:p>
            <a:pPr lvl="1"/>
            <a:endParaRPr lang="en-US" dirty="0"/>
          </a:p>
        </p:txBody>
      </p:sp>
      <p:pic>
        <p:nvPicPr>
          <p:cNvPr id="4710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990600"/>
            <a:ext cx="7180263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12818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6523" y="69850"/>
            <a:ext cx="7581548" cy="760589"/>
          </a:xfrm>
        </p:spPr>
        <p:txBody>
          <a:bodyPr/>
          <a:lstStyle/>
          <a:p>
            <a:r>
              <a:rPr lang="en-US"/>
              <a:t>Control Combination A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876800"/>
            <a:ext cx="8396288" cy="3003550"/>
          </a:xfrm>
        </p:spPr>
        <p:txBody>
          <a:bodyPr/>
          <a:lstStyle/>
          <a:p>
            <a:pPr lvl="1"/>
            <a:r>
              <a:rPr lang="en-US"/>
              <a:t>Should handle as mispredicted branch</a:t>
            </a:r>
          </a:p>
          <a:p>
            <a:pPr lvl="1"/>
            <a:r>
              <a:rPr lang="en-US"/>
              <a:t>Stalls F pipeline register</a:t>
            </a:r>
          </a:p>
          <a:p>
            <a:pPr lvl="1"/>
            <a:r>
              <a:rPr lang="en-US"/>
              <a:t>But PC selection logic will be using M_valM anyhow</a:t>
            </a:r>
          </a:p>
        </p:txBody>
      </p:sp>
      <p:sp>
        <p:nvSpPr>
          <p:cNvPr id="472239" name="Rectangle 175"/>
          <p:cNvSpPr>
            <a:spLocks noChangeArrowheads="1"/>
          </p:cNvSpPr>
          <p:nvPr/>
        </p:nvSpPr>
        <p:spPr bwMode="auto">
          <a:xfrm>
            <a:off x="1905000" y="2667000"/>
            <a:ext cx="32781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72312" name="Group 248"/>
          <p:cNvGrpSpPr>
            <a:grpSpLocks/>
          </p:cNvGrpSpPr>
          <p:nvPr/>
        </p:nvGrpSpPr>
        <p:grpSpPr bwMode="auto">
          <a:xfrm>
            <a:off x="533400" y="990600"/>
            <a:ext cx="3049588" cy="1633538"/>
            <a:chOff x="1584" y="624"/>
            <a:chExt cx="1921" cy="1029"/>
          </a:xfrm>
        </p:grpSpPr>
        <p:sp>
          <p:nvSpPr>
            <p:cNvPr id="472082" name="Rectangle 18"/>
            <p:cNvSpPr>
              <a:spLocks noChangeArrowheads="1"/>
            </p:cNvSpPr>
            <p:nvPr/>
          </p:nvSpPr>
          <p:spPr bwMode="auto">
            <a:xfrm>
              <a:off x="1872" y="1056"/>
              <a:ext cx="577" cy="19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83" name="Rectangle 19"/>
            <p:cNvSpPr>
              <a:spLocks noChangeArrowheads="1"/>
            </p:cNvSpPr>
            <p:nvPr/>
          </p:nvSpPr>
          <p:spPr bwMode="auto">
            <a:xfrm>
              <a:off x="2082" y="1086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  <a:latin typeface="Courier New" pitchFamily="49" charset="0"/>
                </a:rPr>
                <a:t>JXX</a:t>
              </a:r>
              <a:endParaRPr lang="en-US"/>
            </a:p>
          </p:txBody>
        </p:sp>
        <p:sp>
          <p:nvSpPr>
            <p:cNvPr id="472084" name="Rectangle 20"/>
            <p:cNvSpPr>
              <a:spLocks noChangeArrowheads="1"/>
            </p:cNvSpPr>
            <p:nvPr/>
          </p:nvSpPr>
          <p:spPr bwMode="auto">
            <a:xfrm>
              <a:off x="1584" y="1056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85" name="Rectangle 21"/>
            <p:cNvSpPr>
              <a:spLocks noChangeArrowheads="1"/>
            </p:cNvSpPr>
            <p:nvPr/>
          </p:nvSpPr>
          <p:spPr bwMode="auto">
            <a:xfrm>
              <a:off x="1757" y="1094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72086" name="Rectangle 22"/>
            <p:cNvSpPr>
              <a:spLocks noChangeArrowheads="1"/>
            </p:cNvSpPr>
            <p:nvPr/>
          </p:nvSpPr>
          <p:spPr bwMode="auto">
            <a:xfrm>
              <a:off x="1872" y="1248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87" name="Rectangle 23"/>
            <p:cNvSpPr>
              <a:spLocks noChangeArrowheads="1"/>
            </p:cNvSpPr>
            <p:nvPr/>
          </p:nvSpPr>
          <p:spPr bwMode="auto">
            <a:xfrm>
              <a:off x="1584" y="1248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88" name="Rectangle 24"/>
            <p:cNvSpPr>
              <a:spLocks noChangeArrowheads="1"/>
            </p:cNvSpPr>
            <p:nvPr/>
          </p:nvSpPr>
          <p:spPr bwMode="auto">
            <a:xfrm>
              <a:off x="1750" y="1286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72089" name="Rectangle 25"/>
            <p:cNvSpPr>
              <a:spLocks noChangeArrowheads="1"/>
            </p:cNvSpPr>
            <p:nvPr/>
          </p:nvSpPr>
          <p:spPr bwMode="auto">
            <a:xfrm>
              <a:off x="1872" y="864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90" name="Rectangle 26"/>
            <p:cNvSpPr>
              <a:spLocks noChangeArrowheads="1"/>
            </p:cNvSpPr>
            <p:nvPr/>
          </p:nvSpPr>
          <p:spPr bwMode="auto">
            <a:xfrm>
              <a:off x="1584" y="864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91" name="Rectangle 27"/>
            <p:cNvSpPr>
              <a:spLocks noChangeArrowheads="1"/>
            </p:cNvSpPr>
            <p:nvPr/>
          </p:nvSpPr>
          <p:spPr bwMode="auto">
            <a:xfrm>
              <a:off x="1735" y="902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72092" name="Rectangle 28"/>
            <p:cNvSpPr>
              <a:spLocks noChangeArrowheads="1"/>
            </p:cNvSpPr>
            <p:nvPr/>
          </p:nvSpPr>
          <p:spPr bwMode="auto">
            <a:xfrm>
              <a:off x="1680" y="624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93" name="Rectangle 29"/>
            <p:cNvSpPr>
              <a:spLocks noChangeArrowheads="1"/>
            </p:cNvSpPr>
            <p:nvPr/>
          </p:nvSpPr>
          <p:spPr bwMode="auto">
            <a:xfrm>
              <a:off x="1800" y="662"/>
              <a:ext cx="583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Mispredict</a:t>
              </a:r>
              <a:endParaRPr lang="en-US"/>
            </a:p>
          </p:txBody>
        </p:sp>
        <p:sp>
          <p:nvSpPr>
            <p:cNvPr id="472094" name="Rectangle 30"/>
            <p:cNvSpPr>
              <a:spLocks noChangeArrowheads="1"/>
            </p:cNvSpPr>
            <p:nvPr/>
          </p:nvSpPr>
          <p:spPr bwMode="auto">
            <a:xfrm>
              <a:off x="1872" y="1056"/>
              <a:ext cx="577" cy="19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95" name="Rectangle 31"/>
            <p:cNvSpPr>
              <a:spLocks noChangeArrowheads="1"/>
            </p:cNvSpPr>
            <p:nvPr/>
          </p:nvSpPr>
          <p:spPr bwMode="auto">
            <a:xfrm>
              <a:off x="2082" y="1086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  <a:latin typeface="Courier New" pitchFamily="49" charset="0"/>
                </a:rPr>
                <a:t>JXX</a:t>
              </a:r>
              <a:endParaRPr lang="en-US"/>
            </a:p>
          </p:txBody>
        </p:sp>
        <p:sp>
          <p:nvSpPr>
            <p:cNvPr id="472096" name="Rectangle 32"/>
            <p:cNvSpPr>
              <a:spLocks noChangeArrowheads="1"/>
            </p:cNvSpPr>
            <p:nvPr/>
          </p:nvSpPr>
          <p:spPr bwMode="auto">
            <a:xfrm>
              <a:off x="1584" y="1056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97" name="Rectangle 33"/>
            <p:cNvSpPr>
              <a:spLocks noChangeArrowheads="1"/>
            </p:cNvSpPr>
            <p:nvPr/>
          </p:nvSpPr>
          <p:spPr bwMode="auto">
            <a:xfrm>
              <a:off x="1757" y="1094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72098" name="Rectangle 34"/>
            <p:cNvSpPr>
              <a:spLocks noChangeArrowheads="1"/>
            </p:cNvSpPr>
            <p:nvPr/>
          </p:nvSpPr>
          <p:spPr bwMode="auto">
            <a:xfrm>
              <a:off x="1872" y="1248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099" name="Rectangle 35"/>
            <p:cNvSpPr>
              <a:spLocks noChangeArrowheads="1"/>
            </p:cNvSpPr>
            <p:nvPr/>
          </p:nvSpPr>
          <p:spPr bwMode="auto">
            <a:xfrm>
              <a:off x="1584" y="1248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00" name="Rectangle 36"/>
            <p:cNvSpPr>
              <a:spLocks noChangeArrowheads="1"/>
            </p:cNvSpPr>
            <p:nvPr/>
          </p:nvSpPr>
          <p:spPr bwMode="auto">
            <a:xfrm>
              <a:off x="1750" y="1286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72101" name="Rectangle 37"/>
            <p:cNvSpPr>
              <a:spLocks noChangeArrowheads="1"/>
            </p:cNvSpPr>
            <p:nvPr/>
          </p:nvSpPr>
          <p:spPr bwMode="auto">
            <a:xfrm>
              <a:off x="1872" y="864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02" name="Rectangle 38"/>
            <p:cNvSpPr>
              <a:spLocks noChangeArrowheads="1"/>
            </p:cNvSpPr>
            <p:nvPr/>
          </p:nvSpPr>
          <p:spPr bwMode="auto">
            <a:xfrm>
              <a:off x="1584" y="864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03" name="Rectangle 39"/>
            <p:cNvSpPr>
              <a:spLocks noChangeArrowheads="1"/>
            </p:cNvSpPr>
            <p:nvPr/>
          </p:nvSpPr>
          <p:spPr bwMode="auto">
            <a:xfrm>
              <a:off x="1735" y="902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72104" name="Rectangle 40"/>
            <p:cNvSpPr>
              <a:spLocks noChangeArrowheads="1"/>
            </p:cNvSpPr>
            <p:nvPr/>
          </p:nvSpPr>
          <p:spPr bwMode="auto">
            <a:xfrm>
              <a:off x="1680" y="624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05" name="Rectangle 41"/>
            <p:cNvSpPr>
              <a:spLocks noChangeArrowheads="1"/>
            </p:cNvSpPr>
            <p:nvPr/>
          </p:nvSpPr>
          <p:spPr bwMode="auto">
            <a:xfrm>
              <a:off x="1800" y="662"/>
              <a:ext cx="583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Mispredict</a:t>
              </a:r>
              <a:endParaRPr lang="en-US"/>
            </a:p>
          </p:txBody>
        </p:sp>
        <p:grpSp>
          <p:nvGrpSpPr>
            <p:cNvPr id="472119" name="Group 55"/>
            <p:cNvGrpSpPr>
              <a:grpSpLocks/>
            </p:cNvGrpSpPr>
            <p:nvPr/>
          </p:nvGrpSpPr>
          <p:grpSpPr bwMode="auto">
            <a:xfrm>
              <a:off x="2640" y="624"/>
              <a:ext cx="865" cy="837"/>
              <a:chOff x="2640" y="624"/>
              <a:chExt cx="865" cy="837"/>
            </a:xfrm>
          </p:grpSpPr>
          <p:sp>
            <p:nvSpPr>
              <p:cNvPr id="472106" name="Rectangle 42"/>
              <p:cNvSpPr>
                <a:spLocks noChangeArrowheads="1"/>
              </p:cNvSpPr>
              <p:nvPr/>
            </p:nvSpPr>
            <p:spPr bwMode="auto">
              <a:xfrm>
                <a:off x="2928" y="1056"/>
                <a:ext cx="577" cy="1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07" name="Rectangle 43"/>
              <p:cNvSpPr>
                <a:spLocks noChangeArrowheads="1"/>
              </p:cNvSpPr>
              <p:nvPr/>
            </p:nvSpPr>
            <p:spPr bwMode="auto">
              <a:xfrm>
                <a:off x="2640" y="1056"/>
                <a:ext cx="28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08" name="Rectangle 44"/>
              <p:cNvSpPr>
                <a:spLocks noChangeArrowheads="1"/>
              </p:cNvSpPr>
              <p:nvPr/>
            </p:nvSpPr>
            <p:spPr bwMode="auto">
              <a:xfrm>
                <a:off x="2813" y="1094"/>
                <a:ext cx="8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72109" name="Rectangle 45"/>
              <p:cNvSpPr>
                <a:spLocks noChangeArrowheads="1"/>
              </p:cNvSpPr>
              <p:nvPr/>
            </p:nvSpPr>
            <p:spPr bwMode="auto">
              <a:xfrm>
                <a:off x="2928" y="1248"/>
                <a:ext cx="577" cy="193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10" name="Rectangle 46"/>
              <p:cNvSpPr>
                <a:spLocks noChangeArrowheads="1"/>
              </p:cNvSpPr>
              <p:nvPr/>
            </p:nvSpPr>
            <p:spPr bwMode="auto">
              <a:xfrm>
                <a:off x="3138" y="1278"/>
                <a:ext cx="231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  <a:latin typeface="Courier New" pitchFamily="49" charset="0"/>
                  </a:rPr>
                  <a:t>ret</a:t>
                </a:r>
                <a:endParaRPr lang="en-US"/>
              </a:p>
            </p:txBody>
          </p:sp>
          <p:sp>
            <p:nvSpPr>
              <p:cNvPr id="472111" name="Rectangle 47"/>
              <p:cNvSpPr>
                <a:spLocks noChangeArrowheads="1"/>
              </p:cNvSpPr>
              <p:nvPr/>
            </p:nvSpPr>
            <p:spPr bwMode="auto">
              <a:xfrm>
                <a:off x="2640" y="1248"/>
                <a:ext cx="28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12" name="Rectangle 48"/>
              <p:cNvSpPr>
                <a:spLocks noChangeArrowheads="1"/>
              </p:cNvSpPr>
              <p:nvPr/>
            </p:nvSpPr>
            <p:spPr bwMode="auto">
              <a:xfrm>
                <a:off x="2806" y="1286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72113" name="Rectangle 49"/>
              <p:cNvSpPr>
                <a:spLocks noChangeArrowheads="1"/>
              </p:cNvSpPr>
              <p:nvPr/>
            </p:nvSpPr>
            <p:spPr bwMode="auto">
              <a:xfrm>
                <a:off x="2928" y="864"/>
                <a:ext cx="577" cy="19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14" name="Rectangle 50"/>
              <p:cNvSpPr>
                <a:spLocks noChangeArrowheads="1"/>
              </p:cNvSpPr>
              <p:nvPr/>
            </p:nvSpPr>
            <p:spPr bwMode="auto">
              <a:xfrm>
                <a:off x="2640" y="864"/>
                <a:ext cx="28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15" name="Rectangle 51"/>
              <p:cNvSpPr>
                <a:spLocks noChangeArrowheads="1"/>
              </p:cNvSpPr>
              <p:nvPr/>
            </p:nvSpPr>
            <p:spPr bwMode="auto">
              <a:xfrm>
                <a:off x="2791" y="902"/>
                <a:ext cx="107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72116" name="Rectangle 52"/>
              <p:cNvSpPr>
                <a:spLocks noChangeArrowheads="1"/>
              </p:cNvSpPr>
              <p:nvPr/>
            </p:nvSpPr>
            <p:spPr bwMode="auto">
              <a:xfrm>
                <a:off x="2736" y="624"/>
                <a:ext cx="76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117" name="Rectangle 53"/>
              <p:cNvSpPr>
                <a:spLocks noChangeArrowheads="1"/>
              </p:cNvSpPr>
              <p:nvPr/>
            </p:nvSpPr>
            <p:spPr bwMode="auto">
              <a:xfrm>
                <a:off x="2989" y="666"/>
                <a:ext cx="231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  <a:latin typeface="Courier New" pitchFamily="49" charset="0"/>
                  </a:rPr>
                  <a:t>ret</a:t>
                </a:r>
                <a:endParaRPr lang="en-US"/>
              </a:p>
            </p:txBody>
          </p:sp>
          <p:sp>
            <p:nvSpPr>
              <p:cNvPr id="472118" name="Rectangle 54"/>
              <p:cNvSpPr>
                <a:spLocks noChangeArrowheads="1"/>
              </p:cNvSpPr>
              <p:nvPr/>
            </p:nvSpPr>
            <p:spPr bwMode="auto">
              <a:xfrm>
                <a:off x="3246" y="654"/>
                <a:ext cx="71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1</a:t>
                </a:r>
                <a:endParaRPr lang="en-US"/>
              </a:p>
            </p:txBody>
          </p:sp>
        </p:grpSp>
        <p:sp>
          <p:nvSpPr>
            <p:cNvPr id="472151" name="Rectangle 87"/>
            <p:cNvSpPr>
              <a:spLocks noChangeArrowheads="1"/>
            </p:cNvSpPr>
            <p:nvPr/>
          </p:nvSpPr>
          <p:spPr bwMode="auto">
            <a:xfrm>
              <a:off x="2928" y="1056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52" name="Rectangle 88"/>
            <p:cNvSpPr>
              <a:spLocks noChangeArrowheads="1"/>
            </p:cNvSpPr>
            <p:nvPr/>
          </p:nvSpPr>
          <p:spPr bwMode="auto">
            <a:xfrm>
              <a:off x="2640" y="1056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53" name="Rectangle 89"/>
            <p:cNvSpPr>
              <a:spLocks noChangeArrowheads="1"/>
            </p:cNvSpPr>
            <p:nvPr/>
          </p:nvSpPr>
          <p:spPr bwMode="auto">
            <a:xfrm>
              <a:off x="2813" y="1094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72154" name="Rectangle 90"/>
            <p:cNvSpPr>
              <a:spLocks noChangeArrowheads="1"/>
            </p:cNvSpPr>
            <p:nvPr/>
          </p:nvSpPr>
          <p:spPr bwMode="auto">
            <a:xfrm>
              <a:off x="2928" y="1248"/>
              <a:ext cx="577" cy="19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55" name="Rectangle 91"/>
            <p:cNvSpPr>
              <a:spLocks noChangeArrowheads="1"/>
            </p:cNvSpPr>
            <p:nvPr/>
          </p:nvSpPr>
          <p:spPr bwMode="auto">
            <a:xfrm>
              <a:off x="3138" y="1278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  <a:latin typeface="Courier New" pitchFamily="49" charset="0"/>
                </a:rPr>
                <a:t>ret</a:t>
              </a:r>
              <a:endParaRPr lang="en-US"/>
            </a:p>
          </p:txBody>
        </p:sp>
        <p:sp>
          <p:nvSpPr>
            <p:cNvPr id="472156" name="Rectangle 92"/>
            <p:cNvSpPr>
              <a:spLocks noChangeArrowheads="1"/>
            </p:cNvSpPr>
            <p:nvPr/>
          </p:nvSpPr>
          <p:spPr bwMode="auto">
            <a:xfrm>
              <a:off x="2640" y="1248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57" name="Rectangle 93"/>
            <p:cNvSpPr>
              <a:spLocks noChangeArrowheads="1"/>
            </p:cNvSpPr>
            <p:nvPr/>
          </p:nvSpPr>
          <p:spPr bwMode="auto">
            <a:xfrm>
              <a:off x="2806" y="1286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72158" name="Rectangle 94"/>
            <p:cNvSpPr>
              <a:spLocks noChangeArrowheads="1"/>
            </p:cNvSpPr>
            <p:nvPr/>
          </p:nvSpPr>
          <p:spPr bwMode="auto">
            <a:xfrm>
              <a:off x="2928" y="864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59" name="Rectangle 95"/>
            <p:cNvSpPr>
              <a:spLocks noChangeArrowheads="1"/>
            </p:cNvSpPr>
            <p:nvPr/>
          </p:nvSpPr>
          <p:spPr bwMode="auto">
            <a:xfrm>
              <a:off x="2640" y="864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60" name="Rectangle 96"/>
            <p:cNvSpPr>
              <a:spLocks noChangeArrowheads="1"/>
            </p:cNvSpPr>
            <p:nvPr/>
          </p:nvSpPr>
          <p:spPr bwMode="auto">
            <a:xfrm>
              <a:off x="2791" y="902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72161" name="Rectangle 97"/>
            <p:cNvSpPr>
              <a:spLocks noChangeArrowheads="1"/>
            </p:cNvSpPr>
            <p:nvPr/>
          </p:nvSpPr>
          <p:spPr bwMode="auto">
            <a:xfrm>
              <a:off x="2736" y="624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62" name="Rectangle 98"/>
            <p:cNvSpPr>
              <a:spLocks noChangeArrowheads="1"/>
            </p:cNvSpPr>
            <p:nvPr/>
          </p:nvSpPr>
          <p:spPr bwMode="auto">
            <a:xfrm>
              <a:off x="2989" y="666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  <a:latin typeface="Courier New" pitchFamily="49" charset="0"/>
                </a:rPr>
                <a:t>ret</a:t>
              </a:r>
              <a:endParaRPr lang="en-US"/>
            </a:p>
          </p:txBody>
        </p:sp>
        <p:sp>
          <p:nvSpPr>
            <p:cNvPr id="472163" name="Rectangle 99"/>
            <p:cNvSpPr>
              <a:spLocks noChangeArrowheads="1"/>
            </p:cNvSpPr>
            <p:nvPr/>
          </p:nvSpPr>
          <p:spPr bwMode="auto">
            <a:xfrm>
              <a:off x="3246" y="654"/>
              <a:ext cx="7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472164" name="Rectangle 100"/>
            <p:cNvSpPr>
              <a:spLocks noChangeArrowheads="1"/>
            </p:cNvSpPr>
            <p:nvPr/>
          </p:nvSpPr>
          <p:spPr bwMode="auto">
            <a:xfrm>
              <a:off x="2928" y="1056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65" name="Rectangle 101"/>
            <p:cNvSpPr>
              <a:spLocks noChangeArrowheads="1"/>
            </p:cNvSpPr>
            <p:nvPr/>
          </p:nvSpPr>
          <p:spPr bwMode="auto">
            <a:xfrm>
              <a:off x="2640" y="1056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66" name="Rectangle 102"/>
            <p:cNvSpPr>
              <a:spLocks noChangeArrowheads="1"/>
            </p:cNvSpPr>
            <p:nvPr/>
          </p:nvSpPr>
          <p:spPr bwMode="auto">
            <a:xfrm>
              <a:off x="2813" y="1094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72167" name="Rectangle 103"/>
            <p:cNvSpPr>
              <a:spLocks noChangeArrowheads="1"/>
            </p:cNvSpPr>
            <p:nvPr/>
          </p:nvSpPr>
          <p:spPr bwMode="auto">
            <a:xfrm>
              <a:off x="2928" y="1248"/>
              <a:ext cx="577" cy="193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68" name="Rectangle 104"/>
            <p:cNvSpPr>
              <a:spLocks noChangeArrowheads="1"/>
            </p:cNvSpPr>
            <p:nvPr/>
          </p:nvSpPr>
          <p:spPr bwMode="auto">
            <a:xfrm>
              <a:off x="3138" y="1278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  <a:latin typeface="Courier New" pitchFamily="49" charset="0"/>
                </a:rPr>
                <a:t>ret</a:t>
              </a:r>
              <a:endParaRPr lang="en-US"/>
            </a:p>
          </p:txBody>
        </p:sp>
        <p:sp>
          <p:nvSpPr>
            <p:cNvPr id="472169" name="Rectangle 105"/>
            <p:cNvSpPr>
              <a:spLocks noChangeArrowheads="1"/>
            </p:cNvSpPr>
            <p:nvPr/>
          </p:nvSpPr>
          <p:spPr bwMode="auto">
            <a:xfrm>
              <a:off x="2640" y="1248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70" name="Rectangle 106"/>
            <p:cNvSpPr>
              <a:spLocks noChangeArrowheads="1"/>
            </p:cNvSpPr>
            <p:nvPr/>
          </p:nvSpPr>
          <p:spPr bwMode="auto">
            <a:xfrm>
              <a:off x="2806" y="1286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72171" name="Rectangle 107"/>
            <p:cNvSpPr>
              <a:spLocks noChangeArrowheads="1"/>
            </p:cNvSpPr>
            <p:nvPr/>
          </p:nvSpPr>
          <p:spPr bwMode="auto">
            <a:xfrm>
              <a:off x="2928" y="864"/>
              <a:ext cx="577" cy="19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72" name="Rectangle 108"/>
            <p:cNvSpPr>
              <a:spLocks noChangeArrowheads="1"/>
            </p:cNvSpPr>
            <p:nvPr/>
          </p:nvSpPr>
          <p:spPr bwMode="auto">
            <a:xfrm>
              <a:off x="2640" y="864"/>
              <a:ext cx="28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73" name="Rectangle 109"/>
            <p:cNvSpPr>
              <a:spLocks noChangeArrowheads="1"/>
            </p:cNvSpPr>
            <p:nvPr/>
          </p:nvSpPr>
          <p:spPr bwMode="auto">
            <a:xfrm>
              <a:off x="2791" y="902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72174" name="Rectangle 110"/>
            <p:cNvSpPr>
              <a:spLocks noChangeArrowheads="1"/>
            </p:cNvSpPr>
            <p:nvPr/>
          </p:nvSpPr>
          <p:spPr bwMode="auto">
            <a:xfrm>
              <a:off x="2736" y="624"/>
              <a:ext cx="76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175" name="Rectangle 111"/>
            <p:cNvSpPr>
              <a:spLocks noChangeArrowheads="1"/>
            </p:cNvSpPr>
            <p:nvPr/>
          </p:nvSpPr>
          <p:spPr bwMode="auto">
            <a:xfrm>
              <a:off x="2989" y="666"/>
              <a:ext cx="23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  <a:latin typeface="Courier New" pitchFamily="49" charset="0"/>
                </a:rPr>
                <a:t>ret</a:t>
              </a:r>
              <a:endParaRPr lang="en-US"/>
            </a:p>
          </p:txBody>
        </p:sp>
        <p:sp>
          <p:nvSpPr>
            <p:cNvPr id="472176" name="Rectangle 112"/>
            <p:cNvSpPr>
              <a:spLocks noChangeArrowheads="1"/>
            </p:cNvSpPr>
            <p:nvPr/>
          </p:nvSpPr>
          <p:spPr bwMode="auto">
            <a:xfrm>
              <a:off x="3246" y="654"/>
              <a:ext cx="71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grpSp>
          <p:nvGrpSpPr>
            <p:cNvPr id="472238" name="Group 174"/>
            <p:cNvGrpSpPr>
              <a:grpSpLocks/>
            </p:cNvGrpSpPr>
            <p:nvPr/>
          </p:nvGrpSpPr>
          <p:grpSpPr bwMode="auto">
            <a:xfrm>
              <a:off x="2129" y="1440"/>
              <a:ext cx="1119" cy="192"/>
              <a:chOff x="2129" y="1440"/>
              <a:chExt cx="1119" cy="192"/>
            </a:xfrm>
          </p:grpSpPr>
          <p:sp>
            <p:nvSpPr>
              <p:cNvPr id="472235" name="Freeform 171"/>
              <p:cNvSpPr>
                <a:spLocks/>
              </p:cNvSpPr>
              <p:nvPr/>
            </p:nvSpPr>
            <p:spPr bwMode="auto">
              <a:xfrm>
                <a:off x="2160" y="1500"/>
                <a:ext cx="1056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32"/>
                  </a:cxn>
                  <a:cxn ang="0">
                    <a:pos x="1056" y="132"/>
                  </a:cxn>
                  <a:cxn ang="0">
                    <a:pos x="1056" y="0"/>
                  </a:cxn>
                </a:cxnLst>
                <a:rect l="0" t="0" r="r" b="b"/>
                <a:pathLst>
                  <a:path w="1056" h="132">
                    <a:moveTo>
                      <a:pt x="0" y="0"/>
                    </a:moveTo>
                    <a:lnTo>
                      <a:pt x="0" y="132"/>
                    </a:lnTo>
                    <a:lnTo>
                      <a:pt x="1056" y="132"/>
                    </a:lnTo>
                    <a:lnTo>
                      <a:pt x="105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236" name="Freeform 172"/>
              <p:cNvSpPr>
                <a:spLocks/>
              </p:cNvSpPr>
              <p:nvPr/>
            </p:nvSpPr>
            <p:spPr bwMode="auto">
              <a:xfrm>
                <a:off x="2129" y="1440"/>
                <a:ext cx="63" cy="63"/>
              </a:xfrm>
              <a:custGeom>
                <a:avLst/>
                <a:gdLst/>
                <a:ahLst/>
                <a:cxnLst>
                  <a:cxn ang="0">
                    <a:pos x="63" y="63"/>
                  </a:cxn>
                  <a:cxn ang="0">
                    <a:pos x="31" y="0"/>
                  </a:cxn>
                  <a:cxn ang="0">
                    <a:pos x="0" y="63"/>
                  </a:cxn>
                  <a:cxn ang="0">
                    <a:pos x="63" y="63"/>
                  </a:cxn>
                </a:cxnLst>
                <a:rect l="0" t="0" r="r" b="b"/>
                <a:pathLst>
                  <a:path w="63" h="63">
                    <a:moveTo>
                      <a:pt x="63" y="63"/>
                    </a:moveTo>
                    <a:lnTo>
                      <a:pt x="31" y="0"/>
                    </a:lnTo>
                    <a:lnTo>
                      <a:pt x="0" y="63"/>
                    </a:lnTo>
                    <a:lnTo>
                      <a:pt x="63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237" name="Freeform 173"/>
              <p:cNvSpPr>
                <a:spLocks/>
              </p:cNvSpPr>
              <p:nvPr/>
            </p:nvSpPr>
            <p:spPr bwMode="auto">
              <a:xfrm>
                <a:off x="3185" y="1440"/>
                <a:ext cx="63" cy="63"/>
              </a:xfrm>
              <a:custGeom>
                <a:avLst/>
                <a:gdLst/>
                <a:ahLst/>
                <a:cxnLst>
                  <a:cxn ang="0">
                    <a:pos x="63" y="63"/>
                  </a:cxn>
                  <a:cxn ang="0">
                    <a:pos x="31" y="0"/>
                  </a:cxn>
                  <a:cxn ang="0">
                    <a:pos x="0" y="63"/>
                  </a:cxn>
                  <a:cxn ang="0">
                    <a:pos x="63" y="63"/>
                  </a:cxn>
                </a:cxnLst>
                <a:rect l="0" t="0" r="r" b="b"/>
                <a:pathLst>
                  <a:path w="63" h="63">
                    <a:moveTo>
                      <a:pt x="63" y="63"/>
                    </a:moveTo>
                    <a:lnTo>
                      <a:pt x="31" y="0"/>
                    </a:lnTo>
                    <a:lnTo>
                      <a:pt x="0" y="63"/>
                    </a:lnTo>
                    <a:lnTo>
                      <a:pt x="63" y="6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2245" name="Rectangle 181"/>
            <p:cNvSpPr>
              <a:spLocks noChangeArrowheads="1"/>
            </p:cNvSpPr>
            <p:nvPr/>
          </p:nvSpPr>
          <p:spPr bwMode="auto">
            <a:xfrm>
              <a:off x="2064" y="1440"/>
              <a:ext cx="124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2246" name="Rectangle 182"/>
            <p:cNvSpPr>
              <a:spLocks noChangeArrowheads="1"/>
            </p:cNvSpPr>
            <p:nvPr/>
          </p:nvSpPr>
          <p:spPr bwMode="auto">
            <a:xfrm>
              <a:off x="2297" y="1478"/>
              <a:ext cx="83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Combination A</a:t>
              </a:r>
              <a:endParaRPr lang="en-US"/>
            </a:p>
          </p:txBody>
        </p:sp>
      </p:grpSp>
      <p:graphicFrame>
        <p:nvGraphicFramePr>
          <p:cNvPr id="472311" name="Group 247"/>
          <p:cNvGraphicFramePr>
            <a:graphicFrameLocks noGrp="1"/>
          </p:cNvGraphicFramePr>
          <p:nvPr/>
        </p:nvGraphicFramePr>
        <p:xfrm>
          <a:off x="685800" y="2819400"/>
          <a:ext cx="7689850" cy="1854201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Mispredicted Branch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Combination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72315" name="Picture 25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6050" y="1040062"/>
            <a:ext cx="4667250" cy="1703137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7741542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56523" y="69850"/>
            <a:ext cx="7581548" cy="760589"/>
          </a:xfrm>
        </p:spPr>
        <p:txBody>
          <a:bodyPr/>
          <a:lstStyle/>
          <a:p>
            <a:r>
              <a:rPr lang="en-US"/>
              <a:t>Control Combination B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105400"/>
            <a:ext cx="8396288" cy="1479550"/>
          </a:xfrm>
        </p:spPr>
        <p:txBody>
          <a:bodyPr/>
          <a:lstStyle/>
          <a:p>
            <a:pPr lvl="1"/>
            <a:r>
              <a:rPr lang="en-US"/>
              <a:t>Would attempt to bubble </a:t>
            </a:r>
            <a:r>
              <a:rPr lang="en-US" i="1"/>
              <a:t>and </a:t>
            </a:r>
            <a:r>
              <a:rPr lang="en-US"/>
              <a:t>stall pipeline register D</a:t>
            </a:r>
          </a:p>
          <a:p>
            <a:pPr lvl="1"/>
            <a:r>
              <a:rPr lang="en-US"/>
              <a:t>Signaled by processor as pipeline error</a:t>
            </a:r>
          </a:p>
        </p:txBody>
      </p:sp>
      <p:sp>
        <p:nvSpPr>
          <p:cNvPr id="473093" name="Rectangle 5"/>
          <p:cNvSpPr>
            <a:spLocks noChangeArrowheads="1"/>
          </p:cNvSpPr>
          <p:nvPr/>
        </p:nvSpPr>
        <p:spPr bwMode="auto">
          <a:xfrm>
            <a:off x="1447800" y="16764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4" name="Rectangle 6"/>
          <p:cNvSpPr>
            <a:spLocks noChangeArrowheads="1"/>
          </p:cNvSpPr>
          <p:nvPr/>
        </p:nvSpPr>
        <p:spPr bwMode="auto">
          <a:xfrm>
            <a:off x="1679575" y="1720850"/>
            <a:ext cx="5413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Load</a:t>
            </a:r>
            <a:endParaRPr lang="en-US"/>
          </a:p>
        </p:txBody>
      </p:sp>
      <p:sp>
        <p:nvSpPr>
          <p:cNvPr id="473095" name="Rectangle 7"/>
          <p:cNvSpPr>
            <a:spLocks noChangeArrowheads="1"/>
          </p:cNvSpPr>
          <p:nvPr/>
        </p:nvSpPr>
        <p:spPr bwMode="auto">
          <a:xfrm>
            <a:off x="9906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6" name="Rectangle 8"/>
          <p:cNvSpPr>
            <a:spLocks noChangeArrowheads="1"/>
          </p:cNvSpPr>
          <p:nvPr/>
        </p:nvSpPr>
        <p:spPr bwMode="auto">
          <a:xfrm>
            <a:off x="12207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73097" name="Rectangle 9"/>
          <p:cNvSpPr>
            <a:spLocks noChangeArrowheads="1"/>
          </p:cNvSpPr>
          <p:nvPr/>
        </p:nvSpPr>
        <p:spPr bwMode="auto">
          <a:xfrm>
            <a:off x="14478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8" name="Rectangle 10"/>
          <p:cNvSpPr>
            <a:spLocks noChangeArrowheads="1"/>
          </p:cNvSpPr>
          <p:nvPr/>
        </p:nvSpPr>
        <p:spPr bwMode="auto">
          <a:xfrm>
            <a:off x="1724025" y="2025650"/>
            <a:ext cx="4508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Use</a:t>
            </a:r>
            <a:endParaRPr lang="en-US"/>
          </a:p>
        </p:txBody>
      </p:sp>
      <p:sp>
        <p:nvSpPr>
          <p:cNvPr id="473099" name="Rectangle 11"/>
          <p:cNvSpPr>
            <a:spLocks noChangeArrowheads="1"/>
          </p:cNvSpPr>
          <p:nvPr/>
        </p:nvSpPr>
        <p:spPr bwMode="auto">
          <a:xfrm>
            <a:off x="9906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00" name="Rectangle 12"/>
          <p:cNvSpPr>
            <a:spLocks noChangeArrowheads="1"/>
          </p:cNvSpPr>
          <p:nvPr/>
        </p:nvSpPr>
        <p:spPr bwMode="auto">
          <a:xfrm>
            <a:off x="12096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73101" name="Rectangle 13"/>
          <p:cNvSpPr>
            <a:spLocks noChangeArrowheads="1"/>
          </p:cNvSpPr>
          <p:nvPr/>
        </p:nvSpPr>
        <p:spPr bwMode="auto">
          <a:xfrm>
            <a:off x="14478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02" name="Rectangle 14"/>
          <p:cNvSpPr>
            <a:spLocks noChangeArrowheads="1"/>
          </p:cNvSpPr>
          <p:nvPr/>
        </p:nvSpPr>
        <p:spPr bwMode="auto">
          <a:xfrm>
            <a:off x="9906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03" name="Rectangle 15"/>
          <p:cNvSpPr>
            <a:spLocks noChangeArrowheads="1"/>
          </p:cNvSpPr>
          <p:nvPr/>
        </p:nvSpPr>
        <p:spPr bwMode="auto">
          <a:xfrm>
            <a:off x="11858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73104" name="Rectangle 16"/>
          <p:cNvSpPr>
            <a:spLocks noChangeArrowheads="1"/>
          </p:cNvSpPr>
          <p:nvPr/>
        </p:nvSpPr>
        <p:spPr bwMode="auto">
          <a:xfrm>
            <a:off x="11430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05" name="Rectangle 17"/>
          <p:cNvSpPr>
            <a:spLocks noChangeArrowheads="1"/>
          </p:cNvSpPr>
          <p:nvPr/>
        </p:nvSpPr>
        <p:spPr bwMode="auto">
          <a:xfrm>
            <a:off x="1335088" y="1050925"/>
            <a:ext cx="9255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Load/use</a:t>
            </a:r>
            <a:endParaRPr lang="en-US"/>
          </a:p>
        </p:txBody>
      </p:sp>
      <p:sp>
        <p:nvSpPr>
          <p:cNvPr id="473130" name="Rectangle 42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31" name="Rectangle 43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32" name="Rectangle 44"/>
          <p:cNvSpPr>
            <a:spLocks noChangeArrowheads="1"/>
          </p:cNvSpPr>
          <p:nvPr/>
        </p:nvSpPr>
        <p:spPr bwMode="auto">
          <a:xfrm>
            <a:off x="4465638" y="1736725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73133" name="Rectangle 45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34" name="Rectangle 46"/>
          <p:cNvSpPr>
            <a:spLocks noChangeArrowheads="1"/>
          </p:cNvSpPr>
          <p:nvPr/>
        </p:nvSpPr>
        <p:spPr bwMode="auto">
          <a:xfrm>
            <a:off x="4981575" y="2028825"/>
            <a:ext cx="36671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3135" name="Rectangle 47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36" name="Rectangle 48"/>
          <p:cNvSpPr>
            <a:spLocks noChangeArrowheads="1"/>
          </p:cNvSpPr>
          <p:nvPr/>
        </p:nvSpPr>
        <p:spPr bwMode="auto">
          <a:xfrm>
            <a:off x="4454525" y="2041525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73137" name="Rectangle 49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38" name="Rectangle 50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39" name="Rectangle 51"/>
          <p:cNvSpPr>
            <a:spLocks noChangeArrowheads="1"/>
          </p:cNvSpPr>
          <p:nvPr/>
        </p:nvSpPr>
        <p:spPr bwMode="auto">
          <a:xfrm>
            <a:off x="4430713" y="1431925"/>
            <a:ext cx="1698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73140" name="Rectangle 52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41" name="Rectangle 53"/>
          <p:cNvSpPr>
            <a:spLocks noChangeArrowheads="1"/>
          </p:cNvSpPr>
          <p:nvPr/>
        </p:nvSpPr>
        <p:spPr bwMode="auto">
          <a:xfrm>
            <a:off x="4745038" y="1057275"/>
            <a:ext cx="36671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3142" name="Rectangle 54"/>
          <p:cNvSpPr>
            <a:spLocks noChangeArrowheads="1"/>
          </p:cNvSpPr>
          <p:nvPr/>
        </p:nvSpPr>
        <p:spPr bwMode="auto">
          <a:xfrm>
            <a:off x="5153025" y="1038225"/>
            <a:ext cx="11271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1</a:t>
            </a:r>
            <a:endParaRPr lang="en-US"/>
          </a:p>
        </p:txBody>
      </p:sp>
      <p:sp>
        <p:nvSpPr>
          <p:cNvPr id="473146" name="Rectangle 58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50" name="Rectangle 62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53" name="Rectangle 65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75" name="Rectangle 87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76" name="Rectangle 88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77" name="Rectangle 89"/>
          <p:cNvSpPr>
            <a:spLocks noChangeArrowheads="1"/>
          </p:cNvSpPr>
          <p:nvPr/>
        </p:nvSpPr>
        <p:spPr bwMode="auto">
          <a:xfrm>
            <a:off x="44211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73178" name="Rectangle 90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79" name="Rectangle 91"/>
          <p:cNvSpPr>
            <a:spLocks noChangeArrowheads="1"/>
          </p:cNvSpPr>
          <p:nvPr/>
        </p:nvSpPr>
        <p:spPr bwMode="auto">
          <a:xfrm>
            <a:off x="4921250" y="202882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3180" name="Rectangle 92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81" name="Rectangle 93"/>
          <p:cNvSpPr>
            <a:spLocks noChangeArrowheads="1"/>
          </p:cNvSpPr>
          <p:nvPr/>
        </p:nvSpPr>
        <p:spPr bwMode="auto">
          <a:xfrm>
            <a:off x="44100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73182" name="Rectangle 94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83" name="Rectangle 95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84" name="Rectangle 96"/>
          <p:cNvSpPr>
            <a:spLocks noChangeArrowheads="1"/>
          </p:cNvSpPr>
          <p:nvPr/>
        </p:nvSpPr>
        <p:spPr bwMode="auto">
          <a:xfrm>
            <a:off x="43862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73185" name="Rectangle 97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86" name="Rectangle 98"/>
          <p:cNvSpPr>
            <a:spLocks noChangeArrowheads="1"/>
          </p:cNvSpPr>
          <p:nvPr/>
        </p:nvSpPr>
        <p:spPr bwMode="auto">
          <a:xfrm>
            <a:off x="4684713" y="105727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3187" name="Rectangle 99"/>
          <p:cNvSpPr>
            <a:spLocks noChangeArrowheads="1"/>
          </p:cNvSpPr>
          <p:nvPr/>
        </p:nvSpPr>
        <p:spPr bwMode="auto">
          <a:xfrm>
            <a:off x="5108575" y="1038225"/>
            <a:ext cx="203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1</a:t>
            </a:r>
            <a:endParaRPr lang="en-US"/>
          </a:p>
        </p:txBody>
      </p:sp>
      <p:sp>
        <p:nvSpPr>
          <p:cNvPr id="473188" name="Rectangle 100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89" name="Rectangle 101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90" name="Rectangle 102"/>
          <p:cNvSpPr>
            <a:spLocks noChangeArrowheads="1"/>
          </p:cNvSpPr>
          <p:nvPr/>
        </p:nvSpPr>
        <p:spPr bwMode="auto">
          <a:xfrm>
            <a:off x="44211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73191" name="Rectangle 103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92" name="Rectangle 104"/>
          <p:cNvSpPr>
            <a:spLocks noChangeArrowheads="1"/>
          </p:cNvSpPr>
          <p:nvPr/>
        </p:nvSpPr>
        <p:spPr bwMode="auto">
          <a:xfrm>
            <a:off x="4921250" y="202882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3193" name="Rectangle 105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94" name="Rectangle 106"/>
          <p:cNvSpPr>
            <a:spLocks noChangeArrowheads="1"/>
          </p:cNvSpPr>
          <p:nvPr/>
        </p:nvSpPr>
        <p:spPr bwMode="auto">
          <a:xfrm>
            <a:off x="44100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73195" name="Rectangle 107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96" name="Rectangle 108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97" name="Rectangle 109"/>
          <p:cNvSpPr>
            <a:spLocks noChangeArrowheads="1"/>
          </p:cNvSpPr>
          <p:nvPr/>
        </p:nvSpPr>
        <p:spPr bwMode="auto">
          <a:xfrm>
            <a:off x="43862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73198" name="Rectangle 110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99" name="Rectangle 111"/>
          <p:cNvSpPr>
            <a:spLocks noChangeArrowheads="1"/>
          </p:cNvSpPr>
          <p:nvPr/>
        </p:nvSpPr>
        <p:spPr bwMode="auto">
          <a:xfrm>
            <a:off x="4684713" y="105727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3200" name="Rectangle 112"/>
          <p:cNvSpPr>
            <a:spLocks noChangeArrowheads="1"/>
          </p:cNvSpPr>
          <p:nvPr/>
        </p:nvSpPr>
        <p:spPr bwMode="auto">
          <a:xfrm>
            <a:off x="5108575" y="1038225"/>
            <a:ext cx="203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1</a:t>
            </a:r>
            <a:endParaRPr lang="en-US"/>
          </a:p>
        </p:txBody>
      </p:sp>
      <p:sp>
        <p:nvSpPr>
          <p:cNvPr id="473203" name="Rectangle 115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207" name="Rectangle 119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210" name="Rectangle 122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217" name="Rectangle 129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221" name="Rectangle 133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224" name="Rectangle 136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263" name="Rectangle 175"/>
          <p:cNvSpPr>
            <a:spLocks noChangeArrowheads="1"/>
          </p:cNvSpPr>
          <p:nvPr/>
        </p:nvSpPr>
        <p:spPr bwMode="auto">
          <a:xfrm>
            <a:off x="1905000" y="2667000"/>
            <a:ext cx="32781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264" name="Rectangle 176"/>
          <p:cNvSpPr>
            <a:spLocks noChangeArrowheads="1"/>
          </p:cNvSpPr>
          <p:nvPr/>
        </p:nvSpPr>
        <p:spPr bwMode="auto">
          <a:xfrm>
            <a:off x="2922588" y="2362200"/>
            <a:ext cx="13303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Combination B</a:t>
            </a:r>
            <a:endParaRPr lang="en-US"/>
          </a:p>
        </p:txBody>
      </p:sp>
      <p:grpSp>
        <p:nvGrpSpPr>
          <p:cNvPr id="473268" name="Group 180"/>
          <p:cNvGrpSpPr>
            <a:grpSpLocks/>
          </p:cNvGrpSpPr>
          <p:nvPr/>
        </p:nvGrpSpPr>
        <p:grpSpPr bwMode="auto">
          <a:xfrm>
            <a:off x="1855788" y="2286000"/>
            <a:ext cx="3452812" cy="304800"/>
            <a:chOff x="1169" y="1440"/>
            <a:chExt cx="2175" cy="432"/>
          </a:xfrm>
        </p:grpSpPr>
        <p:sp>
          <p:nvSpPr>
            <p:cNvPr id="473265" name="Freeform 177"/>
            <p:cNvSpPr>
              <a:spLocks/>
            </p:cNvSpPr>
            <p:nvPr/>
          </p:nvSpPr>
          <p:spPr bwMode="auto">
            <a:xfrm>
              <a:off x="1200" y="1500"/>
              <a:ext cx="2112" cy="3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2"/>
                </a:cxn>
                <a:cxn ang="0">
                  <a:pos x="2112" y="372"/>
                </a:cxn>
                <a:cxn ang="0">
                  <a:pos x="2112" y="0"/>
                </a:cxn>
              </a:cxnLst>
              <a:rect l="0" t="0" r="r" b="b"/>
              <a:pathLst>
                <a:path w="2112" h="372">
                  <a:moveTo>
                    <a:pt x="0" y="0"/>
                  </a:moveTo>
                  <a:lnTo>
                    <a:pt x="0" y="372"/>
                  </a:lnTo>
                  <a:lnTo>
                    <a:pt x="2112" y="372"/>
                  </a:lnTo>
                  <a:lnTo>
                    <a:pt x="211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266" name="Freeform 178"/>
            <p:cNvSpPr>
              <a:spLocks/>
            </p:cNvSpPr>
            <p:nvPr/>
          </p:nvSpPr>
          <p:spPr bwMode="auto">
            <a:xfrm>
              <a:off x="1169" y="1440"/>
              <a:ext cx="63" cy="63"/>
            </a:xfrm>
            <a:custGeom>
              <a:avLst/>
              <a:gdLst/>
              <a:ahLst/>
              <a:cxnLst>
                <a:cxn ang="0">
                  <a:pos x="63" y="63"/>
                </a:cxn>
                <a:cxn ang="0">
                  <a:pos x="31" y="0"/>
                </a:cxn>
                <a:cxn ang="0">
                  <a:pos x="0" y="63"/>
                </a:cxn>
                <a:cxn ang="0">
                  <a:pos x="63" y="63"/>
                </a:cxn>
              </a:cxnLst>
              <a:rect l="0" t="0" r="r" b="b"/>
              <a:pathLst>
                <a:path w="63" h="63">
                  <a:moveTo>
                    <a:pt x="63" y="63"/>
                  </a:moveTo>
                  <a:lnTo>
                    <a:pt x="31" y="0"/>
                  </a:lnTo>
                  <a:lnTo>
                    <a:pt x="0" y="63"/>
                  </a:lnTo>
                  <a:lnTo>
                    <a:pt x="6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3267" name="Freeform 179"/>
            <p:cNvSpPr>
              <a:spLocks/>
            </p:cNvSpPr>
            <p:nvPr/>
          </p:nvSpPr>
          <p:spPr bwMode="auto">
            <a:xfrm>
              <a:off x="3281" y="1440"/>
              <a:ext cx="63" cy="63"/>
            </a:xfrm>
            <a:custGeom>
              <a:avLst/>
              <a:gdLst/>
              <a:ahLst/>
              <a:cxnLst>
                <a:cxn ang="0">
                  <a:pos x="63" y="63"/>
                </a:cxn>
                <a:cxn ang="0">
                  <a:pos x="31" y="0"/>
                </a:cxn>
                <a:cxn ang="0">
                  <a:pos x="0" y="63"/>
                </a:cxn>
                <a:cxn ang="0">
                  <a:pos x="63" y="63"/>
                </a:cxn>
              </a:cxnLst>
              <a:rect l="0" t="0" r="r" b="b"/>
              <a:pathLst>
                <a:path w="63" h="63">
                  <a:moveTo>
                    <a:pt x="63" y="63"/>
                  </a:moveTo>
                  <a:lnTo>
                    <a:pt x="31" y="0"/>
                  </a:lnTo>
                  <a:lnTo>
                    <a:pt x="0" y="63"/>
                  </a:lnTo>
                  <a:lnTo>
                    <a:pt x="6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3269" name="Rectangle 181"/>
          <p:cNvSpPr>
            <a:spLocks noChangeArrowheads="1"/>
          </p:cNvSpPr>
          <p:nvPr/>
        </p:nvSpPr>
        <p:spPr bwMode="auto">
          <a:xfrm>
            <a:off x="3276600" y="2286000"/>
            <a:ext cx="1982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73311" name="Group 223"/>
          <p:cNvGraphicFramePr>
            <a:graphicFrameLocks noGrp="1"/>
          </p:cNvGraphicFramePr>
          <p:nvPr/>
        </p:nvGraphicFramePr>
        <p:xfrm>
          <a:off x="609600" y="2819400"/>
          <a:ext cx="7689850" cy="1998537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Combination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 + 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521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56523" y="69850"/>
            <a:ext cx="7581548" cy="760589"/>
          </a:xfrm>
        </p:spPr>
        <p:txBody>
          <a:bodyPr/>
          <a:lstStyle/>
          <a:p>
            <a:r>
              <a:rPr lang="en-US"/>
              <a:t>Handling Control Combination B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105400"/>
            <a:ext cx="8396288" cy="1479550"/>
          </a:xfrm>
        </p:spPr>
        <p:txBody>
          <a:bodyPr/>
          <a:lstStyle/>
          <a:p>
            <a:pPr lvl="1"/>
            <a:r>
              <a:rPr lang="en-US"/>
              <a:t>Load/use hazard should get priority</a:t>
            </a:r>
          </a:p>
          <a:p>
            <a:pPr lvl="1"/>
            <a:r>
              <a:rPr lang="en-US"/>
              <a:t> </a:t>
            </a:r>
            <a:r>
              <a:rPr lang="en-US">
                <a:latin typeface="Courier New" pitchFamily="49" charset="0"/>
              </a:rPr>
              <a:t>ret</a:t>
            </a:r>
            <a:r>
              <a:rPr lang="en-US"/>
              <a:t> instruction should be held in decode stage for additional cycle</a:t>
            </a:r>
          </a:p>
        </p:txBody>
      </p:sp>
      <p:sp>
        <p:nvSpPr>
          <p:cNvPr id="475140" name="Rectangle 4"/>
          <p:cNvSpPr>
            <a:spLocks noChangeArrowheads="1"/>
          </p:cNvSpPr>
          <p:nvPr/>
        </p:nvSpPr>
        <p:spPr bwMode="auto">
          <a:xfrm>
            <a:off x="1447800" y="16764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41" name="Rectangle 5"/>
          <p:cNvSpPr>
            <a:spLocks noChangeArrowheads="1"/>
          </p:cNvSpPr>
          <p:nvPr/>
        </p:nvSpPr>
        <p:spPr bwMode="auto">
          <a:xfrm>
            <a:off x="1679575" y="1720850"/>
            <a:ext cx="5413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Load</a:t>
            </a:r>
            <a:endParaRPr lang="en-US"/>
          </a:p>
        </p:txBody>
      </p:sp>
      <p:sp>
        <p:nvSpPr>
          <p:cNvPr id="475142" name="Rectangle 6"/>
          <p:cNvSpPr>
            <a:spLocks noChangeArrowheads="1"/>
          </p:cNvSpPr>
          <p:nvPr/>
        </p:nvSpPr>
        <p:spPr bwMode="auto">
          <a:xfrm>
            <a:off x="9906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43" name="Rectangle 7"/>
          <p:cNvSpPr>
            <a:spLocks noChangeArrowheads="1"/>
          </p:cNvSpPr>
          <p:nvPr/>
        </p:nvSpPr>
        <p:spPr bwMode="auto">
          <a:xfrm>
            <a:off x="12207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75144" name="Rectangle 8"/>
          <p:cNvSpPr>
            <a:spLocks noChangeArrowheads="1"/>
          </p:cNvSpPr>
          <p:nvPr/>
        </p:nvSpPr>
        <p:spPr bwMode="auto">
          <a:xfrm>
            <a:off x="14478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45" name="Rectangle 9"/>
          <p:cNvSpPr>
            <a:spLocks noChangeArrowheads="1"/>
          </p:cNvSpPr>
          <p:nvPr/>
        </p:nvSpPr>
        <p:spPr bwMode="auto">
          <a:xfrm>
            <a:off x="1724025" y="2025650"/>
            <a:ext cx="4508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Use</a:t>
            </a:r>
            <a:endParaRPr lang="en-US"/>
          </a:p>
        </p:txBody>
      </p:sp>
      <p:sp>
        <p:nvSpPr>
          <p:cNvPr id="475146" name="Rectangle 10"/>
          <p:cNvSpPr>
            <a:spLocks noChangeArrowheads="1"/>
          </p:cNvSpPr>
          <p:nvPr/>
        </p:nvSpPr>
        <p:spPr bwMode="auto">
          <a:xfrm>
            <a:off x="9906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47" name="Rectangle 11"/>
          <p:cNvSpPr>
            <a:spLocks noChangeArrowheads="1"/>
          </p:cNvSpPr>
          <p:nvPr/>
        </p:nvSpPr>
        <p:spPr bwMode="auto">
          <a:xfrm>
            <a:off x="12096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75148" name="Rectangle 12"/>
          <p:cNvSpPr>
            <a:spLocks noChangeArrowheads="1"/>
          </p:cNvSpPr>
          <p:nvPr/>
        </p:nvSpPr>
        <p:spPr bwMode="auto">
          <a:xfrm>
            <a:off x="14478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49" name="Rectangle 13"/>
          <p:cNvSpPr>
            <a:spLocks noChangeArrowheads="1"/>
          </p:cNvSpPr>
          <p:nvPr/>
        </p:nvSpPr>
        <p:spPr bwMode="auto">
          <a:xfrm>
            <a:off x="9906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50" name="Rectangle 14"/>
          <p:cNvSpPr>
            <a:spLocks noChangeArrowheads="1"/>
          </p:cNvSpPr>
          <p:nvPr/>
        </p:nvSpPr>
        <p:spPr bwMode="auto">
          <a:xfrm>
            <a:off x="11858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75151" name="Rectangle 15"/>
          <p:cNvSpPr>
            <a:spLocks noChangeArrowheads="1"/>
          </p:cNvSpPr>
          <p:nvPr/>
        </p:nvSpPr>
        <p:spPr bwMode="auto">
          <a:xfrm>
            <a:off x="11430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52" name="Rectangle 16"/>
          <p:cNvSpPr>
            <a:spLocks noChangeArrowheads="1"/>
          </p:cNvSpPr>
          <p:nvPr/>
        </p:nvSpPr>
        <p:spPr bwMode="auto">
          <a:xfrm>
            <a:off x="1335088" y="1050925"/>
            <a:ext cx="925512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Load/use</a:t>
            </a:r>
            <a:endParaRPr lang="en-US"/>
          </a:p>
        </p:txBody>
      </p:sp>
      <p:sp>
        <p:nvSpPr>
          <p:cNvPr id="475153" name="Rectangle 17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54" name="Rectangle 18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55" name="Rectangle 19"/>
          <p:cNvSpPr>
            <a:spLocks noChangeArrowheads="1"/>
          </p:cNvSpPr>
          <p:nvPr/>
        </p:nvSpPr>
        <p:spPr bwMode="auto">
          <a:xfrm>
            <a:off x="4465638" y="1736725"/>
            <a:ext cx="134937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75156" name="Rectangle 20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57" name="Rectangle 21"/>
          <p:cNvSpPr>
            <a:spLocks noChangeArrowheads="1"/>
          </p:cNvSpPr>
          <p:nvPr/>
        </p:nvSpPr>
        <p:spPr bwMode="auto">
          <a:xfrm>
            <a:off x="4981575" y="2028825"/>
            <a:ext cx="36671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5158" name="Rectangle 22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59" name="Rectangle 23"/>
          <p:cNvSpPr>
            <a:spLocks noChangeArrowheads="1"/>
          </p:cNvSpPr>
          <p:nvPr/>
        </p:nvSpPr>
        <p:spPr bwMode="auto">
          <a:xfrm>
            <a:off x="4454525" y="2041525"/>
            <a:ext cx="14605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75160" name="Rectangle 24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61" name="Rectangle 25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62" name="Rectangle 26"/>
          <p:cNvSpPr>
            <a:spLocks noChangeArrowheads="1"/>
          </p:cNvSpPr>
          <p:nvPr/>
        </p:nvSpPr>
        <p:spPr bwMode="auto">
          <a:xfrm>
            <a:off x="4430713" y="1431925"/>
            <a:ext cx="1698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75163" name="Rectangle 27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64" name="Rectangle 28"/>
          <p:cNvSpPr>
            <a:spLocks noChangeArrowheads="1"/>
          </p:cNvSpPr>
          <p:nvPr/>
        </p:nvSpPr>
        <p:spPr bwMode="auto">
          <a:xfrm>
            <a:off x="4745038" y="1057275"/>
            <a:ext cx="36671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5165" name="Rectangle 29"/>
          <p:cNvSpPr>
            <a:spLocks noChangeArrowheads="1"/>
          </p:cNvSpPr>
          <p:nvPr/>
        </p:nvSpPr>
        <p:spPr bwMode="auto">
          <a:xfrm>
            <a:off x="5153025" y="1038225"/>
            <a:ext cx="112713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1</a:t>
            </a:r>
            <a:endParaRPr lang="en-US"/>
          </a:p>
        </p:txBody>
      </p:sp>
      <p:sp>
        <p:nvSpPr>
          <p:cNvPr id="475166" name="Rectangle 30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67" name="Rectangle 31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68" name="Rectangle 32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69" name="Rectangle 33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70" name="Rectangle 34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71" name="Rectangle 35"/>
          <p:cNvSpPr>
            <a:spLocks noChangeArrowheads="1"/>
          </p:cNvSpPr>
          <p:nvPr/>
        </p:nvSpPr>
        <p:spPr bwMode="auto">
          <a:xfrm>
            <a:off x="44211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75172" name="Rectangle 36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73" name="Rectangle 37"/>
          <p:cNvSpPr>
            <a:spLocks noChangeArrowheads="1"/>
          </p:cNvSpPr>
          <p:nvPr/>
        </p:nvSpPr>
        <p:spPr bwMode="auto">
          <a:xfrm>
            <a:off x="4921250" y="202882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5174" name="Rectangle 38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75" name="Rectangle 39"/>
          <p:cNvSpPr>
            <a:spLocks noChangeArrowheads="1"/>
          </p:cNvSpPr>
          <p:nvPr/>
        </p:nvSpPr>
        <p:spPr bwMode="auto">
          <a:xfrm>
            <a:off x="44100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75176" name="Rectangle 40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77" name="Rectangle 41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78" name="Rectangle 42"/>
          <p:cNvSpPr>
            <a:spLocks noChangeArrowheads="1"/>
          </p:cNvSpPr>
          <p:nvPr/>
        </p:nvSpPr>
        <p:spPr bwMode="auto">
          <a:xfrm>
            <a:off x="43862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75179" name="Rectangle 43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80" name="Rectangle 44"/>
          <p:cNvSpPr>
            <a:spLocks noChangeArrowheads="1"/>
          </p:cNvSpPr>
          <p:nvPr/>
        </p:nvSpPr>
        <p:spPr bwMode="auto">
          <a:xfrm>
            <a:off x="4684713" y="105727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5181" name="Rectangle 45"/>
          <p:cNvSpPr>
            <a:spLocks noChangeArrowheads="1"/>
          </p:cNvSpPr>
          <p:nvPr/>
        </p:nvSpPr>
        <p:spPr bwMode="auto">
          <a:xfrm>
            <a:off x="5108575" y="1038225"/>
            <a:ext cx="203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1</a:t>
            </a:r>
            <a:endParaRPr lang="en-US"/>
          </a:p>
        </p:txBody>
      </p:sp>
      <p:sp>
        <p:nvSpPr>
          <p:cNvPr id="475182" name="Rectangle 46"/>
          <p:cNvSpPr>
            <a:spLocks noChangeArrowheads="1"/>
          </p:cNvSpPr>
          <p:nvPr/>
        </p:nvSpPr>
        <p:spPr bwMode="auto">
          <a:xfrm>
            <a:off x="4648200" y="16764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83" name="Rectangle 47"/>
          <p:cNvSpPr>
            <a:spLocks noChangeArrowheads="1"/>
          </p:cNvSpPr>
          <p:nvPr/>
        </p:nvSpPr>
        <p:spPr bwMode="auto">
          <a:xfrm>
            <a:off x="41910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84" name="Rectangle 48"/>
          <p:cNvSpPr>
            <a:spLocks noChangeArrowheads="1"/>
          </p:cNvSpPr>
          <p:nvPr/>
        </p:nvSpPr>
        <p:spPr bwMode="auto">
          <a:xfrm>
            <a:off x="4421188" y="1736725"/>
            <a:ext cx="225425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475185" name="Rectangle 49"/>
          <p:cNvSpPr>
            <a:spLocks noChangeArrowheads="1"/>
          </p:cNvSpPr>
          <p:nvPr/>
        </p:nvSpPr>
        <p:spPr bwMode="auto">
          <a:xfrm>
            <a:off x="4648200" y="1981200"/>
            <a:ext cx="915988" cy="306388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86" name="Rectangle 50"/>
          <p:cNvSpPr>
            <a:spLocks noChangeArrowheads="1"/>
          </p:cNvSpPr>
          <p:nvPr/>
        </p:nvSpPr>
        <p:spPr bwMode="auto">
          <a:xfrm>
            <a:off x="4921250" y="202882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5187" name="Rectangle 51"/>
          <p:cNvSpPr>
            <a:spLocks noChangeArrowheads="1"/>
          </p:cNvSpPr>
          <p:nvPr/>
        </p:nvSpPr>
        <p:spPr bwMode="auto">
          <a:xfrm>
            <a:off x="41910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88" name="Rectangle 52"/>
          <p:cNvSpPr>
            <a:spLocks noChangeArrowheads="1"/>
          </p:cNvSpPr>
          <p:nvPr/>
        </p:nvSpPr>
        <p:spPr bwMode="auto">
          <a:xfrm>
            <a:off x="4410075" y="2041525"/>
            <a:ext cx="236538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D</a:t>
            </a:r>
            <a:endParaRPr lang="en-US"/>
          </a:p>
        </p:txBody>
      </p:sp>
      <p:sp>
        <p:nvSpPr>
          <p:cNvPr id="475189" name="Rectangle 53"/>
          <p:cNvSpPr>
            <a:spLocks noChangeArrowheads="1"/>
          </p:cNvSpPr>
          <p:nvPr/>
        </p:nvSpPr>
        <p:spPr bwMode="auto">
          <a:xfrm>
            <a:off x="4648200" y="1371600"/>
            <a:ext cx="915988" cy="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90" name="Rectangle 54"/>
          <p:cNvSpPr>
            <a:spLocks noChangeArrowheads="1"/>
          </p:cNvSpPr>
          <p:nvPr/>
        </p:nvSpPr>
        <p:spPr bwMode="auto">
          <a:xfrm>
            <a:off x="41910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91" name="Rectangle 55"/>
          <p:cNvSpPr>
            <a:spLocks noChangeArrowheads="1"/>
          </p:cNvSpPr>
          <p:nvPr/>
        </p:nvSpPr>
        <p:spPr bwMode="auto">
          <a:xfrm>
            <a:off x="4386263" y="1431925"/>
            <a:ext cx="26035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475192" name="Rectangle 56"/>
          <p:cNvSpPr>
            <a:spLocks noChangeArrowheads="1"/>
          </p:cNvSpPr>
          <p:nvPr/>
        </p:nvSpPr>
        <p:spPr bwMode="auto">
          <a:xfrm>
            <a:off x="4343400" y="990600"/>
            <a:ext cx="1220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93" name="Rectangle 57"/>
          <p:cNvSpPr>
            <a:spLocks noChangeArrowheads="1"/>
          </p:cNvSpPr>
          <p:nvPr/>
        </p:nvSpPr>
        <p:spPr bwMode="auto">
          <a:xfrm>
            <a:off x="4684713" y="1057275"/>
            <a:ext cx="488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  <a:latin typeface="Courier New" pitchFamily="49" charset="0"/>
              </a:rPr>
              <a:t>ret</a:t>
            </a:r>
            <a:endParaRPr lang="en-US"/>
          </a:p>
        </p:txBody>
      </p:sp>
      <p:sp>
        <p:nvSpPr>
          <p:cNvPr id="475194" name="Rectangle 58"/>
          <p:cNvSpPr>
            <a:spLocks noChangeArrowheads="1"/>
          </p:cNvSpPr>
          <p:nvPr/>
        </p:nvSpPr>
        <p:spPr bwMode="auto">
          <a:xfrm>
            <a:off x="5108575" y="1038225"/>
            <a:ext cx="203200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1</a:t>
            </a:r>
            <a:endParaRPr lang="en-US"/>
          </a:p>
        </p:txBody>
      </p:sp>
      <p:sp>
        <p:nvSpPr>
          <p:cNvPr id="475195" name="Rectangle 59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96" name="Rectangle 60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97" name="Rectangle 61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98" name="Rectangle 62"/>
          <p:cNvSpPr>
            <a:spLocks noChangeArrowheads="1"/>
          </p:cNvSpPr>
          <p:nvPr/>
        </p:nvSpPr>
        <p:spPr bwMode="auto">
          <a:xfrm>
            <a:off x="5486400" y="16764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199" name="Rectangle 63"/>
          <p:cNvSpPr>
            <a:spLocks noChangeArrowheads="1"/>
          </p:cNvSpPr>
          <p:nvPr/>
        </p:nvSpPr>
        <p:spPr bwMode="auto">
          <a:xfrm>
            <a:off x="5486400" y="19812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200" name="Rectangle 64"/>
          <p:cNvSpPr>
            <a:spLocks noChangeArrowheads="1"/>
          </p:cNvSpPr>
          <p:nvPr/>
        </p:nvSpPr>
        <p:spPr bwMode="auto">
          <a:xfrm>
            <a:off x="5486400" y="1371600"/>
            <a:ext cx="458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201" name="Rectangle 65"/>
          <p:cNvSpPr>
            <a:spLocks noChangeArrowheads="1"/>
          </p:cNvSpPr>
          <p:nvPr/>
        </p:nvSpPr>
        <p:spPr bwMode="auto">
          <a:xfrm>
            <a:off x="1905000" y="2667000"/>
            <a:ext cx="32781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5202" name="Rectangle 66"/>
          <p:cNvSpPr>
            <a:spLocks noChangeArrowheads="1"/>
          </p:cNvSpPr>
          <p:nvPr/>
        </p:nvSpPr>
        <p:spPr bwMode="auto">
          <a:xfrm>
            <a:off x="2922588" y="2362200"/>
            <a:ext cx="133032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 b="0">
                <a:solidFill>
                  <a:srgbClr val="000000"/>
                </a:solidFill>
              </a:rPr>
              <a:t>Combination B</a:t>
            </a:r>
            <a:endParaRPr lang="en-US"/>
          </a:p>
        </p:txBody>
      </p:sp>
      <p:grpSp>
        <p:nvGrpSpPr>
          <p:cNvPr id="475203" name="Group 67"/>
          <p:cNvGrpSpPr>
            <a:grpSpLocks/>
          </p:cNvGrpSpPr>
          <p:nvPr/>
        </p:nvGrpSpPr>
        <p:grpSpPr bwMode="auto">
          <a:xfrm>
            <a:off x="1855788" y="2286000"/>
            <a:ext cx="3452812" cy="304800"/>
            <a:chOff x="1169" y="1440"/>
            <a:chExt cx="2175" cy="432"/>
          </a:xfrm>
        </p:grpSpPr>
        <p:sp>
          <p:nvSpPr>
            <p:cNvPr id="475204" name="Freeform 68"/>
            <p:cNvSpPr>
              <a:spLocks/>
            </p:cNvSpPr>
            <p:nvPr/>
          </p:nvSpPr>
          <p:spPr bwMode="auto">
            <a:xfrm>
              <a:off x="1200" y="1500"/>
              <a:ext cx="2112" cy="3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2"/>
                </a:cxn>
                <a:cxn ang="0">
                  <a:pos x="2112" y="372"/>
                </a:cxn>
                <a:cxn ang="0">
                  <a:pos x="2112" y="0"/>
                </a:cxn>
              </a:cxnLst>
              <a:rect l="0" t="0" r="r" b="b"/>
              <a:pathLst>
                <a:path w="2112" h="372">
                  <a:moveTo>
                    <a:pt x="0" y="0"/>
                  </a:moveTo>
                  <a:lnTo>
                    <a:pt x="0" y="372"/>
                  </a:lnTo>
                  <a:lnTo>
                    <a:pt x="2112" y="372"/>
                  </a:lnTo>
                  <a:lnTo>
                    <a:pt x="211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5205" name="Freeform 69"/>
            <p:cNvSpPr>
              <a:spLocks/>
            </p:cNvSpPr>
            <p:nvPr/>
          </p:nvSpPr>
          <p:spPr bwMode="auto">
            <a:xfrm>
              <a:off x="1169" y="1440"/>
              <a:ext cx="63" cy="63"/>
            </a:xfrm>
            <a:custGeom>
              <a:avLst/>
              <a:gdLst/>
              <a:ahLst/>
              <a:cxnLst>
                <a:cxn ang="0">
                  <a:pos x="63" y="63"/>
                </a:cxn>
                <a:cxn ang="0">
                  <a:pos x="31" y="0"/>
                </a:cxn>
                <a:cxn ang="0">
                  <a:pos x="0" y="63"/>
                </a:cxn>
                <a:cxn ang="0">
                  <a:pos x="63" y="63"/>
                </a:cxn>
              </a:cxnLst>
              <a:rect l="0" t="0" r="r" b="b"/>
              <a:pathLst>
                <a:path w="63" h="63">
                  <a:moveTo>
                    <a:pt x="63" y="63"/>
                  </a:moveTo>
                  <a:lnTo>
                    <a:pt x="31" y="0"/>
                  </a:lnTo>
                  <a:lnTo>
                    <a:pt x="0" y="63"/>
                  </a:lnTo>
                  <a:lnTo>
                    <a:pt x="6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5206" name="Freeform 70"/>
            <p:cNvSpPr>
              <a:spLocks/>
            </p:cNvSpPr>
            <p:nvPr/>
          </p:nvSpPr>
          <p:spPr bwMode="auto">
            <a:xfrm>
              <a:off x="3281" y="1440"/>
              <a:ext cx="63" cy="63"/>
            </a:xfrm>
            <a:custGeom>
              <a:avLst/>
              <a:gdLst/>
              <a:ahLst/>
              <a:cxnLst>
                <a:cxn ang="0">
                  <a:pos x="63" y="63"/>
                </a:cxn>
                <a:cxn ang="0">
                  <a:pos x="31" y="0"/>
                </a:cxn>
                <a:cxn ang="0">
                  <a:pos x="0" y="63"/>
                </a:cxn>
                <a:cxn ang="0">
                  <a:pos x="63" y="63"/>
                </a:cxn>
              </a:cxnLst>
              <a:rect l="0" t="0" r="r" b="b"/>
              <a:pathLst>
                <a:path w="63" h="63">
                  <a:moveTo>
                    <a:pt x="63" y="63"/>
                  </a:moveTo>
                  <a:lnTo>
                    <a:pt x="31" y="0"/>
                  </a:lnTo>
                  <a:lnTo>
                    <a:pt x="0" y="63"/>
                  </a:lnTo>
                  <a:lnTo>
                    <a:pt x="6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5207" name="Rectangle 71"/>
          <p:cNvSpPr>
            <a:spLocks noChangeArrowheads="1"/>
          </p:cNvSpPr>
          <p:nvPr/>
        </p:nvSpPr>
        <p:spPr bwMode="auto">
          <a:xfrm>
            <a:off x="3276600" y="2286000"/>
            <a:ext cx="1982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75245" name="Group 109"/>
          <p:cNvGraphicFramePr>
            <a:graphicFrameLocks noGrp="1"/>
          </p:cNvGraphicFramePr>
          <p:nvPr/>
        </p:nvGraphicFramePr>
        <p:xfrm>
          <a:off x="609600" y="3173413"/>
          <a:ext cx="7689850" cy="1855789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Combination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4883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56523" y="69850"/>
            <a:ext cx="7581548" cy="760589"/>
          </a:xfrm>
        </p:spPr>
        <p:txBody>
          <a:bodyPr/>
          <a:lstStyle/>
          <a:p>
            <a:r>
              <a:rPr lang="en-US"/>
              <a:t>Corrected Pipeline Control Logic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105400"/>
            <a:ext cx="8396288" cy="1479550"/>
          </a:xfrm>
        </p:spPr>
        <p:txBody>
          <a:bodyPr/>
          <a:lstStyle/>
          <a:p>
            <a:pPr lvl="1"/>
            <a:r>
              <a:rPr lang="en-US"/>
              <a:t>Load/use hazard should get priority</a:t>
            </a:r>
          </a:p>
          <a:p>
            <a:pPr lvl="1"/>
            <a:r>
              <a:rPr lang="en-US"/>
              <a:t> </a:t>
            </a:r>
            <a:r>
              <a:rPr lang="en-US">
                <a:latin typeface="Courier New" pitchFamily="49" charset="0"/>
              </a:rPr>
              <a:t>ret</a:t>
            </a:r>
            <a:r>
              <a:rPr lang="en-US"/>
              <a:t> instruction should be held in decode stage for additional cycle</a:t>
            </a:r>
          </a:p>
        </p:txBody>
      </p:sp>
      <p:graphicFrame>
        <p:nvGraphicFramePr>
          <p:cNvPr id="476232" name="Group 72"/>
          <p:cNvGraphicFramePr>
            <a:graphicFrameLocks noGrp="1"/>
          </p:cNvGraphicFramePr>
          <p:nvPr/>
        </p:nvGraphicFramePr>
        <p:xfrm>
          <a:off x="609600" y="3173413"/>
          <a:ext cx="7689850" cy="1855789"/>
        </p:xfrm>
        <a:graphic>
          <a:graphicData uri="http://schemas.openxmlformats.org/drawingml/2006/table">
            <a:tbl>
              <a:tblPr/>
              <a:tblGrid>
                <a:gridCol w="236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Condition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F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M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Helvetica" pitchFamily="34" charset="0"/>
                        </a:rPr>
                        <a:t>W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Processing ret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Load/Use Hazard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Combination</a:t>
                      </a: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stall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bubble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ct val="9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Helvetica" pitchFamily="34" charset="0"/>
                        </a:rPr>
                        <a:t>normal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6269" name="Text Box 109"/>
          <p:cNvSpPr txBox="1">
            <a:spLocks noChangeArrowheads="1"/>
          </p:cNvSpPr>
          <p:nvPr/>
        </p:nvSpPr>
        <p:spPr bwMode="auto">
          <a:xfrm>
            <a:off x="533400" y="990600"/>
            <a:ext cx="8445500" cy="22923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 err="1">
                <a:latin typeface="Courier New" pitchFamily="49" charset="0"/>
              </a:rPr>
              <a:t>bool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D_bubble</a:t>
            </a:r>
            <a:r>
              <a:rPr lang="en-US" sz="1600" dirty="0">
                <a:latin typeface="Courier New" pitchFamily="49" charset="0"/>
              </a:rPr>
              <a:t> =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</a:t>
            </a:r>
            <a:r>
              <a:rPr lang="en-US" sz="1600" dirty="0" err="1">
                <a:solidFill>
                  <a:schemeClr val="hlink"/>
                </a:solidFill>
                <a:latin typeface="Courier New" pitchFamily="49" charset="0"/>
              </a:rPr>
              <a:t>Mispredicted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 branch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(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 == IJXX &amp;&amp; !</a:t>
            </a:r>
            <a:r>
              <a:rPr lang="en-US" sz="1600" dirty="0" err="1">
                <a:latin typeface="Courier New" pitchFamily="49" charset="0"/>
              </a:rPr>
              <a:t>e_Cnd</a:t>
            </a:r>
            <a:r>
              <a:rPr lang="en-US" sz="1600" dirty="0">
                <a:latin typeface="Courier New" pitchFamily="49" charset="0"/>
              </a:rPr>
              <a:t>) ||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>
                <a:solidFill>
                  <a:schemeClr val="hlink"/>
                </a:solidFill>
                <a:latin typeface="Courier New" pitchFamily="49" charset="0"/>
              </a:rPr>
              <a:t># Stalling at fetch while ret passes through pipeline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 IRET in { </a:t>
            </a:r>
            <a:r>
              <a:rPr lang="en-US" sz="1600" dirty="0" err="1">
                <a:latin typeface="Courier New" pitchFamily="49" charset="0"/>
              </a:rPr>
              <a:t>D_icode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M_icode</a:t>
            </a:r>
            <a:r>
              <a:rPr lang="en-US" sz="1600" dirty="0">
                <a:latin typeface="Courier New" pitchFamily="49" charset="0"/>
              </a:rPr>
              <a:t> }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  </a:t>
            </a:r>
            <a:r>
              <a:rPr lang="en-US" sz="1600" i="1" dirty="0">
                <a:solidFill>
                  <a:schemeClr val="hlink"/>
                </a:solidFill>
                <a:latin typeface="Courier New" pitchFamily="49" charset="0"/>
              </a:rPr>
              <a:t># but not condition for a load/use hazard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  &amp;&amp; !(</a:t>
            </a:r>
            <a:r>
              <a:rPr lang="en-US" sz="1600" dirty="0" err="1">
                <a:latin typeface="Courier New" pitchFamily="49" charset="0"/>
              </a:rPr>
              <a:t>E_icode</a:t>
            </a:r>
            <a:r>
              <a:rPr lang="en-US" sz="1600" dirty="0">
                <a:latin typeface="Courier New" pitchFamily="49" charset="0"/>
              </a:rPr>
              <a:t> in { IMRMOVQ, IPOPQ } 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            &amp;&amp; </a:t>
            </a:r>
            <a:r>
              <a:rPr lang="en-US" sz="1600" dirty="0" err="1">
                <a:latin typeface="Courier New" pitchFamily="49" charset="0"/>
              </a:rPr>
              <a:t>E_dstM</a:t>
            </a:r>
            <a:r>
              <a:rPr lang="en-US" sz="1600" dirty="0">
                <a:latin typeface="Courier New" pitchFamily="49" charset="0"/>
              </a:rPr>
              <a:t> in { </a:t>
            </a:r>
            <a:r>
              <a:rPr lang="en-US" sz="1600" dirty="0" err="1">
                <a:latin typeface="Courier New" pitchFamily="49" charset="0"/>
              </a:rPr>
              <a:t>d_srcA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d_srcB</a:t>
            </a:r>
            <a:r>
              <a:rPr lang="en-US" sz="1600" dirty="0">
                <a:latin typeface="Courier New" pitchFamily="49" charset="0"/>
              </a:rPr>
              <a:t> });</a:t>
            </a:r>
          </a:p>
          <a:p>
            <a:pPr algn="l">
              <a:lnSpc>
                <a:spcPct val="100000"/>
              </a:lnSpc>
              <a:tabLst>
                <a:tab pos="571500" algn="l"/>
              </a:tabLst>
            </a:pPr>
            <a:r>
              <a:rPr lang="en-US" sz="1600" dirty="0">
                <a:latin typeface="Courier New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0536267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 Summary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Hazards</a:t>
            </a:r>
          </a:p>
          <a:p>
            <a:pPr lvl="1"/>
            <a:r>
              <a:rPr lang="en-US"/>
              <a:t>Most handled by forwarding</a:t>
            </a:r>
          </a:p>
          <a:p>
            <a:pPr lvl="2"/>
            <a:r>
              <a:rPr lang="en-US"/>
              <a:t>No performance penalty</a:t>
            </a:r>
          </a:p>
          <a:p>
            <a:pPr lvl="1"/>
            <a:r>
              <a:rPr lang="en-US"/>
              <a:t>Load/use hazard requires one cycle stall</a:t>
            </a:r>
          </a:p>
          <a:p>
            <a:r>
              <a:rPr lang="en-US"/>
              <a:t>Control Hazards</a:t>
            </a:r>
          </a:p>
          <a:p>
            <a:pPr lvl="1"/>
            <a:r>
              <a:rPr lang="en-US"/>
              <a:t>Cancel instructions when detect mispredicted branch</a:t>
            </a:r>
          </a:p>
          <a:p>
            <a:pPr lvl="2"/>
            <a:r>
              <a:rPr lang="en-US"/>
              <a:t>Two clock cycles wasted</a:t>
            </a:r>
          </a:p>
          <a:p>
            <a:pPr lvl="1"/>
            <a:r>
              <a:rPr lang="en-US"/>
              <a:t>Stall fetch stage while </a:t>
            </a:r>
            <a:r>
              <a:rPr lang="en-US">
                <a:latin typeface="Courier New" pitchFamily="49" charset="0"/>
              </a:rPr>
              <a:t>ret</a:t>
            </a:r>
            <a:r>
              <a:rPr lang="en-US"/>
              <a:t> passes through pipeline</a:t>
            </a:r>
          </a:p>
          <a:p>
            <a:pPr lvl="2"/>
            <a:r>
              <a:rPr lang="en-US"/>
              <a:t>Three clock cycles wasted</a:t>
            </a:r>
          </a:p>
          <a:p>
            <a:r>
              <a:rPr lang="en-US"/>
              <a:t>Control Combinations</a:t>
            </a:r>
          </a:p>
          <a:p>
            <a:pPr lvl="1"/>
            <a:r>
              <a:rPr lang="en-US"/>
              <a:t>Must analyze carefully</a:t>
            </a:r>
          </a:p>
          <a:p>
            <a:pPr lvl="1"/>
            <a:r>
              <a:rPr lang="en-US"/>
              <a:t>First version had subtle bug</a:t>
            </a:r>
          </a:p>
          <a:p>
            <a:pPr lvl="2"/>
            <a:r>
              <a:rPr lang="en-US"/>
              <a:t>Only arises with unusual instruction combination</a:t>
            </a:r>
          </a:p>
        </p:txBody>
      </p:sp>
    </p:spTree>
    <p:extLst>
      <p:ext uri="{BB962C8B-B14F-4D97-AF65-F5344CB8AC3E}">
        <p14:creationId xmlns:p14="http://schemas.microsoft.com/office/powerpoint/2010/main" val="3326548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686647" y="1521178"/>
            <a:ext cx="7758007" cy="2174017"/>
          </a:xfrm>
        </p:spPr>
        <p:txBody>
          <a:bodyPr/>
          <a:lstStyle/>
          <a:p>
            <a:r>
              <a:rPr lang="en-US" dirty="0"/>
              <a:t>Processor Architecture: Wrap-up</a:t>
            </a:r>
            <a:br>
              <a:rPr lang="en-US" dirty="0"/>
            </a:br>
            <a:endParaRPr lang="en-US" sz="1996" b="0" dirty="0"/>
          </a:p>
        </p:txBody>
      </p:sp>
    </p:spTree>
    <p:extLst>
      <p:ext uri="{BB962C8B-B14F-4D97-AF65-F5344CB8AC3E}">
        <p14:creationId xmlns:p14="http://schemas.microsoft.com/office/powerpoint/2010/main" val="1107708478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>
          <a:xfrm>
            <a:off x="298450" y="1441450"/>
            <a:ext cx="8294687" cy="5213350"/>
          </a:xfrm>
        </p:spPr>
        <p:txBody>
          <a:bodyPr/>
          <a:lstStyle/>
          <a:p>
            <a:r>
              <a:rPr lang="en-US" dirty="0"/>
              <a:t>Wrap-Up of PIPE Design</a:t>
            </a:r>
          </a:p>
          <a:p>
            <a:pPr lvl="1"/>
            <a:r>
              <a:rPr lang="en-US" dirty="0"/>
              <a:t>Exceptional conditions</a:t>
            </a:r>
          </a:p>
          <a:p>
            <a:pPr lvl="1"/>
            <a:r>
              <a:rPr lang="en-US" dirty="0"/>
              <a:t>Performance analysis</a:t>
            </a:r>
          </a:p>
          <a:p>
            <a:pPr lvl="1"/>
            <a:r>
              <a:rPr lang="en-US" dirty="0"/>
              <a:t>Fetch stage design</a:t>
            </a:r>
          </a:p>
          <a:p>
            <a:r>
              <a:rPr lang="en-US" dirty="0"/>
              <a:t>Modern High-Performance Processors</a:t>
            </a:r>
          </a:p>
          <a:p>
            <a:pPr lvl="1"/>
            <a:r>
              <a:rPr lang="en-US" dirty="0"/>
              <a:t>Out-of-order execution</a:t>
            </a:r>
          </a:p>
        </p:txBody>
      </p:sp>
    </p:spTree>
    <p:extLst>
      <p:ext uri="{BB962C8B-B14F-4D97-AF65-F5344CB8AC3E}">
        <p14:creationId xmlns:p14="http://schemas.microsoft.com/office/powerpoint/2010/main" val="7442692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984250"/>
            <a:ext cx="8294687" cy="5213350"/>
          </a:xfrm>
        </p:spPr>
        <p:txBody>
          <a:bodyPr/>
          <a:lstStyle/>
          <a:p>
            <a:pPr lvl="1">
              <a:tabLst>
                <a:tab pos="7543800" algn="r"/>
              </a:tabLst>
            </a:pPr>
            <a:r>
              <a:rPr lang="en-US" dirty="0"/>
              <a:t>Conditions under which processor cannot continue normal operation</a:t>
            </a:r>
          </a:p>
          <a:p>
            <a:pPr>
              <a:tabLst>
                <a:tab pos="7543800" algn="r"/>
              </a:tabLst>
            </a:pPr>
            <a:r>
              <a:rPr lang="en-US" dirty="0"/>
              <a:t>Causes</a:t>
            </a:r>
          </a:p>
          <a:p>
            <a:pPr lvl="1">
              <a:tabLst>
                <a:tab pos="7543800" algn="r"/>
              </a:tabLst>
            </a:pPr>
            <a:r>
              <a:rPr lang="en-US" dirty="0"/>
              <a:t>Halt instruction	</a:t>
            </a:r>
            <a:r>
              <a:rPr lang="en-US" dirty="0">
                <a:solidFill>
                  <a:schemeClr val="hlink"/>
                </a:solidFill>
              </a:rPr>
              <a:t>(Current)</a:t>
            </a:r>
          </a:p>
          <a:p>
            <a:pPr lvl="1">
              <a:tabLst>
                <a:tab pos="7543800" algn="r"/>
              </a:tabLst>
            </a:pPr>
            <a:r>
              <a:rPr lang="en-US" dirty="0"/>
              <a:t>Bad address for instruction or data	</a:t>
            </a:r>
            <a:r>
              <a:rPr lang="en-US" dirty="0">
                <a:solidFill>
                  <a:schemeClr val="hlink"/>
                </a:solidFill>
              </a:rPr>
              <a:t>(Previous)</a:t>
            </a:r>
          </a:p>
          <a:p>
            <a:pPr lvl="1">
              <a:tabLst>
                <a:tab pos="7543800" algn="r"/>
              </a:tabLst>
            </a:pPr>
            <a:r>
              <a:rPr lang="en-US" dirty="0"/>
              <a:t>Invalid instruction	</a:t>
            </a:r>
            <a:r>
              <a:rPr lang="en-US" dirty="0">
                <a:solidFill>
                  <a:schemeClr val="hlink"/>
                </a:solidFill>
              </a:rPr>
              <a:t>(Previous)</a:t>
            </a:r>
            <a:endParaRPr lang="en-US" dirty="0"/>
          </a:p>
          <a:p>
            <a:pPr>
              <a:tabLst>
                <a:tab pos="7543800" algn="r"/>
              </a:tabLst>
            </a:pPr>
            <a:r>
              <a:rPr lang="en-US" dirty="0"/>
              <a:t>Typical Desired Action</a:t>
            </a:r>
          </a:p>
          <a:p>
            <a:pPr lvl="1">
              <a:tabLst>
                <a:tab pos="7543800" algn="r"/>
              </a:tabLst>
            </a:pPr>
            <a:r>
              <a:rPr lang="en-US" dirty="0"/>
              <a:t>Complete some instructions</a:t>
            </a:r>
          </a:p>
          <a:p>
            <a:pPr lvl="2">
              <a:tabLst>
                <a:tab pos="7543800" algn="r"/>
              </a:tabLst>
            </a:pPr>
            <a:r>
              <a:rPr lang="en-US" dirty="0"/>
              <a:t>Either current or previous (depends on exception type)</a:t>
            </a:r>
          </a:p>
          <a:p>
            <a:pPr lvl="1">
              <a:tabLst>
                <a:tab pos="7543800" algn="r"/>
              </a:tabLst>
            </a:pPr>
            <a:r>
              <a:rPr lang="en-US" dirty="0"/>
              <a:t>Discard others</a:t>
            </a:r>
          </a:p>
          <a:p>
            <a:pPr lvl="1">
              <a:tabLst>
                <a:tab pos="7543800" algn="r"/>
              </a:tabLst>
            </a:pPr>
            <a:r>
              <a:rPr lang="en-US" dirty="0"/>
              <a:t>Call exception handler</a:t>
            </a:r>
          </a:p>
          <a:p>
            <a:pPr lvl="2">
              <a:tabLst>
                <a:tab pos="7543800" algn="r"/>
              </a:tabLst>
            </a:pPr>
            <a:r>
              <a:rPr lang="en-US" dirty="0"/>
              <a:t>Like an unexpected procedure call</a:t>
            </a:r>
          </a:p>
          <a:p>
            <a:pPr>
              <a:tabLst>
                <a:tab pos="7543800" algn="r"/>
              </a:tabLst>
            </a:pPr>
            <a:r>
              <a:rPr lang="en-US" dirty="0"/>
              <a:t>Our Implementation</a:t>
            </a:r>
          </a:p>
          <a:p>
            <a:pPr lvl="1">
              <a:tabLst>
                <a:tab pos="7543800" algn="r"/>
              </a:tabLst>
            </a:pPr>
            <a:r>
              <a:rPr lang="en-US" dirty="0"/>
              <a:t>Halt when instruction causes exception</a:t>
            </a:r>
          </a:p>
        </p:txBody>
      </p:sp>
      <p:sp>
        <p:nvSpPr>
          <p:cNvPr id="482333" name="Freeform 29"/>
          <p:cNvSpPr>
            <a:spLocks/>
          </p:cNvSpPr>
          <p:nvPr/>
        </p:nvSpPr>
        <p:spPr bwMode="auto">
          <a:xfrm>
            <a:off x="7620000" y="3340100"/>
            <a:ext cx="152400" cy="1066800"/>
          </a:xfrm>
          <a:custGeom>
            <a:avLst/>
            <a:gdLst/>
            <a:ahLst/>
            <a:cxnLst>
              <a:cxn ang="0">
                <a:pos x="0" y="672"/>
              </a:cxn>
              <a:cxn ang="0">
                <a:pos x="192" y="672"/>
              </a:cxn>
              <a:cxn ang="0">
                <a:pos x="192" y="0"/>
              </a:cxn>
            </a:cxnLst>
            <a:rect l="0" t="0" r="r" b="b"/>
            <a:pathLst>
              <a:path w="192" h="672">
                <a:moveTo>
                  <a:pt x="0" y="672"/>
                </a:moveTo>
                <a:lnTo>
                  <a:pt x="192" y="672"/>
                </a:lnTo>
                <a:lnTo>
                  <a:pt x="192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405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Exception Examples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294688" cy="1479550"/>
          </a:xfrm>
        </p:spPr>
        <p:txBody>
          <a:bodyPr/>
          <a:lstStyle/>
          <a:p>
            <a:r>
              <a:rPr lang="en-US"/>
              <a:t>Detect in Fetch Stage</a:t>
            </a:r>
          </a:p>
        </p:txBody>
      </p:sp>
      <p:sp>
        <p:nvSpPr>
          <p:cNvPr id="483556" name="Text Box 228"/>
          <p:cNvSpPr txBox="1">
            <a:spLocks noChangeArrowheads="1"/>
          </p:cNvSpPr>
          <p:nvPr/>
        </p:nvSpPr>
        <p:spPr bwMode="auto">
          <a:xfrm>
            <a:off x="228600" y="4648200"/>
            <a:ext cx="8153400" cy="6413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$100,%rax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rmmovq</a:t>
            </a:r>
            <a:r>
              <a:rPr lang="en-US" dirty="0">
                <a:latin typeface="Courier New" pitchFamily="49" charset="0"/>
              </a:rPr>
              <a:t> %rax,0x10000(%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) # invalid address</a:t>
            </a:r>
          </a:p>
        </p:txBody>
      </p:sp>
      <p:sp>
        <p:nvSpPr>
          <p:cNvPr id="483557" name="Text Box 229"/>
          <p:cNvSpPr txBox="1">
            <a:spLocks noChangeArrowheads="1"/>
          </p:cNvSpPr>
          <p:nvPr/>
        </p:nvSpPr>
        <p:spPr bwMode="auto">
          <a:xfrm>
            <a:off x="228600" y="2057400"/>
            <a:ext cx="8153400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>
                <a:latin typeface="Courier New" pitchFamily="49" charset="0"/>
              </a:rPr>
              <a:t>  jmp $-1                   # Invalid jump target</a:t>
            </a:r>
          </a:p>
        </p:txBody>
      </p:sp>
      <p:sp>
        <p:nvSpPr>
          <p:cNvPr id="483558" name="Text Box 230"/>
          <p:cNvSpPr txBox="1">
            <a:spLocks noChangeArrowheads="1"/>
          </p:cNvSpPr>
          <p:nvPr/>
        </p:nvSpPr>
        <p:spPr bwMode="auto">
          <a:xfrm>
            <a:off x="228600" y="2743200"/>
            <a:ext cx="8153400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>
                <a:latin typeface="Courier New" pitchFamily="49" charset="0"/>
              </a:rPr>
              <a:t>  .byte 0xFF                # Invalid instruction code  </a:t>
            </a:r>
          </a:p>
        </p:txBody>
      </p:sp>
      <p:sp>
        <p:nvSpPr>
          <p:cNvPr id="483559" name="Text Box 231"/>
          <p:cNvSpPr txBox="1">
            <a:spLocks noChangeArrowheads="1"/>
          </p:cNvSpPr>
          <p:nvPr/>
        </p:nvSpPr>
        <p:spPr bwMode="auto">
          <a:xfrm>
            <a:off x="228600" y="3429000"/>
            <a:ext cx="8153400" cy="3667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>
                <a:latin typeface="Courier New" pitchFamily="49" charset="0"/>
              </a:rPr>
              <a:t>  halt                      # Halt instruction</a:t>
            </a:r>
          </a:p>
        </p:txBody>
      </p:sp>
      <p:sp>
        <p:nvSpPr>
          <p:cNvPr id="483560" name="Rectangle 232"/>
          <p:cNvSpPr>
            <a:spLocks noChangeArrowheads="1"/>
          </p:cNvSpPr>
          <p:nvPr/>
        </p:nvSpPr>
        <p:spPr bwMode="auto">
          <a:xfrm>
            <a:off x="228600" y="3962400"/>
            <a:ext cx="8294688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Detect in Memory Stage</a:t>
            </a:r>
          </a:p>
        </p:txBody>
      </p:sp>
    </p:spTree>
    <p:extLst>
      <p:ext uri="{BB962C8B-B14F-4D97-AF65-F5344CB8AC3E}">
        <p14:creationId xmlns:p14="http://schemas.microsoft.com/office/powerpoint/2010/main" val="5804310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Exceptions in Pipeline Processor #1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5181600"/>
            <a:ext cx="8294687" cy="1174750"/>
          </a:xfrm>
        </p:spPr>
        <p:txBody>
          <a:bodyPr/>
          <a:lstStyle/>
          <a:p>
            <a:r>
              <a:rPr lang="en-US" dirty="0"/>
              <a:t>Desired Behavior</a:t>
            </a:r>
          </a:p>
          <a:p>
            <a:pPr lvl="1"/>
            <a:r>
              <a:rPr lang="en-US" dirty="0"/>
              <a:t> </a:t>
            </a:r>
            <a:r>
              <a:rPr lang="en-US" dirty="0" err="1">
                <a:latin typeface="Courier New" pitchFamily="49" charset="0"/>
              </a:rPr>
              <a:t>rmmovq</a:t>
            </a:r>
            <a:r>
              <a:rPr lang="en-US" dirty="0"/>
              <a:t> should cause exception</a:t>
            </a:r>
          </a:p>
          <a:p>
            <a:pPr lvl="1"/>
            <a:r>
              <a:rPr lang="en-US" dirty="0"/>
              <a:t>Following instructions should have no effect on processor state</a:t>
            </a:r>
          </a:p>
        </p:txBody>
      </p:sp>
      <p:sp>
        <p:nvSpPr>
          <p:cNvPr id="484356" name="Text Box 4"/>
          <p:cNvSpPr txBox="1">
            <a:spLocks noChangeArrowheads="1"/>
          </p:cNvSpPr>
          <p:nvPr/>
        </p:nvSpPr>
        <p:spPr bwMode="auto">
          <a:xfrm>
            <a:off x="533400" y="1066800"/>
            <a:ext cx="8153400" cy="14652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# demo-exc1.ys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$100,%rax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rmmovq</a:t>
            </a:r>
            <a:r>
              <a:rPr lang="en-US" dirty="0">
                <a:latin typeface="Courier New" pitchFamily="49" charset="0"/>
              </a:rPr>
              <a:t> %rax,0x10000(%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) # Invalid address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.byte 0xFF                # Invalid instruction code  </a:t>
            </a:r>
          </a:p>
        </p:txBody>
      </p:sp>
      <p:sp>
        <p:nvSpPr>
          <p:cNvPr id="484357" name="Rectangle 5"/>
          <p:cNvSpPr>
            <a:spLocks noChangeArrowheads="1"/>
          </p:cNvSpPr>
          <p:nvPr/>
        </p:nvSpPr>
        <p:spPr bwMode="auto">
          <a:xfrm>
            <a:off x="533400" y="3352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b="0" dirty="0">
                <a:latin typeface="Courier New" pitchFamily="49" charset="0"/>
              </a:rPr>
              <a:t>0x000: </a:t>
            </a:r>
            <a:r>
              <a:rPr lang="en-US" sz="1600" dirty="0" err="1">
                <a:latin typeface="Courier New" pitchFamily="49" charset="0"/>
              </a:rPr>
              <a:t>irmovq</a:t>
            </a:r>
            <a:r>
              <a:rPr lang="en-US" sz="1600" dirty="0">
                <a:latin typeface="Courier New" pitchFamily="49" charset="0"/>
              </a:rPr>
              <a:t> $100,%rax</a:t>
            </a:r>
          </a:p>
        </p:txBody>
      </p:sp>
      <p:sp>
        <p:nvSpPr>
          <p:cNvPr id="484358" name="Rectangle 6"/>
          <p:cNvSpPr>
            <a:spLocks noChangeArrowheads="1"/>
          </p:cNvSpPr>
          <p:nvPr/>
        </p:nvSpPr>
        <p:spPr bwMode="auto">
          <a:xfrm>
            <a:off x="40386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84359" name="Rectangle 7"/>
          <p:cNvSpPr>
            <a:spLocks noChangeArrowheads="1"/>
          </p:cNvSpPr>
          <p:nvPr/>
        </p:nvSpPr>
        <p:spPr bwMode="auto">
          <a:xfrm>
            <a:off x="44958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84360" name="Rectangle 8"/>
          <p:cNvSpPr>
            <a:spLocks noChangeArrowheads="1"/>
          </p:cNvSpPr>
          <p:nvPr/>
        </p:nvSpPr>
        <p:spPr bwMode="auto">
          <a:xfrm>
            <a:off x="49530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84361" name="Rectangle 9"/>
          <p:cNvSpPr>
            <a:spLocks noChangeArrowheads="1"/>
          </p:cNvSpPr>
          <p:nvPr/>
        </p:nvSpPr>
        <p:spPr bwMode="auto">
          <a:xfrm>
            <a:off x="54102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84368" name="Rectangle 16"/>
          <p:cNvSpPr>
            <a:spLocks noChangeArrowheads="1"/>
          </p:cNvSpPr>
          <p:nvPr/>
        </p:nvSpPr>
        <p:spPr bwMode="auto">
          <a:xfrm>
            <a:off x="40386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84369" name="Rectangle 17"/>
          <p:cNvSpPr>
            <a:spLocks noChangeArrowheads="1"/>
          </p:cNvSpPr>
          <p:nvPr/>
        </p:nvSpPr>
        <p:spPr bwMode="auto">
          <a:xfrm>
            <a:off x="44958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84370" name="Rectangle 18"/>
          <p:cNvSpPr>
            <a:spLocks noChangeArrowheads="1"/>
          </p:cNvSpPr>
          <p:nvPr/>
        </p:nvSpPr>
        <p:spPr bwMode="auto">
          <a:xfrm>
            <a:off x="49530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84371" name="Rectangle 19"/>
          <p:cNvSpPr>
            <a:spLocks noChangeArrowheads="1"/>
          </p:cNvSpPr>
          <p:nvPr/>
        </p:nvSpPr>
        <p:spPr bwMode="auto">
          <a:xfrm>
            <a:off x="54102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84375" name="Rectangle 23"/>
          <p:cNvSpPr>
            <a:spLocks noChangeArrowheads="1"/>
          </p:cNvSpPr>
          <p:nvPr/>
        </p:nvSpPr>
        <p:spPr bwMode="auto">
          <a:xfrm>
            <a:off x="4495800" y="3657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84376" name="Rectangle 24"/>
          <p:cNvSpPr>
            <a:spLocks noChangeArrowheads="1"/>
          </p:cNvSpPr>
          <p:nvPr/>
        </p:nvSpPr>
        <p:spPr bwMode="auto">
          <a:xfrm>
            <a:off x="4953000" y="3657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84377" name="Rectangle 25"/>
          <p:cNvSpPr>
            <a:spLocks noChangeArrowheads="1"/>
          </p:cNvSpPr>
          <p:nvPr/>
        </p:nvSpPr>
        <p:spPr bwMode="auto">
          <a:xfrm>
            <a:off x="5410200" y="3657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84382" name="Rectangle 30"/>
          <p:cNvSpPr>
            <a:spLocks noChangeArrowheads="1"/>
          </p:cNvSpPr>
          <p:nvPr/>
        </p:nvSpPr>
        <p:spPr bwMode="auto">
          <a:xfrm>
            <a:off x="533400" y="3657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b="0" dirty="0">
                <a:latin typeface="Courier New" pitchFamily="49" charset="0"/>
              </a:rPr>
              <a:t>0x00a: </a:t>
            </a:r>
            <a:r>
              <a:rPr lang="en-US" sz="1600" dirty="0" err="1">
                <a:latin typeface="Courier New" pitchFamily="49" charset="0"/>
              </a:rPr>
              <a:t>rmmovq</a:t>
            </a:r>
            <a:r>
              <a:rPr lang="en-US" sz="1600" dirty="0">
                <a:latin typeface="Courier New" pitchFamily="49" charset="0"/>
              </a:rPr>
              <a:t> %rax,0x1000(%</a:t>
            </a:r>
            <a:r>
              <a:rPr lang="en-US" sz="1600" dirty="0" err="1">
                <a:latin typeface="Courier New" pitchFamily="49" charset="0"/>
              </a:rPr>
              <a:t>rax</a:t>
            </a:r>
            <a:r>
              <a:rPr lang="en-US" sz="1600" dirty="0">
                <a:latin typeface="Courier New" pitchFamily="49" charset="0"/>
              </a:rPr>
              <a:t>)</a:t>
            </a:r>
          </a:p>
        </p:txBody>
      </p:sp>
      <p:sp>
        <p:nvSpPr>
          <p:cNvPr id="484383" name="Rectangle 31"/>
          <p:cNvSpPr>
            <a:spLocks noChangeArrowheads="1"/>
          </p:cNvSpPr>
          <p:nvPr/>
        </p:nvSpPr>
        <p:spPr bwMode="auto">
          <a:xfrm>
            <a:off x="533400" y="3962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b="0" dirty="0">
                <a:latin typeface="Courier New" pitchFamily="49" charset="0"/>
              </a:rPr>
              <a:t>0x014: </a:t>
            </a:r>
            <a:r>
              <a:rPr lang="en-US" sz="1600" dirty="0" err="1">
                <a:latin typeface="Courier New" pitchFamily="49" charset="0"/>
              </a:rPr>
              <a:t>nop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484384" name="Rectangle 32"/>
          <p:cNvSpPr>
            <a:spLocks noChangeArrowheads="1"/>
          </p:cNvSpPr>
          <p:nvPr/>
        </p:nvSpPr>
        <p:spPr bwMode="auto">
          <a:xfrm>
            <a:off x="533400" y="4267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b="0" dirty="0">
                <a:latin typeface="Courier New" pitchFamily="49" charset="0"/>
              </a:rPr>
              <a:t>0x015: </a:t>
            </a:r>
            <a:r>
              <a:rPr lang="en-US" sz="1600" dirty="0">
                <a:latin typeface="Courier New" pitchFamily="49" charset="0"/>
              </a:rPr>
              <a:t>.byte 0xFF</a:t>
            </a:r>
          </a:p>
        </p:txBody>
      </p:sp>
      <p:sp>
        <p:nvSpPr>
          <p:cNvPr id="484386" name="Rectangle 34"/>
          <p:cNvSpPr>
            <a:spLocks noChangeArrowheads="1"/>
          </p:cNvSpPr>
          <p:nvPr/>
        </p:nvSpPr>
        <p:spPr bwMode="auto">
          <a:xfrm>
            <a:off x="4953000" y="3962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84387" name="Rectangle 35"/>
          <p:cNvSpPr>
            <a:spLocks noChangeArrowheads="1"/>
          </p:cNvSpPr>
          <p:nvPr/>
        </p:nvSpPr>
        <p:spPr bwMode="auto">
          <a:xfrm>
            <a:off x="5410200" y="3962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84392" name="Rectangle 40"/>
          <p:cNvSpPr>
            <a:spLocks noChangeArrowheads="1"/>
          </p:cNvSpPr>
          <p:nvPr/>
        </p:nvSpPr>
        <p:spPr bwMode="auto">
          <a:xfrm>
            <a:off x="5410200" y="4267200"/>
            <a:ext cx="457200" cy="3048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grpSp>
        <p:nvGrpSpPr>
          <p:cNvPr id="484410" name="Group 58"/>
          <p:cNvGrpSpPr>
            <a:grpSpLocks/>
          </p:cNvGrpSpPr>
          <p:nvPr/>
        </p:nvGrpSpPr>
        <p:grpSpPr bwMode="auto">
          <a:xfrm>
            <a:off x="5867400" y="2971800"/>
            <a:ext cx="457200" cy="1600200"/>
            <a:chOff x="3696" y="1872"/>
            <a:chExt cx="288" cy="1008"/>
          </a:xfrm>
        </p:grpSpPr>
        <p:sp>
          <p:nvSpPr>
            <p:cNvPr id="484372" name="Rectangle 20"/>
            <p:cNvSpPr>
              <a:spLocks noChangeArrowheads="1"/>
            </p:cNvSpPr>
            <p:nvPr/>
          </p:nvSpPr>
          <p:spPr bwMode="auto">
            <a:xfrm>
              <a:off x="3696" y="2112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84362" name="Rectangle 10"/>
            <p:cNvSpPr>
              <a:spLocks noChangeArrowheads="1"/>
            </p:cNvSpPr>
            <p:nvPr/>
          </p:nvSpPr>
          <p:spPr bwMode="auto">
            <a:xfrm>
              <a:off x="3696" y="1872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84378" name="Rectangle 26"/>
            <p:cNvSpPr>
              <a:spLocks noChangeArrowheads="1"/>
            </p:cNvSpPr>
            <p:nvPr/>
          </p:nvSpPr>
          <p:spPr bwMode="auto">
            <a:xfrm>
              <a:off x="3696" y="2304"/>
              <a:ext cx="288" cy="192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84388" name="Rectangle 36"/>
            <p:cNvSpPr>
              <a:spLocks noChangeArrowheads="1"/>
            </p:cNvSpPr>
            <p:nvPr/>
          </p:nvSpPr>
          <p:spPr bwMode="auto">
            <a:xfrm>
              <a:off x="3696" y="24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84393" name="Rectangle 41"/>
            <p:cNvSpPr>
              <a:spLocks noChangeArrowheads="1"/>
            </p:cNvSpPr>
            <p:nvPr/>
          </p:nvSpPr>
          <p:spPr bwMode="auto">
            <a:xfrm>
              <a:off x="3696" y="26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</p:grpSp>
      <p:grpSp>
        <p:nvGrpSpPr>
          <p:cNvPr id="484399" name="Group 47"/>
          <p:cNvGrpSpPr>
            <a:grpSpLocks/>
          </p:cNvGrpSpPr>
          <p:nvPr/>
        </p:nvGrpSpPr>
        <p:grpSpPr bwMode="auto">
          <a:xfrm>
            <a:off x="6248400" y="3241675"/>
            <a:ext cx="2873375" cy="492125"/>
            <a:chOff x="3936" y="2186"/>
            <a:chExt cx="1810" cy="310"/>
          </a:xfrm>
        </p:grpSpPr>
        <p:sp>
          <p:nvSpPr>
            <p:cNvPr id="484397" name="Line 45"/>
            <p:cNvSpPr>
              <a:spLocks noChangeShapeType="1"/>
            </p:cNvSpPr>
            <p:nvPr/>
          </p:nvSpPr>
          <p:spPr bwMode="auto">
            <a:xfrm flipH="1">
              <a:off x="3936" y="2304"/>
              <a:ext cx="43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84398" name="Text Box 46"/>
            <p:cNvSpPr txBox="1">
              <a:spLocks noChangeArrowheads="1"/>
            </p:cNvSpPr>
            <p:nvPr/>
          </p:nvSpPr>
          <p:spPr bwMode="auto">
            <a:xfrm>
              <a:off x="4368" y="2186"/>
              <a:ext cx="1378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20" rIns="45720">
              <a:spAutoFit/>
            </a:bodyPr>
            <a:lstStyle/>
            <a:p>
              <a:pPr algn="l"/>
              <a:r>
                <a:rPr lang="en-US"/>
                <a:t>Exception detected</a:t>
              </a:r>
            </a:p>
          </p:txBody>
        </p:sp>
      </p:grpSp>
      <p:grpSp>
        <p:nvGrpSpPr>
          <p:cNvPr id="484407" name="Group 55"/>
          <p:cNvGrpSpPr>
            <a:grpSpLocks/>
          </p:cNvGrpSpPr>
          <p:nvPr/>
        </p:nvGrpSpPr>
        <p:grpSpPr bwMode="auto">
          <a:xfrm>
            <a:off x="2895600" y="4495800"/>
            <a:ext cx="2590800" cy="415925"/>
            <a:chOff x="1824" y="2976"/>
            <a:chExt cx="1632" cy="262"/>
          </a:xfrm>
        </p:grpSpPr>
        <p:sp>
          <p:nvSpPr>
            <p:cNvPr id="484401" name="Line 49"/>
            <p:cNvSpPr>
              <a:spLocks noChangeShapeType="1"/>
            </p:cNvSpPr>
            <p:nvPr/>
          </p:nvSpPr>
          <p:spPr bwMode="auto">
            <a:xfrm rot="-5400000">
              <a:off x="3264" y="2928"/>
              <a:ext cx="144" cy="24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84402" name="Text Box 50"/>
            <p:cNvSpPr txBox="1">
              <a:spLocks noChangeArrowheads="1"/>
            </p:cNvSpPr>
            <p:nvPr/>
          </p:nvSpPr>
          <p:spPr bwMode="auto">
            <a:xfrm>
              <a:off x="1824" y="3024"/>
              <a:ext cx="1378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20" rIns="45720">
              <a:spAutoFit/>
            </a:bodyPr>
            <a:lstStyle/>
            <a:p>
              <a:pPr algn="r"/>
              <a:r>
                <a:rPr lang="en-US"/>
                <a:t>Exception detected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468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Exceptions in Pipeline Processor #2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5181600"/>
            <a:ext cx="8294687" cy="1174750"/>
          </a:xfrm>
        </p:spPr>
        <p:txBody>
          <a:bodyPr/>
          <a:lstStyle/>
          <a:p>
            <a:r>
              <a:rPr lang="en-US"/>
              <a:t>Desired Behavior</a:t>
            </a:r>
          </a:p>
          <a:p>
            <a:pPr lvl="1"/>
            <a:r>
              <a:rPr lang="en-US"/>
              <a:t> No exception should occur</a:t>
            </a:r>
          </a:p>
        </p:txBody>
      </p:sp>
      <p:sp>
        <p:nvSpPr>
          <p:cNvPr id="491524" name="Text Box 4"/>
          <p:cNvSpPr txBox="1">
            <a:spLocks noChangeArrowheads="1"/>
          </p:cNvSpPr>
          <p:nvPr/>
        </p:nvSpPr>
        <p:spPr bwMode="auto">
          <a:xfrm>
            <a:off x="533400" y="990600"/>
            <a:ext cx="8153400" cy="20145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# demo-exc2.ys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0x000:    </a:t>
            </a:r>
            <a:r>
              <a:rPr lang="en-US" dirty="0" err="1">
                <a:latin typeface="Courier New" pitchFamily="49" charset="0"/>
              </a:rPr>
              <a:t>xorq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,%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   # Set condition codes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0x002:    </a:t>
            </a:r>
            <a:r>
              <a:rPr lang="en-US" dirty="0" err="1">
                <a:latin typeface="Courier New" pitchFamily="49" charset="0"/>
              </a:rPr>
              <a:t>jne</a:t>
            </a:r>
            <a:r>
              <a:rPr lang="en-US" dirty="0">
                <a:latin typeface="Courier New" pitchFamily="49" charset="0"/>
              </a:rPr>
              <a:t> t            # Not taken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0x00b: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$1,%rax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0x015: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$2,%rdx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0x01f:    halt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0x020: t: .byte 0xFF       # Target</a:t>
            </a:r>
          </a:p>
        </p:txBody>
      </p:sp>
      <p:sp>
        <p:nvSpPr>
          <p:cNvPr id="491525" name="Rectangle 5"/>
          <p:cNvSpPr>
            <a:spLocks noChangeArrowheads="1"/>
          </p:cNvSpPr>
          <p:nvPr/>
        </p:nvSpPr>
        <p:spPr bwMode="auto">
          <a:xfrm>
            <a:off x="533400" y="3352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0x000:    </a:t>
            </a:r>
            <a:r>
              <a:rPr lang="en-US" sz="1600" dirty="0" err="1">
                <a:latin typeface="Courier New" pitchFamily="49" charset="0"/>
              </a:rPr>
              <a:t>xorq</a:t>
            </a:r>
            <a:r>
              <a:rPr lang="en-US" sz="1600" dirty="0">
                <a:latin typeface="Courier New" pitchFamily="49" charset="0"/>
              </a:rPr>
              <a:t> %</a:t>
            </a:r>
            <a:r>
              <a:rPr lang="en-US" sz="1600" dirty="0" err="1">
                <a:latin typeface="Courier New" pitchFamily="49" charset="0"/>
              </a:rPr>
              <a:t>rax</a:t>
            </a:r>
            <a:r>
              <a:rPr lang="en-US" sz="1600" dirty="0">
                <a:latin typeface="Courier New" pitchFamily="49" charset="0"/>
              </a:rPr>
              <a:t>,%</a:t>
            </a:r>
            <a:r>
              <a:rPr lang="en-US" sz="1600" dirty="0" err="1">
                <a:latin typeface="Courier New" pitchFamily="49" charset="0"/>
              </a:rPr>
              <a:t>rax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491526" name="Rectangle 6"/>
          <p:cNvSpPr>
            <a:spLocks noChangeArrowheads="1"/>
          </p:cNvSpPr>
          <p:nvPr/>
        </p:nvSpPr>
        <p:spPr bwMode="auto">
          <a:xfrm>
            <a:off x="40386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91527" name="Rectangle 7"/>
          <p:cNvSpPr>
            <a:spLocks noChangeArrowheads="1"/>
          </p:cNvSpPr>
          <p:nvPr/>
        </p:nvSpPr>
        <p:spPr bwMode="auto">
          <a:xfrm>
            <a:off x="44958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91528" name="Rectangle 8"/>
          <p:cNvSpPr>
            <a:spLocks noChangeArrowheads="1"/>
          </p:cNvSpPr>
          <p:nvPr/>
        </p:nvSpPr>
        <p:spPr bwMode="auto">
          <a:xfrm>
            <a:off x="49530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91530" name="Rectangle 10"/>
          <p:cNvSpPr>
            <a:spLocks noChangeArrowheads="1"/>
          </p:cNvSpPr>
          <p:nvPr/>
        </p:nvSpPr>
        <p:spPr bwMode="auto">
          <a:xfrm>
            <a:off x="40386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91531" name="Rectangle 11"/>
          <p:cNvSpPr>
            <a:spLocks noChangeArrowheads="1"/>
          </p:cNvSpPr>
          <p:nvPr/>
        </p:nvSpPr>
        <p:spPr bwMode="auto">
          <a:xfrm>
            <a:off x="44958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91532" name="Rectangle 12"/>
          <p:cNvSpPr>
            <a:spLocks noChangeArrowheads="1"/>
          </p:cNvSpPr>
          <p:nvPr/>
        </p:nvSpPr>
        <p:spPr bwMode="auto">
          <a:xfrm>
            <a:off x="49530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91534" name="Rectangle 14"/>
          <p:cNvSpPr>
            <a:spLocks noChangeArrowheads="1"/>
          </p:cNvSpPr>
          <p:nvPr/>
        </p:nvSpPr>
        <p:spPr bwMode="auto">
          <a:xfrm>
            <a:off x="4495800" y="3657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91535" name="Rectangle 15"/>
          <p:cNvSpPr>
            <a:spLocks noChangeArrowheads="1"/>
          </p:cNvSpPr>
          <p:nvPr/>
        </p:nvSpPr>
        <p:spPr bwMode="auto">
          <a:xfrm>
            <a:off x="4953000" y="3657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91538" name="Rectangle 18"/>
          <p:cNvSpPr>
            <a:spLocks noChangeArrowheads="1"/>
          </p:cNvSpPr>
          <p:nvPr/>
        </p:nvSpPr>
        <p:spPr bwMode="auto">
          <a:xfrm>
            <a:off x="533400" y="3657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0x002:    jne t</a:t>
            </a:r>
          </a:p>
        </p:txBody>
      </p:sp>
      <p:sp>
        <p:nvSpPr>
          <p:cNvPr id="491539" name="Rectangle 19"/>
          <p:cNvSpPr>
            <a:spLocks noChangeArrowheads="1"/>
          </p:cNvSpPr>
          <p:nvPr/>
        </p:nvSpPr>
        <p:spPr bwMode="auto">
          <a:xfrm>
            <a:off x="533400" y="3962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0x020: t: .byte 0xFF</a:t>
            </a:r>
          </a:p>
        </p:txBody>
      </p:sp>
      <p:sp>
        <p:nvSpPr>
          <p:cNvPr id="491540" name="Rectangle 20"/>
          <p:cNvSpPr>
            <a:spLocks noChangeArrowheads="1"/>
          </p:cNvSpPr>
          <p:nvPr/>
        </p:nvSpPr>
        <p:spPr bwMode="auto">
          <a:xfrm>
            <a:off x="533400" y="42672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>
                <a:latin typeface="Courier New" pitchFamily="49" charset="0"/>
              </a:rPr>
              <a:t>0x???: (I’m lost!)</a:t>
            </a:r>
          </a:p>
        </p:txBody>
      </p:sp>
      <p:sp>
        <p:nvSpPr>
          <p:cNvPr id="491541" name="Rectangle 21"/>
          <p:cNvSpPr>
            <a:spLocks noChangeArrowheads="1"/>
          </p:cNvSpPr>
          <p:nvPr/>
        </p:nvSpPr>
        <p:spPr bwMode="auto">
          <a:xfrm>
            <a:off x="4953000" y="3962400"/>
            <a:ext cx="457200" cy="3048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grpSp>
        <p:nvGrpSpPr>
          <p:cNvPr id="491573" name="Group 53"/>
          <p:cNvGrpSpPr>
            <a:grpSpLocks/>
          </p:cNvGrpSpPr>
          <p:nvPr/>
        </p:nvGrpSpPr>
        <p:grpSpPr bwMode="auto">
          <a:xfrm>
            <a:off x="3733800" y="4191000"/>
            <a:ext cx="2187575" cy="1101725"/>
            <a:chOff x="2352" y="2640"/>
            <a:chExt cx="1378" cy="694"/>
          </a:xfrm>
        </p:grpSpPr>
        <p:sp>
          <p:nvSpPr>
            <p:cNvPr id="491554" name="Line 34"/>
            <p:cNvSpPr>
              <a:spLocks noChangeShapeType="1"/>
            </p:cNvSpPr>
            <p:nvPr/>
          </p:nvSpPr>
          <p:spPr bwMode="auto">
            <a:xfrm rot="-5400000">
              <a:off x="3000" y="2856"/>
              <a:ext cx="480" cy="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91555" name="Text Box 35"/>
            <p:cNvSpPr txBox="1">
              <a:spLocks noChangeArrowheads="1"/>
            </p:cNvSpPr>
            <p:nvPr/>
          </p:nvSpPr>
          <p:spPr bwMode="auto">
            <a:xfrm>
              <a:off x="2352" y="3120"/>
              <a:ext cx="1378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20" rIns="45720">
              <a:spAutoFit/>
            </a:bodyPr>
            <a:lstStyle/>
            <a:p>
              <a:pPr algn="r"/>
              <a:r>
                <a:rPr lang="en-US"/>
                <a:t>Exception detected</a:t>
              </a:r>
            </a:p>
          </p:txBody>
        </p:sp>
      </p:grpSp>
      <p:sp>
        <p:nvSpPr>
          <p:cNvPr id="491556" name="Rectangle 36"/>
          <p:cNvSpPr>
            <a:spLocks noChangeArrowheads="1"/>
          </p:cNvSpPr>
          <p:nvPr/>
        </p:nvSpPr>
        <p:spPr bwMode="auto">
          <a:xfrm>
            <a:off x="533400" y="45720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0x00b:    </a:t>
            </a:r>
            <a:r>
              <a:rPr lang="en-US" sz="1600" dirty="0" err="1">
                <a:latin typeface="Courier New" pitchFamily="49" charset="0"/>
              </a:rPr>
              <a:t>irmovq</a:t>
            </a:r>
            <a:r>
              <a:rPr lang="en-US" sz="1600" dirty="0">
                <a:latin typeface="Courier New" pitchFamily="49" charset="0"/>
              </a:rPr>
              <a:t> $1,%rax</a:t>
            </a:r>
          </a:p>
        </p:txBody>
      </p:sp>
      <p:grpSp>
        <p:nvGrpSpPr>
          <p:cNvPr id="491578" name="Group 58"/>
          <p:cNvGrpSpPr>
            <a:grpSpLocks/>
          </p:cNvGrpSpPr>
          <p:nvPr/>
        </p:nvGrpSpPr>
        <p:grpSpPr bwMode="auto">
          <a:xfrm>
            <a:off x="5410200" y="2971800"/>
            <a:ext cx="457200" cy="1600200"/>
            <a:chOff x="3408" y="1872"/>
            <a:chExt cx="288" cy="1008"/>
          </a:xfrm>
        </p:grpSpPr>
        <p:sp>
          <p:nvSpPr>
            <p:cNvPr id="491529" name="Rectangle 9"/>
            <p:cNvSpPr>
              <a:spLocks noChangeArrowheads="1"/>
            </p:cNvSpPr>
            <p:nvPr/>
          </p:nvSpPr>
          <p:spPr bwMode="auto">
            <a:xfrm>
              <a:off x="3408" y="1872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91533" name="Rectangle 13"/>
            <p:cNvSpPr>
              <a:spLocks noChangeArrowheads="1"/>
            </p:cNvSpPr>
            <p:nvPr/>
          </p:nvSpPr>
          <p:spPr bwMode="auto">
            <a:xfrm>
              <a:off x="3408" y="2112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91536" name="Rectangle 16"/>
            <p:cNvSpPr>
              <a:spLocks noChangeArrowheads="1"/>
            </p:cNvSpPr>
            <p:nvPr/>
          </p:nvSpPr>
          <p:spPr bwMode="auto">
            <a:xfrm>
              <a:off x="3408" y="2304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91559" name="Rectangle 39"/>
            <p:cNvSpPr>
              <a:spLocks noChangeArrowheads="1"/>
            </p:cNvSpPr>
            <p:nvPr/>
          </p:nvSpPr>
          <p:spPr bwMode="auto">
            <a:xfrm>
              <a:off x="3408" y="2688"/>
              <a:ext cx="288" cy="192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91569" name="Rectangle 49"/>
            <p:cNvSpPr>
              <a:spLocks noChangeArrowheads="1"/>
            </p:cNvSpPr>
            <p:nvPr/>
          </p:nvSpPr>
          <p:spPr bwMode="auto">
            <a:xfrm>
              <a:off x="3408" y="2496"/>
              <a:ext cx="288" cy="192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</p:grpSp>
      <p:grpSp>
        <p:nvGrpSpPr>
          <p:cNvPr id="491579" name="Group 59"/>
          <p:cNvGrpSpPr>
            <a:grpSpLocks/>
          </p:cNvGrpSpPr>
          <p:nvPr/>
        </p:nvGrpSpPr>
        <p:grpSpPr bwMode="auto">
          <a:xfrm>
            <a:off x="5867400" y="2971800"/>
            <a:ext cx="457200" cy="1905000"/>
            <a:chOff x="3696" y="1872"/>
            <a:chExt cx="288" cy="1200"/>
          </a:xfrm>
        </p:grpSpPr>
        <p:sp>
          <p:nvSpPr>
            <p:cNvPr id="491545" name="Rectangle 25"/>
            <p:cNvSpPr>
              <a:spLocks noChangeArrowheads="1"/>
            </p:cNvSpPr>
            <p:nvPr/>
          </p:nvSpPr>
          <p:spPr bwMode="auto">
            <a:xfrm>
              <a:off x="3696" y="2112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91546" name="Rectangle 26"/>
            <p:cNvSpPr>
              <a:spLocks noChangeArrowheads="1"/>
            </p:cNvSpPr>
            <p:nvPr/>
          </p:nvSpPr>
          <p:spPr bwMode="auto">
            <a:xfrm>
              <a:off x="3696" y="1872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91547" name="Rectangle 27"/>
            <p:cNvSpPr>
              <a:spLocks noChangeArrowheads="1"/>
            </p:cNvSpPr>
            <p:nvPr/>
          </p:nvSpPr>
          <p:spPr bwMode="auto">
            <a:xfrm>
              <a:off x="3696" y="2304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91560" name="Rectangle 40"/>
            <p:cNvSpPr>
              <a:spLocks noChangeArrowheads="1"/>
            </p:cNvSpPr>
            <p:nvPr/>
          </p:nvSpPr>
          <p:spPr bwMode="auto">
            <a:xfrm>
              <a:off x="3696" y="2688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91564" name="Rectangle 44"/>
            <p:cNvSpPr>
              <a:spLocks noChangeArrowheads="1"/>
            </p:cNvSpPr>
            <p:nvPr/>
          </p:nvSpPr>
          <p:spPr bwMode="auto">
            <a:xfrm>
              <a:off x="3696" y="288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91570" name="Rectangle 50"/>
            <p:cNvSpPr>
              <a:spLocks noChangeArrowheads="1"/>
            </p:cNvSpPr>
            <p:nvPr/>
          </p:nvSpPr>
          <p:spPr bwMode="auto">
            <a:xfrm>
              <a:off x="3696" y="249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</p:grpSp>
      <p:grpSp>
        <p:nvGrpSpPr>
          <p:cNvPr id="491580" name="Group 60"/>
          <p:cNvGrpSpPr>
            <a:grpSpLocks/>
          </p:cNvGrpSpPr>
          <p:nvPr/>
        </p:nvGrpSpPr>
        <p:grpSpPr bwMode="auto">
          <a:xfrm>
            <a:off x="6324600" y="2971800"/>
            <a:ext cx="457200" cy="1905000"/>
            <a:chOff x="3984" y="1872"/>
            <a:chExt cx="288" cy="1200"/>
          </a:xfrm>
        </p:grpSpPr>
        <p:sp>
          <p:nvSpPr>
            <p:cNvPr id="491561" name="Rectangle 41"/>
            <p:cNvSpPr>
              <a:spLocks noChangeArrowheads="1"/>
            </p:cNvSpPr>
            <p:nvPr/>
          </p:nvSpPr>
          <p:spPr bwMode="auto">
            <a:xfrm>
              <a:off x="3984" y="2688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91565" name="Rectangle 45"/>
            <p:cNvSpPr>
              <a:spLocks noChangeArrowheads="1"/>
            </p:cNvSpPr>
            <p:nvPr/>
          </p:nvSpPr>
          <p:spPr bwMode="auto">
            <a:xfrm>
              <a:off x="3984" y="288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91571" name="Rectangle 51"/>
            <p:cNvSpPr>
              <a:spLocks noChangeArrowheads="1"/>
            </p:cNvSpPr>
            <p:nvPr/>
          </p:nvSpPr>
          <p:spPr bwMode="auto">
            <a:xfrm>
              <a:off x="3984" y="249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91574" name="Rectangle 54"/>
            <p:cNvSpPr>
              <a:spLocks noChangeArrowheads="1"/>
            </p:cNvSpPr>
            <p:nvPr/>
          </p:nvSpPr>
          <p:spPr bwMode="auto">
            <a:xfrm>
              <a:off x="3984" y="1872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6</a:t>
              </a:r>
            </a:p>
          </p:txBody>
        </p:sp>
      </p:grpSp>
      <p:grpSp>
        <p:nvGrpSpPr>
          <p:cNvPr id="491581" name="Group 61"/>
          <p:cNvGrpSpPr>
            <a:grpSpLocks/>
          </p:cNvGrpSpPr>
          <p:nvPr/>
        </p:nvGrpSpPr>
        <p:grpSpPr bwMode="auto">
          <a:xfrm>
            <a:off x="6781800" y="2971800"/>
            <a:ext cx="457200" cy="1905000"/>
            <a:chOff x="4272" y="1872"/>
            <a:chExt cx="288" cy="1200"/>
          </a:xfrm>
        </p:grpSpPr>
        <p:sp>
          <p:nvSpPr>
            <p:cNvPr id="491562" name="Rectangle 42"/>
            <p:cNvSpPr>
              <a:spLocks noChangeArrowheads="1"/>
            </p:cNvSpPr>
            <p:nvPr/>
          </p:nvSpPr>
          <p:spPr bwMode="auto">
            <a:xfrm>
              <a:off x="4272" y="2688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91566" name="Rectangle 46"/>
            <p:cNvSpPr>
              <a:spLocks noChangeArrowheads="1"/>
            </p:cNvSpPr>
            <p:nvPr/>
          </p:nvSpPr>
          <p:spPr bwMode="auto">
            <a:xfrm>
              <a:off x="4272" y="288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91572" name="Rectangle 52"/>
            <p:cNvSpPr>
              <a:spLocks noChangeArrowheads="1"/>
            </p:cNvSpPr>
            <p:nvPr/>
          </p:nvSpPr>
          <p:spPr bwMode="auto">
            <a:xfrm>
              <a:off x="4272" y="249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91575" name="Rectangle 55"/>
            <p:cNvSpPr>
              <a:spLocks noChangeArrowheads="1"/>
            </p:cNvSpPr>
            <p:nvPr/>
          </p:nvSpPr>
          <p:spPr bwMode="auto">
            <a:xfrm>
              <a:off x="4272" y="1872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7</a:t>
              </a:r>
            </a:p>
          </p:txBody>
        </p:sp>
      </p:grpSp>
      <p:grpSp>
        <p:nvGrpSpPr>
          <p:cNvPr id="491582" name="Group 62"/>
          <p:cNvGrpSpPr>
            <a:grpSpLocks/>
          </p:cNvGrpSpPr>
          <p:nvPr/>
        </p:nvGrpSpPr>
        <p:grpSpPr bwMode="auto">
          <a:xfrm>
            <a:off x="7239000" y="2971800"/>
            <a:ext cx="457200" cy="1905000"/>
            <a:chOff x="4560" y="1872"/>
            <a:chExt cx="288" cy="1200"/>
          </a:xfrm>
        </p:grpSpPr>
        <p:sp>
          <p:nvSpPr>
            <p:cNvPr id="491563" name="Rectangle 43"/>
            <p:cNvSpPr>
              <a:spLocks noChangeArrowheads="1"/>
            </p:cNvSpPr>
            <p:nvPr/>
          </p:nvSpPr>
          <p:spPr bwMode="auto">
            <a:xfrm>
              <a:off x="4560" y="2688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91567" name="Rectangle 47"/>
            <p:cNvSpPr>
              <a:spLocks noChangeArrowheads="1"/>
            </p:cNvSpPr>
            <p:nvPr/>
          </p:nvSpPr>
          <p:spPr bwMode="auto">
            <a:xfrm>
              <a:off x="4560" y="288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91576" name="Rectangle 56"/>
            <p:cNvSpPr>
              <a:spLocks noChangeArrowheads="1"/>
            </p:cNvSpPr>
            <p:nvPr/>
          </p:nvSpPr>
          <p:spPr bwMode="auto">
            <a:xfrm>
              <a:off x="4560" y="1872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8</a:t>
              </a:r>
            </a:p>
          </p:txBody>
        </p:sp>
      </p:grpSp>
      <p:grpSp>
        <p:nvGrpSpPr>
          <p:cNvPr id="491583" name="Group 63"/>
          <p:cNvGrpSpPr>
            <a:grpSpLocks/>
          </p:cNvGrpSpPr>
          <p:nvPr/>
        </p:nvGrpSpPr>
        <p:grpSpPr bwMode="auto">
          <a:xfrm>
            <a:off x="7696200" y="2971800"/>
            <a:ext cx="457200" cy="1905000"/>
            <a:chOff x="4848" y="1872"/>
            <a:chExt cx="288" cy="1200"/>
          </a:xfrm>
        </p:grpSpPr>
        <p:sp>
          <p:nvSpPr>
            <p:cNvPr id="491568" name="Rectangle 48"/>
            <p:cNvSpPr>
              <a:spLocks noChangeArrowheads="1"/>
            </p:cNvSpPr>
            <p:nvPr/>
          </p:nvSpPr>
          <p:spPr bwMode="auto">
            <a:xfrm>
              <a:off x="4848" y="2880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91577" name="Rectangle 57"/>
            <p:cNvSpPr>
              <a:spLocks noChangeArrowheads="1"/>
            </p:cNvSpPr>
            <p:nvPr/>
          </p:nvSpPr>
          <p:spPr bwMode="auto">
            <a:xfrm>
              <a:off x="4848" y="1872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148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Maintaining Exception Ordering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4038600"/>
            <a:ext cx="8466137" cy="2089150"/>
          </a:xfrm>
        </p:spPr>
        <p:txBody>
          <a:bodyPr/>
          <a:lstStyle/>
          <a:p>
            <a:pPr lvl="1"/>
            <a:r>
              <a:rPr lang="en-US" dirty="0"/>
              <a:t>Add status field to pipeline registers</a:t>
            </a:r>
          </a:p>
          <a:p>
            <a:pPr lvl="1"/>
            <a:r>
              <a:rPr lang="en-US" dirty="0"/>
              <a:t>Fetch stage sets to either “AOK,” “ADR” (when bad fetch address), “HLT” (halt instruction) or “INS” (illegal instruction)</a:t>
            </a:r>
          </a:p>
          <a:p>
            <a:pPr lvl="1"/>
            <a:r>
              <a:rPr lang="en-US" dirty="0"/>
              <a:t>Decode &amp; execute pass values through</a:t>
            </a:r>
          </a:p>
          <a:p>
            <a:pPr lvl="1"/>
            <a:r>
              <a:rPr lang="en-US" dirty="0"/>
              <a:t>Memory either passes through or sets to “ADR”</a:t>
            </a:r>
          </a:p>
          <a:p>
            <a:pPr lvl="1"/>
            <a:r>
              <a:rPr lang="en-US" dirty="0"/>
              <a:t>Exception triggered only when instruction hits write back</a:t>
            </a:r>
          </a:p>
        </p:txBody>
      </p:sp>
      <p:grpSp>
        <p:nvGrpSpPr>
          <p:cNvPr id="490543" name="Group 47"/>
          <p:cNvGrpSpPr>
            <a:grpSpLocks/>
          </p:cNvGrpSpPr>
          <p:nvPr/>
        </p:nvGrpSpPr>
        <p:grpSpPr bwMode="auto">
          <a:xfrm>
            <a:off x="1066800" y="3352800"/>
            <a:ext cx="7086600" cy="381000"/>
            <a:chOff x="672" y="2112"/>
            <a:chExt cx="4464" cy="240"/>
          </a:xfrm>
        </p:grpSpPr>
        <p:sp>
          <p:nvSpPr>
            <p:cNvPr id="490524" name="Rectangle 28"/>
            <p:cNvSpPr>
              <a:spLocks noChangeArrowheads="1"/>
            </p:cNvSpPr>
            <p:nvPr/>
          </p:nvSpPr>
          <p:spPr bwMode="auto">
            <a:xfrm>
              <a:off x="672" y="2112"/>
              <a:ext cx="4464" cy="240"/>
            </a:xfrm>
            <a:prstGeom prst="rect">
              <a:avLst/>
            </a:prstGeom>
            <a:solidFill>
              <a:srgbClr val="4D4D4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490525" name="Rectangle 29"/>
            <p:cNvSpPr>
              <a:spLocks noChangeArrowheads="1"/>
            </p:cNvSpPr>
            <p:nvPr/>
          </p:nvSpPr>
          <p:spPr bwMode="auto">
            <a:xfrm>
              <a:off x="2112" y="2112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predPC</a:t>
              </a:r>
            </a:p>
          </p:txBody>
        </p:sp>
      </p:grpSp>
      <p:grpSp>
        <p:nvGrpSpPr>
          <p:cNvPr id="490547" name="Group 51"/>
          <p:cNvGrpSpPr>
            <a:grpSpLocks/>
          </p:cNvGrpSpPr>
          <p:nvPr/>
        </p:nvGrpSpPr>
        <p:grpSpPr bwMode="auto">
          <a:xfrm>
            <a:off x="1066800" y="1219200"/>
            <a:ext cx="7086600" cy="381000"/>
            <a:chOff x="672" y="960"/>
            <a:chExt cx="4464" cy="240"/>
          </a:xfrm>
        </p:grpSpPr>
        <p:sp>
          <p:nvSpPr>
            <p:cNvPr id="490501" name="Rectangle 5"/>
            <p:cNvSpPr>
              <a:spLocks noChangeArrowheads="1"/>
            </p:cNvSpPr>
            <p:nvPr/>
          </p:nvSpPr>
          <p:spPr bwMode="auto">
            <a:xfrm>
              <a:off x="672" y="960"/>
              <a:ext cx="4464" cy="240"/>
            </a:xfrm>
            <a:prstGeom prst="rect">
              <a:avLst/>
            </a:prstGeom>
            <a:solidFill>
              <a:srgbClr val="4D4D4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>
                  <a:solidFill>
                    <a:schemeClr val="bg1"/>
                  </a:solidFill>
                </a:rPr>
                <a:t>W</a:t>
              </a:r>
            </a:p>
          </p:txBody>
        </p:sp>
        <p:sp>
          <p:nvSpPr>
            <p:cNvPr id="490502" name="Rectangle 6"/>
            <p:cNvSpPr>
              <a:spLocks noChangeArrowheads="1"/>
            </p:cNvSpPr>
            <p:nvPr/>
          </p:nvSpPr>
          <p:spPr bwMode="auto">
            <a:xfrm>
              <a:off x="1392" y="960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icode</a:t>
              </a:r>
            </a:p>
          </p:txBody>
        </p:sp>
        <p:sp>
          <p:nvSpPr>
            <p:cNvPr id="490503" name="Rectangle 7"/>
            <p:cNvSpPr>
              <a:spLocks noChangeArrowheads="1"/>
            </p:cNvSpPr>
            <p:nvPr/>
          </p:nvSpPr>
          <p:spPr bwMode="auto">
            <a:xfrm>
              <a:off x="2544" y="960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valE</a:t>
              </a:r>
            </a:p>
          </p:txBody>
        </p:sp>
        <p:sp>
          <p:nvSpPr>
            <p:cNvPr id="490504" name="Rectangle 8"/>
            <p:cNvSpPr>
              <a:spLocks noChangeArrowheads="1"/>
            </p:cNvSpPr>
            <p:nvPr/>
          </p:nvSpPr>
          <p:spPr bwMode="auto">
            <a:xfrm>
              <a:off x="3120" y="960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valM</a:t>
              </a:r>
            </a:p>
          </p:txBody>
        </p:sp>
        <p:sp>
          <p:nvSpPr>
            <p:cNvPr id="490505" name="Rectangle 9"/>
            <p:cNvSpPr>
              <a:spLocks noChangeArrowheads="1"/>
            </p:cNvSpPr>
            <p:nvPr/>
          </p:nvSpPr>
          <p:spPr bwMode="auto">
            <a:xfrm>
              <a:off x="3984" y="960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dstE</a:t>
              </a:r>
            </a:p>
          </p:txBody>
        </p:sp>
        <p:sp>
          <p:nvSpPr>
            <p:cNvPr id="490506" name="Rectangle 10"/>
            <p:cNvSpPr>
              <a:spLocks noChangeArrowheads="1"/>
            </p:cNvSpPr>
            <p:nvPr/>
          </p:nvSpPr>
          <p:spPr bwMode="auto">
            <a:xfrm>
              <a:off x="4272" y="960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dstM</a:t>
              </a:r>
            </a:p>
          </p:txBody>
        </p:sp>
        <p:sp>
          <p:nvSpPr>
            <p:cNvPr id="490538" name="Rectangle 42"/>
            <p:cNvSpPr>
              <a:spLocks noChangeArrowheads="1"/>
            </p:cNvSpPr>
            <p:nvPr/>
          </p:nvSpPr>
          <p:spPr bwMode="auto">
            <a:xfrm>
              <a:off x="912" y="960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 dirty="0"/>
                <a:t>stat</a:t>
              </a:r>
            </a:p>
          </p:txBody>
        </p:sp>
      </p:grpSp>
      <p:grpSp>
        <p:nvGrpSpPr>
          <p:cNvPr id="490546" name="Group 50"/>
          <p:cNvGrpSpPr>
            <a:grpSpLocks/>
          </p:cNvGrpSpPr>
          <p:nvPr/>
        </p:nvGrpSpPr>
        <p:grpSpPr bwMode="auto">
          <a:xfrm>
            <a:off x="1066800" y="1752600"/>
            <a:ext cx="7086600" cy="381000"/>
            <a:chOff x="672" y="1248"/>
            <a:chExt cx="4464" cy="240"/>
          </a:xfrm>
        </p:grpSpPr>
        <p:sp>
          <p:nvSpPr>
            <p:cNvPr id="490508" name="Rectangle 12"/>
            <p:cNvSpPr>
              <a:spLocks noChangeArrowheads="1"/>
            </p:cNvSpPr>
            <p:nvPr/>
          </p:nvSpPr>
          <p:spPr bwMode="auto">
            <a:xfrm>
              <a:off x="672" y="1248"/>
              <a:ext cx="4464" cy="240"/>
            </a:xfrm>
            <a:prstGeom prst="rect">
              <a:avLst/>
            </a:prstGeom>
            <a:solidFill>
              <a:srgbClr val="4D4D4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>
                  <a:solidFill>
                    <a:schemeClr val="bg1"/>
                  </a:solidFill>
                </a:rPr>
                <a:t>M</a:t>
              </a:r>
            </a:p>
          </p:txBody>
        </p:sp>
        <p:sp>
          <p:nvSpPr>
            <p:cNvPr id="490509" name="Rectangle 13"/>
            <p:cNvSpPr>
              <a:spLocks noChangeArrowheads="1"/>
            </p:cNvSpPr>
            <p:nvPr/>
          </p:nvSpPr>
          <p:spPr bwMode="auto">
            <a:xfrm>
              <a:off x="1968" y="1248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 dirty="0" err="1"/>
                <a:t>Cnd</a:t>
              </a:r>
              <a:endParaRPr lang="en-US" sz="1200" b="0" dirty="0"/>
            </a:p>
          </p:txBody>
        </p:sp>
        <p:sp>
          <p:nvSpPr>
            <p:cNvPr id="490510" name="Rectangle 14"/>
            <p:cNvSpPr>
              <a:spLocks noChangeArrowheads="1"/>
            </p:cNvSpPr>
            <p:nvPr/>
          </p:nvSpPr>
          <p:spPr bwMode="auto">
            <a:xfrm>
              <a:off x="1392" y="1248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icode</a:t>
              </a:r>
            </a:p>
          </p:txBody>
        </p:sp>
        <p:sp>
          <p:nvSpPr>
            <p:cNvPr id="490511" name="Rectangle 15"/>
            <p:cNvSpPr>
              <a:spLocks noChangeArrowheads="1"/>
            </p:cNvSpPr>
            <p:nvPr/>
          </p:nvSpPr>
          <p:spPr bwMode="auto">
            <a:xfrm>
              <a:off x="2544" y="1248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valE</a:t>
              </a:r>
            </a:p>
          </p:txBody>
        </p:sp>
        <p:sp>
          <p:nvSpPr>
            <p:cNvPr id="490512" name="Rectangle 16"/>
            <p:cNvSpPr>
              <a:spLocks noChangeArrowheads="1"/>
            </p:cNvSpPr>
            <p:nvPr/>
          </p:nvSpPr>
          <p:spPr bwMode="auto">
            <a:xfrm>
              <a:off x="3120" y="1248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valA</a:t>
              </a:r>
            </a:p>
          </p:txBody>
        </p:sp>
        <p:sp>
          <p:nvSpPr>
            <p:cNvPr id="490513" name="Rectangle 17"/>
            <p:cNvSpPr>
              <a:spLocks noChangeArrowheads="1"/>
            </p:cNvSpPr>
            <p:nvPr/>
          </p:nvSpPr>
          <p:spPr bwMode="auto">
            <a:xfrm>
              <a:off x="3984" y="1248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dstE</a:t>
              </a:r>
            </a:p>
          </p:txBody>
        </p:sp>
        <p:sp>
          <p:nvSpPr>
            <p:cNvPr id="490514" name="Rectangle 18"/>
            <p:cNvSpPr>
              <a:spLocks noChangeArrowheads="1"/>
            </p:cNvSpPr>
            <p:nvPr/>
          </p:nvSpPr>
          <p:spPr bwMode="auto">
            <a:xfrm>
              <a:off x="4272" y="1248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dstM</a:t>
              </a:r>
            </a:p>
          </p:txBody>
        </p:sp>
        <p:sp>
          <p:nvSpPr>
            <p:cNvPr id="490539" name="Rectangle 43"/>
            <p:cNvSpPr>
              <a:spLocks noChangeArrowheads="1"/>
            </p:cNvSpPr>
            <p:nvPr/>
          </p:nvSpPr>
          <p:spPr bwMode="auto">
            <a:xfrm>
              <a:off x="912" y="1248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 dirty="0"/>
                <a:t>stat</a:t>
              </a:r>
            </a:p>
          </p:txBody>
        </p:sp>
      </p:grpSp>
      <p:grpSp>
        <p:nvGrpSpPr>
          <p:cNvPr id="490545" name="Group 49"/>
          <p:cNvGrpSpPr>
            <a:grpSpLocks/>
          </p:cNvGrpSpPr>
          <p:nvPr/>
        </p:nvGrpSpPr>
        <p:grpSpPr bwMode="auto">
          <a:xfrm>
            <a:off x="1066800" y="2286000"/>
            <a:ext cx="7086600" cy="381000"/>
            <a:chOff x="672" y="1536"/>
            <a:chExt cx="4464" cy="240"/>
          </a:xfrm>
        </p:grpSpPr>
        <p:sp>
          <p:nvSpPr>
            <p:cNvPr id="490527" name="Rectangle 31"/>
            <p:cNvSpPr>
              <a:spLocks noChangeArrowheads="1"/>
            </p:cNvSpPr>
            <p:nvPr/>
          </p:nvSpPr>
          <p:spPr bwMode="auto">
            <a:xfrm>
              <a:off x="672" y="1536"/>
              <a:ext cx="4464" cy="240"/>
            </a:xfrm>
            <a:prstGeom prst="rect">
              <a:avLst/>
            </a:prstGeom>
            <a:solidFill>
              <a:srgbClr val="4D4D4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>
                  <a:solidFill>
                    <a:schemeClr val="bg1"/>
                  </a:solidFill>
                </a:rPr>
                <a:t>E</a:t>
              </a:r>
            </a:p>
          </p:txBody>
        </p:sp>
        <p:sp>
          <p:nvSpPr>
            <p:cNvPr id="490528" name="Rectangle 32"/>
            <p:cNvSpPr>
              <a:spLocks noChangeArrowheads="1"/>
            </p:cNvSpPr>
            <p:nvPr/>
          </p:nvSpPr>
          <p:spPr bwMode="auto">
            <a:xfrm>
              <a:off x="1392" y="1536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icode</a:t>
              </a:r>
            </a:p>
          </p:txBody>
        </p:sp>
        <p:sp>
          <p:nvSpPr>
            <p:cNvPr id="490529" name="Rectangle 33"/>
            <p:cNvSpPr>
              <a:spLocks noChangeArrowheads="1"/>
            </p:cNvSpPr>
            <p:nvPr/>
          </p:nvSpPr>
          <p:spPr bwMode="auto">
            <a:xfrm>
              <a:off x="1680" y="1536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ifun</a:t>
              </a:r>
            </a:p>
          </p:txBody>
        </p:sp>
        <p:sp>
          <p:nvSpPr>
            <p:cNvPr id="490530" name="Rectangle 34"/>
            <p:cNvSpPr>
              <a:spLocks noChangeArrowheads="1"/>
            </p:cNvSpPr>
            <p:nvPr/>
          </p:nvSpPr>
          <p:spPr bwMode="auto">
            <a:xfrm>
              <a:off x="2256" y="1536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valC</a:t>
              </a:r>
            </a:p>
          </p:txBody>
        </p:sp>
        <p:sp>
          <p:nvSpPr>
            <p:cNvPr id="490531" name="Rectangle 35"/>
            <p:cNvSpPr>
              <a:spLocks noChangeArrowheads="1"/>
            </p:cNvSpPr>
            <p:nvPr/>
          </p:nvSpPr>
          <p:spPr bwMode="auto">
            <a:xfrm>
              <a:off x="2832" y="1536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valA</a:t>
              </a:r>
            </a:p>
          </p:txBody>
        </p:sp>
        <p:sp>
          <p:nvSpPr>
            <p:cNvPr id="490532" name="Rectangle 36"/>
            <p:cNvSpPr>
              <a:spLocks noChangeArrowheads="1"/>
            </p:cNvSpPr>
            <p:nvPr/>
          </p:nvSpPr>
          <p:spPr bwMode="auto">
            <a:xfrm>
              <a:off x="3408" y="1536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valB</a:t>
              </a:r>
            </a:p>
          </p:txBody>
        </p:sp>
        <p:sp>
          <p:nvSpPr>
            <p:cNvPr id="490533" name="Rectangle 37"/>
            <p:cNvSpPr>
              <a:spLocks noChangeArrowheads="1"/>
            </p:cNvSpPr>
            <p:nvPr/>
          </p:nvSpPr>
          <p:spPr bwMode="auto">
            <a:xfrm>
              <a:off x="3984" y="1536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dstE</a:t>
              </a:r>
            </a:p>
          </p:txBody>
        </p:sp>
        <p:sp>
          <p:nvSpPr>
            <p:cNvPr id="490534" name="Rectangle 38"/>
            <p:cNvSpPr>
              <a:spLocks noChangeArrowheads="1"/>
            </p:cNvSpPr>
            <p:nvPr/>
          </p:nvSpPr>
          <p:spPr bwMode="auto">
            <a:xfrm>
              <a:off x="4272" y="1536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dstM</a:t>
              </a:r>
            </a:p>
          </p:txBody>
        </p:sp>
        <p:sp>
          <p:nvSpPr>
            <p:cNvPr id="490535" name="Rectangle 39"/>
            <p:cNvSpPr>
              <a:spLocks noChangeArrowheads="1"/>
            </p:cNvSpPr>
            <p:nvPr/>
          </p:nvSpPr>
          <p:spPr bwMode="auto">
            <a:xfrm>
              <a:off x="4560" y="1536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srcA</a:t>
              </a:r>
            </a:p>
          </p:txBody>
        </p:sp>
        <p:sp>
          <p:nvSpPr>
            <p:cNvPr id="490536" name="Rectangle 40"/>
            <p:cNvSpPr>
              <a:spLocks noChangeArrowheads="1"/>
            </p:cNvSpPr>
            <p:nvPr/>
          </p:nvSpPr>
          <p:spPr bwMode="auto">
            <a:xfrm>
              <a:off x="4848" y="1536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srcB</a:t>
              </a:r>
            </a:p>
          </p:txBody>
        </p:sp>
        <p:sp>
          <p:nvSpPr>
            <p:cNvPr id="490540" name="Rectangle 44"/>
            <p:cNvSpPr>
              <a:spLocks noChangeArrowheads="1"/>
            </p:cNvSpPr>
            <p:nvPr/>
          </p:nvSpPr>
          <p:spPr bwMode="auto">
            <a:xfrm>
              <a:off x="912" y="1536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 dirty="0"/>
                <a:t>stat</a:t>
              </a:r>
            </a:p>
          </p:txBody>
        </p:sp>
      </p:grpSp>
      <p:grpSp>
        <p:nvGrpSpPr>
          <p:cNvPr id="490544" name="Group 48"/>
          <p:cNvGrpSpPr>
            <a:grpSpLocks/>
          </p:cNvGrpSpPr>
          <p:nvPr/>
        </p:nvGrpSpPr>
        <p:grpSpPr bwMode="auto">
          <a:xfrm>
            <a:off x="1066800" y="2819400"/>
            <a:ext cx="7086600" cy="381000"/>
            <a:chOff x="672" y="1824"/>
            <a:chExt cx="4464" cy="240"/>
          </a:xfrm>
        </p:grpSpPr>
        <p:sp>
          <p:nvSpPr>
            <p:cNvPr id="490516" name="Rectangle 20"/>
            <p:cNvSpPr>
              <a:spLocks noChangeArrowheads="1"/>
            </p:cNvSpPr>
            <p:nvPr/>
          </p:nvSpPr>
          <p:spPr bwMode="auto">
            <a:xfrm>
              <a:off x="672" y="1824"/>
              <a:ext cx="4464" cy="240"/>
            </a:xfrm>
            <a:prstGeom prst="rect">
              <a:avLst/>
            </a:prstGeom>
            <a:solidFill>
              <a:srgbClr val="4D4D4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490517" name="Rectangle 21"/>
            <p:cNvSpPr>
              <a:spLocks noChangeArrowheads="1"/>
            </p:cNvSpPr>
            <p:nvPr/>
          </p:nvSpPr>
          <p:spPr bwMode="auto">
            <a:xfrm>
              <a:off x="2544" y="1824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rB</a:t>
              </a:r>
            </a:p>
          </p:txBody>
        </p:sp>
        <p:sp>
          <p:nvSpPr>
            <p:cNvPr id="490518" name="Rectangle 22"/>
            <p:cNvSpPr>
              <a:spLocks noChangeArrowheads="1"/>
            </p:cNvSpPr>
            <p:nvPr/>
          </p:nvSpPr>
          <p:spPr bwMode="auto">
            <a:xfrm>
              <a:off x="2832" y="1824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valC</a:t>
              </a:r>
            </a:p>
          </p:txBody>
        </p:sp>
        <p:sp>
          <p:nvSpPr>
            <p:cNvPr id="490519" name="Rectangle 23"/>
            <p:cNvSpPr>
              <a:spLocks noChangeArrowheads="1"/>
            </p:cNvSpPr>
            <p:nvPr/>
          </p:nvSpPr>
          <p:spPr bwMode="auto">
            <a:xfrm>
              <a:off x="3408" y="1824"/>
              <a:ext cx="576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valP</a:t>
              </a:r>
            </a:p>
          </p:txBody>
        </p:sp>
        <p:sp>
          <p:nvSpPr>
            <p:cNvPr id="490520" name="Rectangle 24"/>
            <p:cNvSpPr>
              <a:spLocks noChangeArrowheads="1"/>
            </p:cNvSpPr>
            <p:nvPr/>
          </p:nvSpPr>
          <p:spPr bwMode="auto">
            <a:xfrm>
              <a:off x="1392" y="1824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icode</a:t>
              </a:r>
            </a:p>
          </p:txBody>
        </p:sp>
        <p:sp>
          <p:nvSpPr>
            <p:cNvPr id="490521" name="Rectangle 25"/>
            <p:cNvSpPr>
              <a:spLocks noChangeArrowheads="1"/>
            </p:cNvSpPr>
            <p:nvPr/>
          </p:nvSpPr>
          <p:spPr bwMode="auto">
            <a:xfrm>
              <a:off x="1680" y="1824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ifun</a:t>
              </a:r>
            </a:p>
          </p:txBody>
        </p:sp>
        <p:sp>
          <p:nvSpPr>
            <p:cNvPr id="490522" name="Rectangle 26"/>
            <p:cNvSpPr>
              <a:spLocks noChangeArrowheads="1"/>
            </p:cNvSpPr>
            <p:nvPr/>
          </p:nvSpPr>
          <p:spPr bwMode="auto">
            <a:xfrm>
              <a:off x="2256" y="1824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/>
                <a:t>rA</a:t>
              </a:r>
            </a:p>
          </p:txBody>
        </p:sp>
        <p:sp>
          <p:nvSpPr>
            <p:cNvPr id="490541" name="Rectangle 45"/>
            <p:cNvSpPr>
              <a:spLocks noChangeArrowheads="1"/>
            </p:cNvSpPr>
            <p:nvPr/>
          </p:nvSpPr>
          <p:spPr bwMode="auto">
            <a:xfrm>
              <a:off x="912" y="1824"/>
              <a:ext cx="288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1430" tIns="45715" rIns="91430" bIns="45715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 dirty="0"/>
                <a:t>stat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002280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450" y="1060450"/>
            <a:ext cx="6408737" cy="5213350"/>
          </a:xfrm>
        </p:spPr>
        <p:txBody>
          <a:bodyPr/>
          <a:lstStyle/>
          <a:p>
            <a:r>
              <a:rPr lang="en-US" dirty="0"/>
              <a:t>Fetch Stage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Memory Stage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Writeback</a:t>
            </a:r>
            <a:r>
              <a:rPr lang="en-US" dirty="0"/>
              <a:t> Stage</a:t>
            </a:r>
          </a:p>
          <a:p>
            <a:endParaRPr lang="en-US" dirty="0"/>
          </a:p>
        </p:txBody>
      </p:sp>
      <p:pic>
        <p:nvPicPr>
          <p:cNvPr id="5079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5050" y="-6350"/>
            <a:ext cx="1208495" cy="6765925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  <p:sp>
        <p:nvSpPr>
          <p:cNvPr id="5" name="TextBox 4"/>
          <p:cNvSpPr txBox="1"/>
          <p:nvPr/>
        </p:nvSpPr>
        <p:spPr>
          <a:xfrm>
            <a:off x="8375650" y="1162117"/>
            <a:ext cx="744113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0" dirty="0" err="1">
                <a:solidFill>
                  <a:srgbClr val="000000"/>
                </a:solidFill>
              </a:rPr>
              <a:t>dmem_error</a:t>
            </a:r>
            <a:endParaRPr lang="en-US" sz="800" b="0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0850" y="1593850"/>
            <a:ext cx="601980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 Determine status code for fetched instruction</a:t>
            </a:r>
          </a:p>
          <a:p>
            <a:pPr algn="l"/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f_stat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[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imem_error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: SADR;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!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instr_valid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: SINS;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f_icode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== IHALT : SHLT;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1 : SAOK;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</p:txBody>
      </p:sp>
      <p:sp>
        <p:nvSpPr>
          <p:cNvPr id="7" name="Rectangle 6"/>
          <p:cNvSpPr/>
          <p:nvPr/>
        </p:nvSpPr>
        <p:spPr>
          <a:xfrm>
            <a:off x="492918" y="3575050"/>
            <a:ext cx="6019800" cy="120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 Update the status</a:t>
            </a:r>
          </a:p>
          <a:p>
            <a:pPr algn="l"/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m_stat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[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dmem_error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: SADR;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1 :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M_stat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850" y="5251450"/>
            <a:ext cx="6477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pl-PL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int Stat = [</a:t>
            </a:r>
            <a:endParaRPr lang="en-US" sz="16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# SBUB in earlier stages indicates bubble</a:t>
            </a:r>
            <a:endParaRPr lang="pl-PL" sz="16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pl-PL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W_stat == SBUB : SAOK;</a:t>
            </a:r>
          </a:p>
          <a:p>
            <a:pPr algn="l"/>
            <a:r>
              <a:rPr lang="pl-PL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1 : W_stat;</a:t>
            </a:r>
          </a:p>
          <a:p>
            <a:pPr algn="l"/>
            <a:r>
              <a:rPr lang="pl-PL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6318372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Side Effects in Pipeline Processor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5181600"/>
            <a:ext cx="8294687" cy="1174750"/>
          </a:xfrm>
        </p:spPr>
        <p:txBody>
          <a:bodyPr/>
          <a:lstStyle/>
          <a:p>
            <a:r>
              <a:rPr lang="en-US" dirty="0"/>
              <a:t>Desired Behavior</a:t>
            </a:r>
          </a:p>
          <a:p>
            <a:pPr lvl="1"/>
            <a:r>
              <a:rPr lang="en-US" dirty="0"/>
              <a:t> </a:t>
            </a:r>
            <a:r>
              <a:rPr lang="en-US" dirty="0" err="1">
                <a:latin typeface="Courier New" pitchFamily="49" charset="0"/>
              </a:rPr>
              <a:t>rmmovq</a:t>
            </a:r>
            <a:r>
              <a:rPr lang="en-US" dirty="0"/>
              <a:t> should cause exception</a:t>
            </a:r>
          </a:p>
          <a:p>
            <a:pPr lvl="1"/>
            <a:r>
              <a:rPr lang="en-US" dirty="0"/>
              <a:t>No following instruction should have any effect</a:t>
            </a:r>
          </a:p>
        </p:txBody>
      </p:sp>
      <p:sp>
        <p:nvSpPr>
          <p:cNvPr id="489476" name="Text Box 4"/>
          <p:cNvSpPr txBox="1">
            <a:spLocks noChangeArrowheads="1"/>
          </p:cNvSpPr>
          <p:nvPr/>
        </p:nvSpPr>
        <p:spPr bwMode="auto">
          <a:xfrm>
            <a:off x="533400" y="1247775"/>
            <a:ext cx="8153400" cy="11906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# demo-exc3.ys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$100,%rax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rmmovq</a:t>
            </a:r>
            <a:r>
              <a:rPr lang="en-US" dirty="0">
                <a:latin typeface="Courier New" pitchFamily="49" charset="0"/>
              </a:rPr>
              <a:t> %rax,0x10000(%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) # invalid address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</a:rPr>
              <a:t>addq</a:t>
            </a:r>
            <a:r>
              <a:rPr lang="en-US" dirty="0">
                <a:latin typeface="Courier New" pitchFamily="49" charset="0"/>
              </a:rPr>
              <a:t> 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,%</a:t>
            </a:r>
            <a:r>
              <a:rPr lang="en-US" dirty="0" err="1">
                <a:latin typeface="Courier New" pitchFamily="49" charset="0"/>
              </a:rPr>
              <a:t>rax</a:t>
            </a:r>
            <a:r>
              <a:rPr lang="en-US" dirty="0">
                <a:latin typeface="Courier New" pitchFamily="49" charset="0"/>
              </a:rPr>
              <a:t>	        # Sets condition codes</a:t>
            </a:r>
          </a:p>
        </p:txBody>
      </p:sp>
      <p:sp>
        <p:nvSpPr>
          <p:cNvPr id="489477" name="Rectangle 5"/>
          <p:cNvSpPr>
            <a:spLocks noChangeArrowheads="1"/>
          </p:cNvSpPr>
          <p:nvPr/>
        </p:nvSpPr>
        <p:spPr bwMode="auto">
          <a:xfrm>
            <a:off x="533400" y="33528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b="0" dirty="0">
                <a:latin typeface="Courier New" pitchFamily="49" charset="0"/>
              </a:rPr>
              <a:t>0x000: </a:t>
            </a:r>
            <a:r>
              <a:rPr lang="en-US" sz="1600" dirty="0" err="1">
                <a:latin typeface="Courier New" pitchFamily="49" charset="0"/>
              </a:rPr>
              <a:t>irmovq</a:t>
            </a:r>
            <a:r>
              <a:rPr lang="en-US" sz="1600" dirty="0">
                <a:latin typeface="Courier New" pitchFamily="49" charset="0"/>
              </a:rPr>
              <a:t> $100,%rax</a:t>
            </a:r>
          </a:p>
        </p:txBody>
      </p:sp>
      <p:sp>
        <p:nvSpPr>
          <p:cNvPr id="489478" name="Rectangle 6"/>
          <p:cNvSpPr>
            <a:spLocks noChangeArrowheads="1"/>
          </p:cNvSpPr>
          <p:nvPr/>
        </p:nvSpPr>
        <p:spPr bwMode="auto">
          <a:xfrm>
            <a:off x="40386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89479" name="Rectangle 7"/>
          <p:cNvSpPr>
            <a:spLocks noChangeArrowheads="1"/>
          </p:cNvSpPr>
          <p:nvPr/>
        </p:nvSpPr>
        <p:spPr bwMode="auto">
          <a:xfrm>
            <a:off x="44958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89480" name="Rectangle 8"/>
          <p:cNvSpPr>
            <a:spLocks noChangeArrowheads="1"/>
          </p:cNvSpPr>
          <p:nvPr/>
        </p:nvSpPr>
        <p:spPr bwMode="auto">
          <a:xfrm>
            <a:off x="49530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89481" name="Rectangle 9"/>
          <p:cNvSpPr>
            <a:spLocks noChangeArrowheads="1"/>
          </p:cNvSpPr>
          <p:nvPr/>
        </p:nvSpPr>
        <p:spPr bwMode="auto">
          <a:xfrm>
            <a:off x="5410200" y="2971800"/>
            <a:ext cx="4572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200" b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89482" name="Rectangle 10"/>
          <p:cNvSpPr>
            <a:spLocks noChangeArrowheads="1"/>
          </p:cNvSpPr>
          <p:nvPr/>
        </p:nvSpPr>
        <p:spPr bwMode="auto">
          <a:xfrm>
            <a:off x="40386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89483" name="Rectangle 11"/>
          <p:cNvSpPr>
            <a:spLocks noChangeArrowheads="1"/>
          </p:cNvSpPr>
          <p:nvPr/>
        </p:nvSpPr>
        <p:spPr bwMode="auto">
          <a:xfrm>
            <a:off x="44958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89484" name="Rectangle 12"/>
          <p:cNvSpPr>
            <a:spLocks noChangeArrowheads="1"/>
          </p:cNvSpPr>
          <p:nvPr/>
        </p:nvSpPr>
        <p:spPr bwMode="auto">
          <a:xfrm>
            <a:off x="49530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89485" name="Rectangle 13"/>
          <p:cNvSpPr>
            <a:spLocks noChangeArrowheads="1"/>
          </p:cNvSpPr>
          <p:nvPr/>
        </p:nvSpPr>
        <p:spPr bwMode="auto">
          <a:xfrm>
            <a:off x="5410200" y="33528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M</a:t>
            </a:r>
          </a:p>
        </p:txBody>
      </p:sp>
      <p:sp>
        <p:nvSpPr>
          <p:cNvPr id="489486" name="Rectangle 14"/>
          <p:cNvSpPr>
            <a:spLocks noChangeArrowheads="1"/>
          </p:cNvSpPr>
          <p:nvPr/>
        </p:nvSpPr>
        <p:spPr bwMode="auto">
          <a:xfrm>
            <a:off x="4495800" y="3657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89487" name="Rectangle 15"/>
          <p:cNvSpPr>
            <a:spLocks noChangeArrowheads="1"/>
          </p:cNvSpPr>
          <p:nvPr/>
        </p:nvSpPr>
        <p:spPr bwMode="auto">
          <a:xfrm>
            <a:off x="4953000" y="3657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sp>
        <p:nvSpPr>
          <p:cNvPr id="489488" name="Rectangle 16"/>
          <p:cNvSpPr>
            <a:spLocks noChangeArrowheads="1"/>
          </p:cNvSpPr>
          <p:nvPr/>
        </p:nvSpPr>
        <p:spPr bwMode="auto">
          <a:xfrm>
            <a:off x="5410200" y="36576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E</a:t>
            </a:r>
          </a:p>
        </p:txBody>
      </p:sp>
      <p:sp>
        <p:nvSpPr>
          <p:cNvPr id="489490" name="Rectangle 18"/>
          <p:cNvSpPr>
            <a:spLocks noChangeArrowheads="1"/>
          </p:cNvSpPr>
          <p:nvPr/>
        </p:nvSpPr>
        <p:spPr bwMode="auto">
          <a:xfrm>
            <a:off x="533400" y="36576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b="0" dirty="0">
                <a:latin typeface="Courier New" pitchFamily="49" charset="0"/>
              </a:rPr>
              <a:t>0x00a: </a:t>
            </a:r>
            <a:r>
              <a:rPr lang="en-US" sz="1600" dirty="0" err="1">
                <a:latin typeface="Courier New" pitchFamily="49" charset="0"/>
              </a:rPr>
              <a:t>rmmovq</a:t>
            </a:r>
            <a:r>
              <a:rPr lang="en-US" sz="1600" dirty="0">
                <a:latin typeface="Courier New" pitchFamily="49" charset="0"/>
              </a:rPr>
              <a:t> %rax,0x1000(%</a:t>
            </a:r>
            <a:r>
              <a:rPr lang="en-US" sz="1600" dirty="0" err="1">
                <a:latin typeface="Courier New" pitchFamily="49" charset="0"/>
              </a:rPr>
              <a:t>rax</a:t>
            </a:r>
            <a:r>
              <a:rPr lang="en-US" sz="1600" dirty="0">
                <a:latin typeface="Courier New" pitchFamily="49" charset="0"/>
              </a:rPr>
              <a:t>)</a:t>
            </a:r>
          </a:p>
        </p:txBody>
      </p:sp>
      <p:sp>
        <p:nvSpPr>
          <p:cNvPr id="489491" name="Rectangle 19"/>
          <p:cNvSpPr>
            <a:spLocks noChangeArrowheads="1"/>
          </p:cNvSpPr>
          <p:nvPr/>
        </p:nvSpPr>
        <p:spPr bwMode="auto">
          <a:xfrm>
            <a:off x="533400" y="3962400"/>
            <a:ext cx="2590800" cy="3048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 b="0" dirty="0">
                <a:latin typeface="Courier New" pitchFamily="49" charset="0"/>
              </a:rPr>
              <a:t>0x014: </a:t>
            </a:r>
            <a:r>
              <a:rPr lang="en-US" sz="1600" dirty="0" err="1">
                <a:latin typeface="Courier New" pitchFamily="49" charset="0"/>
              </a:rPr>
              <a:t>addq</a:t>
            </a:r>
            <a:r>
              <a:rPr lang="en-US" sz="1600" dirty="0">
                <a:latin typeface="Courier New" pitchFamily="49" charset="0"/>
              </a:rPr>
              <a:t> %</a:t>
            </a:r>
            <a:r>
              <a:rPr lang="en-US" sz="1600" dirty="0" err="1">
                <a:latin typeface="Courier New" pitchFamily="49" charset="0"/>
              </a:rPr>
              <a:t>rax</a:t>
            </a:r>
            <a:r>
              <a:rPr lang="en-US" sz="1600" dirty="0">
                <a:latin typeface="Courier New" pitchFamily="49" charset="0"/>
              </a:rPr>
              <a:t>,%</a:t>
            </a:r>
            <a:r>
              <a:rPr lang="en-US" sz="1600" dirty="0" err="1">
                <a:latin typeface="Courier New" pitchFamily="49" charset="0"/>
              </a:rPr>
              <a:t>rax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489493" name="Rectangle 21"/>
          <p:cNvSpPr>
            <a:spLocks noChangeArrowheads="1"/>
          </p:cNvSpPr>
          <p:nvPr/>
        </p:nvSpPr>
        <p:spPr bwMode="auto">
          <a:xfrm>
            <a:off x="4953000" y="3962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F</a:t>
            </a:r>
          </a:p>
        </p:txBody>
      </p:sp>
      <p:sp>
        <p:nvSpPr>
          <p:cNvPr id="489494" name="Rectangle 22"/>
          <p:cNvSpPr>
            <a:spLocks noChangeArrowheads="1"/>
          </p:cNvSpPr>
          <p:nvPr/>
        </p:nvSpPr>
        <p:spPr bwMode="auto">
          <a:xfrm>
            <a:off x="5410200" y="3962400"/>
            <a:ext cx="457200" cy="3048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600" b="0"/>
              <a:t>D</a:t>
            </a:r>
          </a:p>
        </p:txBody>
      </p:sp>
      <p:grpSp>
        <p:nvGrpSpPr>
          <p:cNvPr id="489511" name="Group 39"/>
          <p:cNvGrpSpPr>
            <a:grpSpLocks/>
          </p:cNvGrpSpPr>
          <p:nvPr/>
        </p:nvGrpSpPr>
        <p:grpSpPr bwMode="auto">
          <a:xfrm>
            <a:off x="5867400" y="2971800"/>
            <a:ext cx="457200" cy="1295400"/>
            <a:chOff x="3696" y="1872"/>
            <a:chExt cx="288" cy="816"/>
          </a:xfrm>
        </p:grpSpPr>
        <p:sp>
          <p:nvSpPr>
            <p:cNvPr id="489497" name="Rectangle 25"/>
            <p:cNvSpPr>
              <a:spLocks noChangeArrowheads="1"/>
            </p:cNvSpPr>
            <p:nvPr/>
          </p:nvSpPr>
          <p:spPr bwMode="auto">
            <a:xfrm>
              <a:off x="3696" y="2112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89498" name="Rectangle 26"/>
            <p:cNvSpPr>
              <a:spLocks noChangeArrowheads="1"/>
            </p:cNvSpPr>
            <p:nvPr/>
          </p:nvSpPr>
          <p:spPr bwMode="auto">
            <a:xfrm>
              <a:off x="3696" y="1872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89499" name="Rectangle 27"/>
            <p:cNvSpPr>
              <a:spLocks noChangeArrowheads="1"/>
            </p:cNvSpPr>
            <p:nvPr/>
          </p:nvSpPr>
          <p:spPr bwMode="auto">
            <a:xfrm>
              <a:off x="3696" y="2304"/>
              <a:ext cx="288" cy="192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89500" name="Rectangle 28"/>
            <p:cNvSpPr>
              <a:spLocks noChangeArrowheads="1"/>
            </p:cNvSpPr>
            <p:nvPr/>
          </p:nvSpPr>
          <p:spPr bwMode="auto">
            <a:xfrm>
              <a:off x="3696" y="2496"/>
              <a:ext cx="288" cy="19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</p:grpSp>
      <p:grpSp>
        <p:nvGrpSpPr>
          <p:cNvPr id="489502" name="Group 30"/>
          <p:cNvGrpSpPr>
            <a:grpSpLocks/>
          </p:cNvGrpSpPr>
          <p:nvPr/>
        </p:nvGrpSpPr>
        <p:grpSpPr bwMode="auto">
          <a:xfrm>
            <a:off x="6248400" y="3241675"/>
            <a:ext cx="2873375" cy="492125"/>
            <a:chOff x="3936" y="2186"/>
            <a:chExt cx="1810" cy="310"/>
          </a:xfrm>
        </p:grpSpPr>
        <p:sp>
          <p:nvSpPr>
            <p:cNvPr id="489503" name="Line 31"/>
            <p:cNvSpPr>
              <a:spLocks noChangeShapeType="1"/>
            </p:cNvSpPr>
            <p:nvPr/>
          </p:nvSpPr>
          <p:spPr bwMode="auto">
            <a:xfrm flipH="1">
              <a:off x="3936" y="2304"/>
              <a:ext cx="432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89504" name="Text Box 32"/>
            <p:cNvSpPr txBox="1">
              <a:spLocks noChangeArrowheads="1"/>
            </p:cNvSpPr>
            <p:nvPr/>
          </p:nvSpPr>
          <p:spPr bwMode="auto">
            <a:xfrm>
              <a:off x="4368" y="2186"/>
              <a:ext cx="1378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20" rIns="45720">
              <a:spAutoFit/>
            </a:bodyPr>
            <a:lstStyle/>
            <a:p>
              <a:pPr algn="l"/>
              <a:r>
                <a:rPr lang="en-US"/>
                <a:t>Exception detected</a:t>
              </a:r>
            </a:p>
          </p:txBody>
        </p:sp>
      </p:grpSp>
      <p:grpSp>
        <p:nvGrpSpPr>
          <p:cNvPr id="489508" name="Group 36"/>
          <p:cNvGrpSpPr>
            <a:grpSpLocks/>
          </p:cNvGrpSpPr>
          <p:nvPr/>
        </p:nvGrpSpPr>
        <p:grpSpPr bwMode="auto">
          <a:xfrm>
            <a:off x="5105400" y="4191000"/>
            <a:ext cx="2149475" cy="949325"/>
            <a:chOff x="3216" y="2784"/>
            <a:chExt cx="1354" cy="598"/>
          </a:xfrm>
        </p:grpSpPr>
        <p:sp>
          <p:nvSpPr>
            <p:cNvPr id="489509" name="Line 37"/>
            <p:cNvSpPr>
              <a:spLocks noChangeShapeType="1"/>
            </p:cNvSpPr>
            <p:nvPr/>
          </p:nvSpPr>
          <p:spPr bwMode="auto">
            <a:xfrm rot="-5400000">
              <a:off x="3672" y="3000"/>
              <a:ext cx="43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89510" name="Text Box 38"/>
            <p:cNvSpPr txBox="1">
              <a:spLocks noChangeArrowheads="1"/>
            </p:cNvSpPr>
            <p:nvPr/>
          </p:nvSpPr>
          <p:spPr bwMode="auto">
            <a:xfrm>
              <a:off x="3216" y="3168"/>
              <a:ext cx="1354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20" rIns="45720">
              <a:spAutoFit/>
            </a:bodyPr>
            <a:lstStyle/>
            <a:p>
              <a:r>
                <a:rPr lang="en-US"/>
                <a:t>Condition code 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873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Side Effects</a:t>
            </a:r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Presence of Exception Should Disable State Update</a:t>
            </a:r>
          </a:p>
          <a:p>
            <a:pPr lvl="1"/>
            <a:r>
              <a:rPr lang="en-US" dirty="0"/>
              <a:t>Invalid instructions are converted to pipeline bubbles</a:t>
            </a:r>
          </a:p>
          <a:p>
            <a:pPr lvl="2"/>
            <a:r>
              <a:rPr lang="en-US" dirty="0"/>
              <a:t>Except have stat indicating exception status</a:t>
            </a:r>
          </a:p>
          <a:p>
            <a:pPr lvl="1"/>
            <a:r>
              <a:rPr lang="en-US" dirty="0"/>
              <a:t>Data memory will not write to invalid address</a:t>
            </a:r>
          </a:p>
          <a:p>
            <a:pPr lvl="1"/>
            <a:r>
              <a:rPr lang="en-US" dirty="0"/>
              <a:t>Prevent invalid update of condition codes</a:t>
            </a:r>
          </a:p>
          <a:p>
            <a:pPr lvl="2"/>
            <a:r>
              <a:rPr lang="en-US" dirty="0"/>
              <a:t>Detect exception in memory stage </a:t>
            </a:r>
          </a:p>
          <a:p>
            <a:pPr lvl="2"/>
            <a:r>
              <a:rPr lang="en-US" dirty="0"/>
              <a:t>Disable condition code setting in execute</a:t>
            </a:r>
          </a:p>
          <a:p>
            <a:pPr lvl="2"/>
            <a:r>
              <a:rPr lang="en-US" dirty="0"/>
              <a:t>Must happen in same clock cycle</a:t>
            </a:r>
          </a:p>
          <a:p>
            <a:pPr lvl="1"/>
            <a:r>
              <a:rPr lang="en-US" dirty="0"/>
              <a:t>Handling exception in final stages</a:t>
            </a:r>
          </a:p>
          <a:p>
            <a:pPr lvl="2"/>
            <a:r>
              <a:rPr lang="en-US" dirty="0"/>
              <a:t>When detect exception in memory stage</a:t>
            </a:r>
          </a:p>
          <a:p>
            <a:pPr lvl="3"/>
            <a:r>
              <a:rPr lang="en-US" dirty="0"/>
              <a:t>Start injecting bubbles into memory stage on next cycle</a:t>
            </a:r>
          </a:p>
          <a:p>
            <a:pPr lvl="2"/>
            <a:r>
              <a:rPr lang="en-US" dirty="0"/>
              <a:t>When detect exception in write-back stage</a:t>
            </a:r>
          </a:p>
          <a:p>
            <a:pPr lvl="3"/>
            <a:r>
              <a:rPr lang="en-US" dirty="0"/>
              <a:t>Stall excepting instruction</a:t>
            </a:r>
          </a:p>
          <a:p>
            <a:pPr lvl="1"/>
            <a:r>
              <a:rPr lang="en-US" dirty="0"/>
              <a:t>Included in HCL code</a:t>
            </a:r>
          </a:p>
        </p:txBody>
      </p:sp>
    </p:spTree>
    <p:extLst>
      <p:ext uri="{BB962C8B-B14F-4D97-AF65-F5344CB8AC3E}">
        <p14:creationId xmlns:p14="http://schemas.microsoft.com/office/powerpoint/2010/main" val="6028470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" y="247650"/>
            <a:ext cx="8704262" cy="779463"/>
          </a:xfrm>
        </p:spPr>
        <p:txBody>
          <a:bodyPr/>
          <a:lstStyle/>
          <a:p>
            <a:r>
              <a:rPr lang="en-US" dirty="0"/>
              <a:t>Control Logic for State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3" y="1219200"/>
            <a:ext cx="7170737" cy="5213350"/>
          </a:xfrm>
        </p:spPr>
        <p:txBody>
          <a:bodyPr/>
          <a:lstStyle/>
          <a:p>
            <a:r>
              <a:rPr lang="en-US" dirty="0"/>
              <a:t>Setting Condition Codes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Stage Control</a:t>
            </a:r>
          </a:p>
          <a:p>
            <a:pPr lvl="1"/>
            <a:r>
              <a:rPr lang="en-US" dirty="0"/>
              <a:t>Also controls updating of memory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66050" y="9525"/>
            <a:ext cx="1208495" cy="6765925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  <p:sp>
        <p:nvSpPr>
          <p:cNvPr id="5" name="Rectangle 4"/>
          <p:cNvSpPr/>
          <p:nvPr/>
        </p:nvSpPr>
        <p:spPr>
          <a:xfrm>
            <a:off x="298450" y="1670050"/>
            <a:ext cx="708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 Should the condition codes be updated?</a:t>
            </a:r>
          </a:p>
          <a:p>
            <a:pPr algn="l"/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set_cc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E_icode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== IOPQ &amp;&amp;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# State changes only during normal operation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!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m_stat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 { SADR, SINS, SHLT } 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&amp;&amp; !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W_stat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 { SADR, SINS, SHLT };</a:t>
            </a:r>
          </a:p>
        </p:txBody>
      </p:sp>
      <p:sp>
        <p:nvSpPr>
          <p:cNvPr id="6" name="Rectangle 5"/>
          <p:cNvSpPr/>
          <p:nvPr/>
        </p:nvSpPr>
        <p:spPr>
          <a:xfrm>
            <a:off x="298450" y="4217523"/>
            <a:ext cx="708660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 Start injecting bubbles as soon as exception passes through memory stage</a:t>
            </a:r>
          </a:p>
          <a:p>
            <a:pPr algn="l"/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M_bubble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m_stat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 { SADR, SINS, SHLT }</a:t>
            </a: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||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W_stat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 { SADR, SINS, SHLT };</a:t>
            </a:r>
          </a:p>
          <a:p>
            <a:pPr algn="l"/>
            <a:endParaRPr lang="en-US" sz="16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 Stall pipeline register W when exception encountered</a:t>
            </a:r>
          </a:p>
          <a:p>
            <a:pPr algn="l"/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W_stall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W_stat</a:t>
            </a:r>
            <a:r>
              <a:rPr lang="en-US" sz="1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in { SADR, SINS, SHLT };</a:t>
            </a:r>
          </a:p>
        </p:txBody>
      </p:sp>
    </p:spTree>
    <p:extLst>
      <p:ext uri="{BB962C8B-B14F-4D97-AF65-F5344CB8AC3E}">
        <p14:creationId xmlns:p14="http://schemas.microsoft.com/office/powerpoint/2010/main" val="2216824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of Real-Life Exception Handling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Exception Handler</a:t>
            </a:r>
          </a:p>
          <a:p>
            <a:pPr lvl="1"/>
            <a:r>
              <a:rPr lang="en-US" dirty="0"/>
              <a:t>Push PC onto stack</a:t>
            </a:r>
          </a:p>
          <a:p>
            <a:pPr lvl="2"/>
            <a:r>
              <a:rPr lang="en-US" dirty="0"/>
              <a:t>Either PC of faulting instruction or of next instruction</a:t>
            </a:r>
          </a:p>
          <a:p>
            <a:pPr lvl="2"/>
            <a:r>
              <a:rPr lang="en-US" dirty="0"/>
              <a:t>Usually pass through pipeline along with exception status</a:t>
            </a:r>
          </a:p>
          <a:p>
            <a:pPr lvl="1"/>
            <a:r>
              <a:rPr lang="en-US" dirty="0"/>
              <a:t>Jump to handler address</a:t>
            </a:r>
          </a:p>
          <a:p>
            <a:pPr lvl="2"/>
            <a:r>
              <a:rPr lang="en-US" dirty="0"/>
              <a:t>Usually fixed address</a:t>
            </a:r>
          </a:p>
          <a:p>
            <a:pPr lvl="2"/>
            <a:r>
              <a:rPr lang="en-US" dirty="0"/>
              <a:t>Defined as part of ISA</a:t>
            </a:r>
          </a:p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Haven’t tried it yet!</a:t>
            </a:r>
          </a:p>
        </p:txBody>
      </p:sp>
    </p:spTree>
    <p:extLst>
      <p:ext uri="{BB962C8B-B14F-4D97-AF65-F5344CB8AC3E}">
        <p14:creationId xmlns:p14="http://schemas.microsoft.com/office/powerpoint/2010/main" val="20803604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Metrics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Clock rate</a:t>
            </a:r>
          </a:p>
          <a:p>
            <a:pPr lvl="1"/>
            <a:r>
              <a:rPr lang="en-US" dirty="0"/>
              <a:t>Measured in Gigahertz</a:t>
            </a:r>
          </a:p>
          <a:p>
            <a:pPr lvl="1"/>
            <a:r>
              <a:rPr lang="en-US" dirty="0"/>
              <a:t>Function of stage partitioning and circuit design</a:t>
            </a:r>
          </a:p>
          <a:p>
            <a:pPr lvl="2"/>
            <a:r>
              <a:rPr lang="en-US" dirty="0"/>
              <a:t>Keep amount of work per stage small</a:t>
            </a:r>
          </a:p>
          <a:p>
            <a:r>
              <a:rPr lang="en-US" dirty="0"/>
              <a:t>Rate at which instructions executed</a:t>
            </a:r>
          </a:p>
          <a:p>
            <a:pPr lvl="1"/>
            <a:r>
              <a:rPr lang="en-US" dirty="0"/>
              <a:t>CPI: cycles per instruction</a:t>
            </a:r>
          </a:p>
          <a:p>
            <a:pPr lvl="1"/>
            <a:r>
              <a:rPr lang="en-US" dirty="0"/>
              <a:t>On average, how many clock cycles does each instruction require?</a:t>
            </a:r>
          </a:p>
          <a:p>
            <a:pPr lvl="1"/>
            <a:r>
              <a:rPr lang="en-US" dirty="0"/>
              <a:t>Function of pipeline design and benchmark programs</a:t>
            </a:r>
          </a:p>
          <a:p>
            <a:pPr lvl="2"/>
            <a:r>
              <a:rPr lang="en-US" dirty="0"/>
              <a:t>E.g., how frequently are branches </a:t>
            </a:r>
            <a:r>
              <a:rPr lang="en-US" dirty="0" err="1"/>
              <a:t>mispredicted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373305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CPI for PIPE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CPI </a:t>
            </a:r>
            <a:r>
              <a:rPr lang="en-US">
                <a:sym typeface="Symbol" pitchFamily="18" charset="2"/>
              </a:rPr>
              <a:t></a:t>
            </a:r>
            <a:r>
              <a:rPr lang="en-US"/>
              <a:t> 1.0</a:t>
            </a:r>
          </a:p>
          <a:p>
            <a:pPr lvl="1"/>
            <a:r>
              <a:rPr lang="en-US"/>
              <a:t>Fetch instruction each clock cycle</a:t>
            </a:r>
          </a:p>
          <a:p>
            <a:pPr lvl="1"/>
            <a:r>
              <a:rPr lang="en-US"/>
              <a:t>Effectively process new instruction almost every cycle</a:t>
            </a:r>
          </a:p>
          <a:p>
            <a:pPr lvl="2"/>
            <a:r>
              <a:rPr lang="en-US"/>
              <a:t>Although each individual instruction has latency of 5 cycles</a:t>
            </a:r>
          </a:p>
          <a:p>
            <a:r>
              <a:rPr lang="en-US"/>
              <a:t>CPI </a:t>
            </a:r>
            <a:r>
              <a:rPr lang="en-US" b="0">
                <a:sym typeface="Symbol" pitchFamily="18" charset="2"/>
              </a:rPr>
              <a:t>&gt;</a:t>
            </a:r>
            <a:r>
              <a:rPr lang="en-US"/>
              <a:t> 1.0</a:t>
            </a:r>
          </a:p>
          <a:p>
            <a:pPr lvl="1"/>
            <a:r>
              <a:rPr lang="en-US"/>
              <a:t>Sometimes must stall or cancel branches</a:t>
            </a:r>
          </a:p>
          <a:p>
            <a:r>
              <a:rPr lang="en-US"/>
              <a:t>Computing CPI</a:t>
            </a:r>
          </a:p>
          <a:p>
            <a:pPr lvl="1"/>
            <a:r>
              <a:rPr lang="en-US"/>
              <a:t>C clock cycles</a:t>
            </a:r>
          </a:p>
          <a:p>
            <a:pPr lvl="1"/>
            <a:r>
              <a:rPr lang="en-US"/>
              <a:t>I instructions executed to completion</a:t>
            </a:r>
          </a:p>
          <a:p>
            <a:pPr lvl="1"/>
            <a:r>
              <a:rPr lang="en-US"/>
              <a:t>B bubbles injected (C = I + B)</a:t>
            </a:r>
          </a:p>
          <a:p>
            <a:pPr lvl="1" algn="ctr">
              <a:buFont typeface="Wingdings" pitchFamily="2" charset="2"/>
              <a:buNone/>
            </a:pPr>
            <a:r>
              <a:rPr lang="en-US"/>
              <a:t>CPI   =   C/I   =   (I+B)/I   =  1.0 + B/I</a:t>
            </a:r>
          </a:p>
          <a:p>
            <a:pPr lvl="1"/>
            <a:r>
              <a:rPr lang="en-US"/>
              <a:t>Factor B/I represents average penalty due to bubbles</a:t>
            </a:r>
          </a:p>
        </p:txBody>
      </p:sp>
    </p:spTree>
    <p:extLst>
      <p:ext uri="{BB962C8B-B14F-4D97-AF65-F5344CB8AC3E}">
        <p14:creationId xmlns:p14="http://schemas.microsoft.com/office/powerpoint/2010/main" val="1710591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7042"/>
            <a:ext cx="8704262" cy="779463"/>
          </a:xfrm>
        </p:spPr>
        <p:txBody>
          <a:bodyPr/>
          <a:lstStyle/>
          <a:p>
            <a:r>
              <a:rPr lang="en-US" dirty="0"/>
              <a:t>CPI for PIPE (Cont.)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571500"/>
            <a:ext cx="8294688" cy="5213350"/>
          </a:xfrm>
        </p:spPr>
        <p:txBody>
          <a:bodyPr/>
          <a:lstStyle/>
          <a:p>
            <a:pPr marL="879475" lvl="1" indent="-381000" algn="ctr">
              <a:buFont typeface="Wingdings" pitchFamily="2" charset="2"/>
              <a:buNone/>
              <a:tabLst>
                <a:tab pos="7200900" algn="dec"/>
              </a:tabLst>
            </a:pPr>
            <a:r>
              <a:rPr lang="en-US" dirty="0"/>
              <a:t>	B/I = LP + MP + RP</a:t>
            </a:r>
          </a:p>
          <a:p>
            <a:pPr marL="879475" lvl="1" indent="-381000">
              <a:tabLst>
                <a:tab pos="7200900" algn="dec"/>
              </a:tabLst>
            </a:pPr>
            <a:r>
              <a:rPr lang="en-US" dirty="0"/>
              <a:t>LP: Penalty due to load/use hazard stalling</a:t>
            </a:r>
          </a:p>
          <a:p>
            <a:pPr marL="1249363" lvl="2" indent="-342900">
              <a:tabLst>
                <a:tab pos="7200900" algn="dec"/>
              </a:tabLst>
            </a:pPr>
            <a:r>
              <a:rPr lang="en-US" dirty="0"/>
              <a:t>Fraction of instructions that are loads	0.25</a:t>
            </a:r>
          </a:p>
          <a:p>
            <a:pPr marL="1249363" lvl="2" indent="-342900">
              <a:tabLst>
                <a:tab pos="7200900" algn="dec"/>
              </a:tabLst>
            </a:pPr>
            <a:r>
              <a:rPr lang="en-US" dirty="0"/>
              <a:t>Fraction of load instructions requiring stall	0.20</a:t>
            </a:r>
          </a:p>
          <a:p>
            <a:pPr marL="1249363" lvl="2" indent="-342900">
              <a:tabLst>
                <a:tab pos="7200900" algn="dec"/>
              </a:tabLst>
            </a:pPr>
            <a:r>
              <a:rPr lang="en-US" dirty="0"/>
              <a:t>Number of bubbles injected each time	1</a:t>
            </a:r>
          </a:p>
          <a:p>
            <a:pPr marL="1249363" lvl="2" indent="-342900">
              <a:buFont typeface="Wingdings" pitchFamily="2" charset="2"/>
              <a:buNone/>
              <a:tabLst>
                <a:tab pos="7200900" algn="dec"/>
              </a:tabLst>
            </a:pPr>
            <a:r>
              <a:rPr lang="en-US" dirty="0">
                <a:sym typeface="Symbol" pitchFamily="18" charset="2"/>
              </a:rPr>
              <a:t>	</a:t>
            </a:r>
            <a:r>
              <a:rPr lang="en-US" dirty="0"/>
              <a:t>LP = 0.25 * 0.20 * 1 = 0.05</a:t>
            </a:r>
          </a:p>
          <a:p>
            <a:pPr marL="879475" lvl="1" indent="-381000">
              <a:tabLst>
                <a:tab pos="7200900" algn="dec"/>
              </a:tabLst>
            </a:pPr>
            <a:r>
              <a:rPr lang="en-US" dirty="0"/>
              <a:t>MP: Penalty due to </a:t>
            </a:r>
            <a:r>
              <a:rPr lang="en-US" dirty="0" err="1"/>
              <a:t>mispredicted</a:t>
            </a:r>
            <a:r>
              <a:rPr lang="en-US" dirty="0"/>
              <a:t> branches</a:t>
            </a:r>
          </a:p>
          <a:p>
            <a:pPr marL="1249363" lvl="2" indent="-342900">
              <a:tabLst>
                <a:tab pos="7200900" algn="dec"/>
              </a:tabLst>
            </a:pPr>
            <a:r>
              <a:rPr lang="en-US" dirty="0"/>
              <a:t>Fraction of instructions that are cond. jumps 	0.20</a:t>
            </a:r>
          </a:p>
          <a:p>
            <a:pPr marL="1249363" lvl="2" indent="-342900">
              <a:tabLst>
                <a:tab pos="7200900" algn="dec"/>
              </a:tabLst>
            </a:pPr>
            <a:r>
              <a:rPr lang="en-US" dirty="0"/>
              <a:t>Fraction of cond. jumps </a:t>
            </a:r>
            <a:r>
              <a:rPr lang="en-US" dirty="0" err="1"/>
              <a:t>mispredicted</a:t>
            </a:r>
            <a:r>
              <a:rPr lang="en-US" dirty="0"/>
              <a:t>	0.40</a:t>
            </a:r>
          </a:p>
          <a:p>
            <a:pPr marL="1249363" lvl="2" indent="-342900">
              <a:tabLst>
                <a:tab pos="7200900" algn="dec"/>
              </a:tabLst>
            </a:pPr>
            <a:r>
              <a:rPr lang="en-US" dirty="0"/>
              <a:t>Number of bubbles injected each time 	2</a:t>
            </a:r>
          </a:p>
          <a:p>
            <a:pPr marL="1249363" lvl="2" indent="-342900">
              <a:buFont typeface="Wingdings" pitchFamily="2" charset="2"/>
              <a:buNone/>
              <a:tabLst>
                <a:tab pos="7200900" algn="dec"/>
              </a:tabLst>
            </a:pPr>
            <a:r>
              <a:rPr lang="en-US" dirty="0">
                <a:sym typeface="Symbol" pitchFamily="18" charset="2"/>
              </a:rPr>
              <a:t>	</a:t>
            </a:r>
            <a:r>
              <a:rPr lang="en-US" dirty="0"/>
              <a:t>MP = 0.20 * 0.40 * 2 = 0.16</a:t>
            </a:r>
          </a:p>
          <a:p>
            <a:pPr marL="879475" lvl="1" indent="-381000">
              <a:tabLst>
                <a:tab pos="7200900" algn="dec"/>
              </a:tabLst>
            </a:pPr>
            <a:r>
              <a:rPr lang="en-US" dirty="0"/>
              <a:t>RP: Penalty due to </a:t>
            </a:r>
            <a:r>
              <a:rPr lang="en-US" dirty="0">
                <a:latin typeface="Courier New" pitchFamily="49" charset="0"/>
              </a:rPr>
              <a:t>ret </a:t>
            </a:r>
            <a:r>
              <a:rPr lang="en-US" dirty="0"/>
              <a:t>instructions</a:t>
            </a:r>
          </a:p>
          <a:p>
            <a:pPr marL="1249363" lvl="2" indent="-342900">
              <a:tabLst>
                <a:tab pos="7200900" algn="dec"/>
              </a:tabLst>
            </a:pPr>
            <a:r>
              <a:rPr lang="en-US" dirty="0"/>
              <a:t>Fraction of instructions that are returns	0.02</a:t>
            </a:r>
          </a:p>
          <a:p>
            <a:pPr marL="1249363" lvl="2" indent="-342900">
              <a:tabLst>
                <a:tab pos="7200900" algn="dec"/>
              </a:tabLst>
            </a:pPr>
            <a:r>
              <a:rPr lang="en-US" dirty="0"/>
              <a:t>Number of bubbles injected each time 	3</a:t>
            </a:r>
          </a:p>
          <a:p>
            <a:pPr marL="1249363" lvl="2" indent="-342900">
              <a:buFont typeface="Wingdings" pitchFamily="2" charset="2"/>
              <a:buNone/>
              <a:tabLst>
                <a:tab pos="7200900" algn="dec"/>
              </a:tabLst>
            </a:pPr>
            <a:r>
              <a:rPr lang="en-US" dirty="0">
                <a:sym typeface="Symbol" pitchFamily="18" charset="2"/>
              </a:rPr>
              <a:t>	</a:t>
            </a:r>
            <a:r>
              <a:rPr lang="en-US" dirty="0"/>
              <a:t>RP = 0.02 * 3 = 0.06</a:t>
            </a:r>
          </a:p>
          <a:p>
            <a:pPr marL="879475" lvl="1" indent="-381000">
              <a:tabLst>
                <a:tab pos="7200900" algn="dec"/>
              </a:tabLst>
            </a:pPr>
            <a:r>
              <a:rPr lang="en-US" dirty="0"/>
              <a:t>Net effect of penalties 0.05 + 0.16 + 0.06 = 0.27</a:t>
            </a:r>
          </a:p>
          <a:p>
            <a:pPr marL="1249363" lvl="2" indent="-342900">
              <a:buFont typeface="Wingdings" pitchFamily="2" charset="2"/>
              <a:buNone/>
              <a:tabLst>
                <a:tab pos="7200900" algn="dec"/>
              </a:tabLst>
            </a:pPr>
            <a:r>
              <a:rPr lang="en-US" dirty="0">
                <a:sym typeface="Symbol" pitchFamily="18" charset="2"/>
              </a:rPr>
              <a:t>	</a:t>
            </a:r>
            <a:r>
              <a:rPr lang="en-US" dirty="0"/>
              <a:t>CPI = 1.27    (Not bad!)</a:t>
            </a:r>
          </a:p>
        </p:txBody>
      </p:sp>
      <p:sp>
        <p:nvSpPr>
          <p:cNvPr id="480260" name="Text Box 4"/>
          <p:cNvSpPr txBox="1">
            <a:spLocks noChangeArrowheads="1"/>
          </p:cNvSpPr>
          <p:nvPr/>
        </p:nvSpPr>
        <p:spPr bwMode="auto">
          <a:xfrm>
            <a:off x="6858000" y="679450"/>
            <a:ext cx="16795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Typical Values</a:t>
            </a:r>
          </a:p>
        </p:txBody>
      </p:sp>
    </p:spTree>
    <p:extLst>
      <p:ext uri="{BB962C8B-B14F-4D97-AF65-F5344CB8AC3E}">
        <p14:creationId xmlns:p14="http://schemas.microsoft.com/office/powerpoint/2010/main" val="165831689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Fetch Logic Revisited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1219200"/>
            <a:ext cx="3367087" cy="5213350"/>
          </a:xfrm>
        </p:spPr>
        <p:txBody>
          <a:bodyPr/>
          <a:lstStyle/>
          <a:p>
            <a:pPr marL="457200" indent="-457200"/>
            <a:r>
              <a:rPr lang="en-US"/>
              <a:t>During Fetch Cycle</a:t>
            </a:r>
          </a:p>
          <a:p>
            <a:pPr marL="758825" lvl="1" indent="-260350">
              <a:buFont typeface="Wingdings" pitchFamily="2" charset="2"/>
              <a:buAutoNum type="arabicPeriod"/>
            </a:pPr>
            <a:r>
              <a:rPr lang="en-US"/>
              <a:t>Select PC</a:t>
            </a:r>
          </a:p>
          <a:p>
            <a:pPr marL="758825" lvl="1" indent="-260350">
              <a:buFont typeface="Wingdings" pitchFamily="2" charset="2"/>
              <a:buAutoNum type="arabicPeriod"/>
            </a:pPr>
            <a:r>
              <a:rPr lang="en-US"/>
              <a:t>Read bytes from instruction memory</a:t>
            </a:r>
          </a:p>
          <a:p>
            <a:pPr marL="758825" lvl="1" indent="-260350">
              <a:buFont typeface="Wingdings" pitchFamily="2" charset="2"/>
              <a:buAutoNum type="arabicPeriod"/>
            </a:pPr>
            <a:r>
              <a:rPr lang="en-US"/>
              <a:t>Examine icode to determine instruction length</a:t>
            </a:r>
          </a:p>
          <a:p>
            <a:pPr marL="758825" lvl="1" indent="-260350">
              <a:buFont typeface="Wingdings" pitchFamily="2" charset="2"/>
              <a:buAutoNum type="arabicPeriod"/>
            </a:pPr>
            <a:r>
              <a:rPr lang="en-US"/>
              <a:t>Increment PC</a:t>
            </a:r>
          </a:p>
          <a:p>
            <a:pPr marL="457200" indent="-457200"/>
            <a:r>
              <a:rPr lang="en-US"/>
              <a:t>Timing</a:t>
            </a:r>
          </a:p>
          <a:p>
            <a:pPr marL="758825" lvl="1" indent="-260350"/>
            <a:r>
              <a:rPr lang="en-US"/>
              <a:t>Steps 2 &amp; 4 require significant amount of time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1365250"/>
            <a:ext cx="524894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994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Fetch Timing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962400"/>
            <a:ext cx="8294687" cy="2470150"/>
          </a:xfrm>
        </p:spPr>
        <p:txBody>
          <a:bodyPr/>
          <a:lstStyle/>
          <a:p>
            <a:pPr lvl="1"/>
            <a:r>
              <a:rPr lang="en-US"/>
              <a:t>Must Perform Everything in Sequence</a:t>
            </a:r>
          </a:p>
          <a:p>
            <a:pPr lvl="1"/>
            <a:r>
              <a:rPr lang="en-US"/>
              <a:t>Can’t compute incremented PC until know how much to increment it by</a:t>
            </a:r>
          </a:p>
        </p:txBody>
      </p:sp>
      <p:sp>
        <p:nvSpPr>
          <p:cNvPr id="486404" name="Line 4"/>
          <p:cNvSpPr>
            <a:spLocks noChangeShapeType="1"/>
          </p:cNvSpPr>
          <p:nvPr/>
        </p:nvSpPr>
        <p:spPr bwMode="auto">
          <a:xfrm>
            <a:off x="1295400" y="2286000"/>
            <a:ext cx="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05" name="Line 5"/>
          <p:cNvSpPr>
            <a:spLocks noChangeShapeType="1"/>
          </p:cNvSpPr>
          <p:nvPr/>
        </p:nvSpPr>
        <p:spPr bwMode="auto">
          <a:xfrm>
            <a:off x="1295400" y="243840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06" name="Text Box 6"/>
          <p:cNvSpPr txBox="1">
            <a:spLocks noChangeArrowheads="1"/>
          </p:cNvSpPr>
          <p:nvPr/>
        </p:nvSpPr>
        <p:spPr bwMode="auto">
          <a:xfrm>
            <a:off x="973138" y="1546225"/>
            <a:ext cx="1028700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Select PC</a:t>
            </a:r>
          </a:p>
        </p:txBody>
      </p:sp>
      <p:sp>
        <p:nvSpPr>
          <p:cNvPr id="486410" name="Line 10"/>
          <p:cNvSpPr>
            <a:spLocks noChangeShapeType="1"/>
          </p:cNvSpPr>
          <p:nvPr/>
        </p:nvSpPr>
        <p:spPr bwMode="auto">
          <a:xfrm>
            <a:off x="4191000" y="228600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11" name="Line 11"/>
          <p:cNvSpPr>
            <a:spLocks noChangeShapeType="1"/>
          </p:cNvSpPr>
          <p:nvPr/>
        </p:nvSpPr>
        <p:spPr bwMode="auto">
          <a:xfrm>
            <a:off x="4191000" y="243840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12" name="Line 12"/>
          <p:cNvSpPr>
            <a:spLocks noChangeShapeType="1"/>
          </p:cNvSpPr>
          <p:nvPr/>
        </p:nvSpPr>
        <p:spPr bwMode="auto">
          <a:xfrm>
            <a:off x="1752600" y="228600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16" name="Line 16"/>
          <p:cNvSpPr>
            <a:spLocks noChangeShapeType="1"/>
          </p:cNvSpPr>
          <p:nvPr/>
        </p:nvSpPr>
        <p:spPr bwMode="auto">
          <a:xfrm>
            <a:off x="1371600" y="1828800"/>
            <a:ext cx="76200" cy="533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17" name="Text Box 17"/>
          <p:cNvSpPr txBox="1">
            <a:spLocks noChangeArrowheads="1"/>
          </p:cNvSpPr>
          <p:nvPr/>
        </p:nvSpPr>
        <p:spPr bwMode="auto">
          <a:xfrm>
            <a:off x="1981200" y="2133600"/>
            <a:ext cx="1165225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Mem. Read</a:t>
            </a:r>
          </a:p>
        </p:txBody>
      </p:sp>
      <p:sp>
        <p:nvSpPr>
          <p:cNvPr id="486418" name="Text Box 18"/>
          <p:cNvSpPr txBox="1">
            <a:spLocks noChangeArrowheads="1"/>
          </p:cNvSpPr>
          <p:nvPr/>
        </p:nvSpPr>
        <p:spPr bwMode="auto">
          <a:xfrm>
            <a:off x="5257800" y="2133600"/>
            <a:ext cx="1063625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Increment</a:t>
            </a:r>
          </a:p>
        </p:txBody>
      </p:sp>
      <p:sp>
        <p:nvSpPr>
          <p:cNvPr id="486419" name="Text Box 19"/>
          <p:cNvSpPr txBox="1">
            <a:spLocks noChangeArrowheads="1"/>
          </p:cNvSpPr>
          <p:nvPr/>
        </p:nvSpPr>
        <p:spPr bwMode="auto">
          <a:xfrm>
            <a:off x="3249613" y="1447800"/>
            <a:ext cx="2413000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need_regids, need_valC</a:t>
            </a:r>
          </a:p>
        </p:txBody>
      </p:sp>
      <p:sp>
        <p:nvSpPr>
          <p:cNvPr id="486420" name="Line 20"/>
          <p:cNvSpPr>
            <a:spLocks noChangeShapeType="1"/>
          </p:cNvSpPr>
          <p:nvPr/>
        </p:nvSpPr>
        <p:spPr bwMode="auto">
          <a:xfrm>
            <a:off x="4343400" y="1752600"/>
            <a:ext cx="76200" cy="609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25" name="Line 25"/>
          <p:cNvSpPr>
            <a:spLocks noChangeShapeType="1"/>
          </p:cNvSpPr>
          <p:nvPr/>
        </p:nvSpPr>
        <p:spPr bwMode="auto">
          <a:xfrm>
            <a:off x="7086600" y="2286000"/>
            <a:ext cx="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27" name="AutoShape 27"/>
          <p:cNvSpPr>
            <a:spLocks/>
          </p:cNvSpPr>
          <p:nvPr/>
        </p:nvSpPr>
        <p:spPr bwMode="auto">
          <a:xfrm rot="-5400000">
            <a:off x="4000500" y="419100"/>
            <a:ext cx="381000" cy="5791200"/>
          </a:xfrm>
          <a:prstGeom prst="leftBrace">
            <a:avLst>
              <a:gd name="adj1" fmla="val 126667"/>
              <a:gd name="adj2" fmla="val 50000"/>
            </a:avLst>
          </a:prstGeom>
          <a:noFill/>
          <a:ln w="19050">
            <a:solidFill>
              <a:srgbClr val="008000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28" name="Text Box 28"/>
          <p:cNvSpPr txBox="1">
            <a:spLocks noChangeArrowheads="1"/>
          </p:cNvSpPr>
          <p:nvPr/>
        </p:nvSpPr>
        <p:spPr bwMode="auto">
          <a:xfrm>
            <a:off x="3451225" y="3546475"/>
            <a:ext cx="15017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1 clock cycle</a:t>
            </a:r>
          </a:p>
        </p:txBody>
      </p:sp>
      <p:sp>
        <p:nvSpPr>
          <p:cNvPr id="486430" name="Line 30"/>
          <p:cNvSpPr>
            <a:spLocks noChangeShapeType="1"/>
          </p:cNvSpPr>
          <p:nvPr/>
        </p:nvSpPr>
        <p:spPr bwMode="auto">
          <a:xfrm>
            <a:off x="4648200" y="228600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32" name="Line 32"/>
          <p:cNvSpPr>
            <a:spLocks noChangeShapeType="1"/>
          </p:cNvSpPr>
          <p:nvPr/>
        </p:nvSpPr>
        <p:spPr bwMode="auto">
          <a:xfrm>
            <a:off x="1752600" y="2438400"/>
            <a:ext cx="2438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6433" name="Line 33"/>
          <p:cNvSpPr>
            <a:spLocks noChangeShapeType="1"/>
          </p:cNvSpPr>
          <p:nvPr/>
        </p:nvSpPr>
        <p:spPr bwMode="auto">
          <a:xfrm>
            <a:off x="4648200" y="2438400"/>
            <a:ext cx="2438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768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Fast PC Increment Circuit </a:t>
            </a: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4267200" y="2971800"/>
            <a:ext cx="1676400" cy="865188"/>
          </a:xfrm>
          <a:prstGeom prst="rect">
            <a:avLst/>
          </a:prstGeom>
          <a:solidFill>
            <a:srgbClr val="99FFCC"/>
          </a:solidFill>
          <a:ln w="1905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 anchor="ctr"/>
          <a:lstStyle/>
          <a:p>
            <a:r>
              <a:rPr lang="en-US" dirty="0"/>
              <a:t>4-bit adder</a:t>
            </a:r>
          </a:p>
        </p:txBody>
      </p:sp>
      <p:sp>
        <p:nvSpPr>
          <p:cNvPr id="485381" name="Line 5"/>
          <p:cNvSpPr>
            <a:spLocks noChangeShapeType="1"/>
          </p:cNvSpPr>
          <p:nvPr/>
        </p:nvSpPr>
        <p:spPr bwMode="auto">
          <a:xfrm flipV="1">
            <a:off x="4337050" y="3810000"/>
            <a:ext cx="0" cy="1143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82" name="Line 6"/>
          <p:cNvSpPr>
            <a:spLocks noChangeShapeType="1"/>
          </p:cNvSpPr>
          <p:nvPr/>
        </p:nvSpPr>
        <p:spPr bwMode="auto">
          <a:xfrm flipV="1">
            <a:off x="4565650" y="3810000"/>
            <a:ext cx="0" cy="1143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83" name="Line 7"/>
          <p:cNvSpPr>
            <a:spLocks noChangeShapeType="1"/>
          </p:cNvSpPr>
          <p:nvPr/>
        </p:nvSpPr>
        <p:spPr bwMode="auto">
          <a:xfrm flipV="1">
            <a:off x="4794250" y="3810000"/>
            <a:ext cx="0" cy="1143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84" name="Line 8"/>
          <p:cNvSpPr>
            <a:spLocks noChangeShapeType="1"/>
          </p:cNvSpPr>
          <p:nvPr/>
        </p:nvSpPr>
        <p:spPr bwMode="auto">
          <a:xfrm flipV="1">
            <a:off x="5334000" y="3810000"/>
            <a:ext cx="0" cy="9144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85" name="Line 9"/>
          <p:cNvSpPr>
            <a:spLocks noChangeShapeType="1"/>
          </p:cNvSpPr>
          <p:nvPr/>
        </p:nvSpPr>
        <p:spPr bwMode="auto">
          <a:xfrm flipV="1">
            <a:off x="5562600" y="3810000"/>
            <a:ext cx="0" cy="6858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86" name="Line 10"/>
          <p:cNvSpPr>
            <a:spLocks noChangeShapeType="1"/>
          </p:cNvSpPr>
          <p:nvPr/>
        </p:nvSpPr>
        <p:spPr bwMode="auto">
          <a:xfrm flipV="1">
            <a:off x="5791200" y="3810000"/>
            <a:ext cx="0" cy="381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87" name="Text Box 11"/>
          <p:cNvSpPr txBox="1">
            <a:spLocks noChangeArrowheads="1"/>
          </p:cNvSpPr>
          <p:nvPr/>
        </p:nvSpPr>
        <p:spPr bwMode="auto">
          <a:xfrm>
            <a:off x="5181600" y="4724400"/>
            <a:ext cx="1128713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/>
              <a:t>need_ValC</a:t>
            </a:r>
          </a:p>
        </p:txBody>
      </p:sp>
      <p:sp>
        <p:nvSpPr>
          <p:cNvPr id="485388" name="Text Box 12"/>
          <p:cNvSpPr txBox="1">
            <a:spLocks noChangeArrowheads="1"/>
          </p:cNvSpPr>
          <p:nvPr/>
        </p:nvSpPr>
        <p:spPr bwMode="auto">
          <a:xfrm>
            <a:off x="5638800" y="4183063"/>
            <a:ext cx="1287463" cy="312737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sz="1600"/>
              <a:t>need_regids</a:t>
            </a:r>
          </a:p>
        </p:txBody>
      </p:sp>
      <p:sp>
        <p:nvSpPr>
          <p:cNvPr id="485389" name="Text Box 13"/>
          <p:cNvSpPr txBox="1">
            <a:spLocks noChangeArrowheads="1"/>
          </p:cNvSpPr>
          <p:nvPr/>
        </p:nvSpPr>
        <p:spPr bwMode="auto">
          <a:xfrm>
            <a:off x="5453063" y="4460875"/>
            <a:ext cx="2190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485390" name="Rectangle 14"/>
          <p:cNvSpPr>
            <a:spLocks noChangeArrowheads="1"/>
          </p:cNvSpPr>
          <p:nvPr/>
        </p:nvSpPr>
        <p:spPr bwMode="auto">
          <a:xfrm>
            <a:off x="2590800" y="2971800"/>
            <a:ext cx="1066800" cy="865188"/>
          </a:xfrm>
          <a:prstGeom prst="rect">
            <a:avLst/>
          </a:prstGeom>
          <a:solidFill>
            <a:srgbClr val="99FFCC"/>
          </a:solidFill>
          <a:ln w="1905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wrap="none" lIns="45720" rIns="45720" anchor="ctr"/>
          <a:lstStyle/>
          <a:p>
            <a:r>
              <a:rPr lang="en-US" dirty="0"/>
              <a:t>60-bit</a:t>
            </a:r>
          </a:p>
          <a:p>
            <a:r>
              <a:rPr lang="en-US" dirty="0" err="1"/>
              <a:t>incre</a:t>
            </a:r>
            <a:r>
              <a:rPr lang="en-US" dirty="0"/>
              <a:t>-</a:t>
            </a:r>
          </a:p>
          <a:p>
            <a:r>
              <a:rPr lang="en-US" dirty="0" err="1"/>
              <a:t>menter</a:t>
            </a:r>
            <a:endParaRPr lang="en-US" dirty="0"/>
          </a:p>
        </p:txBody>
      </p:sp>
      <p:sp>
        <p:nvSpPr>
          <p:cNvPr id="485391" name="Line 15"/>
          <p:cNvSpPr>
            <a:spLocks noChangeShapeType="1"/>
          </p:cNvSpPr>
          <p:nvPr/>
        </p:nvSpPr>
        <p:spPr bwMode="auto">
          <a:xfrm flipV="1">
            <a:off x="3124200" y="3810000"/>
            <a:ext cx="0" cy="1143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92" name="AutoShape 16"/>
          <p:cNvSpPr>
            <a:spLocks noChangeArrowheads="1"/>
          </p:cNvSpPr>
          <p:nvPr/>
        </p:nvSpPr>
        <p:spPr bwMode="auto">
          <a:xfrm>
            <a:off x="1981200" y="2209800"/>
            <a:ext cx="1371600" cy="457200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wrap="none" lIns="45720" rIns="45720" anchor="ctr"/>
          <a:lstStyle/>
          <a:p>
            <a:r>
              <a:rPr lang="en-US"/>
              <a:t>MUX</a:t>
            </a:r>
          </a:p>
        </p:txBody>
      </p:sp>
      <p:sp>
        <p:nvSpPr>
          <p:cNvPr id="485393" name="Freeform 17"/>
          <p:cNvSpPr>
            <a:spLocks/>
          </p:cNvSpPr>
          <p:nvPr/>
        </p:nvSpPr>
        <p:spPr bwMode="auto">
          <a:xfrm>
            <a:off x="2209800" y="2667000"/>
            <a:ext cx="914400" cy="1524000"/>
          </a:xfrm>
          <a:custGeom>
            <a:avLst/>
            <a:gdLst/>
            <a:ahLst/>
            <a:cxnLst>
              <a:cxn ang="0">
                <a:pos x="576" y="1008"/>
              </a:cxn>
              <a:cxn ang="0">
                <a:pos x="0" y="1008"/>
              </a:cxn>
              <a:cxn ang="0">
                <a:pos x="0" y="0"/>
              </a:cxn>
            </a:cxnLst>
            <a:rect l="0" t="0" r="r" b="b"/>
            <a:pathLst>
              <a:path w="576" h="1008">
                <a:moveTo>
                  <a:pt x="576" y="1008"/>
                </a:moveTo>
                <a:lnTo>
                  <a:pt x="0" y="1008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94" name="Line 18"/>
          <p:cNvSpPr>
            <a:spLocks noChangeShapeType="1"/>
          </p:cNvSpPr>
          <p:nvPr/>
        </p:nvSpPr>
        <p:spPr bwMode="auto">
          <a:xfrm flipV="1">
            <a:off x="3124200" y="2667000"/>
            <a:ext cx="0" cy="304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95" name="Line 19"/>
          <p:cNvSpPr>
            <a:spLocks noChangeShapeType="1"/>
          </p:cNvSpPr>
          <p:nvPr/>
        </p:nvSpPr>
        <p:spPr bwMode="auto">
          <a:xfrm>
            <a:off x="2743200" y="4953000"/>
            <a:ext cx="23622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96" name="Line 20"/>
          <p:cNvSpPr>
            <a:spLocks noChangeShapeType="1"/>
          </p:cNvSpPr>
          <p:nvPr/>
        </p:nvSpPr>
        <p:spPr bwMode="auto">
          <a:xfrm flipV="1">
            <a:off x="3962400" y="4953000"/>
            <a:ext cx="0" cy="4572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97" name="Line 21"/>
          <p:cNvSpPr>
            <a:spLocks noChangeShapeType="1"/>
          </p:cNvSpPr>
          <p:nvPr/>
        </p:nvSpPr>
        <p:spPr bwMode="auto">
          <a:xfrm flipV="1">
            <a:off x="4800600" y="1828800"/>
            <a:ext cx="0" cy="1143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98" name="Line 22"/>
          <p:cNvSpPr>
            <a:spLocks noChangeShapeType="1"/>
          </p:cNvSpPr>
          <p:nvPr/>
        </p:nvSpPr>
        <p:spPr bwMode="auto">
          <a:xfrm flipV="1">
            <a:off x="5029200" y="1828800"/>
            <a:ext cx="0" cy="1143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399" name="Line 23"/>
          <p:cNvSpPr>
            <a:spLocks noChangeShapeType="1"/>
          </p:cNvSpPr>
          <p:nvPr/>
        </p:nvSpPr>
        <p:spPr bwMode="auto">
          <a:xfrm flipV="1">
            <a:off x="5257800" y="1828800"/>
            <a:ext cx="0" cy="1143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400" name="Line 24"/>
          <p:cNvSpPr>
            <a:spLocks noChangeShapeType="1"/>
          </p:cNvSpPr>
          <p:nvPr/>
        </p:nvSpPr>
        <p:spPr bwMode="auto">
          <a:xfrm>
            <a:off x="2514600" y="1828800"/>
            <a:ext cx="28956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401" name="Line 25"/>
          <p:cNvSpPr>
            <a:spLocks noChangeShapeType="1"/>
          </p:cNvSpPr>
          <p:nvPr/>
        </p:nvSpPr>
        <p:spPr bwMode="auto">
          <a:xfrm flipV="1">
            <a:off x="4038600" y="1371600"/>
            <a:ext cx="0" cy="45720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402" name="Line 26"/>
          <p:cNvSpPr>
            <a:spLocks noChangeShapeType="1"/>
          </p:cNvSpPr>
          <p:nvPr/>
        </p:nvSpPr>
        <p:spPr bwMode="auto">
          <a:xfrm flipV="1">
            <a:off x="2667000" y="1828800"/>
            <a:ext cx="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403" name="Text Box 27"/>
          <p:cNvSpPr txBox="1">
            <a:spLocks noChangeArrowheads="1"/>
          </p:cNvSpPr>
          <p:nvPr/>
        </p:nvSpPr>
        <p:spPr bwMode="auto">
          <a:xfrm>
            <a:off x="1436261" y="4648200"/>
            <a:ext cx="1631216" cy="28982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High-order 60 bits</a:t>
            </a:r>
          </a:p>
        </p:txBody>
      </p:sp>
      <p:sp>
        <p:nvSpPr>
          <p:cNvPr id="485404" name="Text Box 28"/>
          <p:cNvSpPr txBox="1">
            <a:spLocks noChangeArrowheads="1"/>
          </p:cNvSpPr>
          <p:nvPr/>
        </p:nvSpPr>
        <p:spPr bwMode="auto">
          <a:xfrm>
            <a:off x="4232531" y="4953000"/>
            <a:ext cx="1490152" cy="28982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Low-order 4 bits</a:t>
            </a:r>
          </a:p>
        </p:txBody>
      </p:sp>
      <p:sp>
        <p:nvSpPr>
          <p:cNvPr id="485406" name="Freeform 30"/>
          <p:cNvSpPr>
            <a:spLocks/>
          </p:cNvSpPr>
          <p:nvPr/>
        </p:nvSpPr>
        <p:spPr bwMode="auto">
          <a:xfrm>
            <a:off x="3352800" y="2438400"/>
            <a:ext cx="914400" cy="990600"/>
          </a:xfrm>
          <a:custGeom>
            <a:avLst/>
            <a:gdLst/>
            <a:ahLst/>
            <a:cxnLst>
              <a:cxn ang="0">
                <a:pos x="576" y="672"/>
              </a:cxn>
              <a:cxn ang="0">
                <a:pos x="384" y="672"/>
              </a:cxn>
              <a:cxn ang="0">
                <a:pos x="384" y="0"/>
              </a:cxn>
              <a:cxn ang="0">
                <a:pos x="0" y="0"/>
              </a:cxn>
            </a:cxnLst>
            <a:rect l="0" t="0" r="r" b="b"/>
            <a:pathLst>
              <a:path w="576" h="672">
                <a:moveTo>
                  <a:pt x="576" y="672"/>
                </a:moveTo>
                <a:lnTo>
                  <a:pt x="384" y="672"/>
                </a:lnTo>
                <a:lnTo>
                  <a:pt x="384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5407" name="Text Box 31"/>
          <p:cNvSpPr txBox="1">
            <a:spLocks noChangeArrowheads="1"/>
          </p:cNvSpPr>
          <p:nvPr/>
        </p:nvSpPr>
        <p:spPr bwMode="auto">
          <a:xfrm>
            <a:off x="979061" y="1905000"/>
            <a:ext cx="1631216" cy="28982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High-order 60 bits</a:t>
            </a:r>
          </a:p>
        </p:txBody>
      </p:sp>
      <p:sp>
        <p:nvSpPr>
          <p:cNvPr id="485408" name="Text Box 32"/>
          <p:cNvSpPr txBox="1">
            <a:spLocks noChangeArrowheads="1"/>
          </p:cNvSpPr>
          <p:nvPr/>
        </p:nvSpPr>
        <p:spPr bwMode="auto">
          <a:xfrm>
            <a:off x="5326318" y="1905000"/>
            <a:ext cx="1490152" cy="28982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Low-order 4 bits</a:t>
            </a:r>
          </a:p>
        </p:txBody>
      </p:sp>
      <p:sp>
        <p:nvSpPr>
          <p:cNvPr id="485409" name="Text Box 33"/>
          <p:cNvSpPr txBox="1">
            <a:spLocks noChangeArrowheads="1"/>
          </p:cNvSpPr>
          <p:nvPr/>
        </p:nvSpPr>
        <p:spPr bwMode="auto">
          <a:xfrm>
            <a:off x="2133600" y="2438400"/>
            <a:ext cx="190500" cy="2841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40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485410" name="Text Box 34"/>
          <p:cNvSpPr txBox="1">
            <a:spLocks noChangeArrowheads="1"/>
          </p:cNvSpPr>
          <p:nvPr/>
        </p:nvSpPr>
        <p:spPr bwMode="auto">
          <a:xfrm>
            <a:off x="3009900" y="2438400"/>
            <a:ext cx="190500" cy="2841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40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485411" name="Text Box 35"/>
          <p:cNvSpPr txBox="1">
            <a:spLocks noChangeArrowheads="1"/>
          </p:cNvSpPr>
          <p:nvPr/>
        </p:nvSpPr>
        <p:spPr bwMode="auto">
          <a:xfrm>
            <a:off x="3352800" y="5410200"/>
            <a:ext cx="1219200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r>
              <a:rPr lang="en-US" sz="1600"/>
              <a:t>PC</a:t>
            </a:r>
          </a:p>
        </p:txBody>
      </p:sp>
      <p:sp>
        <p:nvSpPr>
          <p:cNvPr id="485412" name="Text Box 36"/>
          <p:cNvSpPr txBox="1">
            <a:spLocks noChangeArrowheads="1"/>
          </p:cNvSpPr>
          <p:nvPr/>
        </p:nvSpPr>
        <p:spPr bwMode="auto">
          <a:xfrm>
            <a:off x="3429000" y="1066800"/>
            <a:ext cx="1219200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r>
              <a:rPr lang="en-US" sz="1600"/>
              <a:t>incrPC</a:t>
            </a:r>
          </a:p>
        </p:txBody>
      </p:sp>
      <p:grpSp>
        <p:nvGrpSpPr>
          <p:cNvPr id="485420" name="Group 44"/>
          <p:cNvGrpSpPr>
            <a:grpSpLocks/>
          </p:cNvGrpSpPr>
          <p:nvPr/>
        </p:nvGrpSpPr>
        <p:grpSpPr bwMode="auto">
          <a:xfrm>
            <a:off x="930275" y="2819400"/>
            <a:ext cx="6232525" cy="1143000"/>
            <a:chOff x="586" y="1776"/>
            <a:chExt cx="3926" cy="720"/>
          </a:xfrm>
        </p:grpSpPr>
        <p:grpSp>
          <p:nvGrpSpPr>
            <p:cNvPr id="485415" name="Group 39"/>
            <p:cNvGrpSpPr>
              <a:grpSpLocks/>
            </p:cNvGrpSpPr>
            <p:nvPr/>
          </p:nvGrpSpPr>
          <p:grpSpPr bwMode="auto">
            <a:xfrm>
              <a:off x="586" y="1776"/>
              <a:ext cx="614" cy="720"/>
              <a:chOff x="586" y="1824"/>
              <a:chExt cx="614" cy="720"/>
            </a:xfrm>
          </p:grpSpPr>
          <p:sp>
            <p:nvSpPr>
              <p:cNvPr id="485413" name="AutoShape 37"/>
              <p:cNvSpPr>
                <a:spLocks/>
              </p:cNvSpPr>
              <p:nvPr/>
            </p:nvSpPr>
            <p:spPr bwMode="auto">
              <a:xfrm>
                <a:off x="1104" y="1824"/>
                <a:ext cx="96" cy="720"/>
              </a:xfrm>
              <a:prstGeom prst="leftBrace">
                <a:avLst>
                  <a:gd name="adj1" fmla="val 62500"/>
                  <a:gd name="adj2" fmla="val 50000"/>
                </a:avLst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ffectLst/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85414" name="Text Box 38"/>
              <p:cNvSpPr txBox="1">
                <a:spLocks noChangeArrowheads="1"/>
              </p:cNvSpPr>
              <p:nvPr/>
            </p:nvSpPr>
            <p:spPr bwMode="auto">
              <a:xfrm>
                <a:off x="586" y="2112"/>
                <a:ext cx="470" cy="179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>
                <a:spAutoFit/>
              </a:bodyPr>
              <a:lstStyle/>
              <a:p>
                <a:pPr algn="r"/>
                <a:r>
                  <a:rPr lang="en-US" sz="1400">
                    <a:solidFill>
                      <a:srgbClr val="FF3300"/>
                    </a:solidFill>
                  </a:rPr>
                  <a:t>Slow</a:t>
                </a:r>
              </a:p>
            </p:txBody>
          </p:sp>
        </p:grpSp>
        <p:grpSp>
          <p:nvGrpSpPr>
            <p:cNvPr id="485419" name="Group 43"/>
            <p:cNvGrpSpPr>
              <a:grpSpLocks/>
            </p:cNvGrpSpPr>
            <p:nvPr/>
          </p:nvGrpSpPr>
          <p:grpSpPr bwMode="auto">
            <a:xfrm>
              <a:off x="3936" y="1776"/>
              <a:ext cx="576" cy="720"/>
              <a:chOff x="3974" y="1728"/>
              <a:chExt cx="576" cy="720"/>
            </a:xfrm>
          </p:grpSpPr>
          <p:sp>
            <p:nvSpPr>
              <p:cNvPr id="485417" name="AutoShape 41"/>
              <p:cNvSpPr>
                <a:spLocks/>
              </p:cNvSpPr>
              <p:nvPr/>
            </p:nvSpPr>
            <p:spPr bwMode="auto">
              <a:xfrm flipH="1">
                <a:off x="3974" y="1728"/>
                <a:ext cx="96" cy="720"/>
              </a:xfrm>
              <a:prstGeom prst="leftBrace">
                <a:avLst>
                  <a:gd name="adj1" fmla="val 62500"/>
                  <a:gd name="adj2" fmla="val 50000"/>
                </a:avLst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ffectLst/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85418" name="Text Box 42"/>
              <p:cNvSpPr txBox="1">
                <a:spLocks noChangeArrowheads="1"/>
              </p:cNvSpPr>
              <p:nvPr/>
            </p:nvSpPr>
            <p:spPr bwMode="auto">
              <a:xfrm>
                <a:off x="4080" y="2016"/>
                <a:ext cx="470" cy="179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>
                <a:spAutoFit/>
              </a:bodyPr>
              <a:lstStyle/>
              <a:p>
                <a:pPr algn="l"/>
                <a:r>
                  <a:rPr lang="en-US" sz="1400">
                    <a:solidFill>
                      <a:srgbClr val="FF3300"/>
                    </a:solidFill>
                  </a:rPr>
                  <a:t>Fast</a:t>
                </a:r>
              </a:p>
            </p:txBody>
          </p:sp>
        </p:grpSp>
      </p:grpSp>
      <p:sp>
        <p:nvSpPr>
          <p:cNvPr id="485421" name="Text Box 45"/>
          <p:cNvSpPr txBox="1">
            <a:spLocks noChangeArrowheads="1"/>
          </p:cNvSpPr>
          <p:nvPr/>
        </p:nvSpPr>
        <p:spPr bwMode="auto">
          <a:xfrm>
            <a:off x="3665538" y="2133600"/>
            <a:ext cx="525462" cy="2841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400">
                <a:solidFill>
                  <a:schemeClr val="accent1"/>
                </a:solidFill>
              </a:rPr>
              <a:t>carry</a:t>
            </a:r>
          </a:p>
        </p:txBody>
      </p:sp>
      <p:sp>
        <p:nvSpPr>
          <p:cNvPr id="43" name="Line 21"/>
          <p:cNvSpPr>
            <a:spLocks noChangeShapeType="1"/>
          </p:cNvSpPr>
          <p:nvPr/>
        </p:nvSpPr>
        <p:spPr bwMode="auto">
          <a:xfrm flipV="1">
            <a:off x="4565650" y="1822450"/>
            <a:ext cx="0" cy="1143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4" name="Line 21"/>
          <p:cNvSpPr>
            <a:spLocks noChangeShapeType="1"/>
          </p:cNvSpPr>
          <p:nvPr/>
        </p:nvSpPr>
        <p:spPr bwMode="auto">
          <a:xfrm flipV="1">
            <a:off x="5016500" y="3803650"/>
            <a:ext cx="0" cy="1143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7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228600"/>
            <a:ext cx="8704262" cy="779463"/>
          </a:xfrm>
        </p:spPr>
        <p:txBody>
          <a:bodyPr/>
          <a:lstStyle/>
          <a:p>
            <a:r>
              <a:rPr lang="en-US"/>
              <a:t>Modified Fetch Timing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962400"/>
            <a:ext cx="8294687" cy="2470150"/>
          </a:xfrm>
        </p:spPr>
        <p:txBody>
          <a:bodyPr/>
          <a:lstStyle/>
          <a:p>
            <a:r>
              <a:rPr lang="en-US" dirty="0"/>
              <a:t>60-Bit </a:t>
            </a:r>
            <a:r>
              <a:rPr lang="en-US" dirty="0" err="1"/>
              <a:t>Incrementer</a:t>
            </a:r>
            <a:endParaRPr lang="en-US" dirty="0"/>
          </a:p>
          <a:p>
            <a:pPr lvl="1"/>
            <a:r>
              <a:rPr lang="en-US" dirty="0"/>
              <a:t>Acts as soon as PC selected</a:t>
            </a:r>
          </a:p>
          <a:p>
            <a:pPr lvl="1"/>
            <a:r>
              <a:rPr lang="en-US" dirty="0"/>
              <a:t>Output not needed until final MUX</a:t>
            </a:r>
          </a:p>
          <a:p>
            <a:pPr lvl="1"/>
            <a:r>
              <a:rPr lang="en-US" dirty="0"/>
              <a:t>Works in parallel with memory read</a:t>
            </a:r>
          </a:p>
          <a:p>
            <a:pPr lvl="1"/>
            <a:endParaRPr lang="en-US" dirty="0"/>
          </a:p>
        </p:txBody>
      </p:sp>
      <p:sp>
        <p:nvSpPr>
          <p:cNvPr id="488452" name="Line 4"/>
          <p:cNvSpPr>
            <a:spLocks noChangeShapeType="1"/>
          </p:cNvSpPr>
          <p:nvPr/>
        </p:nvSpPr>
        <p:spPr bwMode="auto">
          <a:xfrm>
            <a:off x="1295400" y="2286000"/>
            <a:ext cx="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53" name="Line 5"/>
          <p:cNvSpPr>
            <a:spLocks noChangeShapeType="1"/>
          </p:cNvSpPr>
          <p:nvPr/>
        </p:nvSpPr>
        <p:spPr bwMode="auto">
          <a:xfrm>
            <a:off x="1295400" y="243840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54" name="Text Box 6"/>
          <p:cNvSpPr txBox="1">
            <a:spLocks noChangeArrowheads="1"/>
          </p:cNvSpPr>
          <p:nvPr/>
        </p:nvSpPr>
        <p:spPr bwMode="auto">
          <a:xfrm>
            <a:off x="973138" y="1546225"/>
            <a:ext cx="1028700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Select PC</a:t>
            </a:r>
          </a:p>
        </p:txBody>
      </p:sp>
      <p:sp>
        <p:nvSpPr>
          <p:cNvPr id="488455" name="Line 7"/>
          <p:cNvSpPr>
            <a:spLocks noChangeShapeType="1"/>
          </p:cNvSpPr>
          <p:nvPr/>
        </p:nvSpPr>
        <p:spPr bwMode="auto">
          <a:xfrm rot="-5400000">
            <a:off x="1447800" y="2438400"/>
            <a:ext cx="6096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56" name="Line 8"/>
          <p:cNvSpPr>
            <a:spLocks noChangeShapeType="1"/>
          </p:cNvSpPr>
          <p:nvPr/>
        </p:nvSpPr>
        <p:spPr bwMode="auto">
          <a:xfrm>
            <a:off x="1752600" y="2209800"/>
            <a:ext cx="2438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57" name="Line 9"/>
          <p:cNvSpPr>
            <a:spLocks noChangeShapeType="1"/>
          </p:cNvSpPr>
          <p:nvPr/>
        </p:nvSpPr>
        <p:spPr bwMode="auto">
          <a:xfrm>
            <a:off x="1752600" y="2590800"/>
            <a:ext cx="2438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58" name="Line 10"/>
          <p:cNvSpPr>
            <a:spLocks noChangeShapeType="1"/>
          </p:cNvSpPr>
          <p:nvPr/>
        </p:nvSpPr>
        <p:spPr bwMode="auto">
          <a:xfrm>
            <a:off x="4191000" y="205740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59" name="Line 11"/>
          <p:cNvSpPr>
            <a:spLocks noChangeShapeType="1"/>
          </p:cNvSpPr>
          <p:nvPr/>
        </p:nvSpPr>
        <p:spPr bwMode="auto">
          <a:xfrm>
            <a:off x="4191000" y="220980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60" name="Line 12"/>
          <p:cNvSpPr>
            <a:spLocks noChangeShapeType="1"/>
          </p:cNvSpPr>
          <p:nvPr/>
        </p:nvSpPr>
        <p:spPr bwMode="auto">
          <a:xfrm>
            <a:off x="4648200" y="2057400"/>
            <a:ext cx="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61" name="Line 13"/>
          <p:cNvSpPr>
            <a:spLocks noChangeShapeType="1"/>
          </p:cNvSpPr>
          <p:nvPr/>
        </p:nvSpPr>
        <p:spPr bwMode="auto">
          <a:xfrm>
            <a:off x="4648200" y="220980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62" name="Line 14"/>
          <p:cNvSpPr>
            <a:spLocks noChangeShapeType="1"/>
          </p:cNvSpPr>
          <p:nvPr/>
        </p:nvSpPr>
        <p:spPr bwMode="auto">
          <a:xfrm>
            <a:off x="5105400" y="2057400"/>
            <a:ext cx="0" cy="685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63" name="Line 15"/>
          <p:cNvSpPr>
            <a:spLocks noChangeShapeType="1"/>
          </p:cNvSpPr>
          <p:nvPr/>
        </p:nvSpPr>
        <p:spPr bwMode="auto">
          <a:xfrm>
            <a:off x="5105400" y="2416175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64" name="Line 16"/>
          <p:cNvSpPr>
            <a:spLocks noChangeShapeType="1"/>
          </p:cNvSpPr>
          <p:nvPr/>
        </p:nvSpPr>
        <p:spPr bwMode="auto">
          <a:xfrm>
            <a:off x="1371600" y="1828800"/>
            <a:ext cx="76200" cy="533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65" name="Text Box 17"/>
          <p:cNvSpPr txBox="1">
            <a:spLocks noChangeArrowheads="1"/>
          </p:cNvSpPr>
          <p:nvPr/>
        </p:nvSpPr>
        <p:spPr bwMode="auto">
          <a:xfrm>
            <a:off x="2447925" y="1927225"/>
            <a:ext cx="1165225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Mem. Read</a:t>
            </a:r>
          </a:p>
        </p:txBody>
      </p:sp>
      <p:sp>
        <p:nvSpPr>
          <p:cNvPr id="488466" name="Text Box 18"/>
          <p:cNvSpPr txBox="1">
            <a:spLocks noChangeArrowheads="1"/>
          </p:cNvSpPr>
          <p:nvPr/>
        </p:nvSpPr>
        <p:spPr bwMode="auto">
          <a:xfrm>
            <a:off x="2401888" y="2595563"/>
            <a:ext cx="1255712" cy="312737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Incrementer</a:t>
            </a:r>
          </a:p>
        </p:txBody>
      </p:sp>
      <p:sp>
        <p:nvSpPr>
          <p:cNvPr id="488467" name="Text Box 19"/>
          <p:cNvSpPr txBox="1">
            <a:spLocks noChangeArrowheads="1"/>
          </p:cNvSpPr>
          <p:nvPr/>
        </p:nvSpPr>
        <p:spPr bwMode="auto">
          <a:xfrm>
            <a:off x="3249613" y="1219200"/>
            <a:ext cx="2413000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need_regids, need_valC</a:t>
            </a:r>
          </a:p>
        </p:txBody>
      </p:sp>
      <p:sp>
        <p:nvSpPr>
          <p:cNvPr id="488468" name="Line 20"/>
          <p:cNvSpPr>
            <a:spLocks noChangeShapeType="1"/>
          </p:cNvSpPr>
          <p:nvPr/>
        </p:nvSpPr>
        <p:spPr bwMode="auto">
          <a:xfrm>
            <a:off x="4343400" y="1524000"/>
            <a:ext cx="76200" cy="609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69" name="Text Box 21"/>
          <p:cNvSpPr txBox="1">
            <a:spLocks noChangeArrowheads="1"/>
          </p:cNvSpPr>
          <p:nvPr/>
        </p:nvSpPr>
        <p:spPr bwMode="auto">
          <a:xfrm>
            <a:off x="4444458" y="1447800"/>
            <a:ext cx="947235" cy="318036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 dirty="0"/>
              <a:t>4-bit add</a:t>
            </a:r>
          </a:p>
        </p:txBody>
      </p:sp>
      <p:sp>
        <p:nvSpPr>
          <p:cNvPr id="488470" name="Line 22"/>
          <p:cNvSpPr>
            <a:spLocks noChangeShapeType="1"/>
          </p:cNvSpPr>
          <p:nvPr/>
        </p:nvSpPr>
        <p:spPr bwMode="auto">
          <a:xfrm>
            <a:off x="4800600" y="1676400"/>
            <a:ext cx="76200" cy="533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71" name="Text Box 23"/>
          <p:cNvSpPr txBox="1">
            <a:spLocks noChangeArrowheads="1"/>
          </p:cNvSpPr>
          <p:nvPr/>
        </p:nvSpPr>
        <p:spPr bwMode="auto">
          <a:xfrm>
            <a:off x="5095875" y="1981200"/>
            <a:ext cx="542925" cy="312738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sz="1600"/>
              <a:t>MUX</a:t>
            </a:r>
          </a:p>
        </p:txBody>
      </p:sp>
      <p:sp>
        <p:nvSpPr>
          <p:cNvPr id="488472" name="Line 24"/>
          <p:cNvSpPr>
            <a:spLocks noChangeShapeType="1"/>
          </p:cNvSpPr>
          <p:nvPr/>
        </p:nvSpPr>
        <p:spPr bwMode="auto">
          <a:xfrm>
            <a:off x="5334000" y="2263775"/>
            <a:ext cx="0" cy="152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73" name="Line 25"/>
          <p:cNvSpPr>
            <a:spLocks noChangeShapeType="1"/>
          </p:cNvSpPr>
          <p:nvPr/>
        </p:nvSpPr>
        <p:spPr bwMode="auto">
          <a:xfrm>
            <a:off x="5562600" y="2286000"/>
            <a:ext cx="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74" name="AutoShape 26"/>
          <p:cNvSpPr>
            <a:spLocks/>
          </p:cNvSpPr>
          <p:nvPr/>
        </p:nvSpPr>
        <p:spPr bwMode="auto">
          <a:xfrm rot="-5400000">
            <a:off x="3276600" y="1143000"/>
            <a:ext cx="304800" cy="4267200"/>
          </a:xfrm>
          <a:prstGeom prst="leftBrace">
            <a:avLst>
              <a:gd name="adj1" fmla="val 116667"/>
              <a:gd name="adj2" fmla="val 50000"/>
            </a:avLst>
          </a:prstGeom>
          <a:noFill/>
          <a:ln w="19050">
            <a:solidFill>
              <a:srgbClr val="008000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75" name="Text Box 27"/>
          <p:cNvSpPr txBox="1">
            <a:spLocks noChangeArrowheads="1"/>
          </p:cNvSpPr>
          <p:nvPr/>
        </p:nvSpPr>
        <p:spPr bwMode="auto">
          <a:xfrm>
            <a:off x="2667000" y="3505200"/>
            <a:ext cx="15017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1 clock cycle</a:t>
            </a:r>
          </a:p>
        </p:txBody>
      </p:sp>
      <p:sp>
        <p:nvSpPr>
          <p:cNvPr id="488476" name="Line 28"/>
          <p:cNvSpPr>
            <a:spLocks noChangeShapeType="1"/>
          </p:cNvSpPr>
          <p:nvPr/>
        </p:nvSpPr>
        <p:spPr bwMode="auto">
          <a:xfrm>
            <a:off x="4191000" y="2590800"/>
            <a:ext cx="914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77" name="Line 29"/>
          <p:cNvSpPr>
            <a:spLocks noChangeShapeType="1"/>
          </p:cNvSpPr>
          <p:nvPr/>
        </p:nvSpPr>
        <p:spPr bwMode="auto">
          <a:xfrm>
            <a:off x="7086600" y="2286000"/>
            <a:ext cx="0" cy="762000"/>
          </a:xfrm>
          <a:prstGeom prst="line">
            <a:avLst/>
          </a:prstGeom>
          <a:noFill/>
          <a:ln w="19050">
            <a:solidFill>
              <a:srgbClr val="B2B2B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488478" name="Text Box 30"/>
          <p:cNvSpPr txBox="1">
            <a:spLocks noChangeArrowheads="1"/>
          </p:cNvSpPr>
          <p:nvPr/>
        </p:nvSpPr>
        <p:spPr bwMode="auto">
          <a:xfrm>
            <a:off x="6216650" y="3048000"/>
            <a:ext cx="17176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Standard cycle</a:t>
            </a:r>
          </a:p>
        </p:txBody>
      </p:sp>
    </p:spTree>
    <p:extLst>
      <p:ext uri="{BB962C8B-B14F-4D97-AF65-F5344CB8AC3E}">
        <p14:creationId xmlns:p14="http://schemas.microsoft.com/office/powerpoint/2010/main" val="7932464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0"/>
            <a:ext cx="8704262" cy="779463"/>
          </a:xfrm>
        </p:spPr>
        <p:txBody>
          <a:bodyPr/>
          <a:lstStyle/>
          <a:p>
            <a:r>
              <a:rPr lang="en-US"/>
              <a:t>More Realistic Fetch Logic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810000"/>
            <a:ext cx="8294687" cy="2622550"/>
          </a:xfrm>
        </p:spPr>
        <p:txBody>
          <a:bodyPr/>
          <a:lstStyle/>
          <a:p>
            <a:r>
              <a:rPr lang="en-US" dirty="0"/>
              <a:t>Fetch Box</a:t>
            </a:r>
          </a:p>
          <a:p>
            <a:pPr lvl="1"/>
            <a:r>
              <a:rPr lang="en-US" dirty="0"/>
              <a:t>Integrated into instruction cache</a:t>
            </a:r>
          </a:p>
          <a:p>
            <a:pPr lvl="1"/>
            <a:r>
              <a:rPr lang="en-US" dirty="0"/>
              <a:t>Fetches entire cache block (16 or 32 bytes)</a:t>
            </a:r>
          </a:p>
          <a:p>
            <a:pPr lvl="1"/>
            <a:r>
              <a:rPr lang="en-US" dirty="0"/>
              <a:t>Selects current instruction from current block</a:t>
            </a:r>
          </a:p>
          <a:p>
            <a:pPr lvl="1"/>
            <a:r>
              <a:rPr lang="en-US" dirty="0"/>
              <a:t>Works ahead to fetch next block</a:t>
            </a:r>
          </a:p>
          <a:p>
            <a:pPr lvl="2"/>
            <a:r>
              <a:rPr lang="en-US" dirty="0"/>
              <a:t>As reaches end of current block</a:t>
            </a:r>
          </a:p>
          <a:p>
            <a:pPr lvl="2"/>
            <a:r>
              <a:rPr lang="en-US" dirty="0"/>
              <a:t>At branch target</a:t>
            </a:r>
          </a:p>
        </p:txBody>
      </p:sp>
      <p:pic>
        <p:nvPicPr>
          <p:cNvPr id="4812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7650" y="831850"/>
            <a:ext cx="6651625" cy="2925763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sm"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5861050" y="1822450"/>
            <a:ext cx="83470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b="0" dirty="0"/>
              <a:t>Bytes 1-9</a:t>
            </a:r>
          </a:p>
        </p:txBody>
      </p:sp>
    </p:spTree>
    <p:extLst>
      <p:ext uri="{BB962C8B-B14F-4D97-AF65-F5344CB8AC3E}">
        <p14:creationId xmlns:p14="http://schemas.microsoft.com/office/powerpoint/2010/main" val="5137642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34963"/>
            <a:ext cx="7543800" cy="571500"/>
          </a:xfrm>
        </p:spPr>
        <p:txBody>
          <a:bodyPr/>
          <a:lstStyle/>
          <a:p>
            <a:r>
              <a:rPr lang="en-US"/>
              <a:t>Modern CPU Design</a:t>
            </a:r>
          </a:p>
        </p:txBody>
      </p:sp>
      <p:pic>
        <p:nvPicPr>
          <p:cNvPr id="494647" name="Picture 5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143000"/>
            <a:ext cx="5589588" cy="5162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5105182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6289675" cy="571500"/>
          </a:xfrm>
        </p:spPr>
        <p:txBody>
          <a:bodyPr/>
          <a:lstStyle/>
          <a:p>
            <a:r>
              <a:rPr lang="en-US"/>
              <a:t>Instruction Control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>
          <a:xfrm>
            <a:off x="290513" y="3028950"/>
            <a:ext cx="8294687" cy="3403600"/>
          </a:xfrm>
        </p:spPr>
        <p:txBody>
          <a:bodyPr/>
          <a:lstStyle/>
          <a:p>
            <a:r>
              <a:rPr lang="en-US" sz="2000"/>
              <a:t>Grabs Instruction Bytes From Memory</a:t>
            </a:r>
          </a:p>
          <a:p>
            <a:pPr lvl="1"/>
            <a:r>
              <a:rPr lang="en-US" sz="1800"/>
              <a:t>Based on Current PC + Predicted Targets for Predicted Branches</a:t>
            </a:r>
          </a:p>
          <a:p>
            <a:pPr lvl="1"/>
            <a:r>
              <a:rPr lang="en-US" sz="1800"/>
              <a:t>Hardware dynamically guesses whether branches taken/not taken and (possibly) branch target</a:t>
            </a:r>
          </a:p>
          <a:p>
            <a:r>
              <a:rPr lang="en-US" sz="2000"/>
              <a:t>Translates Instructions Into </a:t>
            </a:r>
            <a:r>
              <a:rPr lang="en-US" sz="2000" i="1"/>
              <a:t>Operations</a:t>
            </a:r>
          </a:p>
          <a:p>
            <a:pPr lvl="1"/>
            <a:r>
              <a:rPr lang="en-US" sz="1800"/>
              <a:t>Primitive steps required to perform instruction</a:t>
            </a:r>
          </a:p>
          <a:p>
            <a:pPr lvl="1"/>
            <a:r>
              <a:rPr lang="en-US" sz="1800"/>
              <a:t>Typical instruction requires 1–3 operations</a:t>
            </a:r>
          </a:p>
          <a:p>
            <a:r>
              <a:rPr lang="en-US" sz="2000"/>
              <a:t>Converts Register References Into </a:t>
            </a:r>
            <a:r>
              <a:rPr lang="en-US" sz="2000" i="1"/>
              <a:t>Tags</a:t>
            </a:r>
          </a:p>
          <a:p>
            <a:pPr lvl="1"/>
            <a:r>
              <a:rPr lang="en-US" sz="1800"/>
              <a:t>Abstract identifier linking destination of one operation with sources of later operations</a:t>
            </a:r>
          </a:p>
        </p:txBody>
      </p:sp>
      <p:pic>
        <p:nvPicPr>
          <p:cNvPr id="496659" name="Picture 1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914400"/>
            <a:ext cx="5010150" cy="2232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002671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</a:t>
            </a:r>
            <a:br>
              <a:rPr lang="en-US"/>
            </a:br>
            <a:r>
              <a:rPr lang="en-US"/>
              <a:t>Unit</a:t>
            </a:r>
          </a:p>
        </p:txBody>
      </p:sp>
      <p:sp>
        <p:nvSpPr>
          <p:cNvPr id="497917" name="Rectangle 253"/>
          <p:cNvSpPr>
            <a:spLocks noGrp="1" noChangeArrowheads="1"/>
          </p:cNvSpPr>
          <p:nvPr>
            <p:ph idx="1"/>
          </p:nvPr>
        </p:nvSpPr>
        <p:spPr>
          <a:xfrm>
            <a:off x="290513" y="3810000"/>
            <a:ext cx="8294687" cy="2622550"/>
          </a:xfrm>
        </p:spPr>
        <p:txBody>
          <a:bodyPr/>
          <a:lstStyle/>
          <a:p>
            <a:pPr lvl="1"/>
            <a:r>
              <a:rPr lang="en-US"/>
              <a:t>Multiple functional units</a:t>
            </a:r>
          </a:p>
          <a:p>
            <a:pPr lvl="2"/>
            <a:r>
              <a:rPr lang="en-US"/>
              <a:t>Each can operate in independently</a:t>
            </a:r>
          </a:p>
          <a:p>
            <a:pPr lvl="1"/>
            <a:r>
              <a:rPr lang="en-US"/>
              <a:t>Operations performed as soon as operands available</a:t>
            </a:r>
          </a:p>
          <a:p>
            <a:pPr lvl="2"/>
            <a:r>
              <a:rPr lang="en-US"/>
              <a:t>Not necessarily in program order</a:t>
            </a:r>
          </a:p>
          <a:p>
            <a:pPr lvl="2"/>
            <a:r>
              <a:rPr lang="en-US"/>
              <a:t>Within limits of functional units</a:t>
            </a:r>
          </a:p>
          <a:p>
            <a:pPr lvl="1"/>
            <a:r>
              <a:rPr lang="en-US"/>
              <a:t>Control logic</a:t>
            </a:r>
          </a:p>
          <a:p>
            <a:pPr lvl="2"/>
            <a:r>
              <a:rPr lang="en-US"/>
              <a:t>Ensures behavior equivalent to sequential program execution</a:t>
            </a:r>
          </a:p>
        </p:txBody>
      </p:sp>
      <p:grpSp>
        <p:nvGrpSpPr>
          <p:cNvPr id="497916" name="Group 252"/>
          <p:cNvGrpSpPr>
            <a:grpSpLocks/>
          </p:cNvGrpSpPr>
          <p:nvPr/>
        </p:nvGrpSpPr>
        <p:grpSpPr bwMode="auto">
          <a:xfrm>
            <a:off x="3048000" y="304800"/>
            <a:ext cx="5653088" cy="3397250"/>
            <a:chOff x="1056" y="1824"/>
            <a:chExt cx="3561" cy="2140"/>
          </a:xfrm>
        </p:grpSpPr>
        <p:sp>
          <p:nvSpPr>
            <p:cNvPr id="497668" name="Rectangle 4"/>
            <p:cNvSpPr>
              <a:spLocks noChangeArrowheads="1"/>
            </p:cNvSpPr>
            <p:nvPr/>
          </p:nvSpPr>
          <p:spPr bwMode="auto">
            <a:xfrm>
              <a:off x="2743" y="3761"/>
              <a:ext cx="632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>
                  <a:solidFill>
                    <a:srgbClr val="919191"/>
                  </a:solidFill>
                  <a:latin typeface="Arial" charset="0"/>
                </a:rPr>
                <a:t>Execution</a:t>
              </a:r>
              <a:endParaRPr lang="en-US"/>
            </a:p>
          </p:txBody>
        </p:sp>
        <p:sp>
          <p:nvSpPr>
            <p:cNvPr id="497669" name="Rectangle 5"/>
            <p:cNvSpPr>
              <a:spLocks noChangeArrowheads="1"/>
            </p:cNvSpPr>
            <p:nvPr/>
          </p:nvSpPr>
          <p:spPr bwMode="auto">
            <a:xfrm>
              <a:off x="1437" y="2128"/>
              <a:ext cx="3180" cy="1836"/>
            </a:xfrm>
            <a:prstGeom prst="rect">
              <a:avLst/>
            </a:prstGeom>
            <a:solidFill>
              <a:srgbClr val="91919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70" name="Rectangle 6"/>
            <p:cNvSpPr>
              <a:spLocks noChangeArrowheads="1"/>
            </p:cNvSpPr>
            <p:nvPr/>
          </p:nvSpPr>
          <p:spPr bwMode="auto">
            <a:xfrm>
              <a:off x="1427" y="2118"/>
              <a:ext cx="3169" cy="18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71" name="Rectangle 7"/>
            <p:cNvSpPr>
              <a:spLocks noChangeArrowheads="1"/>
            </p:cNvSpPr>
            <p:nvPr/>
          </p:nvSpPr>
          <p:spPr bwMode="auto">
            <a:xfrm>
              <a:off x="2528" y="3744"/>
              <a:ext cx="632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>
                  <a:solidFill>
                    <a:srgbClr val="000000"/>
                  </a:solidFill>
                  <a:latin typeface="Arial" charset="0"/>
                </a:rPr>
                <a:t>Execution</a:t>
              </a:r>
              <a:endParaRPr lang="en-US"/>
            </a:p>
          </p:txBody>
        </p:sp>
        <p:sp>
          <p:nvSpPr>
            <p:cNvPr id="497672" name="Rectangle 8"/>
            <p:cNvSpPr>
              <a:spLocks noChangeArrowheads="1"/>
            </p:cNvSpPr>
            <p:nvPr/>
          </p:nvSpPr>
          <p:spPr bwMode="auto">
            <a:xfrm>
              <a:off x="1715" y="2358"/>
              <a:ext cx="2833" cy="529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73" name="Rectangle 9"/>
            <p:cNvSpPr>
              <a:spLocks noChangeArrowheads="1"/>
            </p:cNvSpPr>
            <p:nvPr/>
          </p:nvSpPr>
          <p:spPr bwMode="auto">
            <a:xfrm>
              <a:off x="4066" y="2515"/>
              <a:ext cx="441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  <a:latin typeface="Arial" charset="0"/>
                </a:rPr>
                <a:t>Functional</a:t>
              </a:r>
              <a:endParaRPr lang="en-US"/>
            </a:p>
          </p:txBody>
        </p:sp>
        <p:sp>
          <p:nvSpPr>
            <p:cNvPr id="497674" name="Rectangle 10"/>
            <p:cNvSpPr>
              <a:spLocks noChangeArrowheads="1"/>
            </p:cNvSpPr>
            <p:nvPr/>
          </p:nvSpPr>
          <p:spPr bwMode="auto">
            <a:xfrm>
              <a:off x="4289" y="2630"/>
              <a:ext cx="218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  <a:latin typeface="Arial" charset="0"/>
                </a:rPr>
                <a:t>Units</a:t>
              </a:r>
              <a:endParaRPr lang="en-US"/>
            </a:p>
          </p:txBody>
        </p:sp>
        <p:sp>
          <p:nvSpPr>
            <p:cNvPr id="497679" name="Rectangle 15"/>
            <p:cNvSpPr>
              <a:spLocks noChangeArrowheads="1"/>
            </p:cNvSpPr>
            <p:nvPr/>
          </p:nvSpPr>
          <p:spPr bwMode="auto">
            <a:xfrm>
              <a:off x="1763" y="2454"/>
              <a:ext cx="337" cy="289"/>
            </a:xfrm>
            <a:prstGeom prst="rect">
              <a:avLst/>
            </a:prstGeom>
            <a:solidFill>
              <a:srgbClr val="91919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80" name="Rectangle 16"/>
            <p:cNvSpPr>
              <a:spLocks noChangeArrowheads="1"/>
            </p:cNvSpPr>
            <p:nvPr/>
          </p:nvSpPr>
          <p:spPr bwMode="auto">
            <a:xfrm>
              <a:off x="1814" y="2508"/>
              <a:ext cx="269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Integer/</a:t>
              </a:r>
              <a:endParaRPr lang="en-US"/>
            </a:p>
          </p:txBody>
        </p:sp>
        <p:sp>
          <p:nvSpPr>
            <p:cNvPr id="497681" name="Rectangle 17"/>
            <p:cNvSpPr>
              <a:spLocks noChangeArrowheads="1"/>
            </p:cNvSpPr>
            <p:nvPr/>
          </p:nvSpPr>
          <p:spPr bwMode="auto">
            <a:xfrm>
              <a:off x="1822" y="2604"/>
              <a:ext cx="25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Branch</a:t>
              </a:r>
              <a:endParaRPr lang="en-US"/>
            </a:p>
          </p:txBody>
        </p:sp>
        <p:sp>
          <p:nvSpPr>
            <p:cNvPr id="497682" name="Rectangle 18"/>
            <p:cNvSpPr>
              <a:spLocks noChangeArrowheads="1"/>
            </p:cNvSpPr>
            <p:nvPr/>
          </p:nvSpPr>
          <p:spPr bwMode="auto">
            <a:xfrm>
              <a:off x="2531" y="2454"/>
              <a:ext cx="337" cy="289"/>
            </a:xfrm>
            <a:prstGeom prst="rect">
              <a:avLst/>
            </a:prstGeom>
            <a:solidFill>
              <a:srgbClr val="91919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83" name="Rectangle 19"/>
            <p:cNvSpPr>
              <a:spLocks noChangeArrowheads="1"/>
            </p:cNvSpPr>
            <p:nvPr/>
          </p:nvSpPr>
          <p:spPr bwMode="auto">
            <a:xfrm>
              <a:off x="2665" y="2508"/>
              <a:ext cx="10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FP</a:t>
              </a:r>
              <a:endParaRPr lang="en-US"/>
            </a:p>
          </p:txBody>
        </p:sp>
        <p:sp>
          <p:nvSpPr>
            <p:cNvPr id="497684" name="Rectangle 20"/>
            <p:cNvSpPr>
              <a:spLocks noChangeArrowheads="1"/>
            </p:cNvSpPr>
            <p:nvPr/>
          </p:nvSpPr>
          <p:spPr bwMode="auto">
            <a:xfrm>
              <a:off x="2645" y="2604"/>
              <a:ext cx="141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Add</a:t>
              </a:r>
              <a:endParaRPr lang="en-US"/>
            </a:p>
          </p:txBody>
        </p:sp>
        <p:sp>
          <p:nvSpPr>
            <p:cNvPr id="497685" name="Rectangle 21"/>
            <p:cNvSpPr>
              <a:spLocks noChangeArrowheads="1"/>
            </p:cNvSpPr>
            <p:nvPr/>
          </p:nvSpPr>
          <p:spPr bwMode="auto">
            <a:xfrm>
              <a:off x="2915" y="2454"/>
              <a:ext cx="337" cy="289"/>
            </a:xfrm>
            <a:prstGeom prst="rect">
              <a:avLst/>
            </a:prstGeom>
            <a:solidFill>
              <a:srgbClr val="91919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86" name="Rectangle 22"/>
            <p:cNvSpPr>
              <a:spLocks noChangeArrowheads="1"/>
            </p:cNvSpPr>
            <p:nvPr/>
          </p:nvSpPr>
          <p:spPr bwMode="auto">
            <a:xfrm>
              <a:off x="3049" y="2508"/>
              <a:ext cx="10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FP</a:t>
              </a:r>
              <a:endParaRPr lang="en-US"/>
            </a:p>
          </p:txBody>
        </p:sp>
        <p:sp>
          <p:nvSpPr>
            <p:cNvPr id="497687" name="Rectangle 23"/>
            <p:cNvSpPr>
              <a:spLocks noChangeArrowheads="1"/>
            </p:cNvSpPr>
            <p:nvPr/>
          </p:nvSpPr>
          <p:spPr bwMode="auto">
            <a:xfrm>
              <a:off x="2956" y="2604"/>
              <a:ext cx="151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Mult</a:t>
              </a:r>
              <a:endParaRPr lang="en-US"/>
            </a:p>
          </p:txBody>
        </p:sp>
        <p:sp>
          <p:nvSpPr>
            <p:cNvPr id="497688" name="Rectangle 24"/>
            <p:cNvSpPr>
              <a:spLocks noChangeArrowheads="1"/>
            </p:cNvSpPr>
            <p:nvPr/>
          </p:nvSpPr>
          <p:spPr bwMode="auto">
            <a:xfrm>
              <a:off x="3108" y="2604"/>
              <a:ext cx="13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/Div</a:t>
              </a:r>
              <a:endParaRPr lang="en-US"/>
            </a:p>
          </p:txBody>
        </p:sp>
        <p:sp>
          <p:nvSpPr>
            <p:cNvPr id="497689" name="Rectangle 25"/>
            <p:cNvSpPr>
              <a:spLocks noChangeArrowheads="1"/>
            </p:cNvSpPr>
            <p:nvPr/>
          </p:nvSpPr>
          <p:spPr bwMode="auto">
            <a:xfrm>
              <a:off x="3299" y="2454"/>
              <a:ext cx="337" cy="289"/>
            </a:xfrm>
            <a:prstGeom prst="rect">
              <a:avLst/>
            </a:prstGeom>
            <a:solidFill>
              <a:srgbClr val="91919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90" name="Rectangle 26"/>
            <p:cNvSpPr>
              <a:spLocks noChangeArrowheads="1"/>
            </p:cNvSpPr>
            <p:nvPr/>
          </p:nvSpPr>
          <p:spPr bwMode="auto">
            <a:xfrm>
              <a:off x="3396" y="2556"/>
              <a:ext cx="17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Load</a:t>
              </a:r>
              <a:endParaRPr lang="en-US"/>
            </a:p>
          </p:txBody>
        </p:sp>
        <p:sp>
          <p:nvSpPr>
            <p:cNvPr id="497691" name="Rectangle 27"/>
            <p:cNvSpPr>
              <a:spLocks noChangeArrowheads="1"/>
            </p:cNvSpPr>
            <p:nvPr/>
          </p:nvSpPr>
          <p:spPr bwMode="auto">
            <a:xfrm>
              <a:off x="3683" y="2454"/>
              <a:ext cx="337" cy="289"/>
            </a:xfrm>
            <a:prstGeom prst="rect">
              <a:avLst/>
            </a:prstGeom>
            <a:solidFill>
              <a:srgbClr val="91919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92" name="Rectangle 28"/>
            <p:cNvSpPr>
              <a:spLocks noChangeArrowheads="1"/>
            </p:cNvSpPr>
            <p:nvPr/>
          </p:nvSpPr>
          <p:spPr bwMode="auto">
            <a:xfrm>
              <a:off x="3773" y="2556"/>
              <a:ext cx="190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Store</a:t>
              </a:r>
              <a:endParaRPr lang="en-US"/>
            </a:p>
          </p:txBody>
        </p:sp>
        <p:sp>
          <p:nvSpPr>
            <p:cNvPr id="497696" name="Rectangle 32"/>
            <p:cNvSpPr>
              <a:spLocks noChangeArrowheads="1"/>
            </p:cNvSpPr>
            <p:nvPr/>
          </p:nvSpPr>
          <p:spPr bwMode="auto">
            <a:xfrm>
              <a:off x="3299" y="3414"/>
              <a:ext cx="721" cy="385"/>
            </a:xfrm>
            <a:prstGeom prst="rect">
              <a:avLst/>
            </a:prstGeom>
            <a:solidFill>
              <a:srgbClr val="91919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697" name="Rectangle 33"/>
            <p:cNvSpPr>
              <a:spLocks noChangeArrowheads="1"/>
            </p:cNvSpPr>
            <p:nvPr/>
          </p:nvSpPr>
          <p:spPr bwMode="auto">
            <a:xfrm>
              <a:off x="3579" y="3499"/>
              <a:ext cx="202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  <a:latin typeface="Arial" charset="0"/>
                </a:rPr>
                <a:t>Data</a:t>
              </a:r>
              <a:endParaRPr lang="en-US"/>
            </a:p>
          </p:txBody>
        </p:sp>
        <p:sp>
          <p:nvSpPr>
            <p:cNvPr id="497698" name="Rectangle 34"/>
            <p:cNvSpPr>
              <a:spLocks noChangeArrowheads="1"/>
            </p:cNvSpPr>
            <p:nvPr/>
          </p:nvSpPr>
          <p:spPr bwMode="auto">
            <a:xfrm>
              <a:off x="3542" y="3614"/>
              <a:ext cx="276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000000"/>
                  </a:solidFill>
                  <a:latin typeface="Arial" charset="0"/>
                </a:rPr>
                <a:t>Cache</a:t>
              </a:r>
              <a:endParaRPr lang="en-US"/>
            </a:p>
          </p:txBody>
        </p:sp>
        <p:grpSp>
          <p:nvGrpSpPr>
            <p:cNvPr id="497783" name="Group 119"/>
            <p:cNvGrpSpPr>
              <a:grpSpLocks/>
            </p:cNvGrpSpPr>
            <p:nvPr/>
          </p:nvGrpSpPr>
          <p:grpSpPr bwMode="auto">
            <a:xfrm>
              <a:off x="3349" y="2742"/>
              <a:ext cx="93" cy="672"/>
              <a:chOff x="3349" y="2742"/>
              <a:chExt cx="93" cy="672"/>
            </a:xfrm>
          </p:grpSpPr>
          <p:sp>
            <p:nvSpPr>
              <p:cNvPr id="497781" name="Rectangle 117"/>
              <p:cNvSpPr>
                <a:spLocks noChangeArrowheads="1"/>
              </p:cNvSpPr>
              <p:nvPr/>
            </p:nvSpPr>
            <p:spPr bwMode="auto">
              <a:xfrm>
                <a:off x="3386" y="2742"/>
                <a:ext cx="18" cy="582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782" name="Freeform 118"/>
              <p:cNvSpPr>
                <a:spLocks/>
              </p:cNvSpPr>
              <p:nvPr/>
            </p:nvSpPr>
            <p:spPr bwMode="auto">
              <a:xfrm>
                <a:off x="3349" y="3322"/>
                <a:ext cx="93" cy="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6" y="92"/>
                  </a:cxn>
                  <a:cxn ang="0">
                    <a:pos x="93" y="0"/>
                  </a:cxn>
                  <a:cxn ang="0">
                    <a:pos x="0" y="0"/>
                  </a:cxn>
                </a:cxnLst>
                <a:rect l="0" t="0" r="r" b="b"/>
                <a:pathLst>
                  <a:path w="93" h="92">
                    <a:moveTo>
                      <a:pt x="0" y="0"/>
                    </a:moveTo>
                    <a:lnTo>
                      <a:pt x="46" y="92"/>
                    </a:lnTo>
                    <a:lnTo>
                      <a:pt x="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786" name="Group 122"/>
            <p:cNvGrpSpPr>
              <a:grpSpLocks/>
            </p:cNvGrpSpPr>
            <p:nvPr/>
          </p:nvGrpSpPr>
          <p:grpSpPr bwMode="auto">
            <a:xfrm>
              <a:off x="3486" y="2742"/>
              <a:ext cx="107" cy="672"/>
              <a:chOff x="3486" y="2742"/>
              <a:chExt cx="107" cy="672"/>
            </a:xfrm>
          </p:grpSpPr>
          <p:sp>
            <p:nvSpPr>
              <p:cNvPr id="497784" name="Rectangle 120"/>
              <p:cNvSpPr>
                <a:spLocks noChangeArrowheads="1"/>
              </p:cNvSpPr>
              <p:nvPr/>
            </p:nvSpPr>
            <p:spPr bwMode="auto">
              <a:xfrm>
                <a:off x="3527" y="2847"/>
                <a:ext cx="24" cy="56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785" name="Freeform 121"/>
              <p:cNvSpPr>
                <a:spLocks/>
              </p:cNvSpPr>
              <p:nvPr/>
            </p:nvSpPr>
            <p:spPr bwMode="auto">
              <a:xfrm>
                <a:off x="3486" y="2742"/>
                <a:ext cx="107" cy="108"/>
              </a:xfrm>
              <a:custGeom>
                <a:avLst/>
                <a:gdLst/>
                <a:ahLst/>
                <a:cxnLst>
                  <a:cxn ang="0">
                    <a:pos x="107" y="108"/>
                  </a:cxn>
                  <a:cxn ang="0">
                    <a:pos x="53" y="0"/>
                  </a:cxn>
                  <a:cxn ang="0">
                    <a:pos x="0" y="108"/>
                  </a:cxn>
                  <a:cxn ang="0">
                    <a:pos x="107" y="108"/>
                  </a:cxn>
                </a:cxnLst>
                <a:rect l="0" t="0" r="r" b="b"/>
                <a:pathLst>
                  <a:path w="107" h="108">
                    <a:moveTo>
                      <a:pt x="107" y="108"/>
                    </a:moveTo>
                    <a:lnTo>
                      <a:pt x="53" y="0"/>
                    </a:lnTo>
                    <a:lnTo>
                      <a:pt x="0" y="108"/>
                    </a:lnTo>
                    <a:lnTo>
                      <a:pt x="107" y="10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789" name="Group 125"/>
            <p:cNvGrpSpPr>
              <a:grpSpLocks/>
            </p:cNvGrpSpPr>
            <p:nvPr/>
          </p:nvGrpSpPr>
          <p:grpSpPr bwMode="auto">
            <a:xfrm>
              <a:off x="3733" y="2742"/>
              <a:ext cx="93" cy="672"/>
              <a:chOff x="3733" y="2742"/>
              <a:chExt cx="93" cy="672"/>
            </a:xfrm>
          </p:grpSpPr>
          <p:sp>
            <p:nvSpPr>
              <p:cNvPr id="497787" name="Rectangle 123"/>
              <p:cNvSpPr>
                <a:spLocks noChangeArrowheads="1"/>
              </p:cNvSpPr>
              <p:nvPr/>
            </p:nvSpPr>
            <p:spPr bwMode="auto">
              <a:xfrm>
                <a:off x="3770" y="2742"/>
                <a:ext cx="18" cy="582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788" name="Freeform 124"/>
              <p:cNvSpPr>
                <a:spLocks/>
              </p:cNvSpPr>
              <p:nvPr/>
            </p:nvSpPr>
            <p:spPr bwMode="auto">
              <a:xfrm>
                <a:off x="3733" y="3322"/>
                <a:ext cx="93" cy="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6" y="92"/>
                  </a:cxn>
                  <a:cxn ang="0">
                    <a:pos x="93" y="0"/>
                  </a:cxn>
                  <a:cxn ang="0">
                    <a:pos x="0" y="0"/>
                  </a:cxn>
                </a:cxnLst>
                <a:rect l="0" t="0" r="r" b="b"/>
                <a:pathLst>
                  <a:path w="93" h="92">
                    <a:moveTo>
                      <a:pt x="0" y="0"/>
                    </a:moveTo>
                    <a:lnTo>
                      <a:pt x="46" y="92"/>
                    </a:lnTo>
                    <a:lnTo>
                      <a:pt x="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792" name="Group 128"/>
            <p:cNvGrpSpPr>
              <a:grpSpLocks/>
            </p:cNvGrpSpPr>
            <p:nvPr/>
          </p:nvGrpSpPr>
          <p:grpSpPr bwMode="auto">
            <a:xfrm>
              <a:off x="3870" y="2742"/>
              <a:ext cx="107" cy="672"/>
              <a:chOff x="3870" y="2742"/>
              <a:chExt cx="107" cy="672"/>
            </a:xfrm>
          </p:grpSpPr>
          <p:sp>
            <p:nvSpPr>
              <p:cNvPr id="497790" name="Rectangle 126"/>
              <p:cNvSpPr>
                <a:spLocks noChangeArrowheads="1"/>
              </p:cNvSpPr>
              <p:nvPr/>
            </p:nvSpPr>
            <p:spPr bwMode="auto">
              <a:xfrm>
                <a:off x="3911" y="2742"/>
                <a:ext cx="24" cy="56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791" name="Freeform 127"/>
              <p:cNvSpPr>
                <a:spLocks/>
              </p:cNvSpPr>
              <p:nvPr/>
            </p:nvSpPr>
            <p:spPr bwMode="auto">
              <a:xfrm>
                <a:off x="3870" y="3307"/>
                <a:ext cx="107" cy="1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3" y="107"/>
                  </a:cxn>
                  <a:cxn ang="0">
                    <a:pos x="107" y="0"/>
                  </a:cxn>
                  <a:cxn ang="0">
                    <a:pos x="0" y="0"/>
                  </a:cxn>
                </a:cxnLst>
                <a:rect l="0" t="0" r="r" b="b"/>
                <a:pathLst>
                  <a:path w="107" h="107">
                    <a:moveTo>
                      <a:pt x="0" y="0"/>
                    </a:moveTo>
                    <a:lnTo>
                      <a:pt x="53" y="107"/>
                    </a:lnTo>
                    <a:lnTo>
                      <a:pt x="1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7799" name="Rectangle 135"/>
            <p:cNvSpPr>
              <a:spLocks noChangeArrowheads="1"/>
            </p:cNvSpPr>
            <p:nvPr/>
          </p:nvSpPr>
          <p:spPr bwMode="auto">
            <a:xfrm>
              <a:off x="1811" y="1848"/>
              <a:ext cx="6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800" name="Rectangle 136"/>
            <p:cNvSpPr>
              <a:spLocks noChangeArrowheads="1"/>
            </p:cNvSpPr>
            <p:nvPr/>
          </p:nvSpPr>
          <p:spPr bwMode="auto">
            <a:xfrm>
              <a:off x="1851" y="1824"/>
              <a:ext cx="546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Prediction</a:t>
              </a:r>
              <a:endParaRPr lang="en-US"/>
            </a:p>
          </p:txBody>
        </p:sp>
        <p:sp>
          <p:nvSpPr>
            <p:cNvPr id="497801" name="Rectangle 137"/>
            <p:cNvSpPr>
              <a:spLocks noChangeArrowheads="1"/>
            </p:cNvSpPr>
            <p:nvPr/>
          </p:nvSpPr>
          <p:spPr bwMode="auto">
            <a:xfrm>
              <a:off x="1896" y="1968"/>
              <a:ext cx="236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OK?</a:t>
              </a:r>
              <a:endParaRPr lang="en-US"/>
            </a:p>
          </p:txBody>
        </p:sp>
        <p:sp>
          <p:nvSpPr>
            <p:cNvPr id="497802" name="Rectangle 138"/>
            <p:cNvSpPr>
              <a:spLocks noChangeArrowheads="1"/>
            </p:cNvSpPr>
            <p:nvPr/>
          </p:nvSpPr>
          <p:spPr bwMode="auto">
            <a:xfrm>
              <a:off x="3875" y="3164"/>
              <a:ext cx="28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803" name="Rectangle 139"/>
            <p:cNvSpPr>
              <a:spLocks noChangeArrowheads="1"/>
            </p:cNvSpPr>
            <p:nvPr/>
          </p:nvSpPr>
          <p:spPr bwMode="auto">
            <a:xfrm>
              <a:off x="3950" y="3199"/>
              <a:ext cx="16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Data</a:t>
              </a:r>
              <a:endParaRPr lang="en-US"/>
            </a:p>
          </p:txBody>
        </p:sp>
        <p:sp>
          <p:nvSpPr>
            <p:cNvPr id="497804" name="Rectangle 140"/>
            <p:cNvSpPr>
              <a:spLocks noChangeArrowheads="1"/>
            </p:cNvSpPr>
            <p:nvPr/>
          </p:nvSpPr>
          <p:spPr bwMode="auto">
            <a:xfrm>
              <a:off x="3495" y="3159"/>
              <a:ext cx="285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805" name="Rectangle 141"/>
            <p:cNvSpPr>
              <a:spLocks noChangeArrowheads="1"/>
            </p:cNvSpPr>
            <p:nvPr/>
          </p:nvSpPr>
          <p:spPr bwMode="auto">
            <a:xfrm>
              <a:off x="3570" y="3194"/>
              <a:ext cx="16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Data</a:t>
              </a:r>
              <a:endParaRPr lang="en-US"/>
            </a:p>
          </p:txBody>
        </p:sp>
        <p:sp>
          <p:nvSpPr>
            <p:cNvPr id="497806" name="Rectangle 142"/>
            <p:cNvSpPr>
              <a:spLocks noChangeArrowheads="1"/>
            </p:cNvSpPr>
            <p:nvPr/>
          </p:nvSpPr>
          <p:spPr bwMode="auto">
            <a:xfrm>
              <a:off x="3137" y="3030"/>
              <a:ext cx="30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807" name="Rectangle 143"/>
            <p:cNvSpPr>
              <a:spLocks noChangeArrowheads="1"/>
            </p:cNvSpPr>
            <p:nvPr/>
          </p:nvSpPr>
          <p:spPr bwMode="auto">
            <a:xfrm>
              <a:off x="3212" y="3065"/>
              <a:ext cx="16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Addr</a:t>
              </a:r>
              <a:endParaRPr lang="en-US"/>
            </a:p>
          </p:txBody>
        </p:sp>
        <p:sp>
          <p:nvSpPr>
            <p:cNvPr id="497808" name="Rectangle 144"/>
            <p:cNvSpPr>
              <a:spLocks noChangeArrowheads="1"/>
            </p:cNvSpPr>
            <p:nvPr/>
          </p:nvSpPr>
          <p:spPr bwMode="auto">
            <a:xfrm>
              <a:off x="3380" y="3065"/>
              <a:ext cx="2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.</a:t>
              </a:r>
              <a:endParaRPr lang="en-US"/>
            </a:p>
          </p:txBody>
        </p:sp>
        <p:sp>
          <p:nvSpPr>
            <p:cNvPr id="497809" name="Rectangle 145"/>
            <p:cNvSpPr>
              <a:spLocks noChangeArrowheads="1"/>
            </p:cNvSpPr>
            <p:nvPr/>
          </p:nvSpPr>
          <p:spPr bwMode="auto">
            <a:xfrm>
              <a:off x="3539" y="3020"/>
              <a:ext cx="307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810" name="Rectangle 146"/>
            <p:cNvSpPr>
              <a:spLocks noChangeArrowheads="1"/>
            </p:cNvSpPr>
            <p:nvPr/>
          </p:nvSpPr>
          <p:spPr bwMode="auto">
            <a:xfrm>
              <a:off x="3614" y="3055"/>
              <a:ext cx="16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Addr</a:t>
              </a:r>
              <a:endParaRPr lang="en-US"/>
            </a:p>
          </p:txBody>
        </p:sp>
        <p:sp>
          <p:nvSpPr>
            <p:cNvPr id="497811" name="Rectangle 147"/>
            <p:cNvSpPr>
              <a:spLocks noChangeArrowheads="1"/>
            </p:cNvSpPr>
            <p:nvPr/>
          </p:nvSpPr>
          <p:spPr bwMode="auto">
            <a:xfrm>
              <a:off x="3782" y="3055"/>
              <a:ext cx="22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.</a:t>
              </a:r>
              <a:endParaRPr lang="en-US"/>
            </a:p>
          </p:txBody>
        </p:sp>
        <p:grpSp>
          <p:nvGrpSpPr>
            <p:cNvPr id="497814" name="Group 150"/>
            <p:cNvGrpSpPr>
              <a:grpSpLocks/>
            </p:cNvGrpSpPr>
            <p:nvPr/>
          </p:nvGrpSpPr>
          <p:grpSpPr bwMode="auto">
            <a:xfrm>
              <a:off x="1917" y="2310"/>
              <a:ext cx="77" cy="144"/>
              <a:chOff x="1917" y="2310"/>
              <a:chExt cx="77" cy="144"/>
            </a:xfrm>
          </p:grpSpPr>
          <p:sp>
            <p:nvSpPr>
              <p:cNvPr id="497812" name="Rectangle 148"/>
              <p:cNvSpPr>
                <a:spLocks noChangeArrowheads="1"/>
              </p:cNvSpPr>
              <p:nvPr/>
            </p:nvSpPr>
            <p:spPr bwMode="auto">
              <a:xfrm>
                <a:off x="1949" y="2310"/>
                <a:ext cx="12" cy="6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13" name="Freeform 149"/>
              <p:cNvSpPr>
                <a:spLocks/>
              </p:cNvSpPr>
              <p:nvPr/>
            </p:nvSpPr>
            <p:spPr bwMode="auto">
              <a:xfrm>
                <a:off x="1917" y="2377"/>
                <a:ext cx="77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77"/>
                  </a:cxn>
                  <a:cxn ang="0">
                    <a:pos x="77" y="0"/>
                  </a:cxn>
                  <a:cxn ang="0">
                    <a:pos x="0" y="0"/>
                  </a:cxn>
                </a:cxnLst>
                <a:rect l="0" t="0" r="r" b="b"/>
                <a:pathLst>
                  <a:path w="77" h="77">
                    <a:moveTo>
                      <a:pt x="0" y="0"/>
                    </a:moveTo>
                    <a:lnTo>
                      <a:pt x="38" y="77"/>
                    </a:lnTo>
                    <a:lnTo>
                      <a:pt x="7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17" name="Group 153"/>
            <p:cNvGrpSpPr>
              <a:grpSpLocks/>
            </p:cNvGrpSpPr>
            <p:nvPr/>
          </p:nvGrpSpPr>
          <p:grpSpPr bwMode="auto">
            <a:xfrm>
              <a:off x="2685" y="2310"/>
              <a:ext cx="77" cy="144"/>
              <a:chOff x="2685" y="2310"/>
              <a:chExt cx="77" cy="144"/>
            </a:xfrm>
          </p:grpSpPr>
          <p:sp>
            <p:nvSpPr>
              <p:cNvPr id="497815" name="Rectangle 151"/>
              <p:cNvSpPr>
                <a:spLocks noChangeArrowheads="1"/>
              </p:cNvSpPr>
              <p:nvPr/>
            </p:nvSpPr>
            <p:spPr bwMode="auto">
              <a:xfrm>
                <a:off x="2717" y="2310"/>
                <a:ext cx="12" cy="6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16" name="Freeform 152"/>
              <p:cNvSpPr>
                <a:spLocks/>
              </p:cNvSpPr>
              <p:nvPr/>
            </p:nvSpPr>
            <p:spPr bwMode="auto">
              <a:xfrm>
                <a:off x="2685" y="2377"/>
                <a:ext cx="77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77"/>
                  </a:cxn>
                  <a:cxn ang="0">
                    <a:pos x="77" y="0"/>
                  </a:cxn>
                  <a:cxn ang="0">
                    <a:pos x="0" y="0"/>
                  </a:cxn>
                </a:cxnLst>
                <a:rect l="0" t="0" r="r" b="b"/>
                <a:pathLst>
                  <a:path w="77" h="77">
                    <a:moveTo>
                      <a:pt x="0" y="0"/>
                    </a:moveTo>
                    <a:lnTo>
                      <a:pt x="38" y="77"/>
                    </a:lnTo>
                    <a:lnTo>
                      <a:pt x="7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20" name="Group 156"/>
            <p:cNvGrpSpPr>
              <a:grpSpLocks/>
            </p:cNvGrpSpPr>
            <p:nvPr/>
          </p:nvGrpSpPr>
          <p:grpSpPr bwMode="auto">
            <a:xfrm>
              <a:off x="3069" y="2310"/>
              <a:ext cx="77" cy="144"/>
              <a:chOff x="3069" y="2310"/>
              <a:chExt cx="77" cy="144"/>
            </a:xfrm>
          </p:grpSpPr>
          <p:sp>
            <p:nvSpPr>
              <p:cNvPr id="497818" name="Rectangle 154"/>
              <p:cNvSpPr>
                <a:spLocks noChangeArrowheads="1"/>
              </p:cNvSpPr>
              <p:nvPr/>
            </p:nvSpPr>
            <p:spPr bwMode="auto">
              <a:xfrm>
                <a:off x="3101" y="2310"/>
                <a:ext cx="12" cy="6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19" name="Freeform 155"/>
              <p:cNvSpPr>
                <a:spLocks/>
              </p:cNvSpPr>
              <p:nvPr/>
            </p:nvSpPr>
            <p:spPr bwMode="auto">
              <a:xfrm>
                <a:off x="3069" y="2377"/>
                <a:ext cx="77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77"/>
                  </a:cxn>
                  <a:cxn ang="0">
                    <a:pos x="77" y="0"/>
                  </a:cxn>
                  <a:cxn ang="0">
                    <a:pos x="0" y="0"/>
                  </a:cxn>
                </a:cxnLst>
                <a:rect l="0" t="0" r="r" b="b"/>
                <a:pathLst>
                  <a:path w="77" h="77">
                    <a:moveTo>
                      <a:pt x="0" y="0"/>
                    </a:moveTo>
                    <a:lnTo>
                      <a:pt x="38" y="77"/>
                    </a:lnTo>
                    <a:lnTo>
                      <a:pt x="7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23" name="Group 159"/>
            <p:cNvGrpSpPr>
              <a:grpSpLocks/>
            </p:cNvGrpSpPr>
            <p:nvPr/>
          </p:nvGrpSpPr>
          <p:grpSpPr bwMode="auto">
            <a:xfrm>
              <a:off x="3453" y="2310"/>
              <a:ext cx="77" cy="144"/>
              <a:chOff x="3453" y="2310"/>
              <a:chExt cx="77" cy="144"/>
            </a:xfrm>
          </p:grpSpPr>
          <p:sp>
            <p:nvSpPr>
              <p:cNvPr id="497821" name="Rectangle 157"/>
              <p:cNvSpPr>
                <a:spLocks noChangeArrowheads="1"/>
              </p:cNvSpPr>
              <p:nvPr/>
            </p:nvSpPr>
            <p:spPr bwMode="auto">
              <a:xfrm>
                <a:off x="3485" y="2310"/>
                <a:ext cx="12" cy="6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22" name="Freeform 158"/>
              <p:cNvSpPr>
                <a:spLocks/>
              </p:cNvSpPr>
              <p:nvPr/>
            </p:nvSpPr>
            <p:spPr bwMode="auto">
              <a:xfrm>
                <a:off x="3453" y="2377"/>
                <a:ext cx="77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77"/>
                  </a:cxn>
                  <a:cxn ang="0">
                    <a:pos x="77" y="0"/>
                  </a:cxn>
                  <a:cxn ang="0">
                    <a:pos x="0" y="0"/>
                  </a:cxn>
                </a:cxnLst>
                <a:rect l="0" t="0" r="r" b="b"/>
                <a:pathLst>
                  <a:path w="77" h="77">
                    <a:moveTo>
                      <a:pt x="0" y="0"/>
                    </a:moveTo>
                    <a:lnTo>
                      <a:pt x="38" y="77"/>
                    </a:lnTo>
                    <a:lnTo>
                      <a:pt x="7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26" name="Group 162"/>
            <p:cNvGrpSpPr>
              <a:grpSpLocks/>
            </p:cNvGrpSpPr>
            <p:nvPr/>
          </p:nvGrpSpPr>
          <p:grpSpPr bwMode="auto">
            <a:xfrm>
              <a:off x="3837" y="2310"/>
              <a:ext cx="77" cy="144"/>
              <a:chOff x="3837" y="2310"/>
              <a:chExt cx="77" cy="144"/>
            </a:xfrm>
          </p:grpSpPr>
          <p:sp>
            <p:nvSpPr>
              <p:cNvPr id="497824" name="Rectangle 160"/>
              <p:cNvSpPr>
                <a:spLocks noChangeArrowheads="1"/>
              </p:cNvSpPr>
              <p:nvPr/>
            </p:nvSpPr>
            <p:spPr bwMode="auto">
              <a:xfrm>
                <a:off x="3869" y="2310"/>
                <a:ext cx="12" cy="6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25" name="Freeform 161"/>
              <p:cNvSpPr>
                <a:spLocks/>
              </p:cNvSpPr>
              <p:nvPr/>
            </p:nvSpPr>
            <p:spPr bwMode="auto">
              <a:xfrm>
                <a:off x="3837" y="2377"/>
                <a:ext cx="77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77"/>
                  </a:cxn>
                  <a:cxn ang="0">
                    <a:pos x="77" y="0"/>
                  </a:cxn>
                  <a:cxn ang="0">
                    <a:pos x="0" y="0"/>
                  </a:cxn>
                </a:cxnLst>
                <a:rect l="0" t="0" r="r" b="b"/>
                <a:pathLst>
                  <a:path w="77" h="77">
                    <a:moveTo>
                      <a:pt x="0" y="0"/>
                    </a:moveTo>
                    <a:lnTo>
                      <a:pt x="38" y="77"/>
                    </a:lnTo>
                    <a:lnTo>
                      <a:pt x="7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7827" name="Rectangle 163"/>
            <p:cNvSpPr>
              <a:spLocks noChangeArrowheads="1"/>
            </p:cNvSpPr>
            <p:nvPr/>
          </p:nvSpPr>
          <p:spPr bwMode="auto">
            <a:xfrm>
              <a:off x="1955" y="2301"/>
              <a:ext cx="1920" cy="1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828" name="Rectangle 164"/>
            <p:cNvSpPr>
              <a:spLocks noChangeArrowheads="1"/>
            </p:cNvSpPr>
            <p:nvPr/>
          </p:nvSpPr>
          <p:spPr bwMode="auto">
            <a:xfrm>
              <a:off x="2147" y="2454"/>
              <a:ext cx="337" cy="289"/>
            </a:xfrm>
            <a:prstGeom prst="rect">
              <a:avLst/>
            </a:prstGeom>
            <a:solidFill>
              <a:srgbClr val="91919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829" name="Rectangle 165"/>
            <p:cNvSpPr>
              <a:spLocks noChangeArrowheads="1"/>
            </p:cNvSpPr>
            <p:nvPr/>
          </p:nvSpPr>
          <p:spPr bwMode="auto">
            <a:xfrm>
              <a:off x="2191" y="2508"/>
              <a:ext cx="283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General</a:t>
              </a:r>
              <a:endParaRPr lang="en-US"/>
            </a:p>
          </p:txBody>
        </p:sp>
        <p:sp>
          <p:nvSpPr>
            <p:cNvPr id="497830" name="Rectangle 166"/>
            <p:cNvSpPr>
              <a:spLocks noChangeArrowheads="1"/>
            </p:cNvSpPr>
            <p:nvPr/>
          </p:nvSpPr>
          <p:spPr bwMode="auto">
            <a:xfrm>
              <a:off x="2209" y="2604"/>
              <a:ext cx="247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Integer</a:t>
              </a:r>
              <a:endParaRPr lang="en-US"/>
            </a:p>
          </p:txBody>
        </p:sp>
        <p:grpSp>
          <p:nvGrpSpPr>
            <p:cNvPr id="497833" name="Group 169"/>
            <p:cNvGrpSpPr>
              <a:grpSpLocks/>
            </p:cNvGrpSpPr>
            <p:nvPr/>
          </p:nvGrpSpPr>
          <p:grpSpPr bwMode="auto">
            <a:xfrm>
              <a:off x="2301" y="2310"/>
              <a:ext cx="77" cy="144"/>
              <a:chOff x="2301" y="2310"/>
              <a:chExt cx="77" cy="144"/>
            </a:xfrm>
          </p:grpSpPr>
          <p:sp>
            <p:nvSpPr>
              <p:cNvPr id="497831" name="Rectangle 167"/>
              <p:cNvSpPr>
                <a:spLocks noChangeArrowheads="1"/>
              </p:cNvSpPr>
              <p:nvPr/>
            </p:nvSpPr>
            <p:spPr bwMode="auto">
              <a:xfrm>
                <a:off x="2333" y="2310"/>
                <a:ext cx="12" cy="6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32" name="Freeform 168"/>
              <p:cNvSpPr>
                <a:spLocks/>
              </p:cNvSpPr>
              <p:nvPr/>
            </p:nvSpPr>
            <p:spPr bwMode="auto">
              <a:xfrm>
                <a:off x="2301" y="2377"/>
                <a:ext cx="77" cy="7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8" y="77"/>
                  </a:cxn>
                  <a:cxn ang="0">
                    <a:pos x="77" y="0"/>
                  </a:cxn>
                  <a:cxn ang="0">
                    <a:pos x="0" y="0"/>
                  </a:cxn>
                </a:cxnLst>
                <a:rect l="0" t="0" r="r" b="b"/>
                <a:pathLst>
                  <a:path w="77" h="77">
                    <a:moveTo>
                      <a:pt x="0" y="0"/>
                    </a:moveTo>
                    <a:lnTo>
                      <a:pt x="38" y="77"/>
                    </a:lnTo>
                    <a:lnTo>
                      <a:pt x="7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7834" name="Rectangle 170"/>
            <p:cNvSpPr>
              <a:spLocks noChangeArrowheads="1"/>
            </p:cNvSpPr>
            <p:nvPr/>
          </p:nvSpPr>
          <p:spPr bwMode="auto">
            <a:xfrm>
              <a:off x="1523" y="2976"/>
              <a:ext cx="2496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7838" name="Group 174"/>
            <p:cNvGrpSpPr>
              <a:grpSpLocks/>
            </p:cNvGrpSpPr>
            <p:nvPr/>
          </p:nvGrpSpPr>
          <p:grpSpPr bwMode="auto">
            <a:xfrm>
              <a:off x="1874" y="2742"/>
              <a:ext cx="67" cy="240"/>
              <a:chOff x="1874" y="2742"/>
              <a:chExt cx="67" cy="240"/>
            </a:xfrm>
          </p:grpSpPr>
          <p:sp>
            <p:nvSpPr>
              <p:cNvPr id="497835" name="Line 171"/>
              <p:cNvSpPr>
                <a:spLocks noChangeShapeType="1"/>
              </p:cNvSpPr>
              <p:nvPr/>
            </p:nvSpPr>
            <p:spPr bwMode="auto">
              <a:xfrm>
                <a:off x="1907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36" name="Freeform 172"/>
              <p:cNvSpPr>
                <a:spLocks/>
              </p:cNvSpPr>
              <p:nvPr/>
            </p:nvSpPr>
            <p:spPr bwMode="auto">
              <a:xfrm>
                <a:off x="1874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37" name="Freeform 173"/>
              <p:cNvSpPr>
                <a:spLocks/>
              </p:cNvSpPr>
              <p:nvPr/>
            </p:nvSpPr>
            <p:spPr bwMode="auto">
              <a:xfrm>
                <a:off x="1874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42" name="Group 178"/>
            <p:cNvGrpSpPr>
              <a:grpSpLocks/>
            </p:cNvGrpSpPr>
            <p:nvPr/>
          </p:nvGrpSpPr>
          <p:grpSpPr bwMode="auto">
            <a:xfrm>
              <a:off x="2642" y="2742"/>
              <a:ext cx="67" cy="240"/>
              <a:chOff x="2642" y="2742"/>
              <a:chExt cx="67" cy="240"/>
            </a:xfrm>
          </p:grpSpPr>
          <p:sp>
            <p:nvSpPr>
              <p:cNvPr id="497839" name="Line 175"/>
              <p:cNvSpPr>
                <a:spLocks noChangeShapeType="1"/>
              </p:cNvSpPr>
              <p:nvPr/>
            </p:nvSpPr>
            <p:spPr bwMode="auto">
              <a:xfrm>
                <a:off x="2675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40" name="Freeform 176"/>
              <p:cNvSpPr>
                <a:spLocks/>
              </p:cNvSpPr>
              <p:nvPr/>
            </p:nvSpPr>
            <p:spPr bwMode="auto">
              <a:xfrm>
                <a:off x="2642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41" name="Freeform 177"/>
              <p:cNvSpPr>
                <a:spLocks/>
              </p:cNvSpPr>
              <p:nvPr/>
            </p:nvSpPr>
            <p:spPr bwMode="auto">
              <a:xfrm>
                <a:off x="2642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46" name="Group 182"/>
            <p:cNvGrpSpPr>
              <a:grpSpLocks/>
            </p:cNvGrpSpPr>
            <p:nvPr/>
          </p:nvGrpSpPr>
          <p:grpSpPr bwMode="auto">
            <a:xfrm>
              <a:off x="3026" y="2742"/>
              <a:ext cx="67" cy="240"/>
              <a:chOff x="3026" y="2742"/>
              <a:chExt cx="67" cy="240"/>
            </a:xfrm>
          </p:grpSpPr>
          <p:sp>
            <p:nvSpPr>
              <p:cNvPr id="497843" name="Line 179"/>
              <p:cNvSpPr>
                <a:spLocks noChangeShapeType="1"/>
              </p:cNvSpPr>
              <p:nvPr/>
            </p:nvSpPr>
            <p:spPr bwMode="auto">
              <a:xfrm>
                <a:off x="3059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44" name="Freeform 180"/>
              <p:cNvSpPr>
                <a:spLocks/>
              </p:cNvSpPr>
              <p:nvPr/>
            </p:nvSpPr>
            <p:spPr bwMode="auto">
              <a:xfrm>
                <a:off x="3026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45" name="Freeform 181"/>
              <p:cNvSpPr>
                <a:spLocks/>
              </p:cNvSpPr>
              <p:nvPr/>
            </p:nvSpPr>
            <p:spPr bwMode="auto">
              <a:xfrm>
                <a:off x="3026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50" name="Group 186"/>
            <p:cNvGrpSpPr>
              <a:grpSpLocks/>
            </p:cNvGrpSpPr>
            <p:nvPr/>
          </p:nvGrpSpPr>
          <p:grpSpPr bwMode="auto">
            <a:xfrm>
              <a:off x="3410" y="2742"/>
              <a:ext cx="67" cy="240"/>
              <a:chOff x="3410" y="2742"/>
              <a:chExt cx="67" cy="240"/>
            </a:xfrm>
          </p:grpSpPr>
          <p:sp>
            <p:nvSpPr>
              <p:cNvPr id="497847" name="Line 183"/>
              <p:cNvSpPr>
                <a:spLocks noChangeShapeType="1"/>
              </p:cNvSpPr>
              <p:nvPr/>
            </p:nvSpPr>
            <p:spPr bwMode="auto">
              <a:xfrm>
                <a:off x="3443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48" name="Freeform 184"/>
              <p:cNvSpPr>
                <a:spLocks/>
              </p:cNvSpPr>
              <p:nvPr/>
            </p:nvSpPr>
            <p:spPr bwMode="auto">
              <a:xfrm>
                <a:off x="3410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49" name="Freeform 185"/>
              <p:cNvSpPr>
                <a:spLocks/>
              </p:cNvSpPr>
              <p:nvPr/>
            </p:nvSpPr>
            <p:spPr bwMode="auto">
              <a:xfrm>
                <a:off x="3410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54" name="Group 190"/>
            <p:cNvGrpSpPr>
              <a:grpSpLocks/>
            </p:cNvGrpSpPr>
            <p:nvPr/>
          </p:nvGrpSpPr>
          <p:grpSpPr bwMode="auto">
            <a:xfrm>
              <a:off x="3794" y="2742"/>
              <a:ext cx="67" cy="240"/>
              <a:chOff x="3794" y="2742"/>
              <a:chExt cx="67" cy="240"/>
            </a:xfrm>
          </p:grpSpPr>
          <p:sp>
            <p:nvSpPr>
              <p:cNvPr id="497851" name="Line 187"/>
              <p:cNvSpPr>
                <a:spLocks noChangeShapeType="1"/>
              </p:cNvSpPr>
              <p:nvPr/>
            </p:nvSpPr>
            <p:spPr bwMode="auto">
              <a:xfrm>
                <a:off x="3827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52" name="Freeform 188"/>
              <p:cNvSpPr>
                <a:spLocks/>
              </p:cNvSpPr>
              <p:nvPr/>
            </p:nvSpPr>
            <p:spPr bwMode="auto">
              <a:xfrm>
                <a:off x="3794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53" name="Freeform 189"/>
              <p:cNvSpPr>
                <a:spLocks/>
              </p:cNvSpPr>
              <p:nvPr/>
            </p:nvSpPr>
            <p:spPr bwMode="auto">
              <a:xfrm>
                <a:off x="3794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58" name="Group 194"/>
            <p:cNvGrpSpPr>
              <a:grpSpLocks/>
            </p:cNvGrpSpPr>
            <p:nvPr/>
          </p:nvGrpSpPr>
          <p:grpSpPr bwMode="auto">
            <a:xfrm>
              <a:off x="2258" y="2742"/>
              <a:ext cx="67" cy="240"/>
              <a:chOff x="2258" y="2742"/>
              <a:chExt cx="67" cy="240"/>
            </a:xfrm>
          </p:grpSpPr>
          <p:sp>
            <p:nvSpPr>
              <p:cNvPr id="497855" name="Line 191"/>
              <p:cNvSpPr>
                <a:spLocks noChangeShapeType="1"/>
              </p:cNvSpPr>
              <p:nvPr/>
            </p:nvSpPr>
            <p:spPr bwMode="auto">
              <a:xfrm>
                <a:off x="2291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56" name="Freeform 192"/>
              <p:cNvSpPr>
                <a:spLocks/>
              </p:cNvSpPr>
              <p:nvPr/>
            </p:nvSpPr>
            <p:spPr bwMode="auto">
              <a:xfrm>
                <a:off x="2258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57" name="Freeform 193"/>
              <p:cNvSpPr>
                <a:spLocks/>
              </p:cNvSpPr>
              <p:nvPr/>
            </p:nvSpPr>
            <p:spPr bwMode="auto">
              <a:xfrm>
                <a:off x="2258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62" name="Group 198"/>
            <p:cNvGrpSpPr>
              <a:grpSpLocks/>
            </p:cNvGrpSpPr>
            <p:nvPr/>
          </p:nvGrpSpPr>
          <p:grpSpPr bwMode="auto">
            <a:xfrm>
              <a:off x="1874" y="2742"/>
              <a:ext cx="67" cy="240"/>
              <a:chOff x="1874" y="2742"/>
              <a:chExt cx="67" cy="240"/>
            </a:xfrm>
          </p:grpSpPr>
          <p:sp>
            <p:nvSpPr>
              <p:cNvPr id="497859" name="Line 195"/>
              <p:cNvSpPr>
                <a:spLocks noChangeShapeType="1"/>
              </p:cNvSpPr>
              <p:nvPr/>
            </p:nvSpPr>
            <p:spPr bwMode="auto">
              <a:xfrm>
                <a:off x="1907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60" name="Freeform 196"/>
              <p:cNvSpPr>
                <a:spLocks/>
              </p:cNvSpPr>
              <p:nvPr/>
            </p:nvSpPr>
            <p:spPr bwMode="auto">
              <a:xfrm>
                <a:off x="1874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61" name="Freeform 197"/>
              <p:cNvSpPr>
                <a:spLocks/>
              </p:cNvSpPr>
              <p:nvPr/>
            </p:nvSpPr>
            <p:spPr bwMode="auto">
              <a:xfrm>
                <a:off x="1874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66" name="Group 202"/>
            <p:cNvGrpSpPr>
              <a:grpSpLocks/>
            </p:cNvGrpSpPr>
            <p:nvPr/>
          </p:nvGrpSpPr>
          <p:grpSpPr bwMode="auto">
            <a:xfrm>
              <a:off x="2642" y="2742"/>
              <a:ext cx="67" cy="240"/>
              <a:chOff x="2642" y="2742"/>
              <a:chExt cx="67" cy="240"/>
            </a:xfrm>
          </p:grpSpPr>
          <p:sp>
            <p:nvSpPr>
              <p:cNvPr id="497863" name="Line 199"/>
              <p:cNvSpPr>
                <a:spLocks noChangeShapeType="1"/>
              </p:cNvSpPr>
              <p:nvPr/>
            </p:nvSpPr>
            <p:spPr bwMode="auto">
              <a:xfrm>
                <a:off x="2675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64" name="Freeform 200"/>
              <p:cNvSpPr>
                <a:spLocks/>
              </p:cNvSpPr>
              <p:nvPr/>
            </p:nvSpPr>
            <p:spPr bwMode="auto">
              <a:xfrm>
                <a:off x="2642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65" name="Freeform 201"/>
              <p:cNvSpPr>
                <a:spLocks/>
              </p:cNvSpPr>
              <p:nvPr/>
            </p:nvSpPr>
            <p:spPr bwMode="auto">
              <a:xfrm>
                <a:off x="2642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70" name="Group 206"/>
            <p:cNvGrpSpPr>
              <a:grpSpLocks/>
            </p:cNvGrpSpPr>
            <p:nvPr/>
          </p:nvGrpSpPr>
          <p:grpSpPr bwMode="auto">
            <a:xfrm>
              <a:off x="3026" y="2742"/>
              <a:ext cx="67" cy="240"/>
              <a:chOff x="3026" y="2742"/>
              <a:chExt cx="67" cy="240"/>
            </a:xfrm>
          </p:grpSpPr>
          <p:sp>
            <p:nvSpPr>
              <p:cNvPr id="497867" name="Line 203"/>
              <p:cNvSpPr>
                <a:spLocks noChangeShapeType="1"/>
              </p:cNvSpPr>
              <p:nvPr/>
            </p:nvSpPr>
            <p:spPr bwMode="auto">
              <a:xfrm>
                <a:off x="3059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68" name="Freeform 204"/>
              <p:cNvSpPr>
                <a:spLocks/>
              </p:cNvSpPr>
              <p:nvPr/>
            </p:nvSpPr>
            <p:spPr bwMode="auto">
              <a:xfrm>
                <a:off x="3026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69" name="Freeform 205"/>
              <p:cNvSpPr>
                <a:spLocks/>
              </p:cNvSpPr>
              <p:nvPr/>
            </p:nvSpPr>
            <p:spPr bwMode="auto">
              <a:xfrm>
                <a:off x="3026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74" name="Group 210"/>
            <p:cNvGrpSpPr>
              <a:grpSpLocks/>
            </p:cNvGrpSpPr>
            <p:nvPr/>
          </p:nvGrpSpPr>
          <p:grpSpPr bwMode="auto">
            <a:xfrm>
              <a:off x="3410" y="2742"/>
              <a:ext cx="67" cy="240"/>
              <a:chOff x="3410" y="2742"/>
              <a:chExt cx="67" cy="240"/>
            </a:xfrm>
          </p:grpSpPr>
          <p:sp>
            <p:nvSpPr>
              <p:cNvPr id="497871" name="Line 207"/>
              <p:cNvSpPr>
                <a:spLocks noChangeShapeType="1"/>
              </p:cNvSpPr>
              <p:nvPr/>
            </p:nvSpPr>
            <p:spPr bwMode="auto">
              <a:xfrm>
                <a:off x="3443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72" name="Freeform 208"/>
              <p:cNvSpPr>
                <a:spLocks/>
              </p:cNvSpPr>
              <p:nvPr/>
            </p:nvSpPr>
            <p:spPr bwMode="auto">
              <a:xfrm>
                <a:off x="3410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73" name="Freeform 209"/>
              <p:cNvSpPr>
                <a:spLocks/>
              </p:cNvSpPr>
              <p:nvPr/>
            </p:nvSpPr>
            <p:spPr bwMode="auto">
              <a:xfrm>
                <a:off x="3410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78" name="Group 214"/>
            <p:cNvGrpSpPr>
              <a:grpSpLocks/>
            </p:cNvGrpSpPr>
            <p:nvPr/>
          </p:nvGrpSpPr>
          <p:grpSpPr bwMode="auto">
            <a:xfrm>
              <a:off x="3794" y="2742"/>
              <a:ext cx="67" cy="240"/>
              <a:chOff x="3794" y="2742"/>
              <a:chExt cx="67" cy="240"/>
            </a:xfrm>
          </p:grpSpPr>
          <p:sp>
            <p:nvSpPr>
              <p:cNvPr id="497875" name="Line 211"/>
              <p:cNvSpPr>
                <a:spLocks noChangeShapeType="1"/>
              </p:cNvSpPr>
              <p:nvPr/>
            </p:nvSpPr>
            <p:spPr bwMode="auto">
              <a:xfrm>
                <a:off x="3827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76" name="Freeform 212"/>
              <p:cNvSpPr>
                <a:spLocks/>
              </p:cNvSpPr>
              <p:nvPr/>
            </p:nvSpPr>
            <p:spPr bwMode="auto">
              <a:xfrm>
                <a:off x="3794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77" name="Freeform 213"/>
              <p:cNvSpPr>
                <a:spLocks/>
              </p:cNvSpPr>
              <p:nvPr/>
            </p:nvSpPr>
            <p:spPr bwMode="auto">
              <a:xfrm>
                <a:off x="3794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7882" name="Group 218"/>
            <p:cNvGrpSpPr>
              <a:grpSpLocks/>
            </p:cNvGrpSpPr>
            <p:nvPr/>
          </p:nvGrpSpPr>
          <p:grpSpPr bwMode="auto">
            <a:xfrm>
              <a:off x="2258" y="2742"/>
              <a:ext cx="67" cy="240"/>
              <a:chOff x="2258" y="2742"/>
              <a:chExt cx="67" cy="240"/>
            </a:xfrm>
          </p:grpSpPr>
          <p:sp>
            <p:nvSpPr>
              <p:cNvPr id="497879" name="Line 215"/>
              <p:cNvSpPr>
                <a:spLocks noChangeShapeType="1"/>
              </p:cNvSpPr>
              <p:nvPr/>
            </p:nvSpPr>
            <p:spPr bwMode="auto">
              <a:xfrm>
                <a:off x="2291" y="2807"/>
                <a:ext cx="1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80" name="Freeform 216"/>
              <p:cNvSpPr>
                <a:spLocks/>
              </p:cNvSpPr>
              <p:nvPr/>
            </p:nvSpPr>
            <p:spPr bwMode="auto">
              <a:xfrm>
                <a:off x="2258" y="2742"/>
                <a:ext cx="67" cy="68"/>
              </a:xfrm>
              <a:custGeom>
                <a:avLst/>
                <a:gdLst/>
                <a:ahLst/>
                <a:cxnLst>
                  <a:cxn ang="0">
                    <a:pos x="67" y="68"/>
                  </a:cxn>
                  <a:cxn ang="0">
                    <a:pos x="33" y="0"/>
                  </a:cxn>
                  <a:cxn ang="0">
                    <a:pos x="0" y="68"/>
                  </a:cxn>
                  <a:cxn ang="0">
                    <a:pos x="67" y="68"/>
                  </a:cxn>
                </a:cxnLst>
                <a:rect l="0" t="0" r="r" b="b"/>
                <a:pathLst>
                  <a:path w="67" h="68">
                    <a:moveTo>
                      <a:pt x="67" y="68"/>
                    </a:moveTo>
                    <a:lnTo>
                      <a:pt x="33" y="0"/>
                    </a:lnTo>
                    <a:lnTo>
                      <a:pt x="0" y="68"/>
                    </a:lnTo>
                    <a:lnTo>
                      <a:pt x="67" y="6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881" name="Freeform 217"/>
              <p:cNvSpPr>
                <a:spLocks/>
              </p:cNvSpPr>
              <p:nvPr/>
            </p:nvSpPr>
            <p:spPr bwMode="auto">
              <a:xfrm>
                <a:off x="2258" y="2915"/>
                <a:ext cx="67" cy="6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67"/>
                  </a:cxn>
                  <a:cxn ang="0">
                    <a:pos x="67" y="0"/>
                  </a:cxn>
                  <a:cxn ang="0">
                    <a:pos x="0" y="0"/>
                  </a:cxn>
                </a:cxnLst>
                <a:rect l="0" t="0" r="r" b="b"/>
                <a:pathLst>
                  <a:path w="67" h="67">
                    <a:moveTo>
                      <a:pt x="0" y="0"/>
                    </a:moveTo>
                    <a:lnTo>
                      <a:pt x="33" y="67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7883" name="Rectangle 219"/>
            <p:cNvSpPr>
              <a:spLocks noChangeArrowheads="1"/>
            </p:cNvSpPr>
            <p:nvPr/>
          </p:nvSpPr>
          <p:spPr bwMode="auto">
            <a:xfrm>
              <a:off x="2051" y="2982"/>
              <a:ext cx="754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7884" name="Rectangle 220"/>
            <p:cNvSpPr>
              <a:spLocks noChangeArrowheads="1"/>
            </p:cNvSpPr>
            <p:nvPr/>
          </p:nvSpPr>
          <p:spPr bwMode="auto">
            <a:xfrm>
              <a:off x="2126" y="3017"/>
              <a:ext cx="637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b="0">
                  <a:solidFill>
                    <a:srgbClr val="000000"/>
                  </a:solidFill>
                  <a:latin typeface="Arial" charset="0"/>
                </a:rPr>
                <a:t>Operation Results</a:t>
              </a:r>
              <a:endParaRPr lang="en-US"/>
            </a:p>
          </p:txBody>
        </p:sp>
        <p:sp>
          <p:nvSpPr>
            <p:cNvPr id="497901" name="Rectangle 237"/>
            <p:cNvSpPr>
              <a:spLocks noChangeArrowheads="1"/>
            </p:cNvSpPr>
            <p:nvPr/>
          </p:nvSpPr>
          <p:spPr bwMode="auto">
            <a:xfrm>
              <a:off x="1104" y="1838"/>
              <a:ext cx="5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7911" name="Group 247"/>
            <p:cNvGrpSpPr>
              <a:grpSpLocks/>
            </p:cNvGrpSpPr>
            <p:nvPr/>
          </p:nvGrpSpPr>
          <p:grpSpPr bwMode="auto">
            <a:xfrm>
              <a:off x="1056" y="1824"/>
              <a:ext cx="447" cy="255"/>
              <a:chOff x="1189" y="1871"/>
              <a:chExt cx="447" cy="255"/>
            </a:xfrm>
          </p:grpSpPr>
          <p:sp>
            <p:nvSpPr>
              <p:cNvPr id="497902" name="Rectangle 238"/>
              <p:cNvSpPr>
                <a:spLocks noChangeArrowheads="1"/>
              </p:cNvSpPr>
              <p:nvPr/>
            </p:nvSpPr>
            <p:spPr bwMode="auto">
              <a:xfrm>
                <a:off x="1189" y="1871"/>
                <a:ext cx="44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Arial" charset="0"/>
                  </a:rPr>
                  <a:t>Register</a:t>
                </a:r>
                <a:endParaRPr lang="en-US"/>
              </a:p>
            </p:txBody>
          </p:sp>
          <p:sp>
            <p:nvSpPr>
              <p:cNvPr id="497903" name="Rectangle 239"/>
              <p:cNvSpPr>
                <a:spLocks noChangeArrowheads="1"/>
              </p:cNvSpPr>
              <p:nvPr/>
            </p:nvSpPr>
            <p:spPr bwMode="auto">
              <a:xfrm>
                <a:off x="1196" y="2005"/>
                <a:ext cx="44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Arial" charset="0"/>
                  </a:rPr>
                  <a:t>Updates</a:t>
                </a:r>
                <a:endParaRPr lang="en-US"/>
              </a:p>
            </p:txBody>
          </p:sp>
        </p:grpSp>
        <p:sp>
          <p:nvSpPr>
            <p:cNvPr id="497912" name="Line 248"/>
            <p:cNvSpPr>
              <a:spLocks noChangeShapeType="1"/>
            </p:cNvSpPr>
            <p:nvPr/>
          </p:nvSpPr>
          <p:spPr bwMode="auto">
            <a:xfrm flipV="1">
              <a:off x="1584" y="1968"/>
              <a:ext cx="0" cy="10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97913" name="Line 249"/>
            <p:cNvSpPr>
              <a:spLocks noChangeShapeType="1"/>
            </p:cNvSpPr>
            <p:nvPr/>
          </p:nvSpPr>
          <p:spPr bwMode="auto">
            <a:xfrm flipV="1">
              <a:off x="1824" y="1968"/>
              <a:ext cx="0" cy="48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 type="triangle" w="sm" len="sm"/>
            </a:ln>
            <a:effectLst/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97914" name="Line 250"/>
            <p:cNvSpPr>
              <a:spLocks noChangeShapeType="1"/>
            </p:cNvSpPr>
            <p:nvPr/>
          </p:nvSpPr>
          <p:spPr bwMode="auto">
            <a:xfrm>
              <a:off x="2880" y="1824"/>
              <a:ext cx="0" cy="48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97915" name="Rectangle 251"/>
            <p:cNvSpPr>
              <a:spLocks noChangeArrowheads="1"/>
            </p:cNvSpPr>
            <p:nvPr/>
          </p:nvSpPr>
          <p:spPr bwMode="auto">
            <a:xfrm>
              <a:off x="2907" y="1872"/>
              <a:ext cx="58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Arial" charset="0"/>
                </a:rPr>
                <a:t>Operations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5299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34963"/>
            <a:ext cx="8070850" cy="571500"/>
          </a:xfrm>
        </p:spPr>
        <p:txBody>
          <a:bodyPr/>
          <a:lstStyle/>
          <a:p>
            <a:r>
              <a:rPr lang="en-US" dirty="0"/>
              <a:t>CPU Capabilities of Intel </a:t>
            </a:r>
            <a:r>
              <a:rPr lang="en-US" dirty="0" err="1"/>
              <a:t>Haswell</a:t>
            </a:r>
            <a:endParaRPr lang="en-US" dirty="0"/>
          </a:p>
        </p:txBody>
      </p:sp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294688" cy="5213350"/>
          </a:xfrm>
        </p:spPr>
        <p:txBody>
          <a:bodyPr/>
          <a:lstStyle/>
          <a:p>
            <a:pPr marL="223838" indent="-223838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2000" dirty="0"/>
              <a:t>Multiple Instructions Can Execute in Parallel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2 load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1 store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4 integer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2 FP multiply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1 FP add / divide</a:t>
            </a:r>
          </a:p>
          <a:p>
            <a:pPr marL="223838" indent="-223838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2000" dirty="0"/>
              <a:t>Some Instructions Take &gt; 1 Cycle, but Can be Pipelined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Instruction	Latency	Cycles/Issue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Load / Store	4	1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Integer Multiply	3	1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Integer Divide	3—30	3—30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Double/Single FP Multiply	5	1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Double/Single FP Add	3	1</a:t>
            </a:r>
          </a:p>
          <a:p>
            <a:pPr marL="560388" lvl="1" indent="-222250" defTabSz="895350">
              <a:tabLst>
                <a:tab pos="114300" algn="l"/>
                <a:tab pos="4229100" algn="r"/>
                <a:tab pos="6172200" algn="r"/>
              </a:tabLst>
            </a:pPr>
            <a:r>
              <a:rPr lang="en-US" sz="1800" dirty="0"/>
              <a:t>Double/Single FP Divide	10—15	6—11</a:t>
            </a:r>
          </a:p>
          <a:p>
            <a:pPr marL="223838" indent="-223838" defTabSz="895350">
              <a:tabLst>
                <a:tab pos="114300" algn="l"/>
                <a:tab pos="4229100" algn="r"/>
                <a:tab pos="6172200" algn="r"/>
              </a:tabLs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27962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Haswell</a:t>
            </a:r>
            <a:r>
              <a:rPr lang="en-US" dirty="0"/>
              <a:t> Operation</a:t>
            </a:r>
          </a:p>
        </p:txBody>
      </p:sp>
      <p:sp>
        <p:nvSpPr>
          <p:cNvPr id="50074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Translates instructions dynamically into “</a:t>
            </a:r>
            <a:r>
              <a:rPr lang="en-US" dirty="0" err="1"/>
              <a:t>Uops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~118 bits wide</a:t>
            </a:r>
          </a:p>
          <a:p>
            <a:pPr lvl="1"/>
            <a:r>
              <a:rPr lang="en-US" dirty="0"/>
              <a:t>Holds operation, two sources, and destination</a:t>
            </a:r>
          </a:p>
          <a:p>
            <a:r>
              <a:rPr lang="en-US" dirty="0"/>
              <a:t>Executes </a:t>
            </a:r>
            <a:r>
              <a:rPr lang="en-US" dirty="0" err="1"/>
              <a:t>Uops</a:t>
            </a:r>
            <a:r>
              <a:rPr lang="en-US" dirty="0"/>
              <a:t> with “Out of Order” engine</a:t>
            </a:r>
          </a:p>
          <a:p>
            <a:pPr lvl="1"/>
            <a:r>
              <a:rPr lang="en-US" dirty="0" err="1"/>
              <a:t>Uop</a:t>
            </a:r>
            <a:r>
              <a:rPr lang="en-US" dirty="0"/>
              <a:t> executed when</a:t>
            </a:r>
          </a:p>
          <a:p>
            <a:pPr lvl="2"/>
            <a:r>
              <a:rPr lang="en-US" dirty="0"/>
              <a:t>Operands available</a:t>
            </a:r>
          </a:p>
          <a:p>
            <a:pPr lvl="2"/>
            <a:r>
              <a:rPr lang="en-US" dirty="0"/>
              <a:t>Functional unit available</a:t>
            </a:r>
          </a:p>
          <a:p>
            <a:pPr lvl="1"/>
            <a:r>
              <a:rPr lang="en-US" dirty="0"/>
              <a:t>Execution controlled by “Reservation Stations”</a:t>
            </a:r>
          </a:p>
          <a:p>
            <a:pPr lvl="2"/>
            <a:r>
              <a:rPr lang="en-US" dirty="0"/>
              <a:t>Keeps track of data dependencies between </a:t>
            </a:r>
            <a:r>
              <a:rPr lang="en-US" dirty="0" err="1"/>
              <a:t>uops</a:t>
            </a:r>
            <a:endParaRPr lang="en-US" dirty="0"/>
          </a:p>
          <a:p>
            <a:pPr lvl="2"/>
            <a:r>
              <a:rPr lang="en-US" dirty="0"/>
              <a:t>Allocates resources</a:t>
            </a:r>
          </a:p>
        </p:txBody>
      </p:sp>
    </p:spTree>
    <p:extLst>
      <p:ext uri="{BB962C8B-B14F-4D97-AF65-F5344CB8AC3E}">
        <p14:creationId xmlns:p14="http://schemas.microsoft.com/office/powerpoint/2010/main" val="647867658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High-Performance Branch Prediction</a:t>
            </a:r>
          </a:p>
        </p:txBody>
      </p:sp>
      <p:sp>
        <p:nvSpPr>
          <p:cNvPr id="50176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Critical to Performance</a:t>
            </a:r>
          </a:p>
          <a:p>
            <a:pPr lvl="1"/>
            <a:r>
              <a:rPr lang="en-US" dirty="0"/>
              <a:t>Typically 11–15 cycle penalty for </a:t>
            </a:r>
            <a:r>
              <a:rPr lang="en-US" dirty="0" err="1"/>
              <a:t>misprediction</a:t>
            </a:r>
            <a:endParaRPr lang="en-US" dirty="0"/>
          </a:p>
          <a:p>
            <a:r>
              <a:rPr lang="en-US" dirty="0"/>
              <a:t>Branch Target Buffer</a:t>
            </a:r>
          </a:p>
          <a:p>
            <a:pPr lvl="1"/>
            <a:r>
              <a:rPr lang="en-US" dirty="0"/>
              <a:t>512 entries</a:t>
            </a:r>
          </a:p>
          <a:p>
            <a:pPr lvl="1"/>
            <a:r>
              <a:rPr lang="en-US" dirty="0"/>
              <a:t>4 bits of history</a:t>
            </a:r>
          </a:p>
          <a:p>
            <a:pPr lvl="1"/>
            <a:r>
              <a:rPr lang="en-US" dirty="0"/>
              <a:t>Adaptive algorithm</a:t>
            </a:r>
          </a:p>
          <a:p>
            <a:pPr lvl="2"/>
            <a:r>
              <a:rPr lang="en-US" dirty="0"/>
              <a:t>Can recognize repeated patterns, e.g., alternating taken–not taken</a:t>
            </a:r>
          </a:p>
          <a:p>
            <a:r>
              <a:rPr lang="en-US" dirty="0"/>
              <a:t>Handling BTB misses</a:t>
            </a:r>
          </a:p>
          <a:p>
            <a:pPr lvl="1"/>
            <a:r>
              <a:rPr lang="en-US" dirty="0"/>
              <a:t>Detect in ~cycle 6</a:t>
            </a:r>
          </a:p>
          <a:p>
            <a:pPr lvl="1"/>
            <a:r>
              <a:rPr lang="en-US" dirty="0"/>
              <a:t>Predict taken for negative offset, not taken for positive</a:t>
            </a:r>
          </a:p>
          <a:p>
            <a:pPr lvl="2"/>
            <a:r>
              <a:rPr lang="en-US" dirty="0"/>
              <a:t>Loops vs. conditionals</a:t>
            </a:r>
          </a:p>
        </p:txBody>
      </p:sp>
    </p:spTree>
    <p:extLst>
      <p:ext uri="{BB962C8B-B14F-4D97-AF65-F5344CB8AC3E}">
        <p14:creationId xmlns:p14="http://schemas.microsoft.com/office/powerpoint/2010/main" val="969637716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58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Branch Prediction</a:t>
            </a:r>
          </a:p>
        </p:txBody>
      </p:sp>
      <p:sp>
        <p:nvSpPr>
          <p:cNvPr id="504859" name="Rectangle 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Branch History </a:t>
            </a:r>
          </a:p>
          <a:p>
            <a:pPr lvl="1"/>
            <a:r>
              <a:rPr lang="en-US"/>
              <a:t>Encode information about prior history of branch instructions</a:t>
            </a:r>
          </a:p>
          <a:p>
            <a:pPr lvl="1"/>
            <a:r>
              <a:rPr lang="en-US"/>
              <a:t>Predict whether or not branch will be taken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State Machine</a:t>
            </a:r>
          </a:p>
          <a:p>
            <a:pPr lvl="1"/>
            <a:r>
              <a:rPr lang="en-US"/>
              <a:t>Each time branch taken, transition to right</a:t>
            </a:r>
          </a:p>
          <a:p>
            <a:pPr lvl="1"/>
            <a:r>
              <a:rPr lang="en-US"/>
              <a:t>When not taken, transition to left</a:t>
            </a:r>
          </a:p>
          <a:p>
            <a:pPr lvl="1"/>
            <a:r>
              <a:rPr lang="en-US"/>
              <a:t>Predict branch taken when in state Yes! or Yes?</a:t>
            </a:r>
          </a:p>
          <a:p>
            <a:pPr lvl="1"/>
            <a:endParaRPr lang="en-US"/>
          </a:p>
        </p:txBody>
      </p:sp>
      <p:grpSp>
        <p:nvGrpSpPr>
          <p:cNvPr id="504836" name="Group 4"/>
          <p:cNvGrpSpPr>
            <a:grpSpLocks/>
          </p:cNvGrpSpPr>
          <p:nvPr/>
        </p:nvGrpSpPr>
        <p:grpSpPr bwMode="auto">
          <a:xfrm>
            <a:off x="822325" y="3048000"/>
            <a:ext cx="7258050" cy="1427163"/>
            <a:chOff x="519" y="2194"/>
            <a:chExt cx="4578" cy="901"/>
          </a:xfrm>
        </p:grpSpPr>
        <p:sp>
          <p:nvSpPr>
            <p:cNvPr id="504837" name="Rectangle 5"/>
            <p:cNvSpPr>
              <a:spLocks noChangeArrowheads="1"/>
            </p:cNvSpPr>
            <p:nvPr/>
          </p:nvSpPr>
          <p:spPr bwMode="auto">
            <a:xfrm>
              <a:off x="1719" y="2866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343" tIns="44379" rIns="90343" bIns="44379">
              <a:spAutoFit/>
            </a:bodyPr>
            <a:lstStyle/>
            <a:p>
              <a:pPr algn="l"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T</a:t>
              </a:r>
            </a:p>
          </p:txBody>
        </p:sp>
        <p:sp>
          <p:nvSpPr>
            <p:cNvPr id="504838" name="Rectangle 6"/>
            <p:cNvSpPr>
              <a:spLocks noChangeArrowheads="1"/>
            </p:cNvSpPr>
            <p:nvPr/>
          </p:nvSpPr>
          <p:spPr bwMode="auto">
            <a:xfrm>
              <a:off x="2631" y="2866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343" tIns="44379" rIns="90343" bIns="44379">
              <a:spAutoFit/>
            </a:bodyPr>
            <a:lstStyle/>
            <a:p>
              <a:pPr algn="l"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T</a:t>
              </a:r>
            </a:p>
          </p:txBody>
        </p:sp>
        <p:sp>
          <p:nvSpPr>
            <p:cNvPr id="504839" name="Rectangle 7"/>
            <p:cNvSpPr>
              <a:spLocks noChangeArrowheads="1"/>
            </p:cNvSpPr>
            <p:nvPr/>
          </p:nvSpPr>
          <p:spPr bwMode="auto">
            <a:xfrm>
              <a:off x="3591" y="2866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343" tIns="44379" rIns="90343" bIns="44379">
              <a:spAutoFit/>
            </a:bodyPr>
            <a:lstStyle/>
            <a:p>
              <a:pPr algn="l"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T</a:t>
              </a:r>
            </a:p>
          </p:txBody>
        </p:sp>
        <p:sp>
          <p:nvSpPr>
            <p:cNvPr id="504840" name="Oval 8"/>
            <p:cNvSpPr>
              <a:spLocks noChangeArrowheads="1"/>
            </p:cNvSpPr>
            <p:nvPr/>
          </p:nvSpPr>
          <p:spPr bwMode="auto">
            <a:xfrm>
              <a:off x="4280" y="2456"/>
              <a:ext cx="416" cy="368"/>
            </a:xfrm>
            <a:prstGeom prst="ellipse">
              <a:avLst/>
            </a:prstGeom>
            <a:noFill/>
            <a:ln w="25400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841" name="Oval 9"/>
            <p:cNvSpPr>
              <a:spLocks noChangeArrowheads="1"/>
            </p:cNvSpPr>
            <p:nvPr/>
          </p:nvSpPr>
          <p:spPr bwMode="auto">
            <a:xfrm>
              <a:off x="776" y="2456"/>
              <a:ext cx="416" cy="368"/>
            </a:xfrm>
            <a:prstGeom prst="ellipse">
              <a:avLst/>
            </a:prstGeom>
            <a:noFill/>
            <a:ln w="25400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4842" name="Oval 10"/>
            <p:cNvSpPr>
              <a:spLocks noChangeArrowheads="1"/>
            </p:cNvSpPr>
            <p:nvPr/>
          </p:nvSpPr>
          <p:spPr bwMode="auto">
            <a:xfrm>
              <a:off x="1060" y="2404"/>
              <a:ext cx="472" cy="47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343" tIns="44379" rIns="90343" bIns="44379" anchor="ctr"/>
            <a:lstStyle/>
            <a:p>
              <a:pPr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Yes!</a:t>
              </a:r>
            </a:p>
          </p:txBody>
        </p:sp>
        <p:sp>
          <p:nvSpPr>
            <p:cNvPr id="504843" name="Oval 11"/>
            <p:cNvSpPr>
              <a:spLocks noChangeArrowheads="1"/>
            </p:cNvSpPr>
            <p:nvPr/>
          </p:nvSpPr>
          <p:spPr bwMode="auto">
            <a:xfrm>
              <a:off x="2020" y="2404"/>
              <a:ext cx="472" cy="47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343" tIns="44379" rIns="90343" bIns="44379" anchor="ctr"/>
            <a:lstStyle/>
            <a:p>
              <a:pPr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Yes?</a:t>
              </a:r>
            </a:p>
          </p:txBody>
        </p:sp>
        <p:sp>
          <p:nvSpPr>
            <p:cNvPr id="504844" name="Oval 12"/>
            <p:cNvSpPr>
              <a:spLocks noChangeArrowheads="1"/>
            </p:cNvSpPr>
            <p:nvPr/>
          </p:nvSpPr>
          <p:spPr bwMode="auto">
            <a:xfrm>
              <a:off x="2980" y="2404"/>
              <a:ext cx="472" cy="47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343" tIns="44379" rIns="90343" bIns="44379" anchor="ctr"/>
            <a:lstStyle/>
            <a:p>
              <a:pPr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No?</a:t>
              </a:r>
            </a:p>
          </p:txBody>
        </p:sp>
        <p:sp>
          <p:nvSpPr>
            <p:cNvPr id="504845" name="Oval 13"/>
            <p:cNvSpPr>
              <a:spLocks noChangeArrowheads="1"/>
            </p:cNvSpPr>
            <p:nvPr/>
          </p:nvSpPr>
          <p:spPr bwMode="auto">
            <a:xfrm>
              <a:off x="3940" y="2404"/>
              <a:ext cx="472" cy="47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343" tIns="44379" rIns="90343" bIns="44379" anchor="ctr"/>
            <a:lstStyle/>
            <a:p>
              <a:pPr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No!</a:t>
              </a:r>
            </a:p>
          </p:txBody>
        </p:sp>
        <p:sp>
          <p:nvSpPr>
            <p:cNvPr id="504846" name="Line 14"/>
            <p:cNvSpPr>
              <a:spLocks noChangeShapeType="1"/>
            </p:cNvSpPr>
            <p:nvPr/>
          </p:nvSpPr>
          <p:spPr bwMode="auto">
            <a:xfrm>
              <a:off x="1488" y="2496"/>
              <a:ext cx="576" cy="0"/>
            </a:xfrm>
            <a:prstGeom prst="line">
              <a:avLst/>
            </a:prstGeom>
            <a:noFill/>
            <a:ln w="25400">
              <a:solidFill>
                <a:srgbClr val="063DE8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4847" name="Line 15"/>
            <p:cNvSpPr>
              <a:spLocks noChangeShapeType="1"/>
            </p:cNvSpPr>
            <p:nvPr/>
          </p:nvSpPr>
          <p:spPr bwMode="auto">
            <a:xfrm>
              <a:off x="1488" y="2784"/>
              <a:ext cx="576" cy="0"/>
            </a:xfrm>
            <a:prstGeom prst="line">
              <a:avLst/>
            </a:prstGeom>
            <a:noFill/>
            <a:ln w="25400">
              <a:solidFill>
                <a:srgbClr val="063DE8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4848" name="Line 16"/>
            <p:cNvSpPr>
              <a:spLocks noChangeShapeType="1"/>
            </p:cNvSpPr>
            <p:nvPr/>
          </p:nvSpPr>
          <p:spPr bwMode="auto">
            <a:xfrm>
              <a:off x="2448" y="2496"/>
              <a:ext cx="576" cy="0"/>
            </a:xfrm>
            <a:prstGeom prst="line">
              <a:avLst/>
            </a:prstGeom>
            <a:noFill/>
            <a:ln w="25400">
              <a:solidFill>
                <a:srgbClr val="063DE8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4849" name="Line 17"/>
            <p:cNvSpPr>
              <a:spLocks noChangeShapeType="1"/>
            </p:cNvSpPr>
            <p:nvPr/>
          </p:nvSpPr>
          <p:spPr bwMode="auto">
            <a:xfrm>
              <a:off x="2448" y="2784"/>
              <a:ext cx="576" cy="0"/>
            </a:xfrm>
            <a:prstGeom prst="line">
              <a:avLst/>
            </a:prstGeom>
            <a:noFill/>
            <a:ln w="25400">
              <a:solidFill>
                <a:srgbClr val="063DE8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4850" name="Line 18"/>
            <p:cNvSpPr>
              <a:spLocks noChangeShapeType="1"/>
            </p:cNvSpPr>
            <p:nvPr/>
          </p:nvSpPr>
          <p:spPr bwMode="auto">
            <a:xfrm>
              <a:off x="3408" y="2496"/>
              <a:ext cx="576" cy="0"/>
            </a:xfrm>
            <a:prstGeom prst="line">
              <a:avLst/>
            </a:prstGeom>
            <a:noFill/>
            <a:ln w="25400">
              <a:solidFill>
                <a:srgbClr val="063DE8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4851" name="Line 19"/>
            <p:cNvSpPr>
              <a:spLocks noChangeShapeType="1"/>
            </p:cNvSpPr>
            <p:nvPr/>
          </p:nvSpPr>
          <p:spPr bwMode="auto">
            <a:xfrm>
              <a:off x="3408" y="2784"/>
              <a:ext cx="576" cy="0"/>
            </a:xfrm>
            <a:prstGeom prst="line">
              <a:avLst/>
            </a:prstGeom>
            <a:noFill/>
            <a:ln w="25400">
              <a:solidFill>
                <a:srgbClr val="063DE8"/>
              </a:solidFill>
              <a:round/>
              <a:headEnd type="triangle" w="med" len="med"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4852" name="Rectangle 20"/>
            <p:cNvSpPr>
              <a:spLocks noChangeArrowheads="1"/>
            </p:cNvSpPr>
            <p:nvPr/>
          </p:nvSpPr>
          <p:spPr bwMode="auto">
            <a:xfrm>
              <a:off x="1623" y="2194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343" tIns="44379" rIns="90343" bIns="44379">
              <a:spAutoFit/>
            </a:bodyPr>
            <a:lstStyle/>
            <a:p>
              <a:pPr algn="l"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NT</a:t>
              </a:r>
            </a:p>
          </p:txBody>
        </p:sp>
        <p:sp>
          <p:nvSpPr>
            <p:cNvPr id="504853" name="Rectangle 21"/>
            <p:cNvSpPr>
              <a:spLocks noChangeArrowheads="1"/>
            </p:cNvSpPr>
            <p:nvPr/>
          </p:nvSpPr>
          <p:spPr bwMode="auto">
            <a:xfrm>
              <a:off x="519" y="2482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343" tIns="44379" rIns="90343" bIns="44379">
              <a:spAutoFit/>
            </a:bodyPr>
            <a:lstStyle/>
            <a:p>
              <a:pPr algn="l"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T</a:t>
              </a:r>
            </a:p>
          </p:txBody>
        </p:sp>
        <p:sp>
          <p:nvSpPr>
            <p:cNvPr id="504854" name="Rectangle 22"/>
            <p:cNvSpPr>
              <a:spLocks noChangeArrowheads="1"/>
            </p:cNvSpPr>
            <p:nvPr/>
          </p:nvSpPr>
          <p:spPr bwMode="auto">
            <a:xfrm>
              <a:off x="2535" y="2194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343" tIns="44379" rIns="90343" bIns="44379">
              <a:spAutoFit/>
            </a:bodyPr>
            <a:lstStyle/>
            <a:p>
              <a:pPr algn="l"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NT</a:t>
              </a:r>
            </a:p>
          </p:txBody>
        </p:sp>
        <p:sp>
          <p:nvSpPr>
            <p:cNvPr id="504855" name="Rectangle 23"/>
            <p:cNvSpPr>
              <a:spLocks noChangeArrowheads="1"/>
            </p:cNvSpPr>
            <p:nvPr/>
          </p:nvSpPr>
          <p:spPr bwMode="auto">
            <a:xfrm>
              <a:off x="3495" y="2194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343" tIns="44379" rIns="90343" bIns="44379">
              <a:spAutoFit/>
            </a:bodyPr>
            <a:lstStyle/>
            <a:p>
              <a:pPr algn="l"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NT</a:t>
              </a:r>
            </a:p>
          </p:txBody>
        </p:sp>
        <p:sp>
          <p:nvSpPr>
            <p:cNvPr id="504856" name="Rectangle 24"/>
            <p:cNvSpPr>
              <a:spLocks noChangeArrowheads="1"/>
            </p:cNvSpPr>
            <p:nvPr/>
          </p:nvSpPr>
          <p:spPr bwMode="auto">
            <a:xfrm>
              <a:off x="4791" y="2530"/>
              <a:ext cx="30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343" tIns="44379" rIns="90343" bIns="44379">
              <a:spAutoFit/>
            </a:bodyPr>
            <a:lstStyle/>
            <a:p>
              <a:pPr algn="l" defTabSz="912813">
                <a:lnSpc>
                  <a:spcPct val="100000"/>
                </a:lnSpc>
              </a:pPr>
              <a:r>
                <a:rPr lang="en-US">
                  <a:latin typeface="Arial" charset="0"/>
                </a:rPr>
                <a:t>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5179376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Processor Summary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Technique</a:t>
            </a:r>
          </a:p>
          <a:p>
            <a:pPr lvl="1"/>
            <a:r>
              <a:rPr lang="en-US" dirty="0"/>
              <a:t>Create uniform framework for all instructions</a:t>
            </a:r>
          </a:p>
          <a:p>
            <a:pPr lvl="2"/>
            <a:r>
              <a:rPr lang="en-US" dirty="0"/>
              <a:t>Want to share hardware among instructions</a:t>
            </a:r>
          </a:p>
          <a:p>
            <a:pPr lvl="1"/>
            <a:r>
              <a:rPr lang="en-US" dirty="0"/>
              <a:t>Connect standard logic blocks with bits of control logic</a:t>
            </a:r>
          </a:p>
          <a:p>
            <a:r>
              <a:rPr lang="en-US" dirty="0"/>
              <a:t>Operation</a:t>
            </a:r>
          </a:p>
          <a:p>
            <a:pPr lvl="1"/>
            <a:r>
              <a:rPr lang="en-US" dirty="0"/>
              <a:t>State held in memories and clocked registers</a:t>
            </a:r>
          </a:p>
          <a:p>
            <a:pPr lvl="1"/>
            <a:r>
              <a:rPr lang="en-US" dirty="0"/>
              <a:t>Computation done by combinational logic</a:t>
            </a:r>
          </a:p>
          <a:p>
            <a:pPr lvl="1"/>
            <a:r>
              <a:rPr lang="en-US" dirty="0"/>
              <a:t>Clocking of registers/memories sufficient to control overall behavior</a:t>
            </a:r>
          </a:p>
          <a:p>
            <a:r>
              <a:rPr lang="en-US" dirty="0"/>
              <a:t>Enhancing Performance</a:t>
            </a:r>
          </a:p>
          <a:p>
            <a:pPr lvl="1"/>
            <a:r>
              <a:rPr lang="en-US" dirty="0"/>
              <a:t>Pipelining increases throughput and improves resource utilization</a:t>
            </a:r>
          </a:p>
          <a:p>
            <a:pPr lvl="1"/>
            <a:r>
              <a:rPr lang="en-US" dirty="0"/>
              <a:t>Must make </a:t>
            </a:r>
            <a:r>
              <a:rPr lang="en-US"/>
              <a:t>sure to maintain </a:t>
            </a:r>
            <a:r>
              <a:rPr lang="en-US" dirty="0"/>
              <a:t>ISA behavior</a:t>
            </a:r>
          </a:p>
        </p:txBody>
      </p:sp>
    </p:spTree>
    <p:extLst>
      <p:ext uri="{BB962C8B-B14F-4D97-AF65-F5344CB8AC3E}">
        <p14:creationId xmlns:p14="http://schemas.microsoft.com/office/powerpoint/2010/main" val="993923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18108</TotalTime>
  <Pages>8</Pages>
  <Words>7883</Words>
  <Application>Microsoft Macintosh PowerPoint</Application>
  <PresentationFormat>Custom</PresentationFormat>
  <Paragraphs>3496</Paragraphs>
  <Slides>102</Slides>
  <Notes>3</Notes>
  <HiddenSlides>5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4" baseType="lpstr">
      <vt:lpstr>ＭＳ Ｐゴシック</vt:lpstr>
      <vt:lpstr>Arial</vt:lpstr>
      <vt:lpstr>Arial Narrow</vt:lpstr>
      <vt:lpstr>Calibri</vt:lpstr>
      <vt:lpstr>Courier New</vt:lpstr>
      <vt:lpstr>Helvetica</vt:lpstr>
      <vt:lpstr>Symbol</vt:lpstr>
      <vt:lpstr>Times New Roman</vt:lpstr>
      <vt:lpstr>Wingdings</vt:lpstr>
      <vt:lpstr>Wingdings 2</vt:lpstr>
      <vt:lpstr>Wingdings 3</vt:lpstr>
      <vt:lpstr>template2007</vt:lpstr>
      <vt:lpstr>Processor Architecture: Pipelined Implementation   </vt:lpstr>
      <vt:lpstr>SEQ Stages</vt:lpstr>
      <vt:lpstr>Overview</vt:lpstr>
      <vt:lpstr>Real-World Pipelines: Car Washes</vt:lpstr>
      <vt:lpstr>Computational Example</vt:lpstr>
      <vt:lpstr>3-Way Pipelined Version</vt:lpstr>
      <vt:lpstr>Pipeline Diagrams</vt:lpstr>
      <vt:lpstr>Operating a Pipeline</vt:lpstr>
      <vt:lpstr>Limitations: Nonuniform Delays</vt:lpstr>
      <vt:lpstr>Limitations: Register Overhead</vt:lpstr>
      <vt:lpstr>Data Dependencies</vt:lpstr>
      <vt:lpstr>Data Hazards</vt:lpstr>
      <vt:lpstr>Data Dependencies in Processors</vt:lpstr>
      <vt:lpstr>SEQ Hardware</vt:lpstr>
      <vt:lpstr>SEQ+ Hardware</vt:lpstr>
      <vt:lpstr>Adding Pipeline Registers</vt:lpstr>
      <vt:lpstr>Pipeline Stages</vt:lpstr>
      <vt:lpstr>PIPE- Hardware</vt:lpstr>
      <vt:lpstr>Signal Naming Conventions</vt:lpstr>
      <vt:lpstr>Feedback Paths</vt:lpstr>
      <vt:lpstr>Predicting the PC</vt:lpstr>
      <vt:lpstr>Our Prediction Strategy</vt:lpstr>
      <vt:lpstr>Recovering from PC Misprediction</vt:lpstr>
      <vt:lpstr>Pipeline Demonstration</vt:lpstr>
      <vt:lpstr>Data Dependencies: 3 Nop’s</vt:lpstr>
      <vt:lpstr>Data Dependencies: 2 Nop’s</vt:lpstr>
      <vt:lpstr>Data Dependencies: 1 Nop</vt:lpstr>
      <vt:lpstr>Data Dependencies: No Nop</vt:lpstr>
      <vt:lpstr>Branch Misprediction Example</vt:lpstr>
      <vt:lpstr>Branch Misprediction Trace</vt:lpstr>
      <vt:lpstr>Return Example</vt:lpstr>
      <vt:lpstr>Incorrect Return Example</vt:lpstr>
      <vt:lpstr>Pipeline Summary</vt:lpstr>
      <vt:lpstr>Processor Architecture: Pipelined Implementation: 2   </vt:lpstr>
      <vt:lpstr>Overview</vt:lpstr>
      <vt:lpstr>Pipeline Stages</vt:lpstr>
      <vt:lpstr>PIPE- Hardware</vt:lpstr>
      <vt:lpstr>Data Dependencies: 2 Nop’s</vt:lpstr>
      <vt:lpstr>Data Dependencies: No Nop</vt:lpstr>
      <vt:lpstr>Stalling for Data Dependencies</vt:lpstr>
      <vt:lpstr>Stall Condition</vt:lpstr>
      <vt:lpstr>Detecting Stall Condition</vt:lpstr>
      <vt:lpstr>Stalling X3</vt:lpstr>
      <vt:lpstr>What Happens When Stalling?</vt:lpstr>
      <vt:lpstr>Implementing Stalling</vt:lpstr>
      <vt:lpstr>Pipeline Register Modes</vt:lpstr>
      <vt:lpstr>Data Forwarding</vt:lpstr>
      <vt:lpstr>Data Forwarding Example</vt:lpstr>
      <vt:lpstr>Bypass Paths</vt:lpstr>
      <vt:lpstr>Data Forwarding Example #2</vt:lpstr>
      <vt:lpstr>Forwarding Priority</vt:lpstr>
      <vt:lpstr>Implementing Forwarding</vt:lpstr>
      <vt:lpstr>Implementing Forwarding</vt:lpstr>
      <vt:lpstr>Limitation of Forwarding</vt:lpstr>
      <vt:lpstr>Avoiding Load/Use Hazard</vt:lpstr>
      <vt:lpstr>Detecting Load/Use Hazard</vt:lpstr>
      <vt:lpstr>Control for Load/Use Hazard</vt:lpstr>
      <vt:lpstr>Branch Misprediction Example</vt:lpstr>
      <vt:lpstr>Handling Misprediction</vt:lpstr>
      <vt:lpstr>Detecting Mispredicted Branch</vt:lpstr>
      <vt:lpstr>Control for Misprediction</vt:lpstr>
      <vt:lpstr>Return Example</vt:lpstr>
      <vt:lpstr>Correct Return Example</vt:lpstr>
      <vt:lpstr>Detecting Return</vt:lpstr>
      <vt:lpstr>Control for Return</vt:lpstr>
      <vt:lpstr>Special Control Cases</vt:lpstr>
      <vt:lpstr>Implementing Pipeline Control</vt:lpstr>
      <vt:lpstr>Initial Version of Pipeline Control</vt:lpstr>
      <vt:lpstr>Control Combinations</vt:lpstr>
      <vt:lpstr>Control Combination A</vt:lpstr>
      <vt:lpstr>Control Combination B</vt:lpstr>
      <vt:lpstr>Handling Control Combination B</vt:lpstr>
      <vt:lpstr>Corrected Pipeline Control Logic</vt:lpstr>
      <vt:lpstr>Pipeline Summary</vt:lpstr>
      <vt:lpstr>Processor Architecture: Wrap-up </vt:lpstr>
      <vt:lpstr>Overview</vt:lpstr>
      <vt:lpstr>Exceptions</vt:lpstr>
      <vt:lpstr>Exception Examples</vt:lpstr>
      <vt:lpstr>Exceptions in Pipeline Processor #1</vt:lpstr>
      <vt:lpstr>Exceptions in Pipeline Processor #2</vt:lpstr>
      <vt:lpstr>Maintaining Exception Ordering</vt:lpstr>
      <vt:lpstr>Exception Handling Logic</vt:lpstr>
      <vt:lpstr>Side Effects in Pipeline Processor</vt:lpstr>
      <vt:lpstr>Avoiding Side Effects</vt:lpstr>
      <vt:lpstr>Control Logic for State Changes</vt:lpstr>
      <vt:lpstr>Rest of Real-Life Exception Handling</vt:lpstr>
      <vt:lpstr>Performance Metrics</vt:lpstr>
      <vt:lpstr>CPI for PIPE</vt:lpstr>
      <vt:lpstr>CPI for PIPE (Cont.)</vt:lpstr>
      <vt:lpstr>Fetch Logic Revisited</vt:lpstr>
      <vt:lpstr>Standard Fetch Timing</vt:lpstr>
      <vt:lpstr>A Fast PC Increment Circuit </vt:lpstr>
      <vt:lpstr>Modified Fetch Timing</vt:lpstr>
      <vt:lpstr>More Realistic Fetch Logic</vt:lpstr>
      <vt:lpstr>Modern CPU Design</vt:lpstr>
      <vt:lpstr>Instruction Control</vt:lpstr>
      <vt:lpstr>Execution Unit</vt:lpstr>
      <vt:lpstr>CPU Capabilities of Intel Haswell</vt:lpstr>
      <vt:lpstr>Haswell Operation</vt:lpstr>
      <vt:lpstr>High-Performance Branch Prediction</vt:lpstr>
      <vt:lpstr>Example Branch Prediction</vt:lpstr>
      <vt:lpstr>Processor Summary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Processor Verification</dc:title>
  <dc:subject>SRC Review Slides</dc:subject>
  <dc:creator>Randal E. Bryant</dc:creator>
  <cp:lastModifiedBy> </cp:lastModifiedBy>
  <cp:revision>90</cp:revision>
  <cp:lastPrinted>2021-12-13T10:35:36Z</cp:lastPrinted>
  <dcterms:created xsi:type="dcterms:W3CDTF">1998-03-03T17:17:57Z</dcterms:created>
  <dcterms:modified xsi:type="dcterms:W3CDTF">2021-12-13T11:38:03Z</dcterms:modified>
</cp:coreProperties>
</file>