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2" r:id="rId4"/>
  </p:sldMasterIdLst>
  <p:notesMasterIdLst>
    <p:notesMasterId r:id="rId47"/>
  </p:notesMasterIdLst>
  <p:sldIdLst>
    <p:sldId id="317" r:id="rId5"/>
    <p:sldId id="344" r:id="rId6"/>
    <p:sldId id="284" r:id="rId7"/>
    <p:sldId id="285" r:id="rId8"/>
    <p:sldId id="286" r:id="rId9"/>
    <p:sldId id="287" r:id="rId10"/>
    <p:sldId id="288" r:id="rId11"/>
    <p:sldId id="364" r:id="rId12"/>
    <p:sldId id="289" r:id="rId13"/>
    <p:sldId id="350" r:id="rId14"/>
    <p:sldId id="293" r:id="rId15"/>
    <p:sldId id="295" r:id="rId16"/>
    <p:sldId id="366" r:id="rId17"/>
    <p:sldId id="301" r:id="rId18"/>
    <p:sldId id="332" r:id="rId19"/>
    <p:sldId id="302" r:id="rId20"/>
    <p:sldId id="304" r:id="rId21"/>
    <p:sldId id="351" r:id="rId22"/>
    <p:sldId id="306" r:id="rId23"/>
    <p:sldId id="307" r:id="rId24"/>
    <p:sldId id="309" r:id="rId25"/>
    <p:sldId id="312" r:id="rId26"/>
    <p:sldId id="368" r:id="rId27"/>
    <p:sldId id="367" r:id="rId28"/>
    <p:sldId id="369" r:id="rId29"/>
    <p:sldId id="336" r:id="rId30"/>
    <p:sldId id="338" r:id="rId31"/>
    <p:sldId id="370" r:id="rId32"/>
    <p:sldId id="339" r:id="rId33"/>
    <p:sldId id="365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71" r:id="rId45"/>
    <p:sldId id="324" r:id="rId4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63300"/>
    <a:srgbClr val="008000"/>
    <a:srgbClr val="CC0000"/>
    <a:srgbClr val="CC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682"/>
  </p:normalViewPr>
  <p:slideViewPr>
    <p:cSldViewPr>
      <p:cViewPr varScale="1">
        <p:scale>
          <a:sx n="193" d="100"/>
          <a:sy n="193" d="100"/>
        </p:scale>
        <p:origin x="160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9" d="100"/>
        <a:sy n="119" d="100"/>
      </p:scale>
      <p:origin x="0" y="31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6927-21FB-45BE-9815-9A740330FA9B}" type="datetimeFigureOut">
              <a:rPr lang="en-US" smtClean="0"/>
              <a:pPr/>
              <a:t>10/26/23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65B0C-B35D-4608-94F8-324A6C7A47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2590800"/>
          </a:xfrm>
        </p:spPr>
        <p:txBody>
          <a:bodyPr/>
          <a:lstStyle/>
          <a:p>
            <a:pPr lvl="0">
              <a:defRPr/>
            </a:pPr>
            <a:r>
              <a:rPr lang="en-US" b="1">
                <a:solidFill>
                  <a:srgbClr val="000000"/>
                </a:solidFill>
              </a:rPr>
              <a:t>Machine-Level Programming: </a:t>
            </a:r>
            <a:r>
              <a:rPr lang="en-US" b="1" dirty="0">
                <a:solidFill>
                  <a:srgbClr val="000000"/>
                </a:solidFill>
              </a:rPr>
              <a:t>Control</a:t>
            </a: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br>
              <a:rPr lang="en-US" dirty="0">
                <a:solidFill>
                  <a:srgbClr val="000000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rPr>
            </a:br>
            <a:endParaRPr lang="en-US" dirty="0"/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>
          <a:xfrm>
            <a:off x="685800" y="4419600"/>
            <a:ext cx="7678738" cy="14478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37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Processor State (x86-64, Partial)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3340100" cy="5435600"/>
          </a:xfrm>
          <a:ln/>
        </p:spPr>
        <p:txBody>
          <a:bodyPr/>
          <a:lstStyle/>
          <a:p>
            <a:r>
              <a:rPr lang="en-US" dirty="0"/>
              <a:t>Information about currently executing program</a:t>
            </a:r>
          </a:p>
          <a:p>
            <a:pPr marL="552450" lvl="1"/>
            <a:r>
              <a:rPr lang="en-US" dirty="0"/>
              <a:t>Temporary data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Location of runtime stack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)</a:t>
            </a:r>
          </a:p>
          <a:p>
            <a:pPr marL="552450" lvl="1"/>
            <a:r>
              <a:rPr lang="en-US" dirty="0"/>
              <a:t>Location of current code control point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Status of recent tests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CF, ZF, SF, OF</a:t>
            </a:r>
            <a:r>
              <a:rPr lang="en-US" dirty="0"/>
              <a:t> )</a:t>
            </a:r>
          </a:p>
        </p:txBody>
      </p:sp>
      <p:sp>
        <p:nvSpPr>
          <p:cNvPr id="33797" name="Rectangle 5"/>
          <p:cNvSpPr>
            <a:spLocks/>
          </p:cNvSpPr>
          <p:nvPr/>
        </p:nvSpPr>
        <p:spPr bwMode="auto">
          <a:xfrm>
            <a:off x="4466772" y="5410200"/>
            <a:ext cx="2057400" cy="308610"/>
          </a:xfrm>
          <a:prstGeom prst="rect">
            <a:avLst/>
          </a:prstGeom>
          <a:solidFill>
            <a:srgbClr val="D6D6F4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  <p:sp>
        <p:nvSpPr>
          <p:cNvPr id="33798" name="Rectangle 6"/>
          <p:cNvSpPr>
            <a:spLocks/>
          </p:cNvSpPr>
          <p:nvPr/>
        </p:nvSpPr>
        <p:spPr bwMode="auto">
          <a:xfrm>
            <a:off x="4466772" y="1828800"/>
            <a:ext cx="1026974" cy="384721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</p:txBody>
      </p:sp>
      <p:sp>
        <p:nvSpPr>
          <p:cNvPr id="33799" name="Rectangle 7"/>
          <p:cNvSpPr>
            <a:spLocks/>
          </p:cNvSpPr>
          <p:nvPr/>
        </p:nvSpPr>
        <p:spPr bwMode="auto">
          <a:xfrm>
            <a:off x="1981200" y="5638800"/>
            <a:ext cx="18986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Current stack top</a:t>
            </a:r>
          </a:p>
        </p:txBody>
      </p:sp>
      <p:sp>
        <p:nvSpPr>
          <p:cNvPr id="33801" name="Rectangle 9"/>
          <p:cNvSpPr>
            <a:spLocks/>
          </p:cNvSpPr>
          <p:nvPr/>
        </p:nvSpPr>
        <p:spPr bwMode="auto">
          <a:xfrm>
            <a:off x="6676572" y="5334000"/>
            <a:ext cx="20637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Instruction pointer</a:t>
            </a:r>
          </a:p>
        </p:txBody>
      </p:sp>
      <p:sp>
        <p:nvSpPr>
          <p:cNvPr id="33802" name="Rectangle 10"/>
          <p:cNvSpPr>
            <a:spLocks/>
          </p:cNvSpPr>
          <p:nvPr/>
        </p:nvSpPr>
        <p:spPr bwMode="auto">
          <a:xfrm>
            <a:off x="44858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CF</a:t>
            </a:r>
          </a:p>
        </p:txBody>
      </p:sp>
      <p:sp>
        <p:nvSpPr>
          <p:cNvPr id="33803" name="Rectangle 11"/>
          <p:cNvSpPr>
            <a:spLocks/>
          </p:cNvSpPr>
          <p:nvPr/>
        </p:nvSpPr>
        <p:spPr bwMode="auto">
          <a:xfrm>
            <a:off x="51589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ZF</a:t>
            </a:r>
          </a:p>
        </p:txBody>
      </p:sp>
      <p:sp>
        <p:nvSpPr>
          <p:cNvPr id="33804" name="Rectangle 12"/>
          <p:cNvSpPr>
            <a:spLocks/>
          </p:cNvSpPr>
          <p:nvPr/>
        </p:nvSpPr>
        <p:spPr bwMode="auto">
          <a:xfrm>
            <a:off x="58320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SF</a:t>
            </a:r>
          </a:p>
        </p:txBody>
      </p:sp>
      <p:sp>
        <p:nvSpPr>
          <p:cNvPr id="33805" name="Rectangle 13"/>
          <p:cNvSpPr>
            <a:spLocks/>
          </p:cNvSpPr>
          <p:nvPr/>
        </p:nvSpPr>
        <p:spPr bwMode="auto">
          <a:xfrm>
            <a:off x="65051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OF</a:t>
            </a:r>
          </a:p>
        </p:txBody>
      </p:sp>
      <p:sp>
        <p:nvSpPr>
          <p:cNvPr id="33806" name="Rectangle 14"/>
          <p:cNvSpPr>
            <a:spLocks/>
          </p:cNvSpPr>
          <p:nvPr/>
        </p:nvSpPr>
        <p:spPr bwMode="auto">
          <a:xfrm>
            <a:off x="7189788" y="6019800"/>
            <a:ext cx="1801812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Condition codes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466772" y="2286000"/>
            <a:ext cx="4296228" cy="2743200"/>
            <a:chOff x="762000" y="1143000"/>
            <a:chExt cx="7518400" cy="4800600"/>
          </a:xfrm>
        </p:grpSpPr>
        <p:sp>
          <p:nvSpPr>
            <p:cNvPr id="27" name="Rectangle 1"/>
            <p:cNvSpPr>
              <a:spLocks/>
            </p:cNvSpPr>
            <p:nvPr/>
          </p:nvSpPr>
          <p:spPr bwMode="auto">
            <a:xfrm>
              <a:off x="762000" y="4800600"/>
              <a:ext cx="3556000" cy="533400"/>
            </a:xfrm>
            <a:prstGeom prst="rect">
              <a:avLst/>
            </a:prstGeom>
            <a:solidFill>
              <a:srgbClr val="EFBFBF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%rsp</a:t>
              </a:r>
            </a:p>
          </p:txBody>
        </p:sp>
        <p:sp>
          <p:nvSpPr>
            <p:cNvPr id="28" name="Rectangle 22"/>
            <p:cNvSpPr>
              <a:spLocks/>
            </p:cNvSpPr>
            <p:nvPr/>
          </p:nvSpPr>
          <p:spPr bwMode="auto">
            <a:xfrm>
              <a:off x="47244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%r8</a:t>
              </a:r>
            </a:p>
          </p:txBody>
        </p:sp>
        <p:sp>
          <p:nvSpPr>
            <p:cNvPr id="29" name="Rectangle 23"/>
            <p:cNvSpPr>
              <a:spLocks/>
            </p:cNvSpPr>
            <p:nvPr/>
          </p:nvSpPr>
          <p:spPr bwMode="auto">
            <a:xfrm>
              <a:off x="47244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%r9</a:t>
              </a:r>
            </a:p>
          </p:txBody>
        </p:sp>
        <p:sp>
          <p:nvSpPr>
            <p:cNvPr id="30" name="Rectangle 24"/>
            <p:cNvSpPr>
              <a:spLocks/>
            </p:cNvSpPr>
            <p:nvPr/>
          </p:nvSpPr>
          <p:spPr bwMode="auto">
            <a:xfrm>
              <a:off x="47244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%r10</a:t>
              </a:r>
            </a:p>
          </p:txBody>
        </p:sp>
        <p:sp>
          <p:nvSpPr>
            <p:cNvPr id="31" name="Rectangle 25"/>
            <p:cNvSpPr>
              <a:spLocks/>
            </p:cNvSpPr>
            <p:nvPr/>
          </p:nvSpPr>
          <p:spPr bwMode="auto">
            <a:xfrm>
              <a:off x="47244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%r11</a:t>
              </a:r>
            </a:p>
          </p:txBody>
        </p:sp>
        <p:sp>
          <p:nvSpPr>
            <p:cNvPr id="32" name="Rectangle 26"/>
            <p:cNvSpPr>
              <a:spLocks/>
            </p:cNvSpPr>
            <p:nvPr/>
          </p:nvSpPr>
          <p:spPr bwMode="auto">
            <a:xfrm>
              <a:off x="47244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%r12</a:t>
              </a:r>
            </a:p>
          </p:txBody>
        </p:sp>
        <p:sp>
          <p:nvSpPr>
            <p:cNvPr id="33" name="Rectangle 27"/>
            <p:cNvSpPr>
              <a:spLocks/>
            </p:cNvSpPr>
            <p:nvPr/>
          </p:nvSpPr>
          <p:spPr bwMode="auto">
            <a:xfrm>
              <a:off x="47244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%r13</a:t>
              </a:r>
            </a:p>
          </p:txBody>
        </p:sp>
        <p:sp>
          <p:nvSpPr>
            <p:cNvPr id="34" name="Rectangle 28"/>
            <p:cNvSpPr>
              <a:spLocks/>
            </p:cNvSpPr>
            <p:nvPr/>
          </p:nvSpPr>
          <p:spPr bwMode="auto">
            <a:xfrm>
              <a:off x="4724400" y="4800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%r14</a:t>
              </a:r>
            </a:p>
          </p:txBody>
        </p:sp>
        <p:sp>
          <p:nvSpPr>
            <p:cNvPr id="35" name="Rectangle 29"/>
            <p:cNvSpPr>
              <a:spLocks/>
            </p:cNvSpPr>
            <p:nvPr/>
          </p:nvSpPr>
          <p:spPr bwMode="auto">
            <a:xfrm>
              <a:off x="47244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%r15</a:t>
              </a:r>
            </a:p>
          </p:txBody>
        </p:sp>
        <p:sp>
          <p:nvSpPr>
            <p:cNvPr id="36" name="Rectangle 30"/>
            <p:cNvSpPr>
              <a:spLocks/>
            </p:cNvSpPr>
            <p:nvPr/>
          </p:nvSpPr>
          <p:spPr bwMode="auto">
            <a:xfrm>
              <a:off x="7620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rax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7" name="Rectangle 31"/>
            <p:cNvSpPr>
              <a:spLocks/>
            </p:cNvSpPr>
            <p:nvPr/>
          </p:nvSpPr>
          <p:spPr bwMode="auto">
            <a:xfrm>
              <a:off x="7620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8" name="Rectangle 32"/>
            <p:cNvSpPr>
              <a:spLocks/>
            </p:cNvSpPr>
            <p:nvPr/>
          </p:nvSpPr>
          <p:spPr bwMode="auto">
            <a:xfrm>
              <a:off x="7620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%rcx</a:t>
              </a:r>
            </a:p>
          </p:txBody>
        </p:sp>
        <p:sp>
          <p:nvSpPr>
            <p:cNvPr id="39" name="Rectangle 33"/>
            <p:cNvSpPr>
              <a:spLocks/>
            </p:cNvSpPr>
            <p:nvPr/>
          </p:nvSpPr>
          <p:spPr bwMode="auto">
            <a:xfrm>
              <a:off x="7620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%rdx</a:t>
              </a:r>
            </a:p>
          </p:txBody>
        </p:sp>
        <p:sp>
          <p:nvSpPr>
            <p:cNvPr id="40" name="Rectangle 34"/>
            <p:cNvSpPr>
              <a:spLocks/>
            </p:cNvSpPr>
            <p:nvPr/>
          </p:nvSpPr>
          <p:spPr bwMode="auto">
            <a:xfrm>
              <a:off x="7620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%rsi</a:t>
              </a:r>
            </a:p>
          </p:txBody>
        </p:sp>
        <p:sp>
          <p:nvSpPr>
            <p:cNvPr id="41" name="Rectangle 35"/>
            <p:cNvSpPr>
              <a:spLocks/>
            </p:cNvSpPr>
            <p:nvPr/>
          </p:nvSpPr>
          <p:spPr bwMode="auto">
            <a:xfrm>
              <a:off x="7620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%rdi</a:t>
              </a:r>
            </a:p>
          </p:txBody>
        </p:sp>
        <p:sp>
          <p:nvSpPr>
            <p:cNvPr id="42" name="Rectangle 36"/>
            <p:cNvSpPr>
              <a:spLocks/>
            </p:cNvSpPr>
            <p:nvPr/>
          </p:nvSpPr>
          <p:spPr bwMode="auto">
            <a:xfrm>
              <a:off x="7620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%rbp</a:t>
              </a:r>
            </a:p>
          </p:txBody>
        </p:sp>
      </p:grpSp>
      <p:cxnSp>
        <p:nvCxnSpPr>
          <p:cNvPr id="3" name="Straight Arrow Connector 2"/>
          <p:cNvCxnSpPr>
            <a:endCxn id="27" idx="1"/>
          </p:cNvCxnSpPr>
          <p:nvPr/>
        </p:nvCxnSpPr>
        <p:spPr bwMode="auto">
          <a:xfrm flipV="1">
            <a:off x="3657600" y="4528457"/>
            <a:ext cx="809172" cy="11865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481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(Implicit Setting)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Single bit registers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</a:t>
            </a:r>
            <a:r>
              <a:rPr lang="en-US" dirty="0"/>
              <a:t>	 Carry Flag (for unsigned)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</a:t>
            </a:r>
            <a:r>
              <a:rPr lang="en-US" dirty="0"/>
              <a:t>  Sign Flag (for signed)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</a:t>
            </a:r>
            <a:r>
              <a:rPr lang="en-US" dirty="0"/>
              <a:t>	 Zero Flag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</a:t>
            </a:r>
            <a:r>
              <a:rPr lang="en-US" dirty="0"/>
              <a:t>  Overflow Flag (for signed)</a:t>
            </a:r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Implicitly set (think of it as side effect) by arithmetic operations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Example: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addq</a:t>
            </a:r>
            <a:r>
              <a:rPr lang="en-US" dirty="0"/>
              <a:t>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 err="1"/>
              <a:t>,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/>
              <a:t> ↔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a+b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(unsigned overflow)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== 0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&lt; 0</a:t>
            </a:r>
            <a:r>
              <a:rPr lang="en-US" dirty="0"/>
              <a:t> (as signed)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b&gt;0 &amp;&amp; t&lt;0) || (a&lt;0 &amp;&amp; b&lt;0 &amp;&amp; t&gt;=0)</a:t>
            </a: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Not set by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/>
              <a:t> instruction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(Explicit Setting: Compare)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Compare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a-b</a:t>
            </a:r>
            <a:r>
              <a:rPr lang="en-US" dirty="0"/>
              <a:t> without setting destination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(used for unsigned comparisons)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 == b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(a-b) &lt; 0</a:t>
            </a:r>
            <a:r>
              <a:rPr lang="en-US" dirty="0"/>
              <a:t> (as signed)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b&lt;0 &amp;&amp; (a-b)&lt;0) || (a&lt;0 &amp;&amp; b&gt;0 &amp;&amp; (a-b)&gt;0)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68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(Explicit Setting: Test)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Test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603250" lvl="2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/>
              <a:t> without setting destination 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/>
              <a:t>Sets condition codes based on value of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r>
              <a:rPr lang="en-US" dirty="0"/>
              <a:t>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endParaRPr lang="en-US" dirty="0"/>
          </a:p>
          <a:p>
            <a:pPr marL="317500" lvl="1" indent="0"/>
            <a:r>
              <a:rPr lang="en-US" dirty="0"/>
              <a:t>Useful to have one of the operands be a mask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== 0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&lt; 0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Reading Condition Codes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</a:t>
            </a:r>
          </a:p>
          <a:p>
            <a:pPr marL="552450" lvl="1"/>
            <a:r>
              <a:rPr lang="en-US" dirty="0"/>
              <a:t>Set low-order byte of destination to 0 or 1 based on combinations of condition codes</a:t>
            </a:r>
          </a:p>
          <a:p>
            <a:pPr marL="552450" lvl="1"/>
            <a:r>
              <a:rPr lang="en-US" dirty="0"/>
              <a:t>Does not alter remaining 7 bytes</a:t>
            </a:r>
          </a:p>
          <a:p>
            <a:pPr marL="552450" lvl="1"/>
            <a:endParaRPr lang="en-US" dirty="0"/>
          </a:p>
        </p:txBody>
      </p:sp>
      <p:graphicFrame>
        <p:nvGraphicFramePr>
          <p:cNvPr id="37893" name="Group 5"/>
          <p:cNvGraphicFramePr>
            <a:graphicFrameLocks noGrp="1"/>
          </p:cNvGraphicFramePr>
          <p:nvPr/>
        </p:nvGraphicFramePr>
        <p:xfrm>
          <a:off x="1295400" y="2976880"/>
          <a:ext cx="6096000" cy="357632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SetX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seta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setb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6019800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byte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36576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%al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36576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36576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%cl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36576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%dl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36576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36576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dil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3649650" y="4838700"/>
            <a:ext cx="655649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3657600" y="54356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bpl</a:t>
            </a:r>
            <a:endParaRPr lang="en-US" sz="1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7620000" y="1181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%r8b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7620000" y="1790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%r9b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7620000" y="2400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%r10b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7620000" y="30099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%r11b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7620000" y="36195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%r12b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7620000" y="42291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%r13b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7620000" y="48387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%r14b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7620000" y="5448300"/>
            <a:ext cx="6604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%r15b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</p:spTree>
    <p:extLst>
      <p:ext uri="{BB962C8B-B14F-4D97-AF65-F5344CB8AC3E}">
        <p14:creationId xmlns:p14="http://schemas.microsoft.com/office/powerpoint/2010/main" val="33439525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304800" y="5410200"/>
            <a:ext cx="6629400" cy="11176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%rdi		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Compare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x:y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setg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%al			# Set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when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&gt;</a:t>
            </a:r>
          </a:p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%al,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Zero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rest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of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38914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8915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Reading Condition Codes (Cont.)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1155700"/>
            <a:ext cx="5880100" cy="3327400"/>
          </a:xfrm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Instructions: </a:t>
            </a:r>
          </a:p>
          <a:p>
            <a:pPr marL="552450" lvl="1"/>
            <a:r>
              <a:rPr lang="en-US" dirty="0"/>
              <a:t>Set single byte based on combination of condition codes</a:t>
            </a:r>
          </a:p>
          <a:p>
            <a:r>
              <a:rPr lang="en-US" dirty="0"/>
              <a:t>One of addressable byte registers</a:t>
            </a:r>
          </a:p>
          <a:p>
            <a:pPr marL="552450" lvl="1"/>
            <a:r>
              <a:rPr lang="en-US" dirty="0"/>
              <a:t>Does not alter remaining bytes</a:t>
            </a:r>
          </a:p>
          <a:p>
            <a:pPr marL="552450" lvl="1"/>
            <a:r>
              <a:rPr lang="en-US" dirty="0"/>
              <a:t>Typically use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movzbl</a:t>
            </a:r>
            <a:r>
              <a:rPr lang="en-US" dirty="0"/>
              <a:t> to finish job</a:t>
            </a:r>
          </a:p>
          <a:p>
            <a:pPr marL="838200" lvl="2"/>
            <a:r>
              <a:rPr lang="en-US" dirty="0"/>
              <a:t>32-bit instructions also set upper 32 bits to 0</a:t>
            </a:r>
          </a:p>
        </p:txBody>
      </p:sp>
      <p:sp>
        <p:nvSpPr>
          <p:cNvPr id="38922" name="Rectangle 10"/>
          <p:cNvSpPr>
            <a:spLocks/>
          </p:cNvSpPr>
          <p:nvPr/>
        </p:nvSpPr>
        <p:spPr bwMode="auto">
          <a:xfrm>
            <a:off x="1143000" y="3886200"/>
            <a:ext cx="3429000" cy="1295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x &gt;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5258"/>
              </p:ext>
            </p:extLst>
          </p:nvPr>
        </p:nvGraphicFramePr>
        <p:xfrm>
          <a:off x="5638800" y="37338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Control: Condition codes</a:t>
            </a:r>
          </a:p>
          <a:p>
            <a:r>
              <a:rPr lang="en-US" dirty="0">
                <a:solidFill>
                  <a:srgbClr val="000000"/>
                </a:solidFill>
              </a:rPr>
              <a:t>Conditional branches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Jumping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863600"/>
          </a:xfrm>
          <a:ln/>
        </p:spPr>
        <p:txBody>
          <a:bodyPr/>
          <a:lstStyle/>
          <a:p>
            <a:r>
              <a:rPr lang="en-US"/>
              <a:t>jX Instructions</a:t>
            </a:r>
          </a:p>
          <a:p>
            <a:pPr marL="552450" lvl="1"/>
            <a:r>
              <a:rPr lang="en-US"/>
              <a:t>Jump to different part of code depending on condition codes</a:t>
            </a:r>
          </a:p>
        </p:txBody>
      </p:sp>
      <p:graphicFrame>
        <p:nvGraphicFramePr>
          <p:cNvPr id="40965" name="Group 5"/>
          <p:cNvGraphicFramePr>
            <a:graphicFrameLocks noGrp="1"/>
          </p:cNvGraphicFramePr>
          <p:nvPr/>
        </p:nvGraphicFramePr>
        <p:xfrm>
          <a:off x="1511300" y="2433638"/>
          <a:ext cx="6096000" cy="390144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jX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jmp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Unconditional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ja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jb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Branch Example (Old Style)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3013" name="Rectangle 5"/>
          <p:cNvSpPr>
            <a:spLocks/>
          </p:cNvSpPr>
          <p:nvPr/>
        </p:nvSpPr>
        <p:spPr bwMode="auto">
          <a:xfrm>
            <a:off x="4445000" y="1968500"/>
            <a:ext cx="4394200" cy="48133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jle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.L4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.L4:       # x &lt;= y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Generation</a:t>
            </a:r>
          </a:p>
          <a:p>
            <a:pPr marL="279400" lvl="1" indent="0">
              <a:buNone/>
            </a:pP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inek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&gt;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-S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fno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-if-conversion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control.c</a:t>
            </a:r>
            <a:endParaRPr lang="en-US" b="1" dirty="0">
              <a:solidFill>
                <a:srgbClr val="800000"/>
              </a:solidFill>
              <a:latin typeface="Courier New"/>
              <a:cs typeface="Courier New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54207"/>
              </p:ext>
            </p:extLst>
          </p:nvPr>
        </p:nvGraphicFramePr>
        <p:xfrm>
          <a:off x="4800600" y="50292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Expressing with </a:t>
            </a:r>
            <a:r>
              <a:rPr lang="en-US" dirty="0" err="1"/>
              <a:t>Goto</a:t>
            </a:r>
            <a:r>
              <a:rPr lang="en-US" dirty="0"/>
              <a:t> Code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C allows </a:t>
            </a:r>
            <a:r>
              <a:rPr lang="en-US" b="1" dirty="0" err="1">
                <a:latin typeface="Courier New"/>
                <a:cs typeface="Courier New"/>
              </a:rPr>
              <a:t>goto</a:t>
            </a:r>
            <a:r>
              <a:rPr lang="en-US" dirty="0"/>
              <a:t> statement</a:t>
            </a:r>
          </a:p>
          <a:p>
            <a:r>
              <a:rPr lang="en-US" dirty="0"/>
              <a:t>Jump to position designated by label</a:t>
            </a:r>
          </a:p>
          <a:p>
            <a:endParaRPr lang="en-US" dirty="0"/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495800" y="2209800"/>
            <a:ext cx="36576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absdiff_j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 &lt;=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214523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366713" y="141605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887538"/>
            <a:ext cx="5715000" cy="419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381000" y="339725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57200" y="3816350"/>
            <a:ext cx="3746500" cy="2355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Done;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Conditional Expression Translation (Using Branches)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330700" y="3886200"/>
            <a:ext cx="4432300" cy="2946400"/>
          </a:xfrm>
          <a:ln/>
        </p:spPr>
        <p:txBody>
          <a:bodyPr/>
          <a:lstStyle/>
          <a:p>
            <a:pPr marL="552450" lvl="1"/>
            <a:r>
              <a:rPr lang="en-US" dirty="0"/>
              <a:t>Create separate code regions for then &amp; else expressions</a:t>
            </a:r>
          </a:p>
          <a:p>
            <a:pPr marL="552450" lvl="1"/>
            <a:r>
              <a:rPr lang="en-US" dirty="0"/>
              <a:t>Execute appropriate one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1193800" y="2540000"/>
            <a:ext cx="3149600" cy="355600"/>
          </a:xfrm>
          <a:prstGeom prst="rect">
            <a:avLst/>
          </a:prstGeom>
          <a:solidFill>
            <a:srgbClr val="99CC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x&gt;y ? x-y : y-x;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5181600" y="236220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5181600" y="2819400"/>
            <a:ext cx="2514600" cy="1160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5105400" y="40386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5105400" y="4495800"/>
            <a:ext cx="3746500" cy="1593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result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Then_Expr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Arial Narro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if (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result = 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return result;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Using Conditional Moves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3500" y="1219200"/>
            <a:ext cx="4889500" cy="4038600"/>
          </a:xfrm>
          <a:ln/>
        </p:spPr>
        <p:txBody>
          <a:bodyPr/>
          <a:lstStyle/>
          <a:p>
            <a:pPr marL="292100"/>
            <a:r>
              <a:rPr lang="en-US" dirty="0"/>
              <a:t>Conditional Move Instructions</a:t>
            </a:r>
          </a:p>
          <a:p>
            <a:pPr marL="552450" lvl="1"/>
            <a:r>
              <a:rPr lang="en-US" dirty="0"/>
              <a:t>Instruction supports:</a:t>
            </a:r>
          </a:p>
          <a:p>
            <a:pPr marL="838200" lvl="2">
              <a:buNone/>
            </a:pPr>
            <a:r>
              <a:rPr lang="en-US" dirty="0"/>
              <a:t>if (Test)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 </a:t>
            </a:r>
            <a:r>
              <a:rPr lang="en-US" dirty="0" err="1">
                <a:sym typeface="Wingdings" pitchFamily="2" charset="2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Supported in post-1995 x86 processors</a:t>
            </a:r>
          </a:p>
          <a:p>
            <a:pPr marL="552450" lvl="1"/>
            <a:r>
              <a:rPr lang="en-US" dirty="0"/>
              <a:t>GCC tries to use them</a:t>
            </a:r>
          </a:p>
          <a:p>
            <a:pPr marL="838200" lvl="2"/>
            <a:r>
              <a:rPr lang="en-US" dirty="0"/>
              <a:t>But, only when known to be safe</a:t>
            </a:r>
          </a:p>
          <a:p>
            <a:pPr marL="292100"/>
            <a:r>
              <a:rPr lang="en-US" dirty="0"/>
              <a:t>Why?</a:t>
            </a:r>
          </a:p>
          <a:p>
            <a:pPr marL="552450" lvl="1"/>
            <a:r>
              <a:rPr lang="en-US" dirty="0"/>
              <a:t>Branches are very disruptive to instruction flow through pipelines</a:t>
            </a:r>
          </a:p>
          <a:p>
            <a:pPr marL="552450" lvl="1"/>
            <a:r>
              <a:rPr lang="en-US" dirty="0"/>
              <a:t>Conditional moves do not require control transfer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Move Example</a:t>
            </a:r>
          </a:p>
        </p:txBody>
      </p:sp>
      <p:sp>
        <p:nvSpPr>
          <p:cNvPr id="50186" name="Rectangle 10"/>
          <p:cNvSpPr>
            <a:spLocks/>
          </p:cNvSpPr>
          <p:nvPr/>
        </p:nvSpPr>
        <p:spPr bwMode="auto">
          <a:xfrm>
            <a:off x="6616700" y="1752600"/>
            <a:ext cx="2286000" cy="19812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2286000" y="4267200"/>
            <a:ext cx="6642100" cy="2590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x-y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y-x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cmovle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&lt;=,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57200" y="12954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82559"/>
              </p:ext>
            </p:extLst>
          </p:nvPr>
        </p:nvGraphicFramePr>
        <p:xfrm>
          <a:off x="4724400" y="1905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2227" name="Rectangle 3"/>
          <p:cNvSpPr>
            <a:spLocks/>
          </p:cNvSpPr>
          <p:nvPr/>
        </p:nvSpPr>
        <p:spPr bwMode="auto">
          <a:xfrm>
            <a:off x="457200" y="11430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Expensive Computations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Bad Cases for Conditional Move</a:t>
            </a: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2151062"/>
            <a:ext cx="4724400" cy="609600"/>
          </a:xfrm>
          <a:ln/>
        </p:spPr>
        <p:txBody>
          <a:bodyPr/>
          <a:lstStyle/>
          <a:p>
            <a:r>
              <a:rPr lang="en-US" sz="2000" dirty="0"/>
              <a:t>Both values get computed</a:t>
            </a:r>
          </a:p>
          <a:p>
            <a:r>
              <a:rPr lang="en-US" sz="2000" dirty="0"/>
              <a:t>Only makes sense when computations are very simple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533400" y="16176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Test(x)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Hard1(x)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Hard2(x);</a:t>
            </a: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457200" y="32766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Risky Computations</a:t>
            </a:r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685800" y="4284662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May have undesirable effects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533400" y="37512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*p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0;</a:t>
            </a:r>
          </a:p>
        </p:txBody>
      </p:sp>
      <p:sp>
        <p:nvSpPr>
          <p:cNvPr id="13" name="Rectangle 3"/>
          <p:cNvSpPr>
            <a:spLocks/>
          </p:cNvSpPr>
          <p:nvPr/>
        </p:nvSpPr>
        <p:spPr bwMode="auto">
          <a:xfrm>
            <a:off x="457200" y="50292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Computations with side effects</a:t>
            </a: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685800" y="6037262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Must be side-effect free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5" name="Rectangle 8"/>
          <p:cNvSpPr>
            <a:spLocks/>
          </p:cNvSpPr>
          <p:nvPr/>
        </p:nvSpPr>
        <p:spPr bwMode="auto">
          <a:xfrm>
            <a:off x="533400" y="55038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 &gt; 0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x*=7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x+=3;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/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pcount_do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 while 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293687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“Do-While” Loop Example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4953000"/>
            <a:ext cx="8382000" cy="1282700"/>
          </a:xfrm>
          <a:ln/>
        </p:spPr>
        <p:txBody>
          <a:bodyPr/>
          <a:lstStyle/>
          <a:p>
            <a:r>
              <a:rPr lang="en-US" dirty="0"/>
              <a:t>Count number of 1’s in argument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 (“</a:t>
            </a:r>
            <a:r>
              <a:rPr lang="en-US" dirty="0" err="1"/>
              <a:t>popcount</a:t>
            </a:r>
            <a:r>
              <a:rPr lang="en-US" dirty="0"/>
              <a:t>”)</a:t>
            </a:r>
          </a:p>
          <a:p>
            <a:r>
              <a:rPr lang="en-US" dirty="0"/>
              <a:t>Use conditional branch to either continue looping or to exit loop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529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5303" name="Rectangle 7"/>
          <p:cNvSpPr>
            <a:spLocks/>
          </p:cNvSpPr>
          <p:nvPr/>
        </p:nvSpPr>
        <p:spPr bwMode="auto">
          <a:xfrm>
            <a:off x="290513" y="1066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5305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“Do-While” Loop Compilation</a:t>
            </a:r>
          </a:p>
        </p:txBody>
      </p:sp>
      <p:sp>
        <p:nvSpPr>
          <p:cNvPr id="55307" name="Rectangle 11"/>
          <p:cNvSpPr>
            <a:spLocks/>
          </p:cNvSpPr>
          <p:nvPr/>
        </p:nvSpPr>
        <p:spPr bwMode="auto">
          <a:xfrm>
            <a:off x="2133600" y="4343400"/>
            <a:ext cx="5791200" cy="2057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$0,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0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.L2:		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andl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t =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&amp; 0x1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+= t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shrq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&gt;&gt;= 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jne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.L2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(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6"/>
          <p:cNvSpPr>
            <a:spLocks/>
          </p:cNvSpPr>
          <p:nvPr/>
        </p:nvSpPr>
        <p:spPr bwMode="auto">
          <a:xfrm>
            <a:off x="381000" y="1524001"/>
            <a:ext cx="4041775" cy="25908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37412"/>
              </p:ext>
            </p:extLst>
          </p:nvPr>
        </p:nvGraphicFramePr>
        <p:xfrm>
          <a:off x="4724400" y="1905000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6323" name="Rectangle 3"/>
          <p:cNvSpPr>
            <a:spLocks/>
          </p:cNvSpPr>
          <p:nvPr/>
        </p:nvSpPr>
        <p:spPr bwMode="auto">
          <a:xfrm>
            <a:off x="444500" y="1228725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533400" y="1641475"/>
            <a:ext cx="2895600" cy="121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810000" y="12192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886200" y="1631949"/>
            <a:ext cx="2743200" cy="168592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General “Do-While” Translation</a:t>
            </a:r>
          </a:p>
        </p:txBody>
      </p:sp>
      <p:sp>
        <p:nvSpPr>
          <p:cNvPr id="563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3035300"/>
            <a:ext cx="8382000" cy="3797300"/>
          </a:xfrm>
          <a:ln/>
        </p:spPr>
        <p:txBody>
          <a:bodyPr/>
          <a:lstStyle/>
          <a:p>
            <a:r>
              <a:rPr lang="en-US" dirty="0"/>
              <a:t>Body:</a:t>
            </a:r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endParaRPr lang="en-US" dirty="0"/>
          </a:p>
        </p:txBody>
      </p:sp>
      <p:sp>
        <p:nvSpPr>
          <p:cNvPr id="56329" name="Rectangle 9"/>
          <p:cNvSpPr>
            <a:spLocks/>
          </p:cNvSpPr>
          <p:nvPr/>
        </p:nvSpPr>
        <p:spPr bwMode="auto">
          <a:xfrm>
            <a:off x="1625600" y="3146425"/>
            <a:ext cx="2222500" cy="2260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…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Statement</a:t>
            </a:r>
            <a:r>
              <a:rPr lang="en-US" sz="2000" b="1" baseline="-25000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304800" y="30861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81000" y="3505200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“Jump-to-middle” translation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-</a:t>
            </a:r>
            <a:r>
              <a:rPr lang="en-US" b="1" dirty="0" err="1">
                <a:latin typeface="Courier New"/>
                <a:cs typeface="Courier New"/>
              </a:rPr>
              <a:t>Og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181600" y="2095501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257800" y="2514600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3657600" y="3048000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to Middle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pcount_goto_jtm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#1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</a:t>
            </a:r>
            <a:r>
              <a:rPr lang="en-US" dirty="0" err="1"/>
              <a:t>goto</a:t>
            </a:r>
            <a:r>
              <a:rPr lang="en-US" dirty="0"/>
              <a:t> starts loop at test</a:t>
            </a:r>
          </a:p>
        </p:txBody>
      </p:sp>
    </p:spTree>
    <p:extLst>
      <p:ext uri="{BB962C8B-B14F-4D97-AF65-F5344CB8AC3E}">
        <p14:creationId xmlns:p14="http://schemas.microsoft.com/office/powerpoint/2010/main" val="209401061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533400" y="1524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609600" y="2006601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533400" y="3687764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457200" y="4106863"/>
            <a:ext cx="3048000" cy="22050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while(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#2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0" y="1752600"/>
            <a:ext cx="4419600" cy="3992563"/>
          </a:xfrm>
        </p:spPr>
        <p:txBody>
          <a:bodyPr/>
          <a:lstStyle/>
          <a:p>
            <a:r>
              <a:rPr lang="en-US" dirty="0"/>
              <a:t>“Do-while” conversion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–O1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257800" y="3352800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334000" y="3771899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2" name="AutoShape 10"/>
          <p:cNvSpPr>
            <a:spLocks/>
          </p:cNvSpPr>
          <p:nvPr/>
        </p:nvSpPr>
        <p:spPr bwMode="auto">
          <a:xfrm>
            <a:off x="1371600" y="2878138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4038600" y="4178301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03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#2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conditional guards entrance to loop</a:t>
            </a:r>
          </a:p>
        </p:txBody>
      </p:sp>
    </p:spTree>
    <p:extLst>
      <p:ext uri="{BB962C8B-B14F-4D97-AF65-F5344CB8AC3E}">
        <p14:creationId xmlns:p14="http://schemas.microsoft.com/office/powerpoint/2010/main" val="11691958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Form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for (</a:t>
            </a:r>
            <a:r>
              <a:rPr lang="en-US" sz="2400" i="1"/>
              <a:t>Init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Test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Update </a:t>
            </a:r>
            <a:r>
              <a:rPr lang="en-US" sz="240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    </a:t>
            </a:r>
            <a:r>
              <a:rPr lang="en-US" sz="2400" i="1"/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00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ctr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General Form</a:t>
            </a:r>
          </a:p>
          <a:p>
            <a:pPr marL="223838" indent="-223838" algn="ctr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381000" y="2819400"/>
            <a:ext cx="4495800" cy="3962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#define WSIZE 8*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sizeof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5181600" y="1295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5181600" y="22098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181600" y="3200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5029200" y="419100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bit =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238750" y="838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238750" y="17970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257800" y="27876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5276850" y="37782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</a:t>
            </a:r>
            <a:r>
              <a:rPr lang="en-US" dirty="0">
                <a:sym typeface="Wingdings" pitchFamily="2" charset="2"/>
              </a:rPr>
              <a:t> While Loop</a:t>
            </a:r>
            <a:endParaRPr 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for (</a:t>
            </a:r>
            <a:r>
              <a:rPr lang="en-US" sz="2400" i="1" dirty="0">
                <a:latin typeface="+mj-lt"/>
              </a:rPr>
              <a:t>Init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Test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i="1" dirty="0"/>
              <a:t> </a:t>
            </a:r>
            <a:r>
              <a:rPr lang="en-US" sz="2400" dirty="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1435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For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447800" y="3962400"/>
            <a:ext cx="2819400" cy="26750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i="1" dirty="0">
                <a:latin typeface="+mj-lt"/>
              </a:rPr>
              <a:t>Init</a:t>
            </a:r>
            <a:r>
              <a:rPr lang="en-US" sz="2400" i="1" dirty="0">
                <a:latin typeface="Courier New" charset="0"/>
              </a:rPr>
              <a:t>;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while (</a:t>
            </a:r>
            <a:r>
              <a:rPr lang="en-US" sz="2400" i="1" dirty="0">
                <a:latin typeface="+mj-lt"/>
              </a:rPr>
              <a:t>Test </a:t>
            </a:r>
            <a:r>
              <a:rPr lang="en-US" sz="2400" dirty="0">
                <a:latin typeface="Courier New" charset="0"/>
              </a:rPr>
              <a:t>) {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  <a:endParaRPr lang="en-US" sz="2400" i="1" dirty="0"/>
          </a:p>
          <a:p>
            <a:pPr algn="l">
              <a:spcBef>
                <a:spcPct val="50000"/>
              </a:spcBef>
            </a:pPr>
            <a:r>
              <a:rPr lang="en-US" sz="2400" i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90550" y="3429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While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9" name="AutoShape 10"/>
          <p:cNvSpPr>
            <a:spLocks/>
          </p:cNvSpPr>
          <p:nvPr/>
        </p:nvSpPr>
        <p:spPr bwMode="auto">
          <a:xfrm>
            <a:off x="2438400" y="2895600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For-While Conversion</a:t>
            </a: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4419600" y="1143000"/>
            <a:ext cx="4495800" cy="4343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 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381000" y="18605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381000" y="27749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381000" y="38100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228600" y="475615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438150" y="14033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8150" y="2362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57200" y="33528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476250" y="43434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10021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1" name="Rectangle 7"/>
          <p:cNvSpPr>
            <a:spLocks/>
          </p:cNvSpPr>
          <p:nvPr/>
        </p:nvSpPr>
        <p:spPr bwMode="auto">
          <a:xfrm>
            <a:off x="381000" y="1354138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</a:t>
            </a:r>
            <a:r>
              <a:rPr lang="en-US" dirty="0">
                <a:sym typeface="Wingdings"/>
              </a:rPr>
              <a:t> Do-While Conversion</a:t>
            </a:r>
            <a:endParaRPr lang="en-US" dirty="0"/>
          </a:p>
        </p:txBody>
      </p:sp>
      <p:sp>
        <p:nvSpPr>
          <p:cNvPr id="5735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81000" y="5676900"/>
            <a:ext cx="4191000" cy="876300"/>
          </a:xfrm>
          <a:ln/>
        </p:spPr>
        <p:txBody>
          <a:bodyPr/>
          <a:lstStyle/>
          <a:p>
            <a:r>
              <a:rPr lang="en-US" dirty="0"/>
              <a:t>Initial test can be optimized away</a:t>
            </a:r>
          </a:p>
        </p:txBody>
      </p:sp>
      <p:sp>
        <p:nvSpPr>
          <p:cNvPr id="15" name="Rectangle 4"/>
          <p:cNvSpPr>
            <a:spLocks/>
          </p:cNvSpPr>
          <p:nvPr/>
        </p:nvSpPr>
        <p:spPr bwMode="auto">
          <a:xfrm>
            <a:off x="228600" y="1905000"/>
            <a:ext cx="41910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057400" y="1143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724400" y="1371600"/>
            <a:ext cx="4343400" cy="541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924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7502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sz="1800" i="1" dirty="0">
                <a:latin typeface="+mj-lt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200" y="4038600"/>
            <a:ext cx="71045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800" y="4876800"/>
            <a:ext cx="92845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5334000"/>
            <a:ext cx="61234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Test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29200" y="2819400"/>
            <a:ext cx="2209800" cy="533400"/>
            <a:chOff x="5029200" y="2743200"/>
            <a:chExt cx="2209800" cy="5334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 flipH="1"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b="1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b="1" dirty="0"/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4495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4622800" y="254000"/>
            <a:ext cx="4140200" cy="1143000"/>
          </a:xfrm>
          <a:ln/>
        </p:spPr>
        <p:txBody>
          <a:bodyPr/>
          <a:lstStyle/>
          <a:p>
            <a:pPr marL="119063" indent="-119063"/>
            <a:r>
              <a:rPr lang="en-US"/>
              <a:t>Switch Statement Example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53000" y="1803400"/>
            <a:ext cx="3810000" cy="5029200"/>
          </a:xfrm>
          <a:ln/>
        </p:spPr>
        <p:txBody>
          <a:bodyPr/>
          <a:lstStyle/>
          <a:p>
            <a:r>
              <a:rPr lang="en-US" dirty="0"/>
              <a:t>Multiple case labels</a:t>
            </a:r>
          </a:p>
          <a:p>
            <a:pPr marL="552450" lvl="1"/>
            <a:r>
              <a:rPr lang="en-US" dirty="0"/>
              <a:t>Here: 5 &amp; 6</a:t>
            </a:r>
          </a:p>
          <a:p>
            <a:r>
              <a:rPr lang="en-US" dirty="0"/>
              <a:t>Fall through cases</a:t>
            </a:r>
          </a:p>
          <a:p>
            <a:pPr marL="552450" lvl="1"/>
            <a:r>
              <a:rPr lang="en-US" dirty="0"/>
              <a:t>Here: 2</a:t>
            </a:r>
          </a:p>
          <a:p>
            <a:r>
              <a:rPr lang="en-US" dirty="0"/>
              <a:t>Missing cases</a:t>
            </a:r>
          </a:p>
          <a:p>
            <a:pPr marL="552450" lvl="1"/>
            <a:r>
              <a:rPr lang="en-US" dirty="0"/>
              <a:t>Here: 4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254000" y="304800"/>
            <a:ext cx="4127500" cy="6400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303491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25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 Structure</a:t>
            </a:r>
          </a:p>
        </p:txBody>
      </p:sp>
      <p:sp>
        <p:nvSpPr>
          <p:cNvPr id="22532" name="Rectangle 4"/>
          <p:cNvSpPr>
            <a:spLocks/>
          </p:cNvSpPr>
          <p:nvPr/>
        </p:nvSpPr>
        <p:spPr bwMode="auto">
          <a:xfrm>
            <a:off x="7235825" y="15875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0</a:t>
            </a:r>
          </a:p>
        </p:txBody>
      </p:sp>
      <p:sp>
        <p:nvSpPr>
          <p:cNvPr id="22533" name="Rectangle 5"/>
          <p:cNvSpPr>
            <a:spLocks/>
          </p:cNvSpPr>
          <p:nvPr/>
        </p:nvSpPr>
        <p:spPr bwMode="auto">
          <a:xfrm>
            <a:off x="6030913" y="15875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Targ0:</a:t>
            </a:r>
          </a:p>
        </p:txBody>
      </p:sp>
      <p:sp>
        <p:nvSpPr>
          <p:cNvPr id="22534" name="Rectangle 6"/>
          <p:cNvSpPr>
            <a:spLocks/>
          </p:cNvSpPr>
          <p:nvPr/>
        </p:nvSpPr>
        <p:spPr bwMode="auto">
          <a:xfrm>
            <a:off x="7235825" y="25781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1</a:t>
            </a:r>
          </a:p>
        </p:txBody>
      </p:sp>
      <p:sp>
        <p:nvSpPr>
          <p:cNvPr id="22535" name="Rectangle 7"/>
          <p:cNvSpPr>
            <a:spLocks/>
          </p:cNvSpPr>
          <p:nvPr/>
        </p:nvSpPr>
        <p:spPr bwMode="auto">
          <a:xfrm>
            <a:off x="6030913" y="25781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Targ1:</a:t>
            </a:r>
          </a:p>
        </p:txBody>
      </p:sp>
      <p:sp>
        <p:nvSpPr>
          <p:cNvPr id="22536" name="Rectangle 8"/>
          <p:cNvSpPr>
            <a:spLocks/>
          </p:cNvSpPr>
          <p:nvPr/>
        </p:nvSpPr>
        <p:spPr bwMode="auto">
          <a:xfrm>
            <a:off x="7235825" y="35687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2</a:t>
            </a:r>
          </a:p>
        </p:txBody>
      </p:sp>
      <p:sp>
        <p:nvSpPr>
          <p:cNvPr id="22537" name="Rectangle 9"/>
          <p:cNvSpPr>
            <a:spLocks/>
          </p:cNvSpPr>
          <p:nvPr/>
        </p:nvSpPr>
        <p:spPr bwMode="auto">
          <a:xfrm>
            <a:off x="6030913" y="35687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Targ2:</a:t>
            </a:r>
          </a:p>
        </p:txBody>
      </p:sp>
      <p:sp>
        <p:nvSpPr>
          <p:cNvPr id="22538" name="Rectangle 10"/>
          <p:cNvSpPr>
            <a:spLocks/>
          </p:cNvSpPr>
          <p:nvPr/>
        </p:nvSpPr>
        <p:spPr bwMode="auto">
          <a:xfrm>
            <a:off x="7204075" y="57023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</a:p>
        </p:txBody>
      </p:sp>
      <p:sp>
        <p:nvSpPr>
          <p:cNvPr id="22539" name="Rectangle 11"/>
          <p:cNvSpPr>
            <a:spLocks/>
          </p:cNvSpPr>
          <p:nvPr/>
        </p:nvSpPr>
        <p:spPr bwMode="auto">
          <a:xfrm>
            <a:off x="5694363" y="5702300"/>
            <a:ext cx="13096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20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</a:p>
        </p:txBody>
      </p:sp>
      <p:sp>
        <p:nvSpPr>
          <p:cNvPr id="22540" name="Rectangle 12"/>
          <p:cNvSpPr>
            <a:spLocks/>
          </p:cNvSpPr>
          <p:nvPr/>
        </p:nvSpPr>
        <p:spPr bwMode="auto">
          <a:xfrm>
            <a:off x="7702550" y="4559300"/>
            <a:ext cx="227013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1" name="Rectangle 13"/>
          <p:cNvSpPr>
            <a:spLocks/>
          </p:cNvSpPr>
          <p:nvPr/>
        </p:nvSpPr>
        <p:spPr bwMode="auto">
          <a:xfrm>
            <a:off x="3937000" y="1714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</a:t>
            </a:r>
          </a:p>
        </p:txBody>
      </p:sp>
      <p:sp>
        <p:nvSpPr>
          <p:cNvPr id="22542" name="Rectangle 14"/>
          <p:cNvSpPr>
            <a:spLocks/>
          </p:cNvSpPr>
          <p:nvPr/>
        </p:nvSpPr>
        <p:spPr bwMode="auto">
          <a:xfrm>
            <a:off x="3937000" y="2095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</a:t>
            </a:r>
          </a:p>
        </p:txBody>
      </p:sp>
      <p:sp>
        <p:nvSpPr>
          <p:cNvPr id="22543" name="Rectangle 15"/>
          <p:cNvSpPr>
            <a:spLocks/>
          </p:cNvSpPr>
          <p:nvPr/>
        </p:nvSpPr>
        <p:spPr bwMode="auto">
          <a:xfrm>
            <a:off x="3937000" y="2476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</a:t>
            </a:r>
          </a:p>
        </p:txBody>
      </p:sp>
      <p:sp>
        <p:nvSpPr>
          <p:cNvPr id="22544" name="Rectangle 16"/>
          <p:cNvSpPr>
            <a:spLocks/>
          </p:cNvSpPr>
          <p:nvPr/>
        </p:nvSpPr>
        <p:spPr bwMode="auto">
          <a:xfrm>
            <a:off x="3937000" y="37719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18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</a:t>
            </a:r>
          </a:p>
        </p:txBody>
      </p:sp>
      <p:sp>
        <p:nvSpPr>
          <p:cNvPr id="22545" name="Rectangle 17"/>
          <p:cNvSpPr>
            <a:spLocks/>
          </p:cNvSpPr>
          <p:nvPr/>
        </p:nvSpPr>
        <p:spPr bwMode="auto">
          <a:xfrm>
            <a:off x="3937000" y="2857500"/>
            <a:ext cx="1270000" cy="9144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6" name="Rectangle 18"/>
          <p:cNvSpPr>
            <a:spLocks/>
          </p:cNvSpPr>
          <p:nvPr/>
        </p:nvSpPr>
        <p:spPr bwMode="auto">
          <a:xfrm>
            <a:off x="3111500" y="1701800"/>
            <a:ext cx="852488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jtab:</a:t>
            </a:r>
          </a:p>
        </p:txBody>
      </p:sp>
      <p:sp>
        <p:nvSpPr>
          <p:cNvPr id="22547" name="Rectangle 19"/>
          <p:cNvSpPr>
            <a:spLocks/>
          </p:cNvSpPr>
          <p:nvPr/>
        </p:nvSpPr>
        <p:spPr bwMode="auto">
          <a:xfrm>
            <a:off x="304800" y="5092700"/>
            <a:ext cx="2667000" cy="3937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goto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*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[x];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</p:txBody>
      </p:sp>
      <p:sp>
        <p:nvSpPr>
          <p:cNvPr id="22548" name="Rectangle 20"/>
          <p:cNvSpPr>
            <a:spLocks/>
          </p:cNvSpPr>
          <p:nvPr/>
        </p:nvSpPr>
        <p:spPr bwMode="auto">
          <a:xfrm>
            <a:off x="304800" y="1663700"/>
            <a:ext cx="2298700" cy="26035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switch(x) {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val_0: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0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• • •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</a:t>
            </a:r>
            <a:r>
              <a:rPr lang="en-US" sz="1800" dirty="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22549" name="Rectangle 21"/>
          <p:cNvSpPr>
            <a:spLocks/>
          </p:cNvSpPr>
          <p:nvPr/>
        </p:nvSpPr>
        <p:spPr bwMode="auto">
          <a:xfrm>
            <a:off x="285750" y="1295400"/>
            <a:ext cx="1390650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Switch Form</a:t>
            </a:r>
          </a:p>
        </p:txBody>
      </p:sp>
      <p:sp>
        <p:nvSpPr>
          <p:cNvPr id="22550" name="Rectangle 22"/>
          <p:cNvSpPr>
            <a:spLocks/>
          </p:cNvSpPr>
          <p:nvPr/>
        </p:nvSpPr>
        <p:spPr bwMode="auto">
          <a:xfrm>
            <a:off x="271463" y="4724400"/>
            <a:ext cx="2633859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Translation (Extended C)</a:t>
            </a:r>
          </a:p>
        </p:txBody>
      </p:sp>
      <p:sp>
        <p:nvSpPr>
          <p:cNvPr id="22551" name="Rectangle 23"/>
          <p:cNvSpPr>
            <a:spLocks/>
          </p:cNvSpPr>
          <p:nvPr/>
        </p:nvSpPr>
        <p:spPr bwMode="auto">
          <a:xfrm>
            <a:off x="3725863" y="1282700"/>
            <a:ext cx="1268412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2552" name="Rectangle 24"/>
          <p:cNvSpPr>
            <a:spLocks/>
          </p:cNvSpPr>
          <p:nvPr/>
        </p:nvSpPr>
        <p:spPr bwMode="auto">
          <a:xfrm>
            <a:off x="6923088" y="1219200"/>
            <a:ext cx="1462087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Targets</a:t>
            </a:r>
          </a:p>
        </p:txBody>
      </p:sp>
    </p:spTree>
    <p:extLst>
      <p:ext uri="{BB962C8B-B14F-4D97-AF65-F5344CB8AC3E}">
        <p14:creationId xmlns:p14="http://schemas.microsoft.com/office/powerpoint/2010/main" val="53849361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3556" name="Rectangle 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3562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23563" name="Rectangle 11"/>
          <p:cNvSpPr>
            <a:spLocks/>
          </p:cNvSpPr>
          <p:nvPr/>
        </p:nvSpPr>
        <p:spPr bwMode="auto">
          <a:xfrm>
            <a:off x="457200" y="13763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8" name="Rectangle 1"/>
          <p:cNvSpPr>
            <a:spLocks/>
          </p:cNvSpPr>
          <p:nvPr/>
        </p:nvSpPr>
        <p:spPr bwMode="auto">
          <a:xfrm>
            <a:off x="304800" y="4267200"/>
            <a:ext cx="7620000" cy="2159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 flipV="1">
            <a:off x="1295400" y="5334000"/>
            <a:ext cx="990600" cy="609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38200" y="59436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What range of values takes default?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43600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Note that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 not initialized here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88483"/>
              </p:ext>
            </p:extLst>
          </p:nvPr>
        </p:nvGraphicFramePr>
        <p:xfrm>
          <a:off x="5181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46390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45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4580" name="Rectangle 4"/>
          <p:cNvSpPr>
            <a:spLocks/>
          </p:cNvSpPr>
          <p:nvPr/>
        </p:nvSpPr>
        <p:spPr bwMode="auto">
          <a:xfrm>
            <a:off x="457200" y="13509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switch_eg(long x, long y, long z)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4581" name="Rectangle 5"/>
          <p:cNvSpPr>
            <a:spLocks/>
          </p:cNvSpPr>
          <p:nvPr/>
        </p:nvSpPr>
        <p:spPr bwMode="auto">
          <a:xfrm>
            <a:off x="76200" y="5334000"/>
            <a:ext cx="1004888" cy="635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Indirect </a:t>
            </a:r>
            <a:b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</a:br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jump</a:t>
            </a:r>
          </a:p>
        </p:txBody>
      </p:sp>
      <p:sp>
        <p:nvSpPr>
          <p:cNvPr id="24582" name="AutoShape 6"/>
          <p:cNvSpPr>
            <a:spLocks/>
          </p:cNvSpPr>
          <p:nvPr/>
        </p:nvSpPr>
        <p:spPr bwMode="auto">
          <a:xfrm>
            <a:off x="1066800" y="5410200"/>
            <a:ext cx="631825" cy="38100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00000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3" name="Rectangle 7"/>
          <p:cNvSpPr>
            <a:spLocks/>
          </p:cNvSpPr>
          <p:nvPr/>
        </p:nvSpPr>
        <p:spPr bwMode="auto">
          <a:xfrm>
            <a:off x="6172200" y="2286000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4584" name="Rectangle 8"/>
          <p:cNvSpPr>
            <a:spLocks/>
          </p:cNvSpPr>
          <p:nvPr/>
        </p:nvSpPr>
        <p:spPr bwMode="auto">
          <a:xfrm>
            <a:off x="6248400" y="26670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4586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23838" indent="-2238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1143000" y="4241800"/>
            <a:ext cx="5867400" cy="2082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           # Use default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JTab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]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48364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Assembly Setup Explanation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56200"/>
          </a:xfrm>
          <a:ln/>
        </p:spPr>
        <p:txBody>
          <a:bodyPr/>
          <a:lstStyle/>
          <a:p>
            <a:r>
              <a:rPr lang="en-US" dirty="0"/>
              <a:t>Table Structure</a:t>
            </a:r>
          </a:p>
          <a:p>
            <a:pPr marL="552450" lvl="1"/>
            <a:r>
              <a:rPr lang="en-US" dirty="0"/>
              <a:t>Each target requires 8 bytes</a:t>
            </a:r>
          </a:p>
          <a:p>
            <a:pPr marL="552450" lvl="1"/>
            <a:r>
              <a:rPr lang="en-US" dirty="0"/>
              <a:t>Base address at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endParaRPr lang="en-US" dirty="0"/>
          </a:p>
          <a:p>
            <a:r>
              <a:rPr lang="en-US" dirty="0"/>
              <a:t>Jumping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.L8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Jump target is denoted by label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.L8</a:t>
            </a:r>
            <a:endParaRPr lang="en-US" dirty="0"/>
          </a:p>
          <a:p>
            <a:pPr marL="552450" lvl="1"/>
            <a:endParaRPr lang="en-US" dirty="0"/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*.L4(,%rdi,8)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Start of jump table: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pPr marL="552450" lvl="1"/>
            <a:r>
              <a:rPr lang="en-US" dirty="0"/>
              <a:t>Must scale by factor of 8 (addresses are 8 bytes)</a:t>
            </a:r>
          </a:p>
          <a:p>
            <a:pPr marL="552450" lvl="1"/>
            <a:r>
              <a:rPr lang="en-US" dirty="0"/>
              <a:t>Fetch target from effective Address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 + x*8</a:t>
            </a:r>
            <a:endParaRPr lang="en-US" dirty="0"/>
          </a:p>
          <a:p>
            <a:pPr marL="838200" lvl="2"/>
            <a:r>
              <a:rPr lang="en-US" dirty="0"/>
              <a:t>Only for  0 ≤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 ≤ 6</a:t>
            </a:r>
          </a:p>
        </p:txBody>
      </p:sp>
      <p:sp>
        <p:nvSpPr>
          <p:cNvPr id="25606" name="Rectangle 6"/>
          <p:cNvSpPr>
            <a:spLocks/>
          </p:cNvSpPr>
          <p:nvPr/>
        </p:nvSpPr>
        <p:spPr bwMode="auto">
          <a:xfrm>
            <a:off x="5257800" y="1646238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5486400" y="21336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9732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>
            <a:spLocks/>
          </p:cNvSpPr>
          <p:nvPr/>
        </p:nvSpPr>
        <p:spPr bwMode="auto">
          <a:xfrm>
            <a:off x="1130300" y="19812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</a:t>
            </a:r>
          </a:p>
        </p:txBody>
      </p:sp>
      <p:sp>
        <p:nvSpPr>
          <p:cNvPr id="26629" name="Rectangle 5"/>
          <p:cNvSpPr>
            <a:spLocks/>
          </p:cNvSpPr>
          <p:nvPr/>
        </p:nvSpPr>
        <p:spPr bwMode="auto">
          <a:xfrm>
            <a:off x="292100" y="137160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4419600" y="1600200"/>
            <a:ext cx="4432300" cy="47704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    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      // .L5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      // .L9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    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   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3581400" y="2743200"/>
            <a:ext cx="1371600" cy="27241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 rot="10800000" flipH="1">
            <a:off x="3568700" y="2146300"/>
            <a:ext cx="1390650" cy="73660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rot="10800000" flipH="1">
            <a:off x="3570288" y="2906713"/>
            <a:ext cx="1392237" cy="236537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3575050" y="3403600"/>
            <a:ext cx="1390650" cy="271463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3581400" y="3670300"/>
            <a:ext cx="1373188" cy="17970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3581400" y="3905250"/>
            <a:ext cx="1295400" cy="6667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581400" y="4159250"/>
            <a:ext cx="1295400" cy="6413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4175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1)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1371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.L3: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*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1981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case 1:	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93612"/>
              </p:ext>
            </p:extLst>
          </p:nvPr>
        </p:nvGraphicFramePr>
        <p:xfrm>
          <a:off x="1752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50519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Handling Fall-Through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16" name="Rectangle 6"/>
          <p:cNvSpPr>
            <a:spLocks/>
          </p:cNvSpPr>
          <p:nvPr/>
        </p:nvSpPr>
        <p:spPr bwMode="auto">
          <a:xfrm>
            <a:off x="6172200" y="4419600"/>
            <a:ext cx="2743200" cy="762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case 3: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7" name="Rectangle 6"/>
          <p:cNvSpPr>
            <a:spLocks/>
          </p:cNvSpPr>
          <p:nvPr/>
        </p:nvSpPr>
        <p:spPr bwMode="auto">
          <a:xfrm>
            <a:off x="4191000" y="2133600"/>
            <a:ext cx="2743200" cy="990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merge;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8" name="Rectangle 6"/>
          <p:cNvSpPr>
            <a:spLocks/>
          </p:cNvSpPr>
          <p:nvPr/>
        </p:nvSpPr>
        <p:spPr bwMode="auto">
          <a:xfrm>
            <a:off x="6172200" y="5181600"/>
            <a:ext cx="2743200" cy="685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cxnSp>
        <p:nvCxnSpPr>
          <p:cNvPr id="20" name="Straight Arrow Connector 19"/>
          <p:cNvCxnSpPr>
            <a:endCxn id="17" idx="1"/>
          </p:cNvCxnSpPr>
          <p:nvPr/>
        </p:nvCxnSpPr>
        <p:spPr bwMode="auto">
          <a:xfrm flipV="1">
            <a:off x="1752600" y="2628900"/>
            <a:ext cx="2438400" cy="190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endCxn id="16" idx="1"/>
          </p:cNvCxnSpPr>
          <p:nvPr/>
        </p:nvCxnSpPr>
        <p:spPr bwMode="auto">
          <a:xfrm>
            <a:off x="1905000" y="3733800"/>
            <a:ext cx="4267200" cy="1066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17" idx="2"/>
          </p:cNvCxnSpPr>
          <p:nvPr/>
        </p:nvCxnSpPr>
        <p:spPr bwMode="auto">
          <a:xfrm>
            <a:off x="5562600" y="3124200"/>
            <a:ext cx="609600" cy="2286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1501647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2, x == 3)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3962400" y="1295400"/>
            <a:ext cx="5041900" cy="3048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.L5:                  # Case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cqto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idivq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.L6 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.L9:                  # Case 3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              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+=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ret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239769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43322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5, x == 6, default)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2133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.L7:               # Case 5,6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-=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.L8:               # Default: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$2,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2819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  // .L7</a:t>
            </a:r>
          </a:p>
          <a:p>
            <a:pPr algn="l"/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case 6: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038513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26601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9938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Summarizing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C Control</a:t>
            </a:r>
          </a:p>
          <a:p>
            <a:pPr marL="546100" lvl="1"/>
            <a:r>
              <a:rPr lang="en-US" dirty="0"/>
              <a:t>if-then-else</a:t>
            </a:r>
          </a:p>
          <a:p>
            <a:pPr marL="546100" lvl="1"/>
            <a:r>
              <a:rPr lang="en-US" dirty="0"/>
              <a:t>do-while</a:t>
            </a:r>
          </a:p>
          <a:p>
            <a:pPr marL="546100" lvl="1"/>
            <a:r>
              <a:rPr lang="en-US" dirty="0"/>
              <a:t>while, for</a:t>
            </a:r>
          </a:p>
          <a:p>
            <a:pPr marL="546100" lvl="1"/>
            <a:r>
              <a:rPr lang="en-US" dirty="0"/>
              <a:t>switch</a:t>
            </a:r>
          </a:p>
          <a:p>
            <a:r>
              <a:rPr lang="en-US" dirty="0"/>
              <a:t>Assembler Control</a:t>
            </a:r>
          </a:p>
          <a:p>
            <a:pPr marL="546100" lvl="1"/>
            <a:r>
              <a:rPr lang="en-US" dirty="0"/>
              <a:t>Conditional jump</a:t>
            </a:r>
          </a:p>
          <a:p>
            <a:pPr marL="546100" lvl="1"/>
            <a:r>
              <a:rPr lang="en-US" dirty="0"/>
              <a:t>Conditional move</a:t>
            </a:r>
          </a:p>
          <a:p>
            <a:pPr marL="546100" lvl="1"/>
            <a:r>
              <a:rPr lang="en-US" dirty="0"/>
              <a:t>Indirect jump (via jump tables)</a:t>
            </a:r>
          </a:p>
          <a:p>
            <a:pPr marL="546100" lvl="1"/>
            <a:r>
              <a:rPr lang="en-US" dirty="0"/>
              <a:t>Compiler generates code sequence to implement more complex control</a:t>
            </a:r>
          </a:p>
          <a:p>
            <a:r>
              <a:rPr lang="en-US" dirty="0"/>
              <a:t>Standard Techniques</a:t>
            </a:r>
          </a:p>
          <a:p>
            <a:pPr marL="546100" lvl="1"/>
            <a:r>
              <a:rPr lang="en-US" dirty="0"/>
              <a:t>Loops converted to do-while or jump-to-middle form</a:t>
            </a:r>
          </a:p>
          <a:p>
            <a:pPr marL="546100" lvl="1"/>
            <a:r>
              <a:rPr lang="en-US" dirty="0"/>
              <a:t>Large switch statements use jump tables</a:t>
            </a:r>
          </a:p>
          <a:p>
            <a:pPr marL="546100" lvl="1"/>
            <a:r>
              <a:rPr lang="en-US" dirty="0"/>
              <a:t>Sparse switch statements may use decision trees (if-</a:t>
            </a:r>
            <a:r>
              <a:rPr lang="en-US" dirty="0" err="1"/>
              <a:t>elseif</a:t>
            </a:r>
            <a:r>
              <a:rPr lang="en-US" dirty="0"/>
              <a:t>-</a:t>
            </a:r>
            <a:r>
              <a:rPr lang="en-US" dirty="0" err="1"/>
              <a:t>elseif</a:t>
            </a:r>
            <a:r>
              <a:rPr lang="en-US" dirty="0"/>
              <a:t>-else)</a:t>
            </a:r>
          </a:p>
        </p:txBody>
      </p:sp>
    </p:spTree>
    <p:extLst>
      <p:ext uri="{BB962C8B-B14F-4D97-AF65-F5344CB8AC3E}">
        <p14:creationId xmlns:p14="http://schemas.microsoft.com/office/powerpoint/2010/main" val="113451755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451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Summary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Today</a:t>
            </a:r>
          </a:p>
          <a:p>
            <a:pPr marL="552450" lvl="1"/>
            <a:r>
              <a:rPr lang="en-US" dirty="0"/>
              <a:t>Control: Condition codes</a:t>
            </a:r>
          </a:p>
          <a:p>
            <a:pPr marL="552450" lvl="1"/>
            <a:r>
              <a:rPr lang="en-US" dirty="0"/>
              <a:t>Conditional branches &amp; conditional moves</a:t>
            </a:r>
          </a:p>
          <a:p>
            <a:pPr marL="552450" lvl="1"/>
            <a:r>
              <a:rPr lang="en-US" dirty="0"/>
              <a:t>Loops</a:t>
            </a:r>
          </a:p>
          <a:p>
            <a:pPr marL="552450" lvl="1"/>
            <a:r>
              <a:rPr lang="en-US" dirty="0"/>
              <a:t>Switch statements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22457</TotalTime>
  <Pages>0</Pages>
  <Words>4050</Words>
  <Characters>0</Characters>
  <Application>Microsoft Office PowerPoint</Application>
  <PresentationFormat>On-screen Show (4:3)</PresentationFormat>
  <Lines>0</Lines>
  <Paragraphs>952</Paragraphs>
  <Slides>42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Title Slide</vt:lpstr>
      <vt:lpstr>Title and Content: Build</vt:lpstr>
      <vt:lpstr>Title and Content</vt:lpstr>
      <vt:lpstr>Title Only</vt:lpstr>
      <vt:lpstr>Machine-Level Programming: Control  </vt:lpstr>
      <vt:lpstr>Today</vt:lpstr>
      <vt:lpstr>Processor State (x86-64, Partial)</vt:lpstr>
      <vt:lpstr>Condition Codes (Implicit Setting)</vt:lpstr>
      <vt:lpstr>Condition Codes (Explicit Setting: Compare)</vt:lpstr>
      <vt:lpstr>Condition Codes (Explicit Setting: Test)</vt:lpstr>
      <vt:lpstr>Reading Condition Codes</vt:lpstr>
      <vt:lpstr>x86-64 Integer Registers</vt:lpstr>
      <vt:lpstr>Reading Condition Codes (Cont.)</vt:lpstr>
      <vt:lpstr>Today</vt:lpstr>
      <vt:lpstr>Jumping</vt:lpstr>
      <vt:lpstr>Conditional Branch Example (Old Style)</vt:lpstr>
      <vt:lpstr>Expressing with Goto Code</vt:lpstr>
      <vt:lpstr>General Conditional Expression Translation (Using Branches)</vt:lpstr>
      <vt:lpstr>Using Conditional Moves</vt:lpstr>
      <vt:lpstr>Conditional Move Example</vt:lpstr>
      <vt:lpstr>Bad Cases for Conditional Move</vt:lpstr>
      <vt:lpstr>Today</vt:lpstr>
      <vt:lpstr>“Do-While” Loop Example</vt:lpstr>
      <vt:lpstr>“Do-While” Loop Compilation</vt:lpstr>
      <vt:lpstr>General “Do-While” Translation</vt:lpstr>
      <vt:lpstr>General “While” Translation #1</vt:lpstr>
      <vt:lpstr>While Loop Example #1</vt:lpstr>
      <vt:lpstr>General “While” Translation #2</vt:lpstr>
      <vt:lpstr>While Loop Example #2</vt:lpstr>
      <vt:lpstr>“For” Loop Form</vt:lpstr>
      <vt:lpstr>“For” Loop  While Loop</vt:lpstr>
      <vt:lpstr>For-While Conversion</vt:lpstr>
      <vt:lpstr>“For” Loop Do-While Conversion</vt:lpstr>
      <vt:lpstr>Today</vt:lpstr>
      <vt:lpstr>Switch Statement Example</vt:lpstr>
      <vt:lpstr>Jump Table Structure</vt:lpstr>
      <vt:lpstr>Switch Statement Example</vt:lpstr>
      <vt:lpstr>Switch Statement Example</vt:lpstr>
      <vt:lpstr>Assembly Setup Explanation</vt:lpstr>
      <vt:lpstr>Jump Table</vt:lpstr>
      <vt:lpstr>Code Blocks (x == 1)</vt:lpstr>
      <vt:lpstr>Handling Fall-Through</vt:lpstr>
      <vt:lpstr>Code Blocks (x == 2, x == 3)</vt:lpstr>
      <vt:lpstr>Code Blocks (x == 5, x == 6, default)</vt:lpstr>
      <vt:lpstr>Summarizing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1058</cp:revision>
  <cp:lastPrinted>2021-11-11T06:14:04Z</cp:lastPrinted>
  <dcterms:created xsi:type="dcterms:W3CDTF">2012-09-13T15:33:55Z</dcterms:created>
  <dcterms:modified xsi:type="dcterms:W3CDTF">2023-10-26T10:28:26Z</dcterms:modified>
</cp:coreProperties>
</file>