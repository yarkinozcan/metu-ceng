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3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80"/>
  </p:notesMasterIdLst>
  <p:handoutMasterIdLst>
    <p:handoutMasterId r:id="rId81"/>
  </p:handoutMasterIdLst>
  <p:sldIdLst>
    <p:sldId id="1169" r:id="rId2"/>
    <p:sldId id="1145" r:id="rId3"/>
    <p:sldId id="1088" r:id="rId4"/>
    <p:sldId id="1089" r:id="rId5"/>
    <p:sldId id="1090" r:id="rId6"/>
    <p:sldId id="1091" r:id="rId7"/>
    <p:sldId id="1092" r:id="rId8"/>
    <p:sldId id="1093" r:id="rId9"/>
    <p:sldId id="1094" r:id="rId10"/>
    <p:sldId id="1095" r:id="rId11"/>
    <p:sldId id="1096" r:id="rId12"/>
    <p:sldId id="1097" r:id="rId13"/>
    <p:sldId id="1098" r:id="rId14"/>
    <p:sldId id="1099" r:id="rId15"/>
    <p:sldId id="1100" r:id="rId16"/>
    <p:sldId id="1101" r:id="rId17"/>
    <p:sldId id="1102" r:id="rId18"/>
    <p:sldId id="1103" r:id="rId19"/>
    <p:sldId id="1170" r:id="rId20"/>
    <p:sldId id="1104" r:id="rId21"/>
    <p:sldId id="1106" r:id="rId22"/>
    <p:sldId id="1147" r:id="rId23"/>
    <p:sldId id="1150" r:id="rId24"/>
    <p:sldId id="388" r:id="rId25"/>
    <p:sldId id="1053" r:id="rId26"/>
    <p:sldId id="1153" r:id="rId27"/>
    <p:sldId id="1152" r:id="rId28"/>
    <p:sldId id="1154" r:id="rId29"/>
    <p:sldId id="403" r:id="rId30"/>
    <p:sldId id="1146" r:id="rId31"/>
    <p:sldId id="1041" r:id="rId32"/>
    <p:sldId id="1042" r:id="rId33"/>
    <p:sldId id="1171" r:id="rId34"/>
    <p:sldId id="1043" r:id="rId35"/>
    <p:sldId id="1172" r:id="rId36"/>
    <p:sldId id="467" r:id="rId37"/>
    <p:sldId id="422" r:id="rId38"/>
    <p:sldId id="423" r:id="rId39"/>
    <p:sldId id="424" r:id="rId40"/>
    <p:sldId id="425" r:id="rId41"/>
    <p:sldId id="426" r:id="rId42"/>
    <p:sldId id="1160" r:id="rId43"/>
    <p:sldId id="1054" r:id="rId44"/>
    <p:sldId id="1165" r:id="rId45"/>
    <p:sldId id="1166" r:id="rId46"/>
    <p:sldId id="1167" r:id="rId47"/>
    <p:sldId id="1168" r:id="rId48"/>
    <p:sldId id="1055" r:id="rId49"/>
    <p:sldId id="1056" r:id="rId50"/>
    <p:sldId id="1057" r:id="rId51"/>
    <p:sldId id="1058" r:id="rId52"/>
    <p:sldId id="1059" r:id="rId53"/>
    <p:sldId id="1060" r:id="rId54"/>
    <p:sldId id="1061" r:id="rId55"/>
    <p:sldId id="1062" r:id="rId56"/>
    <p:sldId id="1063" r:id="rId57"/>
    <p:sldId id="1064" r:id="rId58"/>
    <p:sldId id="1065" r:id="rId59"/>
    <p:sldId id="1155" r:id="rId60"/>
    <p:sldId id="1158" r:id="rId61"/>
    <p:sldId id="1162" r:id="rId62"/>
    <p:sldId id="1163" r:id="rId63"/>
    <p:sldId id="1159" r:id="rId64"/>
    <p:sldId id="1076" r:id="rId65"/>
    <p:sldId id="1161" r:id="rId66"/>
    <p:sldId id="1077" r:id="rId67"/>
    <p:sldId id="1078" r:id="rId68"/>
    <p:sldId id="1079" r:id="rId69"/>
    <p:sldId id="1080" r:id="rId70"/>
    <p:sldId id="1081" r:id="rId71"/>
    <p:sldId id="404" r:id="rId72"/>
    <p:sldId id="405" r:id="rId73"/>
    <p:sldId id="406" r:id="rId74"/>
    <p:sldId id="407" r:id="rId75"/>
    <p:sldId id="408" r:id="rId76"/>
    <p:sldId id="409" r:id="rId77"/>
    <p:sldId id="410" r:id="rId78"/>
    <p:sldId id="1086" r:id="rId79"/>
  </p:sldIdLst>
  <p:sldSz cx="9144000" cy="6858000" type="screen4x3"/>
  <p:notesSz cx="7302500" cy="9586913"/>
  <p:custDataLst>
    <p:tags r:id="rId8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AFF"/>
    <a:srgbClr val="D4EEFF"/>
    <a:srgbClr val="CBDBFF"/>
    <a:srgbClr val="D5F1CF"/>
    <a:srgbClr val="F1C7C7"/>
    <a:srgbClr val="F6F5BD"/>
    <a:srgbClr val="990000"/>
    <a:srgbClr val="EDEA77"/>
    <a:srgbClr val="FF9999"/>
    <a:srgbClr val="CDF1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42" autoAdjust="0"/>
    <p:restoredTop sz="93240" autoAdjust="0"/>
  </p:normalViewPr>
  <p:slideViewPr>
    <p:cSldViewPr snapToObjects="1">
      <p:cViewPr varScale="1">
        <p:scale>
          <a:sx n="102" d="100"/>
          <a:sy n="102" d="100"/>
        </p:scale>
        <p:origin x="15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512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OS%20X%20Lion:Users:bryant:ics3:opt:lower-haswell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OS%20X%20Lion:Users:bryant:ics3:opt:lower-haswell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OS%20X%20Lion:Users:bryant:ics3:opt:cpe-exampl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842173350582"/>
          <c:y val="7.3107049608355096E-2"/>
          <c:w val="0.82923673997412695"/>
          <c:h val="0.71801566579634502"/>
        </c:manualLayout>
      </c:layout>
      <c:scatterChart>
        <c:scatterStyle val="lineMarker"/>
        <c:varyColors val="0"/>
        <c:ser>
          <c:idx val="0"/>
          <c:order val="0"/>
          <c:tx>
            <c:strRef>
              <c:f>lower!$H$24</c:f>
              <c:strCache>
                <c:ptCount val="1"/>
                <c:pt idx="0">
                  <c:v>lower1</c:v>
                </c:pt>
              </c:strCache>
            </c:strRef>
          </c:tx>
          <c:spPr>
            <a:ln w="25400">
              <a:solidFill>
                <a:srgbClr val="808080"/>
              </a:solidFill>
              <a:prstDash val="solid"/>
            </a:ln>
          </c:spPr>
          <c:marker>
            <c:symbol val="diamond"/>
            <c:size val="7"/>
            <c:spPr>
              <a:solidFill>
                <a:srgbClr val="333333"/>
              </a:solidFill>
              <a:ln>
                <a:solidFill>
                  <a:srgbClr val="333333"/>
                </a:solidFill>
                <a:prstDash val="solid"/>
              </a:ln>
            </c:spPr>
          </c:marker>
          <c:xVal>
            <c:numRef>
              <c:f>lower!$G$25:$G$50</c:f>
              <c:numCache>
                <c:formatCode>General</c:formatCode>
                <c:ptCount val="26"/>
                <c:pt idx="0">
                  <c:v>0</c:v>
                </c:pt>
                <c:pt idx="1">
                  <c:v>20000</c:v>
                </c:pt>
                <c:pt idx="2">
                  <c:v>40000</c:v>
                </c:pt>
                <c:pt idx="3">
                  <c:v>60000</c:v>
                </c:pt>
                <c:pt idx="4">
                  <c:v>80000</c:v>
                </c:pt>
                <c:pt idx="5">
                  <c:v>100000</c:v>
                </c:pt>
                <c:pt idx="6">
                  <c:v>120000</c:v>
                </c:pt>
                <c:pt idx="7">
                  <c:v>140000</c:v>
                </c:pt>
                <c:pt idx="8">
                  <c:v>160000</c:v>
                </c:pt>
                <c:pt idx="9">
                  <c:v>180000</c:v>
                </c:pt>
                <c:pt idx="10">
                  <c:v>200000</c:v>
                </c:pt>
                <c:pt idx="11">
                  <c:v>220000</c:v>
                </c:pt>
                <c:pt idx="12">
                  <c:v>240000</c:v>
                </c:pt>
                <c:pt idx="13">
                  <c:v>260000</c:v>
                </c:pt>
                <c:pt idx="14">
                  <c:v>280000</c:v>
                </c:pt>
                <c:pt idx="15">
                  <c:v>300000</c:v>
                </c:pt>
                <c:pt idx="16">
                  <c:v>320000</c:v>
                </c:pt>
                <c:pt idx="17">
                  <c:v>340000</c:v>
                </c:pt>
                <c:pt idx="18">
                  <c:v>360000</c:v>
                </c:pt>
                <c:pt idx="19">
                  <c:v>380000</c:v>
                </c:pt>
                <c:pt idx="20">
                  <c:v>400000</c:v>
                </c:pt>
                <c:pt idx="21">
                  <c:v>420000</c:v>
                </c:pt>
                <c:pt idx="22">
                  <c:v>440000</c:v>
                </c:pt>
                <c:pt idx="23">
                  <c:v>460000</c:v>
                </c:pt>
                <c:pt idx="24">
                  <c:v>480000</c:v>
                </c:pt>
                <c:pt idx="25">
                  <c:v>500000</c:v>
                </c:pt>
              </c:numCache>
            </c:numRef>
          </c:xVal>
          <c:yVal>
            <c:numRef>
              <c:f>lower!$H$25:$H$50</c:f>
              <c:numCache>
                <c:formatCode>General</c:formatCode>
                <c:ptCount val="26"/>
                <c:pt idx="0">
                  <c:v>0</c:v>
                </c:pt>
                <c:pt idx="1">
                  <c:v>0.38247999999999999</c:v>
                </c:pt>
                <c:pt idx="2">
                  <c:v>1.529026</c:v>
                </c:pt>
                <c:pt idx="3">
                  <c:v>3.439454</c:v>
                </c:pt>
                <c:pt idx="4">
                  <c:v>6.113887999999986</c:v>
                </c:pt>
                <c:pt idx="5">
                  <c:v>9.5525529999999996</c:v>
                </c:pt>
                <c:pt idx="6">
                  <c:v>13.75432</c:v>
                </c:pt>
                <c:pt idx="7">
                  <c:v>18.721091999999999</c:v>
                </c:pt>
                <c:pt idx="8">
                  <c:v>24.451184000000001</c:v>
                </c:pt>
                <c:pt idx="9">
                  <c:v>30.945739999999869</c:v>
                </c:pt>
                <c:pt idx="10">
                  <c:v>38.204385000000002</c:v>
                </c:pt>
                <c:pt idx="11">
                  <c:v>46.226627999999998</c:v>
                </c:pt>
                <c:pt idx="12">
                  <c:v>55.013938000000003</c:v>
                </c:pt>
                <c:pt idx="13">
                  <c:v>64.564981000000003</c:v>
                </c:pt>
                <c:pt idx="14">
                  <c:v>74.879954999999995</c:v>
                </c:pt>
                <c:pt idx="15">
                  <c:v>85.968007999999998</c:v>
                </c:pt>
                <c:pt idx="16">
                  <c:v>97.809497999999977</c:v>
                </c:pt>
                <c:pt idx="17">
                  <c:v>110.416061</c:v>
                </c:pt>
                <c:pt idx="18">
                  <c:v>123.79652900000001</c:v>
                </c:pt>
                <c:pt idx="19">
                  <c:v>137.93689800000001</c:v>
                </c:pt>
                <c:pt idx="20">
                  <c:v>152.830521</c:v>
                </c:pt>
                <c:pt idx="21">
                  <c:v>168.48597100000001</c:v>
                </c:pt>
                <c:pt idx="22">
                  <c:v>184.916539</c:v>
                </c:pt>
                <c:pt idx="23">
                  <c:v>202.114667</c:v>
                </c:pt>
                <c:pt idx="24">
                  <c:v>220.06251</c:v>
                </c:pt>
                <c:pt idx="25">
                  <c:v>238.807323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DB9-4657-9085-9243A3B507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086904064"/>
        <c:axId val="-2088755824"/>
      </c:scatterChart>
      <c:valAx>
        <c:axId val="-2086904064"/>
        <c:scaling>
          <c:orientation val="minMax"/>
          <c:max val="500000"/>
        </c:scaling>
        <c:delete val="0"/>
        <c:axPos val="b"/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String length</a:t>
                </a:r>
              </a:p>
            </c:rich>
          </c:tx>
          <c:layout>
            <c:manualLayout>
              <c:xMode val="edge"/>
              <c:yMode val="edge"/>
              <c:x val="0.46054333764553701"/>
              <c:y val="0.88511749347258495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-2088755824"/>
        <c:crosses val="autoZero"/>
        <c:crossBetween val="midCat"/>
      </c:valAx>
      <c:valAx>
        <c:axId val="-2088755824"/>
        <c:scaling>
          <c:orientation val="minMax"/>
          <c:max val="250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CPU seconds</a:t>
                </a:r>
              </a:p>
            </c:rich>
          </c:tx>
          <c:layout>
            <c:manualLayout>
              <c:xMode val="edge"/>
              <c:yMode val="edge"/>
              <c:x val="2.0698576972833099E-2"/>
              <c:y val="0.28720626631853802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-2086904064"/>
        <c:crosses val="autoZero"/>
        <c:crossBetween val="midCat"/>
      </c:valAx>
      <c:spPr>
        <a:noFill/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2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3842173350582"/>
          <c:y val="7.3107049608355096E-2"/>
          <c:w val="0.82923673997412695"/>
          <c:h val="0.71801566579634502"/>
        </c:manualLayout>
      </c:layout>
      <c:scatterChart>
        <c:scatterStyle val="lineMarker"/>
        <c:varyColors val="0"/>
        <c:ser>
          <c:idx val="0"/>
          <c:order val="0"/>
          <c:tx>
            <c:strRef>
              <c:f>lower!$H$24</c:f>
              <c:strCache>
                <c:ptCount val="1"/>
                <c:pt idx="0">
                  <c:v>lower1</c:v>
                </c:pt>
              </c:strCache>
            </c:strRef>
          </c:tx>
          <c:spPr>
            <a:ln w="25400">
              <a:solidFill>
                <a:srgbClr val="808080"/>
              </a:solidFill>
              <a:prstDash val="solid"/>
            </a:ln>
          </c:spPr>
          <c:marker>
            <c:symbol val="diamond"/>
            <c:size val="7"/>
            <c:spPr>
              <a:solidFill>
                <a:srgbClr val="333333"/>
              </a:solidFill>
              <a:ln>
                <a:solidFill>
                  <a:srgbClr val="333333"/>
                </a:solidFill>
                <a:prstDash val="solid"/>
              </a:ln>
            </c:spPr>
          </c:marker>
          <c:xVal>
            <c:numRef>
              <c:f>lower!$G$25:$G$50</c:f>
              <c:numCache>
                <c:formatCode>General</c:formatCode>
                <c:ptCount val="26"/>
                <c:pt idx="0">
                  <c:v>0</c:v>
                </c:pt>
                <c:pt idx="1">
                  <c:v>20000</c:v>
                </c:pt>
                <c:pt idx="2">
                  <c:v>40000</c:v>
                </c:pt>
                <c:pt idx="3">
                  <c:v>60000</c:v>
                </c:pt>
                <c:pt idx="4">
                  <c:v>80000</c:v>
                </c:pt>
                <c:pt idx="5">
                  <c:v>100000</c:v>
                </c:pt>
                <c:pt idx="6">
                  <c:v>120000</c:v>
                </c:pt>
                <c:pt idx="7">
                  <c:v>140000</c:v>
                </c:pt>
                <c:pt idx="8">
                  <c:v>160000</c:v>
                </c:pt>
                <c:pt idx="9">
                  <c:v>180000</c:v>
                </c:pt>
                <c:pt idx="10">
                  <c:v>200000</c:v>
                </c:pt>
                <c:pt idx="11">
                  <c:v>220000</c:v>
                </c:pt>
                <c:pt idx="12">
                  <c:v>240000</c:v>
                </c:pt>
                <c:pt idx="13">
                  <c:v>260000</c:v>
                </c:pt>
                <c:pt idx="14">
                  <c:v>280000</c:v>
                </c:pt>
                <c:pt idx="15">
                  <c:v>300000</c:v>
                </c:pt>
                <c:pt idx="16">
                  <c:v>320000</c:v>
                </c:pt>
                <c:pt idx="17">
                  <c:v>340000</c:v>
                </c:pt>
                <c:pt idx="18">
                  <c:v>360000</c:v>
                </c:pt>
                <c:pt idx="19">
                  <c:v>380000</c:v>
                </c:pt>
                <c:pt idx="20">
                  <c:v>400000</c:v>
                </c:pt>
                <c:pt idx="21">
                  <c:v>420000</c:v>
                </c:pt>
                <c:pt idx="22">
                  <c:v>440000</c:v>
                </c:pt>
                <c:pt idx="23">
                  <c:v>460000</c:v>
                </c:pt>
                <c:pt idx="24">
                  <c:v>480000</c:v>
                </c:pt>
                <c:pt idx="25">
                  <c:v>500000</c:v>
                </c:pt>
              </c:numCache>
            </c:numRef>
          </c:xVal>
          <c:yVal>
            <c:numRef>
              <c:f>lower!$H$25:$H$50</c:f>
              <c:numCache>
                <c:formatCode>General</c:formatCode>
                <c:ptCount val="26"/>
                <c:pt idx="0">
                  <c:v>0</c:v>
                </c:pt>
                <c:pt idx="1">
                  <c:v>0.38247999999999999</c:v>
                </c:pt>
                <c:pt idx="2">
                  <c:v>1.529026</c:v>
                </c:pt>
                <c:pt idx="3">
                  <c:v>3.439454</c:v>
                </c:pt>
                <c:pt idx="4">
                  <c:v>6.1138879999999842</c:v>
                </c:pt>
                <c:pt idx="5">
                  <c:v>9.5525529999999996</c:v>
                </c:pt>
                <c:pt idx="6">
                  <c:v>13.75432</c:v>
                </c:pt>
                <c:pt idx="7">
                  <c:v>18.721091999999999</c:v>
                </c:pt>
                <c:pt idx="8">
                  <c:v>24.451184000000001</c:v>
                </c:pt>
                <c:pt idx="9">
                  <c:v>30.945739999999851</c:v>
                </c:pt>
                <c:pt idx="10">
                  <c:v>38.204385000000002</c:v>
                </c:pt>
                <c:pt idx="11">
                  <c:v>46.226627999999998</c:v>
                </c:pt>
                <c:pt idx="12">
                  <c:v>55.013938000000003</c:v>
                </c:pt>
                <c:pt idx="13">
                  <c:v>64.564981000000003</c:v>
                </c:pt>
                <c:pt idx="14">
                  <c:v>74.879954999999995</c:v>
                </c:pt>
                <c:pt idx="15">
                  <c:v>85.968007999999998</c:v>
                </c:pt>
                <c:pt idx="16">
                  <c:v>97.809497999999977</c:v>
                </c:pt>
                <c:pt idx="17">
                  <c:v>110.416061</c:v>
                </c:pt>
                <c:pt idx="18">
                  <c:v>123.79652900000001</c:v>
                </c:pt>
                <c:pt idx="19">
                  <c:v>137.93689800000001</c:v>
                </c:pt>
                <c:pt idx="20">
                  <c:v>152.830521</c:v>
                </c:pt>
                <c:pt idx="21">
                  <c:v>168.48597100000001</c:v>
                </c:pt>
                <c:pt idx="22">
                  <c:v>184.916539</c:v>
                </c:pt>
                <c:pt idx="23">
                  <c:v>202.114667</c:v>
                </c:pt>
                <c:pt idx="24">
                  <c:v>220.06251</c:v>
                </c:pt>
                <c:pt idx="25">
                  <c:v>238.807323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C0F-453B-A0E3-D45D8B1BE191}"/>
            </c:ext>
          </c:extLst>
        </c:ser>
        <c:ser>
          <c:idx val="1"/>
          <c:order val="1"/>
          <c:tx>
            <c:strRef>
              <c:f>lower!$I$24</c:f>
              <c:strCache>
                <c:ptCount val="1"/>
                <c:pt idx="0">
                  <c:v>lower2</c:v>
                </c:pt>
              </c:strCache>
            </c:strRef>
          </c:tx>
          <c:spPr>
            <a:ln w="25400">
              <a:solidFill>
                <a:srgbClr val="333333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000000"/>
              </a:solidFill>
              <a:ln>
                <a:solidFill>
                  <a:srgbClr val="000000"/>
                </a:solidFill>
                <a:prstDash val="solid"/>
              </a:ln>
            </c:spPr>
          </c:marker>
          <c:xVal>
            <c:numRef>
              <c:f>lower!$G$25:$G$50</c:f>
              <c:numCache>
                <c:formatCode>General</c:formatCode>
                <c:ptCount val="26"/>
                <c:pt idx="0">
                  <c:v>0</c:v>
                </c:pt>
                <c:pt idx="1">
                  <c:v>20000</c:v>
                </c:pt>
                <c:pt idx="2">
                  <c:v>40000</c:v>
                </c:pt>
                <c:pt idx="3">
                  <c:v>60000</c:v>
                </c:pt>
                <c:pt idx="4">
                  <c:v>80000</c:v>
                </c:pt>
                <c:pt idx="5">
                  <c:v>100000</c:v>
                </c:pt>
                <c:pt idx="6">
                  <c:v>120000</c:v>
                </c:pt>
                <c:pt idx="7">
                  <c:v>140000</c:v>
                </c:pt>
                <c:pt idx="8">
                  <c:v>160000</c:v>
                </c:pt>
                <c:pt idx="9">
                  <c:v>180000</c:v>
                </c:pt>
                <c:pt idx="10">
                  <c:v>200000</c:v>
                </c:pt>
                <c:pt idx="11">
                  <c:v>220000</c:v>
                </c:pt>
                <c:pt idx="12">
                  <c:v>240000</c:v>
                </c:pt>
                <c:pt idx="13">
                  <c:v>260000</c:v>
                </c:pt>
                <c:pt idx="14">
                  <c:v>280000</c:v>
                </c:pt>
                <c:pt idx="15">
                  <c:v>300000</c:v>
                </c:pt>
                <c:pt idx="16">
                  <c:v>320000</c:v>
                </c:pt>
                <c:pt idx="17">
                  <c:v>340000</c:v>
                </c:pt>
                <c:pt idx="18">
                  <c:v>360000</c:v>
                </c:pt>
                <c:pt idx="19">
                  <c:v>380000</c:v>
                </c:pt>
                <c:pt idx="20">
                  <c:v>400000</c:v>
                </c:pt>
                <c:pt idx="21">
                  <c:v>420000</c:v>
                </c:pt>
                <c:pt idx="22">
                  <c:v>440000</c:v>
                </c:pt>
                <c:pt idx="23">
                  <c:v>460000</c:v>
                </c:pt>
                <c:pt idx="24">
                  <c:v>480000</c:v>
                </c:pt>
                <c:pt idx="25">
                  <c:v>500000</c:v>
                </c:pt>
              </c:numCache>
            </c:numRef>
          </c:xVal>
          <c:yVal>
            <c:numRef>
              <c:f>lower!$I$25:$I$50</c:f>
              <c:numCache>
                <c:formatCode>General</c:formatCode>
                <c:ptCount val="26"/>
                <c:pt idx="0">
                  <c:v>0</c:v>
                </c:pt>
                <c:pt idx="1">
                  <c:v>3.8000000000000002E-5</c:v>
                </c:pt>
                <c:pt idx="2">
                  <c:v>7.7000000000000001E-5</c:v>
                </c:pt>
                <c:pt idx="3">
                  <c:v>1.15E-4</c:v>
                </c:pt>
                <c:pt idx="4">
                  <c:v>1.5300000000000001E-4</c:v>
                </c:pt>
                <c:pt idx="5">
                  <c:v>1.9100000000000001E-4</c:v>
                </c:pt>
                <c:pt idx="6">
                  <c:v>2.2900000000000001E-4</c:v>
                </c:pt>
                <c:pt idx="7">
                  <c:v>2.6699999999999998E-4</c:v>
                </c:pt>
                <c:pt idx="8">
                  <c:v>3.0600000000000001E-4</c:v>
                </c:pt>
                <c:pt idx="9">
                  <c:v>3.4400000000000001E-4</c:v>
                </c:pt>
                <c:pt idx="10">
                  <c:v>3.8200000000000002E-4</c:v>
                </c:pt>
                <c:pt idx="11">
                  <c:v>4.2000000000000002E-4</c:v>
                </c:pt>
                <c:pt idx="12">
                  <c:v>4.5800000000000002E-4</c:v>
                </c:pt>
                <c:pt idx="13">
                  <c:v>4.9700000000000005E-4</c:v>
                </c:pt>
                <c:pt idx="14">
                  <c:v>5.3499999999999999E-4</c:v>
                </c:pt>
                <c:pt idx="15">
                  <c:v>5.7300000000000005E-4</c:v>
                </c:pt>
                <c:pt idx="16">
                  <c:v>6.11E-4</c:v>
                </c:pt>
                <c:pt idx="17">
                  <c:v>6.4899999999999995E-4</c:v>
                </c:pt>
                <c:pt idx="18">
                  <c:v>6.87E-4</c:v>
                </c:pt>
                <c:pt idx="19">
                  <c:v>7.2599999999999997E-4</c:v>
                </c:pt>
                <c:pt idx="20">
                  <c:v>7.6400000000000003E-4</c:v>
                </c:pt>
                <c:pt idx="21">
                  <c:v>8.0199999999999998E-4</c:v>
                </c:pt>
                <c:pt idx="22">
                  <c:v>8.4000000000000003E-4</c:v>
                </c:pt>
                <c:pt idx="23">
                  <c:v>8.7799999999999998E-4</c:v>
                </c:pt>
                <c:pt idx="24">
                  <c:v>9.1699999999999995E-4</c:v>
                </c:pt>
                <c:pt idx="25">
                  <c:v>9.5500000000000001E-4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C0F-453B-A0E3-D45D8B1BE1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086377296"/>
        <c:axId val="-2087242336"/>
      </c:scatterChart>
      <c:valAx>
        <c:axId val="-2086377296"/>
        <c:scaling>
          <c:orientation val="minMax"/>
          <c:max val="500000"/>
        </c:scaling>
        <c:delete val="0"/>
        <c:axPos val="b"/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String length</a:t>
                </a:r>
              </a:p>
            </c:rich>
          </c:tx>
          <c:layout>
            <c:manualLayout>
              <c:xMode val="edge"/>
              <c:yMode val="edge"/>
              <c:x val="0.46054333764553701"/>
              <c:y val="0.88511749347258495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-2087242336"/>
        <c:crosses val="autoZero"/>
        <c:crossBetween val="midCat"/>
      </c:valAx>
      <c:valAx>
        <c:axId val="-2087242336"/>
        <c:scaling>
          <c:orientation val="minMax"/>
          <c:max val="250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CPU seconds</a:t>
                </a:r>
              </a:p>
            </c:rich>
          </c:tx>
          <c:layout>
            <c:manualLayout>
              <c:xMode val="edge"/>
              <c:yMode val="edge"/>
              <c:x val="2.0698576972833099E-2"/>
              <c:y val="0.28720626631853802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-2086377296"/>
        <c:crosses val="autoZero"/>
        <c:crossBetween val="midCat"/>
      </c:valAx>
      <c:spPr>
        <a:noFill/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2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6807817589577"/>
          <c:y val="6.3380426983446495E-2"/>
          <c:w val="0.81758957654723097"/>
          <c:h val="0.76995481668779497"/>
        </c:manualLayout>
      </c:layout>
      <c:scatterChart>
        <c:scatterStyle val="lineMarker"/>
        <c:varyColors val="0"/>
        <c:ser>
          <c:idx val="0"/>
          <c:order val="0"/>
          <c:tx>
            <c:strRef>
              <c:f>'cpe2'!$A$3</c:f>
              <c:strCache>
                <c:ptCount val="1"/>
                <c:pt idx="0">
                  <c:v>psum1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5"/>
            <c:spPr>
              <a:solidFill>
                <a:srgbClr val="333333"/>
              </a:solidFill>
              <a:ln>
                <a:solidFill>
                  <a:srgbClr val="333333"/>
                </a:solidFill>
                <a:prstDash val="solid"/>
              </a:ln>
            </c:spPr>
          </c:marker>
          <c:xVal>
            <c:numRef>
              <c:f>'cpe2'!$B$2:$AE$2</c:f>
              <c:numCache>
                <c:formatCode>General</c:formatCode>
                <c:ptCount val="30"/>
                <c:pt idx="0">
                  <c:v>0</c:v>
                </c:pt>
                <c:pt idx="1">
                  <c:v>193</c:v>
                </c:pt>
                <c:pt idx="2">
                  <c:v>120</c:v>
                </c:pt>
                <c:pt idx="3">
                  <c:v>91</c:v>
                </c:pt>
                <c:pt idx="4">
                  <c:v>95</c:v>
                </c:pt>
                <c:pt idx="5">
                  <c:v>196</c:v>
                </c:pt>
                <c:pt idx="6">
                  <c:v>97</c:v>
                </c:pt>
                <c:pt idx="7">
                  <c:v>181</c:v>
                </c:pt>
                <c:pt idx="8">
                  <c:v>91</c:v>
                </c:pt>
                <c:pt idx="9">
                  <c:v>83</c:v>
                </c:pt>
                <c:pt idx="10">
                  <c:v>43</c:v>
                </c:pt>
                <c:pt idx="11">
                  <c:v>183</c:v>
                </c:pt>
                <c:pt idx="12">
                  <c:v>140</c:v>
                </c:pt>
                <c:pt idx="13">
                  <c:v>146</c:v>
                </c:pt>
                <c:pt idx="14">
                  <c:v>94</c:v>
                </c:pt>
                <c:pt idx="15">
                  <c:v>134</c:v>
                </c:pt>
                <c:pt idx="16">
                  <c:v>163</c:v>
                </c:pt>
                <c:pt idx="17">
                  <c:v>131</c:v>
                </c:pt>
                <c:pt idx="18">
                  <c:v>110</c:v>
                </c:pt>
                <c:pt idx="19">
                  <c:v>182</c:v>
                </c:pt>
                <c:pt idx="20">
                  <c:v>189</c:v>
                </c:pt>
                <c:pt idx="21">
                  <c:v>112</c:v>
                </c:pt>
                <c:pt idx="22">
                  <c:v>141</c:v>
                </c:pt>
                <c:pt idx="23">
                  <c:v>185</c:v>
                </c:pt>
                <c:pt idx="24">
                  <c:v>188</c:v>
                </c:pt>
                <c:pt idx="25">
                  <c:v>47</c:v>
                </c:pt>
                <c:pt idx="26">
                  <c:v>130</c:v>
                </c:pt>
                <c:pt idx="27">
                  <c:v>102</c:v>
                </c:pt>
                <c:pt idx="28">
                  <c:v>59</c:v>
                </c:pt>
                <c:pt idx="29">
                  <c:v>174</c:v>
                </c:pt>
              </c:numCache>
            </c:numRef>
          </c:xVal>
          <c:yVal>
            <c:numRef>
              <c:f>'cpe2'!$B$3:$AE$3</c:f>
              <c:numCache>
                <c:formatCode>General</c:formatCode>
                <c:ptCount val="30"/>
                <c:pt idx="1">
                  <c:v>2112.6</c:v>
                </c:pt>
                <c:pt idx="2">
                  <c:v>1451.1</c:v>
                </c:pt>
                <c:pt idx="3">
                  <c:v>1188.5999999999999</c:v>
                </c:pt>
                <c:pt idx="4">
                  <c:v>1218</c:v>
                </c:pt>
                <c:pt idx="5">
                  <c:v>2131.5</c:v>
                </c:pt>
                <c:pt idx="6">
                  <c:v>1247.4000000000001</c:v>
                </c:pt>
                <c:pt idx="7">
                  <c:v>2003.4</c:v>
                </c:pt>
                <c:pt idx="8">
                  <c:v>1190.7</c:v>
                </c:pt>
                <c:pt idx="9">
                  <c:v>1117.2</c:v>
                </c:pt>
                <c:pt idx="10">
                  <c:v>758.1</c:v>
                </c:pt>
                <c:pt idx="11">
                  <c:v>2020.2</c:v>
                </c:pt>
                <c:pt idx="12">
                  <c:v>1629.6</c:v>
                </c:pt>
                <c:pt idx="13">
                  <c:v>1686.3</c:v>
                </c:pt>
                <c:pt idx="14">
                  <c:v>1211.7</c:v>
                </c:pt>
                <c:pt idx="15">
                  <c:v>1568.7</c:v>
                </c:pt>
                <c:pt idx="16">
                  <c:v>1841.7</c:v>
                </c:pt>
                <c:pt idx="17">
                  <c:v>1543.5</c:v>
                </c:pt>
                <c:pt idx="18">
                  <c:v>1358.7</c:v>
                </c:pt>
                <c:pt idx="19">
                  <c:v>2011.8</c:v>
                </c:pt>
                <c:pt idx="20">
                  <c:v>2066.4</c:v>
                </c:pt>
                <c:pt idx="21">
                  <c:v>1373.4</c:v>
                </c:pt>
                <c:pt idx="22">
                  <c:v>1635.9</c:v>
                </c:pt>
                <c:pt idx="23">
                  <c:v>2032.8</c:v>
                </c:pt>
                <c:pt idx="24">
                  <c:v>2058</c:v>
                </c:pt>
                <c:pt idx="25">
                  <c:v>787.5</c:v>
                </c:pt>
                <c:pt idx="26">
                  <c:v>1539.3</c:v>
                </c:pt>
                <c:pt idx="27">
                  <c:v>1285.2</c:v>
                </c:pt>
                <c:pt idx="28">
                  <c:v>905.1</c:v>
                </c:pt>
                <c:pt idx="29">
                  <c:v>1938.3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7D9-4CF2-9A0A-47C8DBCCA7B2}"/>
            </c:ext>
          </c:extLst>
        </c:ser>
        <c:ser>
          <c:idx val="1"/>
          <c:order val="1"/>
          <c:tx>
            <c:strRef>
              <c:f>'cpe2'!$A$4</c:f>
              <c:strCache>
                <c:ptCount val="1"/>
                <c:pt idx="0">
                  <c:v>psum1i</c:v>
                </c:pt>
              </c:strCache>
            </c:strRef>
          </c:tx>
          <c:spPr>
            <a:ln w="12700">
              <a:solidFill>
                <a:srgbClr val="000000"/>
              </a:solidFill>
              <a:prstDash val="solid"/>
            </a:ln>
          </c:spPr>
          <c:marker>
            <c:symbol val="none"/>
          </c:marker>
          <c:xVal>
            <c:numRef>
              <c:f>'cpe2'!$B$2:$AE$2</c:f>
              <c:numCache>
                <c:formatCode>General</c:formatCode>
                <c:ptCount val="30"/>
                <c:pt idx="0">
                  <c:v>0</c:v>
                </c:pt>
                <c:pt idx="1">
                  <c:v>193</c:v>
                </c:pt>
                <c:pt idx="2">
                  <c:v>120</c:v>
                </c:pt>
                <c:pt idx="3">
                  <c:v>91</c:v>
                </c:pt>
                <c:pt idx="4">
                  <c:v>95</c:v>
                </c:pt>
                <c:pt idx="5">
                  <c:v>196</c:v>
                </c:pt>
                <c:pt idx="6">
                  <c:v>97</c:v>
                </c:pt>
                <c:pt idx="7">
                  <c:v>181</c:v>
                </c:pt>
                <c:pt idx="8">
                  <c:v>91</c:v>
                </c:pt>
                <c:pt idx="9">
                  <c:v>83</c:v>
                </c:pt>
                <c:pt idx="10">
                  <c:v>43</c:v>
                </c:pt>
                <c:pt idx="11">
                  <c:v>183</c:v>
                </c:pt>
                <c:pt idx="12">
                  <c:v>140</c:v>
                </c:pt>
                <c:pt idx="13">
                  <c:v>146</c:v>
                </c:pt>
                <c:pt idx="14">
                  <c:v>94</c:v>
                </c:pt>
                <c:pt idx="15">
                  <c:v>134</c:v>
                </c:pt>
                <c:pt idx="16">
                  <c:v>163</c:v>
                </c:pt>
                <c:pt idx="17">
                  <c:v>131</c:v>
                </c:pt>
                <c:pt idx="18">
                  <c:v>110</c:v>
                </c:pt>
                <c:pt idx="19">
                  <c:v>182</c:v>
                </c:pt>
                <c:pt idx="20">
                  <c:v>189</c:v>
                </c:pt>
                <c:pt idx="21">
                  <c:v>112</c:v>
                </c:pt>
                <c:pt idx="22">
                  <c:v>141</c:v>
                </c:pt>
                <c:pt idx="23">
                  <c:v>185</c:v>
                </c:pt>
                <c:pt idx="24">
                  <c:v>188</c:v>
                </c:pt>
                <c:pt idx="25">
                  <c:v>47</c:v>
                </c:pt>
                <c:pt idx="26">
                  <c:v>130</c:v>
                </c:pt>
                <c:pt idx="27">
                  <c:v>102</c:v>
                </c:pt>
                <c:pt idx="28">
                  <c:v>59</c:v>
                </c:pt>
                <c:pt idx="29">
                  <c:v>174</c:v>
                </c:pt>
              </c:numCache>
            </c:numRef>
          </c:xVal>
          <c:yVal>
            <c:numRef>
              <c:f>'cpe2'!$B$4:$AE$4</c:f>
              <c:numCache>
                <c:formatCode>General</c:formatCode>
                <c:ptCount val="30"/>
                <c:pt idx="0">
                  <c:v>367.79</c:v>
                </c:pt>
                <c:pt idx="1">
                  <c:v>2107.4299999999998</c:v>
                </c:pt>
                <c:pt idx="2">
                  <c:v>1449.43</c:v>
                </c:pt>
                <c:pt idx="3">
                  <c:v>1188.03</c:v>
                </c:pt>
                <c:pt idx="4">
                  <c:v>1224.0899999999999</c:v>
                </c:pt>
                <c:pt idx="5">
                  <c:v>2134.4699999999998</c:v>
                </c:pt>
                <c:pt idx="6">
                  <c:v>1242.1199999999999</c:v>
                </c:pt>
                <c:pt idx="7">
                  <c:v>1999.27</c:v>
                </c:pt>
                <c:pt idx="8">
                  <c:v>1188.03</c:v>
                </c:pt>
                <c:pt idx="9">
                  <c:v>1115.92</c:v>
                </c:pt>
                <c:pt idx="10">
                  <c:v>755.38</c:v>
                </c:pt>
                <c:pt idx="11">
                  <c:v>2017.29</c:v>
                </c:pt>
                <c:pt idx="12">
                  <c:v>1629.7</c:v>
                </c:pt>
                <c:pt idx="13">
                  <c:v>1683.79</c:v>
                </c:pt>
                <c:pt idx="14">
                  <c:v>1215.07</c:v>
                </c:pt>
                <c:pt idx="15">
                  <c:v>1575.62</c:v>
                </c:pt>
                <c:pt idx="16">
                  <c:v>1837.02</c:v>
                </c:pt>
                <c:pt idx="17">
                  <c:v>1548.58</c:v>
                </c:pt>
                <c:pt idx="18">
                  <c:v>1359.29</c:v>
                </c:pt>
                <c:pt idx="19">
                  <c:v>2008.28</c:v>
                </c:pt>
                <c:pt idx="20">
                  <c:v>2071.37</c:v>
                </c:pt>
                <c:pt idx="21">
                  <c:v>1377.32</c:v>
                </c:pt>
                <c:pt idx="22">
                  <c:v>1638.72</c:v>
                </c:pt>
                <c:pt idx="23">
                  <c:v>2035.32</c:v>
                </c:pt>
                <c:pt idx="24">
                  <c:v>2062.36</c:v>
                </c:pt>
                <c:pt idx="25">
                  <c:v>791.42999999999938</c:v>
                </c:pt>
                <c:pt idx="26">
                  <c:v>1539.57</c:v>
                </c:pt>
                <c:pt idx="27">
                  <c:v>1287.18</c:v>
                </c:pt>
                <c:pt idx="28">
                  <c:v>899.6</c:v>
                </c:pt>
                <c:pt idx="29">
                  <c:v>1936.17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7D9-4CF2-9A0A-47C8DBCCA7B2}"/>
            </c:ext>
          </c:extLst>
        </c:ser>
        <c:ser>
          <c:idx val="2"/>
          <c:order val="2"/>
          <c:tx>
            <c:strRef>
              <c:f>'cpe2'!$A$5</c:f>
              <c:strCache>
                <c:ptCount val="1"/>
                <c:pt idx="0">
                  <c:v>psum2</c:v>
                </c:pt>
              </c:strCache>
            </c:strRef>
          </c:tx>
          <c:spPr>
            <a:ln w="28575">
              <a:noFill/>
            </a:ln>
          </c:spPr>
          <c:marker>
            <c:symbol val="triangle"/>
            <c:size val="5"/>
            <c:spPr>
              <a:solidFill>
                <a:srgbClr val="333333"/>
              </a:solidFill>
              <a:ln>
                <a:solidFill>
                  <a:srgbClr val="333333"/>
                </a:solidFill>
                <a:prstDash val="solid"/>
              </a:ln>
            </c:spPr>
          </c:marker>
          <c:xVal>
            <c:numRef>
              <c:f>'cpe2'!$B$2:$AE$2</c:f>
              <c:numCache>
                <c:formatCode>General</c:formatCode>
                <c:ptCount val="30"/>
                <c:pt idx="0">
                  <c:v>0</c:v>
                </c:pt>
                <c:pt idx="1">
                  <c:v>193</c:v>
                </c:pt>
                <c:pt idx="2">
                  <c:v>120</c:v>
                </c:pt>
                <c:pt idx="3">
                  <c:v>91</c:v>
                </c:pt>
                <c:pt idx="4">
                  <c:v>95</c:v>
                </c:pt>
                <c:pt idx="5">
                  <c:v>196</c:v>
                </c:pt>
                <c:pt idx="6">
                  <c:v>97</c:v>
                </c:pt>
                <c:pt idx="7">
                  <c:v>181</c:v>
                </c:pt>
                <c:pt idx="8">
                  <c:v>91</c:v>
                </c:pt>
                <c:pt idx="9">
                  <c:v>83</c:v>
                </c:pt>
                <c:pt idx="10">
                  <c:v>43</c:v>
                </c:pt>
                <c:pt idx="11">
                  <c:v>183</c:v>
                </c:pt>
                <c:pt idx="12">
                  <c:v>140</c:v>
                </c:pt>
                <c:pt idx="13">
                  <c:v>146</c:v>
                </c:pt>
                <c:pt idx="14">
                  <c:v>94</c:v>
                </c:pt>
                <c:pt idx="15">
                  <c:v>134</c:v>
                </c:pt>
                <c:pt idx="16">
                  <c:v>163</c:v>
                </c:pt>
                <c:pt idx="17">
                  <c:v>131</c:v>
                </c:pt>
                <c:pt idx="18">
                  <c:v>110</c:v>
                </c:pt>
                <c:pt idx="19">
                  <c:v>182</c:v>
                </c:pt>
                <c:pt idx="20">
                  <c:v>189</c:v>
                </c:pt>
                <c:pt idx="21">
                  <c:v>112</c:v>
                </c:pt>
                <c:pt idx="22">
                  <c:v>141</c:v>
                </c:pt>
                <c:pt idx="23">
                  <c:v>185</c:v>
                </c:pt>
                <c:pt idx="24">
                  <c:v>188</c:v>
                </c:pt>
                <c:pt idx="25">
                  <c:v>47</c:v>
                </c:pt>
                <c:pt idx="26">
                  <c:v>130</c:v>
                </c:pt>
                <c:pt idx="27">
                  <c:v>102</c:v>
                </c:pt>
                <c:pt idx="28">
                  <c:v>59</c:v>
                </c:pt>
                <c:pt idx="29">
                  <c:v>174</c:v>
                </c:pt>
              </c:numCache>
            </c:numRef>
          </c:xVal>
          <c:yVal>
            <c:numRef>
              <c:f>'cpe2'!$B$5:$AE$5</c:f>
              <c:numCache>
                <c:formatCode>General</c:formatCode>
                <c:ptCount val="30"/>
                <c:pt idx="1">
                  <c:v>1535.1</c:v>
                </c:pt>
                <c:pt idx="2">
                  <c:v>1100.4000000000001</c:v>
                </c:pt>
                <c:pt idx="3">
                  <c:v>921.9</c:v>
                </c:pt>
                <c:pt idx="4">
                  <c:v>940.8</c:v>
                </c:pt>
                <c:pt idx="5">
                  <c:v>1545.6</c:v>
                </c:pt>
                <c:pt idx="6">
                  <c:v>949.2</c:v>
                </c:pt>
                <c:pt idx="7">
                  <c:v>1455.3</c:v>
                </c:pt>
                <c:pt idx="8">
                  <c:v>917.7</c:v>
                </c:pt>
                <c:pt idx="9">
                  <c:v>865.2</c:v>
                </c:pt>
                <c:pt idx="10">
                  <c:v>623.70000000000005</c:v>
                </c:pt>
                <c:pt idx="11">
                  <c:v>1467.9</c:v>
                </c:pt>
                <c:pt idx="12">
                  <c:v>1209.5999999999999</c:v>
                </c:pt>
                <c:pt idx="13">
                  <c:v>1253.7</c:v>
                </c:pt>
                <c:pt idx="14">
                  <c:v>936.6</c:v>
                </c:pt>
                <c:pt idx="15">
                  <c:v>1173.9000000000001</c:v>
                </c:pt>
                <c:pt idx="16">
                  <c:v>1352.4</c:v>
                </c:pt>
                <c:pt idx="17">
                  <c:v>1150.8</c:v>
                </c:pt>
                <c:pt idx="18">
                  <c:v>1029</c:v>
                </c:pt>
                <c:pt idx="19">
                  <c:v>1461.6</c:v>
                </c:pt>
                <c:pt idx="20">
                  <c:v>1509.9</c:v>
                </c:pt>
                <c:pt idx="21">
                  <c:v>1039.5</c:v>
                </c:pt>
                <c:pt idx="22">
                  <c:v>1215.9000000000001</c:v>
                </c:pt>
                <c:pt idx="23">
                  <c:v>1478.4</c:v>
                </c:pt>
                <c:pt idx="24">
                  <c:v>1505.7</c:v>
                </c:pt>
                <c:pt idx="25">
                  <c:v>642.6</c:v>
                </c:pt>
                <c:pt idx="26">
                  <c:v>1152.9000000000001</c:v>
                </c:pt>
                <c:pt idx="27">
                  <c:v>987</c:v>
                </c:pt>
                <c:pt idx="28">
                  <c:v>732.9</c:v>
                </c:pt>
                <c:pt idx="29">
                  <c:v>1419.6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7D9-4CF2-9A0A-47C8DBCCA7B2}"/>
            </c:ext>
          </c:extLst>
        </c:ser>
        <c:ser>
          <c:idx val="3"/>
          <c:order val="3"/>
          <c:tx>
            <c:strRef>
              <c:f>'cpe2'!$A$6</c:f>
              <c:strCache>
                <c:ptCount val="1"/>
                <c:pt idx="0">
                  <c:v>psum2i</c:v>
                </c:pt>
              </c:strCache>
            </c:strRef>
          </c:tx>
          <c:spPr>
            <a:ln w="12700">
              <a:solidFill>
                <a:srgbClr val="000000"/>
              </a:solidFill>
              <a:prstDash val="solid"/>
            </a:ln>
          </c:spPr>
          <c:marker>
            <c:symbol val="none"/>
          </c:marker>
          <c:xVal>
            <c:numRef>
              <c:f>'cpe2'!$B$2:$AE$2</c:f>
              <c:numCache>
                <c:formatCode>General</c:formatCode>
                <c:ptCount val="30"/>
                <c:pt idx="0">
                  <c:v>0</c:v>
                </c:pt>
                <c:pt idx="1">
                  <c:v>193</c:v>
                </c:pt>
                <c:pt idx="2">
                  <c:v>120</c:v>
                </c:pt>
                <c:pt idx="3">
                  <c:v>91</c:v>
                </c:pt>
                <c:pt idx="4">
                  <c:v>95</c:v>
                </c:pt>
                <c:pt idx="5">
                  <c:v>196</c:v>
                </c:pt>
                <c:pt idx="6">
                  <c:v>97</c:v>
                </c:pt>
                <c:pt idx="7">
                  <c:v>181</c:v>
                </c:pt>
                <c:pt idx="8">
                  <c:v>91</c:v>
                </c:pt>
                <c:pt idx="9">
                  <c:v>83</c:v>
                </c:pt>
                <c:pt idx="10">
                  <c:v>43</c:v>
                </c:pt>
                <c:pt idx="11">
                  <c:v>183</c:v>
                </c:pt>
                <c:pt idx="12">
                  <c:v>140</c:v>
                </c:pt>
                <c:pt idx="13">
                  <c:v>146</c:v>
                </c:pt>
                <c:pt idx="14">
                  <c:v>94</c:v>
                </c:pt>
                <c:pt idx="15">
                  <c:v>134</c:v>
                </c:pt>
                <c:pt idx="16">
                  <c:v>163</c:v>
                </c:pt>
                <c:pt idx="17">
                  <c:v>131</c:v>
                </c:pt>
                <c:pt idx="18">
                  <c:v>110</c:v>
                </c:pt>
                <c:pt idx="19">
                  <c:v>182</c:v>
                </c:pt>
                <c:pt idx="20">
                  <c:v>189</c:v>
                </c:pt>
                <c:pt idx="21">
                  <c:v>112</c:v>
                </c:pt>
                <c:pt idx="22">
                  <c:v>141</c:v>
                </c:pt>
                <c:pt idx="23">
                  <c:v>185</c:v>
                </c:pt>
                <c:pt idx="24">
                  <c:v>188</c:v>
                </c:pt>
                <c:pt idx="25">
                  <c:v>47</c:v>
                </c:pt>
                <c:pt idx="26">
                  <c:v>130</c:v>
                </c:pt>
                <c:pt idx="27">
                  <c:v>102</c:v>
                </c:pt>
                <c:pt idx="28">
                  <c:v>59</c:v>
                </c:pt>
                <c:pt idx="29">
                  <c:v>174</c:v>
                </c:pt>
              </c:numCache>
            </c:numRef>
          </c:xVal>
          <c:yVal>
            <c:numRef>
              <c:f>'cpe2'!$B$6:$AE$6</c:f>
              <c:numCache>
                <c:formatCode>General</c:formatCode>
                <c:ptCount val="30"/>
                <c:pt idx="0">
                  <c:v>367.66</c:v>
                </c:pt>
                <c:pt idx="1">
                  <c:v>1531.11</c:v>
                </c:pt>
                <c:pt idx="2">
                  <c:v>1091.05</c:v>
                </c:pt>
                <c:pt idx="3">
                  <c:v>916.23</c:v>
                </c:pt>
                <c:pt idx="4">
                  <c:v>940.33999999999855</c:v>
                </c:pt>
                <c:pt idx="5">
                  <c:v>1549.2</c:v>
                </c:pt>
                <c:pt idx="6">
                  <c:v>952.4</c:v>
                </c:pt>
                <c:pt idx="7">
                  <c:v>1458.77</c:v>
                </c:pt>
                <c:pt idx="8">
                  <c:v>916.23</c:v>
                </c:pt>
                <c:pt idx="9">
                  <c:v>868.01</c:v>
                </c:pt>
                <c:pt idx="10">
                  <c:v>626.87</c:v>
                </c:pt>
                <c:pt idx="11">
                  <c:v>1470.83</c:v>
                </c:pt>
                <c:pt idx="12">
                  <c:v>1211.6199999999999</c:v>
                </c:pt>
                <c:pt idx="13">
                  <c:v>1247.79</c:v>
                </c:pt>
                <c:pt idx="14">
                  <c:v>934.31999999999937</c:v>
                </c:pt>
                <c:pt idx="15">
                  <c:v>1175.45</c:v>
                </c:pt>
                <c:pt idx="16">
                  <c:v>1350.27</c:v>
                </c:pt>
                <c:pt idx="17">
                  <c:v>1157.3599999999999</c:v>
                </c:pt>
                <c:pt idx="18">
                  <c:v>1030.77</c:v>
                </c:pt>
                <c:pt idx="19">
                  <c:v>1464.8</c:v>
                </c:pt>
                <c:pt idx="20">
                  <c:v>1507</c:v>
                </c:pt>
                <c:pt idx="21">
                  <c:v>1042.82</c:v>
                </c:pt>
                <c:pt idx="22">
                  <c:v>1217.6400000000001</c:v>
                </c:pt>
                <c:pt idx="23">
                  <c:v>1482.89</c:v>
                </c:pt>
                <c:pt idx="24">
                  <c:v>1500.97</c:v>
                </c:pt>
                <c:pt idx="25">
                  <c:v>650.99</c:v>
                </c:pt>
                <c:pt idx="26">
                  <c:v>1151.33</c:v>
                </c:pt>
                <c:pt idx="27">
                  <c:v>982.54</c:v>
                </c:pt>
                <c:pt idx="28">
                  <c:v>723.32999999999936</c:v>
                </c:pt>
                <c:pt idx="29">
                  <c:v>1416.58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77D9-4CF2-9A0A-47C8DBCCA7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086370784"/>
        <c:axId val="-2086701824"/>
      </c:scatterChart>
      <c:valAx>
        <c:axId val="-2086370784"/>
        <c:scaling>
          <c:orientation val="minMax"/>
          <c:max val="200"/>
        </c:scaling>
        <c:delete val="0"/>
        <c:axPos val="b"/>
        <c:title>
          <c:tx>
            <c:rich>
              <a:bodyPr/>
              <a:lstStyle/>
              <a:p>
                <a:pPr>
                  <a:defRPr sz="1075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Elements</a:t>
                </a:r>
              </a:p>
            </c:rich>
          </c:tx>
          <c:layout>
            <c:manualLayout>
              <c:xMode val="edge"/>
              <c:yMode val="edge"/>
              <c:x val="0.49022801302931601"/>
              <c:y val="0.90845267580988998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75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-2086701824"/>
        <c:crosses val="autoZero"/>
        <c:crossBetween val="midCat"/>
      </c:valAx>
      <c:valAx>
        <c:axId val="-2086701824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075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Cycles</a:t>
                </a:r>
              </a:p>
            </c:rich>
          </c:tx>
          <c:layout>
            <c:manualLayout>
              <c:xMode val="edge"/>
              <c:yMode val="edge"/>
              <c:x val="2.6058631921824098E-2"/>
              <c:y val="0.38967234729461597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75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-2086370784"/>
        <c:crosses val="autoZero"/>
        <c:crossBetween val="midCat"/>
      </c:valAx>
      <c:spPr>
        <a:noFill/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075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684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1-04T07:42:41.5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21171 468 212 0,'-9'-26'79'0,"0"-24"-61"0,3 81-5 0,6-25-5 16,0 2-7-16,0-8 2 15,0 10-9-15,-3-28-3 16,3 31 5 0,0-13-23-16,-3 13-7 0,0-5 18 0</inkml:trace>
  <inkml:trace contextRef="#ctx0" brushRef="#br0" timeOffset="859.871">20716 1257 108 0,'-6'-19'44'0,"3"6"-35"0,3 13 5 0,0 0 1 16,0 0-22-16,0 0-7 15,0 0 6-15,0 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482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21854C-CD98-4EFD-A870-B2B265F3BDC4}" type="slidenum">
              <a:rPr lang="en-US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1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814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78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35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13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1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9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32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56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10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30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11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436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534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771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341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51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487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576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401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98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429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73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898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19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263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725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654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9988" y="688975"/>
            <a:ext cx="4530725" cy="33972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4120"/>
            <a:ext cx="5486400" cy="4113967"/>
          </a:xfrm>
          <a:prstGeom prst="rect">
            <a:avLst/>
          </a:prstGeom>
        </p:spPr>
        <p:txBody>
          <a:bodyPr lIns="86630" tIns="43315" rIns="86630" bIns="43315"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5206" y="8685210"/>
            <a:ext cx="2971304" cy="457276"/>
          </a:xfrm>
          <a:prstGeom prst="rect">
            <a:avLst/>
          </a:prstGeom>
        </p:spPr>
        <p:txBody>
          <a:bodyPr lIns="86630" tIns="43315" rIns="86630" bIns="43315"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533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793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917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110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86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801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713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485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654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038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8693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1216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270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023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6902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8929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5373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577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937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975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3406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8952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97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124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3293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1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ehalem_(microarchitecture)" TargetMode="Externa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685800" y="1784350"/>
            <a:ext cx="7772400" cy="2406650"/>
          </a:xfrm>
        </p:spPr>
        <p:txBody>
          <a:bodyPr/>
          <a:lstStyle/>
          <a:p>
            <a:pPr marL="0" indent="0"/>
            <a:r>
              <a:rPr lang="en-US" dirty="0"/>
              <a:t>Program Optimization</a:t>
            </a:r>
            <a:br>
              <a:rPr lang="en-US" dirty="0"/>
            </a:br>
            <a:br>
              <a:rPr lang="en-US" dirty="0">
                <a:latin typeface="Calibri" pitchFamily="-96" charset="0"/>
              </a:rPr>
            </a:br>
            <a:br>
              <a:rPr lang="en-US" dirty="0">
                <a:latin typeface="Calibri" pitchFamily="-96" charset="0"/>
              </a:rPr>
            </a:br>
            <a:endParaRPr lang="en-US" sz="2000" b="0" dirty="0">
              <a:latin typeface="Calibri" pitchFamily="-96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A0D4021-1808-4109-8B65-03D124AB64DA}"/>
                  </a:ext>
                </a:extLst>
              </p14:cNvPr>
              <p14:cNvContentPartPr/>
              <p14:nvPr/>
            </p14:nvContentPartPr>
            <p14:xfrm>
              <a:off x="7454520" y="141120"/>
              <a:ext cx="167400" cy="311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A0D4021-1808-4109-8B65-03D124AB64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45160" y="131760"/>
                <a:ext cx="186120" cy="33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2132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Overview</a:t>
            </a:r>
          </a:p>
          <a:p>
            <a:r>
              <a:rPr lang="en-US" dirty="0">
                <a:solidFill>
                  <a:srgbClr val="7F7F7F"/>
                </a:solidFill>
              </a:rPr>
              <a:t>Generally Useful Optimizations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Code motion/</a:t>
            </a:r>
            <a:r>
              <a:rPr lang="en-US" dirty="0" err="1">
                <a:solidFill>
                  <a:srgbClr val="7F7F7F"/>
                </a:solidFill>
              </a:rPr>
              <a:t>precomputation</a:t>
            </a:r>
            <a:endParaRPr lang="en-US" dirty="0">
              <a:solidFill>
                <a:srgbClr val="7F7F7F"/>
              </a:solidFill>
            </a:endParaRPr>
          </a:p>
          <a:p>
            <a:pPr lvl="1"/>
            <a:r>
              <a:rPr lang="en-US" dirty="0">
                <a:solidFill>
                  <a:srgbClr val="7F7F7F"/>
                </a:solidFill>
              </a:rPr>
              <a:t>Strength reduction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Sharing of common </a:t>
            </a:r>
            <a:r>
              <a:rPr lang="en-US" dirty="0" err="1">
                <a:solidFill>
                  <a:srgbClr val="7F7F7F"/>
                </a:solidFill>
              </a:rPr>
              <a:t>subexpressions</a:t>
            </a:r>
            <a:endParaRPr lang="en-US" dirty="0">
              <a:solidFill>
                <a:srgbClr val="7F7F7F"/>
              </a:solidFill>
            </a:endParaRPr>
          </a:p>
          <a:p>
            <a:pPr lvl="1"/>
            <a:r>
              <a:rPr lang="en-US" dirty="0">
                <a:solidFill>
                  <a:srgbClr val="7F7F7F"/>
                </a:solidFill>
              </a:rPr>
              <a:t>Removing unnecessary procedure calls</a:t>
            </a:r>
          </a:p>
          <a:p>
            <a:r>
              <a:rPr lang="en-US" dirty="0">
                <a:solidFill>
                  <a:srgbClr val="7F7F7F"/>
                </a:solidFill>
              </a:rPr>
              <a:t>Optimization Blockers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Procedure calls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Memory aliasing</a:t>
            </a:r>
          </a:p>
          <a:p>
            <a:r>
              <a:rPr lang="en-US" b="1" dirty="0">
                <a:solidFill>
                  <a:srgbClr val="7F7F7F"/>
                </a:solidFill>
              </a:rPr>
              <a:t>Exploiting Instruction-Level Parallelism</a:t>
            </a:r>
          </a:p>
          <a:p>
            <a:r>
              <a:rPr lang="en-US" dirty="0">
                <a:solidFill>
                  <a:srgbClr val="7F7F7F"/>
                </a:solidFill>
              </a:rPr>
              <a:t>Dealing with Conditionals</a:t>
            </a:r>
            <a:endParaRPr lang="en-US" b="1" dirty="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68300"/>
            <a:ext cx="53165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Performance Realities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701087" cy="522446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i="1" dirty="0"/>
              <a:t>There’s more to performance than asymptotic complexity</a:t>
            </a: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Constant factors matter too!</a:t>
            </a:r>
          </a:p>
          <a:p>
            <a:pPr lvl="1" eaLnBrk="1" hangingPunct="1">
              <a:defRPr/>
            </a:pPr>
            <a:r>
              <a:rPr lang="en-US" dirty="0"/>
              <a:t>Easily see 10:1 performance range depending on how code is written</a:t>
            </a:r>
          </a:p>
          <a:p>
            <a:pPr lvl="1" eaLnBrk="1" hangingPunct="1">
              <a:defRPr/>
            </a:pPr>
            <a:r>
              <a:rPr lang="en-US" dirty="0"/>
              <a:t>Must optimize at multiple levels: </a:t>
            </a:r>
          </a:p>
          <a:p>
            <a:pPr lvl="2" eaLnBrk="1" hangingPunct="1">
              <a:defRPr/>
            </a:pPr>
            <a:r>
              <a:rPr lang="en-US" dirty="0"/>
              <a:t>algorithm, data representations, procedures, and loops</a:t>
            </a:r>
          </a:p>
          <a:p>
            <a:pPr eaLnBrk="1" hangingPunct="1">
              <a:defRPr/>
            </a:pPr>
            <a:r>
              <a:rPr lang="en-US" dirty="0"/>
              <a:t>Must understand system to optimize performance</a:t>
            </a:r>
          </a:p>
          <a:p>
            <a:pPr lvl="1" eaLnBrk="1" hangingPunct="1">
              <a:defRPr/>
            </a:pPr>
            <a:r>
              <a:rPr lang="en-US" dirty="0"/>
              <a:t>How programs are compiled and executed</a:t>
            </a:r>
          </a:p>
          <a:p>
            <a:pPr lvl="1" eaLnBrk="1" hangingPunct="1">
              <a:defRPr/>
            </a:pPr>
            <a:r>
              <a:rPr lang="en-US" dirty="0"/>
              <a:t>How modern processors + memory systems operate</a:t>
            </a:r>
          </a:p>
          <a:p>
            <a:pPr lvl="1" eaLnBrk="1" hangingPunct="1">
              <a:defRPr/>
            </a:pPr>
            <a:r>
              <a:rPr lang="en-US" dirty="0"/>
              <a:t>How to measure program performance and identify bottlenecks</a:t>
            </a:r>
          </a:p>
          <a:p>
            <a:pPr lvl="1" eaLnBrk="1" hangingPunct="1">
              <a:defRPr/>
            </a:pPr>
            <a:r>
              <a:rPr lang="en-US" dirty="0"/>
              <a:t>How to improve performance without destroying code modularity and generality</a:t>
            </a:r>
          </a:p>
          <a:p>
            <a:pPr eaLnBrk="1" hangingPunct="1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65611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Optimizing Compilers</a:t>
            </a:r>
          </a:p>
        </p:txBody>
      </p:sp>
      <p:sp>
        <p:nvSpPr>
          <p:cNvPr id="65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686800" cy="5715000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/>
              <a:t>Provide efficient mapping of program to machine</a:t>
            </a:r>
          </a:p>
          <a:p>
            <a:pPr lvl="1" eaLnBrk="1" hangingPunct="1">
              <a:defRPr/>
            </a:pPr>
            <a:r>
              <a:rPr lang="en-US"/>
              <a:t>register allocation</a:t>
            </a:r>
          </a:p>
          <a:p>
            <a:pPr lvl="1" eaLnBrk="1" hangingPunct="1">
              <a:defRPr/>
            </a:pPr>
            <a:r>
              <a:rPr lang="en-US"/>
              <a:t>code selection and ordering (scheduling)</a:t>
            </a:r>
          </a:p>
          <a:p>
            <a:pPr lvl="1" eaLnBrk="1" hangingPunct="1">
              <a:defRPr/>
            </a:pPr>
            <a:r>
              <a:rPr lang="en-US"/>
              <a:t>dead code elimination</a:t>
            </a:r>
          </a:p>
          <a:p>
            <a:pPr lvl="1" eaLnBrk="1" hangingPunct="1">
              <a:defRPr/>
            </a:pPr>
            <a:r>
              <a:rPr lang="en-US"/>
              <a:t>eliminating minor inefficiencies</a:t>
            </a:r>
          </a:p>
          <a:p>
            <a:pPr eaLnBrk="1" hangingPunct="1">
              <a:defRPr/>
            </a:pPr>
            <a:r>
              <a:rPr lang="en-US"/>
              <a:t>Don’t (usually) improve asymptotic efficiency</a:t>
            </a:r>
          </a:p>
          <a:p>
            <a:pPr lvl="1" eaLnBrk="1" hangingPunct="1">
              <a:defRPr/>
            </a:pPr>
            <a:r>
              <a:rPr lang="en-US"/>
              <a:t>up to programmer to select best overall algorithm</a:t>
            </a:r>
          </a:p>
          <a:p>
            <a:pPr lvl="1" eaLnBrk="1" hangingPunct="1">
              <a:defRPr/>
            </a:pPr>
            <a:r>
              <a:rPr lang="en-US"/>
              <a:t>big-O savings are (often) more important than constant factors</a:t>
            </a:r>
          </a:p>
          <a:p>
            <a:pPr lvl="2" eaLnBrk="1" hangingPunct="1">
              <a:defRPr/>
            </a:pPr>
            <a:r>
              <a:rPr lang="en-US"/>
              <a:t>but constant factors also matter</a:t>
            </a:r>
          </a:p>
          <a:p>
            <a:pPr eaLnBrk="1" hangingPunct="1">
              <a:defRPr/>
            </a:pPr>
            <a:r>
              <a:rPr lang="en-US"/>
              <a:t>Have difficulty overcoming “optimization blockers”</a:t>
            </a:r>
          </a:p>
          <a:p>
            <a:pPr lvl="1" eaLnBrk="1" hangingPunct="1">
              <a:defRPr/>
            </a:pPr>
            <a:r>
              <a:rPr lang="en-US"/>
              <a:t>potential memory aliasing</a:t>
            </a:r>
          </a:p>
          <a:p>
            <a:pPr lvl="1" eaLnBrk="1" hangingPunct="1">
              <a:defRPr/>
            </a:pPr>
            <a:r>
              <a:rPr lang="en-US"/>
              <a:t>potential procedure side-effects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534400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Limitations of Optimizing Compilers</a:t>
            </a:r>
          </a:p>
        </p:txBody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066800"/>
            <a:ext cx="8307387" cy="5219700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sz="2000" dirty="0"/>
              <a:t>Operate under fundamental constraint</a:t>
            </a:r>
          </a:p>
          <a:p>
            <a:pPr lvl="1" eaLnBrk="1" hangingPunct="1">
              <a:defRPr/>
            </a:pPr>
            <a:r>
              <a:rPr lang="en-US" sz="1800" dirty="0"/>
              <a:t>Must not cause any change in program behavior</a:t>
            </a:r>
          </a:p>
          <a:p>
            <a:pPr lvl="2">
              <a:defRPr/>
            </a:pPr>
            <a:r>
              <a:rPr lang="en-US" sz="1800" dirty="0"/>
              <a:t>Except, possibly when program making use of nonstandard language features</a:t>
            </a:r>
          </a:p>
          <a:p>
            <a:pPr lvl="1" eaLnBrk="1" hangingPunct="1">
              <a:defRPr/>
            </a:pPr>
            <a:r>
              <a:rPr lang="en-US" sz="1800" dirty="0"/>
              <a:t>Often prevents it from making optimizations that would only affect behavior under pathological conditions.</a:t>
            </a:r>
          </a:p>
          <a:p>
            <a:pPr eaLnBrk="1" hangingPunct="1">
              <a:defRPr/>
            </a:pPr>
            <a:r>
              <a:rPr lang="en-US" sz="2000" dirty="0"/>
              <a:t>Behavior that may be obvious to the programmer can  be obfuscated by languages and coding styles</a:t>
            </a:r>
          </a:p>
          <a:p>
            <a:pPr lvl="1" eaLnBrk="1" hangingPunct="1">
              <a:defRPr/>
            </a:pPr>
            <a:r>
              <a:rPr lang="en-US" sz="1800" dirty="0"/>
              <a:t>e.g., Data ranges may be more limited than variable types suggest</a:t>
            </a:r>
          </a:p>
          <a:p>
            <a:pPr eaLnBrk="1" hangingPunct="1">
              <a:defRPr/>
            </a:pPr>
            <a:r>
              <a:rPr lang="en-US" sz="2000" dirty="0"/>
              <a:t>Most analysis is performed only within procedures</a:t>
            </a:r>
          </a:p>
          <a:p>
            <a:pPr lvl="1" eaLnBrk="1" hangingPunct="1">
              <a:defRPr/>
            </a:pPr>
            <a:r>
              <a:rPr lang="en-US" sz="1800" dirty="0"/>
              <a:t>Whole-program analysis is too expensive in most cases</a:t>
            </a:r>
          </a:p>
          <a:p>
            <a:pPr lvl="1" eaLnBrk="1" hangingPunct="1">
              <a:defRPr/>
            </a:pPr>
            <a:r>
              <a:rPr lang="en-US" sz="1800" dirty="0"/>
              <a:t>Newer versions of GCC do inter-procedural analysis within individual files</a:t>
            </a:r>
          </a:p>
          <a:p>
            <a:pPr lvl="2">
              <a:defRPr/>
            </a:pPr>
            <a:r>
              <a:rPr lang="en-US" sz="1800" dirty="0"/>
              <a:t>But, not between code in different files</a:t>
            </a:r>
          </a:p>
          <a:p>
            <a:pPr eaLnBrk="1" hangingPunct="1">
              <a:defRPr/>
            </a:pPr>
            <a:r>
              <a:rPr lang="en-US" sz="2000" dirty="0"/>
              <a:t>Most analysis is based only on </a:t>
            </a:r>
            <a:r>
              <a:rPr lang="en-US" sz="2000" i="1" dirty="0"/>
              <a:t>static</a:t>
            </a:r>
            <a:r>
              <a:rPr lang="en-US" sz="2000" dirty="0"/>
              <a:t> information</a:t>
            </a:r>
          </a:p>
          <a:p>
            <a:pPr lvl="1" eaLnBrk="1" hangingPunct="1">
              <a:defRPr/>
            </a:pPr>
            <a:r>
              <a:rPr lang="en-US" sz="1800" dirty="0"/>
              <a:t>Compiler has difficulty anticipating run-time inputs</a:t>
            </a:r>
            <a:endParaRPr lang="en-US" sz="2000" dirty="0"/>
          </a:p>
          <a:p>
            <a:pPr eaLnBrk="1" hangingPunct="1">
              <a:defRPr/>
            </a:pPr>
            <a:r>
              <a:rPr lang="en-US" sz="2000" dirty="0">
                <a:solidFill>
                  <a:srgbClr val="FF0000"/>
                </a:solidFill>
              </a:rPr>
              <a:t>When in doubt, the compiler must be conservative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350250" cy="10604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Machine-independent Optimizations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373188"/>
            <a:ext cx="8307387" cy="3275012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dirty="0"/>
              <a:t>Optimizations that you or the compiler should do regardless of processor / compiler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Code Motion</a:t>
            </a:r>
          </a:p>
          <a:p>
            <a:pPr lvl="1" eaLnBrk="1" hangingPunct="1">
              <a:defRPr/>
            </a:pPr>
            <a:r>
              <a:rPr lang="en-US" dirty="0"/>
              <a:t>Reduce frequency with which computation performed</a:t>
            </a:r>
          </a:p>
          <a:p>
            <a:pPr lvl="2" eaLnBrk="1" hangingPunct="1">
              <a:defRPr/>
            </a:pPr>
            <a:r>
              <a:rPr lang="en-US" dirty="0"/>
              <a:t>If it will always produce same result</a:t>
            </a:r>
          </a:p>
          <a:p>
            <a:pPr lvl="2" eaLnBrk="1" hangingPunct="1">
              <a:defRPr/>
            </a:pPr>
            <a:r>
              <a:rPr lang="en-US" dirty="0"/>
              <a:t>Especially moving code out of loop</a:t>
            </a:r>
          </a:p>
        </p:txBody>
      </p:sp>
      <p:sp>
        <p:nvSpPr>
          <p:cNvPr id="9220" name="Rectangle 5"/>
          <p:cNvSpPr>
            <a:spLocks noChangeArrowheads="1"/>
          </p:cNvSpPr>
          <p:nvPr/>
        </p:nvSpPr>
        <p:spPr bwMode="auto">
          <a:xfrm>
            <a:off x="5257800" y="4953000"/>
            <a:ext cx="3124200" cy="996950"/>
          </a:xfrm>
          <a:prstGeom prst="rect">
            <a:avLst/>
          </a:prstGeom>
          <a:solidFill>
            <a:srgbClr val="F6F5BD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 long j;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 </a:t>
            </a:r>
            <a:r>
              <a:rPr lang="en-US" sz="1400" i="1" dirty="0" err="1">
                <a:latin typeface="Courier New" pitchFamily="49" charset="0"/>
              </a:rPr>
              <a:t>int</a:t>
            </a:r>
            <a:r>
              <a:rPr lang="en-US" sz="1400" i="1" dirty="0">
                <a:latin typeface="Courier New" pitchFamily="49" charset="0"/>
              </a:rPr>
              <a:t> </a:t>
            </a:r>
            <a:r>
              <a:rPr lang="en-US" sz="1400" i="1" dirty="0" err="1">
                <a:latin typeface="Courier New" pitchFamily="49" charset="0"/>
              </a:rPr>
              <a:t>ni</a:t>
            </a:r>
            <a:r>
              <a:rPr lang="en-US" sz="1400" i="1" dirty="0">
                <a:latin typeface="Courier New" pitchFamily="49" charset="0"/>
              </a:rPr>
              <a:t> = </a:t>
            </a:r>
            <a:r>
              <a:rPr lang="en-US" sz="1400" i="1" dirty="0">
                <a:solidFill>
                  <a:srgbClr val="FF0000"/>
                </a:solidFill>
                <a:latin typeface="Courier New" pitchFamily="49" charset="0"/>
              </a:rPr>
              <a:t>n*</a:t>
            </a:r>
            <a:r>
              <a:rPr lang="en-US" sz="1400" i="1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 for (j = 0; j &lt; n; j++)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	a[</a:t>
            </a:r>
            <a:r>
              <a:rPr lang="en-US" sz="1400" dirty="0" err="1">
                <a:latin typeface="Courier New" pitchFamily="49" charset="0"/>
              </a:rPr>
              <a:t>ni+j</a:t>
            </a:r>
            <a:r>
              <a:rPr lang="en-US" sz="1400" dirty="0">
                <a:latin typeface="Courier New" pitchFamily="49" charset="0"/>
              </a:rPr>
              <a:t>] = b[j];</a:t>
            </a:r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>
            <a:off x="4570413" y="51054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2" name="Rectangle 7"/>
          <p:cNvSpPr>
            <a:spLocks noChangeArrowheads="1"/>
          </p:cNvSpPr>
          <p:nvPr/>
        </p:nvSpPr>
        <p:spPr bwMode="auto">
          <a:xfrm>
            <a:off x="608013" y="4343400"/>
            <a:ext cx="3854450" cy="1635125"/>
          </a:xfrm>
          <a:prstGeom prst="rect">
            <a:avLst/>
          </a:prstGeom>
          <a:solidFill>
            <a:srgbClr val="F6F5BD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void </a:t>
            </a:r>
            <a:r>
              <a:rPr lang="en-US" sz="1400" dirty="0" err="1">
                <a:latin typeface="Courier New" pitchFamily="49" charset="0"/>
              </a:rPr>
              <a:t>set_row</a:t>
            </a:r>
            <a:r>
              <a:rPr lang="en-US" sz="1400" dirty="0">
                <a:latin typeface="Courier New" pitchFamily="49" charset="0"/>
              </a:rPr>
              <a:t>(double *a, double *b,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long 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, long n)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 long j;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 for (j = 0; j &lt; n; j++)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	a[</a:t>
            </a:r>
            <a:r>
              <a:rPr lang="en-US" sz="1400" dirty="0">
                <a:solidFill>
                  <a:srgbClr val="FF0000"/>
                </a:solidFill>
                <a:latin typeface="Courier New" pitchFamily="49" charset="0"/>
              </a:rPr>
              <a:t>n*</a:t>
            </a:r>
            <a:r>
              <a:rPr lang="en-US" sz="14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sz="1400" dirty="0" err="1">
                <a:latin typeface="Courier New" pitchFamily="49" charset="0"/>
              </a:rPr>
              <a:t>+j</a:t>
            </a:r>
            <a:r>
              <a:rPr lang="en-US" sz="1400" dirty="0">
                <a:latin typeface="Courier New" pitchFamily="49" charset="0"/>
              </a:rPr>
              <a:t>] = b[j];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57762" y="304800"/>
            <a:ext cx="8075754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Compiler-Generated Code Motion (-O1)</a:t>
            </a:r>
          </a:p>
        </p:txBody>
      </p:sp>
      <p:sp>
        <p:nvSpPr>
          <p:cNvPr id="10243" name="Rectangle 5"/>
          <p:cNvSpPr>
            <a:spLocks noChangeArrowheads="1"/>
          </p:cNvSpPr>
          <p:nvPr/>
        </p:nvSpPr>
        <p:spPr bwMode="auto">
          <a:xfrm>
            <a:off x="1371600" y="3276600"/>
            <a:ext cx="7061916" cy="3105979"/>
          </a:xfrm>
          <a:prstGeom prst="rect">
            <a:avLst/>
          </a:prstGeom>
          <a:solidFill>
            <a:srgbClr val="F1C7C7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r>
              <a:rPr lang="en-US" sz="1400" dirty="0" err="1">
                <a:latin typeface="Courier New" pitchFamily="49" charset="0"/>
              </a:rPr>
              <a:t>set_row</a:t>
            </a:r>
            <a:r>
              <a:rPr lang="en-US" sz="1400" dirty="0">
                <a:latin typeface="Courier New" pitchFamily="49" charset="0"/>
              </a:rPr>
              <a:t>:</a:t>
            </a:r>
          </a:p>
          <a:p>
            <a:r>
              <a:rPr lang="en-US" sz="1400" dirty="0">
                <a:latin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</a:rPr>
              <a:t>testq</a:t>
            </a:r>
            <a:r>
              <a:rPr lang="en-US" sz="1400" dirty="0">
                <a:latin typeface="Courier New" pitchFamily="49" charset="0"/>
              </a:rPr>
              <a:t>	%</a:t>
            </a:r>
            <a:r>
              <a:rPr lang="en-US" sz="1400" dirty="0" err="1">
                <a:latin typeface="Courier New" pitchFamily="49" charset="0"/>
              </a:rPr>
              <a:t>rcx</a:t>
            </a:r>
            <a:r>
              <a:rPr lang="en-US" sz="1400" dirty="0">
                <a:latin typeface="Courier New" pitchFamily="49" charset="0"/>
              </a:rPr>
              <a:t>, %</a:t>
            </a:r>
            <a:r>
              <a:rPr lang="en-US" sz="1400" dirty="0" err="1">
                <a:latin typeface="Courier New" pitchFamily="49" charset="0"/>
              </a:rPr>
              <a:t>rcx</a:t>
            </a:r>
            <a:r>
              <a:rPr lang="en-US" sz="1400" dirty="0">
                <a:latin typeface="Courier New" pitchFamily="49" charset="0"/>
              </a:rPr>
              <a:t>		# Test n</a:t>
            </a:r>
          </a:p>
          <a:p>
            <a:r>
              <a:rPr lang="en-US" sz="1400" dirty="0">
                <a:latin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</a:rPr>
              <a:t>jle</a:t>
            </a:r>
            <a:r>
              <a:rPr lang="en-US" sz="1400" dirty="0">
                <a:latin typeface="Courier New" pitchFamily="49" charset="0"/>
              </a:rPr>
              <a:t>	.L1			# If 0, </a:t>
            </a:r>
            <a:r>
              <a:rPr lang="en-US" sz="1400" dirty="0" err="1">
                <a:latin typeface="Courier New" pitchFamily="49" charset="0"/>
              </a:rPr>
              <a:t>goto</a:t>
            </a:r>
            <a:r>
              <a:rPr lang="en-US" sz="1400" dirty="0">
                <a:latin typeface="Courier New" pitchFamily="49" charset="0"/>
              </a:rPr>
              <a:t> done</a:t>
            </a:r>
          </a:p>
          <a:p>
            <a:r>
              <a:rPr lang="en-US" sz="1400" dirty="0">
                <a:latin typeface="Courier New" pitchFamily="49" charset="0"/>
              </a:rPr>
              <a:t>	</a:t>
            </a:r>
            <a:r>
              <a:rPr lang="en-US" sz="1400" dirty="0" err="1">
                <a:solidFill>
                  <a:srgbClr val="C00000"/>
                </a:solidFill>
                <a:latin typeface="Courier New" pitchFamily="49" charset="0"/>
              </a:rPr>
              <a:t>imulq</a:t>
            </a:r>
            <a:r>
              <a:rPr lang="en-US" sz="1400" dirty="0">
                <a:solidFill>
                  <a:srgbClr val="C00000"/>
                </a:solidFill>
                <a:latin typeface="Courier New" pitchFamily="49" charset="0"/>
              </a:rPr>
              <a:t>	%</a:t>
            </a:r>
            <a:r>
              <a:rPr lang="en-US" sz="1400" dirty="0" err="1">
                <a:solidFill>
                  <a:srgbClr val="C00000"/>
                </a:solidFill>
                <a:latin typeface="Courier New" pitchFamily="49" charset="0"/>
              </a:rPr>
              <a:t>rcx</a:t>
            </a:r>
            <a:r>
              <a:rPr lang="en-US" sz="1400" dirty="0">
                <a:solidFill>
                  <a:srgbClr val="C00000"/>
                </a:solidFill>
                <a:latin typeface="Courier New" pitchFamily="49" charset="0"/>
              </a:rPr>
              <a:t>, %</a:t>
            </a:r>
            <a:r>
              <a:rPr lang="en-US" sz="1400" dirty="0" err="1">
                <a:solidFill>
                  <a:srgbClr val="C00000"/>
                </a:solidFill>
                <a:latin typeface="Courier New" pitchFamily="49" charset="0"/>
              </a:rPr>
              <a:t>rdx</a:t>
            </a:r>
            <a:r>
              <a:rPr lang="en-US" sz="1400" dirty="0">
                <a:solidFill>
                  <a:srgbClr val="C00000"/>
                </a:solidFill>
                <a:latin typeface="Courier New" pitchFamily="49" charset="0"/>
              </a:rPr>
              <a:t>		# </a:t>
            </a:r>
            <a:r>
              <a:rPr lang="en-US" sz="1400" dirty="0" err="1">
                <a:solidFill>
                  <a:srgbClr val="C00000"/>
                </a:solidFill>
                <a:latin typeface="Courier New" pitchFamily="49" charset="0"/>
              </a:rPr>
              <a:t>ni</a:t>
            </a:r>
            <a:r>
              <a:rPr lang="en-US" sz="1400" dirty="0">
                <a:solidFill>
                  <a:srgbClr val="C00000"/>
                </a:solidFill>
                <a:latin typeface="Courier New" pitchFamily="49" charset="0"/>
              </a:rPr>
              <a:t> = n*</a:t>
            </a:r>
            <a:r>
              <a:rPr lang="en-US" sz="1400" dirty="0" err="1">
                <a:solidFill>
                  <a:srgbClr val="C00000"/>
                </a:solidFill>
                <a:latin typeface="Courier New" pitchFamily="49" charset="0"/>
              </a:rPr>
              <a:t>i</a:t>
            </a:r>
            <a:endParaRPr lang="en-US" sz="1400" dirty="0">
              <a:solidFill>
                <a:srgbClr val="C00000"/>
              </a:solidFill>
              <a:latin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</a:rPr>
              <a:t>leaq</a:t>
            </a:r>
            <a:r>
              <a:rPr lang="en-US" sz="1400" dirty="0">
                <a:latin typeface="Courier New" pitchFamily="49" charset="0"/>
              </a:rPr>
              <a:t>	(%rdi,%rdx,8), %</a:t>
            </a:r>
            <a:r>
              <a:rPr lang="en-US" sz="1400" dirty="0" err="1">
                <a:latin typeface="Courier New" pitchFamily="49" charset="0"/>
              </a:rPr>
              <a:t>rdx</a:t>
            </a:r>
            <a:r>
              <a:rPr lang="en-US" sz="1400" dirty="0">
                <a:latin typeface="Courier New" pitchFamily="49" charset="0"/>
              </a:rPr>
              <a:t>	# </a:t>
            </a:r>
            <a:r>
              <a:rPr lang="en-US" sz="1400" dirty="0" err="1">
                <a:latin typeface="Courier New" pitchFamily="49" charset="0"/>
              </a:rPr>
              <a:t>rowp</a:t>
            </a:r>
            <a:r>
              <a:rPr lang="en-US" sz="1400" dirty="0">
                <a:latin typeface="Courier New" pitchFamily="49" charset="0"/>
              </a:rPr>
              <a:t> = A + </a:t>
            </a:r>
            <a:r>
              <a:rPr lang="en-US" sz="1400" dirty="0" err="1">
                <a:latin typeface="Courier New" pitchFamily="49" charset="0"/>
              </a:rPr>
              <a:t>ni</a:t>
            </a:r>
            <a:r>
              <a:rPr lang="en-US" sz="1400" dirty="0">
                <a:latin typeface="Courier New" pitchFamily="49" charset="0"/>
              </a:rPr>
              <a:t>*8</a:t>
            </a:r>
          </a:p>
          <a:p>
            <a:r>
              <a:rPr lang="en-US" sz="1400" dirty="0">
                <a:latin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</a:rPr>
              <a:t>movl</a:t>
            </a:r>
            <a:r>
              <a:rPr lang="en-US" sz="1400" dirty="0">
                <a:latin typeface="Courier New" pitchFamily="49" charset="0"/>
              </a:rPr>
              <a:t>	$0, %</a:t>
            </a:r>
            <a:r>
              <a:rPr lang="en-US" sz="1400" dirty="0" err="1">
                <a:latin typeface="Courier New" pitchFamily="49" charset="0"/>
              </a:rPr>
              <a:t>eax</a:t>
            </a:r>
            <a:r>
              <a:rPr lang="en-US" sz="1400" dirty="0">
                <a:latin typeface="Courier New" pitchFamily="49" charset="0"/>
              </a:rPr>
              <a:t>	               	# j = 0</a:t>
            </a:r>
          </a:p>
          <a:p>
            <a:r>
              <a:rPr lang="en-US" sz="1400" dirty="0">
                <a:latin typeface="Courier New" pitchFamily="49" charset="0"/>
              </a:rPr>
              <a:t>.L3:				      	# loop:</a:t>
            </a:r>
          </a:p>
          <a:p>
            <a:r>
              <a:rPr lang="en-US" sz="1400" dirty="0">
                <a:latin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</a:rPr>
              <a:t>movsd</a:t>
            </a:r>
            <a:r>
              <a:rPr lang="en-US" sz="1400" dirty="0">
                <a:latin typeface="Courier New" pitchFamily="49" charset="0"/>
              </a:rPr>
              <a:t>	(%rsi,%rax,8), %xmm0    	# t = b[j]</a:t>
            </a:r>
          </a:p>
          <a:p>
            <a:r>
              <a:rPr lang="en-US" sz="1400" dirty="0">
                <a:latin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</a:rPr>
              <a:t>movsd</a:t>
            </a:r>
            <a:r>
              <a:rPr lang="en-US" sz="1400" dirty="0">
                <a:latin typeface="Courier New" pitchFamily="49" charset="0"/>
              </a:rPr>
              <a:t>	%xmm0, (%rdx,%rax,8)   	# M[</a:t>
            </a:r>
            <a:r>
              <a:rPr lang="en-US" sz="1400" dirty="0" err="1">
                <a:latin typeface="Courier New" pitchFamily="49" charset="0"/>
              </a:rPr>
              <a:t>A+ni</a:t>
            </a:r>
            <a:r>
              <a:rPr lang="en-US" sz="1400" dirty="0">
                <a:latin typeface="Courier New" pitchFamily="49" charset="0"/>
              </a:rPr>
              <a:t>*8 + j*8] = t</a:t>
            </a:r>
          </a:p>
          <a:p>
            <a:r>
              <a:rPr lang="en-US" sz="1400" dirty="0">
                <a:latin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</a:rPr>
              <a:t>addq</a:t>
            </a:r>
            <a:r>
              <a:rPr lang="en-US" sz="1400" dirty="0">
                <a:latin typeface="Courier New" pitchFamily="49" charset="0"/>
              </a:rPr>
              <a:t>	$1, %</a:t>
            </a:r>
            <a:r>
              <a:rPr lang="en-US" sz="1400" dirty="0" err="1">
                <a:latin typeface="Courier New" pitchFamily="49" charset="0"/>
              </a:rPr>
              <a:t>rax</a:t>
            </a:r>
            <a:r>
              <a:rPr lang="en-US" sz="1400" dirty="0">
                <a:latin typeface="Courier New" pitchFamily="49" charset="0"/>
              </a:rPr>
              <a:t>			# j++</a:t>
            </a:r>
          </a:p>
          <a:p>
            <a:r>
              <a:rPr lang="en-US" sz="1400" dirty="0">
                <a:latin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</a:rPr>
              <a:t>cmpq</a:t>
            </a:r>
            <a:r>
              <a:rPr lang="en-US" sz="1400" dirty="0">
                <a:latin typeface="Courier New" pitchFamily="49" charset="0"/>
              </a:rPr>
              <a:t>	%</a:t>
            </a:r>
            <a:r>
              <a:rPr lang="en-US" sz="1400" dirty="0" err="1">
                <a:latin typeface="Courier New" pitchFamily="49" charset="0"/>
              </a:rPr>
              <a:t>rcx</a:t>
            </a:r>
            <a:r>
              <a:rPr lang="en-US" sz="1400" dirty="0">
                <a:latin typeface="Courier New" pitchFamily="49" charset="0"/>
              </a:rPr>
              <a:t>, %</a:t>
            </a:r>
            <a:r>
              <a:rPr lang="en-US" sz="1400" dirty="0" err="1">
                <a:latin typeface="Courier New" pitchFamily="49" charset="0"/>
              </a:rPr>
              <a:t>rax</a:t>
            </a:r>
            <a:r>
              <a:rPr lang="en-US" sz="1400" dirty="0">
                <a:latin typeface="Courier New" pitchFamily="49" charset="0"/>
              </a:rPr>
              <a:t>		# </a:t>
            </a:r>
            <a:r>
              <a:rPr lang="en-US" sz="1400" dirty="0" err="1">
                <a:latin typeface="Courier New" pitchFamily="49" charset="0"/>
              </a:rPr>
              <a:t>j:n</a:t>
            </a:r>
            <a:endParaRPr lang="en-US" sz="1400" dirty="0">
              <a:latin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</a:rPr>
              <a:t>jne</a:t>
            </a:r>
            <a:r>
              <a:rPr lang="en-US" sz="1400" dirty="0">
                <a:latin typeface="Courier New" pitchFamily="49" charset="0"/>
              </a:rPr>
              <a:t>	.L3			# if !=, </a:t>
            </a:r>
            <a:r>
              <a:rPr lang="en-US" sz="1400" dirty="0" err="1">
                <a:latin typeface="Courier New" pitchFamily="49" charset="0"/>
              </a:rPr>
              <a:t>goto</a:t>
            </a:r>
            <a:r>
              <a:rPr lang="en-US" sz="1400" dirty="0">
                <a:latin typeface="Courier New" pitchFamily="49" charset="0"/>
              </a:rPr>
              <a:t> loop</a:t>
            </a:r>
          </a:p>
          <a:p>
            <a:r>
              <a:rPr lang="en-US" sz="1400" dirty="0">
                <a:latin typeface="Courier New" pitchFamily="49" charset="0"/>
              </a:rPr>
              <a:t>.L1:				      	# done:</a:t>
            </a:r>
          </a:p>
          <a:p>
            <a:r>
              <a:rPr lang="en-US" sz="1400" dirty="0">
                <a:latin typeface="Courier New" pitchFamily="49" charset="0"/>
              </a:rPr>
              <a:t>	rep ; ret</a:t>
            </a:r>
          </a:p>
        </p:txBody>
      </p:sp>
      <p:sp>
        <p:nvSpPr>
          <p:cNvPr id="10244" name="Line 6"/>
          <p:cNvSpPr>
            <a:spLocks noChangeShapeType="1"/>
          </p:cNvSpPr>
          <p:nvPr/>
        </p:nvSpPr>
        <p:spPr bwMode="auto">
          <a:xfrm>
            <a:off x="2286000" y="2743200"/>
            <a:ext cx="6096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5" name="Line 8"/>
          <p:cNvSpPr>
            <a:spLocks noChangeShapeType="1"/>
          </p:cNvSpPr>
          <p:nvPr/>
        </p:nvSpPr>
        <p:spPr bwMode="auto">
          <a:xfrm rot="5400000" flipH="1" flipV="1">
            <a:off x="5257800" y="2590800"/>
            <a:ext cx="6096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Rectangle 9"/>
          <p:cNvSpPr>
            <a:spLocks noChangeArrowheads="1"/>
          </p:cNvSpPr>
          <p:nvPr/>
        </p:nvSpPr>
        <p:spPr bwMode="auto">
          <a:xfrm>
            <a:off x="5257800" y="1219200"/>
            <a:ext cx="3124200" cy="1209675"/>
          </a:xfrm>
          <a:prstGeom prst="rect">
            <a:avLst/>
          </a:prstGeom>
          <a:solidFill>
            <a:srgbClr val="F6F5BD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 long j;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 long ni = n*i;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 double *rowp = a+ni;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 for (j = 0; j &lt; n; j++)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	*rowp++ = b[j];	</a:t>
            </a:r>
          </a:p>
        </p:txBody>
      </p:sp>
      <p:sp>
        <p:nvSpPr>
          <p:cNvPr id="10247" name="Rectangle 10"/>
          <p:cNvSpPr>
            <a:spLocks noChangeArrowheads="1"/>
          </p:cNvSpPr>
          <p:nvPr/>
        </p:nvSpPr>
        <p:spPr bwMode="auto">
          <a:xfrm>
            <a:off x="304800" y="1066800"/>
            <a:ext cx="3854450" cy="1635125"/>
          </a:xfrm>
          <a:prstGeom prst="rect">
            <a:avLst/>
          </a:prstGeom>
          <a:solidFill>
            <a:srgbClr val="F6F5BD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void </a:t>
            </a:r>
            <a:r>
              <a:rPr lang="en-US" sz="1400" dirty="0" err="1">
                <a:latin typeface="Courier New" pitchFamily="49" charset="0"/>
              </a:rPr>
              <a:t>set_row</a:t>
            </a:r>
            <a:r>
              <a:rPr lang="en-US" sz="1400" dirty="0">
                <a:latin typeface="Courier New" pitchFamily="49" charset="0"/>
              </a:rPr>
              <a:t>(double *a, double *b,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long 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, long n)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 long j;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 for (j = 0; j &lt; n; j++)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	a[</a:t>
            </a:r>
            <a:r>
              <a:rPr lang="en-US" sz="1400" dirty="0">
                <a:solidFill>
                  <a:srgbClr val="FF0000"/>
                </a:solidFill>
                <a:latin typeface="Courier New" pitchFamily="49" charset="0"/>
              </a:rPr>
              <a:t>n*</a:t>
            </a:r>
            <a:r>
              <a:rPr lang="en-US" sz="14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sz="1400" dirty="0" err="1">
                <a:latin typeface="Courier New" pitchFamily="49" charset="0"/>
              </a:rPr>
              <a:t>+j</a:t>
            </a:r>
            <a:r>
              <a:rPr lang="en-US" sz="1400" dirty="0">
                <a:latin typeface="Courier New" pitchFamily="49" charset="0"/>
              </a:rPr>
              <a:t>] = b[j];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6203950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Reduction in Strength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307387" cy="2817812"/>
          </a:xfrm>
          <a:noFill/>
        </p:spPr>
        <p:txBody>
          <a:bodyPr lIns="90487" tIns="44450" rIns="90487" bIns="44450"/>
          <a:lstStyle/>
          <a:p>
            <a:pPr lvl="1" eaLnBrk="1" hangingPunct="1"/>
            <a:r>
              <a:rPr lang="en-US" dirty="0"/>
              <a:t>Replace costly operation with simpler one</a:t>
            </a:r>
          </a:p>
          <a:p>
            <a:pPr lvl="1" eaLnBrk="1" hangingPunct="1"/>
            <a:r>
              <a:rPr lang="en-US" dirty="0"/>
              <a:t>Shift, add instead of multiply or divide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16*x	--&gt;	x &lt;&lt; 4</a:t>
            </a:r>
          </a:p>
          <a:p>
            <a:pPr lvl="2" eaLnBrk="1" hangingPunct="1"/>
            <a:r>
              <a:rPr lang="en-US" dirty="0"/>
              <a:t>Utility machine dependent</a:t>
            </a:r>
          </a:p>
          <a:p>
            <a:pPr lvl="2" eaLnBrk="1" hangingPunct="1"/>
            <a:r>
              <a:rPr lang="en-US" dirty="0"/>
              <a:t>Depends on cost of multiply or divide instruction</a:t>
            </a:r>
          </a:p>
          <a:p>
            <a:pPr lvl="3" eaLnBrk="1" hangingPunct="1"/>
            <a:r>
              <a:rPr lang="en-US" dirty="0"/>
              <a:t>On Intel Nehalem, integer multiply requires 3 CPU cycles</a:t>
            </a:r>
          </a:p>
          <a:p>
            <a:pPr lvl="1" eaLnBrk="1" hangingPunct="1"/>
            <a:r>
              <a:rPr lang="en-US" dirty="0"/>
              <a:t>Recognize sequence of products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838200" y="4597400"/>
            <a:ext cx="2876224" cy="1166986"/>
          </a:xfrm>
          <a:prstGeom prst="rect">
            <a:avLst/>
          </a:prstGeom>
          <a:solidFill>
            <a:srgbClr val="F6F5BD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for (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 = 0; 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 &lt; n; 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++) {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</a:t>
            </a:r>
            <a:r>
              <a:rPr lang="en-US" sz="1400" dirty="0" err="1">
                <a:latin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</a:rPr>
              <a:t>ni</a:t>
            </a:r>
            <a:r>
              <a:rPr lang="en-US" sz="1400" dirty="0">
                <a:latin typeface="Courier New" pitchFamily="49" charset="0"/>
              </a:rPr>
              <a:t> = n*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for (j = 0; j &lt; n; j++)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 a[</a:t>
            </a:r>
            <a:r>
              <a:rPr lang="en-US" sz="1400" dirty="0" err="1">
                <a:latin typeface="Courier New" pitchFamily="49" charset="0"/>
              </a:rPr>
              <a:t>ni</a:t>
            </a:r>
            <a:r>
              <a:rPr lang="en-US" sz="1400" dirty="0">
                <a:latin typeface="Courier New" pitchFamily="49" charset="0"/>
              </a:rPr>
              <a:t> + j] = b[j];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}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4876800" y="4368800"/>
            <a:ext cx="2897188" cy="1422400"/>
          </a:xfrm>
          <a:prstGeom prst="rect">
            <a:avLst/>
          </a:prstGeom>
          <a:solidFill>
            <a:srgbClr val="F6F5BD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i="1">
                <a:latin typeface="Courier New" pitchFamily="49" charset="0"/>
              </a:rPr>
              <a:t>int ni = 0;</a:t>
            </a:r>
            <a:endParaRPr lang="en-US" sz="140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for (i = 0; i &lt; n; i++) {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for (j = 0; j &lt; n; j++)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 a[ni + j] = b[j];</a:t>
            </a:r>
          </a:p>
          <a:p>
            <a:pPr algn="l">
              <a:lnSpc>
                <a:spcPct val="100000"/>
              </a:lnSpc>
            </a:pPr>
            <a:r>
              <a:rPr lang="en-US" sz="1400" i="1">
                <a:latin typeface="Courier New" pitchFamily="49" charset="0"/>
              </a:rPr>
              <a:t>  ni += n;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}</a:t>
            </a:r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>
            <a:off x="4017963" y="4906963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382000" cy="106045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Share Common Subexpressions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066800"/>
            <a:ext cx="8307387" cy="5378450"/>
          </a:xfrm>
          <a:noFill/>
        </p:spPr>
        <p:txBody>
          <a:bodyPr lIns="90487" tIns="44450" rIns="90487" bIns="44450"/>
          <a:lstStyle/>
          <a:p>
            <a:pPr lvl="1" eaLnBrk="1" hangingPunct="1"/>
            <a:r>
              <a:rPr lang="en-US" dirty="0"/>
              <a:t>Reuse portions of expressions</a:t>
            </a:r>
          </a:p>
          <a:p>
            <a:pPr lvl="1" eaLnBrk="1" hangingPunct="1"/>
            <a:r>
              <a:rPr lang="en-US" dirty="0"/>
              <a:t>GCC will do this with –O1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533400" y="2209800"/>
            <a:ext cx="3516313" cy="1403350"/>
          </a:xfrm>
          <a:prstGeom prst="rect">
            <a:avLst/>
          </a:prstGeom>
          <a:solidFill>
            <a:srgbClr val="F6F5BD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/* Sum neighbors of </a:t>
            </a:r>
            <a:r>
              <a:rPr lang="en-US" sz="1400" dirty="0" err="1">
                <a:latin typeface="Courier New" pitchFamily="49" charset="0"/>
              </a:rPr>
              <a:t>i,j</a:t>
            </a:r>
            <a:r>
              <a:rPr lang="en-US" sz="1400" dirty="0">
                <a:latin typeface="Courier New" pitchFamily="49" charset="0"/>
              </a:rPr>
              <a:t> */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up =    </a:t>
            </a:r>
            <a:r>
              <a:rPr lang="en-US" sz="1400" dirty="0" err="1">
                <a:latin typeface="Courier New" pitchFamily="49" charset="0"/>
              </a:rPr>
              <a:t>val</a:t>
            </a:r>
            <a:r>
              <a:rPr lang="en-US" sz="1400" dirty="0">
                <a:latin typeface="Courier New" pitchFamily="49" charset="0"/>
              </a:rPr>
              <a:t>[(i-1)*n + j  ];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down =  </a:t>
            </a:r>
            <a:r>
              <a:rPr lang="en-US" sz="1400" dirty="0" err="1">
                <a:latin typeface="Courier New" pitchFamily="49" charset="0"/>
              </a:rPr>
              <a:t>val</a:t>
            </a:r>
            <a:r>
              <a:rPr lang="en-US" sz="1400" dirty="0">
                <a:latin typeface="Courier New" pitchFamily="49" charset="0"/>
              </a:rPr>
              <a:t>[(i+1)*n + j  ];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left =  </a:t>
            </a:r>
            <a:r>
              <a:rPr lang="en-US" sz="1400" dirty="0" err="1">
                <a:latin typeface="Courier New" pitchFamily="49" charset="0"/>
              </a:rPr>
              <a:t>val</a:t>
            </a:r>
            <a:r>
              <a:rPr lang="en-US" sz="1400" dirty="0">
                <a:latin typeface="Courier New" pitchFamily="49" charset="0"/>
              </a:rPr>
              <a:t>[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*n     + j-1];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right = </a:t>
            </a:r>
            <a:r>
              <a:rPr lang="en-US" sz="1400" dirty="0" err="1">
                <a:latin typeface="Courier New" pitchFamily="49" charset="0"/>
              </a:rPr>
              <a:t>val</a:t>
            </a:r>
            <a:r>
              <a:rPr lang="en-US" sz="1400" dirty="0">
                <a:latin typeface="Courier New" pitchFamily="49" charset="0"/>
              </a:rPr>
              <a:t>[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*n     + j+1];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sum = up + down + left + right;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4419600" y="2209800"/>
            <a:ext cx="3516313" cy="1403350"/>
          </a:xfrm>
          <a:prstGeom prst="rect">
            <a:avLst/>
          </a:prstGeom>
          <a:solidFill>
            <a:srgbClr val="F6F5BD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long </a:t>
            </a:r>
            <a:r>
              <a:rPr lang="en-US" sz="1400" dirty="0" err="1">
                <a:latin typeface="Courier New" pitchFamily="49" charset="0"/>
              </a:rPr>
              <a:t>inj</a:t>
            </a:r>
            <a:r>
              <a:rPr lang="en-US" sz="1400" dirty="0">
                <a:latin typeface="Courier New" pitchFamily="49" charset="0"/>
              </a:rPr>
              <a:t> = 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*n + j;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up =    </a:t>
            </a:r>
            <a:r>
              <a:rPr lang="en-US" sz="1400" dirty="0" err="1">
                <a:latin typeface="Courier New" pitchFamily="49" charset="0"/>
              </a:rPr>
              <a:t>val</a:t>
            </a:r>
            <a:r>
              <a:rPr lang="en-US" sz="1400" dirty="0">
                <a:latin typeface="Courier New" pitchFamily="49" charset="0"/>
              </a:rPr>
              <a:t>[</a:t>
            </a:r>
            <a:r>
              <a:rPr lang="en-US" sz="1400" dirty="0" err="1">
                <a:latin typeface="Courier New" pitchFamily="49" charset="0"/>
              </a:rPr>
              <a:t>inj</a:t>
            </a:r>
            <a:r>
              <a:rPr lang="en-US" sz="1400" dirty="0">
                <a:latin typeface="Courier New" pitchFamily="49" charset="0"/>
              </a:rPr>
              <a:t> - n];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down =  </a:t>
            </a:r>
            <a:r>
              <a:rPr lang="en-US" sz="1400" dirty="0" err="1">
                <a:latin typeface="Courier New" pitchFamily="49" charset="0"/>
              </a:rPr>
              <a:t>val</a:t>
            </a:r>
            <a:r>
              <a:rPr lang="en-US" sz="1400" dirty="0">
                <a:latin typeface="Courier New" pitchFamily="49" charset="0"/>
              </a:rPr>
              <a:t>[</a:t>
            </a:r>
            <a:r>
              <a:rPr lang="en-US" sz="1400" dirty="0" err="1">
                <a:latin typeface="Courier New" pitchFamily="49" charset="0"/>
              </a:rPr>
              <a:t>inj</a:t>
            </a:r>
            <a:r>
              <a:rPr lang="en-US" sz="1400" dirty="0">
                <a:latin typeface="Courier New" pitchFamily="49" charset="0"/>
              </a:rPr>
              <a:t> + n];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left =  </a:t>
            </a:r>
            <a:r>
              <a:rPr lang="en-US" sz="1400" dirty="0" err="1">
                <a:latin typeface="Courier New" pitchFamily="49" charset="0"/>
              </a:rPr>
              <a:t>val</a:t>
            </a:r>
            <a:r>
              <a:rPr lang="en-US" sz="1400" dirty="0">
                <a:latin typeface="Courier New" pitchFamily="49" charset="0"/>
              </a:rPr>
              <a:t>[</a:t>
            </a:r>
            <a:r>
              <a:rPr lang="en-US" sz="1400" dirty="0" err="1">
                <a:latin typeface="Courier New" pitchFamily="49" charset="0"/>
              </a:rPr>
              <a:t>inj</a:t>
            </a:r>
            <a:r>
              <a:rPr lang="en-US" sz="1400" dirty="0">
                <a:latin typeface="Courier New" pitchFamily="49" charset="0"/>
              </a:rPr>
              <a:t> - 1];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right = </a:t>
            </a:r>
            <a:r>
              <a:rPr lang="en-US" sz="1400" dirty="0" err="1">
                <a:latin typeface="Courier New" pitchFamily="49" charset="0"/>
              </a:rPr>
              <a:t>val</a:t>
            </a:r>
            <a:r>
              <a:rPr lang="en-US" sz="1400" dirty="0">
                <a:latin typeface="Courier New" pitchFamily="49" charset="0"/>
              </a:rPr>
              <a:t>[</a:t>
            </a:r>
            <a:r>
              <a:rPr lang="en-US" sz="1400" dirty="0" err="1">
                <a:latin typeface="Courier New" pitchFamily="49" charset="0"/>
              </a:rPr>
              <a:t>inj</a:t>
            </a:r>
            <a:r>
              <a:rPr lang="en-US" sz="1400" dirty="0">
                <a:latin typeface="Courier New" pitchFamily="49" charset="0"/>
              </a:rPr>
              <a:t> + 1];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sum = up + down + left + right;</a:t>
            </a: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463550" y="3716338"/>
            <a:ext cx="3358791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/>
                <a:cs typeface="Calibri"/>
              </a:rPr>
              <a:t>3 multiplications: </a:t>
            </a:r>
            <a:r>
              <a:rPr lang="en-US" sz="1600" dirty="0" err="1">
                <a:latin typeface="Calibri"/>
                <a:cs typeface="Calibri"/>
              </a:rPr>
              <a:t>i</a:t>
            </a:r>
            <a:r>
              <a:rPr lang="en-US" sz="1600" dirty="0">
                <a:latin typeface="Calibri"/>
                <a:cs typeface="Calibri"/>
              </a:rPr>
              <a:t>*n, (</a:t>
            </a:r>
            <a:r>
              <a:rPr lang="en-US" sz="1600" dirty="0" err="1">
                <a:latin typeface="Calibri"/>
                <a:cs typeface="Calibri"/>
              </a:rPr>
              <a:t>i</a:t>
            </a:r>
            <a:r>
              <a:rPr lang="en-US" sz="1600" dirty="0">
                <a:latin typeface="Calibri"/>
                <a:cs typeface="Calibri"/>
              </a:rPr>
              <a:t>–1)*n, (i+1)*n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4654550" y="3716338"/>
            <a:ext cx="1884930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>
                <a:latin typeface="Calibri"/>
                <a:cs typeface="Calibri"/>
              </a:rPr>
              <a:t>1 multiplication: i*n</a:t>
            </a: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533400" y="4191000"/>
            <a:ext cx="3733800" cy="2041525"/>
          </a:xfrm>
          <a:prstGeom prst="rect">
            <a:avLst/>
          </a:prstGeom>
          <a:solidFill>
            <a:srgbClr val="F1C7C7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leaq   1(%rsi), %rax  # i+1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leaq   -1(%rsi), %r8  # i-1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imulq  %rcx, %rsi     # i*n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imulq  %rcx, %rax     # (i+1)*n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imulq  %rcx, %r8      # (i-1)*n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addq   %rdx, %rsi     # i*n+j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addq   %rdx, %rax     # (i+1)*n+j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addq   %rdx, %r8      # (i-1)*n+j</a:t>
            </a:r>
          </a:p>
          <a:p>
            <a:pPr algn="l">
              <a:lnSpc>
                <a:spcPct val="100000"/>
              </a:lnSpc>
            </a:pPr>
            <a:endParaRPr lang="en-US" sz="1400">
              <a:latin typeface="Courier New" pitchFamily="49" charset="0"/>
            </a:endParaRP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4419600" y="4191000"/>
            <a:ext cx="4419600" cy="1190625"/>
          </a:xfrm>
          <a:prstGeom prst="rect">
            <a:avLst/>
          </a:prstGeom>
          <a:solidFill>
            <a:srgbClr val="F1C7C7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imulq	%rcx, %rsi  # i*n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addq	%rdx, %rsi  # i*n+j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movq	%rsi, %rax  # i*n+j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subq	%rcx, %rax  # i*n+j-n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leaq	(%rsi,%rcx), %rcx # i*n+j+n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Procedure to Convert String to Lower Case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2073275" y="1905000"/>
            <a:ext cx="5007780" cy="2028761"/>
          </a:xfrm>
          <a:prstGeom prst="rect">
            <a:avLst/>
          </a:prstGeom>
          <a:solidFill>
            <a:srgbClr val="F6F5BD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void lower(char *s)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size_t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for (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0;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&lt; </a:t>
            </a:r>
            <a:r>
              <a:rPr lang="en-US" sz="1800" dirty="0" err="1">
                <a:latin typeface="Courier New" pitchFamily="49" charset="0"/>
              </a:rPr>
              <a:t>strlen</a:t>
            </a:r>
            <a:r>
              <a:rPr lang="en-US" sz="1800" dirty="0">
                <a:latin typeface="Courier New" pitchFamily="49" charset="0"/>
              </a:rPr>
              <a:t>(s);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++)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  if (s[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 &gt;= 'A' &amp;&amp; s[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 &lt;= 'Z')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    s[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 -= ('A' - 'a');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653315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341313"/>
            <a:ext cx="8458200" cy="5730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Optimization Blocker #1: Procedure Calls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34963"/>
            <a:ext cx="8678863" cy="573087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Lower Case Conversion Performance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522413"/>
            <a:ext cx="8307387" cy="908050"/>
          </a:xfrm>
        </p:spPr>
        <p:txBody>
          <a:bodyPr/>
          <a:lstStyle/>
          <a:p>
            <a:pPr lvl="1" eaLnBrk="1" hangingPunct="1"/>
            <a:r>
              <a:rPr lang="en-US"/>
              <a:t>Time quadruples when double string length</a:t>
            </a:r>
          </a:p>
          <a:p>
            <a:pPr lvl="1" eaLnBrk="1" hangingPunct="1"/>
            <a:r>
              <a:rPr lang="en-US"/>
              <a:t>Quadratic performance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6655097"/>
              </p:ext>
            </p:extLst>
          </p:nvPr>
        </p:nvGraphicFramePr>
        <p:xfrm>
          <a:off x="469900" y="2620246"/>
          <a:ext cx="8128000" cy="344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5601160" y="3887295"/>
            <a:ext cx="588833" cy="215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27432" tIns="27432" rIns="0" bIns="0" anchor="t" upright="1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defRPr sz="1000"/>
            </a:pPr>
            <a:r>
              <a:rPr lang="en-US" sz="1200" b="0" i="0" strike="noStrike" dirty="0">
                <a:solidFill>
                  <a:srgbClr val="000000"/>
                </a:solidFill>
                <a:latin typeface="Courier New"/>
                <a:cs typeface="Courier New"/>
              </a:rPr>
              <a:t>lower1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34963"/>
            <a:ext cx="7031038" cy="573087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Convert Loop To Goto Form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5000625"/>
            <a:ext cx="8281987" cy="90805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sz="1800" dirty="0"/>
              <a:t> </a:t>
            </a:r>
            <a:r>
              <a:rPr lang="en-US" sz="1800" b="1" dirty="0" err="1">
                <a:latin typeface="Courier New" pitchFamily="49" charset="0"/>
              </a:rPr>
              <a:t>strlen</a:t>
            </a:r>
            <a:r>
              <a:rPr lang="en-US" sz="1800" dirty="0"/>
              <a:t> executed every iteration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2209800" y="1143000"/>
            <a:ext cx="4962525" cy="369331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void lower(char *s)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size_t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0;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   if (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&gt;= </a:t>
            </a:r>
            <a:r>
              <a:rPr lang="en-US" sz="1800" dirty="0" err="1">
                <a:latin typeface="Courier New" pitchFamily="49" charset="0"/>
              </a:rPr>
              <a:t>strlen</a:t>
            </a:r>
            <a:r>
              <a:rPr lang="en-US" sz="1800" dirty="0">
                <a:latin typeface="Courier New" pitchFamily="49" charset="0"/>
              </a:rPr>
              <a:t>(s))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     </a:t>
            </a:r>
            <a:r>
              <a:rPr lang="en-US" sz="1800" dirty="0" err="1">
                <a:latin typeface="Courier New" pitchFamily="49" charset="0"/>
              </a:rPr>
              <a:t>goto</a:t>
            </a:r>
            <a:r>
              <a:rPr lang="en-US" sz="1800" dirty="0">
                <a:latin typeface="Courier New" pitchFamily="49" charset="0"/>
              </a:rPr>
              <a:t> done;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 loop: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   if (s[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 &gt;= 'A' &amp;&amp; s[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 &lt;= 'Z')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       s[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 -= ('A' - 'a');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++;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   if (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&lt; </a:t>
            </a:r>
            <a:r>
              <a:rPr lang="en-US" sz="1800" dirty="0" err="1">
                <a:solidFill>
                  <a:srgbClr val="A50021"/>
                </a:solidFill>
                <a:latin typeface="Courier New" pitchFamily="49" charset="0"/>
              </a:rPr>
              <a:t>strlen</a:t>
            </a:r>
            <a:r>
              <a:rPr lang="en-US" sz="1800" dirty="0">
                <a:latin typeface="Courier New" pitchFamily="49" charset="0"/>
              </a:rPr>
              <a:t>(s))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     </a:t>
            </a:r>
            <a:r>
              <a:rPr lang="en-US" sz="1800" dirty="0" err="1">
                <a:latin typeface="Courier New" pitchFamily="49" charset="0"/>
              </a:rPr>
              <a:t>goto</a:t>
            </a:r>
            <a:r>
              <a:rPr lang="en-US" sz="1800" dirty="0">
                <a:latin typeface="Courier New" pitchFamily="49" charset="0"/>
              </a:rPr>
              <a:t> loop;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 done: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34963"/>
            <a:ext cx="7031038" cy="573087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Calling Strlen</a:t>
            </a:r>
          </a:p>
        </p:txBody>
      </p:sp>
      <p:sp>
        <p:nvSpPr>
          <p:cNvPr id="77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3962400"/>
            <a:ext cx="8281987" cy="1946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000"/>
              <a:t>Strlen performance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800"/>
              <a:t>Only way to determine length of string is to scan its entire length, looking for null character.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/>
              <a:t>Overall performance, string of length 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800"/>
              <a:t>N calls to strlen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800"/>
              <a:t>Require times N, N-1, N-2, …, 1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800"/>
              <a:t>Overall O(N</a:t>
            </a:r>
            <a:r>
              <a:rPr lang="en-US" sz="1800" baseline="30000"/>
              <a:t>2</a:t>
            </a:r>
            <a:r>
              <a:rPr lang="en-US" sz="1800"/>
              <a:t>) performance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2209800" y="990600"/>
            <a:ext cx="4962525" cy="2862322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/* My version of strlen */</a:t>
            </a:r>
          </a:p>
          <a:p>
            <a:pPr algn="l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size_t strlen(const char *s)</a:t>
            </a:r>
          </a:p>
          <a:p>
            <a:pPr algn="l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    size_t length = 0;</a:t>
            </a:r>
          </a:p>
          <a:p>
            <a:pPr algn="l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    while (*s != '\0') {</a:t>
            </a:r>
          </a:p>
          <a:p>
            <a:pPr algn="l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	s++; </a:t>
            </a:r>
          </a:p>
          <a:p>
            <a:pPr algn="l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	length++;</a:t>
            </a:r>
          </a:p>
          <a:p>
            <a:pPr algn="l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    return length;</a:t>
            </a:r>
          </a:p>
          <a:p>
            <a:pPr algn="l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34963"/>
            <a:ext cx="6230938" cy="573087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Improving Performance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3867150"/>
            <a:ext cx="8307387" cy="2578100"/>
          </a:xfrm>
        </p:spPr>
        <p:txBody>
          <a:bodyPr/>
          <a:lstStyle/>
          <a:p>
            <a:pPr lvl="1" eaLnBrk="1" hangingPunct="1"/>
            <a:r>
              <a:rPr lang="en-US" dirty="0"/>
              <a:t>Move call to </a:t>
            </a:r>
            <a:r>
              <a:rPr lang="en-US" dirty="0" err="1">
                <a:latin typeface="Courier New" pitchFamily="49" charset="0"/>
              </a:rPr>
              <a:t>strlen</a:t>
            </a:r>
            <a:r>
              <a:rPr lang="en-US" dirty="0"/>
              <a:t> outside of loop</a:t>
            </a:r>
          </a:p>
          <a:p>
            <a:pPr lvl="1" eaLnBrk="1" hangingPunct="1"/>
            <a:r>
              <a:rPr lang="en-US" dirty="0"/>
              <a:t>Since result does not change from one iteration to another</a:t>
            </a:r>
          </a:p>
          <a:p>
            <a:pPr lvl="1" eaLnBrk="1" hangingPunct="1"/>
            <a:r>
              <a:rPr lang="en-US" dirty="0"/>
              <a:t>Form of code motion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1981200" y="1143000"/>
            <a:ext cx="5007780" cy="2305759"/>
          </a:xfrm>
          <a:prstGeom prst="rect">
            <a:avLst/>
          </a:prstGeom>
          <a:solidFill>
            <a:srgbClr val="F6F5BD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void lower(char *s)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size_t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size_t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solidFill>
                  <a:srgbClr val="A50021"/>
                </a:solidFill>
                <a:latin typeface="Courier New" pitchFamily="49" charset="0"/>
              </a:rPr>
              <a:t>len</a:t>
            </a:r>
            <a:r>
              <a:rPr lang="en-US" sz="1800" dirty="0">
                <a:solidFill>
                  <a:srgbClr val="A50021"/>
                </a:solidFill>
                <a:latin typeface="Courier New" pitchFamily="49" charset="0"/>
              </a:rPr>
              <a:t> = </a:t>
            </a:r>
            <a:r>
              <a:rPr lang="en-US" sz="1800" dirty="0" err="1">
                <a:solidFill>
                  <a:srgbClr val="A50021"/>
                </a:solidFill>
                <a:latin typeface="Courier New" pitchFamily="49" charset="0"/>
              </a:rPr>
              <a:t>strlen</a:t>
            </a:r>
            <a:r>
              <a:rPr lang="en-US" sz="1800" dirty="0">
                <a:latin typeface="Courier New" pitchFamily="49" charset="0"/>
              </a:rPr>
              <a:t>(s);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for (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0;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&lt;</a:t>
            </a:r>
            <a:r>
              <a:rPr lang="en-US" sz="1800" dirty="0">
                <a:solidFill>
                  <a:srgbClr val="A50021"/>
                </a:solidFill>
                <a:latin typeface="Courier New" pitchFamily="49" charset="0"/>
              </a:rPr>
              <a:t> </a:t>
            </a:r>
            <a:r>
              <a:rPr lang="en-US" sz="1800" dirty="0" err="1">
                <a:solidFill>
                  <a:srgbClr val="A50021"/>
                </a:solidFill>
                <a:latin typeface="Courier New" pitchFamily="49" charset="0"/>
              </a:rPr>
              <a:t>len</a:t>
            </a:r>
            <a:r>
              <a:rPr lang="en-US" sz="1800" dirty="0">
                <a:latin typeface="Courier New" pitchFamily="49" charset="0"/>
              </a:rPr>
              <a:t>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++)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  if (s[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 &gt;= 'A' &amp;&amp; s[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 &lt;= 'Z')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    s[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 -= ('A' - 'a');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34963"/>
            <a:ext cx="8763000" cy="573087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Lower Case Conversion Performance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307387" cy="906462"/>
          </a:xfrm>
        </p:spPr>
        <p:txBody>
          <a:bodyPr/>
          <a:lstStyle/>
          <a:p>
            <a:pPr lvl="1" eaLnBrk="1" hangingPunct="1"/>
            <a:r>
              <a:rPr lang="en-US"/>
              <a:t>Time doubles when double string length</a:t>
            </a:r>
          </a:p>
          <a:p>
            <a:pPr lvl="1" eaLnBrk="1" hangingPunct="1"/>
            <a:r>
              <a:rPr lang="en-US"/>
              <a:t>Linear performance of lower2</a:t>
            </a:r>
          </a:p>
        </p:txBody>
      </p: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469900" y="2620246"/>
            <a:ext cx="8128000" cy="3441700"/>
            <a:chOff x="0" y="0"/>
            <a:chExt cx="773" cy="383"/>
          </a:xfrm>
        </p:grpSpPr>
        <p:graphicFrame>
          <p:nvGraphicFramePr>
            <p:cNvPr id="15" name="Chart 14"/>
            <p:cNvGraphicFramePr>
              <a:graphicFrameLocks/>
            </p:cNvGraphicFramePr>
            <p:nvPr/>
          </p:nvGraphicFramePr>
          <p:xfrm>
            <a:off x="0" y="0"/>
            <a:ext cx="773" cy="38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6" name="Text Box 10"/>
            <p:cNvSpPr txBox="1">
              <a:spLocks noChangeArrowheads="1"/>
            </p:cNvSpPr>
            <p:nvPr/>
          </p:nvSpPr>
          <p:spPr bwMode="auto">
            <a:xfrm>
              <a:off x="488" y="141"/>
              <a:ext cx="56" cy="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27432" tIns="27432" rIns="0" bIns="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1200" b="0" i="0" strike="noStrike" dirty="0">
                  <a:solidFill>
                    <a:srgbClr val="000000"/>
                  </a:solidFill>
                  <a:latin typeface="Courier New"/>
                  <a:cs typeface="Courier New"/>
                </a:rPr>
                <a:t>lower1</a:t>
              </a: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467" y="269"/>
              <a:ext cx="56" cy="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27432" tIns="27432" rIns="0" bIns="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1200" b="0" i="0" strike="noStrike" dirty="0">
                  <a:solidFill>
                    <a:srgbClr val="000000"/>
                  </a:solidFill>
                  <a:latin typeface="Courier New"/>
                  <a:cs typeface="Courier New"/>
                </a:rPr>
                <a:t>lower2</a:t>
              </a:r>
            </a:p>
          </p:txBody>
        </p: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839200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Optimization Blocker: Procedure Calls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839200" cy="5410200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sz="2000" i="1" dirty="0"/>
              <a:t>Why couldn’t compiler move </a:t>
            </a:r>
            <a:r>
              <a:rPr lang="en-US" sz="2000" dirty="0" err="1">
                <a:latin typeface="Courier New" pitchFamily="49" charset="0"/>
              </a:rPr>
              <a:t>strlen</a:t>
            </a:r>
            <a:r>
              <a:rPr lang="en-US" sz="2000" i="1" dirty="0"/>
              <a:t> out of  inner loop?</a:t>
            </a:r>
          </a:p>
          <a:p>
            <a:pPr lvl="1" eaLnBrk="1" hangingPunct="1">
              <a:defRPr/>
            </a:pPr>
            <a:r>
              <a:rPr lang="en-US" sz="1800" dirty="0"/>
              <a:t>Procedure may have side effects</a:t>
            </a:r>
          </a:p>
          <a:p>
            <a:pPr lvl="2" eaLnBrk="1" hangingPunct="1">
              <a:defRPr/>
            </a:pPr>
            <a:r>
              <a:rPr lang="en-US" sz="1600" dirty="0"/>
              <a:t>Alters global state each time called</a:t>
            </a:r>
          </a:p>
          <a:p>
            <a:pPr lvl="1" eaLnBrk="1" hangingPunct="1">
              <a:defRPr/>
            </a:pPr>
            <a:r>
              <a:rPr lang="en-US" sz="1800" dirty="0"/>
              <a:t>Function may not return same value for given arguments</a:t>
            </a:r>
          </a:p>
          <a:p>
            <a:pPr lvl="2" eaLnBrk="1" hangingPunct="1">
              <a:defRPr/>
            </a:pPr>
            <a:r>
              <a:rPr lang="en-US" sz="1600" dirty="0"/>
              <a:t>Depends on other parts of global state</a:t>
            </a:r>
          </a:p>
          <a:p>
            <a:pPr lvl="2" eaLnBrk="1" hangingPunct="1">
              <a:defRPr/>
            </a:pPr>
            <a:r>
              <a:rPr lang="en-US" sz="1600" dirty="0"/>
              <a:t>Procedure </a:t>
            </a:r>
            <a:r>
              <a:rPr lang="en-US" sz="1600" b="1" dirty="0">
                <a:latin typeface="Courier New" pitchFamily="49" charset="0"/>
              </a:rPr>
              <a:t>lower</a:t>
            </a:r>
            <a:r>
              <a:rPr lang="en-US" sz="1600" dirty="0"/>
              <a:t> could interact with </a:t>
            </a:r>
            <a:r>
              <a:rPr lang="en-US" sz="1600" b="1" dirty="0" err="1">
                <a:latin typeface="Courier New" pitchFamily="49" charset="0"/>
              </a:rPr>
              <a:t>strlen</a:t>
            </a:r>
            <a:endParaRPr lang="en-US" sz="1600" b="1" dirty="0"/>
          </a:p>
          <a:p>
            <a:pPr eaLnBrk="1" hangingPunct="1">
              <a:defRPr/>
            </a:pPr>
            <a:r>
              <a:rPr lang="en-US" sz="2000" dirty="0">
                <a:solidFill>
                  <a:srgbClr val="FF0000"/>
                </a:solidFill>
              </a:rPr>
              <a:t>Warning:</a:t>
            </a:r>
          </a:p>
          <a:p>
            <a:pPr lvl="1" eaLnBrk="1" hangingPunct="1">
              <a:defRPr/>
            </a:pPr>
            <a:r>
              <a:rPr lang="en-US" sz="1800" dirty="0"/>
              <a:t>Compiler treats procedure call as a black box</a:t>
            </a:r>
          </a:p>
          <a:p>
            <a:pPr lvl="1" eaLnBrk="1" hangingPunct="1">
              <a:defRPr/>
            </a:pPr>
            <a:r>
              <a:rPr lang="en-US" sz="1800" dirty="0"/>
              <a:t>Weak optimizations near them</a:t>
            </a:r>
          </a:p>
          <a:p>
            <a:pPr eaLnBrk="1" hangingPunct="1">
              <a:defRPr/>
            </a:pPr>
            <a:r>
              <a:rPr lang="en-US" sz="2000" dirty="0"/>
              <a:t>Remedies:</a:t>
            </a:r>
          </a:p>
          <a:p>
            <a:pPr lvl="1" eaLnBrk="1" hangingPunct="1">
              <a:defRPr/>
            </a:pPr>
            <a:r>
              <a:rPr lang="en-US" sz="1800" dirty="0"/>
              <a:t>Use of inline functions</a:t>
            </a:r>
          </a:p>
          <a:p>
            <a:pPr lvl="2">
              <a:defRPr/>
            </a:pPr>
            <a:r>
              <a:rPr lang="en-US" sz="1800" dirty="0"/>
              <a:t>GCC does this with –O1</a:t>
            </a:r>
          </a:p>
          <a:p>
            <a:pPr lvl="3">
              <a:defRPr/>
            </a:pPr>
            <a:r>
              <a:rPr lang="en-US" sz="1800" dirty="0"/>
              <a:t>Within single file</a:t>
            </a:r>
          </a:p>
          <a:p>
            <a:pPr lvl="1" eaLnBrk="1" hangingPunct="1">
              <a:defRPr/>
            </a:pPr>
            <a:r>
              <a:rPr lang="en-US" sz="1800" dirty="0"/>
              <a:t>Do your own code motion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4572000" y="3733800"/>
            <a:ext cx="4038600" cy="2862322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pitchFamily="49" charset="0"/>
              </a:rPr>
              <a:t>size_t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lencnt</a:t>
            </a:r>
            <a:r>
              <a:rPr lang="en-US" sz="1800" dirty="0">
                <a:latin typeface="Courier New" pitchFamily="49" charset="0"/>
              </a:rPr>
              <a:t> = 0;</a:t>
            </a:r>
          </a:p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pitchFamily="49" charset="0"/>
              </a:rPr>
              <a:t>size_t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strlen</a:t>
            </a:r>
            <a:r>
              <a:rPr lang="en-US" sz="1800" dirty="0">
                <a:latin typeface="Courier New" pitchFamily="49" charset="0"/>
              </a:rPr>
              <a:t>(</a:t>
            </a:r>
            <a:r>
              <a:rPr lang="en-US" sz="1800" dirty="0" err="1">
                <a:latin typeface="Courier New" pitchFamily="49" charset="0"/>
              </a:rPr>
              <a:t>const</a:t>
            </a:r>
            <a:r>
              <a:rPr lang="en-US" sz="1800" dirty="0">
                <a:latin typeface="Courier New" pitchFamily="49" charset="0"/>
              </a:rPr>
              <a:t> char *s)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    </a:t>
            </a:r>
            <a:r>
              <a:rPr lang="en-US" sz="1800" dirty="0" err="1">
                <a:latin typeface="Courier New" pitchFamily="49" charset="0"/>
              </a:rPr>
              <a:t>size_t</a:t>
            </a:r>
            <a:r>
              <a:rPr lang="en-US" sz="1800" dirty="0">
                <a:latin typeface="Courier New" pitchFamily="49" charset="0"/>
              </a:rPr>
              <a:t> length = 0;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    while (*s != '\0') {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	s++; length++;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    </a:t>
            </a:r>
            <a:r>
              <a:rPr lang="en-US" sz="1800" dirty="0" err="1">
                <a:latin typeface="Courier New" pitchFamily="49" charset="0"/>
              </a:rPr>
              <a:t>lencnt</a:t>
            </a:r>
            <a:r>
              <a:rPr lang="en-US" sz="1800" dirty="0">
                <a:latin typeface="Courier New" pitchFamily="49" charset="0"/>
              </a:rPr>
              <a:t> += length;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    return length;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Memory Matters</a:t>
            </a:r>
          </a:p>
        </p:txBody>
      </p:sp>
      <p:sp>
        <p:nvSpPr>
          <p:cNvPr id="18435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290513" y="5638800"/>
            <a:ext cx="8307387" cy="806450"/>
          </a:xfrm>
        </p:spPr>
        <p:txBody>
          <a:bodyPr/>
          <a:lstStyle/>
          <a:p>
            <a:pPr lvl="1" eaLnBrk="1" hangingPunct="1"/>
            <a:r>
              <a:rPr lang="en-US" dirty="0"/>
              <a:t>Code updates </a:t>
            </a:r>
            <a:r>
              <a:rPr lang="en-US" b="1" dirty="0">
                <a:latin typeface="Courier New" pitchFamily="49" charset="0"/>
              </a:rPr>
              <a:t>b[</a:t>
            </a:r>
            <a:r>
              <a:rPr lang="en-US" b="1" dirty="0" err="1">
                <a:latin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</a:rPr>
              <a:t>]</a:t>
            </a:r>
            <a:r>
              <a:rPr lang="en-US" dirty="0"/>
              <a:t> on every iteration</a:t>
            </a:r>
          </a:p>
          <a:p>
            <a:pPr lvl="1" eaLnBrk="1" hangingPunct="1"/>
            <a:r>
              <a:rPr lang="en-US" dirty="0"/>
              <a:t>Why couldn’t compiler optimize this away?</a:t>
            </a: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1752600" y="3657600"/>
            <a:ext cx="5876783" cy="1813317"/>
          </a:xfrm>
          <a:prstGeom prst="rect">
            <a:avLst/>
          </a:prstGeom>
          <a:solidFill>
            <a:srgbClr val="F1C7C7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# sum_rows1 inner loop</a:t>
            </a:r>
          </a:p>
          <a:p>
            <a:r>
              <a:rPr lang="en-US" sz="1400" dirty="0">
                <a:latin typeface="Courier New" pitchFamily="49" charset="0"/>
              </a:rPr>
              <a:t>.L4:</a:t>
            </a:r>
          </a:p>
          <a:p>
            <a:r>
              <a:rPr lang="en-US" sz="1400" dirty="0">
                <a:latin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</a:rPr>
              <a:t>movsd</a:t>
            </a:r>
            <a:r>
              <a:rPr lang="en-US" sz="1400" dirty="0">
                <a:latin typeface="Courier New" pitchFamily="49" charset="0"/>
              </a:rPr>
              <a:t>   (%rsi,%rax,8), %xmm0	# FP load</a:t>
            </a:r>
          </a:p>
          <a:p>
            <a:r>
              <a:rPr lang="en-US" sz="1400" dirty="0">
                <a:latin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</a:rPr>
              <a:t>addsd</a:t>
            </a:r>
            <a:r>
              <a:rPr lang="en-US" sz="1400" dirty="0">
                <a:latin typeface="Courier New" pitchFamily="49" charset="0"/>
              </a:rPr>
              <a:t>   (%</a:t>
            </a:r>
            <a:r>
              <a:rPr lang="en-US" sz="1400" dirty="0" err="1">
                <a:latin typeface="Courier New" pitchFamily="49" charset="0"/>
              </a:rPr>
              <a:t>rdi</a:t>
            </a:r>
            <a:r>
              <a:rPr lang="en-US" sz="1400" dirty="0">
                <a:latin typeface="Courier New" pitchFamily="49" charset="0"/>
              </a:rPr>
              <a:t>), %xmm0		# FP add</a:t>
            </a:r>
          </a:p>
          <a:p>
            <a:r>
              <a:rPr lang="en-US" sz="1400" dirty="0">
                <a:latin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</a:rPr>
              <a:t>movsd</a:t>
            </a:r>
            <a:r>
              <a:rPr lang="en-US" sz="1400" dirty="0">
                <a:latin typeface="Courier New" pitchFamily="49" charset="0"/>
              </a:rPr>
              <a:t>   %xmm0, (%rsi,%rax,8)	# FP store</a:t>
            </a:r>
          </a:p>
          <a:p>
            <a:r>
              <a:rPr lang="en-US" sz="1400" dirty="0">
                <a:latin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</a:rPr>
              <a:t>addq</a:t>
            </a:r>
            <a:r>
              <a:rPr lang="en-US" sz="1400" dirty="0">
                <a:latin typeface="Courier New" pitchFamily="49" charset="0"/>
              </a:rPr>
              <a:t>    $8, %</a:t>
            </a:r>
            <a:r>
              <a:rPr lang="en-US" sz="1400" dirty="0" err="1">
                <a:latin typeface="Courier New" pitchFamily="49" charset="0"/>
              </a:rPr>
              <a:t>rdi</a:t>
            </a:r>
            <a:endParaRPr lang="en-US" sz="1400" dirty="0">
              <a:latin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</a:rPr>
              <a:t>cmpq</a:t>
            </a:r>
            <a:r>
              <a:rPr lang="en-US" sz="1400" dirty="0">
                <a:latin typeface="Courier New" pitchFamily="49" charset="0"/>
              </a:rPr>
              <a:t>    %</a:t>
            </a:r>
            <a:r>
              <a:rPr lang="en-US" sz="1400" dirty="0" err="1">
                <a:latin typeface="Courier New" pitchFamily="49" charset="0"/>
              </a:rPr>
              <a:t>rcx</a:t>
            </a:r>
            <a:r>
              <a:rPr lang="en-US" sz="1400" dirty="0">
                <a:latin typeface="Courier New" pitchFamily="49" charset="0"/>
              </a:rPr>
              <a:t>, %</a:t>
            </a:r>
            <a:r>
              <a:rPr lang="en-US" sz="1400" dirty="0" err="1">
                <a:latin typeface="Courier New" pitchFamily="49" charset="0"/>
              </a:rPr>
              <a:t>rdi</a:t>
            </a:r>
            <a:endParaRPr lang="en-US" sz="1400" dirty="0">
              <a:latin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</a:rPr>
              <a:t>jne</a:t>
            </a:r>
            <a:r>
              <a:rPr lang="en-US" sz="1400" dirty="0">
                <a:latin typeface="Courier New" pitchFamily="49" charset="0"/>
              </a:rPr>
              <a:t>     .L4</a:t>
            </a:r>
          </a:p>
        </p:txBody>
      </p:sp>
      <p:sp>
        <p:nvSpPr>
          <p:cNvPr id="18437" name="Line 4"/>
          <p:cNvSpPr>
            <a:spLocks noChangeShapeType="1"/>
          </p:cNvSpPr>
          <p:nvPr/>
        </p:nvSpPr>
        <p:spPr bwMode="auto">
          <a:xfrm>
            <a:off x="2286000" y="2743200"/>
            <a:ext cx="6096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8" name="Rectangle 7"/>
          <p:cNvSpPr>
            <a:spLocks noChangeArrowheads="1"/>
          </p:cNvSpPr>
          <p:nvPr/>
        </p:nvSpPr>
        <p:spPr bwMode="auto">
          <a:xfrm>
            <a:off x="533400" y="1143000"/>
            <a:ext cx="5130800" cy="2273300"/>
          </a:xfrm>
          <a:prstGeom prst="rect">
            <a:avLst/>
          </a:prstGeom>
          <a:solidFill>
            <a:srgbClr val="F6F5BD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/* Sum rows is of n X n matrix a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and store in vector b  */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void sum_rows1(double *a, double *b, long n) {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 long 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, j;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 for (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 = 0; 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 &lt; n; 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++) {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	b[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] = 0;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	for (j = 0; j &lt; n; j++)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	    b[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] += a[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*n + j];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Memory Aliasing</a:t>
            </a:r>
          </a:p>
        </p:txBody>
      </p:sp>
      <p:sp>
        <p:nvSpPr>
          <p:cNvPr id="19460" name="Line 5"/>
          <p:cNvSpPr>
            <a:spLocks noChangeShapeType="1"/>
          </p:cNvSpPr>
          <p:nvPr/>
        </p:nvSpPr>
        <p:spPr bwMode="auto">
          <a:xfrm>
            <a:off x="2286000" y="2743200"/>
            <a:ext cx="6096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1" name="Rectangle 6"/>
          <p:cNvSpPr>
            <a:spLocks noChangeArrowheads="1"/>
          </p:cNvSpPr>
          <p:nvPr/>
        </p:nvSpPr>
        <p:spPr bwMode="auto">
          <a:xfrm>
            <a:off x="533400" y="1143000"/>
            <a:ext cx="5130800" cy="2273300"/>
          </a:xfrm>
          <a:prstGeom prst="rect">
            <a:avLst/>
          </a:prstGeom>
          <a:solidFill>
            <a:srgbClr val="F6F5BD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/* Sum rows is of n X n matrix a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and store in vector b  */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void sum_rows1(double *a, double *b, long n) {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 long i, j;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 for (i = 0; i &lt; n; i++) {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	b[i] = 0;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	for (j = 0; j &lt; n; j++)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	    b[i] += a[i*n + j];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}</a:t>
            </a:r>
          </a:p>
        </p:txBody>
      </p:sp>
      <p:sp>
        <p:nvSpPr>
          <p:cNvPr id="19462" name="Rectangle 7"/>
          <p:cNvSpPr>
            <a:spLocks noChangeArrowheads="1"/>
          </p:cNvSpPr>
          <p:nvPr/>
        </p:nvSpPr>
        <p:spPr bwMode="auto">
          <a:xfrm>
            <a:off x="6248400" y="381000"/>
            <a:ext cx="2311400" cy="1847850"/>
          </a:xfrm>
          <a:prstGeom prst="rect">
            <a:avLst/>
          </a:prstGeom>
          <a:solidFill>
            <a:srgbClr val="D5F1CF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double A[9] = 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{ 0,   1,   2,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 4,   8,  16},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32,  64, 128};</a:t>
            </a:r>
          </a:p>
          <a:p>
            <a:pPr algn="l">
              <a:lnSpc>
                <a:spcPct val="100000"/>
              </a:lnSpc>
            </a:pPr>
            <a:endParaRPr lang="en-US" sz="140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double B[3] = A+3;</a:t>
            </a:r>
          </a:p>
          <a:p>
            <a:pPr algn="l">
              <a:lnSpc>
                <a:spcPct val="100000"/>
              </a:lnSpc>
            </a:pPr>
            <a:endParaRPr lang="en-US" sz="140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sum_rows1(A, B, 3);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Memory Aliasing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5638800"/>
            <a:ext cx="8307387" cy="806450"/>
          </a:xfrm>
        </p:spPr>
        <p:txBody>
          <a:bodyPr/>
          <a:lstStyle/>
          <a:p>
            <a:pPr lvl="1" eaLnBrk="1" hangingPunct="1"/>
            <a:r>
              <a:rPr lang="en-US" dirty="0"/>
              <a:t>Code updates </a:t>
            </a:r>
            <a:r>
              <a:rPr lang="en-US" b="1" dirty="0">
                <a:latin typeface="Courier New" pitchFamily="49" charset="0"/>
              </a:rPr>
              <a:t>b[</a:t>
            </a:r>
            <a:r>
              <a:rPr lang="en-US" b="1" dirty="0" err="1">
                <a:latin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</a:rPr>
              <a:t>]</a:t>
            </a:r>
            <a:r>
              <a:rPr lang="en-US" dirty="0"/>
              <a:t> on every iteration</a:t>
            </a:r>
          </a:p>
          <a:p>
            <a:pPr lvl="1" eaLnBrk="1" hangingPunct="1"/>
            <a:r>
              <a:rPr lang="en-US" dirty="0"/>
              <a:t>Must consider possibility that these updates will affect program behavior</a:t>
            </a:r>
          </a:p>
        </p:txBody>
      </p:sp>
      <p:sp>
        <p:nvSpPr>
          <p:cNvPr id="19460" name="Line 5"/>
          <p:cNvSpPr>
            <a:spLocks noChangeShapeType="1"/>
          </p:cNvSpPr>
          <p:nvPr/>
        </p:nvSpPr>
        <p:spPr bwMode="auto">
          <a:xfrm>
            <a:off x="2286000" y="2743200"/>
            <a:ext cx="6096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1" name="Rectangle 6"/>
          <p:cNvSpPr>
            <a:spLocks noChangeArrowheads="1"/>
          </p:cNvSpPr>
          <p:nvPr/>
        </p:nvSpPr>
        <p:spPr bwMode="auto">
          <a:xfrm>
            <a:off x="533400" y="1143000"/>
            <a:ext cx="5130800" cy="2273300"/>
          </a:xfrm>
          <a:prstGeom prst="rect">
            <a:avLst/>
          </a:prstGeom>
          <a:solidFill>
            <a:srgbClr val="F6F5BD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/* Sum rows is of n X n matrix a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and store in vector b  */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void sum_rows1(double *a, double *b, long n) {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 long i, j;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 for (i = 0; i &lt; n; i++) {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	b[i] = 0;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	for (j = 0; j &lt; n; j++)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	    b[i] += a[i*n + j];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}</a:t>
            </a:r>
          </a:p>
        </p:txBody>
      </p:sp>
      <p:sp>
        <p:nvSpPr>
          <p:cNvPr id="19462" name="Rectangle 7"/>
          <p:cNvSpPr>
            <a:spLocks noChangeArrowheads="1"/>
          </p:cNvSpPr>
          <p:nvPr/>
        </p:nvSpPr>
        <p:spPr bwMode="auto">
          <a:xfrm>
            <a:off x="533400" y="3733800"/>
            <a:ext cx="2311400" cy="1847850"/>
          </a:xfrm>
          <a:prstGeom prst="rect">
            <a:avLst/>
          </a:prstGeom>
          <a:solidFill>
            <a:srgbClr val="D5F1CF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double A[9] = 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{ 0,   1,   2,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 4,   8,  16},</a:t>
            </a: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   32,  64, 128};</a:t>
            </a:r>
          </a:p>
          <a:p>
            <a:pPr algn="l">
              <a:lnSpc>
                <a:spcPct val="100000"/>
              </a:lnSpc>
            </a:pPr>
            <a:endParaRPr lang="en-US" sz="140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double B[3] = A+3;</a:t>
            </a:r>
          </a:p>
          <a:p>
            <a:pPr algn="l">
              <a:lnSpc>
                <a:spcPct val="100000"/>
              </a:lnSpc>
            </a:pPr>
            <a:endParaRPr lang="en-US" sz="140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sum_rows1(A, B, 3);</a:t>
            </a:r>
          </a:p>
        </p:txBody>
      </p:sp>
      <p:sp>
        <p:nvSpPr>
          <p:cNvPr id="777224" name="Rectangle 8"/>
          <p:cNvSpPr>
            <a:spLocks noChangeArrowheads="1"/>
          </p:cNvSpPr>
          <p:nvPr/>
        </p:nvSpPr>
        <p:spPr bwMode="auto">
          <a:xfrm>
            <a:off x="5918200" y="4267200"/>
            <a:ext cx="2311400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i = 0: [3, 8, 16]</a:t>
            </a:r>
          </a:p>
        </p:txBody>
      </p:sp>
      <p:sp>
        <p:nvSpPr>
          <p:cNvPr id="19464" name="Rectangle 9"/>
          <p:cNvSpPr>
            <a:spLocks noChangeArrowheads="1"/>
          </p:cNvSpPr>
          <p:nvPr/>
        </p:nvSpPr>
        <p:spPr bwMode="auto">
          <a:xfrm>
            <a:off x="5918200" y="3810000"/>
            <a:ext cx="2311400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init:  [4, 8, 16]</a:t>
            </a:r>
          </a:p>
        </p:txBody>
      </p:sp>
      <p:sp>
        <p:nvSpPr>
          <p:cNvPr id="777226" name="Rectangle 10"/>
          <p:cNvSpPr>
            <a:spLocks noChangeArrowheads="1"/>
          </p:cNvSpPr>
          <p:nvPr/>
        </p:nvSpPr>
        <p:spPr bwMode="auto">
          <a:xfrm>
            <a:off x="5918200" y="4724400"/>
            <a:ext cx="2311400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i = 1: [3, 22, 16]</a:t>
            </a:r>
          </a:p>
        </p:txBody>
      </p:sp>
      <p:sp>
        <p:nvSpPr>
          <p:cNvPr id="777227" name="Rectangle 11"/>
          <p:cNvSpPr>
            <a:spLocks noChangeArrowheads="1"/>
          </p:cNvSpPr>
          <p:nvPr/>
        </p:nvSpPr>
        <p:spPr bwMode="auto">
          <a:xfrm>
            <a:off x="5918200" y="5203825"/>
            <a:ext cx="2311400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i = 2: [3, 22, 224]</a:t>
            </a:r>
          </a:p>
        </p:txBody>
      </p:sp>
      <p:sp>
        <p:nvSpPr>
          <p:cNvPr id="19467" name="Text Box 12"/>
          <p:cNvSpPr txBox="1">
            <a:spLocks noChangeArrowheads="1"/>
          </p:cNvSpPr>
          <p:nvPr/>
        </p:nvSpPr>
        <p:spPr bwMode="auto">
          <a:xfrm>
            <a:off x="5791200" y="3352800"/>
            <a:ext cx="1257300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l"/>
            <a:r>
              <a:rPr lang="en-US"/>
              <a:t>Value of </a:t>
            </a:r>
            <a:r>
              <a:rPr lang="en-US">
                <a:latin typeface="Courier New" pitchFamily="49" charset="0"/>
              </a:rPr>
              <a:t>B</a:t>
            </a:r>
            <a:r>
              <a:rPr lang="en-US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489604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7224" grpId="0" animBg="1"/>
      <p:bldP spid="777226" grpId="0" animBg="1"/>
      <p:bldP spid="7772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Removing Aliasing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5638800"/>
            <a:ext cx="8307387" cy="806450"/>
          </a:xfrm>
        </p:spPr>
        <p:txBody>
          <a:bodyPr/>
          <a:lstStyle/>
          <a:p>
            <a:pPr lvl="1" eaLnBrk="1" hangingPunct="1"/>
            <a:r>
              <a:rPr lang="en-US"/>
              <a:t>No need to store intermediate results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609600" y="3810000"/>
            <a:ext cx="5638800" cy="1382430"/>
          </a:xfrm>
          <a:prstGeom prst="rect">
            <a:avLst/>
          </a:prstGeom>
          <a:solidFill>
            <a:srgbClr val="F1C7C7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# sum_rows2 inner loop</a:t>
            </a:r>
          </a:p>
          <a:p>
            <a:r>
              <a:rPr lang="en-US" sz="1400" dirty="0">
                <a:latin typeface="Courier New" pitchFamily="49" charset="0"/>
              </a:rPr>
              <a:t>.L10:</a:t>
            </a:r>
          </a:p>
          <a:p>
            <a:r>
              <a:rPr lang="en-US" sz="1400" dirty="0">
                <a:latin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</a:rPr>
              <a:t>addsd</a:t>
            </a:r>
            <a:r>
              <a:rPr lang="en-US" sz="1400" dirty="0">
                <a:latin typeface="Courier New" pitchFamily="49" charset="0"/>
              </a:rPr>
              <a:t>   (%</a:t>
            </a:r>
            <a:r>
              <a:rPr lang="en-US" sz="1400" dirty="0" err="1">
                <a:latin typeface="Courier New" pitchFamily="49" charset="0"/>
              </a:rPr>
              <a:t>rdi</a:t>
            </a:r>
            <a:r>
              <a:rPr lang="en-US" sz="1400" dirty="0">
                <a:latin typeface="Courier New" pitchFamily="49" charset="0"/>
              </a:rPr>
              <a:t>), %xmm0	# FP load + add</a:t>
            </a:r>
          </a:p>
          <a:p>
            <a:r>
              <a:rPr lang="en-US" sz="1400" dirty="0">
                <a:latin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</a:rPr>
              <a:t>addq</a:t>
            </a:r>
            <a:r>
              <a:rPr lang="en-US" sz="1400" dirty="0">
                <a:latin typeface="Courier New" pitchFamily="49" charset="0"/>
              </a:rPr>
              <a:t>    $8, %</a:t>
            </a:r>
            <a:r>
              <a:rPr lang="en-US" sz="1400" dirty="0" err="1">
                <a:latin typeface="Courier New" pitchFamily="49" charset="0"/>
              </a:rPr>
              <a:t>rdi</a:t>
            </a:r>
            <a:endParaRPr lang="en-US" sz="1400" dirty="0">
              <a:latin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</a:rPr>
              <a:t>cmpq</a:t>
            </a:r>
            <a:r>
              <a:rPr lang="en-US" sz="1400" dirty="0">
                <a:latin typeface="Courier New" pitchFamily="49" charset="0"/>
              </a:rPr>
              <a:t>    %</a:t>
            </a:r>
            <a:r>
              <a:rPr lang="en-US" sz="1400" dirty="0" err="1">
                <a:latin typeface="Courier New" pitchFamily="49" charset="0"/>
              </a:rPr>
              <a:t>rax</a:t>
            </a:r>
            <a:r>
              <a:rPr lang="en-US" sz="1400" dirty="0">
                <a:latin typeface="Courier New" pitchFamily="49" charset="0"/>
              </a:rPr>
              <a:t>, %</a:t>
            </a:r>
            <a:r>
              <a:rPr lang="en-US" sz="1400" dirty="0" err="1">
                <a:latin typeface="Courier New" pitchFamily="49" charset="0"/>
              </a:rPr>
              <a:t>rdi</a:t>
            </a:r>
            <a:endParaRPr lang="en-US" sz="1400" dirty="0">
              <a:latin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</a:rPr>
              <a:t>jne</a:t>
            </a:r>
            <a:r>
              <a:rPr lang="en-US" sz="1400" dirty="0">
                <a:latin typeface="Courier New" pitchFamily="49" charset="0"/>
              </a:rPr>
              <a:t>     .L10</a:t>
            </a:r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2286000" y="2743200"/>
            <a:ext cx="6096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533400" y="1143000"/>
            <a:ext cx="5130800" cy="2486025"/>
          </a:xfrm>
          <a:prstGeom prst="rect">
            <a:avLst/>
          </a:prstGeom>
          <a:solidFill>
            <a:srgbClr val="F6F5BD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/* Sum rows is of n X n matrix a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and store in vector b  */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void sum_rows2(double *a, double *b, long n) {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 long 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, j;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 for (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 = 0; 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 &lt; n; 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++) {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	double </a:t>
            </a:r>
            <a:r>
              <a:rPr lang="en-US" sz="1400" dirty="0" err="1">
                <a:latin typeface="Courier New" pitchFamily="49" charset="0"/>
              </a:rPr>
              <a:t>val</a:t>
            </a:r>
            <a:r>
              <a:rPr lang="en-US" sz="1400" dirty="0">
                <a:latin typeface="Courier New" pitchFamily="49" charset="0"/>
              </a:rPr>
              <a:t> = 0;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	for (j = 0; j &lt; n; j++)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	    </a:t>
            </a:r>
            <a:r>
              <a:rPr lang="en-US" sz="1400" dirty="0" err="1">
                <a:latin typeface="Courier New" pitchFamily="49" charset="0"/>
              </a:rPr>
              <a:t>val</a:t>
            </a:r>
            <a:r>
              <a:rPr lang="en-US" sz="1400" dirty="0">
                <a:latin typeface="Courier New" pitchFamily="49" charset="0"/>
              </a:rPr>
              <a:t> += a[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*n + j];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      b[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] = </a:t>
            </a:r>
            <a:r>
              <a:rPr lang="en-US" sz="1400" dirty="0" err="1">
                <a:latin typeface="Courier New" pitchFamily="49" charset="0"/>
              </a:rPr>
              <a:t>val</a:t>
            </a:r>
            <a:r>
              <a:rPr lang="en-US" sz="14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lang="en-US" sz="1400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9144000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Optimization Blocker: Memory Aliasing</a:t>
            </a:r>
          </a:p>
        </p:txBody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0487" tIns="44450" rIns="90487" bIns="44450"/>
          <a:lstStyle/>
          <a:p>
            <a:pPr marL="223838" indent="-223838" defTabSz="895350" eaLnBrk="1" hangingPunct="1">
              <a:tabLst>
                <a:tab pos="5029200" algn="l"/>
                <a:tab pos="5715000" algn="l"/>
              </a:tabLst>
              <a:defRPr/>
            </a:pPr>
            <a:r>
              <a:rPr lang="en-US"/>
              <a:t>Aliasing</a:t>
            </a:r>
          </a:p>
          <a:p>
            <a:pPr marL="560388" lvl="1" indent="-222250" defTabSz="895350" eaLnBrk="1" hangingPunct="1">
              <a:tabLst>
                <a:tab pos="5029200" algn="l"/>
                <a:tab pos="5715000" algn="l"/>
              </a:tabLst>
              <a:defRPr/>
            </a:pPr>
            <a:r>
              <a:rPr lang="en-US"/>
              <a:t>Two different memory references specify single location</a:t>
            </a:r>
          </a:p>
          <a:p>
            <a:pPr marL="560388" lvl="1" indent="-222250" defTabSz="895350" eaLnBrk="1" hangingPunct="1">
              <a:tabLst>
                <a:tab pos="5029200" algn="l"/>
                <a:tab pos="5715000" algn="l"/>
              </a:tabLst>
              <a:defRPr/>
            </a:pPr>
            <a:r>
              <a:rPr lang="en-US"/>
              <a:t>Easy to have happen in C</a:t>
            </a:r>
          </a:p>
          <a:p>
            <a:pPr marL="839788" lvl="2" indent="-165100" defTabSz="895350" eaLnBrk="1" hangingPunct="1">
              <a:tabLst>
                <a:tab pos="5029200" algn="l"/>
                <a:tab pos="5715000" algn="l"/>
              </a:tabLst>
              <a:defRPr/>
            </a:pPr>
            <a:r>
              <a:rPr lang="en-US"/>
              <a:t> Since allowed to do address arithmetic</a:t>
            </a:r>
          </a:p>
          <a:p>
            <a:pPr marL="839788" lvl="2" indent="-165100" defTabSz="895350" eaLnBrk="1" hangingPunct="1">
              <a:tabLst>
                <a:tab pos="5029200" algn="l"/>
                <a:tab pos="5715000" algn="l"/>
              </a:tabLst>
              <a:defRPr/>
            </a:pPr>
            <a:r>
              <a:rPr lang="en-US"/>
              <a:t> Direct access to storage structures</a:t>
            </a:r>
          </a:p>
          <a:p>
            <a:pPr marL="560388" lvl="1" indent="-222250" defTabSz="895350" eaLnBrk="1" hangingPunct="1">
              <a:tabLst>
                <a:tab pos="5029200" algn="l"/>
                <a:tab pos="5715000" algn="l"/>
              </a:tabLst>
              <a:defRPr/>
            </a:pPr>
            <a:r>
              <a:rPr lang="en-US"/>
              <a:t>Get in habit of introducing local variables</a:t>
            </a:r>
          </a:p>
          <a:p>
            <a:pPr marL="839788" lvl="2" indent="-165100" defTabSz="895350" eaLnBrk="1" hangingPunct="1">
              <a:tabLst>
                <a:tab pos="5029200" algn="l"/>
                <a:tab pos="5715000" algn="l"/>
              </a:tabLst>
              <a:defRPr/>
            </a:pPr>
            <a:r>
              <a:rPr lang="en-US"/>
              <a:t> Accumulating within loops</a:t>
            </a:r>
          </a:p>
          <a:p>
            <a:pPr marL="839788" lvl="2" indent="-165100" defTabSz="895350" eaLnBrk="1" hangingPunct="1">
              <a:tabLst>
                <a:tab pos="5029200" algn="l"/>
                <a:tab pos="5715000" algn="l"/>
              </a:tabLst>
              <a:defRPr/>
            </a:pP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Your way of telling compiler not to check for aliasing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Example: Data Type for Vectors</a:t>
            </a:r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514821" y="1498526"/>
            <a:ext cx="4132541" cy="1320874"/>
          </a:xfrm>
          <a:prstGeom prst="rect">
            <a:avLst/>
          </a:prstGeom>
          <a:solidFill>
            <a:srgbClr val="F6F5BD"/>
          </a:solidFill>
          <a:ln w="1270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/* data structure for vectors */</a:t>
            </a: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typedef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</a:rPr>
              <a:t>{</a:t>
            </a:r>
          </a:p>
          <a:p>
            <a:pPr algn="l" defTabSz="457200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len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 defTabSz="457200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data_t</a:t>
            </a:r>
            <a:r>
              <a:rPr lang="en-US" sz="1600" dirty="0">
                <a:latin typeface="Courier New" pitchFamily="49" charset="0"/>
              </a:rPr>
              <a:t> *data;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} </a:t>
            </a:r>
            <a:r>
              <a:rPr lang="en-US" sz="1600" dirty="0" err="1">
                <a:latin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</a:rPr>
              <a:t>;</a:t>
            </a: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4647362" y="3733800"/>
            <a:ext cx="4492314" cy="2551980"/>
          </a:xfrm>
          <a:prstGeom prst="rect">
            <a:avLst/>
          </a:prstGeom>
          <a:solidFill>
            <a:srgbClr val="F6F5BD"/>
          </a:solidFill>
          <a:ln w="1270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/* retrieve vector element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and store at </a:t>
            </a:r>
            <a:r>
              <a:rPr lang="en-US" sz="1600" dirty="0" err="1">
                <a:latin typeface="Courier New" pitchFamily="49" charset="0"/>
              </a:rPr>
              <a:t>val</a:t>
            </a:r>
            <a:r>
              <a:rPr lang="en-US" sz="1600" dirty="0">
                <a:latin typeface="Courier New" pitchFamily="49" charset="0"/>
              </a:rPr>
              <a:t> */</a:t>
            </a: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get_vec_element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(*</a:t>
            </a:r>
            <a:r>
              <a:rPr lang="en-US" sz="1600" dirty="0" err="1">
                <a:latin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</a:rPr>
              <a:t> v,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idx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data_t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val</a:t>
            </a:r>
            <a:r>
              <a:rPr lang="en-US" sz="1600" dirty="0">
                <a:latin typeface="Courier New" pitchFamily="49" charset="0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 algn="l" defTabSz="515938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if (</a:t>
            </a:r>
            <a:r>
              <a:rPr lang="en-US" sz="1600" dirty="0" err="1">
                <a:latin typeface="Courier New" pitchFamily="49" charset="0"/>
              </a:rPr>
              <a:t>idx</a:t>
            </a:r>
            <a:r>
              <a:rPr lang="en-US" sz="1600" dirty="0">
                <a:latin typeface="Courier New" pitchFamily="49" charset="0"/>
              </a:rPr>
              <a:t> &gt;= v-&gt;</a:t>
            </a:r>
            <a:r>
              <a:rPr lang="en-US" sz="1600" dirty="0" err="1">
                <a:latin typeface="Courier New" pitchFamily="49" charset="0"/>
              </a:rPr>
              <a:t>len</a:t>
            </a:r>
            <a:r>
              <a:rPr lang="en-US" sz="1600" dirty="0">
                <a:latin typeface="Courier New" pitchFamily="49" charset="0"/>
              </a:rPr>
              <a:t>)</a:t>
            </a:r>
          </a:p>
          <a:p>
            <a:pPr algn="l" defTabSz="515938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	return 0;</a:t>
            </a:r>
          </a:p>
          <a:p>
            <a:pPr algn="l" defTabSz="515938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*</a:t>
            </a:r>
            <a:r>
              <a:rPr lang="en-US" sz="1600" dirty="0" err="1">
                <a:latin typeface="Courier New" pitchFamily="49" charset="0"/>
              </a:rPr>
              <a:t>val</a:t>
            </a:r>
            <a:r>
              <a:rPr lang="en-US" sz="1600" dirty="0">
                <a:latin typeface="Courier New" pitchFamily="49" charset="0"/>
              </a:rPr>
              <a:t> = v-&gt;data[</a:t>
            </a:r>
            <a:r>
              <a:rPr lang="en-US" sz="1600" dirty="0" err="1">
                <a:latin typeface="Courier New" pitchFamily="49" charset="0"/>
              </a:rPr>
              <a:t>idx</a:t>
            </a:r>
            <a:r>
              <a:rPr lang="en-US" sz="1600" dirty="0">
                <a:latin typeface="Courier New" pitchFamily="49" charset="0"/>
              </a:rPr>
              <a:t>];</a:t>
            </a:r>
          </a:p>
          <a:p>
            <a:pPr algn="l" defTabSz="515938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return 1;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6503349" y="2133600"/>
            <a:ext cx="353699" cy="2921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endParaRPr lang="en-US" sz="2000" dirty="0">
              <a:latin typeface="Courier New" pitchFamily="49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4800600" y="1841500"/>
            <a:ext cx="776536" cy="2921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1800" dirty="0" err="1">
                <a:latin typeface="Courier New" pitchFamily="49" charset="0"/>
              </a:rPr>
              <a:t>len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0600" y="2133600"/>
            <a:ext cx="776536" cy="2921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data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6858000" y="2133600"/>
            <a:ext cx="353699" cy="2921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endParaRPr lang="en-US" sz="2000" dirty="0">
              <a:latin typeface="Courier New" pitchFamily="49" charset="0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8256901" y="2133600"/>
            <a:ext cx="353699" cy="2921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endParaRPr lang="en-US" sz="2000" dirty="0">
              <a:latin typeface="Courier New" pitchFamily="49" charset="0"/>
            </a:endParaRPr>
          </a:p>
        </p:txBody>
      </p:sp>
      <p:cxnSp>
        <p:nvCxnSpPr>
          <p:cNvPr id="15" name="Straight Arrow Connector 14"/>
          <p:cNvCxnSpPr>
            <a:stCxn id="11" idx="3"/>
            <a:endCxn id="7" idx="1"/>
          </p:cNvCxnSpPr>
          <p:nvPr/>
        </p:nvCxnSpPr>
        <p:spPr bwMode="auto">
          <a:xfrm>
            <a:off x="5577136" y="2279650"/>
            <a:ext cx="926213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7215499" y="2133600"/>
            <a:ext cx="1041402" cy="2921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endParaRPr lang="en-US" sz="2000" dirty="0">
              <a:latin typeface="Courier New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516034" y="1837381"/>
            <a:ext cx="3080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91868" y="1837267"/>
            <a:ext cx="3080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377" y="1837267"/>
            <a:ext cx="8018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len-1</a:t>
            </a:r>
          </a:p>
        </p:txBody>
      </p:sp>
      <p:cxnSp>
        <p:nvCxnSpPr>
          <p:cNvPr id="21" name="Straight Connector 20"/>
          <p:cNvCxnSpPr/>
          <p:nvPr/>
        </p:nvCxnSpPr>
        <p:spPr bwMode="auto">
          <a:xfrm>
            <a:off x="7368989" y="2286000"/>
            <a:ext cx="733612" cy="1390"/>
          </a:xfrm>
          <a:prstGeom prst="line">
            <a:avLst/>
          </a:prstGeom>
          <a:noFill/>
          <a:ln w="635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38175" y="4191000"/>
            <a:ext cx="3871913" cy="2219325"/>
          </a:xfrm>
        </p:spPr>
        <p:txBody>
          <a:bodyPr>
            <a:normAutofit fontScale="92500" lnSpcReduction="20000"/>
          </a:bodyPr>
          <a:lstStyle/>
          <a:p>
            <a:pPr marL="0" indent="0"/>
            <a:r>
              <a:rPr lang="en-US" sz="2400" dirty="0"/>
              <a:t>Data Types</a:t>
            </a:r>
          </a:p>
          <a:p>
            <a:pPr lvl="1"/>
            <a:r>
              <a:rPr lang="en-US" sz="2000" dirty="0"/>
              <a:t>Use different declarations for </a:t>
            </a:r>
            <a:r>
              <a:rPr lang="en-US" sz="2000" b="1" dirty="0" err="1">
                <a:latin typeface="Courier New" pitchFamily="49" charset="0"/>
              </a:rPr>
              <a:t>data_t</a:t>
            </a:r>
            <a:endParaRPr lang="en-US" sz="2000" b="1" dirty="0">
              <a:latin typeface="Courier New" pitchFamily="49" charset="0"/>
            </a:endParaRPr>
          </a:p>
          <a:p>
            <a:pPr lvl="2"/>
            <a:r>
              <a:rPr lang="en-US" b="1" dirty="0" err="1">
                <a:latin typeface="Courier New" pitchFamily="49" charset="0"/>
              </a:rPr>
              <a:t>int</a:t>
            </a:r>
            <a:endParaRPr lang="en-US" b="1" dirty="0">
              <a:latin typeface="Courier New" pitchFamily="49" charset="0"/>
            </a:endParaRPr>
          </a:p>
          <a:p>
            <a:pPr lvl="2"/>
            <a:r>
              <a:rPr lang="en-US" b="1" dirty="0">
                <a:latin typeface="Courier New" pitchFamily="49" charset="0"/>
              </a:rPr>
              <a:t>long</a:t>
            </a:r>
          </a:p>
          <a:p>
            <a:pPr lvl="2"/>
            <a:r>
              <a:rPr lang="en-US" b="1" dirty="0">
                <a:latin typeface="Courier New" pitchFamily="49" charset="0"/>
              </a:rPr>
              <a:t>float</a:t>
            </a:r>
          </a:p>
          <a:p>
            <a:pPr lvl="2"/>
            <a:r>
              <a:rPr lang="en-US" b="1" dirty="0">
                <a:latin typeface="Courier New" pitchFamily="49" charset="0"/>
              </a:rPr>
              <a:t>double</a:t>
            </a:r>
          </a:p>
        </p:txBody>
      </p:sp>
    </p:spTree>
    <p:extLst>
      <p:ext uri="{BB962C8B-B14F-4D97-AF65-F5344CB8AC3E}">
        <p14:creationId xmlns:p14="http://schemas.microsoft.com/office/powerpoint/2010/main" val="4185251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Computation</a:t>
            </a:r>
          </a:p>
        </p:txBody>
      </p:sp>
      <p:sp>
        <p:nvSpPr>
          <p:cNvPr id="77517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38175" y="4191000"/>
            <a:ext cx="3871913" cy="2219325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sz="2400" dirty="0"/>
              <a:t>Data Types</a:t>
            </a:r>
          </a:p>
          <a:p>
            <a:pPr lvl="1"/>
            <a:r>
              <a:rPr lang="en-US" sz="2000" dirty="0"/>
              <a:t>Use different declarations for </a:t>
            </a:r>
            <a:r>
              <a:rPr lang="en-US" sz="2000" b="1" dirty="0" err="1">
                <a:latin typeface="Courier New" pitchFamily="49" charset="0"/>
              </a:rPr>
              <a:t>data_t</a:t>
            </a:r>
            <a:endParaRPr lang="en-US" sz="2000" b="1" dirty="0">
              <a:latin typeface="Courier New" pitchFamily="49" charset="0"/>
            </a:endParaRPr>
          </a:p>
          <a:p>
            <a:pPr lvl="2"/>
            <a:r>
              <a:rPr lang="en-US" sz="1600" b="1" dirty="0" err="1">
                <a:latin typeface="Courier New" pitchFamily="49" charset="0"/>
              </a:rPr>
              <a:t>int</a:t>
            </a:r>
            <a:endParaRPr lang="en-US" sz="1600" b="1" dirty="0">
              <a:latin typeface="Courier New" pitchFamily="49" charset="0"/>
            </a:endParaRPr>
          </a:p>
          <a:p>
            <a:pPr lvl="2"/>
            <a:r>
              <a:rPr lang="en-US" sz="1600" b="1" dirty="0">
                <a:latin typeface="Courier New" pitchFamily="49" charset="0"/>
              </a:rPr>
              <a:t>long</a:t>
            </a:r>
          </a:p>
          <a:p>
            <a:pPr lvl="2"/>
            <a:r>
              <a:rPr lang="en-US" sz="1600" b="1" dirty="0">
                <a:latin typeface="Courier New" pitchFamily="49" charset="0"/>
              </a:rPr>
              <a:t>float</a:t>
            </a:r>
          </a:p>
          <a:p>
            <a:pPr lvl="2"/>
            <a:r>
              <a:rPr lang="en-US" sz="1600" b="1" dirty="0">
                <a:latin typeface="Courier New" pitchFamily="49" charset="0"/>
              </a:rPr>
              <a:t>double</a:t>
            </a:r>
          </a:p>
        </p:txBody>
      </p:sp>
      <p:sp>
        <p:nvSpPr>
          <p:cNvPr id="775173" name="Rectangle 5"/>
          <p:cNvSpPr>
            <a:spLocks noGrp="1" noChangeArrowheads="1"/>
          </p:cNvSpPr>
          <p:nvPr>
            <p:ph sz="half" idx="2"/>
          </p:nvPr>
        </p:nvSpPr>
        <p:spPr>
          <a:xfrm>
            <a:off x="4662488" y="4191000"/>
            <a:ext cx="3871912" cy="2219325"/>
          </a:xfrm>
        </p:spPr>
        <p:txBody>
          <a:bodyPr/>
          <a:lstStyle/>
          <a:p>
            <a:pPr marL="0" indent="0"/>
            <a:r>
              <a:rPr lang="en-US" sz="2400" dirty="0"/>
              <a:t>Operations</a:t>
            </a:r>
          </a:p>
          <a:p>
            <a:pPr lvl="1"/>
            <a:r>
              <a:rPr lang="en-US" sz="2000" dirty="0"/>
              <a:t>Use different definitions of </a:t>
            </a:r>
            <a:r>
              <a:rPr lang="en-US" sz="2000" b="1" dirty="0">
                <a:latin typeface="Courier New" pitchFamily="49" charset="0"/>
              </a:rPr>
              <a:t>OP</a:t>
            </a:r>
            <a:r>
              <a:rPr lang="en-US" sz="2000" dirty="0"/>
              <a:t> and </a:t>
            </a:r>
            <a:r>
              <a:rPr lang="en-US" sz="2000" b="1" dirty="0">
                <a:latin typeface="Courier New" pitchFamily="49" charset="0"/>
              </a:rPr>
              <a:t>IDENT</a:t>
            </a:r>
          </a:p>
          <a:p>
            <a:pPr lvl="2"/>
            <a:r>
              <a:rPr lang="en-US" sz="1600" b="1" dirty="0"/>
              <a:t> </a:t>
            </a:r>
            <a:r>
              <a:rPr lang="en-US" sz="1600" b="1" dirty="0">
                <a:latin typeface="Courier New" pitchFamily="49" charset="0"/>
              </a:rPr>
              <a:t>+ </a:t>
            </a:r>
            <a:r>
              <a:rPr lang="en-US" sz="1600" b="1" dirty="0"/>
              <a:t>/</a:t>
            </a:r>
            <a:r>
              <a:rPr lang="en-US" sz="1600" b="1" dirty="0">
                <a:latin typeface="Courier New" pitchFamily="49" charset="0"/>
              </a:rPr>
              <a:t> 0</a:t>
            </a:r>
          </a:p>
          <a:p>
            <a:pPr lvl="2"/>
            <a:r>
              <a:rPr lang="en-US" sz="1600" b="1" dirty="0"/>
              <a:t> </a:t>
            </a:r>
            <a:r>
              <a:rPr lang="en-US" sz="1600" b="1" dirty="0">
                <a:latin typeface="Courier New" pitchFamily="49" charset="0"/>
              </a:rPr>
              <a:t>* </a:t>
            </a:r>
            <a:r>
              <a:rPr lang="en-US" sz="1600" b="1" dirty="0"/>
              <a:t>/</a:t>
            </a:r>
            <a:r>
              <a:rPr lang="en-US" sz="1600" b="1" dirty="0">
                <a:latin typeface="Courier New" pitchFamily="49" charset="0"/>
              </a:rPr>
              <a:t> 1</a:t>
            </a:r>
          </a:p>
        </p:txBody>
      </p:sp>
      <p:sp>
        <p:nvSpPr>
          <p:cNvPr id="775172" name="Rectangle 4"/>
          <p:cNvSpPr>
            <a:spLocks noChangeArrowheads="1"/>
          </p:cNvSpPr>
          <p:nvPr/>
        </p:nvSpPr>
        <p:spPr bwMode="auto">
          <a:xfrm>
            <a:off x="638175" y="1133182"/>
            <a:ext cx="5834930" cy="2859757"/>
          </a:xfrm>
          <a:prstGeom prst="rect">
            <a:avLst/>
          </a:prstGeom>
          <a:solidFill>
            <a:srgbClr val="F6F5BD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void combine1(</a:t>
            </a:r>
            <a:r>
              <a:rPr lang="en-US" sz="1800" dirty="0" err="1">
                <a:latin typeface="Courier New" pitchFamily="49" charset="0"/>
              </a:rPr>
              <a:t>vec_ptr</a:t>
            </a:r>
            <a:r>
              <a:rPr lang="en-US" sz="1800" dirty="0">
                <a:latin typeface="Courier New" pitchFamily="49" charset="0"/>
              </a:rPr>
              <a:t> v, </a:t>
            </a:r>
            <a:r>
              <a:rPr lang="en-US" sz="1800" dirty="0" err="1">
                <a:latin typeface="Courier New" pitchFamily="49" charset="0"/>
              </a:rPr>
              <a:t>data_t</a:t>
            </a:r>
            <a:r>
              <a:rPr lang="en-US" sz="1800" dirty="0">
                <a:latin typeface="Courier New" pitchFamily="49" charset="0"/>
              </a:rPr>
              <a:t>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  long </a:t>
            </a: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 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 = IDENT;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  for (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0;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&lt; </a:t>
            </a:r>
            <a:r>
              <a:rPr lang="en-US" sz="1800" dirty="0" err="1">
                <a:latin typeface="Courier New" pitchFamily="49" charset="0"/>
              </a:rPr>
              <a:t>vec_length</a:t>
            </a:r>
            <a:r>
              <a:rPr lang="en-US" sz="1800" dirty="0">
                <a:latin typeface="Courier New" pitchFamily="49" charset="0"/>
              </a:rPr>
              <a:t>(v);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++) 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data_t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val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get_vec_element</a:t>
            </a:r>
            <a:r>
              <a:rPr lang="en-US" sz="1800" dirty="0">
                <a:latin typeface="Courier New" pitchFamily="49" charset="0"/>
              </a:rPr>
              <a:t>(v,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, &amp;</a:t>
            </a:r>
            <a:r>
              <a:rPr lang="en-US" sz="1800" dirty="0" err="1">
                <a:latin typeface="Courier New" pitchFamily="49" charset="0"/>
              </a:rPr>
              <a:t>val</a:t>
            </a:r>
            <a:r>
              <a:rPr lang="en-US" sz="1800" dirty="0">
                <a:latin typeface="Courier New" pitchFamily="49" charset="0"/>
              </a:rPr>
              <a:t>);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	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 =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 OP </a:t>
            </a:r>
            <a:r>
              <a:rPr lang="en-US" sz="1800" dirty="0" err="1">
                <a:latin typeface="Courier New" pitchFamily="49" charset="0"/>
              </a:rPr>
              <a:t>val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  }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0" y="16002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Compute sum or product of vector elements</a:t>
            </a:r>
          </a:p>
        </p:txBody>
      </p:sp>
    </p:spTree>
    <p:extLst>
      <p:ext uri="{BB962C8B-B14F-4D97-AF65-F5344CB8AC3E}">
        <p14:creationId xmlns:p14="http://schemas.microsoft.com/office/powerpoint/2010/main" val="85610268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36398"/>
            <a:ext cx="5443538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Time Scales</a:t>
            </a:r>
          </a:p>
        </p:txBody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-109" charset="2"/>
              <a:buNone/>
              <a:defRPr/>
            </a:pPr>
            <a:r>
              <a:rPr lang="en-US" dirty="0">
                <a:ea typeface="+mn-ea"/>
                <a:cs typeface="+mn-cs"/>
              </a:rPr>
              <a:t>Absolute Time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 dirty="0"/>
              <a:t>Typically use nanoseconds</a:t>
            </a: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 dirty="0"/>
              <a:t>10</a:t>
            </a:r>
            <a:r>
              <a:rPr lang="en-US" baseline="30000" dirty="0"/>
              <a:t>–9</a:t>
            </a:r>
            <a:r>
              <a:rPr lang="en-US" dirty="0"/>
              <a:t> seconds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 dirty="0"/>
              <a:t>Time scale of computer instructions</a:t>
            </a:r>
          </a:p>
          <a:p>
            <a:pPr eaLnBrk="1" hangingPunct="1">
              <a:buFont typeface="Wingdings" pitchFamily="-109" charset="2"/>
              <a:buNone/>
              <a:defRPr/>
            </a:pPr>
            <a:r>
              <a:rPr lang="en-US" dirty="0">
                <a:ea typeface="+mn-ea"/>
                <a:cs typeface="+mn-cs"/>
              </a:rPr>
              <a:t>Clock Cycles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 dirty="0"/>
              <a:t>Most computers controlled by high frequency clock signal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 dirty="0"/>
              <a:t>Typical Range</a:t>
            </a: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 dirty="0"/>
              <a:t>100 MHz </a:t>
            </a:r>
          </a:p>
          <a:p>
            <a:pPr lvl="3" eaLnBrk="1" hangingPunct="1">
              <a:defRPr/>
            </a:pPr>
            <a:r>
              <a:rPr lang="en-US" dirty="0"/>
              <a:t>10</a:t>
            </a:r>
            <a:r>
              <a:rPr lang="en-US" baseline="30000" dirty="0"/>
              <a:t>8</a:t>
            </a:r>
            <a:r>
              <a:rPr lang="en-US" dirty="0"/>
              <a:t> cycles per second</a:t>
            </a:r>
          </a:p>
          <a:p>
            <a:pPr lvl="3" eaLnBrk="1" hangingPunct="1">
              <a:defRPr/>
            </a:pPr>
            <a:r>
              <a:rPr lang="en-US" dirty="0"/>
              <a:t>Clock period = 10ns</a:t>
            </a: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 dirty="0"/>
              <a:t>2 GHz </a:t>
            </a:r>
          </a:p>
          <a:p>
            <a:pPr lvl="3" eaLnBrk="1" hangingPunct="1">
              <a:defRPr/>
            </a:pPr>
            <a:r>
              <a:rPr lang="en-US" dirty="0"/>
              <a:t>2 X 10</a:t>
            </a:r>
            <a:r>
              <a:rPr lang="en-US" baseline="30000" dirty="0"/>
              <a:t>9</a:t>
            </a:r>
            <a:r>
              <a:rPr lang="en-US" dirty="0"/>
              <a:t> cycles per second</a:t>
            </a:r>
          </a:p>
          <a:p>
            <a:pPr lvl="3" eaLnBrk="1" hangingPunct="1">
              <a:defRPr/>
            </a:pPr>
            <a:r>
              <a:rPr lang="en-US" dirty="0"/>
              <a:t>Clock period = 0.5ns</a:t>
            </a:r>
          </a:p>
        </p:txBody>
      </p:sp>
    </p:spTree>
    <p:extLst>
      <p:ext uri="{BB962C8B-B14F-4D97-AF65-F5344CB8AC3E}">
        <p14:creationId xmlns:p14="http://schemas.microsoft.com/office/powerpoint/2010/main" val="2428314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140700" cy="5730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Cycles Per Element (CPE)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990600"/>
            <a:ext cx="8307387" cy="1981200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Convenient way to express performance of program that operates on vectors or lists</a:t>
            </a:r>
          </a:p>
          <a:p>
            <a:r>
              <a:rPr lang="en-US" sz="2000" dirty="0"/>
              <a:t>Length = n</a:t>
            </a:r>
          </a:p>
          <a:p>
            <a:r>
              <a:rPr lang="en-US" sz="2000" dirty="0"/>
              <a:t>In our case: </a:t>
            </a:r>
            <a:r>
              <a:rPr lang="en-US" sz="2000" dirty="0">
                <a:solidFill>
                  <a:srgbClr val="C00000"/>
                </a:solidFill>
              </a:rPr>
              <a:t>CPE = Cycles Per OP</a:t>
            </a:r>
            <a:endParaRPr lang="en-US" sz="2000" dirty="0"/>
          </a:p>
          <a:p>
            <a:r>
              <a:rPr lang="en-US" sz="2000" dirty="0"/>
              <a:t>T = CPE*n + Overhead</a:t>
            </a:r>
          </a:p>
          <a:p>
            <a:pPr lvl="1"/>
            <a:r>
              <a:rPr lang="en-US" sz="1600" dirty="0"/>
              <a:t>CPE is slope of line</a:t>
            </a: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/>
          </p:nvPr>
        </p:nvGraphicFramePr>
        <p:xfrm>
          <a:off x="1752600" y="3276600"/>
          <a:ext cx="5754977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193646" y="4169220"/>
            <a:ext cx="746306" cy="34144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lIns="27432" tIns="27432" rIns="27432" bIns="0" anchor="t" upright="1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US" sz="1200" b="0" i="0" strike="noStrike">
                <a:solidFill>
                  <a:srgbClr val="000000"/>
                </a:solidFill>
                <a:latin typeface="Courier New"/>
                <a:cs typeface="Courier New"/>
              </a:rPr>
              <a:t>psum1</a:t>
            </a:r>
            <a:endParaRPr lang="en-US" sz="1200" b="0" i="0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algn="ctr" rtl="0">
              <a:defRPr sz="1000"/>
            </a:pPr>
            <a:r>
              <a:rPr lang="en-US" sz="1200" b="0" i="0" strike="noStrike">
                <a:solidFill>
                  <a:srgbClr val="000000"/>
                </a:solidFill>
                <a:latin typeface="Arial"/>
                <a:cs typeface="Arial"/>
              </a:rPr>
              <a:t>Slope = 9.0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572000" y="5225123"/>
            <a:ext cx="746306" cy="33747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lIns="27432" tIns="22860" rIns="27432" bIns="0" anchor="t" upright="1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US" sz="1200" b="0" i="0" strike="noStrike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1200" b="0" i="0" strike="noStrike" dirty="0">
                <a:solidFill>
                  <a:srgbClr val="000000"/>
                </a:solidFill>
                <a:latin typeface="Courier New"/>
                <a:cs typeface="Courier New"/>
              </a:rPr>
              <a:t>psum2</a:t>
            </a:r>
            <a:endParaRPr lang="en-US" sz="1200" b="0" i="0" strike="noStrike" dirty="0">
              <a:solidFill>
                <a:srgbClr val="000000"/>
              </a:solidFill>
              <a:latin typeface="Arial"/>
              <a:cs typeface="Arial"/>
            </a:endParaRPr>
          </a:p>
          <a:p>
            <a:pPr algn="ctr" rtl="0">
              <a:defRPr sz="1000"/>
            </a:pPr>
            <a:r>
              <a:rPr lang="en-US" sz="1200" b="0" i="0" strike="noStrike" dirty="0">
                <a:solidFill>
                  <a:srgbClr val="000000"/>
                </a:solidFill>
                <a:latin typeface="Arial"/>
                <a:cs typeface="Arial"/>
              </a:rPr>
              <a:t>Slope = 6.0</a:t>
            </a:r>
          </a:p>
        </p:txBody>
      </p:sp>
    </p:spTree>
    <p:extLst>
      <p:ext uri="{BB962C8B-B14F-4D97-AF65-F5344CB8AC3E}">
        <p14:creationId xmlns:p14="http://schemas.microsoft.com/office/powerpoint/2010/main" val="128730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Performance</a:t>
            </a:r>
          </a:p>
        </p:txBody>
      </p:sp>
      <p:sp>
        <p:nvSpPr>
          <p:cNvPr id="775172" name="Rectangle 4"/>
          <p:cNvSpPr>
            <a:spLocks noChangeArrowheads="1"/>
          </p:cNvSpPr>
          <p:nvPr/>
        </p:nvSpPr>
        <p:spPr bwMode="auto">
          <a:xfrm>
            <a:off x="638175" y="1133182"/>
            <a:ext cx="5834930" cy="2859757"/>
          </a:xfrm>
          <a:prstGeom prst="rect">
            <a:avLst/>
          </a:prstGeom>
          <a:solidFill>
            <a:srgbClr val="F6F5BD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void combine1(</a:t>
            </a:r>
            <a:r>
              <a:rPr lang="en-US" sz="1800" dirty="0" err="1">
                <a:latin typeface="Courier New" pitchFamily="49" charset="0"/>
              </a:rPr>
              <a:t>vec_ptr</a:t>
            </a:r>
            <a:r>
              <a:rPr lang="en-US" sz="1800" dirty="0">
                <a:latin typeface="Courier New" pitchFamily="49" charset="0"/>
              </a:rPr>
              <a:t> v, </a:t>
            </a:r>
            <a:r>
              <a:rPr lang="en-US" sz="1800" dirty="0" err="1">
                <a:latin typeface="Courier New" pitchFamily="49" charset="0"/>
              </a:rPr>
              <a:t>data_t</a:t>
            </a:r>
            <a:r>
              <a:rPr lang="en-US" sz="1800" dirty="0">
                <a:latin typeface="Courier New" pitchFamily="49" charset="0"/>
              </a:rPr>
              <a:t>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  long </a:t>
            </a: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 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 = IDENT;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  for (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0;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&lt; </a:t>
            </a:r>
            <a:r>
              <a:rPr lang="en-US" sz="1800" dirty="0" err="1">
                <a:latin typeface="Courier New" pitchFamily="49" charset="0"/>
              </a:rPr>
              <a:t>vec_length</a:t>
            </a:r>
            <a:r>
              <a:rPr lang="en-US" sz="1800" dirty="0">
                <a:latin typeface="Courier New" pitchFamily="49" charset="0"/>
              </a:rPr>
              <a:t>(v);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++) 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data_t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val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get_vec_element</a:t>
            </a:r>
            <a:r>
              <a:rPr lang="en-US" sz="1800" dirty="0">
                <a:latin typeface="Courier New" pitchFamily="49" charset="0"/>
              </a:rPr>
              <a:t>(v,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, &amp;</a:t>
            </a:r>
            <a:r>
              <a:rPr lang="en-US" sz="1800" dirty="0" err="1">
                <a:latin typeface="Courier New" pitchFamily="49" charset="0"/>
              </a:rPr>
              <a:t>val</a:t>
            </a:r>
            <a:r>
              <a:rPr lang="en-US" sz="1800" dirty="0">
                <a:latin typeface="Courier New" pitchFamily="49" charset="0"/>
              </a:rPr>
              <a:t>);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	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 =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 OP </a:t>
            </a:r>
            <a:r>
              <a:rPr lang="en-US" sz="1800" dirty="0" err="1">
                <a:latin typeface="Courier New" pitchFamily="49" charset="0"/>
              </a:rPr>
              <a:t>val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  }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0" y="16002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Compute sum or product of vector elements</a:t>
            </a:r>
          </a:p>
        </p:txBody>
      </p:sp>
      <p:graphicFrame>
        <p:nvGraphicFramePr>
          <p:cNvPr id="10" name="Group 49"/>
          <p:cNvGraphicFramePr>
            <a:graphicFrameLocks noGrp="1"/>
          </p:cNvGraphicFramePr>
          <p:nvPr>
            <p:extLst/>
          </p:nvPr>
        </p:nvGraphicFramePr>
        <p:xfrm>
          <a:off x="396875" y="4267200"/>
          <a:ext cx="8229600" cy="1552575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Method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Integer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Double FP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Operation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Combine1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unoptimized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22.68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20.02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19.98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20.18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Combine1 –O1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10.12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10.12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10.17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11.14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865503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Optimizations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96875" y="4495800"/>
            <a:ext cx="7896225" cy="1838324"/>
          </a:xfrm>
        </p:spPr>
        <p:txBody>
          <a:bodyPr/>
          <a:lstStyle/>
          <a:p>
            <a:r>
              <a:rPr lang="en-US" dirty="0"/>
              <a:t>Move </a:t>
            </a:r>
            <a:r>
              <a:rPr lang="en-US" dirty="0" err="1"/>
              <a:t>vec_length</a:t>
            </a:r>
            <a:r>
              <a:rPr lang="en-US" dirty="0"/>
              <a:t> out of loop</a:t>
            </a:r>
          </a:p>
          <a:p>
            <a:r>
              <a:rPr lang="en-US" dirty="0"/>
              <a:t>Avoid bounds check on each cycle</a:t>
            </a:r>
          </a:p>
          <a:p>
            <a:r>
              <a:rPr lang="en-US" dirty="0"/>
              <a:t>Accumulate in temporary</a:t>
            </a:r>
          </a:p>
        </p:txBody>
      </p:sp>
      <p:sp>
        <p:nvSpPr>
          <p:cNvPr id="775172" name="Rectangle 4"/>
          <p:cNvSpPr>
            <a:spLocks noChangeArrowheads="1"/>
          </p:cNvSpPr>
          <p:nvPr/>
        </p:nvSpPr>
        <p:spPr bwMode="auto">
          <a:xfrm>
            <a:off x="1295400" y="1331243"/>
            <a:ext cx="5421355" cy="2859757"/>
          </a:xfrm>
          <a:prstGeom prst="rect">
            <a:avLst/>
          </a:prstGeom>
          <a:solidFill>
            <a:srgbClr val="F6F5BD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void combine4(</a:t>
            </a:r>
            <a:r>
              <a:rPr lang="en-US" sz="1800" dirty="0" err="1">
                <a:latin typeface="Courier New" pitchFamily="49" charset="0"/>
              </a:rPr>
              <a:t>vec_ptr</a:t>
            </a:r>
            <a:r>
              <a:rPr lang="en-US" sz="1800" dirty="0">
                <a:latin typeface="Courier New" pitchFamily="49" charset="0"/>
              </a:rPr>
              <a:t> v, </a:t>
            </a:r>
            <a:r>
              <a:rPr lang="en-US" sz="1800" dirty="0" err="1">
                <a:latin typeface="Courier New" pitchFamily="49" charset="0"/>
              </a:rPr>
              <a:t>data_t</a:t>
            </a:r>
            <a:r>
              <a:rPr lang="en-US" sz="1800" dirty="0">
                <a:latin typeface="Courier New" pitchFamily="49" charset="0"/>
              </a:rPr>
              <a:t>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long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long length = </a:t>
            </a:r>
            <a:r>
              <a:rPr lang="en-US" sz="1800" dirty="0" err="1">
                <a:latin typeface="Courier New" pitchFamily="49" charset="0"/>
              </a:rPr>
              <a:t>vec_length</a:t>
            </a:r>
            <a:r>
              <a:rPr lang="en-US" sz="1800" dirty="0">
                <a:latin typeface="Courier New" pitchFamily="49" charset="0"/>
              </a:rPr>
              <a:t>(v);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data_t</a:t>
            </a:r>
            <a:r>
              <a:rPr lang="en-US" sz="1800" dirty="0">
                <a:latin typeface="Courier New" pitchFamily="49" charset="0"/>
              </a:rPr>
              <a:t> *d = </a:t>
            </a:r>
            <a:r>
              <a:rPr lang="en-US" sz="1800" dirty="0" err="1">
                <a:latin typeface="Courier New" pitchFamily="49" charset="0"/>
              </a:rPr>
              <a:t>get_vec_start</a:t>
            </a:r>
            <a:r>
              <a:rPr lang="en-US" sz="1800" dirty="0">
                <a:latin typeface="Courier New" pitchFamily="49" charset="0"/>
              </a:rPr>
              <a:t>(v);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data_t</a:t>
            </a:r>
            <a:r>
              <a:rPr lang="en-US" sz="1800" dirty="0">
                <a:latin typeface="Courier New" pitchFamily="49" charset="0"/>
              </a:rPr>
              <a:t> t = IDENT;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for (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0;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&lt; length;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++)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  t = t OP d[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 = t;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54086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Basic Optimizations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96875" y="5934076"/>
            <a:ext cx="7896225" cy="542924"/>
          </a:xfrm>
        </p:spPr>
        <p:txBody>
          <a:bodyPr/>
          <a:lstStyle/>
          <a:p>
            <a:r>
              <a:rPr lang="en-US" dirty="0"/>
              <a:t>Eliminates sources of overhead in loop</a:t>
            </a:r>
          </a:p>
        </p:txBody>
      </p:sp>
      <p:sp>
        <p:nvSpPr>
          <p:cNvPr id="775172" name="Rectangle 4"/>
          <p:cNvSpPr>
            <a:spLocks noChangeArrowheads="1"/>
          </p:cNvSpPr>
          <p:nvPr/>
        </p:nvSpPr>
        <p:spPr bwMode="auto">
          <a:xfrm>
            <a:off x="1295400" y="1331243"/>
            <a:ext cx="5421355" cy="2859757"/>
          </a:xfrm>
          <a:prstGeom prst="rect">
            <a:avLst/>
          </a:prstGeom>
          <a:solidFill>
            <a:srgbClr val="F6F5BD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void combine4(</a:t>
            </a:r>
            <a:r>
              <a:rPr lang="en-US" sz="1800" dirty="0" err="1">
                <a:latin typeface="Courier New" pitchFamily="49" charset="0"/>
              </a:rPr>
              <a:t>vec_ptr</a:t>
            </a:r>
            <a:r>
              <a:rPr lang="en-US" sz="1800" dirty="0">
                <a:latin typeface="Courier New" pitchFamily="49" charset="0"/>
              </a:rPr>
              <a:t> v, </a:t>
            </a:r>
            <a:r>
              <a:rPr lang="en-US" sz="1800" dirty="0" err="1">
                <a:latin typeface="Courier New" pitchFamily="49" charset="0"/>
              </a:rPr>
              <a:t>data_t</a:t>
            </a:r>
            <a:r>
              <a:rPr lang="en-US" sz="1800" dirty="0">
                <a:latin typeface="Courier New" pitchFamily="49" charset="0"/>
              </a:rPr>
              <a:t>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long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long length = </a:t>
            </a:r>
            <a:r>
              <a:rPr lang="en-US" sz="1800" dirty="0" err="1">
                <a:latin typeface="Courier New" pitchFamily="49" charset="0"/>
              </a:rPr>
              <a:t>vec_length</a:t>
            </a:r>
            <a:r>
              <a:rPr lang="en-US" sz="1800" dirty="0">
                <a:latin typeface="Courier New" pitchFamily="49" charset="0"/>
              </a:rPr>
              <a:t>(v);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data_t</a:t>
            </a:r>
            <a:r>
              <a:rPr lang="en-US" sz="1800" dirty="0">
                <a:latin typeface="Courier New" pitchFamily="49" charset="0"/>
              </a:rPr>
              <a:t> *d = </a:t>
            </a:r>
            <a:r>
              <a:rPr lang="en-US" sz="1800" dirty="0" err="1">
                <a:latin typeface="Courier New" pitchFamily="49" charset="0"/>
              </a:rPr>
              <a:t>get_vec_start</a:t>
            </a:r>
            <a:r>
              <a:rPr lang="en-US" sz="1800" dirty="0">
                <a:latin typeface="Courier New" pitchFamily="49" charset="0"/>
              </a:rPr>
              <a:t>(v);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data_t</a:t>
            </a:r>
            <a:r>
              <a:rPr lang="en-US" sz="1800" dirty="0">
                <a:latin typeface="Courier New" pitchFamily="49" charset="0"/>
              </a:rPr>
              <a:t> t = IDENT;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for (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0;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&lt; length;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++)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  t = t OP d[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 = t;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graphicFrame>
        <p:nvGraphicFramePr>
          <p:cNvPr id="5" name="Group 49"/>
          <p:cNvGraphicFramePr>
            <a:graphicFrameLocks noGrp="1"/>
          </p:cNvGraphicFramePr>
          <p:nvPr>
            <p:extLst/>
          </p:nvPr>
        </p:nvGraphicFramePr>
        <p:xfrm>
          <a:off x="396874" y="4267200"/>
          <a:ext cx="6003925" cy="1552575"/>
        </p:xfrm>
        <a:graphic>
          <a:graphicData uri="http://schemas.openxmlformats.org/drawingml/2006/table">
            <a:tbl>
              <a:tblPr/>
              <a:tblGrid>
                <a:gridCol w="1723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Method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Integer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Double FP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Operation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Combine1 –O1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10.12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10.12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10.17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11.14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Combine4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1.27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5.01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16316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6248"/>
            <a:ext cx="8477250" cy="572823"/>
          </a:xfrm>
          <a:effectLst>
            <a:outerShdw blurRad="63500" dist="53882" dir="2700000" algn="ctr" rotWithShape="0">
              <a:srgbClr val="96969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Machine-Independent Opt. Summary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wrap="square" lIns="90468" tIns="44441" rIns="90468" bIns="44441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itchFamily="-109" charset="2"/>
              <a:buNone/>
              <a:defRPr/>
            </a:pPr>
            <a:r>
              <a:rPr lang="en-US">
                <a:ea typeface="+mn-ea"/>
                <a:cs typeface="+mn-cs"/>
              </a:rPr>
              <a:t>Code Motion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 b="0" i="1"/>
              <a:t>Compilers are good at this for simple loop/array structures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 b="0" i="1"/>
              <a:t>Don’t do well in presence of procedure calls and memory aliasing</a:t>
            </a:r>
          </a:p>
          <a:p>
            <a:pPr eaLnBrk="1" hangingPunct="1">
              <a:buFont typeface="Wingdings" pitchFamily="-109" charset="2"/>
              <a:buNone/>
              <a:defRPr/>
            </a:pPr>
            <a:r>
              <a:rPr lang="en-US">
                <a:ea typeface="+mn-ea"/>
                <a:cs typeface="+mn-cs"/>
              </a:rPr>
              <a:t>Reduction in Strength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Shift, add instead of multiply or divide</a:t>
            </a: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 i="1"/>
              <a:t>compilers are (generally) good at this</a:t>
            </a: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 i="1"/>
              <a:t>Exact trade-offs machine-dependent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Keep data in registers rather than memory</a:t>
            </a: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 i="1"/>
              <a:t>compilers are not good at this, since concerned with aliasing</a:t>
            </a:r>
          </a:p>
          <a:p>
            <a:pPr eaLnBrk="1" hangingPunct="1">
              <a:buFont typeface="Wingdings" pitchFamily="-109" charset="2"/>
              <a:buNone/>
              <a:defRPr/>
            </a:pPr>
            <a:r>
              <a:rPr lang="en-US">
                <a:ea typeface="+mn-ea"/>
                <a:cs typeface="+mn-cs"/>
              </a:rPr>
              <a:t>Share Common Subexpressions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 b="0" i="1"/>
              <a:t>compilers have limited algebraic reasoning capabilities</a:t>
            </a:r>
          </a:p>
        </p:txBody>
      </p:sp>
    </p:spTree>
    <p:extLst>
      <p:ext uri="{BB962C8B-B14F-4D97-AF65-F5344CB8AC3E}">
        <p14:creationId xmlns:p14="http://schemas.microsoft.com/office/powerpoint/2010/main" val="393059959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Exploiting Instruction-Level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237172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Need general understanding of modern processor design</a:t>
            </a:r>
          </a:p>
          <a:p>
            <a:pPr lvl="1"/>
            <a:r>
              <a:rPr lang="en-US" dirty="0"/>
              <a:t>Hardware can execute multiple instructions in parallel</a:t>
            </a:r>
          </a:p>
          <a:p>
            <a:r>
              <a:rPr lang="en-US" dirty="0"/>
              <a:t>Performance limited by data dependencies</a:t>
            </a:r>
          </a:p>
          <a:p>
            <a:r>
              <a:rPr lang="en-US" dirty="0"/>
              <a:t>Simple transformations can yield dramatic performance improvement</a:t>
            </a:r>
          </a:p>
          <a:p>
            <a:pPr lvl="1"/>
            <a:r>
              <a:rPr lang="en-US" dirty="0"/>
              <a:t>Compilers often cannot make these transformations</a:t>
            </a:r>
          </a:p>
          <a:p>
            <a:pPr lvl="1"/>
            <a:r>
              <a:rPr lang="en-US" dirty="0"/>
              <a:t>Lack of </a:t>
            </a:r>
            <a:r>
              <a:rPr lang="en-US" dirty="0" err="1"/>
              <a:t>associativity</a:t>
            </a:r>
            <a:r>
              <a:rPr lang="en-US" dirty="0"/>
              <a:t> and </a:t>
            </a:r>
            <a:r>
              <a:rPr lang="en-US" dirty="0" err="1"/>
              <a:t>distributivity</a:t>
            </a:r>
            <a:r>
              <a:rPr lang="en-US" dirty="0"/>
              <a:t> in floating-point arithmetic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BAF3B1E-C47E-49AF-8531-CB3D06175F29}"/>
              </a:ext>
            </a:extLst>
          </p:cNvPr>
          <p:cNvGrpSpPr/>
          <p:nvPr/>
        </p:nvGrpSpPr>
        <p:grpSpPr>
          <a:xfrm>
            <a:off x="1089818" y="3657600"/>
            <a:ext cx="6510337" cy="3048000"/>
            <a:chOff x="1524000" y="4267200"/>
            <a:chExt cx="6510337" cy="3048000"/>
          </a:xfrm>
        </p:grpSpPr>
        <p:sp>
          <p:nvSpPr>
            <p:cNvPr id="38" name="Rectangle 3">
              <a:extLst>
                <a:ext uri="{FF2B5EF4-FFF2-40B4-BE49-F238E27FC236}">
                  <a16:creationId xmlns:a16="http://schemas.microsoft.com/office/drawing/2014/main" id="{383A21E6-85E8-EF4B-B35C-A03027648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4267200"/>
              <a:ext cx="6510337" cy="304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b" anchorCtr="0"/>
            <a:lstStyle/>
            <a:p>
              <a:pPr eaLnBrk="1" hangingPunct="1">
                <a:lnSpc>
                  <a:spcPct val="100000"/>
                </a:lnSpc>
                <a:defRPr/>
              </a:pPr>
              <a:r>
                <a:rPr lang="en-US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</a:rPr>
                <a:t>Execution</a:t>
              </a:r>
            </a:p>
          </p:txBody>
        </p:sp>
        <p:sp>
          <p:nvSpPr>
            <p:cNvPr id="39" name="Rectangle 4">
              <a:extLst>
                <a:ext uri="{FF2B5EF4-FFF2-40B4-BE49-F238E27FC236}">
                  <a16:creationId xmlns:a16="http://schemas.microsoft.com/office/drawing/2014/main" id="{2DC9FBC2-FA6E-FB45-A82C-748F53970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9360" y="4662160"/>
              <a:ext cx="5706052" cy="76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400" dirty="0">
                  <a:latin typeface="Calibri" pitchFamily="34" charset="0"/>
                </a:rPr>
                <a:t>Functional</a:t>
              </a:r>
            </a:p>
            <a:p>
              <a:pPr algn="r" eaLnBrk="1" hangingPunct="1">
                <a:lnSpc>
                  <a:spcPct val="100000"/>
                </a:lnSpc>
              </a:pPr>
              <a:r>
                <a:rPr lang="en-US" sz="1400" dirty="0">
                  <a:latin typeface="Calibri" pitchFamily="34" charset="0"/>
                </a:rPr>
                <a:t>Units</a:t>
              </a:r>
            </a:p>
          </p:txBody>
        </p:sp>
        <p:sp>
          <p:nvSpPr>
            <p:cNvPr id="40" name="Rectangle 6">
              <a:extLst>
                <a:ext uri="{FF2B5EF4-FFF2-40B4-BE49-F238E27FC236}">
                  <a16:creationId xmlns:a16="http://schemas.microsoft.com/office/drawing/2014/main" id="{B74B940F-7560-204D-A8AE-16E610DDE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687" y="4800600"/>
              <a:ext cx="676275" cy="457200"/>
            </a:xfrm>
            <a:prstGeom prst="rect">
              <a:avLst/>
            </a:prstGeom>
            <a:solidFill>
              <a:srgbClr val="8C404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1000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</a:rPr>
                <a:t>Branch</a:t>
              </a:r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649211B4-1ECD-8A4B-A512-ED7A7DE9E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737" y="4800600"/>
              <a:ext cx="676275" cy="457200"/>
            </a:xfrm>
            <a:prstGeom prst="rect">
              <a:avLst/>
            </a:prstGeom>
            <a:solidFill>
              <a:srgbClr val="8C404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100000"/>
                </a:lnSpc>
              </a:pPr>
              <a:r>
                <a:rPr lang="en-US" sz="1400" dirty="0" err="1">
                  <a:solidFill>
                    <a:schemeClr val="bg1"/>
                  </a:solidFill>
                  <a:latin typeface="Calibri" pitchFamily="34" charset="0"/>
                </a:rPr>
                <a:t>Arith</a:t>
              </a:r>
              <a:endParaRPr lang="en-US" sz="1400" dirty="0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0B1DE18F-4EC0-C64F-B9A0-4D044D477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850" y="4800600"/>
              <a:ext cx="674687" cy="457200"/>
            </a:xfrm>
            <a:prstGeom prst="rect">
              <a:avLst/>
            </a:prstGeom>
            <a:solidFill>
              <a:srgbClr val="8C404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100000"/>
                </a:lnSpc>
              </a:pPr>
              <a:r>
                <a:rPr lang="en-US" sz="1400" dirty="0" err="1">
                  <a:solidFill>
                    <a:schemeClr val="bg1"/>
                  </a:solidFill>
                  <a:latin typeface="Calibri" pitchFamily="34" charset="0"/>
                </a:rPr>
                <a:t>Arith</a:t>
              </a:r>
              <a:endParaRPr lang="en-US" sz="1400" dirty="0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591E04E4-359A-CE4B-8949-4F5DAC299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7" y="4800600"/>
              <a:ext cx="676275" cy="457200"/>
            </a:xfrm>
            <a:prstGeom prst="rect">
              <a:avLst/>
            </a:prstGeom>
            <a:solidFill>
              <a:srgbClr val="8C404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1000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</a:rPr>
                <a:t>Load</a:t>
              </a:r>
            </a:p>
          </p:txBody>
        </p:sp>
        <p:sp>
          <p:nvSpPr>
            <p:cNvPr id="44" name="Rectangle 10">
              <a:extLst>
                <a:ext uri="{FF2B5EF4-FFF2-40B4-BE49-F238E27FC236}">
                  <a16:creationId xmlns:a16="http://schemas.microsoft.com/office/drawing/2014/main" id="{B7608CA6-EAB0-F643-8AB7-89EAB684C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312" y="4800600"/>
              <a:ext cx="676275" cy="457200"/>
            </a:xfrm>
            <a:prstGeom prst="rect">
              <a:avLst/>
            </a:prstGeom>
            <a:solidFill>
              <a:srgbClr val="8C404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</a:rPr>
                <a:t>Store</a:t>
              </a:r>
            </a:p>
          </p:txBody>
        </p:sp>
        <p:sp>
          <p:nvSpPr>
            <p:cNvPr id="45" name="Rectangle 12">
              <a:extLst>
                <a:ext uri="{FF2B5EF4-FFF2-40B4-BE49-F238E27FC236}">
                  <a16:creationId xmlns:a16="http://schemas.microsoft.com/office/drawing/2014/main" id="{77633B70-3FD7-0645-B823-83BF9BD3B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7" y="6324600"/>
              <a:ext cx="1447800" cy="609600"/>
            </a:xfrm>
            <a:prstGeom prst="rect">
              <a:avLst/>
            </a:prstGeom>
            <a:solidFill>
              <a:srgbClr val="8C404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1000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</a:rPr>
                <a:t>Data</a:t>
              </a:r>
            </a:p>
            <a:p>
              <a:pPr algn="ctr" eaLnBrk="1" hangingPunct="1">
                <a:lnSpc>
                  <a:spcPct val="1000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</a:rPr>
                <a:t>Cache</a:t>
              </a:r>
            </a:p>
          </p:txBody>
        </p:sp>
        <p:sp>
          <p:nvSpPr>
            <p:cNvPr id="46" name="Line 19">
              <a:extLst>
                <a:ext uri="{FF2B5EF4-FFF2-40B4-BE49-F238E27FC236}">
                  <a16:creationId xmlns:a16="http://schemas.microsoft.com/office/drawing/2014/main" id="{592348F1-9A2C-7C46-B831-9722E778966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45062" y="5791200"/>
              <a:ext cx="106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47" name="Line 20">
              <a:extLst>
                <a:ext uri="{FF2B5EF4-FFF2-40B4-BE49-F238E27FC236}">
                  <a16:creationId xmlns:a16="http://schemas.microsoft.com/office/drawing/2014/main" id="{5246A055-C0CD-AD40-B2DA-9AE61EB8284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5235575" y="5791200"/>
              <a:ext cx="106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48" name="Line 21">
              <a:extLst>
                <a:ext uri="{FF2B5EF4-FFF2-40B4-BE49-F238E27FC236}">
                  <a16:creationId xmlns:a16="http://schemas.microsoft.com/office/drawing/2014/main" id="{F37D1787-A8DB-D24A-9FE4-F05FED4A6CB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716587" y="5791200"/>
              <a:ext cx="106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49" name="Line 22">
              <a:extLst>
                <a:ext uri="{FF2B5EF4-FFF2-40B4-BE49-F238E27FC236}">
                  <a16:creationId xmlns:a16="http://schemas.microsoft.com/office/drawing/2014/main" id="{3EE94076-7E86-E542-83CE-91DF3809838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005512" y="5791200"/>
              <a:ext cx="106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50" name="Text Box 27">
              <a:extLst>
                <a:ext uri="{FF2B5EF4-FFF2-40B4-BE49-F238E27FC236}">
                  <a16:creationId xmlns:a16="http://schemas.microsoft.com/office/drawing/2014/main" id="{995754FD-51D9-0A42-904A-D3DCB05623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7637" y="6002179"/>
              <a:ext cx="43473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100000"/>
                </a:lnSpc>
              </a:pPr>
              <a:r>
                <a:rPr lang="en-US" sz="1000" dirty="0">
                  <a:latin typeface="Calibri" pitchFamily="34" charset="0"/>
                </a:rPr>
                <a:t>Data</a:t>
              </a:r>
            </a:p>
          </p:txBody>
        </p:sp>
        <p:sp>
          <p:nvSpPr>
            <p:cNvPr id="51" name="Text Box 28">
              <a:extLst>
                <a:ext uri="{FF2B5EF4-FFF2-40B4-BE49-F238E27FC236}">
                  <a16:creationId xmlns:a16="http://schemas.microsoft.com/office/drawing/2014/main" id="{5E44C97E-8E29-724E-9404-18E1408428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7900" y="6019800"/>
              <a:ext cx="43473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100000"/>
                </a:lnSpc>
              </a:pPr>
              <a:r>
                <a:rPr lang="en-US" sz="1000" dirty="0">
                  <a:latin typeface="Calibri" pitchFamily="34" charset="0"/>
                </a:rPr>
                <a:t>Data</a:t>
              </a:r>
            </a:p>
          </p:txBody>
        </p:sp>
        <p:sp>
          <p:nvSpPr>
            <p:cNvPr id="52" name="Text Box 29">
              <a:extLst>
                <a:ext uri="{FF2B5EF4-FFF2-40B4-BE49-F238E27FC236}">
                  <a16:creationId xmlns:a16="http://schemas.microsoft.com/office/drawing/2014/main" id="{7A92E001-69F6-8E41-807F-A1922AF87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6544" y="5773579"/>
              <a:ext cx="478016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100000"/>
                </a:lnSpc>
              </a:pPr>
              <a:r>
                <a:rPr lang="en-US" sz="1000" dirty="0" err="1">
                  <a:latin typeface="Calibri" pitchFamily="34" charset="0"/>
                </a:rPr>
                <a:t>Addr</a:t>
              </a:r>
              <a:r>
                <a:rPr lang="en-US" sz="1000" dirty="0">
                  <a:latin typeface="Calibri" pitchFamily="34" charset="0"/>
                </a:rPr>
                <a:t>.</a:t>
              </a:r>
            </a:p>
          </p:txBody>
        </p:sp>
        <p:sp>
          <p:nvSpPr>
            <p:cNvPr id="53" name="Text Box 30">
              <a:extLst>
                <a:ext uri="{FF2B5EF4-FFF2-40B4-BE49-F238E27FC236}">
                  <a16:creationId xmlns:a16="http://schemas.microsoft.com/office/drawing/2014/main" id="{72B3C2E0-C0FD-0F4E-9BD2-3FE0DE6C9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5400" y="5773579"/>
              <a:ext cx="478016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100000"/>
                </a:lnSpc>
              </a:pPr>
              <a:r>
                <a:rPr lang="en-US" sz="1000" dirty="0" err="1">
                  <a:latin typeface="Calibri" pitchFamily="34" charset="0"/>
                </a:rPr>
                <a:t>Addr</a:t>
              </a:r>
              <a:r>
                <a:rPr lang="en-US" sz="1000" dirty="0">
                  <a:latin typeface="Calibri" pitchFamily="34" charset="0"/>
                </a:rPr>
                <a:t>.</a:t>
              </a:r>
            </a:p>
          </p:txBody>
        </p:sp>
        <p:sp>
          <p:nvSpPr>
            <p:cNvPr id="54" name="Line 31">
              <a:extLst>
                <a:ext uri="{FF2B5EF4-FFF2-40B4-BE49-F238E27FC236}">
                  <a16:creationId xmlns:a16="http://schemas.microsoft.com/office/drawing/2014/main" id="{041CFFB4-396D-3343-8551-EDE4C21AB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5135" y="4572000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55" name="Line 32">
              <a:extLst>
                <a:ext uri="{FF2B5EF4-FFF2-40B4-BE49-F238E27FC236}">
                  <a16:creationId xmlns:a16="http://schemas.microsoft.com/office/drawing/2014/main" id="{4983F29D-3ADD-A645-8AC3-E3669D2A3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9772" y="4572000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56" name="Line 33">
              <a:extLst>
                <a:ext uri="{FF2B5EF4-FFF2-40B4-BE49-F238E27FC236}">
                  <a16:creationId xmlns:a16="http://schemas.microsoft.com/office/drawing/2014/main" id="{EE73A462-B253-C942-9233-4AD47FE8D5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9710" y="4572000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57" name="Line 34">
              <a:extLst>
                <a:ext uri="{FF2B5EF4-FFF2-40B4-BE49-F238E27FC236}">
                  <a16:creationId xmlns:a16="http://schemas.microsoft.com/office/drawing/2014/main" id="{6E821B89-033B-014C-898F-68C57ED17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2822" y="4572000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58" name="Line 35">
              <a:extLst>
                <a:ext uri="{FF2B5EF4-FFF2-40B4-BE49-F238E27FC236}">
                  <a16:creationId xmlns:a16="http://schemas.microsoft.com/office/drawing/2014/main" id="{11A25088-D76E-6041-A39E-44322A2625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2760" y="4572000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59" name="Line 36">
              <a:extLst>
                <a:ext uri="{FF2B5EF4-FFF2-40B4-BE49-F238E27FC236}">
                  <a16:creationId xmlns:a16="http://schemas.microsoft.com/office/drawing/2014/main" id="{F5EE7063-BA1C-7149-BC16-EEA9B15D92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5135" y="4572000"/>
              <a:ext cx="3857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60" name="Rectangle 37">
              <a:extLst>
                <a:ext uri="{FF2B5EF4-FFF2-40B4-BE49-F238E27FC236}">
                  <a16:creationId xmlns:a16="http://schemas.microsoft.com/office/drawing/2014/main" id="{005428F8-33FA-974D-8F92-656562710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4800600"/>
              <a:ext cx="673100" cy="457200"/>
            </a:xfrm>
            <a:prstGeom prst="rect">
              <a:avLst/>
            </a:prstGeom>
            <a:solidFill>
              <a:srgbClr val="8C404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100000"/>
                </a:lnSpc>
              </a:pPr>
              <a:r>
                <a:rPr lang="en-US" sz="1400" dirty="0" err="1">
                  <a:solidFill>
                    <a:schemeClr val="bg1"/>
                  </a:solidFill>
                  <a:latin typeface="Calibri" pitchFamily="34" charset="0"/>
                </a:rPr>
                <a:t>Arith</a:t>
              </a:r>
              <a:endParaRPr lang="en-US" sz="1400" dirty="0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sp>
          <p:nvSpPr>
            <p:cNvPr id="61" name="Line 38">
              <a:extLst>
                <a:ext uri="{FF2B5EF4-FFF2-40B4-BE49-F238E27FC236}">
                  <a16:creationId xmlns:a16="http://schemas.microsoft.com/office/drawing/2014/main" id="{92A8069A-D5FD-E540-86E8-48BA0B9ED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6660" y="4572000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62" name="Line 39">
              <a:extLst>
                <a:ext uri="{FF2B5EF4-FFF2-40B4-BE49-F238E27FC236}">
                  <a16:creationId xmlns:a16="http://schemas.microsoft.com/office/drawing/2014/main" id="{71AAAF53-1805-7444-A727-C5147FD6E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7675" y="5638800"/>
              <a:ext cx="52146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grpSp>
          <p:nvGrpSpPr>
            <p:cNvPr id="63" name="Group 40">
              <a:extLst>
                <a:ext uri="{FF2B5EF4-FFF2-40B4-BE49-F238E27FC236}">
                  <a16:creationId xmlns:a16="http://schemas.microsoft.com/office/drawing/2014/main" id="{A24C64F2-727C-394F-B3C1-9BCD49E332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9200" y="5257800"/>
              <a:ext cx="3857625" cy="381000"/>
              <a:chOff x="768" y="2016"/>
              <a:chExt cx="1920" cy="144"/>
            </a:xfrm>
          </p:grpSpPr>
          <p:sp>
            <p:nvSpPr>
              <p:cNvPr id="64" name="Line 41">
                <a:extLst>
                  <a:ext uri="{FF2B5EF4-FFF2-40B4-BE49-F238E27FC236}">
                    <a16:creationId xmlns:a16="http://schemas.microsoft.com/office/drawing/2014/main" id="{CC87CC15-C71E-5F43-B226-1A7F6A63ED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01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5" name="Line 42">
                <a:extLst>
                  <a:ext uri="{FF2B5EF4-FFF2-40B4-BE49-F238E27FC236}">
                    <a16:creationId xmlns:a16="http://schemas.microsoft.com/office/drawing/2014/main" id="{D0CF64F1-9A4F-7949-91BA-7EE39D3784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01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6" name="Line 43">
                <a:extLst>
                  <a:ext uri="{FF2B5EF4-FFF2-40B4-BE49-F238E27FC236}">
                    <a16:creationId xmlns:a16="http://schemas.microsoft.com/office/drawing/2014/main" id="{086A276D-8DB9-A44B-8B0E-22F9E14982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01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7" name="Line 44">
                <a:extLst>
                  <a:ext uri="{FF2B5EF4-FFF2-40B4-BE49-F238E27FC236}">
                    <a16:creationId xmlns:a16="http://schemas.microsoft.com/office/drawing/2014/main" id="{1CFEAAA8-B7CF-3540-8E82-4407FC664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201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8" name="Line 45">
                <a:extLst>
                  <a:ext uri="{FF2B5EF4-FFF2-40B4-BE49-F238E27FC236}">
                    <a16:creationId xmlns:a16="http://schemas.microsoft.com/office/drawing/2014/main" id="{3A8B681C-9843-5541-859F-B0BB4F5F93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201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9" name="Line 46">
                <a:extLst>
                  <a:ext uri="{FF2B5EF4-FFF2-40B4-BE49-F238E27FC236}">
                    <a16:creationId xmlns:a16="http://schemas.microsoft.com/office/drawing/2014/main" id="{C45CB496-1F5B-8645-8D81-15308A726E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201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0" name="Rectangle 47">
              <a:extLst>
                <a:ext uri="{FF2B5EF4-FFF2-40B4-BE49-F238E27FC236}">
                  <a16:creationId xmlns:a16="http://schemas.microsoft.com/office/drawing/2014/main" id="{65B0C0C5-4A64-B54A-B10D-178DE76E7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125" y="5591175"/>
              <a:ext cx="1514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dirty="0">
                  <a:latin typeface="Calibri" pitchFamily="34" charset="0"/>
                </a:rPr>
                <a:t>Operation Results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5862638" cy="573087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Modern CPU Design</a:t>
            </a:r>
          </a:p>
        </p:txBody>
      </p:sp>
      <p:sp>
        <p:nvSpPr>
          <p:cNvPr id="421891" name="Rectangle 3"/>
          <p:cNvSpPr>
            <a:spLocks noChangeArrowheads="1"/>
          </p:cNvSpPr>
          <p:nvPr/>
        </p:nvSpPr>
        <p:spPr bwMode="auto">
          <a:xfrm>
            <a:off x="1542040" y="3276600"/>
            <a:ext cx="6510337" cy="30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b" anchorCtr="0"/>
          <a:lstStyle/>
          <a:p>
            <a:pPr eaLnBrk="1" hangingPunct="1">
              <a:lnSpc>
                <a:spcPct val="100000"/>
              </a:lnSpc>
              <a:defRPr/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Execution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2057400" y="3671560"/>
            <a:ext cx="5706052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Functional</a:t>
            </a:r>
          </a:p>
          <a:p>
            <a:pPr algn="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Units</a:t>
            </a:r>
          </a:p>
        </p:txBody>
      </p:sp>
      <p:sp>
        <p:nvSpPr>
          <p:cNvPr id="421893" name="Rectangle 5"/>
          <p:cNvSpPr>
            <a:spLocks noChangeArrowheads="1"/>
          </p:cNvSpPr>
          <p:nvPr/>
        </p:nvSpPr>
        <p:spPr bwMode="auto">
          <a:xfrm>
            <a:off x="1542040" y="990600"/>
            <a:ext cx="6510337" cy="1905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t" anchorCtr="0"/>
          <a:lstStyle/>
          <a:p>
            <a:pPr eaLnBrk="1" hangingPunct="1">
              <a:lnSpc>
                <a:spcPct val="100000"/>
              </a:lnSpc>
              <a:defRPr/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Instruction Control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2216727" y="3810000"/>
            <a:ext cx="676275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Branch</a:t>
            </a: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3759777" y="3810000"/>
            <a:ext cx="676275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</a:rPr>
              <a:t>Arith</a:t>
            </a:r>
            <a:endParaRPr lang="en-US" sz="1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4532890" y="3810000"/>
            <a:ext cx="674687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</a:rPr>
              <a:t>Arith</a:t>
            </a:r>
            <a:endParaRPr lang="en-US" sz="1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5302827" y="3810000"/>
            <a:ext cx="676275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Load</a:t>
            </a:r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6074352" y="3810000"/>
            <a:ext cx="676275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Store</a:t>
            </a:r>
          </a:p>
        </p:txBody>
      </p:sp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6460115" y="1447800"/>
            <a:ext cx="1303337" cy="11430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Instruction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Cache</a:t>
            </a:r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5302827" y="5334000"/>
            <a:ext cx="1447800" cy="6096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Data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Cache</a:t>
            </a:r>
          </a:p>
        </p:txBody>
      </p: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4242377" y="1447800"/>
            <a:ext cx="1157288" cy="5334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Fetch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Control</a:t>
            </a:r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4242377" y="2057400"/>
            <a:ext cx="1157288" cy="5334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Instruction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Decode</a:t>
            </a:r>
          </a:p>
        </p:txBody>
      </p:sp>
      <p:sp>
        <p:nvSpPr>
          <p:cNvPr id="11279" name="Line 15"/>
          <p:cNvSpPr>
            <a:spLocks noChangeShapeType="1"/>
          </p:cNvSpPr>
          <p:nvPr/>
        </p:nvSpPr>
        <p:spPr bwMode="auto">
          <a:xfrm>
            <a:off x="5399665" y="1719530"/>
            <a:ext cx="10604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0" name="Line 16"/>
          <p:cNvSpPr>
            <a:spLocks noChangeShapeType="1"/>
          </p:cNvSpPr>
          <p:nvPr/>
        </p:nvSpPr>
        <p:spPr bwMode="auto">
          <a:xfrm flipH="1">
            <a:off x="5399665" y="2334280"/>
            <a:ext cx="10604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1" name="Line 17"/>
          <p:cNvSpPr>
            <a:spLocks noChangeShapeType="1"/>
          </p:cNvSpPr>
          <p:nvPr/>
        </p:nvSpPr>
        <p:spPr bwMode="auto">
          <a:xfrm>
            <a:off x="4820227" y="25908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2" name="Freeform 18"/>
          <p:cNvSpPr>
            <a:spLocks/>
          </p:cNvSpPr>
          <p:nvPr/>
        </p:nvSpPr>
        <p:spPr bwMode="auto">
          <a:xfrm flipH="1">
            <a:off x="2313565" y="1524000"/>
            <a:ext cx="1928812" cy="2286000"/>
          </a:xfrm>
          <a:custGeom>
            <a:avLst/>
            <a:gdLst>
              <a:gd name="T0" fmla="*/ 0 w 144"/>
              <a:gd name="T1" fmla="*/ 0 h 864"/>
              <a:gd name="T2" fmla="*/ 144 w 144"/>
              <a:gd name="T3" fmla="*/ 0 h 864"/>
              <a:gd name="T4" fmla="*/ 144 w 144"/>
              <a:gd name="T5" fmla="*/ 864 h 864"/>
              <a:gd name="T6" fmla="*/ 0 60000 65536"/>
              <a:gd name="T7" fmla="*/ 0 60000 65536"/>
              <a:gd name="T8" fmla="*/ 0 60000 65536"/>
              <a:gd name="T9" fmla="*/ 0 w 144"/>
              <a:gd name="T10" fmla="*/ 0 h 864"/>
              <a:gd name="T11" fmla="*/ 144 w 144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864">
                <a:moveTo>
                  <a:pt x="0" y="0"/>
                </a:moveTo>
                <a:lnTo>
                  <a:pt x="144" y="0"/>
                </a:lnTo>
                <a:lnTo>
                  <a:pt x="144" y="864"/>
                </a:lnTo>
              </a:path>
            </a:pathLst>
          </a:custGeom>
          <a:noFill/>
          <a:ln w="28575">
            <a:solidFill>
              <a:schemeClr val="tx1"/>
            </a:solidFill>
            <a:prstDash val="sysDot"/>
            <a:round/>
            <a:headEnd type="triangle" w="med" len="med"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3" name="Line 19"/>
          <p:cNvSpPr>
            <a:spLocks noChangeShapeType="1"/>
          </p:cNvSpPr>
          <p:nvPr/>
        </p:nvSpPr>
        <p:spPr bwMode="auto">
          <a:xfrm rot="5400000">
            <a:off x="4963102" y="48006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4" name="Line 20"/>
          <p:cNvSpPr>
            <a:spLocks noChangeShapeType="1"/>
          </p:cNvSpPr>
          <p:nvPr/>
        </p:nvSpPr>
        <p:spPr bwMode="auto">
          <a:xfrm rot="16200000" flipV="1">
            <a:off x="5253615" y="48006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5" name="Line 21"/>
          <p:cNvSpPr>
            <a:spLocks noChangeShapeType="1"/>
          </p:cNvSpPr>
          <p:nvPr/>
        </p:nvSpPr>
        <p:spPr bwMode="auto">
          <a:xfrm rot="5400000">
            <a:off x="5734627" y="48006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6" name="Line 22"/>
          <p:cNvSpPr>
            <a:spLocks noChangeShapeType="1"/>
          </p:cNvSpPr>
          <p:nvPr/>
        </p:nvSpPr>
        <p:spPr bwMode="auto">
          <a:xfrm rot="5400000">
            <a:off x="6023552" y="48006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5514320" y="1444823"/>
            <a:ext cx="7822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Address</a:t>
            </a:r>
          </a:p>
        </p:txBody>
      </p:sp>
      <p:sp>
        <p:nvSpPr>
          <p:cNvPr id="11288" name="Text Box 24"/>
          <p:cNvSpPr txBox="1">
            <a:spLocks noChangeArrowheads="1"/>
          </p:cNvSpPr>
          <p:nvPr/>
        </p:nvSpPr>
        <p:spPr bwMode="auto">
          <a:xfrm>
            <a:off x="5410200" y="2057400"/>
            <a:ext cx="10691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Instructions</a:t>
            </a:r>
          </a:p>
        </p:txBody>
      </p:sp>
      <p:sp>
        <p:nvSpPr>
          <p:cNvPr id="11289" name="Text Box 25"/>
          <p:cNvSpPr txBox="1">
            <a:spLocks noChangeArrowheads="1"/>
          </p:cNvSpPr>
          <p:nvPr/>
        </p:nvSpPr>
        <p:spPr bwMode="auto">
          <a:xfrm>
            <a:off x="4800600" y="2587823"/>
            <a:ext cx="101098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Operations</a:t>
            </a:r>
          </a:p>
        </p:txBody>
      </p:sp>
      <p:sp>
        <p:nvSpPr>
          <p:cNvPr id="11290" name="Text Box 26"/>
          <p:cNvSpPr txBox="1">
            <a:spLocks noChangeArrowheads="1"/>
          </p:cNvSpPr>
          <p:nvPr/>
        </p:nvSpPr>
        <p:spPr bwMode="auto">
          <a:xfrm>
            <a:off x="2286000" y="2937480"/>
            <a:ext cx="129195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Prediction OK?</a:t>
            </a:r>
          </a:p>
        </p:txBody>
      </p:sp>
      <p:sp>
        <p:nvSpPr>
          <p:cNvPr id="11291" name="Text Box 27"/>
          <p:cNvSpPr txBox="1">
            <a:spLocks noChangeArrowheads="1"/>
          </p:cNvSpPr>
          <p:nvPr/>
        </p:nvSpPr>
        <p:spPr bwMode="auto">
          <a:xfrm>
            <a:off x="6515677" y="5011579"/>
            <a:ext cx="43473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000" dirty="0">
                <a:latin typeface="Calibri" pitchFamily="34" charset="0"/>
              </a:rPr>
              <a:t>Data</a:t>
            </a:r>
          </a:p>
        </p:txBody>
      </p:sp>
      <p:sp>
        <p:nvSpPr>
          <p:cNvPr id="11292" name="Text Box 28"/>
          <p:cNvSpPr txBox="1">
            <a:spLocks noChangeArrowheads="1"/>
          </p:cNvSpPr>
          <p:nvPr/>
        </p:nvSpPr>
        <p:spPr bwMode="auto">
          <a:xfrm>
            <a:off x="5735940" y="5029200"/>
            <a:ext cx="43473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000" dirty="0">
                <a:latin typeface="Calibri" pitchFamily="34" charset="0"/>
              </a:rPr>
              <a:t>Data</a:t>
            </a:r>
          </a:p>
        </p:txBody>
      </p:sp>
      <p:sp>
        <p:nvSpPr>
          <p:cNvPr id="11293" name="Text Box 29"/>
          <p:cNvSpPr txBox="1">
            <a:spLocks noChangeArrowheads="1"/>
          </p:cNvSpPr>
          <p:nvPr/>
        </p:nvSpPr>
        <p:spPr bwMode="auto">
          <a:xfrm>
            <a:off x="5084584" y="4782979"/>
            <a:ext cx="47801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000" dirty="0" err="1">
                <a:latin typeface="Calibri" pitchFamily="34" charset="0"/>
              </a:rPr>
              <a:t>Addr</a:t>
            </a:r>
            <a:r>
              <a:rPr lang="en-US" sz="1000" dirty="0">
                <a:latin typeface="Calibri" pitchFamily="34" charset="0"/>
              </a:rPr>
              <a:t>.</a:t>
            </a:r>
          </a:p>
        </p:txBody>
      </p:sp>
      <p:sp>
        <p:nvSpPr>
          <p:cNvPr id="11294" name="Text Box 30"/>
          <p:cNvSpPr txBox="1">
            <a:spLocks noChangeArrowheads="1"/>
          </p:cNvSpPr>
          <p:nvPr/>
        </p:nvSpPr>
        <p:spPr bwMode="auto">
          <a:xfrm>
            <a:off x="5853440" y="4782979"/>
            <a:ext cx="47801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000" dirty="0" err="1">
                <a:latin typeface="Calibri" pitchFamily="34" charset="0"/>
              </a:rPr>
              <a:t>Addr</a:t>
            </a:r>
            <a:r>
              <a:rPr lang="en-US" sz="1000" dirty="0">
                <a:latin typeface="Calibri" pitchFamily="34" charset="0"/>
              </a:rPr>
              <a:t>.</a:t>
            </a:r>
          </a:p>
        </p:txBody>
      </p:sp>
      <p:sp>
        <p:nvSpPr>
          <p:cNvPr id="11295" name="Line 31"/>
          <p:cNvSpPr>
            <a:spLocks noChangeShapeType="1"/>
          </p:cNvSpPr>
          <p:nvPr/>
        </p:nvSpPr>
        <p:spPr bwMode="auto">
          <a:xfrm>
            <a:off x="2543175" y="3581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96" name="Line 32"/>
          <p:cNvSpPr>
            <a:spLocks noChangeShapeType="1"/>
          </p:cNvSpPr>
          <p:nvPr/>
        </p:nvSpPr>
        <p:spPr bwMode="auto">
          <a:xfrm>
            <a:off x="4087812" y="3581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97" name="Line 33"/>
          <p:cNvSpPr>
            <a:spLocks noChangeShapeType="1"/>
          </p:cNvSpPr>
          <p:nvPr/>
        </p:nvSpPr>
        <p:spPr bwMode="auto">
          <a:xfrm>
            <a:off x="4857750" y="3581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98" name="Line 34"/>
          <p:cNvSpPr>
            <a:spLocks noChangeShapeType="1"/>
          </p:cNvSpPr>
          <p:nvPr/>
        </p:nvSpPr>
        <p:spPr bwMode="auto">
          <a:xfrm>
            <a:off x="5630862" y="3581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99" name="Line 35"/>
          <p:cNvSpPr>
            <a:spLocks noChangeShapeType="1"/>
          </p:cNvSpPr>
          <p:nvPr/>
        </p:nvSpPr>
        <p:spPr bwMode="auto">
          <a:xfrm>
            <a:off x="6400800" y="3581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00" name="Line 36"/>
          <p:cNvSpPr>
            <a:spLocks noChangeShapeType="1"/>
          </p:cNvSpPr>
          <p:nvPr/>
        </p:nvSpPr>
        <p:spPr bwMode="auto">
          <a:xfrm>
            <a:off x="2543175" y="3581400"/>
            <a:ext cx="3857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01" name="Rectangle 37"/>
          <p:cNvSpPr>
            <a:spLocks noChangeArrowheads="1"/>
          </p:cNvSpPr>
          <p:nvPr/>
        </p:nvSpPr>
        <p:spPr bwMode="auto">
          <a:xfrm>
            <a:off x="2989840" y="3810000"/>
            <a:ext cx="673100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</a:rPr>
              <a:t>Arith</a:t>
            </a:r>
            <a:endParaRPr lang="en-US" sz="1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1302" name="Line 38"/>
          <p:cNvSpPr>
            <a:spLocks noChangeShapeType="1"/>
          </p:cNvSpPr>
          <p:nvPr/>
        </p:nvSpPr>
        <p:spPr bwMode="auto">
          <a:xfrm>
            <a:off x="3314700" y="3581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03" name="Line 39"/>
          <p:cNvSpPr>
            <a:spLocks noChangeShapeType="1"/>
          </p:cNvSpPr>
          <p:nvPr/>
        </p:nvSpPr>
        <p:spPr bwMode="auto">
          <a:xfrm>
            <a:off x="1735715" y="4648200"/>
            <a:ext cx="521469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2507240" y="4267200"/>
            <a:ext cx="3857625" cy="381000"/>
            <a:chOff x="768" y="2016"/>
            <a:chExt cx="1920" cy="144"/>
          </a:xfrm>
        </p:grpSpPr>
        <p:sp>
          <p:nvSpPr>
            <p:cNvPr id="11313" name="Line 41"/>
            <p:cNvSpPr>
              <a:spLocks noChangeShapeType="1"/>
            </p:cNvSpPr>
            <p:nvPr/>
          </p:nvSpPr>
          <p:spPr bwMode="auto">
            <a:xfrm>
              <a:off x="768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1314" name="Line 42"/>
            <p:cNvSpPr>
              <a:spLocks noChangeShapeType="1"/>
            </p:cNvSpPr>
            <p:nvPr/>
          </p:nvSpPr>
          <p:spPr bwMode="auto">
            <a:xfrm>
              <a:off x="1536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1315" name="Line 43"/>
            <p:cNvSpPr>
              <a:spLocks noChangeShapeType="1"/>
            </p:cNvSpPr>
            <p:nvPr/>
          </p:nvSpPr>
          <p:spPr bwMode="auto">
            <a:xfrm>
              <a:off x="1920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1316" name="Line 44"/>
            <p:cNvSpPr>
              <a:spLocks noChangeShapeType="1"/>
            </p:cNvSpPr>
            <p:nvPr/>
          </p:nvSpPr>
          <p:spPr bwMode="auto">
            <a:xfrm>
              <a:off x="2304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1317" name="Line 45"/>
            <p:cNvSpPr>
              <a:spLocks noChangeShapeType="1"/>
            </p:cNvSpPr>
            <p:nvPr/>
          </p:nvSpPr>
          <p:spPr bwMode="auto">
            <a:xfrm>
              <a:off x="2688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1318" name="Line 46"/>
            <p:cNvSpPr>
              <a:spLocks noChangeShapeType="1"/>
            </p:cNvSpPr>
            <p:nvPr/>
          </p:nvSpPr>
          <p:spPr bwMode="auto">
            <a:xfrm>
              <a:off x="1152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1305" name="Rectangle 47"/>
          <p:cNvSpPr>
            <a:spLocks noChangeArrowheads="1"/>
          </p:cNvSpPr>
          <p:nvPr/>
        </p:nvSpPr>
        <p:spPr bwMode="auto">
          <a:xfrm>
            <a:off x="2796165" y="4600575"/>
            <a:ext cx="15149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Operation Results</a:t>
            </a:r>
          </a:p>
        </p:txBody>
      </p:sp>
      <p:sp>
        <p:nvSpPr>
          <p:cNvPr id="11306" name="Rectangle 48"/>
          <p:cNvSpPr>
            <a:spLocks noChangeArrowheads="1"/>
          </p:cNvSpPr>
          <p:nvPr/>
        </p:nvSpPr>
        <p:spPr bwMode="auto">
          <a:xfrm>
            <a:off x="2796165" y="1600200"/>
            <a:ext cx="1157287" cy="9906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Retirement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Unit</a:t>
            </a:r>
          </a:p>
        </p:txBody>
      </p:sp>
      <p:sp>
        <p:nvSpPr>
          <p:cNvPr id="11307" name="Rectangle 49"/>
          <p:cNvSpPr>
            <a:spLocks noChangeArrowheads="1"/>
          </p:cNvSpPr>
          <p:nvPr/>
        </p:nvSpPr>
        <p:spPr bwMode="auto">
          <a:xfrm>
            <a:off x="2989840" y="2057400"/>
            <a:ext cx="769937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Register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File</a:t>
            </a:r>
          </a:p>
        </p:txBody>
      </p:sp>
      <p:sp>
        <p:nvSpPr>
          <p:cNvPr id="11308" name="Line 50"/>
          <p:cNvSpPr>
            <a:spLocks noChangeShapeType="1"/>
          </p:cNvSpPr>
          <p:nvPr/>
        </p:nvSpPr>
        <p:spPr bwMode="auto">
          <a:xfrm>
            <a:off x="2313565" y="1981200"/>
            <a:ext cx="482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09" name="Freeform 51"/>
          <p:cNvSpPr>
            <a:spLocks/>
          </p:cNvSpPr>
          <p:nvPr/>
        </p:nvSpPr>
        <p:spPr bwMode="auto">
          <a:xfrm flipH="1">
            <a:off x="1904999" y="2438400"/>
            <a:ext cx="891166" cy="2209800"/>
          </a:xfrm>
          <a:custGeom>
            <a:avLst/>
            <a:gdLst>
              <a:gd name="T0" fmla="*/ 0 w 144"/>
              <a:gd name="T1" fmla="*/ 0 h 864"/>
              <a:gd name="T2" fmla="*/ 144 w 144"/>
              <a:gd name="T3" fmla="*/ 0 h 864"/>
              <a:gd name="T4" fmla="*/ 144 w 144"/>
              <a:gd name="T5" fmla="*/ 864 h 864"/>
              <a:gd name="T6" fmla="*/ 0 60000 65536"/>
              <a:gd name="T7" fmla="*/ 0 60000 65536"/>
              <a:gd name="T8" fmla="*/ 0 60000 65536"/>
              <a:gd name="T9" fmla="*/ 0 w 144"/>
              <a:gd name="T10" fmla="*/ 0 h 864"/>
              <a:gd name="T11" fmla="*/ 144 w 144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864">
                <a:moveTo>
                  <a:pt x="0" y="0"/>
                </a:moveTo>
                <a:lnTo>
                  <a:pt x="144" y="0"/>
                </a:lnTo>
                <a:lnTo>
                  <a:pt x="144" y="864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10" name="Text Box 52"/>
          <p:cNvSpPr txBox="1">
            <a:spLocks noChangeArrowheads="1"/>
          </p:cNvSpPr>
          <p:nvPr/>
        </p:nvSpPr>
        <p:spPr bwMode="auto">
          <a:xfrm>
            <a:off x="457200" y="2930500"/>
            <a:ext cx="144520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Register Updates</a:t>
            </a:r>
          </a:p>
        </p:txBody>
      </p:sp>
      <p:sp>
        <p:nvSpPr>
          <p:cNvPr id="11311" name="Line 53"/>
          <p:cNvSpPr>
            <a:spLocks noChangeShapeType="1"/>
          </p:cNvSpPr>
          <p:nvPr/>
        </p:nvSpPr>
        <p:spPr bwMode="auto">
          <a:xfrm>
            <a:off x="3759777" y="2286000"/>
            <a:ext cx="48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12" name="Freeform 54"/>
          <p:cNvSpPr>
            <a:spLocks/>
          </p:cNvSpPr>
          <p:nvPr/>
        </p:nvSpPr>
        <p:spPr bwMode="auto">
          <a:xfrm>
            <a:off x="3856615" y="2590800"/>
            <a:ext cx="963612" cy="228600"/>
          </a:xfrm>
          <a:custGeom>
            <a:avLst/>
            <a:gdLst>
              <a:gd name="T0" fmla="*/ 480 w 480"/>
              <a:gd name="T1" fmla="*/ 144 h 144"/>
              <a:gd name="T2" fmla="*/ 0 w 480"/>
              <a:gd name="T3" fmla="*/ 144 h 144"/>
              <a:gd name="T4" fmla="*/ 0 w 480"/>
              <a:gd name="T5" fmla="*/ 0 h 144"/>
              <a:gd name="T6" fmla="*/ 0 60000 65536"/>
              <a:gd name="T7" fmla="*/ 0 60000 65536"/>
              <a:gd name="T8" fmla="*/ 0 60000 65536"/>
              <a:gd name="T9" fmla="*/ 0 w 480"/>
              <a:gd name="T10" fmla="*/ 0 h 144"/>
              <a:gd name="T11" fmla="*/ 480 w 48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144">
                <a:moveTo>
                  <a:pt x="480" y="144"/>
                </a:moveTo>
                <a:lnTo>
                  <a:pt x="0" y="144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28908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Superscalar Processor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990000"/>
                </a:solidFill>
              </a:rPr>
              <a:t>Definition:</a:t>
            </a:r>
            <a:r>
              <a:rPr lang="en-US" dirty="0"/>
              <a:t> A superscalar processor can issue and execute </a:t>
            </a:r>
            <a:r>
              <a:rPr lang="en-US" i="1" dirty="0">
                <a:solidFill>
                  <a:srgbClr val="990000"/>
                </a:solidFill>
              </a:rPr>
              <a:t>multiple instructions in one cycle</a:t>
            </a:r>
            <a:r>
              <a:rPr lang="en-US" dirty="0"/>
              <a:t>. The instructions are retrieved from a sequential instruction stream and are usually scheduled dynamically.</a:t>
            </a:r>
          </a:p>
          <a:p>
            <a:endParaRPr lang="en-US" dirty="0"/>
          </a:p>
          <a:p>
            <a:r>
              <a:rPr lang="en-US" dirty="0"/>
              <a:t>Benefit: without programming effort, superscalar processor can take advantage of the </a:t>
            </a:r>
            <a:r>
              <a:rPr lang="en-US" i="1" dirty="0">
                <a:solidFill>
                  <a:srgbClr val="990000"/>
                </a:solidFill>
              </a:rPr>
              <a:t>instruction level parallelism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/>
              <a:t>that most programs have</a:t>
            </a:r>
          </a:p>
          <a:p>
            <a:endParaRPr lang="en-US" dirty="0"/>
          </a:p>
          <a:p>
            <a:r>
              <a:rPr lang="en-US" dirty="0"/>
              <a:t>Most modern CPUs are superscalar.</a:t>
            </a:r>
          </a:p>
          <a:p>
            <a:r>
              <a:rPr lang="en-US" dirty="0"/>
              <a:t>Intel: since Pentium (1993)</a:t>
            </a:r>
          </a:p>
        </p:txBody>
      </p:sp>
    </p:spTree>
    <p:extLst>
      <p:ext uri="{BB962C8B-B14F-4D97-AF65-F5344CB8AC3E}">
        <p14:creationId xmlns:p14="http://schemas.microsoft.com/office/powerpoint/2010/main" val="342842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B5681C-82A2-0840-81AB-5C982E734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0"/>
            <a:ext cx="5467565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544DCF0-89CF-934B-8ABE-63EB77422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762000"/>
            <a:ext cx="3147438" cy="762000"/>
          </a:xfrm>
        </p:spPr>
        <p:txBody>
          <a:bodyPr/>
          <a:lstStyle/>
          <a:p>
            <a:r>
              <a:rPr lang="tr-TR" sz="2800" dirty="0"/>
              <a:t>Intel </a:t>
            </a:r>
            <a:r>
              <a:rPr lang="tr-TR" sz="2800" dirty="0" err="1"/>
              <a:t>Nehalem</a:t>
            </a:r>
            <a:r>
              <a:rPr lang="tr-TR" sz="2800" dirty="0"/>
              <a:t> </a:t>
            </a:r>
            <a:r>
              <a:rPr lang="tr-TR" sz="2800" dirty="0" err="1"/>
              <a:t>microarchitecture</a:t>
            </a:r>
            <a:endParaRPr lang="tr-TR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333270-9580-3149-AFE0-B748771C87B5}"/>
              </a:ext>
            </a:extLst>
          </p:cNvPr>
          <p:cNvSpPr/>
          <p:nvPr/>
        </p:nvSpPr>
        <p:spPr>
          <a:xfrm>
            <a:off x="184982" y="3017180"/>
            <a:ext cx="31148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800" dirty="0">
                <a:hlinkClick r:id="rId3"/>
              </a:rPr>
              <a:t>https://en.wikipedia.org/wiki/Nehalem_(microarchitecture)</a:t>
            </a:r>
            <a:r>
              <a:rPr lang="tr-TR" sz="1800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7DC7EC-6CF2-F64F-86AB-53B60334F6DE}"/>
              </a:ext>
            </a:extLst>
          </p:cNvPr>
          <p:cNvSpPr/>
          <p:nvPr/>
        </p:nvSpPr>
        <p:spPr>
          <a:xfrm>
            <a:off x="221768" y="4419600"/>
            <a:ext cx="2971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400" dirty="0"/>
              <a:t>AGU: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address</a:t>
            </a:r>
            <a:r>
              <a:rPr lang="tr-TR" sz="1400" dirty="0"/>
              <a:t> </a:t>
            </a:r>
            <a:r>
              <a:rPr lang="tr-TR" sz="1400" dirty="0" err="1"/>
              <a:t>generation</a:t>
            </a:r>
            <a:r>
              <a:rPr lang="tr-TR" sz="1400" dirty="0"/>
              <a:t> is an </a:t>
            </a:r>
            <a:r>
              <a:rPr lang="tr-TR" sz="1400" dirty="0" err="1"/>
              <a:t>execution</a:t>
            </a:r>
            <a:r>
              <a:rPr lang="tr-TR" sz="1400" dirty="0"/>
              <a:t> </a:t>
            </a:r>
            <a:r>
              <a:rPr lang="tr-TR" sz="1400" dirty="0" err="1"/>
              <a:t>unit</a:t>
            </a:r>
            <a:r>
              <a:rPr lang="tr-TR" sz="1400" dirty="0"/>
              <a:t> inside </a:t>
            </a:r>
            <a:r>
              <a:rPr lang="tr-TR" sz="1400" dirty="0" err="1"/>
              <a:t>central</a:t>
            </a:r>
            <a:r>
              <a:rPr lang="tr-TR" sz="1400" dirty="0"/>
              <a:t> </a:t>
            </a:r>
            <a:r>
              <a:rPr lang="tr-TR" sz="1400" dirty="0" err="1"/>
              <a:t>processing</a:t>
            </a:r>
            <a:r>
              <a:rPr lang="tr-TR" sz="1400" dirty="0"/>
              <a:t> </a:t>
            </a:r>
            <a:r>
              <a:rPr lang="tr-TR" sz="1400" dirty="0" err="1"/>
              <a:t>units</a:t>
            </a:r>
            <a:r>
              <a:rPr lang="tr-TR" sz="1400" dirty="0"/>
              <a:t> (</a:t>
            </a:r>
            <a:r>
              <a:rPr lang="tr-TR" sz="1400" dirty="0" err="1"/>
              <a:t>CPUs</a:t>
            </a:r>
            <a:r>
              <a:rPr lang="tr-TR" sz="1400" dirty="0"/>
              <a:t>) </a:t>
            </a:r>
            <a:r>
              <a:rPr lang="tr-TR" sz="1400" dirty="0" err="1"/>
              <a:t>that</a:t>
            </a:r>
            <a:r>
              <a:rPr lang="tr-TR" sz="1400" dirty="0"/>
              <a:t> </a:t>
            </a:r>
            <a:r>
              <a:rPr lang="tr-TR" sz="1400" dirty="0" err="1"/>
              <a:t>calculates</a:t>
            </a:r>
            <a:r>
              <a:rPr lang="tr-TR" sz="1400" dirty="0"/>
              <a:t> </a:t>
            </a:r>
            <a:r>
              <a:rPr lang="tr-TR" sz="1400" dirty="0" err="1"/>
              <a:t>addresses</a:t>
            </a:r>
            <a:r>
              <a:rPr lang="tr-TR" sz="1400" dirty="0"/>
              <a:t> </a:t>
            </a:r>
            <a:r>
              <a:rPr lang="tr-TR" sz="1400" dirty="0" err="1"/>
              <a:t>used</a:t>
            </a:r>
            <a:r>
              <a:rPr lang="tr-TR" sz="1400" dirty="0"/>
              <a:t> </a:t>
            </a:r>
            <a:r>
              <a:rPr lang="tr-TR" sz="1400" dirty="0" err="1"/>
              <a:t>by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CPU </a:t>
            </a: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access</a:t>
            </a:r>
            <a:r>
              <a:rPr lang="tr-TR" sz="1400" dirty="0"/>
              <a:t> main </a:t>
            </a:r>
            <a:r>
              <a:rPr lang="tr-TR" sz="1400" dirty="0" err="1"/>
              <a:t>memory</a:t>
            </a:r>
            <a:r>
              <a:rPr lang="tr-TR" sz="1400" dirty="0"/>
              <a:t>. </a:t>
            </a:r>
          </a:p>
          <a:p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2638805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74020" y="493713"/>
            <a:ext cx="7373938" cy="5730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/>
              <a:t>Haswell</a:t>
            </a:r>
            <a:r>
              <a:rPr lang="en-US" dirty="0"/>
              <a:t> CPU</a:t>
            </a:r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07387" cy="5029200"/>
          </a:xfrm>
        </p:spPr>
        <p:txBody>
          <a:bodyPr/>
          <a:lstStyle/>
          <a:p>
            <a:pPr marL="741363" lvl="1" indent="-341313" defTabSz="895350">
              <a:lnSpc>
                <a:spcPct val="85000"/>
              </a:lnSpc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dirty="0"/>
              <a:t>8 Total Functional Units</a:t>
            </a:r>
          </a:p>
          <a:p>
            <a:pPr marL="341313" indent="-341313" defTabSz="895350" eaLnBrk="1" hangingPunct="1">
              <a:lnSpc>
                <a:spcPct val="85000"/>
              </a:lnSpc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dirty="0"/>
              <a:t>Multiple instructions can execute in parallel</a:t>
            </a:r>
          </a:p>
          <a:p>
            <a:pPr marL="560388" lvl="1" indent="-222250" defTabSz="895350" eaLnBrk="1" hangingPunct="1">
              <a:lnSpc>
                <a:spcPct val="90000"/>
              </a:lnSpc>
              <a:buNone/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sz="1800" dirty="0"/>
              <a:t>2 load, with address computation</a:t>
            </a:r>
          </a:p>
          <a:p>
            <a:pPr marL="560388" lvl="1" indent="-222250" defTabSz="895350" eaLnBrk="1" hangingPunct="1">
              <a:lnSpc>
                <a:spcPct val="90000"/>
              </a:lnSpc>
              <a:buNone/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sz="1800" dirty="0"/>
              <a:t>1 store, with address computation</a:t>
            </a:r>
          </a:p>
          <a:p>
            <a:pPr marL="560388" lvl="1" indent="-222250" defTabSz="895350" eaLnBrk="1" hangingPunct="1">
              <a:lnSpc>
                <a:spcPct val="90000"/>
              </a:lnSpc>
              <a:buNone/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sz="1800" dirty="0"/>
              <a:t>4 integer</a:t>
            </a:r>
          </a:p>
          <a:p>
            <a:pPr marL="560388" lvl="1" indent="-222250" defTabSz="895350" eaLnBrk="1" hangingPunct="1">
              <a:lnSpc>
                <a:spcPct val="90000"/>
              </a:lnSpc>
              <a:buNone/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sz="1800" dirty="0"/>
              <a:t>2 FP multiply</a:t>
            </a:r>
          </a:p>
          <a:p>
            <a:pPr marL="560388" lvl="1" indent="-222250" defTabSz="895350" eaLnBrk="1" hangingPunct="1">
              <a:lnSpc>
                <a:spcPct val="90000"/>
              </a:lnSpc>
              <a:buNone/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sz="1800" dirty="0"/>
              <a:t>1 FP add</a:t>
            </a:r>
          </a:p>
          <a:p>
            <a:pPr marL="560388" lvl="1" indent="-222250" defTabSz="895350" eaLnBrk="1" hangingPunct="1">
              <a:lnSpc>
                <a:spcPct val="90000"/>
              </a:lnSpc>
              <a:buNone/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sz="1800" dirty="0"/>
              <a:t>1 FP divide</a:t>
            </a:r>
            <a:endParaRPr lang="en-US" dirty="0"/>
          </a:p>
          <a:p>
            <a:pPr marL="341313" indent="-341313" defTabSz="895350" eaLnBrk="1" hangingPunct="1">
              <a:lnSpc>
                <a:spcPct val="85000"/>
              </a:lnSpc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dirty="0"/>
              <a:t>Some instructions take &gt; 1 cycle, but can be pipelined</a:t>
            </a:r>
          </a:p>
          <a:p>
            <a:pPr marL="560388" lvl="1" indent="-222250" defTabSz="895350" eaLnBrk="1" hangingPunct="1">
              <a:lnSpc>
                <a:spcPct val="90000"/>
              </a:lnSpc>
              <a:buFont typeface="Wingdings" pitchFamily="2" charset="2"/>
              <a:buNone/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sz="1800" b="1" i="1" dirty="0">
                <a:solidFill>
                  <a:srgbClr val="C00000"/>
                </a:solidFill>
              </a:rPr>
              <a:t>Instruction	Latency	Cycles/Issue</a:t>
            </a:r>
          </a:p>
          <a:p>
            <a:pPr marL="560388" lvl="1" indent="-222250" defTabSz="895350" eaLnBrk="1" hangingPunct="1">
              <a:lnSpc>
                <a:spcPct val="90000"/>
              </a:lnSpc>
              <a:buNone/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sz="1800" dirty="0"/>
              <a:t>Load / Store	4	1</a:t>
            </a:r>
          </a:p>
          <a:p>
            <a:pPr marL="560388" lvl="1" indent="-222250" defTabSz="895350" eaLnBrk="1" hangingPunct="1">
              <a:lnSpc>
                <a:spcPct val="90000"/>
              </a:lnSpc>
              <a:buNone/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sz="1800" dirty="0"/>
              <a:t>Integer Multiply	3	1</a:t>
            </a:r>
          </a:p>
          <a:p>
            <a:pPr marL="560388" lvl="1" indent="-222250" defTabSz="895350" eaLnBrk="1" hangingPunct="1">
              <a:lnSpc>
                <a:spcPct val="90000"/>
              </a:lnSpc>
              <a:buNone/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sz="1800" b="1" dirty="0"/>
              <a:t>Integer/Long Divide	3-30	3-30</a:t>
            </a:r>
          </a:p>
          <a:p>
            <a:pPr marL="560388" lvl="1" indent="-222250" defTabSz="895350" eaLnBrk="1" hangingPunct="1">
              <a:lnSpc>
                <a:spcPct val="90000"/>
              </a:lnSpc>
              <a:buNone/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sz="1800" dirty="0"/>
              <a:t>Single/Double FP Multiply	5	1</a:t>
            </a:r>
          </a:p>
          <a:p>
            <a:pPr marL="560388" lvl="1" indent="-222250" defTabSz="895350" eaLnBrk="1" hangingPunct="1">
              <a:lnSpc>
                <a:spcPct val="90000"/>
              </a:lnSpc>
              <a:buNone/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sz="1800" dirty="0"/>
              <a:t>Single/Double FP Add	3	1</a:t>
            </a:r>
          </a:p>
          <a:p>
            <a:pPr marL="560388" lvl="1" indent="-222250" defTabSz="895350" eaLnBrk="1" hangingPunct="1">
              <a:lnSpc>
                <a:spcPct val="90000"/>
              </a:lnSpc>
              <a:buNone/>
              <a:tabLst>
                <a:tab pos="114300" algn="l"/>
                <a:tab pos="5314950" algn="r"/>
                <a:tab pos="7258050" algn="r"/>
              </a:tabLst>
              <a:defRPr/>
            </a:pPr>
            <a:r>
              <a:rPr lang="en-US" sz="1800" b="1" dirty="0"/>
              <a:t>Single/Double FP Divide	3-15	3-15</a:t>
            </a:r>
          </a:p>
        </p:txBody>
      </p:sp>
    </p:spTree>
    <p:extLst>
      <p:ext uri="{BB962C8B-B14F-4D97-AF65-F5344CB8AC3E}">
        <p14:creationId xmlns:p14="http://schemas.microsoft.com/office/powerpoint/2010/main" val="647864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A9F5-7DC1-43F1-AEF8-55403D5E8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950CD-DB24-468C-8F20-92268536E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FAD55-E074-4155-A847-4F6BD335E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75" y="1193146"/>
            <a:ext cx="7592093" cy="522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9826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 versus Throughput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3034"/>
            <a:ext cx="7896225" cy="1075826"/>
          </a:xfrm>
        </p:spPr>
        <p:txBody>
          <a:bodyPr/>
          <a:lstStyle/>
          <a:p>
            <a:pPr marL="342830" lvl="1" indent="-342830">
              <a:buSzPct val="60000"/>
              <a:buFont typeface="Wingdings 2" pitchFamily="18" charset="2"/>
              <a:buChar char="¢"/>
            </a:pPr>
            <a:r>
              <a:rPr lang="en-US" sz="2403" b="1" dirty="0"/>
              <a:t>Last slide:		</a:t>
            </a:r>
            <a:r>
              <a:rPr lang="en-US" sz="1803" b="1" i="1" dirty="0">
                <a:solidFill>
                  <a:srgbClr val="C00000"/>
                </a:solidFill>
              </a:rPr>
              <a:t>latency		cycles/issue</a:t>
            </a:r>
          </a:p>
          <a:p>
            <a:pPr marL="342830" lvl="1" indent="-342830">
              <a:buSzPct val="60000"/>
              <a:buNone/>
            </a:pPr>
            <a:r>
              <a:rPr lang="en-US" sz="1803" dirty="0"/>
              <a:t>	Integer Multiply	3		1</a:t>
            </a:r>
          </a:p>
          <a:p>
            <a:pPr marL="342830" lvl="1" indent="-342830">
              <a:buSzPct val="60000"/>
              <a:buNone/>
            </a:pPr>
            <a:endParaRPr lang="en-US" sz="2403" dirty="0"/>
          </a:p>
          <a:p>
            <a:pPr marL="342830" lvl="1" indent="-342830">
              <a:buSzPct val="60000"/>
              <a:buNone/>
            </a:pPr>
            <a:endParaRPr lang="en-US" sz="1803" dirty="0"/>
          </a:p>
          <a:p>
            <a:pPr marL="342830" lvl="1" indent="-342830">
              <a:buSzPct val="60000"/>
              <a:buNone/>
            </a:pPr>
            <a:endParaRPr lang="en-US" sz="1803" dirty="0"/>
          </a:p>
          <a:p>
            <a:pPr marL="342830" lvl="1" indent="-342830">
              <a:buSzPct val="60000"/>
              <a:buNone/>
            </a:pPr>
            <a:endParaRPr lang="en-US" sz="1803" dirty="0"/>
          </a:p>
          <a:p>
            <a:pPr marL="342830" lvl="1" indent="-342830">
              <a:buSzPct val="60000"/>
              <a:buNone/>
            </a:pPr>
            <a:endParaRPr lang="en-US" sz="1803" dirty="0"/>
          </a:p>
        </p:txBody>
      </p:sp>
      <p:sp>
        <p:nvSpPr>
          <p:cNvPr id="4" name="Rectangle 3"/>
          <p:cNvSpPr/>
          <p:nvPr/>
        </p:nvSpPr>
        <p:spPr bwMode="auto">
          <a:xfrm>
            <a:off x="1600200" y="2667354"/>
            <a:ext cx="1143001" cy="761647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21" tIns="45710" rIns="91421" bIns="45710" numCol="1" rtlCol="0" anchor="ctr" anchorCtr="1" compatLnSpc="1">
            <a:prstTxWarp prst="textNoShape">
              <a:avLst/>
            </a:prstTxWarp>
          </a:bodyPr>
          <a:lstStyle/>
          <a:p>
            <a:pPr defTabSz="914215"/>
            <a:r>
              <a:rPr lang="en-US" sz="1602" dirty="0">
                <a:latin typeface="Calibri" pitchFamily="34" charset="0"/>
              </a:rPr>
              <a:t>Step 1</a:t>
            </a:r>
          </a:p>
          <a:p>
            <a:pPr defTabSz="914215"/>
            <a:r>
              <a:rPr lang="en-US" sz="1602" dirty="0">
                <a:latin typeface="Calibri" pitchFamily="34" charset="0"/>
              </a:rPr>
              <a:t>1 cycle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124200" y="2667354"/>
            <a:ext cx="1143001" cy="761647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21" tIns="45710" rIns="91421" bIns="45710" numCol="1" rtlCol="0" anchor="ctr" anchorCtr="1" compatLnSpc="1">
            <a:prstTxWarp prst="textNoShape">
              <a:avLst/>
            </a:prstTxWarp>
          </a:bodyPr>
          <a:lstStyle/>
          <a:p>
            <a:pPr defTabSz="914215"/>
            <a:r>
              <a:rPr lang="en-US" sz="1602" dirty="0">
                <a:latin typeface="Calibri" pitchFamily="34" charset="0"/>
              </a:rPr>
              <a:t>Step 2</a:t>
            </a:r>
          </a:p>
          <a:p>
            <a:pPr defTabSz="914215"/>
            <a:r>
              <a:rPr lang="en-US" sz="1602" dirty="0">
                <a:latin typeface="Calibri" pitchFamily="34" charset="0"/>
              </a:rPr>
              <a:t>1 cycle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4648200" y="2667354"/>
            <a:ext cx="1143001" cy="761647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21" tIns="45710" rIns="91421" bIns="45710" numCol="1" rtlCol="0" anchor="ctr" anchorCtr="1" compatLnSpc="1">
            <a:prstTxWarp prst="textNoShape">
              <a:avLst/>
            </a:prstTxWarp>
          </a:bodyPr>
          <a:lstStyle/>
          <a:p>
            <a:pPr defTabSz="914215"/>
            <a:r>
              <a:rPr lang="en-US" sz="1602" dirty="0">
                <a:latin typeface="Calibri" pitchFamily="34" charset="0"/>
              </a:rPr>
              <a:t>Step 3</a:t>
            </a:r>
          </a:p>
          <a:p>
            <a:pPr defTabSz="914215"/>
            <a:r>
              <a:rPr lang="en-US" sz="1602" dirty="0">
                <a:latin typeface="Calibri" pitchFamily="34" charset="0"/>
              </a:rPr>
              <a:t>1 cycle</a:t>
            </a:r>
          </a:p>
        </p:txBody>
      </p:sp>
      <p:cxnSp>
        <p:nvCxnSpPr>
          <p:cNvPr id="8" name="Straight Arrow Connector 7"/>
          <p:cNvCxnSpPr>
            <a:endCxn id="4" idx="1"/>
          </p:cNvCxnSpPr>
          <p:nvPr/>
        </p:nvCxnSpPr>
        <p:spPr bwMode="auto">
          <a:xfrm flipV="1">
            <a:off x="762000" y="3048177"/>
            <a:ext cx="838200" cy="317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2743201" y="3048178"/>
            <a:ext cx="381000" cy="1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Straight Arrow Connector 11"/>
          <p:cNvCxnSpPr>
            <a:stCxn id="5" idx="3"/>
          </p:cNvCxnSpPr>
          <p:nvPr/>
        </p:nvCxnSpPr>
        <p:spPr bwMode="auto">
          <a:xfrm>
            <a:off x="4267200" y="3048178"/>
            <a:ext cx="381000" cy="1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5791201" y="3049765"/>
            <a:ext cx="1014911" cy="1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Content Placeholder 2"/>
          <p:cNvSpPr txBox="1">
            <a:spLocks/>
          </p:cNvSpPr>
          <p:nvPr/>
        </p:nvSpPr>
        <p:spPr bwMode="auto">
          <a:xfrm>
            <a:off x="396875" y="3806649"/>
            <a:ext cx="7896225" cy="2539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1" tIns="45710" rIns="91421" bIns="45710" numCol="1" anchor="t" anchorCtr="0" compatLnSpc="1">
            <a:prstTxWarp prst="textNoShape">
              <a:avLst/>
            </a:prstTxWarp>
          </a:bodyPr>
          <a:lstStyle/>
          <a:p>
            <a:pPr marL="342830" lvl="1" indent="-342830" defTabSz="914215" eaLnBrk="1" hangingPunct="1">
              <a:spcBef>
                <a:spcPct val="20000"/>
              </a:spcBef>
              <a:buClr>
                <a:srgbClr val="990000"/>
              </a:buClr>
              <a:buSzPct val="60000"/>
              <a:buFont typeface="Wingdings 2" pitchFamily="18" charset="2"/>
              <a:buChar char="¢"/>
              <a:defRPr/>
            </a:pPr>
            <a:r>
              <a:rPr lang="en-US" sz="2000" kern="0" dirty="0">
                <a:latin typeface="Calibri" pitchFamily="34" charset="0"/>
              </a:rPr>
              <a:t>Consequence:</a:t>
            </a:r>
          </a:p>
          <a:p>
            <a:pPr marL="799938" lvl="2" indent="-342830" eaLnBrk="1" hangingPunct="1">
              <a:spcBef>
                <a:spcPct val="20000"/>
              </a:spcBef>
              <a:buClr>
                <a:srgbClr val="990000"/>
              </a:buClr>
              <a:buSzPct val="60000"/>
              <a:buFont typeface="Wingdings 2" pitchFamily="18" charset="2"/>
              <a:buChar char="¢"/>
            </a:pPr>
            <a:r>
              <a:rPr lang="en-US" sz="2000" b="0" kern="0" dirty="0">
                <a:latin typeface="Calibri" pitchFamily="34" charset="0"/>
              </a:rPr>
              <a:t>How fast can 3 independent </a:t>
            </a:r>
            <a:r>
              <a:rPr lang="en-US" sz="2000" b="0" kern="0" dirty="0" err="1">
                <a:latin typeface="Calibri" pitchFamily="34" charset="0"/>
              </a:rPr>
              <a:t>int</a:t>
            </a:r>
            <a:r>
              <a:rPr lang="en-US" sz="2000" b="0" kern="0" dirty="0">
                <a:latin typeface="Calibri" pitchFamily="34" charset="0"/>
              </a:rPr>
              <a:t> </a:t>
            </a:r>
            <a:r>
              <a:rPr lang="en-US" sz="2000" b="0" kern="0" dirty="0" err="1">
                <a:latin typeface="Calibri" pitchFamily="34" charset="0"/>
              </a:rPr>
              <a:t>mults</a:t>
            </a:r>
            <a:r>
              <a:rPr lang="en-US" sz="2000" b="0" kern="0" dirty="0">
                <a:latin typeface="Calibri" pitchFamily="34" charset="0"/>
              </a:rPr>
              <a:t> be executed?</a:t>
            </a:r>
          </a:p>
          <a:p>
            <a:pPr marL="799938" lvl="2" indent="-342830" eaLnBrk="1" hangingPunct="1">
              <a:spcBef>
                <a:spcPct val="20000"/>
              </a:spcBef>
              <a:buClr>
                <a:srgbClr val="990000"/>
              </a:buClr>
              <a:buSzPct val="60000"/>
            </a:pPr>
            <a:r>
              <a:rPr lang="en-US" sz="2000" b="0" kern="0" dirty="0">
                <a:latin typeface="Calibri" pitchFamily="34" charset="0"/>
              </a:rPr>
              <a:t>	</a:t>
            </a: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t1 = t2*t3; t4 = t5*t6; </a:t>
            </a:r>
          </a:p>
          <a:p>
            <a:pPr marL="799938" lvl="2" indent="-342830" eaLnBrk="1" hangingPunct="1">
              <a:spcBef>
                <a:spcPct val="20000"/>
              </a:spcBef>
              <a:buClr>
                <a:srgbClr val="990000"/>
              </a:buClr>
              <a:buSzPct val="60000"/>
              <a:buFont typeface="Wingdings 2" pitchFamily="18" charset="2"/>
              <a:buChar char="¢"/>
            </a:pPr>
            <a:r>
              <a:rPr lang="en-US" sz="2000" b="0" kern="0" dirty="0">
                <a:latin typeface="Calibri" pitchFamily="34" charset="0"/>
              </a:rPr>
              <a:t>How fast can 3 sequentially dependent </a:t>
            </a:r>
            <a:r>
              <a:rPr lang="en-US" sz="2000" b="0" kern="0" dirty="0" err="1">
                <a:latin typeface="Calibri" pitchFamily="34" charset="0"/>
              </a:rPr>
              <a:t>int</a:t>
            </a:r>
            <a:r>
              <a:rPr lang="en-US" sz="2000" b="0" kern="0" dirty="0">
                <a:latin typeface="Calibri" pitchFamily="34" charset="0"/>
              </a:rPr>
              <a:t> </a:t>
            </a:r>
            <a:r>
              <a:rPr lang="en-US" sz="2000" b="0" kern="0" dirty="0" err="1">
                <a:latin typeface="Calibri" pitchFamily="34" charset="0"/>
              </a:rPr>
              <a:t>mults</a:t>
            </a:r>
            <a:r>
              <a:rPr lang="en-US" sz="2000" b="0" kern="0" dirty="0">
                <a:latin typeface="Calibri" pitchFamily="34" charset="0"/>
              </a:rPr>
              <a:t> be executed?</a:t>
            </a:r>
            <a:br>
              <a:rPr lang="en-US" sz="2000" b="0" kern="0" dirty="0">
                <a:latin typeface="Calibri" pitchFamily="34" charset="0"/>
              </a:rPr>
            </a:b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t1 = t2*t3; t4 = t5*t1; t6 = t7*t4; </a:t>
            </a:r>
          </a:p>
          <a:p>
            <a:pPr marL="342830" lvl="1" indent="-342830" eaLnBrk="1" hangingPunct="1">
              <a:spcBef>
                <a:spcPct val="20000"/>
              </a:spcBef>
              <a:buClr>
                <a:srgbClr val="990000"/>
              </a:buClr>
              <a:buSzPct val="60000"/>
              <a:buFont typeface="Wingdings 2" pitchFamily="18" charset="2"/>
              <a:buChar char="¢"/>
            </a:pPr>
            <a:r>
              <a:rPr lang="en-US" sz="2000" kern="0" dirty="0">
                <a:latin typeface="Calibri" pitchFamily="34" charset="0"/>
              </a:rPr>
              <a:t>Major problem for fast execution: </a:t>
            </a:r>
            <a:r>
              <a:rPr lang="en-US" sz="2000" kern="0" dirty="0">
                <a:solidFill>
                  <a:srgbClr val="990000"/>
                </a:solidFill>
                <a:latin typeface="Calibri" pitchFamily="34" charset="0"/>
              </a:rPr>
              <a:t>Keep pipelines filled</a:t>
            </a:r>
            <a:endParaRPr lang="en-US" sz="2403" b="0" kern="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410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1" y="336398"/>
            <a:ext cx="5976938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Translation Example</a:t>
            </a:r>
          </a:p>
        </p:txBody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067896"/>
            <a:ext cx="8281987" cy="829878"/>
          </a:xfrm>
        </p:spPr>
        <p:txBody>
          <a:bodyPr/>
          <a:lstStyle/>
          <a:p>
            <a:pPr eaLnBrk="1" hangingPunct="1">
              <a:buFont typeface="Wingdings" pitchFamily="-109" charset="2"/>
              <a:buNone/>
              <a:defRPr/>
            </a:pPr>
            <a:r>
              <a:rPr lang="en-US">
                <a:ea typeface="+mn-ea"/>
                <a:cs typeface="+mn-cs"/>
              </a:rPr>
              <a:t>Version of Combine4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Integer data, multiply operation</a:t>
            </a:r>
          </a:p>
          <a:p>
            <a:pPr eaLnBrk="1" hangingPunct="1">
              <a:buFont typeface="Wingdings" pitchFamily="-109" charset="2"/>
              <a:buNone/>
              <a:defRPr/>
            </a:pPr>
            <a:endParaRPr lang="en-US">
              <a:ea typeface="+mn-ea"/>
              <a:cs typeface="+mn-cs"/>
            </a:endParaRPr>
          </a:p>
          <a:p>
            <a:pPr eaLnBrk="1" hangingPunct="1">
              <a:buFont typeface="Wingdings" pitchFamily="-109" charset="2"/>
              <a:buNone/>
              <a:defRPr/>
            </a:pPr>
            <a:endParaRPr lang="en-US">
              <a:ea typeface="+mn-ea"/>
              <a:cs typeface="+mn-cs"/>
            </a:endParaRPr>
          </a:p>
          <a:p>
            <a:pPr eaLnBrk="1" hangingPunct="1">
              <a:buFont typeface="Wingdings" pitchFamily="-109" charset="2"/>
              <a:buNone/>
              <a:defRPr/>
            </a:pPr>
            <a:endParaRPr lang="en-US">
              <a:ea typeface="+mn-ea"/>
              <a:cs typeface="+mn-cs"/>
            </a:endParaRPr>
          </a:p>
          <a:p>
            <a:pPr eaLnBrk="1" hangingPunct="1">
              <a:buFont typeface="Wingdings" pitchFamily="-109" charset="2"/>
              <a:buNone/>
              <a:defRPr/>
            </a:pPr>
            <a:r>
              <a:rPr lang="en-US">
                <a:ea typeface="+mn-ea"/>
                <a:cs typeface="+mn-cs"/>
              </a:rPr>
              <a:t>Translation of First Iteration</a:t>
            </a:r>
          </a:p>
        </p:txBody>
      </p:sp>
      <p:sp>
        <p:nvSpPr>
          <p:cNvPr id="25604" name="Rectangle 4" descr="50%"/>
          <p:cNvSpPr>
            <a:spLocks noChangeArrowheads="1"/>
          </p:cNvSpPr>
          <p:nvPr/>
        </p:nvSpPr>
        <p:spPr bwMode="auto">
          <a:xfrm>
            <a:off x="1295400" y="1981871"/>
            <a:ext cx="6477000" cy="1320856"/>
          </a:xfrm>
          <a:prstGeom prst="rect">
            <a:avLst/>
          </a:prstGeom>
          <a:pattFill prst="pct50">
            <a:fgClr>
              <a:srgbClr val="CCECFF"/>
            </a:fgClr>
            <a:bgClr>
              <a:srgbClr val="FFFFFF"/>
            </a:bgClr>
          </a:patt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lIns="90468" tIns="44441" rIns="90468" bIns="44441">
            <a:prstTxWarp prst="textNoShape">
              <a:avLst/>
            </a:prstTxWarp>
            <a:spAutoFit/>
          </a:bodyPr>
          <a:lstStyle/>
          <a:p>
            <a:pPr>
              <a:tabLst>
                <a:tab pos="228554" algn="l"/>
                <a:tab pos="3720347" algn="l"/>
              </a:tabLst>
            </a:pPr>
            <a:r>
              <a:rPr lang="en-US" sz="1600" dirty="0">
                <a:latin typeface="Courier New" charset="0"/>
              </a:rPr>
              <a:t>.L24:	# Loop:</a:t>
            </a:r>
          </a:p>
          <a:p>
            <a:pPr>
              <a:tabLst>
                <a:tab pos="228554" algn="l"/>
                <a:tab pos="3720347" algn="l"/>
              </a:tabLst>
            </a:pPr>
            <a:r>
              <a:rPr lang="en-US" sz="1600" dirty="0">
                <a:latin typeface="Courier New" charset="0"/>
              </a:rPr>
              <a:t>	</a:t>
            </a:r>
            <a:r>
              <a:rPr lang="en-US" sz="1600" dirty="0" err="1">
                <a:latin typeface="Courier New" charset="0"/>
              </a:rPr>
              <a:t>imulq</a:t>
            </a:r>
            <a:r>
              <a:rPr lang="en-US" sz="1600" dirty="0">
                <a:latin typeface="Courier New" charset="0"/>
              </a:rPr>
              <a:t> (%rax,%rdx,8),%</a:t>
            </a:r>
            <a:r>
              <a:rPr lang="en-US" sz="1600" dirty="0" err="1">
                <a:latin typeface="Courier New" charset="0"/>
              </a:rPr>
              <a:t>rcx</a:t>
            </a:r>
            <a:r>
              <a:rPr lang="en-US" sz="1600" dirty="0">
                <a:latin typeface="Courier New" charset="0"/>
              </a:rPr>
              <a:t>	# t *= data[</a:t>
            </a:r>
            <a:r>
              <a:rPr lang="en-US" sz="1600" dirty="0" err="1">
                <a:latin typeface="Courier New" charset="0"/>
              </a:rPr>
              <a:t>i</a:t>
            </a:r>
            <a:r>
              <a:rPr lang="en-US" sz="1600" dirty="0">
                <a:latin typeface="Courier New" charset="0"/>
              </a:rPr>
              <a:t>]</a:t>
            </a:r>
          </a:p>
          <a:p>
            <a:pPr>
              <a:tabLst>
                <a:tab pos="228554" algn="l"/>
                <a:tab pos="3720347" algn="l"/>
              </a:tabLst>
            </a:pPr>
            <a:r>
              <a:rPr lang="en-US" sz="1600" dirty="0">
                <a:latin typeface="Courier New" charset="0"/>
              </a:rPr>
              <a:t>	</a:t>
            </a:r>
            <a:r>
              <a:rPr lang="en-US" sz="1600" dirty="0" err="1">
                <a:latin typeface="Courier New" charset="0"/>
              </a:rPr>
              <a:t>incq</a:t>
            </a:r>
            <a:r>
              <a:rPr lang="en-US" sz="1600" dirty="0">
                <a:latin typeface="Courier New" charset="0"/>
              </a:rPr>
              <a:t> %</a:t>
            </a:r>
            <a:r>
              <a:rPr lang="en-US" sz="1600" dirty="0" err="1">
                <a:latin typeface="Courier New" charset="0"/>
              </a:rPr>
              <a:t>rdx</a:t>
            </a:r>
            <a:r>
              <a:rPr lang="en-US" sz="1600" dirty="0">
                <a:latin typeface="Courier New" charset="0"/>
              </a:rPr>
              <a:t>	# </a:t>
            </a:r>
            <a:r>
              <a:rPr lang="en-US" sz="1600" dirty="0" err="1">
                <a:latin typeface="Courier New" charset="0"/>
              </a:rPr>
              <a:t>i</a:t>
            </a:r>
            <a:r>
              <a:rPr lang="en-US" sz="1600" dirty="0">
                <a:latin typeface="Courier New" charset="0"/>
              </a:rPr>
              <a:t>++</a:t>
            </a:r>
          </a:p>
          <a:p>
            <a:pPr>
              <a:tabLst>
                <a:tab pos="228554" algn="l"/>
                <a:tab pos="3720347" algn="l"/>
              </a:tabLst>
            </a:pPr>
            <a:r>
              <a:rPr lang="en-US" sz="1600" dirty="0">
                <a:latin typeface="Courier New" charset="0"/>
              </a:rPr>
              <a:t>	</a:t>
            </a:r>
            <a:r>
              <a:rPr lang="en-US" sz="1600" dirty="0" err="1">
                <a:latin typeface="Courier New" charset="0"/>
              </a:rPr>
              <a:t>cmpq</a:t>
            </a:r>
            <a:r>
              <a:rPr lang="en-US" sz="1600" dirty="0">
                <a:latin typeface="Courier New" charset="0"/>
              </a:rPr>
              <a:t> %</a:t>
            </a:r>
            <a:r>
              <a:rPr lang="en-US" sz="1600" dirty="0" err="1">
                <a:latin typeface="Courier New" charset="0"/>
              </a:rPr>
              <a:t>rsi</a:t>
            </a:r>
            <a:r>
              <a:rPr lang="en-US" sz="1600" dirty="0">
                <a:latin typeface="Courier New" charset="0"/>
              </a:rPr>
              <a:t>,%</a:t>
            </a:r>
            <a:r>
              <a:rPr lang="en-US" sz="1600" dirty="0" err="1">
                <a:latin typeface="Courier New" charset="0"/>
              </a:rPr>
              <a:t>rdx</a:t>
            </a:r>
            <a:r>
              <a:rPr lang="en-US" sz="1600" dirty="0">
                <a:latin typeface="Courier New" charset="0"/>
              </a:rPr>
              <a:t>	# </a:t>
            </a:r>
            <a:r>
              <a:rPr lang="en-US" sz="1600" dirty="0" err="1">
                <a:latin typeface="Courier New" charset="0"/>
              </a:rPr>
              <a:t>i:length</a:t>
            </a:r>
            <a:endParaRPr lang="en-US" sz="1600" dirty="0">
              <a:latin typeface="Courier New" charset="0"/>
            </a:endParaRPr>
          </a:p>
          <a:p>
            <a:pPr>
              <a:tabLst>
                <a:tab pos="228554" algn="l"/>
                <a:tab pos="3720347" algn="l"/>
              </a:tabLst>
            </a:pPr>
            <a:r>
              <a:rPr lang="en-US" sz="1600" dirty="0">
                <a:latin typeface="Courier New" charset="0"/>
              </a:rPr>
              <a:t>	</a:t>
            </a:r>
            <a:r>
              <a:rPr lang="en-US" sz="1600" dirty="0" err="1">
                <a:latin typeface="Courier New" charset="0"/>
              </a:rPr>
              <a:t>jl</a:t>
            </a:r>
            <a:r>
              <a:rPr lang="en-US" sz="1600" dirty="0">
                <a:latin typeface="Courier New" charset="0"/>
              </a:rPr>
              <a:t> .L24	# if &lt; </a:t>
            </a:r>
            <a:r>
              <a:rPr lang="en-US" sz="1600" dirty="0" err="1">
                <a:latin typeface="Courier New" charset="0"/>
              </a:rPr>
              <a:t>goto</a:t>
            </a:r>
            <a:r>
              <a:rPr lang="en-US" sz="1600" dirty="0">
                <a:latin typeface="Courier New" charset="0"/>
              </a:rPr>
              <a:t> Loop</a:t>
            </a: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457200" y="4168434"/>
            <a:ext cx="3886201" cy="2028742"/>
          </a:xfrm>
          <a:prstGeom prst="rect">
            <a:avLst/>
          </a:prstGeom>
          <a:solidFill>
            <a:srgbClr val="CCECFF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lIns="90468" tIns="44441" rIns="90468" bIns="44441">
            <a:prstTxWarp prst="textNoShape">
              <a:avLst/>
            </a:prstTxWarp>
            <a:spAutoFit/>
          </a:bodyPr>
          <a:lstStyle/>
          <a:p>
            <a:pPr>
              <a:tabLst>
                <a:tab pos="228554" algn="l"/>
                <a:tab pos="3720347" algn="l"/>
              </a:tabLst>
            </a:pPr>
            <a:r>
              <a:rPr lang="en-US" sz="1800" dirty="0">
                <a:latin typeface="Courier New" charset="0"/>
              </a:rPr>
              <a:t>.L24:	</a:t>
            </a:r>
          </a:p>
          <a:p>
            <a:pPr>
              <a:tabLst>
                <a:tab pos="228554" algn="l"/>
                <a:tab pos="3720347" algn="l"/>
              </a:tabLst>
            </a:pPr>
            <a:r>
              <a:rPr lang="en-US" sz="1800" dirty="0">
                <a:latin typeface="Courier New" charset="0"/>
              </a:rPr>
              <a:t>	</a:t>
            </a:r>
            <a:r>
              <a:rPr lang="en-US" sz="1800" dirty="0" err="1">
                <a:latin typeface="Courier New" charset="0"/>
              </a:rPr>
              <a:t>imulq</a:t>
            </a:r>
            <a:r>
              <a:rPr lang="en-US" sz="1800" dirty="0">
                <a:latin typeface="Courier New" charset="0"/>
              </a:rPr>
              <a:t> (%rax,%rdx,8),%</a:t>
            </a:r>
            <a:r>
              <a:rPr lang="en-US" sz="1800" dirty="0" err="1">
                <a:latin typeface="Courier New" charset="0"/>
              </a:rPr>
              <a:t>rcx</a:t>
            </a:r>
            <a:endParaRPr lang="en-US" sz="1800" dirty="0">
              <a:latin typeface="Courier New" charset="0"/>
            </a:endParaRPr>
          </a:p>
          <a:p>
            <a:pPr>
              <a:tabLst>
                <a:tab pos="228554" algn="l"/>
                <a:tab pos="3720347" algn="l"/>
              </a:tabLst>
            </a:pPr>
            <a:endParaRPr lang="en-US" sz="1800" dirty="0">
              <a:latin typeface="Courier New" charset="0"/>
            </a:endParaRPr>
          </a:p>
          <a:p>
            <a:pPr>
              <a:tabLst>
                <a:tab pos="228554" algn="l"/>
                <a:tab pos="3720347" algn="l"/>
              </a:tabLst>
            </a:pPr>
            <a:r>
              <a:rPr lang="en-US" sz="1800" dirty="0">
                <a:latin typeface="Courier New" charset="0"/>
              </a:rPr>
              <a:t>	</a:t>
            </a:r>
            <a:r>
              <a:rPr lang="en-US" sz="1800" dirty="0" err="1">
                <a:latin typeface="Courier New" charset="0"/>
              </a:rPr>
              <a:t>incq</a:t>
            </a:r>
            <a:r>
              <a:rPr lang="en-US" sz="1800" dirty="0">
                <a:latin typeface="Courier New" charset="0"/>
              </a:rPr>
              <a:t> %</a:t>
            </a:r>
            <a:r>
              <a:rPr lang="en-US" sz="1800" dirty="0" err="1">
                <a:latin typeface="Courier New" charset="0"/>
              </a:rPr>
              <a:t>rdx</a:t>
            </a:r>
            <a:endParaRPr lang="en-US" sz="1800" dirty="0">
              <a:latin typeface="Courier New" charset="0"/>
            </a:endParaRPr>
          </a:p>
          <a:p>
            <a:pPr>
              <a:tabLst>
                <a:tab pos="228554" algn="l"/>
                <a:tab pos="3720347" algn="l"/>
              </a:tabLst>
            </a:pPr>
            <a:r>
              <a:rPr lang="en-US" sz="1800" dirty="0">
                <a:latin typeface="Courier New" charset="0"/>
              </a:rPr>
              <a:t>	</a:t>
            </a:r>
            <a:r>
              <a:rPr lang="en-US" sz="1800" dirty="0" err="1">
                <a:latin typeface="Courier New" charset="0"/>
              </a:rPr>
              <a:t>cmpq</a:t>
            </a:r>
            <a:r>
              <a:rPr lang="en-US" sz="1800" dirty="0">
                <a:latin typeface="Courier New" charset="0"/>
              </a:rPr>
              <a:t> %</a:t>
            </a:r>
            <a:r>
              <a:rPr lang="en-US" sz="1800" dirty="0" err="1">
                <a:latin typeface="Courier New" charset="0"/>
              </a:rPr>
              <a:t>rsi</a:t>
            </a:r>
            <a:r>
              <a:rPr lang="en-US" sz="1800" dirty="0">
                <a:latin typeface="Courier New" charset="0"/>
              </a:rPr>
              <a:t>,%</a:t>
            </a:r>
            <a:r>
              <a:rPr lang="en-US" sz="1800" dirty="0" err="1">
                <a:latin typeface="Courier New" charset="0"/>
              </a:rPr>
              <a:t>rdx</a:t>
            </a:r>
            <a:endParaRPr lang="en-US" sz="1800" dirty="0">
              <a:latin typeface="Courier New" charset="0"/>
            </a:endParaRPr>
          </a:p>
          <a:p>
            <a:pPr>
              <a:tabLst>
                <a:tab pos="228554" algn="l"/>
                <a:tab pos="3720347" algn="l"/>
              </a:tabLst>
            </a:pPr>
            <a:r>
              <a:rPr lang="en-US" sz="1800" dirty="0">
                <a:latin typeface="Courier New" charset="0"/>
              </a:rPr>
              <a:t>	</a:t>
            </a:r>
            <a:r>
              <a:rPr lang="en-US" sz="1800" dirty="0" err="1">
                <a:latin typeface="Courier New" charset="0"/>
              </a:rPr>
              <a:t>jl</a:t>
            </a:r>
            <a:r>
              <a:rPr lang="en-US" sz="1800" dirty="0">
                <a:latin typeface="Courier New" charset="0"/>
              </a:rPr>
              <a:t> .L24</a:t>
            </a: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4572000" y="4168433"/>
            <a:ext cx="4419600" cy="1751743"/>
          </a:xfrm>
          <a:prstGeom prst="rect">
            <a:avLst/>
          </a:prstGeom>
          <a:solidFill>
            <a:srgbClr val="FFCCFF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lIns="90468" tIns="44441" rIns="90468" bIns="44441">
            <a:prstTxWarp prst="textNoShape">
              <a:avLst/>
            </a:prstTxWarp>
            <a:spAutoFit/>
          </a:bodyPr>
          <a:lstStyle/>
          <a:p>
            <a:pPr>
              <a:tabLst>
                <a:tab pos="228554" algn="l"/>
                <a:tab pos="2856922" algn="l"/>
                <a:tab pos="3720347" algn="l"/>
              </a:tabLst>
            </a:pPr>
            <a:endParaRPr lang="en-US" sz="1800" dirty="0">
              <a:latin typeface="Courier New" charset="0"/>
            </a:endParaRPr>
          </a:p>
          <a:p>
            <a:pPr>
              <a:tabLst>
                <a:tab pos="228554" algn="l"/>
                <a:tab pos="2856922" algn="l"/>
                <a:tab pos="3720347" algn="l"/>
              </a:tabLst>
            </a:pPr>
            <a:r>
              <a:rPr lang="en-US" sz="1800" dirty="0">
                <a:latin typeface="Courier New" charset="0"/>
              </a:rPr>
              <a:t>load (%rax,%rdx.0,4) </a:t>
            </a:r>
            <a:r>
              <a:rPr lang="en-US" sz="1800" dirty="0">
                <a:latin typeface="Courier New" charset="0"/>
                <a:sym typeface="Wingdings" charset="2"/>
              </a:rPr>
              <a:t> t.1</a:t>
            </a:r>
          </a:p>
          <a:p>
            <a:pPr>
              <a:tabLst>
                <a:tab pos="228554" algn="l"/>
                <a:tab pos="2856922" algn="l"/>
                <a:tab pos="3720347" algn="l"/>
              </a:tabLst>
            </a:pPr>
            <a:r>
              <a:rPr lang="en-US" sz="1800" dirty="0" err="1">
                <a:latin typeface="Courier New" charset="0"/>
                <a:sym typeface="Wingdings" charset="2"/>
              </a:rPr>
              <a:t>imulq</a:t>
            </a:r>
            <a:r>
              <a:rPr lang="en-US" sz="1800" dirty="0">
                <a:latin typeface="Courier New" charset="0"/>
                <a:sym typeface="Wingdings" charset="2"/>
              </a:rPr>
              <a:t> t.1, %rcx.0     %rcx.1</a:t>
            </a:r>
          </a:p>
          <a:p>
            <a:pPr>
              <a:tabLst>
                <a:tab pos="228554" algn="l"/>
                <a:tab pos="2856922" algn="l"/>
                <a:tab pos="3720347" algn="l"/>
              </a:tabLst>
            </a:pPr>
            <a:r>
              <a:rPr lang="en-US" sz="1800" dirty="0" err="1">
                <a:latin typeface="Courier New" charset="0"/>
                <a:sym typeface="Wingdings" charset="2"/>
              </a:rPr>
              <a:t>incq</a:t>
            </a:r>
            <a:r>
              <a:rPr lang="en-US" sz="1800" dirty="0">
                <a:latin typeface="Courier New" charset="0"/>
                <a:sym typeface="Wingdings" charset="2"/>
              </a:rPr>
              <a:t> %rdx.0	 %rdx.1</a:t>
            </a:r>
          </a:p>
          <a:p>
            <a:pPr>
              <a:tabLst>
                <a:tab pos="228554" algn="l"/>
                <a:tab pos="2856922" algn="l"/>
                <a:tab pos="3720347" algn="l"/>
              </a:tabLst>
            </a:pPr>
            <a:r>
              <a:rPr lang="en-US" sz="1800" dirty="0" err="1">
                <a:latin typeface="Courier New" charset="0"/>
                <a:sym typeface="Wingdings" charset="2"/>
              </a:rPr>
              <a:t>cmpq</a:t>
            </a:r>
            <a:r>
              <a:rPr lang="en-US" sz="1800" dirty="0">
                <a:latin typeface="Courier New" charset="0"/>
                <a:sym typeface="Wingdings" charset="2"/>
              </a:rPr>
              <a:t> %</a:t>
            </a:r>
            <a:r>
              <a:rPr lang="en-US" sz="1800" dirty="0" err="1">
                <a:latin typeface="Courier New" charset="0"/>
                <a:sym typeface="Wingdings" charset="2"/>
              </a:rPr>
              <a:t>rsi</a:t>
            </a:r>
            <a:r>
              <a:rPr lang="en-US" sz="1800" dirty="0">
                <a:latin typeface="Courier New" charset="0"/>
                <a:sym typeface="Wingdings" charset="2"/>
              </a:rPr>
              <a:t>, %rdx.1     cc.1</a:t>
            </a:r>
          </a:p>
          <a:p>
            <a:pPr>
              <a:tabLst>
                <a:tab pos="228554" algn="l"/>
                <a:tab pos="2856922" algn="l"/>
                <a:tab pos="3720347" algn="l"/>
              </a:tabLst>
            </a:pPr>
            <a:r>
              <a:rPr lang="en-US" sz="1800" dirty="0" err="1">
                <a:latin typeface="Courier New" charset="0"/>
                <a:sym typeface="Wingdings" charset="2"/>
              </a:rPr>
              <a:t>jl</a:t>
            </a:r>
            <a:r>
              <a:rPr lang="en-US" sz="1800" dirty="0">
                <a:latin typeface="Courier New" charset="0"/>
                <a:sym typeface="Wingdings" charset="2"/>
              </a:rPr>
              <a:t>-taken cc.1</a:t>
            </a:r>
          </a:p>
        </p:txBody>
      </p:sp>
    </p:spTree>
    <p:extLst>
      <p:ext uri="{BB962C8B-B14F-4D97-AF65-F5344CB8AC3E}">
        <p14:creationId xmlns:p14="http://schemas.microsoft.com/office/powerpoint/2010/main" val="24374185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336398"/>
            <a:ext cx="8234362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Translation Example #1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829542"/>
            <a:ext cx="8281987" cy="298311"/>
          </a:xfrm>
        </p:spPr>
        <p:txBody>
          <a:bodyPr/>
          <a:lstStyle/>
          <a:p>
            <a:pPr lvl="1" eaLnBrk="1" hangingPunct="1"/>
            <a:r>
              <a:rPr lang="en-US" dirty="0">
                <a:ea typeface="ＭＳ Ｐゴシック" charset="-128"/>
              </a:rPr>
              <a:t>Split into two operations</a:t>
            </a:r>
          </a:p>
          <a:p>
            <a:pPr lvl="2" eaLnBrk="1" hangingPunct="1"/>
            <a:r>
              <a:rPr lang="en-US" dirty="0">
                <a:ea typeface="ＭＳ Ｐゴシック" charset="-128"/>
              </a:rPr>
              <a:t> </a:t>
            </a:r>
            <a:r>
              <a:rPr lang="en-US" dirty="0">
                <a:latin typeface="Courier New" charset="0"/>
                <a:ea typeface="ＭＳ Ｐゴシック" charset="-128"/>
              </a:rPr>
              <a:t>load</a:t>
            </a:r>
            <a:r>
              <a:rPr lang="en-US" dirty="0">
                <a:ea typeface="ＭＳ Ｐゴシック" charset="-128"/>
              </a:rPr>
              <a:t> reads from memory to generate temporary result </a:t>
            </a:r>
            <a:r>
              <a:rPr lang="en-US" dirty="0">
                <a:latin typeface="Courier New" charset="0"/>
                <a:ea typeface="ＭＳ Ｐゴシック" charset="-128"/>
              </a:rPr>
              <a:t>t.1</a:t>
            </a:r>
          </a:p>
          <a:p>
            <a:pPr lvl="2" eaLnBrk="1" hangingPunct="1"/>
            <a:r>
              <a:rPr lang="en-US" dirty="0">
                <a:ea typeface="ＭＳ Ｐゴシック" charset="-128"/>
              </a:rPr>
              <a:t>Multiply operation just operates on registers</a:t>
            </a:r>
          </a:p>
          <a:p>
            <a:pPr lvl="1" eaLnBrk="1" hangingPunct="1"/>
            <a:r>
              <a:rPr lang="en-US" dirty="0">
                <a:ea typeface="ＭＳ Ｐゴシック" charset="-128"/>
              </a:rPr>
              <a:t>Operands</a:t>
            </a:r>
          </a:p>
          <a:p>
            <a:pPr lvl="2" eaLnBrk="1" hangingPunct="1"/>
            <a:r>
              <a:rPr lang="en-US" dirty="0">
                <a:ea typeface="ＭＳ Ｐゴシック" charset="-128"/>
              </a:rPr>
              <a:t>Registers </a:t>
            </a:r>
            <a:r>
              <a:rPr lang="en-US" dirty="0">
                <a:latin typeface="Courier New" charset="0"/>
                <a:ea typeface="ＭＳ Ｐゴシック" charset="-128"/>
              </a:rPr>
              <a:t>%</a:t>
            </a:r>
            <a:r>
              <a:rPr lang="en-US" dirty="0" err="1">
                <a:latin typeface="Courier New" charset="0"/>
                <a:ea typeface="ＭＳ Ｐゴシック" charset="-128"/>
              </a:rPr>
              <a:t>rax</a:t>
            </a:r>
            <a:r>
              <a:rPr lang="en-US" dirty="0">
                <a:ea typeface="ＭＳ Ｐゴシック" charset="-128"/>
              </a:rPr>
              <a:t> does not change in loop.  Values will be retrieved from register file during decoding</a:t>
            </a:r>
          </a:p>
          <a:p>
            <a:pPr lvl="2" eaLnBrk="1" hangingPunct="1"/>
            <a:r>
              <a:rPr lang="en-US" dirty="0">
                <a:ea typeface="ＭＳ Ｐゴシック" charset="-128"/>
              </a:rPr>
              <a:t>Register </a:t>
            </a:r>
            <a:r>
              <a:rPr lang="en-US" dirty="0">
                <a:latin typeface="Courier New" charset="0"/>
                <a:ea typeface="ＭＳ Ｐゴシック" charset="-128"/>
              </a:rPr>
              <a:t>%</a:t>
            </a:r>
            <a:r>
              <a:rPr lang="en-US" dirty="0" err="1">
                <a:latin typeface="Courier New" charset="0"/>
                <a:ea typeface="ＭＳ Ｐゴシック" charset="-128"/>
              </a:rPr>
              <a:t>rcx</a:t>
            </a:r>
            <a:r>
              <a:rPr lang="en-US" dirty="0">
                <a:ea typeface="ＭＳ Ｐゴシック" charset="-128"/>
              </a:rPr>
              <a:t> changes on every iteration.  Uniquely identify different versions as </a:t>
            </a:r>
            <a:r>
              <a:rPr lang="en-US" dirty="0">
                <a:latin typeface="Courier New" charset="0"/>
                <a:ea typeface="ＭＳ Ｐゴシック" charset="-128"/>
              </a:rPr>
              <a:t>%rcx.0</a:t>
            </a:r>
            <a:r>
              <a:rPr lang="en-US" dirty="0">
                <a:ea typeface="ＭＳ Ｐゴシック" charset="-128"/>
              </a:rPr>
              <a:t>, </a:t>
            </a:r>
            <a:r>
              <a:rPr lang="en-US" dirty="0">
                <a:latin typeface="Courier New" charset="0"/>
                <a:ea typeface="ＭＳ Ｐゴシック" charset="-128"/>
              </a:rPr>
              <a:t>%rcx.1</a:t>
            </a:r>
            <a:r>
              <a:rPr lang="en-US" dirty="0">
                <a:ea typeface="ＭＳ Ｐゴシック" charset="-128"/>
              </a:rPr>
              <a:t>, </a:t>
            </a:r>
            <a:r>
              <a:rPr lang="en-US" dirty="0">
                <a:latin typeface="Courier New" charset="0"/>
                <a:ea typeface="ＭＳ Ｐゴシック" charset="-128"/>
              </a:rPr>
              <a:t>%rcx.2</a:t>
            </a:r>
            <a:r>
              <a:rPr lang="en-US" dirty="0">
                <a:ea typeface="ＭＳ Ｐゴシック" charset="-128"/>
              </a:rPr>
              <a:t>, …</a:t>
            </a:r>
          </a:p>
          <a:p>
            <a:pPr lvl="3" eaLnBrk="1" hangingPunct="1"/>
            <a:r>
              <a:rPr lang="en-US" dirty="0">
                <a:ea typeface="ＭＳ Ｐゴシック" charset="-128"/>
              </a:rPr>
              <a:t>Register </a:t>
            </a:r>
            <a:r>
              <a:rPr lang="en-US" i="1" dirty="0">
                <a:ea typeface="ＭＳ Ｐゴシック" charset="-128"/>
              </a:rPr>
              <a:t>renaming</a:t>
            </a:r>
          </a:p>
          <a:p>
            <a:pPr lvl="3" eaLnBrk="1" hangingPunct="1"/>
            <a:r>
              <a:rPr lang="en-US" dirty="0">
                <a:ea typeface="ＭＳ Ｐゴシック" charset="-128"/>
              </a:rPr>
              <a:t>Values passed directly from producer to consumers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457200" y="1144060"/>
            <a:ext cx="3886201" cy="366749"/>
          </a:xfrm>
          <a:prstGeom prst="rect">
            <a:avLst/>
          </a:prstGeom>
          <a:solidFill>
            <a:srgbClr val="CCECFF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lIns="90468" tIns="44441" rIns="90468" bIns="44441">
            <a:prstTxWarp prst="textNoShape">
              <a:avLst/>
            </a:prstTxWarp>
            <a:spAutoFit/>
          </a:bodyPr>
          <a:lstStyle/>
          <a:p>
            <a:pPr>
              <a:tabLst>
                <a:tab pos="228554" algn="l"/>
                <a:tab pos="3720347" algn="l"/>
              </a:tabLst>
            </a:pPr>
            <a:r>
              <a:rPr lang="en-US" sz="1800" dirty="0">
                <a:latin typeface="Courier New" charset="0"/>
              </a:rPr>
              <a:t> </a:t>
            </a:r>
            <a:r>
              <a:rPr lang="en-US" sz="1800" dirty="0" err="1">
                <a:latin typeface="Courier New" charset="0"/>
              </a:rPr>
              <a:t>imulq</a:t>
            </a:r>
            <a:r>
              <a:rPr lang="en-US" sz="1800" dirty="0">
                <a:latin typeface="Courier New" charset="0"/>
              </a:rPr>
              <a:t> (%rax,%rdx,8),%</a:t>
            </a:r>
            <a:r>
              <a:rPr lang="en-US" sz="1800" dirty="0" err="1">
                <a:latin typeface="Courier New" charset="0"/>
              </a:rPr>
              <a:t>rcx</a:t>
            </a:r>
            <a:endParaRPr lang="en-US" sz="1800" dirty="0">
              <a:latin typeface="Courier New" charset="0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4572000" y="1144060"/>
            <a:ext cx="4419600" cy="643748"/>
          </a:xfrm>
          <a:prstGeom prst="rect">
            <a:avLst/>
          </a:prstGeom>
          <a:solidFill>
            <a:srgbClr val="FFCCFF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lIns="90468" tIns="44441" rIns="90468" bIns="44441">
            <a:prstTxWarp prst="textNoShape">
              <a:avLst/>
            </a:prstTxWarp>
            <a:spAutoFit/>
          </a:bodyPr>
          <a:lstStyle/>
          <a:p>
            <a:pPr>
              <a:tabLst>
                <a:tab pos="228554" algn="l"/>
                <a:tab pos="3720347" algn="l"/>
              </a:tabLst>
            </a:pPr>
            <a:r>
              <a:rPr lang="en-US" sz="1800" dirty="0">
                <a:latin typeface="Courier New" charset="0"/>
              </a:rPr>
              <a:t>load (%rax,%rdx.0,4) </a:t>
            </a:r>
            <a:r>
              <a:rPr lang="en-US" sz="1800" dirty="0">
                <a:latin typeface="Courier New" charset="0"/>
                <a:sym typeface="Wingdings" charset="2"/>
              </a:rPr>
              <a:t> t.1</a:t>
            </a:r>
          </a:p>
          <a:p>
            <a:pPr>
              <a:tabLst>
                <a:tab pos="228554" algn="l"/>
                <a:tab pos="3720347" algn="l"/>
              </a:tabLst>
            </a:pPr>
            <a:r>
              <a:rPr lang="en-US" sz="1800" dirty="0" err="1">
                <a:latin typeface="Courier New" charset="0"/>
                <a:sym typeface="Wingdings" charset="2"/>
              </a:rPr>
              <a:t>imulq</a:t>
            </a:r>
            <a:r>
              <a:rPr lang="en-US" sz="1800" dirty="0">
                <a:latin typeface="Courier New" charset="0"/>
                <a:sym typeface="Wingdings" charset="2"/>
              </a:rPr>
              <a:t> t.1, %erx.0     %rcx.1</a:t>
            </a:r>
          </a:p>
        </p:txBody>
      </p:sp>
    </p:spTree>
    <p:extLst>
      <p:ext uri="{BB962C8B-B14F-4D97-AF65-F5344CB8AC3E}">
        <p14:creationId xmlns:p14="http://schemas.microsoft.com/office/powerpoint/2010/main" val="24258984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336398"/>
            <a:ext cx="8234362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Translation Example #2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829542"/>
            <a:ext cx="8281987" cy="298311"/>
          </a:xfrm>
        </p:spPr>
        <p:txBody>
          <a:bodyPr/>
          <a:lstStyle/>
          <a:p>
            <a:pPr lvl="1" eaLnBrk="1" hangingPunct="1"/>
            <a:r>
              <a:rPr lang="en-US" dirty="0">
                <a:ea typeface="ＭＳ Ｐゴシック" charset="-128"/>
              </a:rPr>
              <a:t>Register </a:t>
            </a:r>
            <a:r>
              <a:rPr lang="en-US" dirty="0">
                <a:latin typeface="Courier New" charset="0"/>
                <a:ea typeface="ＭＳ Ｐゴシック" charset="-128"/>
              </a:rPr>
              <a:t>%</a:t>
            </a:r>
            <a:r>
              <a:rPr lang="en-US" dirty="0" err="1">
                <a:latin typeface="Courier New" charset="0"/>
                <a:ea typeface="ＭＳ Ｐゴシック" charset="-128"/>
              </a:rPr>
              <a:t>rdx</a:t>
            </a:r>
            <a:r>
              <a:rPr lang="en-US" dirty="0">
                <a:ea typeface="ＭＳ Ｐゴシック" charset="-128"/>
              </a:rPr>
              <a:t> changes on each iteration.  Rename as </a:t>
            </a:r>
            <a:r>
              <a:rPr lang="en-US" dirty="0">
                <a:latin typeface="Courier New" charset="0"/>
                <a:ea typeface="ＭＳ Ｐゴシック" charset="-128"/>
              </a:rPr>
              <a:t>%rdx.0</a:t>
            </a:r>
            <a:r>
              <a:rPr lang="en-US" dirty="0">
                <a:ea typeface="ＭＳ Ｐゴシック" charset="-128"/>
              </a:rPr>
              <a:t>, </a:t>
            </a:r>
            <a:r>
              <a:rPr lang="en-US" dirty="0">
                <a:latin typeface="Courier New" charset="0"/>
                <a:ea typeface="ＭＳ Ｐゴシック" charset="-128"/>
              </a:rPr>
              <a:t>%rdx.1</a:t>
            </a:r>
            <a:r>
              <a:rPr lang="en-US" dirty="0">
                <a:ea typeface="ＭＳ Ｐゴシック" charset="-128"/>
              </a:rPr>
              <a:t>, </a:t>
            </a:r>
            <a:r>
              <a:rPr lang="en-US" dirty="0">
                <a:latin typeface="Courier New" charset="0"/>
                <a:ea typeface="ＭＳ Ｐゴシック" charset="-128"/>
              </a:rPr>
              <a:t>%rdx.2</a:t>
            </a:r>
            <a:r>
              <a:rPr lang="en-US" dirty="0">
                <a:ea typeface="ＭＳ Ｐゴシック" charset="-128"/>
              </a:rPr>
              <a:t>, …</a:t>
            </a:r>
          </a:p>
        </p:txBody>
      </p:sp>
      <p:sp>
        <p:nvSpPr>
          <p:cNvPr id="27652" name="Rectangle 6"/>
          <p:cNvSpPr>
            <a:spLocks noChangeArrowheads="1"/>
          </p:cNvSpPr>
          <p:nvPr/>
        </p:nvSpPr>
        <p:spPr bwMode="auto">
          <a:xfrm>
            <a:off x="457200" y="1123433"/>
            <a:ext cx="3886201" cy="366749"/>
          </a:xfrm>
          <a:prstGeom prst="rect">
            <a:avLst/>
          </a:prstGeom>
          <a:solidFill>
            <a:srgbClr val="CCECFF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lIns="90468" tIns="44441" rIns="90468" bIns="44441">
            <a:prstTxWarp prst="textNoShape">
              <a:avLst/>
            </a:prstTxWarp>
            <a:spAutoFit/>
          </a:bodyPr>
          <a:lstStyle/>
          <a:p>
            <a:pPr>
              <a:tabLst>
                <a:tab pos="228554" algn="l"/>
                <a:tab pos="3720347" algn="l"/>
              </a:tabLst>
            </a:pPr>
            <a:r>
              <a:rPr lang="en-US" sz="1800" dirty="0">
                <a:latin typeface="Courier New" charset="0"/>
              </a:rPr>
              <a:t>	</a:t>
            </a:r>
            <a:r>
              <a:rPr lang="en-US" sz="1800" dirty="0" err="1">
                <a:latin typeface="Courier New" charset="0"/>
              </a:rPr>
              <a:t>incq</a:t>
            </a:r>
            <a:r>
              <a:rPr lang="en-US" sz="1800" dirty="0">
                <a:latin typeface="Courier New" charset="0"/>
              </a:rPr>
              <a:t> %</a:t>
            </a:r>
            <a:r>
              <a:rPr lang="en-US" sz="1800" dirty="0" err="1">
                <a:latin typeface="Courier New" charset="0"/>
              </a:rPr>
              <a:t>rdx</a:t>
            </a:r>
            <a:endParaRPr lang="en-US" sz="1800" dirty="0">
              <a:latin typeface="Courier New" charset="0"/>
            </a:endParaRPr>
          </a:p>
        </p:txBody>
      </p:sp>
      <p:sp>
        <p:nvSpPr>
          <p:cNvPr id="27653" name="Rectangle 7"/>
          <p:cNvSpPr>
            <a:spLocks noChangeArrowheads="1"/>
          </p:cNvSpPr>
          <p:nvPr/>
        </p:nvSpPr>
        <p:spPr bwMode="auto">
          <a:xfrm>
            <a:off x="4800601" y="1123433"/>
            <a:ext cx="4191000" cy="335971"/>
          </a:xfrm>
          <a:prstGeom prst="rect">
            <a:avLst/>
          </a:prstGeom>
          <a:solidFill>
            <a:srgbClr val="FFCCFF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lIns="90468" tIns="44441" rIns="90468" bIns="44441">
            <a:prstTxWarp prst="textNoShape">
              <a:avLst/>
            </a:prstTxWarp>
            <a:spAutoFit/>
          </a:bodyPr>
          <a:lstStyle/>
          <a:p>
            <a:pPr>
              <a:tabLst>
                <a:tab pos="228554" algn="l"/>
                <a:tab pos="3720347" algn="l"/>
              </a:tabLst>
            </a:pPr>
            <a:r>
              <a:rPr lang="en-US" sz="1600" dirty="0" err="1">
                <a:latin typeface="Courier New" charset="0"/>
                <a:sym typeface="Wingdings" charset="2"/>
              </a:rPr>
              <a:t>incq</a:t>
            </a:r>
            <a:r>
              <a:rPr lang="en-US" sz="1600" dirty="0">
                <a:latin typeface="Courier New" charset="0"/>
                <a:sym typeface="Wingdings" charset="2"/>
              </a:rPr>
              <a:t> %rdx.0         %rdx.1</a:t>
            </a:r>
          </a:p>
        </p:txBody>
      </p:sp>
    </p:spTree>
    <p:extLst>
      <p:ext uri="{BB962C8B-B14F-4D97-AF65-F5344CB8AC3E}">
        <p14:creationId xmlns:p14="http://schemas.microsoft.com/office/powerpoint/2010/main" val="3520796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36398"/>
            <a:ext cx="8564563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Translation Example #3</a:t>
            </a:r>
          </a:p>
        </p:txBody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297976"/>
            <a:ext cx="8281987" cy="829877"/>
          </a:xfrm>
        </p:spPr>
        <p:txBody>
          <a:bodyPr/>
          <a:lstStyle/>
          <a:p>
            <a:pPr eaLnBrk="1" hangingPunct="1">
              <a:buFont typeface="Wingdings" pitchFamily="-109" charset="2"/>
              <a:buNone/>
              <a:defRPr/>
            </a:pPr>
            <a:endParaRPr lang="en-US">
              <a:ea typeface="+mn-ea"/>
              <a:cs typeface="+mn-cs"/>
            </a:endParaRP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Condition codes are treated similar to registers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Assign tag to define connection between producer and consumer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381000" y="1220224"/>
            <a:ext cx="3886201" cy="366749"/>
          </a:xfrm>
          <a:prstGeom prst="rect">
            <a:avLst/>
          </a:prstGeom>
          <a:solidFill>
            <a:srgbClr val="CCECFF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lIns="90468" tIns="44441" rIns="90468" bIns="44441">
            <a:prstTxWarp prst="textNoShape">
              <a:avLst/>
            </a:prstTxWarp>
            <a:spAutoFit/>
          </a:bodyPr>
          <a:lstStyle/>
          <a:p>
            <a:pPr>
              <a:tabLst>
                <a:tab pos="228554" algn="l"/>
                <a:tab pos="3720347" algn="l"/>
              </a:tabLst>
            </a:pPr>
            <a:r>
              <a:rPr lang="en-US" sz="1800" dirty="0">
                <a:latin typeface="Courier New" charset="0"/>
              </a:rPr>
              <a:t>	</a:t>
            </a:r>
            <a:r>
              <a:rPr lang="en-US" sz="1800" dirty="0" err="1">
                <a:latin typeface="Courier New" charset="0"/>
              </a:rPr>
              <a:t>cmpq</a:t>
            </a:r>
            <a:r>
              <a:rPr lang="en-US" sz="1800" dirty="0">
                <a:latin typeface="Courier New" charset="0"/>
              </a:rPr>
              <a:t> %</a:t>
            </a:r>
            <a:r>
              <a:rPr lang="en-US" sz="1800" dirty="0" err="1">
                <a:latin typeface="Courier New" charset="0"/>
              </a:rPr>
              <a:t>rsi</a:t>
            </a:r>
            <a:r>
              <a:rPr lang="en-US" sz="1800" dirty="0">
                <a:latin typeface="Courier New" charset="0"/>
              </a:rPr>
              <a:t>,%</a:t>
            </a:r>
            <a:r>
              <a:rPr lang="en-US" sz="1800" dirty="0" err="1">
                <a:latin typeface="Courier New" charset="0"/>
              </a:rPr>
              <a:t>rdx</a:t>
            </a:r>
            <a:endParaRPr lang="en-US" sz="1800" dirty="0">
              <a:latin typeface="Courier New" charset="0"/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4724400" y="1220224"/>
            <a:ext cx="4191000" cy="335971"/>
          </a:xfrm>
          <a:prstGeom prst="rect">
            <a:avLst/>
          </a:prstGeom>
          <a:solidFill>
            <a:srgbClr val="FFCCFF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lIns="90468" tIns="44441" rIns="90468" bIns="44441">
            <a:prstTxWarp prst="textNoShape">
              <a:avLst/>
            </a:prstTxWarp>
            <a:spAutoFit/>
          </a:bodyPr>
          <a:lstStyle/>
          <a:p>
            <a:pPr>
              <a:tabLst>
                <a:tab pos="228554" algn="l"/>
                <a:tab pos="3720347" algn="l"/>
              </a:tabLst>
            </a:pPr>
            <a:r>
              <a:rPr lang="en-US" sz="1600" dirty="0" err="1">
                <a:latin typeface="Courier New" charset="0"/>
                <a:sym typeface="Wingdings" charset="2"/>
              </a:rPr>
              <a:t>cmpq</a:t>
            </a:r>
            <a:r>
              <a:rPr lang="en-US" sz="1600" dirty="0">
                <a:latin typeface="Courier New" charset="0"/>
                <a:sym typeface="Wingdings" charset="2"/>
              </a:rPr>
              <a:t> %</a:t>
            </a:r>
            <a:r>
              <a:rPr lang="en-US" sz="1600" dirty="0" err="1">
                <a:latin typeface="Courier New" charset="0"/>
                <a:sym typeface="Wingdings" charset="2"/>
              </a:rPr>
              <a:t>rsi</a:t>
            </a:r>
            <a:r>
              <a:rPr lang="en-US" sz="1600" dirty="0">
                <a:latin typeface="Courier New" charset="0"/>
                <a:sym typeface="Wingdings" charset="2"/>
              </a:rPr>
              <a:t>, %rdx.1   cc.1</a:t>
            </a:r>
          </a:p>
        </p:txBody>
      </p:sp>
    </p:spTree>
    <p:extLst>
      <p:ext uri="{BB962C8B-B14F-4D97-AF65-F5344CB8AC3E}">
        <p14:creationId xmlns:p14="http://schemas.microsoft.com/office/powerpoint/2010/main" val="1704476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36398"/>
            <a:ext cx="8564563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Translation Example #4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753378"/>
            <a:ext cx="8281987" cy="374476"/>
          </a:xfrm>
        </p:spPr>
        <p:txBody>
          <a:bodyPr/>
          <a:lstStyle/>
          <a:p>
            <a:pPr lvl="1" eaLnBrk="1" hangingPunct="1"/>
            <a:r>
              <a:rPr lang="en-US" dirty="0">
                <a:ea typeface="ＭＳ Ｐゴシック" charset="-128"/>
              </a:rPr>
              <a:t>Instruction control unit determines destination of jump</a:t>
            </a:r>
          </a:p>
          <a:p>
            <a:pPr lvl="1" eaLnBrk="1" hangingPunct="1"/>
            <a:r>
              <a:rPr lang="en-US" dirty="0">
                <a:ea typeface="ＭＳ Ｐゴシック" charset="-128"/>
              </a:rPr>
              <a:t>Predicts whether will be taken and target</a:t>
            </a:r>
          </a:p>
          <a:p>
            <a:pPr lvl="1" eaLnBrk="1" hangingPunct="1"/>
            <a:r>
              <a:rPr lang="en-US" dirty="0">
                <a:ea typeface="ＭＳ Ｐゴシック" charset="-128"/>
              </a:rPr>
              <a:t>Starts fetching instruction at predicted destination</a:t>
            </a:r>
          </a:p>
          <a:p>
            <a:pPr lvl="1" eaLnBrk="1" hangingPunct="1"/>
            <a:r>
              <a:rPr lang="en-US" dirty="0">
                <a:ea typeface="ＭＳ Ｐゴシック" charset="-128"/>
              </a:rPr>
              <a:t>Execution unit simply checks whether or not prediction was OK</a:t>
            </a:r>
          </a:p>
          <a:p>
            <a:pPr lvl="1" eaLnBrk="1" hangingPunct="1"/>
            <a:r>
              <a:rPr lang="en-US" dirty="0">
                <a:ea typeface="ＭＳ Ｐゴシック" charset="-128"/>
              </a:rPr>
              <a:t>If not, it signals instruction control</a:t>
            </a:r>
          </a:p>
          <a:p>
            <a:pPr lvl="2" eaLnBrk="1" hangingPunct="1"/>
            <a:r>
              <a:rPr lang="en-US" dirty="0">
                <a:ea typeface="ＭＳ Ｐゴシック" charset="-128"/>
              </a:rPr>
              <a:t>Instruction control then “invalidates” any operations generated from </a:t>
            </a:r>
            <a:r>
              <a:rPr lang="en-US" dirty="0" err="1">
                <a:ea typeface="ＭＳ Ｐゴシック" charset="-128"/>
              </a:rPr>
              <a:t>misfetched</a:t>
            </a:r>
            <a:r>
              <a:rPr lang="en-US" dirty="0">
                <a:ea typeface="ＭＳ Ｐゴシック" charset="-128"/>
              </a:rPr>
              <a:t> instructions</a:t>
            </a:r>
          </a:p>
          <a:p>
            <a:pPr lvl="2" eaLnBrk="1" hangingPunct="1"/>
            <a:r>
              <a:rPr lang="en-US" dirty="0">
                <a:ea typeface="ＭＳ Ｐゴシック" charset="-128"/>
              </a:rPr>
              <a:t>Begins fetching and decoding instructions at correct target</a:t>
            </a:r>
          </a:p>
        </p:txBody>
      </p:sp>
      <p:sp>
        <p:nvSpPr>
          <p:cNvPr id="29700" name="Rectangle 6"/>
          <p:cNvSpPr>
            <a:spLocks noChangeArrowheads="1"/>
          </p:cNvSpPr>
          <p:nvPr/>
        </p:nvSpPr>
        <p:spPr bwMode="auto">
          <a:xfrm>
            <a:off x="457200" y="1144059"/>
            <a:ext cx="3886201" cy="366749"/>
          </a:xfrm>
          <a:prstGeom prst="rect">
            <a:avLst/>
          </a:prstGeom>
          <a:solidFill>
            <a:srgbClr val="CCECFF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lIns="90468" tIns="44441" rIns="90468" bIns="44441">
            <a:prstTxWarp prst="textNoShape">
              <a:avLst/>
            </a:prstTxWarp>
            <a:spAutoFit/>
          </a:bodyPr>
          <a:lstStyle/>
          <a:p>
            <a:pPr>
              <a:tabLst>
                <a:tab pos="228554" algn="l"/>
                <a:tab pos="3720347" algn="l"/>
              </a:tabLst>
            </a:pPr>
            <a:r>
              <a:rPr lang="en-US" sz="1800" dirty="0">
                <a:latin typeface="Courier New" charset="0"/>
              </a:rPr>
              <a:t>	</a:t>
            </a:r>
            <a:r>
              <a:rPr lang="en-US" sz="1800" dirty="0" err="1">
                <a:latin typeface="Courier New" charset="0"/>
              </a:rPr>
              <a:t>jl</a:t>
            </a:r>
            <a:r>
              <a:rPr lang="en-US" sz="1800" dirty="0">
                <a:latin typeface="Courier New" charset="0"/>
              </a:rPr>
              <a:t> .L24</a:t>
            </a:r>
          </a:p>
        </p:txBody>
      </p:sp>
      <p:sp>
        <p:nvSpPr>
          <p:cNvPr id="29701" name="Rectangle 7"/>
          <p:cNvSpPr>
            <a:spLocks noChangeArrowheads="1"/>
          </p:cNvSpPr>
          <p:nvPr/>
        </p:nvSpPr>
        <p:spPr bwMode="auto">
          <a:xfrm>
            <a:off x="4800601" y="1144059"/>
            <a:ext cx="4191000" cy="366749"/>
          </a:xfrm>
          <a:prstGeom prst="rect">
            <a:avLst/>
          </a:prstGeom>
          <a:solidFill>
            <a:srgbClr val="FFCCFF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lIns="90468" tIns="44441" rIns="90468" bIns="44441">
            <a:prstTxWarp prst="textNoShape">
              <a:avLst/>
            </a:prstTxWarp>
            <a:spAutoFit/>
          </a:bodyPr>
          <a:lstStyle/>
          <a:p>
            <a:pPr>
              <a:tabLst>
                <a:tab pos="228554" algn="l"/>
                <a:tab pos="3720347" algn="l"/>
              </a:tabLst>
            </a:pPr>
            <a:r>
              <a:rPr lang="en-US" sz="1800" dirty="0" err="1">
                <a:latin typeface="Courier New" charset="0"/>
                <a:sym typeface="Wingdings" charset="2"/>
              </a:rPr>
              <a:t>jl</a:t>
            </a:r>
            <a:r>
              <a:rPr lang="en-US" sz="1800" dirty="0">
                <a:latin typeface="Courier New" charset="0"/>
                <a:sym typeface="Wingdings" charset="2"/>
              </a:rPr>
              <a:t>-taken cc.1</a:t>
            </a:r>
            <a:endParaRPr lang="en-US" sz="1800" dirty="0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6809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228600"/>
            <a:ext cx="7592093" cy="762000"/>
          </a:xfrm>
        </p:spPr>
        <p:txBody>
          <a:bodyPr/>
          <a:lstStyle/>
          <a:p>
            <a:r>
              <a:rPr lang="en-US" dirty="0"/>
              <a:t>Pipelined Functional Units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6427570" y="357186"/>
            <a:ext cx="1865530" cy="2057400"/>
            <a:chOff x="4553635" y="1828800"/>
            <a:chExt cx="1865530" cy="2057400"/>
          </a:xfrm>
        </p:grpSpPr>
        <p:sp>
          <p:nvSpPr>
            <p:cNvPr id="4" name="AutoShape 5"/>
            <p:cNvSpPr>
              <a:spLocks noChangeArrowheads="1"/>
            </p:cNvSpPr>
            <p:nvPr/>
          </p:nvSpPr>
          <p:spPr bwMode="auto">
            <a:xfrm>
              <a:off x="4571999" y="2057400"/>
              <a:ext cx="1847165" cy="381000"/>
            </a:xfrm>
            <a:prstGeom prst="roundRect">
              <a:avLst>
                <a:gd name="adj" fmla="val 19644"/>
              </a:avLst>
            </a:prstGeom>
            <a:solidFill>
              <a:srgbClr val="F1C7C7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100000"/>
                </a:lnSpc>
              </a:pPr>
              <a:r>
                <a:rPr lang="en-US" sz="1800" b="0" dirty="0">
                  <a:latin typeface="Calibri"/>
                  <a:cs typeface="Calibri"/>
                </a:rPr>
                <a:t>Stage 1</a:t>
              </a:r>
            </a:p>
          </p:txBody>
        </p:sp>
        <p:sp>
          <p:nvSpPr>
            <p:cNvPr id="5" name="Line 6"/>
            <p:cNvSpPr>
              <a:spLocks noChangeShapeType="1"/>
            </p:cNvSpPr>
            <p:nvPr/>
          </p:nvSpPr>
          <p:spPr bwMode="auto">
            <a:xfrm>
              <a:off x="5029200" y="1828800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6" name="Line 7"/>
            <p:cNvSpPr>
              <a:spLocks noChangeShapeType="1"/>
            </p:cNvSpPr>
            <p:nvPr/>
          </p:nvSpPr>
          <p:spPr bwMode="auto">
            <a:xfrm>
              <a:off x="5943600" y="1828800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5486400" y="2438400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12" name="AutoShape 5"/>
            <p:cNvSpPr>
              <a:spLocks noChangeArrowheads="1"/>
            </p:cNvSpPr>
            <p:nvPr/>
          </p:nvSpPr>
          <p:spPr bwMode="auto">
            <a:xfrm>
              <a:off x="4572000" y="2667000"/>
              <a:ext cx="1847165" cy="381000"/>
            </a:xfrm>
            <a:prstGeom prst="roundRect">
              <a:avLst>
                <a:gd name="adj" fmla="val 19644"/>
              </a:avLst>
            </a:prstGeom>
            <a:solidFill>
              <a:srgbClr val="F1C7C7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100000"/>
                </a:lnSpc>
              </a:pPr>
              <a:r>
                <a:rPr lang="en-US" sz="1800" b="0" dirty="0">
                  <a:latin typeface="Calibri"/>
                  <a:cs typeface="Calibri"/>
                </a:rPr>
                <a:t>Stage 2</a:t>
              </a:r>
            </a:p>
          </p:txBody>
        </p:sp>
        <p:sp>
          <p:nvSpPr>
            <p:cNvPr id="13" name="Line 7"/>
            <p:cNvSpPr>
              <a:spLocks noChangeShapeType="1"/>
            </p:cNvSpPr>
            <p:nvPr/>
          </p:nvSpPr>
          <p:spPr bwMode="auto">
            <a:xfrm>
              <a:off x="5486401" y="3048000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14" name="AutoShape 5"/>
            <p:cNvSpPr>
              <a:spLocks noChangeArrowheads="1"/>
            </p:cNvSpPr>
            <p:nvPr/>
          </p:nvSpPr>
          <p:spPr bwMode="auto">
            <a:xfrm>
              <a:off x="4553635" y="3276600"/>
              <a:ext cx="1847165" cy="381000"/>
            </a:xfrm>
            <a:prstGeom prst="roundRect">
              <a:avLst>
                <a:gd name="adj" fmla="val 19644"/>
              </a:avLst>
            </a:prstGeom>
            <a:solidFill>
              <a:srgbClr val="F1C7C7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100000"/>
                </a:lnSpc>
              </a:pPr>
              <a:r>
                <a:rPr lang="en-US" sz="1800" b="0" dirty="0">
                  <a:latin typeface="Calibri"/>
                  <a:cs typeface="Calibri"/>
                </a:rPr>
                <a:t>Stage 3</a:t>
              </a:r>
            </a:p>
          </p:txBody>
        </p:sp>
        <p:sp>
          <p:nvSpPr>
            <p:cNvPr id="15" name="Line 7"/>
            <p:cNvSpPr>
              <a:spLocks noChangeShapeType="1"/>
            </p:cNvSpPr>
            <p:nvPr/>
          </p:nvSpPr>
          <p:spPr bwMode="auto">
            <a:xfrm>
              <a:off x="5468036" y="3657600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800" dirty="0">
                <a:latin typeface="Calibri" pitchFamily="34" charset="0"/>
              </a:endParaRPr>
            </a:p>
          </p:txBody>
        </p:sp>
      </p:grp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19773" y="1045252"/>
            <a:ext cx="4861706" cy="1567096"/>
          </a:xfrm>
          <a:prstGeom prst="rect">
            <a:avLst/>
          </a:prstGeom>
          <a:solidFill>
            <a:srgbClr val="F6F5BD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long </a:t>
            </a:r>
            <a:r>
              <a:rPr lang="en-US" sz="1600" dirty="0" err="1">
                <a:latin typeface="Courier New" pitchFamily="49" charset="0"/>
              </a:rPr>
              <a:t>mult_eg</a:t>
            </a:r>
            <a:r>
              <a:rPr lang="en-US" sz="1600" dirty="0">
                <a:latin typeface="Courier New" pitchFamily="49" charset="0"/>
              </a:rPr>
              <a:t>(long a, long b, long c) 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long p1 = a*b;
    long p2 = a*c;
    long p3 = p1 * p2;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return p3;
}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96875" y="4800601"/>
            <a:ext cx="7896225" cy="1533524"/>
          </a:xfrm>
        </p:spPr>
        <p:txBody>
          <a:bodyPr/>
          <a:lstStyle/>
          <a:p>
            <a:pPr lvl="1"/>
            <a:r>
              <a:rPr lang="en-US" dirty="0"/>
              <a:t>Divide computation into stages</a:t>
            </a:r>
          </a:p>
          <a:p>
            <a:pPr lvl="1"/>
            <a:r>
              <a:rPr lang="en-US" dirty="0"/>
              <a:t>Pass partial computations from stage to stage</a:t>
            </a:r>
          </a:p>
          <a:p>
            <a:pPr lvl="1"/>
            <a:r>
              <a:rPr lang="en-US" dirty="0"/>
              <a:t>Stage </a:t>
            </a:r>
            <a:r>
              <a:rPr lang="en-US" dirty="0" err="1"/>
              <a:t>i</a:t>
            </a:r>
            <a:r>
              <a:rPr lang="en-US" dirty="0"/>
              <a:t> can start on new computation once values passed to i+1</a:t>
            </a:r>
          </a:p>
          <a:p>
            <a:pPr lvl="1"/>
            <a:r>
              <a:rPr lang="en-US" dirty="0"/>
              <a:t>E.g., complete 3 multiplications in 7 cycles, even though each requires 3 cycles</a:t>
            </a:r>
          </a:p>
        </p:txBody>
      </p:sp>
      <p:graphicFrame>
        <p:nvGraphicFramePr>
          <p:cNvPr id="17" name="Content Placeholder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626219"/>
              </p:ext>
            </p:extLst>
          </p:nvPr>
        </p:nvGraphicFramePr>
        <p:xfrm>
          <a:off x="1219200" y="2743200"/>
          <a:ext cx="6934202" cy="18542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/>
                        <a:cs typeface="Calibri"/>
                      </a:endParaRPr>
                    </a:p>
                  </a:txBody>
                  <a:tcPr marL="124677" marR="124677"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/>
                          <a:cs typeface="Calibri"/>
                        </a:rPr>
                        <a:t>Time</a:t>
                      </a:r>
                    </a:p>
                  </a:txBody>
                  <a:tcPr marL="124677" marR="124677"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/>
                          <a:cs typeface="Calibri"/>
                        </a:rPr>
                        <a:t>1</a:t>
                      </a:r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/>
                          <a:cs typeface="Calibri"/>
                        </a:rPr>
                        <a:t>2</a:t>
                      </a:r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/>
                          <a:cs typeface="Calibri"/>
                        </a:rPr>
                        <a:t>3</a:t>
                      </a:r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/>
                          <a:cs typeface="Calibri"/>
                        </a:rPr>
                        <a:t>4</a:t>
                      </a:r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/>
                          <a:cs typeface="Calibri"/>
                        </a:rPr>
                        <a:t>5</a:t>
                      </a:r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/>
                          <a:cs typeface="Calibri"/>
                        </a:rPr>
                        <a:t>6</a:t>
                      </a:r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/>
                          <a:cs typeface="Calibri"/>
                        </a:rPr>
                        <a:t>7</a:t>
                      </a:r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/>
                          <a:cs typeface="Calibri"/>
                        </a:rPr>
                        <a:t>Stage 1</a:t>
                      </a: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latin typeface="Courier New"/>
                          <a:cs typeface="Courier New"/>
                        </a:rPr>
                        <a:t>a*b</a:t>
                      </a: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latin typeface="Courier New"/>
                          <a:cs typeface="Courier New"/>
                        </a:rPr>
                        <a:t>a*c</a:t>
                      </a: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Courier New"/>
                        <a:cs typeface="Courier New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Courier New"/>
                        <a:cs typeface="Courier New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latin typeface="Courier New"/>
                          <a:cs typeface="Courier New"/>
                        </a:rPr>
                        <a:t>p1*p2</a:t>
                      </a: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>
                        <a:latin typeface="Courier New"/>
                        <a:cs typeface="Courier New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>
                        <a:latin typeface="Courier New"/>
                        <a:cs typeface="Courier New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/>
                          <a:cs typeface="Calibri"/>
                        </a:rPr>
                        <a:t>Stage 2</a:t>
                      </a: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Courier New"/>
                        <a:cs typeface="Courier New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latin typeface="Courier New"/>
                          <a:cs typeface="Courier New"/>
                        </a:rPr>
                        <a:t>a*b</a:t>
                      </a: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latin typeface="Courier New"/>
                          <a:cs typeface="Courier New"/>
                        </a:rPr>
                        <a:t>a*c</a:t>
                      </a: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Courier New"/>
                        <a:cs typeface="Courier New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Courier New"/>
                        <a:cs typeface="Courier New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latin typeface="Courier New"/>
                          <a:cs typeface="Courier New"/>
                        </a:rPr>
                        <a:t>p1*p2</a:t>
                      </a: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Courier New"/>
                        <a:cs typeface="Courier New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/>
                          <a:cs typeface="Calibri"/>
                        </a:rPr>
                        <a:t>Stage 3</a:t>
                      </a: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Courier New"/>
                        <a:cs typeface="Courier New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>
                        <a:latin typeface="Courier New"/>
                        <a:cs typeface="Courier New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latin typeface="Courier New"/>
                          <a:cs typeface="Courier New"/>
                        </a:rPr>
                        <a:t>a*b</a:t>
                      </a: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latin typeface="Courier New"/>
                          <a:cs typeface="Courier New"/>
                        </a:rPr>
                        <a:t>a*c</a:t>
                      </a: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Courier New"/>
                        <a:cs typeface="Courier New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dirty="0">
                        <a:latin typeface="Courier New"/>
                        <a:cs typeface="Courier New"/>
                      </a:endParaRP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latin typeface="Courier New"/>
                          <a:cs typeface="Courier New"/>
                        </a:rPr>
                        <a:t>p1*p2</a:t>
                      </a:r>
                    </a:p>
                  </a:txBody>
                  <a:tcPr marL="124677" marR="12467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0183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08907" y="381000"/>
            <a:ext cx="7592093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x86-64 Compilation of Combine4</a:t>
            </a:r>
          </a:p>
        </p:txBody>
      </p:sp>
      <p:sp>
        <p:nvSpPr>
          <p:cNvPr id="77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9624" y="1371600"/>
            <a:ext cx="8255000" cy="685800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dirty="0"/>
              <a:t>Inner Loop (Case: Integer Multiply)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491875" y="2057400"/>
            <a:ext cx="5715000" cy="116698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228600" algn="l"/>
                <a:tab pos="914400" algn="l"/>
                <a:tab pos="3149600" algn="l"/>
              </a:tabLst>
            </a:pPr>
            <a:r>
              <a:rPr lang="en-US" sz="1400" dirty="0">
                <a:latin typeface="Courier New" pitchFamily="49" charset="0"/>
              </a:rPr>
              <a:t>.L519:		# Loop:</a:t>
            </a:r>
          </a:p>
          <a:p>
            <a:pPr>
              <a:lnSpc>
                <a:spcPct val="100000"/>
              </a:lnSpc>
              <a:tabLst>
                <a:tab pos="228600" algn="l"/>
                <a:tab pos="914400" algn="l"/>
                <a:tab pos="3149600" algn="l"/>
              </a:tabLst>
            </a:pPr>
            <a:r>
              <a:rPr lang="en-US" sz="1400" dirty="0">
                <a:latin typeface="Courier New" pitchFamily="49" charset="0"/>
              </a:rPr>
              <a:t>	</a:t>
            </a:r>
            <a:r>
              <a:rPr lang="en-US" sz="1400" dirty="0" err="1">
                <a:solidFill>
                  <a:srgbClr val="C00000"/>
                </a:solidFill>
                <a:latin typeface="Courier New" pitchFamily="49" charset="0"/>
              </a:rPr>
              <a:t>imull</a:t>
            </a:r>
            <a:r>
              <a:rPr lang="en-US" sz="1400" dirty="0">
                <a:solidFill>
                  <a:srgbClr val="C00000"/>
                </a:solidFill>
                <a:latin typeface="Courier New" pitchFamily="49" charset="0"/>
              </a:rPr>
              <a:t>	(%rax,%rdx,4), %</a:t>
            </a:r>
            <a:r>
              <a:rPr lang="en-US" sz="1400" dirty="0" err="1">
                <a:solidFill>
                  <a:srgbClr val="C00000"/>
                </a:solidFill>
                <a:latin typeface="Courier New" pitchFamily="49" charset="0"/>
              </a:rPr>
              <a:t>ecx</a:t>
            </a:r>
            <a:r>
              <a:rPr lang="en-US" sz="1400" dirty="0">
                <a:solidFill>
                  <a:srgbClr val="C00000"/>
                </a:solidFill>
                <a:latin typeface="Courier New" pitchFamily="49" charset="0"/>
              </a:rPr>
              <a:t>	# t = t * d[</a:t>
            </a:r>
            <a:r>
              <a:rPr lang="en-US" sz="1400" dirty="0" err="1">
                <a:solidFill>
                  <a:srgbClr val="C00000"/>
                </a:solidFill>
                <a:latin typeface="Courier New" pitchFamily="49" charset="0"/>
              </a:rPr>
              <a:t>i</a:t>
            </a:r>
            <a:r>
              <a:rPr lang="en-US" sz="1400" dirty="0">
                <a:solidFill>
                  <a:srgbClr val="C00000"/>
                </a:solidFill>
                <a:latin typeface="Courier New" pitchFamily="49" charset="0"/>
              </a:rPr>
              <a:t>]</a:t>
            </a:r>
          </a:p>
          <a:p>
            <a:pPr>
              <a:lnSpc>
                <a:spcPct val="100000"/>
              </a:lnSpc>
              <a:tabLst>
                <a:tab pos="228600" algn="l"/>
                <a:tab pos="914400" algn="l"/>
                <a:tab pos="3149600" algn="l"/>
              </a:tabLst>
            </a:pPr>
            <a:r>
              <a:rPr lang="en-US" sz="1400" dirty="0">
                <a:latin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</a:rPr>
              <a:t>addq</a:t>
            </a:r>
            <a:r>
              <a:rPr lang="en-US" sz="1400" dirty="0">
                <a:latin typeface="Courier New" pitchFamily="49" charset="0"/>
              </a:rPr>
              <a:t>	$1, %</a:t>
            </a:r>
            <a:r>
              <a:rPr lang="en-US" sz="1400" dirty="0" err="1">
                <a:latin typeface="Courier New" pitchFamily="49" charset="0"/>
              </a:rPr>
              <a:t>rdx</a:t>
            </a:r>
            <a:r>
              <a:rPr lang="en-US" sz="1400" dirty="0">
                <a:latin typeface="Courier New" pitchFamily="49" charset="0"/>
              </a:rPr>
              <a:t>	# </a:t>
            </a:r>
            <a:r>
              <a:rPr lang="en-US" sz="1400" dirty="0" err="1">
                <a:latin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</a:rPr>
              <a:t>++</a:t>
            </a:r>
          </a:p>
          <a:p>
            <a:pPr>
              <a:lnSpc>
                <a:spcPct val="100000"/>
              </a:lnSpc>
              <a:tabLst>
                <a:tab pos="228600" algn="l"/>
                <a:tab pos="914400" algn="l"/>
                <a:tab pos="3149600" algn="l"/>
              </a:tabLst>
            </a:pPr>
            <a:r>
              <a:rPr lang="en-US" sz="1400" dirty="0">
                <a:latin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</a:rPr>
              <a:t>cmpq</a:t>
            </a:r>
            <a:r>
              <a:rPr lang="en-US" sz="1400" dirty="0">
                <a:latin typeface="Courier New" pitchFamily="49" charset="0"/>
              </a:rPr>
              <a:t>	%</a:t>
            </a:r>
            <a:r>
              <a:rPr lang="en-US" sz="1400" dirty="0" err="1">
                <a:latin typeface="Courier New" pitchFamily="49" charset="0"/>
              </a:rPr>
              <a:t>rdx</a:t>
            </a:r>
            <a:r>
              <a:rPr lang="en-US" sz="1400" dirty="0">
                <a:latin typeface="Courier New" pitchFamily="49" charset="0"/>
              </a:rPr>
              <a:t>, %</a:t>
            </a:r>
            <a:r>
              <a:rPr lang="en-US" sz="1400" dirty="0" err="1">
                <a:latin typeface="Courier New" pitchFamily="49" charset="0"/>
              </a:rPr>
              <a:t>rbp</a:t>
            </a:r>
            <a:r>
              <a:rPr lang="en-US" sz="1400" dirty="0">
                <a:latin typeface="Courier New" pitchFamily="49" charset="0"/>
              </a:rPr>
              <a:t>	# Compare </a:t>
            </a:r>
            <a:r>
              <a:rPr lang="en-US" sz="1400" dirty="0" err="1">
                <a:latin typeface="Courier New" pitchFamily="49" charset="0"/>
              </a:rPr>
              <a:t>length:i</a:t>
            </a:r>
            <a:endParaRPr lang="en-US" sz="14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228600" algn="l"/>
                <a:tab pos="914400" algn="l"/>
                <a:tab pos="3149600" algn="l"/>
              </a:tabLst>
            </a:pPr>
            <a:r>
              <a:rPr lang="en-US" sz="1400" dirty="0">
                <a:latin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</a:rPr>
              <a:t>jg</a:t>
            </a:r>
            <a:r>
              <a:rPr lang="en-US" sz="1400" dirty="0">
                <a:latin typeface="Courier New" pitchFamily="49" charset="0"/>
              </a:rPr>
              <a:t>	.L519	# If &gt;, </a:t>
            </a:r>
            <a:r>
              <a:rPr lang="en-US" sz="1400" dirty="0" err="1">
                <a:latin typeface="Courier New" pitchFamily="49" charset="0"/>
              </a:rPr>
              <a:t>goto</a:t>
            </a:r>
            <a:r>
              <a:rPr lang="en-US" sz="1400" dirty="0">
                <a:latin typeface="Courier New" pitchFamily="49" charset="0"/>
              </a:rPr>
              <a:t> Loop</a:t>
            </a:r>
          </a:p>
        </p:txBody>
      </p:sp>
      <p:graphicFrame>
        <p:nvGraphicFramePr>
          <p:cNvPr id="9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543736"/>
              </p:ext>
            </p:extLst>
          </p:nvPr>
        </p:nvGraphicFramePr>
        <p:xfrm>
          <a:off x="1475161" y="3352800"/>
          <a:ext cx="6003925" cy="1777873"/>
        </p:xfrm>
        <a:graphic>
          <a:graphicData uri="http://schemas.openxmlformats.org/drawingml/2006/table">
            <a:tbl>
              <a:tblPr/>
              <a:tblGrid>
                <a:gridCol w="1723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Method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Integer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Double FP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Operation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Combine4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1.27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5.01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Latency Bound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5.00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3931A44D-B457-4B16-9FD7-4D88AD179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876" y="5486400"/>
            <a:ext cx="3585124" cy="112005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36398"/>
            <a:ext cx="6357938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Visualizing Operations</a:t>
            </a:r>
          </a:p>
        </p:txBody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30639" y="3032309"/>
            <a:ext cx="4767262" cy="2729235"/>
          </a:xfrm>
        </p:spPr>
        <p:txBody>
          <a:bodyPr/>
          <a:lstStyle/>
          <a:p>
            <a:pPr eaLnBrk="1" hangingPunct="1">
              <a:buFont typeface="Wingdings" pitchFamily="-109" charset="2"/>
              <a:buNone/>
              <a:defRPr/>
            </a:pPr>
            <a:r>
              <a:rPr lang="en-US" dirty="0">
                <a:ea typeface="+mn-ea"/>
                <a:cs typeface="+mn-cs"/>
              </a:rPr>
              <a:t>Operations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 dirty="0"/>
              <a:t>Vertical position denotes time at which executed</a:t>
            </a: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 dirty="0"/>
              <a:t>Cannot begin operation until operands available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 dirty="0"/>
              <a:t>Height denotes latency</a:t>
            </a:r>
          </a:p>
          <a:p>
            <a:pPr eaLnBrk="1" hangingPunct="1">
              <a:buFont typeface="Wingdings" pitchFamily="-109" charset="2"/>
              <a:buNone/>
              <a:defRPr/>
            </a:pPr>
            <a:r>
              <a:rPr lang="en-US" dirty="0">
                <a:ea typeface="+mn-ea"/>
                <a:cs typeface="+mn-cs"/>
              </a:rPr>
              <a:t>Operands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 dirty="0"/>
              <a:t>Arcs shown only for operands that are passed within execution unit</a:t>
            </a:r>
          </a:p>
        </p:txBody>
      </p:sp>
      <p:sp>
        <p:nvSpPr>
          <p:cNvPr id="30728" name="Text Box 5"/>
          <p:cNvSpPr txBox="1">
            <a:spLocks noChangeArrowheads="1"/>
          </p:cNvSpPr>
          <p:nvPr/>
        </p:nvSpPr>
        <p:spPr bwMode="auto">
          <a:xfrm>
            <a:off x="2697164" y="2085011"/>
            <a:ext cx="557213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cc.1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29" name="Text Box 6"/>
          <p:cNvSpPr txBox="1">
            <a:spLocks noChangeArrowheads="1"/>
          </p:cNvSpPr>
          <p:nvPr/>
        </p:nvSpPr>
        <p:spPr bwMode="auto">
          <a:xfrm>
            <a:off x="1878013" y="2893345"/>
            <a:ext cx="461963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t.1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30" name="AutoShape 7"/>
          <p:cNvSpPr>
            <a:spLocks noChangeArrowheads="1"/>
          </p:cNvSpPr>
          <p:nvPr/>
        </p:nvSpPr>
        <p:spPr bwMode="auto">
          <a:xfrm>
            <a:off x="1497013" y="1372553"/>
            <a:ext cx="755650" cy="1523250"/>
          </a:xfrm>
          <a:prstGeom prst="roundRect">
            <a:avLst>
              <a:gd name="adj" fmla="val 18181"/>
            </a:avLst>
          </a:prstGeom>
          <a:solidFill>
            <a:srgbClr val="99FF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>
                <a:latin typeface="Courier New" charset="0"/>
              </a:rPr>
              <a:t>load</a:t>
            </a:r>
          </a:p>
        </p:txBody>
      </p:sp>
      <p:sp>
        <p:nvSpPr>
          <p:cNvPr id="30731" name="Text Box 8"/>
          <p:cNvSpPr txBox="1">
            <a:spLocks noChangeArrowheads="1"/>
          </p:cNvSpPr>
          <p:nvPr/>
        </p:nvSpPr>
        <p:spPr bwMode="auto">
          <a:xfrm>
            <a:off x="2259013" y="4191000"/>
            <a:ext cx="742950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%ecx.1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32" name="Freeform 9"/>
          <p:cNvSpPr>
            <a:spLocks/>
          </p:cNvSpPr>
          <p:nvPr/>
        </p:nvSpPr>
        <p:spPr bwMode="auto">
          <a:xfrm>
            <a:off x="1878013" y="4343330"/>
            <a:ext cx="1295400" cy="76165"/>
          </a:xfrm>
          <a:custGeom>
            <a:avLst/>
            <a:gdLst>
              <a:gd name="T0" fmla="*/ 0 w 1056"/>
              <a:gd name="T1" fmla="*/ 0 h 48"/>
              <a:gd name="T2" fmla="*/ 0 w 1056"/>
              <a:gd name="T3" fmla="*/ 48 h 48"/>
              <a:gd name="T4" fmla="*/ 1056 w 1056"/>
              <a:gd name="T5" fmla="*/ 48 h 48"/>
              <a:gd name="T6" fmla="*/ 0 60000 65536"/>
              <a:gd name="T7" fmla="*/ 0 60000 65536"/>
              <a:gd name="T8" fmla="*/ 0 60000 65536"/>
              <a:gd name="T9" fmla="*/ 0 w 1056"/>
              <a:gd name="T10" fmla="*/ 0 h 48"/>
              <a:gd name="T11" fmla="*/ 1056 w 1056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48">
                <a:moveTo>
                  <a:pt x="0" y="0"/>
                </a:moveTo>
                <a:lnTo>
                  <a:pt x="0" y="48"/>
                </a:lnTo>
                <a:lnTo>
                  <a:pt x="1056" y="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3" name="Line 10"/>
          <p:cNvSpPr>
            <a:spLocks noChangeShapeType="1"/>
          </p:cNvSpPr>
          <p:nvPr/>
        </p:nvSpPr>
        <p:spPr bwMode="auto">
          <a:xfrm>
            <a:off x="1878013" y="2896518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4" name="AutoShape 11"/>
          <p:cNvSpPr>
            <a:spLocks noChangeArrowheads="1"/>
          </p:cNvSpPr>
          <p:nvPr/>
        </p:nvSpPr>
        <p:spPr bwMode="auto">
          <a:xfrm>
            <a:off x="2335214" y="1372554"/>
            <a:ext cx="76200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incl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0735" name="AutoShape 12"/>
          <p:cNvSpPr>
            <a:spLocks noChangeArrowheads="1"/>
          </p:cNvSpPr>
          <p:nvPr/>
        </p:nvSpPr>
        <p:spPr bwMode="auto">
          <a:xfrm>
            <a:off x="2335214" y="1829542"/>
            <a:ext cx="75565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cmpl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0736" name="AutoShape 13"/>
          <p:cNvSpPr>
            <a:spLocks noChangeArrowheads="1"/>
          </p:cNvSpPr>
          <p:nvPr/>
        </p:nvSpPr>
        <p:spPr bwMode="auto">
          <a:xfrm>
            <a:off x="2335214" y="2286530"/>
            <a:ext cx="75565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jl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0737" name="Line 14"/>
          <p:cNvSpPr>
            <a:spLocks noChangeShapeType="1"/>
          </p:cNvSpPr>
          <p:nvPr/>
        </p:nvSpPr>
        <p:spPr bwMode="auto">
          <a:xfrm>
            <a:off x="2716214" y="1601048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8" name="Line 15"/>
          <p:cNvSpPr>
            <a:spLocks noChangeShapeType="1"/>
          </p:cNvSpPr>
          <p:nvPr/>
        </p:nvSpPr>
        <p:spPr bwMode="auto">
          <a:xfrm flipH="1">
            <a:off x="2716214" y="2058036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9" name="Text Box 16"/>
          <p:cNvSpPr txBox="1">
            <a:spLocks noChangeArrowheads="1"/>
          </p:cNvSpPr>
          <p:nvPr/>
        </p:nvSpPr>
        <p:spPr bwMode="auto">
          <a:xfrm>
            <a:off x="1365251" y="991731"/>
            <a:ext cx="742950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%rdx.0</a:t>
            </a:r>
            <a:endParaRPr lang="en-US" sz="1202" i="1" dirty="0">
              <a:latin typeface="Times New Roman" charset="0"/>
            </a:endParaRPr>
          </a:p>
        </p:txBody>
      </p:sp>
      <p:sp>
        <p:nvSpPr>
          <p:cNvPr id="30740" name="Text Box 17"/>
          <p:cNvSpPr txBox="1">
            <a:spLocks noChangeArrowheads="1"/>
          </p:cNvSpPr>
          <p:nvPr/>
        </p:nvSpPr>
        <p:spPr bwMode="auto">
          <a:xfrm>
            <a:off x="3097214" y="1402703"/>
            <a:ext cx="742950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%rdx.1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41" name="Text Box 18"/>
          <p:cNvSpPr txBox="1">
            <a:spLocks noChangeArrowheads="1"/>
          </p:cNvSpPr>
          <p:nvPr/>
        </p:nvSpPr>
        <p:spPr bwMode="auto">
          <a:xfrm>
            <a:off x="804863" y="2667000"/>
            <a:ext cx="742950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%rax.0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42" name="Freeform 19"/>
          <p:cNvSpPr>
            <a:spLocks/>
          </p:cNvSpPr>
          <p:nvPr/>
        </p:nvSpPr>
        <p:spPr bwMode="auto">
          <a:xfrm>
            <a:off x="1420813" y="1220225"/>
            <a:ext cx="1295400" cy="152329"/>
          </a:xfrm>
          <a:custGeom>
            <a:avLst/>
            <a:gdLst>
              <a:gd name="T0" fmla="*/ 0 w 1008"/>
              <a:gd name="T1" fmla="*/ 0 h 48"/>
              <a:gd name="T2" fmla="*/ 1008 w 1008"/>
              <a:gd name="T3" fmla="*/ 0 h 48"/>
              <a:gd name="T4" fmla="*/ 1008 w 1008"/>
              <a:gd name="T5" fmla="*/ 48 h 48"/>
              <a:gd name="T6" fmla="*/ 0 60000 65536"/>
              <a:gd name="T7" fmla="*/ 0 60000 65536"/>
              <a:gd name="T8" fmla="*/ 0 60000 65536"/>
              <a:gd name="T9" fmla="*/ 0 w 1008"/>
              <a:gd name="T10" fmla="*/ 0 h 48"/>
              <a:gd name="T11" fmla="*/ 1008 w 100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48">
                <a:moveTo>
                  <a:pt x="0" y="0"/>
                </a:moveTo>
                <a:lnTo>
                  <a:pt x="1008" y="0"/>
                </a:lnTo>
                <a:lnTo>
                  <a:pt x="1008" y="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3" name="Line 20"/>
          <p:cNvSpPr>
            <a:spLocks noChangeShapeType="1"/>
          </p:cNvSpPr>
          <p:nvPr/>
        </p:nvSpPr>
        <p:spPr bwMode="auto">
          <a:xfrm>
            <a:off x="1878013" y="1220225"/>
            <a:ext cx="0" cy="1523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4" name="Freeform 21"/>
          <p:cNvSpPr>
            <a:spLocks/>
          </p:cNvSpPr>
          <p:nvPr/>
        </p:nvSpPr>
        <p:spPr bwMode="auto">
          <a:xfrm>
            <a:off x="2716214" y="1677213"/>
            <a:ext cx="457200" cy="76165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5" name="Freeform 22"/>
          <p:cNvSpPr>
            <a:spLocks/>
          </p:cNvSpPr>
          <p:nvPr/>
        </p:nvSpPr>
        <p:spPr bwMode="auto">
          <a:xfrm>
            <a:off x="3173414" y="1677213"/>
            <a:ext cx="228600" cy="76165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6" name="Freeform 23"/>
          <p:cNvSpPr>
            <a:spLocks/>
          </p:cNvSpPr>
          <p:nvPr/>
        </p:nvSpPr>
        <p:spPr bwMode="auto">
          <a:xfrm>
            <a:off x="3173414" y="4419494"/>
            <a:ext cx="228600" cy="76165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7" name="Freeform 24"/>
          <p:cNvSpPr>
            <a:spLocks/>
          </p:cNvSpPr>
          <p:nvPr/>
        </p:nvSpPr>
        <p:spPr bwMode="auto">
          <a:xfrm>
            <a:off x="1420813" y="2972683"/>
            <a:ext cx="228600" cy="152329"/>
          </a:xfrm>
          <a:custGeom>
            <a:avLst/>
            <a:gdLst>
              <a:gd name="T0" fmla="*/ 0 w 144"/>
              <a:gd name="T1" fmla="*/ 0 h 96"/>
              <a:gd name="T2" fmla="*/ 144 w 144"/>
              <a:gd name="T3" fmla="*/ 0 h 96"/>
              <a:gd name="T4" fmla="*/ 144 w 144"/>
              <a:gd name="T5" fmla="*/ 96 h 96"/>
              <a:gd name="T6" fmla="*/ 0 60000 65536"/>
              <a:gd name="T7" fmla="*/ 0 60000 65536"/>
              <a:gd name="T8" fmla="*/ 0 60000 65536"/>
              <a:gd name="T9" fmla="*/ 0 w 144"/>
              <a:gd name="T10" fmla="*/ 0 h 96"/>
              <a:gd name="T11" fmla="*/ 144 w 144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96">
                <a:moveTo>
                  <a:pt x="0" y="0"/>
                </a:moveTo>
                <a:lnTo>
                  <a:pt x="144" y="0"/>
                </a:lnTo>
                <a:lnTo>
                  <a:pt x="144" y="9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8" name="Line 25"/>
          <p:cNvSpPr>
            <a:spLocks noChangeShapeType="1"/>
          </p:cNvSpPr>
          <p:nvPr/>
        </p:nvSpPr>
        <p:spPr bwMode="auto">
          <a:xfrm flipH="1">
            <a:off x="1192213" y="297268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9" name="AutoShape 26"/>
          <p:cNvSpPr>
            <a:spLocks noChangeArrowheads="1"/>
          </p:cNvSpPr>
          <p:nvPr/>
        </p:nvSpPr>
        <p:spPr bwMode="auto">
          <a:xfrm>
            <a:off x="1497013" y="3125013"/>
            <a:ext cx="755650" cy="1217256"/>
          </a:xfrm>
          <a:prstGeom prst="roundRect">
            <a:avLst>
              <a:gd name="adj" fmla="val 18181"/>
            </a:avLst>
          </a:prstGeom>
          <a:solidFill>
            <a:srgbClr val="99FF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imull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0725" name="Rectangle 27"/>
          <p:cNvSpPr>
            <a:spLocks noChangeArrowheads="1"/>
          </p:cNvSpPr>
          <p:nvPr/>
        </p:nvSpPr>
        <p:spPr bwMode="auto">
          <a:xfrm>
            <a:off x="4572000" y="1144060"/>
            <a:ext cx="4343400" cy="1320856"/>
          </a:xfrm>
          <a:prstGeom prst="rect">
            <a:avLst/>
          </a:prstGeom>
          <a:solidFill>
            <a:srgbClr val="FFCCFF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wrap="square" lIns="90468" tIns="44441" rIns="90468" bIns="44441">
            <a:prstTxWarp prst="textNoShape">
              <a:avLst/>
            </a:prstTxWarp>
            <a:spAutoFit/>
          </a:bodyPr>
          <a:lstStyle/>
          <a:p>
            <a:pPr>
              <a:tabLst>
                <a:tab pos="228600" algn="l"/>
                <a:tab pos="914400" algn="l"/>
                <a:tab pos="3149600" algn="l"/>
              </a:tabLst>
            </a:pPr>
            <a:r>
              <a:rPr lang="en-US" sz="1600" dirty="0">
                <a:solidFill>
                  <a:srgbClr val="C00000"/>
                </a:solidFill>
                <a:latin typeface="Courier New" pitchFamily="49" charset="0"/>
              </a:rPr>
              <a:t>load	(%rax,%rdx,4)</a:t>
            </a:r>
            <a:r>
              <a:rPr lang="en-US" sz="1600" dirty="0">
                <a:latin typeface="Courier New" charset="0"/>
                <a:sym typeface="Wingdings" charset="2"/>
              </a:rPr>
              <a:t>  t.1</a:t>
            </a:r>
          </a:p>
          <a:p>
            <a:pPr>
              <a:tabLst>
                <a:tab pos="228600" algn="l"/>
                <a:tab pos="914400" algn="l"/>
                <a:tab pos="3149600" algn="l"/>
              </a:tabLst>
            </a:pPr>
            <a:r>
              <a:rPr lang="en-US" sz="1600" dirty="0" err="1">
                <a:solidFill>
                  <a:srgbClr val="C00000"/>
                </a:solidFill>
                <a:latin typeface="Courier New" pitchFamily="49" charset="0"/>
              </a:rPr>
              <a:t>imull</a:t>
            </a:r>
            <a:r>
              <a:rPr lang="en-US" sz="1600" dirty="0">
                <a:solidFill>
                  <a:srgbClr val="C00000"/>
                </a:solidFill>
                <a:latin typeface="Courier New" pitchFamily="49" charset="0"/>
              </a:rPr>
              <a:t>	t.1, %ecx.0  </a:t>
            </a:r>
            <a:r>
              <a:rPr lang="en-US" sz="1600" dirty="0">
                <a:latin typeface="Courier New" charset="0"/>
                <a:sym typeface="Wingdings" charset="2"/>
              </a:rPr>
              <a:t>  %ecx.1</a:t>
            </a:r>
          </a:p>
          <a:p>
            <a:pPr>
              <a:tabLst>
                <a:tab pos="228554" algn="l"/>
                <a:tab pos="2628369" algn="l"/>
                <a:tab pos="3720347" algn="l"/>
              </a:tabLst>
            </a:pPr>
            <a:r>
              <a:rPr lang="en-US" sz="1600" dirty="0" err="1">
                <a:latin typeface="Courier New" pitchFamily="49" charset="0"/>
              </a:rPr>
              <a:t>addq</a:t>
            </a:r>
            <a:r>
              <a:rPr lang="en-US" sz="1600" dirty="0">
                <a:latin typeface="Courier New" pitchFamily="49" charset="0"/>
              </a:rPr>
              <a:t> $1,%rdx        </a:t>
            </a:r>
            <a:r>
              <a:rPr lang="en-US" sz="1600" dirty="0">
                <a:latin typeface="Courier New" charset="0"/>
                <a:sym typeface="Wingdings" charset="2"/>
              </a:rPr>
              <a:t>  %rdx.1</a:t>
            </a:r>
          </a:p>
          <a:p>
            <a:pPr>
              <a:tabLst>
                <a:tab pos="228600" algn="l"/>
                <a:tab pos="914400" algn="l"/>
                <a:tab pos="3149600" algn="l"/>
              </a:tabLst>
            </a:pPr>
            <a:r>
              <a:rPr lang="en-US" sz="1600" dirty="0" err="1">
                <a:latin typeface="Courier New" pitchFamily="49" charset="0"/>
              </a:rPr>
              <a:t>cmpq</a:t>
            </a:r>
            <a:r>
              <a:rPr lang="en-US" sz="1600" dirty="0">
                <a:latin typeface="Courier New" pitchFamily="49" charset="0"/>
              </a:rPr>
              <a:t> %rdx.1, %</a:t>
            </a:r>
            <a:r>
              <a:rPr lang="en-US" sz="1600" dirty="0" err="1">
                <a:latin typeface="Courier New" pitchFamily="49" charset="0"/>
              </a:rPr>
              <a:t>rbp</a:t>
            </a:r>
            <a:r>
              <a:rPr lang="en-US" sz="1600" dirty="0">
                <a:latin typeface="Courier New" pitchFamily="49" charset="0"/>
              </a:rPr>
              <a:t>   </a:t>
            </a:r>
            <a:r>
              <a:rPr lang="en-US" sz="1600" dirty="0">
                <a:latin typeface="Courier New" charset="0"/>
                <a:sym typeface="Wingdings" charset="2"/>
              </a:rPr>
              <a:t>  cc.1</a:t>
            </a:r>
          </a:p>
          <a:p>
            <a:pPr>
              <a:lnSpc>
                <a:spcPct val="100000"/>
              </a:lnSpc>
              <a:tabLst>
                <a:tab pos="228600" algn="l"/>
                <a:tab pos="914400" algn="l"/>
                <a:tab pos="3149600" algn="l"/>
              </a:tabLst>
            </a:pPr>
            <a:r>
              <a:rPr lang="en-US" sz="1600" dirty="0" err="1">
                <a:latin typeface="Courier New" pitchFamily="49" charset="0"/>
              </a:rPr>
              <a:t>jg</a:t>
            </a:r>
            <a:r>
              <a:rPr lang="en-US" sz="1600" dirty="0">
                <a:latin typeface="Courier New" pitchFamily="49" charset="0"/>
              </a:rPr>
              <a:t>-taken		</a:t>
            </a:r>
          </a:p>
        </p:txBody>
      </p:sp>
      <p:sp>
        <p:nvSpPr>
          <p:cNvPr id="30726" name="Line 28"/>
          <p:cNvSpPr>
            <a:spLocks noChangeShapeType="1"/>
          </p:cNvSpPr>
          <p:nvPr/>
        </p:nvSpPr>
        <p:spPr bwMode="auto">
          <a:xfrm>
            <a:off x="533400" y="1144061"/>
            <a:ext cx="0" cy="312275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21" tIns="45710" rIns="91421" bIns="45710"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27" name="Text Box 29"/>
          <p:cNvSpPr txBox="1">
            <a:spLocks noChangeArrowheads="1"/>
          </p:cNvSpPr>
          <p:nvPr/>
        </p:nvSpPr>
        <p:spPr bwMode="auto">
          <a:xfrm>
            <a:off x="136526" y="2932343"/>
            <a:ext cx="777875" cy="46261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lIns="91421" tIns="45710" rIns="91421" bIns="45710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3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5503872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36398"/>
            <a:ext cx="6357938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Visualizing Operations</a:t>
            </a:r>
          </a:p>
        </p:txBody>
      </p:sp>
      <p:sp>
        <p:nvSpPr>
          <p:cNvPr id="30728" name="Text Box 5"/>
          <p:cNvSpPr txBox="1">
            <a:spLocks noChangeArrowheads="1"/>
          </p:cNvSpPr>
          <p:nvPr/>
        </p:nvSpPr>
        <p:spPr bwMode="auto">
          <a:xfrm>
            <a:off x="2697164" y="2085011"/>
            <a:ext cx="557213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cc.1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29" name="Text Box 6"/>
          <p:cNvSpPr txBox="1">
            <a:spLocks noChangeArrowheads="1"/>
          </p:cNvSpPr>
          <p:nvPr/>
        </p:nvSpPr>
        <p:spPr bwMode="auto">
          <a:xfrm>
            <a:off x="1878013" y="2893345"/>
            <a:ext cx="461963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t.1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30" name="AutoShape 7"/>
          <p:cNvSpPr>
            <a:spLocks noChangeArrowheads="1"/>
          </p:cNvSpPr>
          <p:nvPr/>
        </p:nvSpPr>
        <p:spPr bwMode="auto">
          <a:xfrm>
            <a:off x="1497013" y="1372553"/>
            <a:ext cx="755650" cy="1523250"/>
          </a:xfrm>
          <a:prstGeom prst="roundRect">
            <a:avLst>
              <a:gd name="adj" fmla="val 18181"/>
            </a:avLst>
          </a:prstGeom>
          <a:solidFill>
            <a:srgbClr val="99FF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>
                <a:latin typeface="Courier New" charset="0"/>
              </a:rPr>
              <a:t>load</a:t>
            </a:r>
          </a:p>
        </p:txBody>
      </p:sp>
      <p:sp>
        <p:nvSpPr>
          <p:cNvPr id="30731" name="Text Box 8"/>
          <p:cNvSpPr txBox="1">
            <a:spLocks noChangeArrowheads="1"/>
          </p:cNvSpPr>
          <p:nvPr/>
        </p:nvSpPr>
        <p:spPr bwMode="auto">
          <a:xfrm>
            <a:off x="2259013" y="4191000"/>
            <a:ext cx="742950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%ecx.1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32" name="Freeform 9"/>
          <p:cNvSpPr>
            <a:spLocks/>
          </p:cNvSpPr>
          <p:nvPr/>
        </p:nvSpPr>
        <p:spPr bwMode="auto">
          <a:xfrm>
            <a:off x="1878012" y="4342269"/>
            <a:ext cx="1439155" cy="74326"/>
          </a:xfrm>
          <a:custGeom>
            <a:avLst/>
            <a:gdLst>
              <a:gd name="T0" fmla="*/ 0 w 1056"/>
              <a:gd name="T1" fmla="*/ 0 h 48"/>
              <a:gd name="T2" fmla="*/ 0 w 1056"/>
              <a:gd name="T3" fmla="*/ 48 h 48"/>
              <a:gd name="T4" fmla="*/ 1056 w 1056"/>
              <a:gd name="T5" fmla="*/ 48 h 48"/>
              <a:gd name="T6" fmla="*/ 0 60000 65536"/>
              <a:gd name="T7" fmla="*/ 0 60000 65536"/>
              <a:gd name="T8" fmla="*/ 0 60000 65536"/>
              <a:gd name="T9" fmla="*/ 0 w 1056"/>
              <a:gd name="T10" fmla="*/ 0 h 48"/>
              <a:gd name="T11" fmla="*/ 1056 w 1056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48">
                <a:moveTo>
                  <a:pt x="0" y="0"/>
                </a:moveTo>
                <a:lnTo>
                  <a:pt x="0" y="48"/>
                </a:lnTo>
                <a:lnTo>
                  <a:pt x="1056" y="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3" name="Line 10"/>
          <p:cNvSpPr>
            <a:spLocks noChangeShapeType="1"/>
          </p:cNvSpPr>
          <p:nvPr/>
        </p:nvSpPr>
        <p:spPr bwMode="auto">
          <a:xfrm>
            <a:off x="1878013" y="2896518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4" name="AutoShape 11"/>
          <p:cNvSpPr>
            <a:spLocks noChangeArrowheads="1"/>
          </p:cNvSpPr>
          <p:nvPr/>
        </p:nvSpPr>
        <p:spPr bwMode="auto">
          <a:xfrm>
            <a:off x="2335214" y="1372554"/>
            <a:ext cx="76200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incl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0735" name="AutoShape 12"/>
          <p:cNvSpPr>
            <a:spLocks noChangeArrowheads="1"/>
          </p:cNvSpPr>
          <p:nvPr/>
        </p:nvSpPr>
        <p:spPr bwMode="auto">
          <a:xfrm>
            <a:off x="2335214" y="1829542"/>
            <a:ext cx="75565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cmpl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0736" name="AutoShape 13"/>
          <p:cNvSpPr>
            <a:spLocks noChangeArrowheads="1"/>
          </p:cNvSpPr>
          <p:nvPr/>
        </p:nvSpPr>
        <p:spPr bwMode="auto">
          <a:xfrm>
            <a:off x="2335214" y="2286530"/>
            <a:ext cx="75565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jg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0737" name="Line 14"/>
          <p:cNvSpPr>
            <a:spLocks noChangeShapeType="1"/>
          </p:cNvSpPr>
          <p:nvPr/>
        </p:nvSpPr>
        <p:spPr bwMode="auto">
          <a:xfrm>
            <a:off x="2716214" y="1601048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8" name="Line 15"/>
          <p:cNvSpPr>
            <a:spLocks noChangeShapeType="1"/>
          </p:cNvSpPr>
          <p:nvPr/>
        </p:nvSpPr>
        <p:spPr bwMode="auto">
          <a:xfrm flipH="1">
            <a:off x="2716214" y="2058036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9" name="Text Box 16"/>
          <p:cNvSpPr txBox="1">
            <a:spLocks noChangeArrowheads="1"/>
          </p:cNvSpPr>
          <p:nvPr/>
        </p:nvSpPr>
        <p:spPr bwMode="auto">
          <a:xfrm>
            <a:off x="1365251" y="991731"/>
            <a:ext cx="742950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%rdx.0</a:t>
            </a:r>
            <a:endParaRPr lang="en-US" sz="1202" i="1" dirty="0">
              <a:latin typeface="Times New Roman" charset="0"/>
            </a:endParaRPr>
          </a:p>
        </p:txBody>
      </p:sp>
      <p:sp>
        <p:nvSpPr>
          <p:cNvPr id="30740" name="Text Box 17"/>
          <p:cNvSpPr txBox="1">
            <a:spLocks noChangeArrowheads="1"/>
          </p:cNvSpPr>
          <p:nvPr/>
        </p:nvSpPr>
        <p:spPr bwMode="auto">
          <a:xfrm>
            <a:off x="3097214" y="1402703"/>
            <a:ext cx="742950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%rdx.1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41" name="Text Box 18"/>
          <p:cNvSpPr txBox="1">
            <a:spLocks noChangeArrowheads="1"/>
          </p:cNvSpPr>
          <p:nvPr/>
        </p:nvSpPr>
        <p:spPr bwMode="auto">
          <a:xfrm>
            <a:off x="804863" y="2667000"/>
            <a:ext cx="742950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%rax.0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42" name="Freeform 19"/>
          <p:cNvSpPr>
            <a:spLocks/>
          </p:cNvSpPr>
          <p:nvPr/>
        </p:nvSpPr>
        <p:spPr bwMode="auto">
          <a:xfrm>
            <a:off x="1420813" y="1220225"/>
            <a:ext cx="1295400" cy="152329"/>
          </a:xfrm>
          <a:custGeom>
            <a:avLst/>
            <a:gdLst>
              <a:gd name="T0" fmla="*/ 0 w 1008"/>
              <a:gd name="T1" fmla="*/ 0 h 48"/>
              <a:gd name="T2" fmla="*/ 1008 w 1008"/>
              <a:gd name="T3" fmla="*/ 0 h 48"/>
              <a:gd name="T4" fmla="*/ 1008 w 1008"/>
              <a:gd name="T5" fmla="*/ 48 h 48"/>
              <a:gd name="T6" fmla="*/ 0 60000 65536"/>
              <a:gd name="T7" fmla="*/ 0 60000 65536"/>
              <a:gd name="T8" fmla="*/ 0 60000 65536"/>
              <a:gd name="T9" fmla="*/ 0 w 1008"/>
              <a:gd name="T10" fmla="*/ 0 h 48"/>
              <a:gd name="T11" fmla="*/ 1008 w 100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48">
                <a:moveTo>
                  <a:pt x="0" y="0"/>
                </a:moveTo>
                <a:lnTo>
                  <a:pt x="1008" y="0"/>
                </a:lnTo>
                <a:lnTo>
                  <a:pt x="1008" y="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3" name="Line 20"/>
          <p:cNvSpPr>
            <a:spLocks noChangeShapeType="1"/>
          </p:cNvSpPr>
          <p:nvPr/>
        </p:nvSpPr>
        <p:spPr bwMode="auto">
          <a:xfrm>
            <a:off x="1878013" y="1220225"/>
            <a:ext cx="0" cy="1523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4" name="Freeform 21"/>
          <p:cNvSpPr>
            <a:spLocks/>
          </p:cNvSpPr>
          <p:nvPr/>
        </p:nvSpPr>
        <p:spPr bwMode="auto">
          <a:xfrm>
            <a:off x="2716214" y="1677213"/>
            <a:ext cx="457200" cy="76165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5" name="Freeform 22"/>
          <p:cNvSpPr>
            <a:spLocks/>
          </p:cNvSpPr>
          <p:nvPr/>
        </p:nvSpPr>
        <p:spPr bwMode="auto">
          <a:xfrm>
            <a:off x="3173414" y="1677213"/>
            <a:ext cx="228600" cy="76165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6" name="Freeform 23"/>
          <p:cNvSpPr>
            <a:spLocks/>
          </p:cNvSpPr>
          <p:nvPr/>
        </p:nvSpPr>
        <p:spPr bwMode="auto">
          <a:xfrm rot="5400000">
            <a:off x="3176118" y="4382982"/>
            <a:ext cx="128710" cy="153389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7" name="Freeform 24"/>
          <p:cNvSpPr>
            <a:spLocks/>
          </p:cNvSpPr>
          <p:nvPr/>
        </p:nvSpPr>
        <p:spPr bwMode="auto">
          <a:xfrm>
            <a:off x="1420813" y="2972683"/>
            <a:ext cx="228600" cy="152329"/>
          </a:xfrm>
          <a:custGeom>
            <a:avLst/>
            <a:gdLst>
              <a:gd name="T0" fmla="*/ 0 w 144"/>
              <a:gd name="T1" fmla="*/ 0 h 96"/>
              <a:gd name="T2" fmla="*/ 144 w 144"/>
              <a:gd name="T3" fmla="*/ 0 h 96"/>
              <a:gd name="T4" fmla="*/ 144 w 144"/>
              <a:gd name="T5" fmla="*/ 96 h 96"/>
              <a:gd name="T6" fmla="*/ 0 60000 65536"/>
              <a:gd name="T7" fmla="*/ 0 60000 65536"/>
              <a:gd name="T8" fmla="*/ 0 60000 65536"/>
              <a:gd name="T9" fmla="*/ 0 w 144"/>
              <a:gd name="T10" fmla="*/ 0 h 96"/>
              <a:gd name="T11" fmla="*/ 144 w 144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96">
                <a:moveTo>
                  <a:pt x="0" y="0"/>
                </a:moveTo>
                <a:lnTo>
                  <a:pt x="144" y="0"/>
                </a:lnTo>
                <a:lnTo>
                  <a:pt x="144" y="9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8" name="Line 25"/>
          <p:cNvSpPr>
            <a:spLocks noChangeShapeType="1"/>
          </p:cNvSpPr>
          <p:nvPr/>
        </p:nvSpPr>
        <p:spPr bwMode="auto">
          <a:xfrm flipH="1">
            <a:off x="1192213" y="297268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9" name="AutoShape 26"/>
          <p:cNvSpPr>
            <a:spLocks noChangeArrowheads="1"/>
          </p:cNvSpPr>
          <p:nvPr/>
        </p:nvSpPr>
        <p:spPr bwMode="auto">
          <a:xfrm>
            <a:off x="1497013" y="3125013"/>
            <a:ext cx="755650" cy="1217256"/>
          </a:xfrm>
          <a:prstGeom prst="roundRect">
            <a:avLst>
              <a:gd name="adj" fmla="val 18181"/>
            </a:avLst>
          </a:prstGeom>
          <a:solidFill>
            <a:srgbClr val="99FF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imull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0725" name="Rectangle 27"/>
          <p:cNvSpPr>
            <a:spLocks noChangeArrowheads="1"/>
          </p:cNvSpPr>
          <p:nvPr/>
        </p:nvSpPr>
        <p:spPr bwMode="auto">
          <a:xfrm>
            <a:off x="5552393" y="763281"/>
            <a:ext cx="3591607" cy="1166968"/>
          </a:xfrm>
          <a:prstGeom prst="rect">
            <a:avLst/>
          </a:prstGeom>
          <a:solidFill>
            <a:srgbClr val="FFCCFF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wrap="square" lIns="90468" tIns="44441" rIns="90468" bIns="44441">
            <a:prstTxWarp prst="textNoShape">
              <a:avLst/>
            </a:prstTxWarp>
            <a:spAutoFit/>
          </a:bodyPr>
          <a:lstStyle/>
          <a:p>
            <a:pPr>
              <a:tabLst>
                <a:tab pos="228600" algn="l"/>
                <a:tab pos="914400" algn="l"/>
                <a:tab pos="3149600" algn="l"/>
              </a:tabLst>
            </a:pPr>
            <a:r>
              <a:rPr lang="en-US" sz="1400" dirty="0">
                <a:solidFill>
                  <a:srgbClr val="C00000"/>
                </a:solidFill>
                <a:latin typeface="Courier New" pitchFamily="49" charset="0"/>
              </a:rPr>
              <a:t>load	(%rax,%rdx,4)</a:t>
            </a:r>
            <a:r>
              <a:rPr lang="en-US" sz="1400" dirty="0">
                <a:latin typeface="Courier New" charset="0"/>
                <a:sym typeface="Wingdings" charset="2"/>
              </a:rPr>
              <a:t>  t.1</a:t>
            </a:r>
          </a:p>
          <a:p>
            <a:pPr>
              <a:tabLst>
                <a:tab pos="228600" algn="l"/>
                <a:tab pos="914400" algn="l"/>
                <a:tab pos="3149600" algn="l"/>
              </a:tabLst>
            </a:pPr>
            <a:r>
              <a:rPr lang="en-US" sz="1400" dirty="0" err="1">
                <a:solidFill>
                  <a:srgbClr val="C00000"/>
                </a:solidFill>
                <a:latin typeface="Courier New" pitchFamily="49" charset="0"/>
              </a:rPr>
              <a:t>imull</a:t>
            </a:r>
            <a:r>
              <a:rPr lang="en-US" sz="1400" dirty="0">
                <a:solidFill>
                  <a:srgbClr val="C00000"/>
                </a:solidFill>
                <a:latin typeface="Courier New" pitchFamily="49" charset="0"/>
              </a:rPr>
              <a:t>	t.1, %ecx.0  </a:t>
            </a:r>
            <a:r>
              <a:rPr lang="en-US" sz="1400" dirty="0">
                <a:latin typeface="Courier New" charset="0"/>
                <a:sym typeface="Wingdings" charset="2"/>
              </a:rPr>
              <a:t>  %ecx.1</a:t>
            </a:r>
          </a:p>
          <a:p>
            <a:pPr>
              <a:tabLst>
                <a:tab pos="228554" algn="l"/>
                <a:tab pos="2628369" algn="l"/>
                <a:tab pos="3720347" algn="l"/>
              </a:tabLst>
            </a:pPr>
            <a:r>
              <a:rPr lang="en-US" sz="1400" dirty="0" err="1">
                <a:latin typeface="Courier New" pitchFamily="49" charset="0"/>
              </a:rPr>
              <a:t>addq</a:t>
            </a:r>
            <a:r>
              <a:rPr lang="en-US" sz="1400" dirty="0">
                <a:latin typeface="Courier New" pitchFamily="49" charset="0"/>
              </a:rPr>
              <a:t> $1,%rdx        </a:t>
            </a:r>
            <a:r>
              <a:rPr lang="en-US" sz="1400" dirty="0">
                <a:latin typeface="Courier New" charset="0"/>
                <a:sym typeface="Wingdings" charset="2"/>
              </a:rPr>
              <a:t>  %rdx.1</a:t>
            </a:r>
          </a:p>
          <a:p>
            <a:pPr>
              <a:tabLst>
                <a:tab pos="228600" algn="l"/>
                <a:tab pos="914400" algn="l"/>
                <a:tab pos="3149600" algn="l"/>
              </a:tabLst>
            </a:pPr>
            <a:r>
              <a:rPr lang="en-US" sz="1400" dirty="0" err="1">
                <a:latin typeface="Courier New" pitchFamily="49" charset="0"/>
              </a:rPr>
              <a:t>Cmpq</a:t>
            </a:r>
            <a:r>
              <a:rPr lang="en-US" sz="1400" dirty="0">
                <a:latin typeface="Courier New" pitchFamily="49" charset="0"/>
              </a:rPr>
              <a:t> %rdx.1, %</a:t>
            </a:r>
            <a:r>
              <a:rPr lang="en-US" sz="1400" dirty="0" err="1">
                <a:latin typeface="Courier New" pitchFamily="49" charset="0"/>
              </a:rPr>
              <a:t>rbp</a:t>
            </a:r>
            <a:r>
              <a:rPr lang="en-US" sz="1400" dirty="0">
                <a:latin typeface="Courier New" pitchFamily="49" charset="0"/>
              </a:rPr>
              <a:t>   </a:t>
            </a:r>
            <a:r>
              <a:rPr lang="en-US" sz="1400" dirty="0">
                <a:latin typeface="Courier New" charset="0"/>
                <a:sym typeface="Wingdings" charset="2"/>
              </a:rPr>
              <a:t>  cc.1</a:t>
            </a:r>
          </a:p>
          <a:p>
            <a:pPr>
              <a:lnSpc>
                <a:spcPct val="100000"/>
              </a:lnSpc>
              <a:tabLst>
                <a:tab pos="228600" algn="l"/>
                <a:tab pos="914400" algn="l"/>
                <a:tab pos="3149600" algn="l"/>
              </a:tabLst>
            </a:pPr>
            <a:r>
              <a:rPr lang="en-US" sz="1400" dirty="0" err="1">
                <a:latin typeface="Courier New" pitchFamily="49" charset="0"/>
              </a:rPr>
              <a:t>jg</a:t>
            </a:r>
            <a:r>
              <a:rPr lang="en-US" sz="1400" dirty="0">
                <a:latin typeface="Courier New" pitchFamily="49" charset="0"/>
              </a:rPr>
              <a:t>-taken		</a:t>
            </a:r>
          </a:p>
        </p:txBody>
      </p:sp>
      <p:sp>
        <p:nvSpPr>
          <p:cNvPr id="30726" name="Line 28"/>
          <p:cNvSpPr>
            <a:spLocks noChangeShapeType="1"/>
          </p:cNvSpPr>
          <p:nvPr/>
        </p:nvSpPr>
        <p:spPr bwMode="auto">
          <a:xfrm>
            <a:off x="533400" y="1144061"/>
            <a:ext cx="0" cy="312275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21" tIns="45710" rIns="91421" bIns="45710"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27" name="Text Box 29"/>
          <p:cNvSpPr txBox="1">
            <a:spLocks noChangeArrowheads="1"/>
          </p:cNvSpPr>
          <p:nvPr/>
        </p:nvSpPr>
        <p:spPr bwMode="auto">
          <a:xfrm>
            <a:off x="136526" y="2932343"/>
            <a:ext cx="777875" cy="46261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lIns="91421" tIns="45710" rIns="91421" bIns="45710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3"/>
              <a:t>Time</a:t>
            </a:r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4409832" y="2542000"/>
            <a:ext cx="556563" cy="27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cc.2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3590681" y="3350334"/>
            <a:ext cx="463588" cy="27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t.2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2" name="AutoShape 7"/>
          <p:cNvSpPr>
            <a:spLocks noChangeArrowheads="1"/>
          </p:cNvSpPr>
          <p:nvPr/>
        </p:nvSpPr>
        <p:spPr bwMode="auto">
          <a:xfrm>
            <a:off x="3209681" y="1829542"/>
            <a:ext cx="755650" cy="1523250"/>
          </a:xfrm>
          <a:prstGeom prst="roundRect">
            <a:avLst>
              <a:gd name="adj" fmla="val 18181"/>
            </a:avLst>
          </a:prstGeom>
          <a:solidFill>
            <a:srgbClr val="99FF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>
                <a:latin typeface="Courier New" charset="0"/>
              </a:rPr>
              <a:t>load</a:t>
            </a:r>
          </a:p>
        </p:txBody>
      </p:sp>
      <p:sp>
        <p:nvSpPr>
          <p:cNvPr id="33" name="Line 10"/>
          <p:cNvSpPr>
            <a:spLocks noChangeShapeType="1"/>
          </p:cNvSpPr>
          <p:nvPr/>
        </p:nvSpPr>
        <p:spPr bwMode="auto">
          <a:xfrm>
            <a:off x="3590681" y="3353506"/>
            <a:ext cx="0" cy="117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4" name="AutoShape 11"/>
          <p:cNvSpPr>
            <a:spLocks noChangeArrowheads="1"/>
          </p:cNvSpPr>
          <p:nvPr/>
        </p:nvSpPr>
        <p:spPr bwMode="auto">
          <a:xfrm>
            <a:off x="4047882" y="1829543"/>
            <a:ext cx="76200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incl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5" name="AutoShape 12"/>
          <p:cNvSpPr>
            <a:spLocks noChangeArrowheads="1"/>
          </p:cNvSpPr>
          <p:nvPr/>
        </p:nvSpPr>
        <p:spPr bwMode="auto">
          <a:xfrm>
            <a:off x="4047882" y="2286531"/>
            <a:ext cx="75565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cmpl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6" name="AutoShape 13"/>
          <p:cNvSpPr>
            <a:spLocks noChangeArrowheads="1"/>
          </p:cNvSpPr>
          <p:nvPr/>
        </p:nvSpPr>
        <p:spPr bwMode="auto">
          <a:xfrm>
            <a:off x="4047882" y="2743519"/>
            <a:ext cx="75565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jg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7" name="Line 14"/>
          <p:cNvSpPr>
            <a:spLocks noChangeShapeType="1"/>
          </p:cNvSpPr>
          <p:nvPr/>
        </p:nvSpPr>
        <p:spPr bwMode="auto">
          <a:xfrm>
            <a:off x="4428882" y="2058037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8" name="Line 15"/>
          <p:cNvSpPr>
            <a:spLocks noChangeShapeType="1"/>
          </p:cNvSpPr>
          <p:nvPr/>
        </p:nvSpPr>
        <p:spPr bwMode="auto">
          <a:xfrm flipH="1">
            <a:off x="4428882" y="2515025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40" name="Text Box 17"/>
          <p:cNvSpPr txBox="1">
            <a:spLocks noChangeArrowheads="1"/>
          </p:cNvSpPr>
          <p:nvPr/>
        </p:nvSpPr>
        <p:spPr bwMode="auto">
          <a:xfrm>
            <a:off x="4809882" y="1859692"/>
            <a:ext cx="742511" cy="27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%rdx.2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41" name="Freeform 19"/>
          <p:cNvSpPr>
            <a:spLocks/>
          </p:cNvSpPr>
          <p:nvPr/>
        </p:nvSpPr>
        <p:spPr bwMode="auto">
          <a:xfrm>
            <a:off x="3133481" y="1677214"/>
            <a:ext cx="1295400" cy="152329"/>
          </a:xfrm>
          <a:custGeom>
            <a:avLst/>
            <a:gdLst>
              <a:gd name="T0" fmla="*/ 0 w 1008"/>
              <a:gd name="T1" fmla="*/ 0 h 48"/>
              <a:gd name="T2" fmla="*/ 1008 w 1008"/>
              <a:gd name="T3" fmla="*/ 0 h 48"/>
              <a:gd name="T4" fmla="*/ 1008 w 1008"/>
              <a:gd name="T5" fmla="*/ 48 h 48"/>
              <a:gd name="T6" fmla="*/ 0 60000 65536"/>
              <a:gd name="T7" fmla="*/ 0 60000 65536"/>
              <a:gd name="T8" fmla="*/ 0 60000 65536"/>
              <a:gd name="T9" fmla="*/ 0 w 1008"/>
              <a:gd name="T10" fmla="*/ 0 h 48"/>
              <a:gd name="T11" fmla="*/ 1008 w 100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48">
                <a:moveTo>
                  <a:pt x="0" y="0"/>
                </a:moveTo>
                <a:lnTo>
                  <a:pt x="1008" y="0"/>
                </a:lnTo>
                <a:lnTo>
                  <a:pt x="1008" y="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>
            <a:off x="3590681" y="1677214"/>
            <a:ext cx="0" cy="1523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43" name="Freeform 21"/>
          <p:cNvSpPr>
            <a:spLocks/>
          </p:cNvSpPr>
          <p:nvPr/>
        </p:nvSpPr>
        <p:spPr bwMode="auto">
          <a:xfrm>
            <a:off x="4428882" y="2134202"/>
            <a:ext cx="457200" cy="76165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44" name="Freeform 22"/>
          <p:cNvSpPr>
            <a:spLocks/>
          </p:cNvSpPr>
          <p:nvPr/>
        </p:nvSpPr>
        <p:spPr bwMode="auto">
          <a:xfrm>
            <a:off x="4886082" y="2134202"/>
            <a:ext cx="228600" cy="76165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3933460" y="5591080"/>
            <a:ext cx="742511" cy="27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%ecx.2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46" name="Freeform 9"/>
          <p:cNvSpPr>
            <a:spLocks/>
          </p:cNvSpPr>
          <p:nvPr/>
        </p:nvSpPr>
        <p:spPr bwMode="auto">
          <a:xfrm>
            <a:off x="3552460" y="5743410"/>
            <a:ext cx="1295400" cy="76165"/>
          </a:xfrm>
          <a:custGeom>
            <a:avLst/>
            <a:gdLst>
              <a:gd name="T0" fmla="*/ 0 w 1056"/>
              <a:gd name="T1" fmla="*/ 0 h 48"/>
              <a:gd name="T2" fmla="*/ 0 w 1056"/>
              <a:gd name="T3" fmla="*/ 48 h 48"/>
              <a:gd name="T4" fmla="*/ 1056 w 1056"/>
              <a:gd name="T5" fmla="*/ 48 h 48"/>
              <a:gd name="T6" fmla="*/ 0 60000 65536"/>
              <a:gd name="T7" fmla="*/ 0 60000 65536"/>
              <a:gd name="T8" fmla="*/ 0 60000 65536"/>
              <a:gd name="T9" fmla="*/ 0 w 1056"/>
              <a:gd name="T10" fmla="*/ 0 h 48"/>
              <a:gd name="T11" fmla="*/ 1056 w 1056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48">
                <a:moveTo>
                  <a:pt x="0" y="0"/>
                </a:moveTo>
                <a:lnTo>
                  <a:pt x="0" y="48"/>
                </a:lnTo>
                <a:lnTo>
                  <a:pt x="1056" y="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47" name="Freeform 23"/>
          <p:cNvSpPr>
            <a:spLocks/>
          </p:cNvSpPr>
          <p:nvPr/>
        </p:nvSpPr>
        <p:spPr bwMode="auto">
          <a:xfrm>
            <a:off x="4847861" y="5819575"/>
            <a:ext cx="228600" cy="76164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48" name="AutoShape 26"/>
          <p:cNvSpPr>
            <a:spLocks noChangeArrowheads="1"/>
          </p:cNvSpPr>
          <p:nvPr/>
        </p:nvSpPr>
        <p:spPr bwMode="auto">
          <a:xfrm>
            <a:off x="3171460" y="4525093"/>
            <a:ext cx="755650" cy="1217256"/>
          </a:xfrm>
          <a:prstGeom prst="roundRect">
            <a:avLst>
              <a:gd name="adj" fmla="val 18181"/>
            </a:avLst>
          </a:prstGeom>
          <a:solidFill>
            <a:srgbClr val="99FF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imull</a:t>
            </a:r>
            <a:endParaRPr lang="en-US" sz="1602" dirty="0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252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36398"/>
            <a:ext cx="6357938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Visualizing Operations  for FP</a:t>
            </a:r>
          </a:p>
        </p:txBody>
      </p:sp>
      <p:sp>
        <p:nvSpPr>
          <p:cNvPr id="30728" name="Text Box 5"/>
          <p:cNvSpPr txBox="1">
            <a:spLocks noChangeArrowheads="1"/>
          </p:cNvSpPr>
          <p:nvPr/>
        </p:nvSpPr>
        <p:spPr bwMode="auto">
          <a:xfrm>
            <a:off x="2697164" y="2085011"/>
            <a:ext cx="557213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cc.1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29" name="Text Box 6"/>
          <p:cNvSpPr txBox="1">
            <a:spLocks noChangeArrowheads="1"/>
          </p:cNvSpPr>
          <p:nvPr/>
        </p:nvSpPr>
        <p:spPr bwMode="auto">
          <a:xfrm>
            <a:off x="1878013" y="2893345"/>
            <a:ext cx="461963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t.1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30" name="AutoShape 7"/>
          <p:cNvSpPr>
            <a:spLocks noChangeArrowheads="1"/>
          </p:cNvSpPr>
          <p:nvPr/>
        </p:nvSpPr>
        <p:spPr bwMode="auto">
          <a:xfrm>
            <a:off x="1497013" y="1372553"/>
            <a:ext cx="755650" cy="1523250"/>
          </a:xfrm>
          <a:prstGeom prst="roundRect">
            <a:avLst>
              <a:gd name="adj" fmla="val 18181"/>
            </a:avLst>
          </a:prstGeom>
          <a:solidFill>
            <a:srgbClr val="99FF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>
                <a:latin typeface="Courier New" charset="0"/>
              </a:rPr>
              <a:t>load</a:t>
            </a:r>
          </a:p>
        </p:txBody>
      </p:sp>
      <p:sp>
        <p:nvSpPr>
          <p:cNvPr id="30731" name="Text Box 8"/>
          <p:cNvSpPr txBox="1">
            <a:spLocks noChangeArrowheads="1"/>
          </p:cNvSpPr>
          <p:nvPr/>
        </p:nvSpPr>
        <p:spPr bwMode="auto">
          <a:xfrm>
            <a:off x="2259013" y="5181600"/>
            <a:ext cx="835485" cy="27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%xmm1.1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32" name="Freeform 9"/>
          <p:cNvSpPr>
            <a:spLocks/>
          </p:cNvSpPr>
          <p:nvPr/>
        </p:nvSpPr>
        <p:spPr bwMode="auto">
          <a:xfrm>
            <a:off x="1878013" y="5333930"/>
            <a:ext cx="1295400" cy="76165"/>
          </a:xfrm>
          <a:custGeom>
            <a:avLst/>
            <a:gdLst>
              <a:gd name="T0" fmla="*/ 0 w 1056"/>
              <a:gd name="T1" fmla="*/ 0 h 48"/>
              <a:gd name="T2" fmla="*/ 0 w 1056"/>
              <a:gd name="T3" fmla="*/ 48 h 48"/>
              <a:gd name="T4" fmla="*/ 1056 w 1056"/>
              <a:gd name="T5" fmla="*/ 48 h 48"/>
              <a:gd name="T6" fmla="*/ 0 60000 65536"/>
              <a:gd name="T7" fmla="*/ 0 60000 65536"/>
              <a:gd name="T8" fmla="*/ 0 60000 65536"/>
              <a:gd name="T9" fmla="*/ 0 w 1056"/>
              <a:gd name="T10" fmla="*/ 0 h 48"/>
              <a:gd name="T11" fmla="*/ 1056 w 1056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48">
                <a:moveTo>
                  <a:pt x="0" y="0"/>
                </a:moveTo>
                <a:lnTo>
                  <a:pt x="0" y="48"/>
                </a:lnTo>
                <a:lnTo>
                  <a:pt x="1056" y="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3" name="Line 10"/>
          <p:cNvSpPr>
            <a:spLocks noChangeShapeType="1"/>
          </p:cNvSpPr>
          <p:nvPr/>
        </p:nvSpPr>
        <p:spPr bwMode="auto">
          <a:xfrm>
            <a:off x="1878013" y="2896518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4" name="AutoShape 11"/>
          <p:cNvSpPr>
            <a:spLocks noChangeArrowheads="1"/>
          </p:cNvSpPr>
          <p:nvPr/>
        </p:nvSpPr>
        <p:spPr bwMode="auto">
          <a:xfrm>
            <a:off x="2335214" y="1372554"/>
            <a:ext cx="76200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incl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0735" name="AutoShape 12"/>
          <p:cNvSpPr>
            <a:spLocks noChangeArrowheads="1"/>
          </p:cNvSpPr>
          <p:nvPr/>
        </p:nvSpPr>
        <p:spPr bwMode="auto">
          <a:xfrm>
            <a:off x="2335214" y="1829542"/>
            <a:ext cx="75565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cmpl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0736" name="AutoShape 13"/>
          <p:cNvSpPr>
            <a:spLocks noChangeArrowheads="1"/>
          </p:cNvSpPr>
          <p:nvPr/>
        </p:nvSpPr>
        <p:spPr bwMode="auto">
          <a:xfrm>
            <a:off x="2335214" y="2286530"/>
            <a:ext cx="75565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jg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0737" name="Line 14"/>
          <p:cNvSpPr>
            <a:spLocks noChangeShapeType="1"/>
          </p:cNvSpPr>
          <p:nvPr/>
        </p:nvSpPr>
        <p:spPr bwMode="auto">
          <a:xfrm>
            <a:off x="2716214" y="1601048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8" name="Line 15"/>
          <p:cNvSpPr>
            <a:spLocks noChangeShapeType="1"/>
          </p:cNvSpPr>
          <p:nvPr/>
        </p:nvSpPr>
        <p:spPr bwMode="auto">
          <a:xfrm flipH="1">
            <a:off x="2716214" y="2058036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9" name="Text Box 16"/>
          <p:cNvSpPr txBox="1">
            <a:spLocks noChangeArrowheads="1"/>
          </p:cNvSpPr>
          <p:nvPr/>
        </p:nvSpPr>
        <p:spPr bwMode="auto">
          <a:xfrm>
            <a:off x="1272716" y="991731"/>
            <a:ext cx="835485" cy="27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%xmm0.0</a:t>
            </a:r>
            <a:endParaRPr lang="en-US" sz="1202" i="1" dirty="0">
              <a:latin typeface="Times New Roman" charset="0"/>
            </a:endParaRPr>
          </a:p>
        </p:txBody>
      </p:sp>
      <p:sp>
        <p:nvSpPr>
          <p:cNvPr id="30740" name="Text Box 17"/>
          <p:cNvSpPr txBox="1">
            <a:spLocks noChangeArrowheads="1"/>
          </p:cNvSpPr>
          <p:nvPr/>
        </p:nvSpPr>
        <p:spPr bwMode="auto">
          <a:xfrm>
            <a:off x="3097214" y="1402703"/>
            <a:ext cx="742950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%rdx.1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41" name="Text Box 18"/>
          <p:cNvSpPr txBox="1">
            <a:spLocks noChangeArrowheads="1"/>
          </p:cNvSpPr>
          <p:nvPr/>
        </p:nvSpPr>
        <p:spPr bwMode="auto">
          <a:xfrm>
            <a:off x="712328" y="2667000"/>
            <a:ext cx="835485" cy="27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%xmm1.0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42" name="Freeform 19"/>
          <p:cNvSpPr>
            <a:spLocks/>
          </p:cNvSpPr>
          <p:nvPr/>
        </p:nvSpPr>
        <p:spPr bwMode="auto">
          <a:xfrm>
            <a:off x="1420813" y="1220225"/>
            <a:ext cx="1295400" cy="152329"/>
          </a:xfrm>
          <a:custGeom>
            <a:avLst/>
            <a:gdLst>
              <a:gd name="T0" fmla="*/ 0 w 1008"/>
              <a:gd name="T1" fmla="*/ 0 h 48"/>
              <a:gd name="T2" fmla="*/ 1008 w 1008"/>
              <a:gd name="T3" fmla="*/ 0 h 48"/>
              <a:gd name="T4" fmla="*/ 1008 w 1008"/>
              <a:gd name="T5" fmla="*/ 48 h 48"/>
              <a:gd name="T6" fmla="*/ 0 60000 65536"/>
              <a:gd name="T7" fmla="*/ 0 60000 65536"/>
              <a:gd name="T8" fmla="*/ 0 60000 65536"/>
              <a:gd name="T9" fmla="*/ 0 w 1008"/>
              <a:gd name="T10" fmla="*/ 0 h 48"/>
              <a:gd name="T11" fmla="*/ 1008 w 100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48">
                <a:moveTo>
                  <a:pt x="0" y="0"/>
                </a:moveTo>
                <a:lnTo>
                  <a:pt x="1008" y="0"/>
                </a:lnTo>
                <a:lnTo>
                  <a:pt x="1008" y="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3" name="Line 20"/>
          <p:cNvSpPr>
            <a:spLocks noChangeShapeType="1"/>
          </p:cNvSpPr>
          <p:nvPr/>
        </p:nvSpPr>
        <p:spPr bwMode="auto">
          <a:xfrm>
            <a:off x="1878013" y="1220225"/>
            <a:ext cx="0" cy="1523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4" name="Freeform 21"/>
          <p:cNvSpPr>
            <a:spLocks/>
          </p:cNvSpPr>
          <p:nvPr/>
        </p:nvSpPr>
        <p:spPr bwMode="auto">
          <a:xfrm>
            <a:off x="2716214" y="1677213"/>
            <a:ext cx="457200" cy="76165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5" name="Freeform 22"/>
          <p:cNvSpPr>
            <a:spLocks/>
          </p:cNvSpPr>
          <p:nvPr/>
        </p:nvSpPr>
        <p:spPr bwMode="auto">
          <a:xfrm>
            <a:off x="3173414" y="1677213"/>
            <a:ext cx="228600" cy="76165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6" name="Freeform 23"/>
          <p:cNvSpPr>
            <a:spLocks/>
          </p:cNvSpPr>
          <p:nvPr/>
        </p:nvSpPr>
        <p:spPr bwMode="auto">
          <a:xfrm>
            <a:off x="3173414" y="5410094"/>
            <a:ext cx="228600" cy="76165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7" name="Freeform 24"/>
          <p:cNvSpPr>
            <a:spLocks/>
          </p:cNvSpPr>
          <p:nvPr/>
        </p:nvSpPr>
        <p:spPr bwMode="auto">
          <a:xfrm>
            <a:off x="1420813" y="2972683"/>
            <a:ext cx="228600" cy="152329"/>
          </a:xfrm>
          <a:custGeom>
            <a:avLst/>
            <a:gdLst>
              <a:gd name="T0" fmla="*/ 0 w 144"/>
              <a:gd name="T1" fmla="*/ 0 h 96"/>
              <a:gd name="T2" fmla="*/ 144 w 144"/>
              <a:gd name="T3" fmla="*/ 0 h 96"/>
              <a:gd name="T4" fmla="*/ 144 w 144"/>
              <a:gd name="T5" fmla="*/ 96 h 96"/>
              <a:gd name="T6" fmla="*/ 0 60000 65536"/>
              <a:gd name="T7" fmla="*/ 0 60000 65536"/>
              <a:gd name="T8" fmla="*/ 0 60000 65536"/>
              <a:gd name="T9" fmla="*/ 0 w 144"/>
              <a:gd name="T10" fmla="*/ 0 h 96"/>
              <a:gd name="T11" fmla="*/ 144 w 144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96">
                <a:moveTo>
                  <a:pt x="0" y="0"/>
                </a:moveTo>
                <a:lnTo>
                  <a:pt x="144" y="0"/>
                </a:lnTo>
                <a:lnTo>
                  <a:pt x="144" y="9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8" name="Line 25"/>
          <p:cNvSpPr>
            <a:spLocks noChangeShapeType="1"/>
          </p:cNvSpPr>
          <p:nvPr/>
        </p:nvSpPr>
        <p:spPr bwMode="auto">
          <a:xfrm flipH="1">
            <a:off x="1192213" y="297268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9" name="AutoShape 26"/>
          <p:cNvSpPr>
            <a:spLocks noChangeArrowheads="1"/>
          </p:cNvSpPr>
          <p:nvPr/>
        </p:nvSpPr>
        <p:spPr bwMode="auto">
          <a:xfrm>
            <a:off x="1497013" y="3125012"/>
            <a:ext cx="755650" cy="2208987"/>
          </a:xfrm>
          <a:prstGeom prst="roundRect">
            <a:avLst>
              <a:gd name="adj" fmla="val 18181"/>
            </a:avLst>
          </a:prstGeom>
          <a:solidFill>
            <a:srgbClr val="99FF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>
                <a:latin typeface="Courier New" charset="0"/>
              </a:rPr>
              <a:t>mull</a:t>
            </a:r>
          </a:p>
        </p:txBody>
      </p:sp>
      <p:sp>
        <p:nvSpPr>
          <p:cNvPr id="30726" name="Line 28"/>
          <p:cNvSpPr>
            <a:spLocks noChangeShapeType="1"/>
          </p:cNvSpPr>
          <p:nvPr/>
        </p:nvSpPr>
        <p:spPr bwMode="auto">
          <a:xfrm>
            <a:off x="533400" y="1144061"/>
            <a:ext cx="0" cy="312275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21" tIns="45710" rIns="91421" bIns="45710"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27" name="Text Box 29"/>
          <p:cNvSpPr txBox="1">
            <a:spLocks noChangeArrowheads="1"/>
          </p:cNvSpPr>
          <p:nvPr/>
        </p:nvSpPr>
        <p:spPr bwMode="auto">
          <a:xfrm>
            <a:off x="136526" y="2932343"/>
            <a:ext cx="777875" cy="46261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lIns="91421" tIns="45710" rIns="91421" bIns="45710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3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0068727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36398"/>
            <a:ext cx="6357938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Visualizing </a:t>
            </a:r>
            <a:r>
              <a:rPr lang="en-US">
                <a:ea typeface="+mj-ea"/>
                <a:cs typeface="+mj-cs"/>
              </a:rPr>
              <a:t>Operations for FP</a:t>
            </a:r>
          </a:p>
        </p:txBody>
      </p:sp>
      <p:sp>
        <p:nvSpPr>
          <p:cNvPr id="30728" name="Text Box 5"/>
          <p:cNvSpPr txBox="1">
            <a:spLocks noChangeArrowheads="1"/>
          </p:cNvSpPr>
          <p:nvPr/>
        </p:nvSpPr>
        <p:spPr bwMode="auto">
          <a:xfrm>
            <a:off x="2697164" y="2085011"/>
            <a:ext cx="557213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cc.1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29" name="Text Box 6"/>
          <p:cNvSpPr txBox="1">
            <a:spLocks noChangeArrowheads="1"/>
          </p:cNvSpPr>
          <p:nvPr/>
        </p:nvSpPr>
        <p:spPr bwMode="auto">
          <a:xfrm>
            <a:off x="1878013" y="2893345"/>
            <a:ext cx="461963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t.1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30" name="AutoShape 7"/>
          <p:cNvSpPr>
            <a:spLocks noChangeArrowheads="1"/>
          </p:cNvSpPr>
          <p:nvPr/>
        </p:nvSpPr>
        <p:spPr bwMode="auto">
          <a:xfrm>
            <a:off x="1497013" y="1372553"/>
            <a:ext cx="755650" cy="1523250"/>
          </a:xfrm>
          <a:prstGeom prst="roundRect">
            <a:avLst>
              <a:gd name="adj" fmla="val 18181"/>
            </a:avLst>
          </a:prstGeom>
          <a:solidFill>
            <a:srgbClr val="99FF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>
                <a:latin typeface="Courier New" charset="0"/>
              </a:rPr>
              <a:t>load</a:t>
            </a:r>
          </a:p>
        </p:txBody>
      </p:sp>
      <p:sp>
        <p:nvSpPr>
          <p:cNvPr id="30731" name="Text Box 8"/>
          <p:cNvSpPr txBox="1">
            <a:spLocks noChangeArrowheads="1"/>
          </p:cNvSpPr>
          <p:nvPr/>
        </p:nvSpPr>
        <p:spPr bwMode="auto">
          <a:xfrm>
            <a:off x="2259013" y="5029200"/>
            <a:ext cx="835485" cy="27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%xmm0.1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32" name="Freeform 9"/>
          <p:cNvSpPr>
            <a:spLocks/>
          </p:cNvSpPr>
          <p:nvPr/>
        </p:nvSpPr>
        <p:spPr bwMode="auto">
          <a:xfrm>
            <a:off x="1878012" y="5180469"/>
            <a:ext cx="1439155" cy="74326"/>
          </a:xfrm>
          <a:custGeom>
            <a:avLst/>
            <a:gdLst>
              <a:gd name="T0" fmla="*/ 0 w 1056"/>
              <a:gd name="T1" fmla="*/ 0 h 48"/>
              <a:gd name="T2" fmla="*/ 0 w 1056"/>
              <a:gd name="T3" fmla="*/ 48 h 48"/>
              <a:gd name="T4" fmla="*/ 1056 w 1056"/>
              <a:gd name="T5" fmla="*/ 48 h 48"/>
              <a:gd name="T6" fmla="*/ 0 60000 65536"/>
              <a:gd name="T7" fmla="*/ 0 60000 65536"/>
              <a:gd name="T8" fmla="*/ 0 60000 65536"/>
              <a:gd name="T9" fmla="*/ 0 w 1056"/>
              <a:gd name="T10" fmla="*/ 0 h 48"/>
              <a:gd name="T11" fmla="*/ 1056 w 1056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48">
                <a:moveTo>
                  <a:pt x="0" y="0"/>
                </a:moveTo>
                <a:lnTo>
                  <a:pt x="0" y="48"/>
                </a:lnTo>
                <a:lnTo>
                  <a:pt x="1056" y="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3" name="Line 10"/>
          <p:cNvSpPr>
            <a:spLocks noChangeShapeType="1"/>
          </p:cNvSpPr>
          <p:nvPr/>
        </p:nvSpPr>
        <p:spPr bwMode="auto">
          <a:xfrm>
            <a:off x="1878013" y="2896518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4" name="AutoShape 11"/>
          <p:cNvSpPr>
            <a:spLocks noChangeArrowheads="1"/>
          </p:cNvSpPr>
          <p:nvPr/>
        </p:nvSpPr>
        <p:spPr bwMode="auto">
          <a:xfrm>
            <a:off x="2335214" y="1372554"/>
            <a:ext cx="76200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incl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0735" name="AutoShape 12"/>
          <p:cNvSpPr>
            <a:spLocks noChangeArrowheads="1"/>
          </p:cNvSpPr>
          <p:nvPr/>
        </p:nvSpPr>
        <p:spPr bwMode="auto">
          <a:xfrm>
            <a:off x="2335214" y="1829542"/>
            <a:ext cx="75565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cmpl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0736" name="AutoShape 13"/>
          <p:cNvSpPr>
            <a:spLocks noChangeArrowheads="1"/>
          </p:cNvSpPr>
          <p:nvPr/>
        </p:nvSpPr>
        <p:spPr bwMode="auto">
          <a:xfrm>
            <a:off x="2335214" y="2286530"/>
            <a:ext cx="75565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jg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0737" name="Line 14"/>
          <p:cNvSpPr>
            <a:spLocks noChangeShapeType="1"/>
          </p:cNvSpPr>
          <p:nvPr/>
        </p:nvSpPr>
        <p:spPr bwMode="auto">
          <a:xfrm>
            <a:off x="2716214" y="1601048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8" name="Line 15"/>
          <p:cNvSpPr>
            <a:spLocks noChangeShapeType="1"/>
          </p:cNvSpPr>
          <p:nvPr/>
        </p:nvSpPr>
        <p:spPr bwMode="auto">
          <a:xfrm flipH="1">
            <a:off x="2716214" y="2058036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39" name="Text Box 16"/>
          <p:cNvSpPr txBox="1">
            <a:spLocks noChangeArrowheads="1"/>
          </p:cNvSpPr>
          <p:nvPr/>
        </p:nvSpPr>
        <p:spPr bwMode="auto">
          <a:xfrm>
            <a:off x="1272716" y="991731"/>
            <a:ext cx="835485" cy="27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%xmm0.0</a:t>
            </a:r>
            <a:endParaRPr lang="en-US" sz="1202" i="1" dirty="0">
              <a:latin typeface="Times New Roman" charset="0"/>
            </a:endParaRPr>
          </a:p>
        </p:txBody>
      </p:sp>
      <p:sp>
        <p:nvSpPr>
          <p:cNvPr id="30740" name="Text Box 17"/>
          <p:cNvSpPr txBox="1">
            <a:spLocks noChangeArrowheads="1"/>
          </p:cNvSpPr>
          <p:nvPr/>
        </p:nvSpPr>
        <p:spPr bwMode="auto">
          <a:xfrm>
            <a:off x="3097214" y="1402703"/>
            <a:ext cx="742950" cy="277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%rdx.1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41" name="Text Box 18"/>
          <p:cNvSpPr txBox="1">
            <a:spLocks noChangeArrowheads="1"/>
          </p:cNvSpPr>
          <p:nvPr/>
        </p:nvSpPr>
        <p:spPr bwMode="auto">
          <a:xfrm>
            <a:off x="712328" y="2667000"/>
            <a:ext cx="835485" cy="27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%xmm1.0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0742" name="Freeform 19"/>
          <p:cNvSpPr>
            <a:spLocks/>
          </p:cNvSpPr>
          <p:nvPr/>
        </p:nvSpPr>
        <p:spPr bwMode="auto">
          <a:xfrm>
            <a:off x="1420813" y="1220225"/>
            <a:ext cx="1295400" cy="152329"/>
          </a:xfrm>
          <a:custGeom>
            <a:avLst/>
            <a:gdLst>
              <a:gd name="T0" fmla="*/ 0 w 1008"/>
              <a:gd name="T1" fmla="*/ 0 h 48"/>
              <a:gd name="T2" fmla="*/ 1008 w 1008"/>
              <a:gd name="T3" fmla="*/ 0 h 48"/>
              <a:gd name="T4" fmla="*/ 1008 w 1008"/>
              <a:gd name="T5" fmla="*/ 48 h 48"/>
              <a:gd name="T6" fmla="*/ 0 60000 65536"/>
              <a:gd name="T7" fmla="*/ 0 60000 65536"/>
              <a:gd name="T8" fmla="*/ 0 60000 65536"/>
              <a:gd name="T9" fmla="*/ 0 w 1008"/>
              <a:gd name="T10" fmla="*/ 0 h 48"/>
              <a:gd name="T11" fmla="*/ 1008 w 100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48">
                <a:moveTo>
                  <a:pt x="0" y="0"/>
                </a:moveTo>
                <a:lnTo>
                  <a:pt x="1008" y="0"/>
                </a:lnTo>
                <a:lnTo>
                  <a:pt x="1008" y="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3" name="Line 20"/>
          <p:cNvSpPr>
            <a:spLocks noChangeShapeType="1"/>
          </p:cNvSpPr>
          <p:nvPr/>
        </p:nvSpPr>
        <p:spPr bwMode="auto">
          <a:xfrm>
            <a:off x="1878013" y="1220225"/>
            <a:ext cx="0" cy="1523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4" name="Freeform 21"/>
          <p:cNvSpPr>
            <a:spLocks/>
          </p:cNvSpPr>
          <p:nvPr/>
        </p:nvSpPr>
        <p:spPr bwMode="auto">
          <a:xfrm>
            <a:off x="2716214" y="1677213"/>
            <a:ext cx="457200" cy="76165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5" name="Freeform 22"/>
          <p:cNvSpPr>
            <a:spLocks/>
          </p:cNvSpPr>
          <p:nvPr/>
        </p:nvSpPr>
        <p:spPr bwMode="auto">
          <a:xfrm>
            <a:off x="3173414" y="1677213"/>
            <a:ext cx="228600" cy="76165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6" name="Freeform 23"/>
          <p:cNvSpPr>
            <a:spLocks/>
          </p:cNvSpPr>
          <p:nvPr/>
        </p:nvSpPr>
        <p:spPr bwMode="auto">
          <a:xfrm rot="5400000">
            <a:off x="3176118" y="5221182"/>
            <a:ext cx="128710" cy="153389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7" name="Freeform 24"/>
          <p:cNvSpPr>
            <a:spLocks/>
          </p:cNvSpPr>
          <p:nvPr/>
        </p:nvSpPr>
        <p:spPr bwMode="auto">
          <a:xfrm>
            <a:off x="1420813" y="2972683"/>
            <a:ext cx="228600" cy="152329"/>
          </a:xfrm>
          <a:custGeom>
            <a:avLst/>
            <a:gdLst>
              <a:gd name="T0" fmla="*/ 0 w 144"/>
              <a:gd name="T1" fmla="*/ 0 h 96"/>
              <a:gd name="T2" fmla="*/ 144 w 144"/>
              <a:gd name="T3" fmla="*/ 0 h 96"/>
              <a:gd name="T4" fmla="*/ 144 w 144"/>
              <a:gd name="T5" fmla="*/ 96 h 96"/>
              <a:gd name="T6" fmla="*/ 0 60000 65536"/>
              <a:gd name="T7" fmla="*/ 0 60000 65536"/>
              <a:gd name="T8" fmla="*/ 0 60000 65536"/>
              <a:gd name="T9" fmla="*/ 0 w 144"/>
              <a:gd name="T10" fmla="*/ 0 h 96"/>
              <a:gd name="T11" fmla="*/ 144 w 144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96">
                <a:moveTo>
                  <a:pt x="0" y="0"/>
                </a:moveTo>
                <a:lnTo>
                  <a:pt x="144" y="0"/>
                </a:lnTo>
                <a:lnTo>
                  <a:pt x="144" y="9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8" name="Line 25"/>
          <p:cNvSpPr>
            <a:spLocks noChangeShapeType="1"/>
          </p:cNvSpPr>
          <p:nvPr/>
        </p:nvSpPr>
        <p:spPr bwMode="auto">
          <a:xfrm flipH="1">
            <a:off x="1192213" y="297268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49" name="AutoShape 26"/>
          <p:cNvSpPr>
            <a:spLocks noChangeArrowheads="1"/>
          </p:cNvSpPr>
          <p:nvPr/>
        </p:nvSpPr>
        <p:spPr bwMode="auto">
          <a:xfrm>
            <a:off x="1497013" y="3125012"/>
            <a:ext cx="755650" cy="2056587"/>
          </a:xfrm>
          <a:prstGeom prst="roundRect">
            <a:avLst>
              <a:gd name="adj" fmla="val 18181"/>
            </a:avLst>
          </a:prstGeom>
          <a:solidFill>
            <a:srgbClr val="99FF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imull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0726" name="Line 28"/>
          <p:cNvSpPr>
            <a:spLocks noChangeShapeType="1"/>
          </p:cNvSpPr>
          <p:nvPr/>
        </p:nvSpPr>
        <p:spPr bwMode="auto">
          <a:xfrm>
            <a:off x="533400" y="1144061"/>
            <a:ext cx="0" cy="312275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21" tIns="45710" rIns="91421" bIns="45710"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0727" name="Text Box 29"/>
          <p:cNvSpPr txBox="1">
            <a:spLocks noChangeArrowheads="1"/>
          </p:cNvSpPr>
          <p:nvPr/>
        </p:nvSpPr>
        <p:spPr bwMode="auto">
          <a:xfrm>
            <a:off x="136526" y="2932343"/>
            <a:ext cx="777875" cy="46261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lIns="91421" tIns="45710" rIns="91421" bIns="45710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3"/>
              <a:t>Time</a:t>
            </a:r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4409832" y="2542000"/>
            <a:ext cx="556563" cy="27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cc.2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3590681" y="3350334"/>
            <a:ext cx="463588" cy="27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t.2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32" name="AutoShape 7"/>
          <p:cNvSpPr>
            <a:spLocks noChangeArrowheads="1"/>
          </p:cNvSpPr>
          <p:nvPr/>
        </p:nvSpPr>
        <p:spPr bwMode="auto">
          <a:xfrm>
            <a:off x="3209681" y="1829542"/>
            <a:ext cx="755650" cy="1523250"/>
          </a:xfrm>
          <a:prstGeom prst="roundRect">
            <a:avLst>
              <a:gd name="adj" fmla="val 18181"/>
            </a:avLst>
          </a:prstGeom>
          <a:solidFill>
            <a:srgbClr val="99FF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>
                <a:latin typeface="Courier New" charset="0"/>
              </a:rPr>
              <a:t>load</a:t>
            </a:r>
          </a:p>
        </p:txBody>
      </p:sp>
      <p:sp>
        <p:nvSpPr>
          <p:cNvPr id="33" name="Line 10"/>
          <p:cNvSpPr>
            <a:spLocks noChangeShapeType="1"/>
          </p:cNvSpPr>
          <p:nvPr/>
        </p:nvSpPr>
        <p:spPr bwMode="auto">
          <a:xfrm>
            <a:off x="3590681" y="3353506"/>
            <a:ext cx="0" cy="20087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4" name="AutoShape 11"/>
          <p:cNvSpPr>
            <a:spLocks noChangeArrowheads="1"/>
          </p:cNvSpPr>
          <p:nvPr/>
        </p:nvSpPr>
        <p:spPr bwMode="auto">
          <a:xfrm>
            <a:off x="4047882" y="1829543"/>
            <a:ext cx="76200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incl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5" name="AutoShape 12"/>
          <p:cNvSpPr>
            <a:spLocks noChangeArrowheads="1"/>
          </p:cNvSpPr>
          <p:nvPr/>
        </p:nvSpPr>
        <p:spPr bwMode="auto">
          <a:xfrm>
            <a:off x="4047882" y="2286531"/>
            <a:ext cx="75565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cmpl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6" name="AutoShape 13"/>
          <p:cNvSpPr>
            <a:spLocks noChangeArrowheads="1"/>
          </p:cNvSpPr>
          <p:nvPr/>
        </p:nvSpPr>
        <p:spPr bwMode="auto">
          <a:xfrm>
            <a:off x="4047882" y="2743519"/>
            <a:ext cx="755650" cy="228494"/>
          </a:xfrm>
          <a:prstGeom prst="roundRect">
            <a:avLst>
              <a:gd name="adj" fmla="val 50000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jg</a:t>
            </a:r>
            <a:endParaRPr lang="en-US" sz="1602" dirty="0">
              <a:latin typeface="Courier New" charset="0"/>
            </a:endParaRPr>
          </a:p>
        </p:txBody>
      </p:sp>
      <p:sp>
        <p:nvSpPr>
          <p:cNvPr id="37" name="Line 14"/>
          <p:cNvSpPr>
            <a:spLocks noChangeShapeType="1"/>
          </p:cNvSpPr>
          <p:nvPr/>
        </p:nvSpPr>
        <p:spPr bwMode="auto">
          <a:xfrm>
            <a:off x="4428882" y="2058037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38" name="Line 15"/>
          <p:cNvSpPr>
            <a:spLocks noChangeShapeType="1"/>
          </p:cNvSpPr>
          <p:nvPr/>
        </p:nvSpPr>
        <p:spPr bwMode="auto">
          <a:xfrm flipH="1">
            <a:off x="4428882" y="2515025"/>
            <a:ext cx="0" cy="228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40" name="Text Box 17"/>
          <p:cNvSpPr txBox="1">
            <a:spLocks noChangeArrowheads="1"/>
          </p:cNvSpPr>
          <p:nvPr/>
        </p:nvSpPr>
        <p:spPr bwMode="auto">
          <a:xfrm>
            <a:off x="4809882" y="1859692"/>
            <a:ext cx="742511" cy="27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%rdx.2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41" name="Freeform 19"/>
          <p:cNvSpPr>
            <a:spLocks/>
          </p:cNvSpPr>
          <p:nvPr/>
        </p:nvSpPr>
        <p:spPr bwMode="auto">
          <a:xfrm>
            <a:off x="3133481" y="1677214"/>
            <a:ext cx="1295400" cy="152329"/>
          </a:xfrm>
          <a:custGeom>
            <a:avLst/>
            <a:gdLst>
              <a:gd name="T0" fmla="*/ 0 w 1008"/>
              <a:gd name="T1" fmla="*/ 0 h 48"/>
              <a:gd name="T2" fmla="*/ 1008 w 1008"/>
              <a:gd name="T3" fmla="*/ 0 h 48"/>
              <a:gd name="T4" fmla="*/ 1008 w 1008"/>
              <a:gd name="T5" fmla="*/ 48 h 48"/>
              <a:gd name="T6" fmla="*/ 0 60000 65536"/>
              <a:gd name="T7" fmla="*/ 0 60000 65536"/>
              <a:gd name="T8" fmla="*/ 0 60000 65536"/>
              <a:gd name="T9" fmla="*/ 0 w 1008"/>
              <a:gd name="T10" fmla="*/ 0 h 48"/>
              <a:gd name="T11" fmla="*/ 1008 w 100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48">
                <a:moveTo>
                  <a:pt x="0" y="0"/>
                </a:moveTo>
                <a:lnTo>
                  <a:pt x="1008" y="0"/>
                </a:lnTo>
                <a:lnTo>
                  <a:pt x="1008" y="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>
            <a:off x="3590681" y="1677214"/>
            <a:ext cx="0" cy="1523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43" name="Freeform 21"/>
          <p:cNvSpPr>
            <a:spLocks/>
          </p:cNvSpPr>
          <p:nvPr/>
        </p:nvSpPr>
        <p:spPr bwMode="auto">
          <a:xfrm>
            <a:off x="4428882" y="2134202"/>
            <a:ext cx="457200" cy="76165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44" name="Freeform 22"/>
          <p:cNvSpPr>
            <a:spLocks/>
          </p:cNvSpPr>
          <p:nvPr/>
        </p:nvSpPr>
        <p:spPr bwMode="auto">
          <a:xfrm>
            <a:off x="4886082" y="2134202"/>
            <a:ext cx="228600" cy="76165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3933460" y="6429280"/>
            <a:ext cx="835485" cy="27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 eaLnBrk="1" hangingPunct="1">
              <a:lnSpc>
                <a:spcPct val="100000"/>
              </a:lnSpc>
            </a:pPr>
            <a:r>
              <a:rPr lang="en-US" sz="1202" dirty="0">
                <a:latin typeface="Courier New" charset="0"/>
              </a:rPr>
              <a:t>%xmm0.2</a:t>
            </a:r>
            <a:endParaRPr lang="en-US" sz="1202" dirty="0">
              <a:latin typeface="Times New Roman" charset="0"/>
            </a:endParaRPr>
          </a:p>
        </p:txBody>
      </p:sp>
      <p:sp>
        <p:nvSpPr>
          <p:cNvPr id="46" name="Freeform 9"/>
          <p:cNvSpPr>
            <a:spLocks/>
          </p:cNvSpPr>
          <p:nvPr/>
        </p:nvSpPr>
        <p:spPr bwMode="auto">
          <a:xfrm>
            <a:off x="3552460" y="6581610"/>
            <a:ext cx="1295400" cy="76165"/>
          </a:xfrm>
          <a:custGeom>
            <a:avLst/>
            <a:gdLst>
              <a:gd name="T0" fmla="*/ 0 w 1056"/>
              <a:gd name="T1" fmla="*/ 0 h 48"/>
              <a:gd name="T2" fmla="*/ 0 w 1056"/>
              <a:gd name="T3" fmla="*/ 48 h 48"/>
              <a:gd name="T4" fmla="*/ 1056 w 1056"/>
              <a:gd name="T5" fmla="*/ 48 h 48"/>
              <a:gd name="T6" fmla="*/ 0 60000 65536"/>
              <a:gd name="T7" fmla="*/ 0 60000 65536"/>
              <a:gd name="T8" fmla="*/ 0 60000 65536"/>
              <a:gd name="T9" fmla="*/ 0 w 1056"/>
              <a:gd name="T10" fmla="*/ 0 h 48"/>
              <a:gd name="T11" fmla="*/ 1056 w 1056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48">
                <a:moveTo>
                  <a:pt x="0" y="0"/>
                </a:moveTo>
                <a:lnTo>
                  <a:pt x="0" y="48"/>
                </a:lnTo>
                <a:lnTo>
                  <a:pt x="1056" y="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47" name="Freeform 23"/>
          <p:cNvSpPr>
            <a:spLocks/>
          </p:cNvSpPr>
          <p:nvPr/>
        </p:nvSpPr>
        <p:spPr bwMode="auto">
          <a:xfrm>
            <a:off x="4847861" y="6657775"/>
            <a:ext cx="228600" cy="76164"/>
          </a:xfrm>
          <a:custGeom>
            <a:avLst/>
            <a:gdLst>
              <a:gd name="T0" fmla="*/ 0 w 348"/>
              <a:gd name="T1" fmla="*/ 0 h 1"/>
              <a:gd name="T2" fmla="*/ 348 w 348"/>
              <a:gd name="T3" fmla="*/ 0 h 1"/>
              <a:gd name="T4" fmla="*/ 0 60000 65536"/>
              <a:gd name="T5" fmla="*/ 0 60000 65536"/>
              <a:gd name="T6" fmla="*/ 0 w 348"/>
              <a:gd name="T7" fmla="*/ 0 h 1"/>
              <a:gd name="T8" fmla="*/ 348 w 34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8" h="1">
                <a:moveTo>
                  <a:pt x="0" y="0"/>
                </a:moveTo>
                <a:lnTo>
                  <a:pt x="348" y="0"/>
                </a:ln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sz="2403"/>
          </a:p>
        </p:txBody>
      </p:sp>
      <p:sp>
        <p:nvSpPr>
          <p:cNvPr id="48" name="AutoShape 26"/>
          <p:cNvSpPr>
            <a:spLocks noChangeArrowheads="1"/>
          </p:cNvSpPr>
          <p:nvPr/>
        </p:nvSpPr>
        <p:spPr bwMode="auto">
          <a:xfrm>
            <a:off x="3171460" y="5363292"/>
            <a:ext cx="755650" cy="1719179"/>
          </a:xfrm>
          <a:prstGeom prst="roundRect">
            <a:avLst>
              <a:gd name="adj" fmla="val 18181"/>
            </a:avLst>
          </a:prstGeom>
          <a:solidFill>
            <a:srgbClr val="99FF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2" dirty="0" err="1">
                <a:latin typeface="Courier New" charset="0"/>
              </a:rPr>
              <a:t>imull</a:t>
            </a:r>
            <a:endParaRPr lang="en-US" sz="1602" dirty="0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5038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27025" y="285750"/>
            <a:ext cx="8664575" cy="7810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Combine4 = Serial Computation (OP = *)</a:t>
            </a:r>
          </a:p>
        </p:txBody>
      </p:sp>
      <p:sp>
        <p:nvSpPr>
          <p:cNvPr id="78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26036" y="1143000"/>
            <a:ext cx="6365564" cy="1676400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dirty="0"/>
              <a:t>Computation (length=8)</a:t>
            </a:r>
          </a:p>
          <a:p>
            <a:pPr marL="285750" lvl="1" indent="-171450" eaLnBrk="1" hangingPunct="1">
              <a:buFont typeface="Wingdings" pitchFamily="2" charset="2"/>
              <a:buNone/>
              <a:defRPr/>
            </a:pPr>
            <a:r>
              <a:rPr lang="en-US" sz="1400" b="1" dirty="0"/>
              <a:t> </a:t>
            </a:r>
            <a:r>
              <a:rPr lang="en-US" sz="1600" b="1" dirty="0">
                <a:latin typeface="Courier New" pitchFamily="49" charset="0"/>
              </a:rPr>
              <a:t>((((((((1 * d[0]) * d[1]) * d[2]) * d[3]) </a:t>
            </a:r>
            <a:br>
              <a:rPr lang="en-US" sz="1600" b="1" dirty="0">
                <a:latin typeface="Courier New" pitchFamily="49" charset="0"/>
              </a:rPr>
            </a:br>
            <a:r>
              <a:rPr lang="en-US" sz="1600" b="1" dirty="0">
                <a:latin typeface="Courier New" pitchFamily="49" charset="0"/>
              </a:rPr>
              <a:t>* d[4]) * d[5]) * d[6]) * d[7])</a:t>
            </a:r>
          </a:p>
          <a:p>
            <a:pPr marL="287338" indent="-287338" eaLnBrk="1" hangingPunct="1">
              <a:defRPr/>
            </a:pPr>
            <a:r>
              <a:rPr lang="en-US" dirty="0"/>
              <a:t>Sequential dependence</a:t>
            </a:r>
          </a:p>
          <a:p>
            <a:pPr marL="687388" lvl="1" indent="-287338">
              <a:defRPr/>
            </a:pPr>
            <a:r>
              <a:rPr lang="en-US" dirty="0"/>
              <a:t>Performance: determined by latency of OP</a:t>
            </a:r>
          </a:p>
        </p:txBody>
      </p:sp>
      <p:sp>
        <p:nvSpPr>
          <p:cNvPr id="20503" name="AutoShape 5"/>
          <p:cNvSpPr>
            <a:spLocks noChangeArrowheads="1"/>
          </p:cNvSpPr>
          <p:nvPr/>
        </p:nvSpPr>
        <p:spPr bwMode="auto">
          <a:xfrm>
            <a:off x="599701" y="19050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0504" name="Line 6"/>
          <p:cNvSpPr>
            <a:spLocks noChangeShapeType="1"/>
          </p:cNvSpPr>
          <p:nvPr/>
        </p:nvSpPr>
        <p:spPr bwMode="auto">
          <a:xfrm>
            <a:off x="752101" y="16764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05" name="Line 7"/>
          <p:cNvSpPr>
            <a:spLocks noChangeShapeType="1"/>
          </p:cNvSpPr>
          <p:nvPr/>
        </p:nvSpPr>
        <p:spPr bwMode="auto">
          <a:xfrm>
            <a:off x="980701" y="16764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06" name="AutoShape 8"/>
          <p:cNvSpPr>
            <a:spLocks noChangeArrowheads="1"/>
          </p:cNvSpPr>
          <p:nvPr/>
        </p:nvSpPr>
        <p:spPr bwMode="auto">
          <a:xfrm>
            <a:off x="997261" y="24384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0507" name="Line 9"/>
          <p:cNvSpPr>
            <a:spLocks noChangeShapeType="1"/>
          </p:cNvSpPr>
          <p:nvPr/>
        </p:nvSpPr>
        <p:spPr bwMode="auto">
          <a:xfrm>
            <a:off x="1149661" y="228600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08" name="Line 10"/>
          <p:cNvSpPr>
            <a:spLocks noChangeShapeType="1"/>
          </p:cNvSpPr>
          <p:nvPr/>
        </p:nvSpPr>
        <p:spPr bwMode="auto">
          <a:xfrm>
            <a:off x="1378261" y="22098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09" name="Freeform 11"/>
          <p:cNvSpPr>
            <a:spLocks/>
          </p:cNvSpPr>
          <p:nvPr/>
        </p:nvSpPr>
        <p:spPr bwMode="auto">
          <a:xfrm>
            <a:off x="904501" y="2209800"/>
            <a:ext cx="92398" cy="369332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83372" name="Rectangle 12"/>
          <p:cNvSpPr>
            <a:spLocks noChangeArrowheads="1"/>
          </p:cNvSpPr>
          <p:nvPr/>
        </p:nvSpPr>
        <p:spPr bwMode="auto">
          <a:xfrm>
            <a:off x="645739" y="1371600"/>
            <a:ext cx="230191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1</a:t>
            </a:r>
            <a:endParaRPr lang="en-US" sz="1800" baseline="-25000">
              <a:solidFill>
                <a:schemeClr val="tx2"/>
              </a:solidFill>
              <a:latin typeface="Courier New" pitchFamily="49" charset="0"/>
            </a:endParaRPr>
          </a:p>
        </p:txBody>
      </p:sp>
      <p:sp>
        <p:nvSpPr>
          <p:cNvPr id="783373" name="Rectangle 13"/>
          <p:cNvSpPr>
            <a:spLocks noChangeArrowheads="1"/>
          </p:cNvSpPr>
          <p:nvPr/>
        </p:nvSpPr>
        <p:spPr bwMode="auto">
          <a:xfrm>
            <a:off x="828301" y="13716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0</a:t>
            </a:r>
          </a:p>
        </p:txBody>
      </p:sp>
      <p:sp>
        <p:nvSpPr>
          <p:cNvPr id="783374" name="Rectangle 14"/>
          <p:cNvSpPr>
            <a:spLocks noChangeArrowheads="1"/>
          </p:cNvSpPr>
          <p:nvPr/>
        </p:nvSpPr>
        <p:spPr bwMode="auto">
          <a:xfrm>
            <a:off x="1225861" y="19050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1</a:t>
            </a:r>
          </a:p>
        </p:txBody>
      </p:sp>
      <p:sp>
        <p:nvSpPr>
          <p:cNvPr id="20513" name="AutoShape 15"/>
          <p:cNvSpPr>
            <a:spLocks noChangeArrowheads="1"/>
          </p:cNvSpPr>
          <p:nvPr/>
        </p:nvSpPr>
        <p:spPr bwMode="auto">
          <a:xfrm>
            <a:off x="1385359" y="29718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0514" name="Line 16"/>
          <p:cNvSpPr>
            <a:spLocks noChangeShapeType="1"/>
          </p:cNvSpPr>
          <p:nvPr/>
        </p:nvSpPr>
        <p:spPr bwMode="auto">
          <a:xfrm>
            <a:off x="1537759" y="281940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15" name="Line 17"/>
          <p:cNvSpPr>
            <a:spLocks noChangeShapeType="1"/>
          </p:cNvSpPr>
          <p:nvPr/>
        </p:nvSpPr>
        <p:spPr bwMode="auto">
          <a:xfrm>
            <a:off x="1766359" y="27432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16" name="Freeform 18"/>
          <p:cNvSpPr>
            <a:spLocks/>
          </p:cNvSpPr>
          <p:nvPr/>
        </p:nvSpPr>
        <p:spPr bwMode="auto">
          <a:xfrm>
            <a:off x="1286186" y="2743200"/>
            <a:ext cx="92398" cy="369332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83379" name="Rectangle 19"/>
          <p:cNvSpPr>
            <a:spLocks noChangeArrowheads="1"/>
          </p:cNvSpPr>
          <p:nvPr/>
        </p:nvSpPr>
        <p:spPr bwMode="auto">
          <a:xfrm>
            <a:off x="1613959" y="24384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2</a:t>
            </a:r>
          </a:p>
        </p:txBody>
      </p:sp>
      <p:sp>
        <p:nvSpPr>
          <p:cNvPr id="20518" name="AutoShape 20"/>
          <p:cNvSpPr>
            <a:spLocks noChangeArrowheads="1"/>
          </p:cNvSpPr>
          <p:nvPr/>
        </p:nvSpPr>
        <p:spPr bwMode="auto">
          <a:xfrm>
            <a:off x="1769534" y="35052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0519" name="Line 21"/>
          <p:cNvSpPr>
            <a:spLocks noChangeShapeType="1"/>
          </p:cNvSpPr>
          <p:nvPr/>
        </p:nvSpPr>
        <p:spPr bwMode="auto">
          <a:xfrm>
            <a:off x="1921934" y="335280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20" name="Line 22"/>
          <p:cNvSpPr>
            <a:spLocks noChangeShapeType="1"/>
          </p:cNvSpPr>
          <p:nvPr/>
        </p:nvSpPr>
        <p:spPr bwMode="auto">
          <a:xfrm>
            <a:off x="2150534" y="32766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21" name="Freeform 23"/>
          <p:cNvSpPr>
            <a:spLocks/>
          </p:cNvSpPr>
          <p:nvPr/>
        </p:nvSpPr>
        <p:spPr bwMode="auto">
          <a:xfrm>
            <a:off x="1674284" y="3276600"/>
            <a:ext cx="92398" cy="369332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83384" name="Rectangle 24"/>
          <p:cNvSpPr>
            <a:spLocks noChangeArrowheads="1"/>
          </p:cNvSpPr>
          <p:nvPr/>
        </p:nvSpPr>
        <p:spPr bwMode="auto">
          <a:xfrm>
            <a:off x="1998134" y="29718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3</a:t>
            </a:r>
          </a:p>
        </p:txBody>
      </p:sp>
      <p:sp>
        <p:nvSpPr>
          <p:cNvPr id="20523" name="AutoShape 25"/>
          <p:cNvSpPr>
            <a:spLocks noChangeArrowheads="1"/>
          </p:cNvSpPr>
          <p:nvPr/>
        </p:nvSpPr>
        <p:spPr bwMode="auto">
          <a:xfrm>
            <a:off x="2168836" y="40386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0524" name="Line 26"/>
          <p:cNvSpPr>
            <a:spLocks noChangeShapeType="1"/>
          </p:cNvSpPr>
          <p:nvPr/>
        </p:nvSpPr>
        <p:spPr bwMode="auto">
          <a:xfrm>
            <a:off x="2321236" y="388620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25" name="Line 27"/>
          <p:cNvSpPr>
            <a:spLocks noChangeShapeType="1"/>
          </p:cNvSpPr>
          <p:nvPr/>
        </p:nvSpPr>
        <p:spPr bwMode="auto">
          <a:xfrm>
            <a:off x="2549836" y="38100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26" name="Freeform 28"/>
          <p:cNvSpPr>
            <a:spLocks/>
          </p:cNvSpPr>
          <p:nvPr/>
        </p:nvSpPr>
        <p:spPr bwMode="auto">
          <a:xfrm>
            <a:off x="2058459" y="3810000"/>
            <a:ext cx="92398" cy="369332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83389" name="Rectangle 29"/>
          <p:cNvSpPr>
            <a:spLocks noChangeArrowheads="1"/>
          </p:cNvSpPr>
          <p:nvPr/>
        </p:nvSpPr>
        <p:spPr bwMode="auto">
          <a:xfrm>
            <a:off x="2397436" y="35052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720" rIns="45720">
            <a:spAutoFit/>
          </a:bodyPr>
          <a:lstStyle/>
          <a:p>
            <a:pPr algn="ctr">
              <a:defRPr/>
            </a:pPr>
            <a:r>
              <a:rPr lang="en-US" sz="1800" dirty="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 dirty="0">
                <a:solidFill>
                  <a:schemeClr val="tx2"/>
                </a:solidFill>
                <a:latin typeface="Courier New" pitchFamily="49" charset="0"/>
              </a:rPr>
              <a:t>4</a:t>
            </a:r>
          </a:p>
        </p:txBody>
      </p:sp>
      <p:sp>
        <p:nvSpPr>
          <p:cNvPr id="20528" name="AutoShape 30"/>
          <p:cNvSpPr>
            <a:spLocks noChangeArrowheads="1"/>
          </p:cNvSpPr>
          <p:nvPr/>
        </p:nvSpPr>
        <p:spPr bwMode="auto">
          <a:xfrm>
            <a:off x="2551141" y="45720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0529" name="Line 31"/>
          <p:cNvSpPr>
            <a:spLocks noChangeShapeType="1"/>
          </p:cNvSpPr>
          <p:nvPr/>
        </p:nvSpPr>
        <p:spPr bwMode="auto">
          <a:xfrm>
            <a:off x="2703541" y="441960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30" name="Line 32"/>
          <p:cNvSpPr>
            <a:spLocks noChangeShapeType="1"/>
          </p:cNvSpPr>
          <p:nvPr/>
        </p:nvSpPr>
        <p:spPr bwMode="auto">
          <a:xfrm>
            <a:off x="2932141" y="43434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31" name="Freeform 33"/>
          <p:cNvSpPr>
            <a:spLocks/>
          </p:cNvSpPr>
          <p:nvPr/>
        </p:nvSpPr>
        <p:spPr bwMode="auto">
          <a:xfrm>
            <a:off x="2457761" y="4343400"/>
            <a:ext cx="92398" cy="369332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83394" name="Rectangle 34"/>
          <p:cNvSpPr>
            <a:spLocks noChangeArrowheads="1"/>
          </p:cNvSpPr>
          <p:nvPr/>
        </p:nvSpPr>
        <p:spPr bwMode="auto">
          <a:xfrm>
            <a:off x="2779741" y="40386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5</a:t>
            </a:r>
          </a:p>
        </p:txBody>
      </p:sp>
      <p:sp>
        <p:nvSpPr>
          <p:cNvPr id="20533" name="AutoShape 35"/>
          <p:cNvSpPr>
            <a:spLocks noChangeArrowheads="1"/>
          </p:cNvSpPr>
          <p:nvPr/>
        </p:nvSpPr>
        <p:spPr bwMode="auto">
          <a:xfrm>
            <a:off x="2939987" y="51054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0534" name="Line 36"/>
          <p:cNvSpPr>
            <a:spLocks noChangeShapeType="1"/>
          </p:cNvSpPr>
          <p:nvPr/>
        </p:nvSpPr>
        <p:spPr bwMode="auto">
          <a:xfrm>
            <a:off x="3092387" y="495300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35" name="Line 37"/>
          <p:cNvSpPr>
            <a:spLocks noChangeShapeType="1"/>
          </p:cNvSpPr>
          <p:nvPr/>
        </p:nvSpPr>
        <p:spPr bwMode="auto">
          <a:xfrm>
            <a:off x="3320987" y="48768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36" name="Freeform 38"/>
          <p:cNvSpPr>
            <a:spLocks/>
          </p:cNvSpPr>
          <p:nvPr/>
        </p:nvSpPr>
        <p:spPr bwMode="auto">
          <a:xfrm>
            <a:off x="2840066" y="4876800"/>
            <a:ext cx="92398" cy="369332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83399" name="Rectangle 39"/>
          <p:cNvSpPr>
            <a:spLocks noChangeArrowheads="1"/>
          </p:cNvSpPr>
          <p:nvPr/>
        </p:nvSpPr>
        <p:spPr bwMode="auto">
          <a:xfrm>
            <a:off x="3168587" y="45720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6</a:t>
            </a:r>
          </a:p>
        </p:txBody>
      </p:sp>
      <p:sp>
        <p:nvSpPr>
          <p:cNvPr id="20538" name="AutoShape 40"/>
          <p:cNvSpPr>
            <a:spLocks noChangeArrowheads="1"/>
          </p:cNvSpPr>
          <p:nvPr/>
        </p:nvSpPr>
        <p:spPr bwMode="auto">
          <a:xfrm>
            <a:off x="3334435" y="56388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0539" name="Line 41"/>
          <p:cNvSpPr>
            <a:spLocks noChangeShapeType="1"/>
          </p:cNvSpPr>
          <p:nvPr/>
        </p:nvSpPr>
        <p:spPr bwMode="auto">
          <a:xfrm>
            <a:off x="3492811" y="548640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40" name="Line 42"/>
          <p:cNvSpPr>
            <a:spLocks noChangeShapeType="1"/>
          </p:cNvSpPr>
          <p:nvPr/>
        </p:nvSpPr>
        <p:spPr bwMode="auto">
          <a:xfrm>
            <a:off x="3715435" y="54102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0541" name="Freeform 43"/>
          <p:cNvSpPr>
            <a:spLocks/>
          </p:cNvSpPr>
          <p:nvPr/>
        </p:nvSpPr>
        <p:spPr bwMode="auto">
          <a:xfrm>
            <a:off x="3228912" y="5410200"/>
            <a:ext cx="92398" cy="369332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83404" name="Rectangle 44"/>
          <p:cNvSpPr>
            <a:spLocks noChangeArrowheads="1"/>
          </p:cNvSpPr>
          <p:nvPr/>
        </p:nvSpPr>
        <p:spPr bwMode="auto">
          <a:xfrm>
            <a:off x="3563035" y="51054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08907" y="381000"/>
            <a:ext cx="7592093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Loop Unrolling (2x1)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5822950"/>
            <a:ext cx="8307387" cy="577850"/>
          </a:xfrm>
        </p:spPr>
        <p:txBody>
          <a:bodyPr/>
          <a:lstStyle/>
          <a:p>
            <a:r>
              <a:rPr lang="en-US" sz="2800" dirty="0"/>
              <a:t>Perform 2x more useful work per iteration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921222" y="1295400"/>
            <a:ext cx="5860578" cy="4275529"/>
          </a:xfrm>
          <a:prstGeom prst="rect">
            <a:avLst/>
          </a:prstGeom>
          <a:solidFill>
            <a:srgbClr val="F6F5BD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void unroll2a_combine(</a:t>
            </a:r>
            <a:r>
              <a:rPr lang="en-US" sz="1600" dirty="0" err="1">
                <a:latin typeface="Courier New" pitchFamily="49" charset="0"/>
              </a:rPr>
              <a:t>vec_ptr</a:t>
            </a:r>
            <a:r>
              <a:rPr lang="en-US" sz="1600" dirty="0">
                <a:latin typeface="Courier New" pitchFamily="49" charset="0"/>
              </a:rPr>
              <a:t> v, </a:t>
            </a:r>
            <a:r>
              <a:rPr lang="en-US" sz="1600" dirty="0" err="1">
                <a:latin typeface="Courier New" pitchFamily="49" charset="0"/>
              </a:rPr>
              <a:t>data_t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dest</a:t>
            </a:r>
            <a:r>
              <a:rPr lang="en-US" sz="1600" dirty="0">
                <a:latin typeface="Courier New" pitchFamily="49" charset="0"/>
              </a:rPr>
              <a:t>)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long length = </a:t>
            </a:r>
            <a:r>
              <a:rPr lang="en-US" sz="1600" dirty="0" err="1">
                <a:latin typeface="Courier New" pitchFamily="49" charset="0"/>
              </a:rPr>
              <a:t>vec_length</a:t>
            </a:r>
            <a:r>
              <a:rPr lang="en-US" sz="1600" dirty="0">
                <a:latin typeface="Courier New" pitchFamily="49" charset="0"/>
              </a:rPr>
              <a:t>(v);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long limit = length-1;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data_t</a:t>
            </a:r>
            <a:r>
              <a:rPr lang="en-US" sz="1600" dirty="0">
                <a:latin typeface="Courier New" pitchFamily="49" charset="0"/>
              </a:rPr>
              <a:t> *d = </a:t>
            </a:r>
            <a:r>
              <a:rPr lang="en-US" sz="1600" dirty="0" err="1">
                <a:latin typeface="Courier New" pitchFamily="49" charset="0"/>
              </a:rPr>
              <a:t>get_vec_start</a:t>
            </a:r>
            <a:r>
              <a:rPr lang="en-US" sz="1600" dirty="0">
                <a:latin typeface="Courier New" pitchFamily="49" charset="0"/>
              </a:rPr>
              <a:t>(v);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data_t</a:t>
            </a:r>
            <a:r>
              <a:rPr lang="en-US" sz="1600" dirty="0">
                <a:latin typeface="Courier New" pitchFamily="49" charset="0"/>
              </a:rPr>
              <a:t> x = IDENT;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long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/* Combine 2 elements at a time */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for (</a:t>
            </a:r>
            <a:r>
              <a:rPr lang="en-US" sz="1600" dirty="0" err="1">
                <a:solidFill>
                  <a:srgbClr val="A50021"/>
                </a:solidFill>
                <a:latin typeface="Courier New" pitchFamily="49" charset="0"/>
              </a:rPr>
              <a:t>i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 = 0; </a:t>
            </a:r>
            <a:r>
              <a:rPr lang="en-US" sz="1600" dirty="0" err="1">
                <a:solidFill>
                  <a:srgbClr val="A50021"/>
                </a:solidFill>
                <a:latin typeface="Courier New" pitchFamily="49" charset="0"/>
              </a:rPr>
              <a:t>i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 &lt; limit; </a:t>
            </a:r>
            <a:r>
              <a:rPr lang="en-US" sz="1600" dirty="0" err="1">
                <a:solidFill>
                  <a:srgbClr val="A50021"/>
                </a:solidFill>
                <a:latin typeface="Courier New" pitchFamily="49" charset="0"/>
              </a:rPr>
              <a:t>i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+=2) 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	x = </a:t>
            </a:r>
            <a:r>
              <a:rPr lang="en-US" sz="1600" dirty="0">
                <a:solidFill>
                  <a:schemeClr val="folHlink"/>
                </a:solidFill>
                <a:latin typeface="Courier New" pitchFamily="49" charset="0"/>
              </a:rPr>
              <a:t>(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x OP d[</a:t>
            </a:r>
            <a:r>
              <a:rPr lang="en-US" sz="1600" dirty="0" err="1">
                <a:solidFill>
                  <a:srgbClr val="A50021"/>
                </a:solidFill>
                <a:latin typeface="Courier New" pitchFamily="49" charset="0"/>
              </a:rPr>
              <a:t>i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]</a:t>
            </a:r>
            <a:r>
              <a:rPr lang="en-US" sz="1600" dirty="0">
                <a:solidFill>
                  <a:schemeClr val="folHlink"/>
                </a:solidFill>
                <a:latin typeface="Courier New" pitchFamily="49" charset="0"/>
              </a:rPr>
              <a:t>)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 OP d[i+1];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    }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/* Finish any remaining elements */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for (;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&lt; length;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++) 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	x = x OP d[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}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*</a:t>
            </a:r>
            <a:r>
              <a:rPr lang="en-US" sz="1600" dirty="0" err="1">
                <a:latin typeface="Courier New" pitchFamily="49" charset="0"/>
              </a:rPr>
              <a:t>dest</a:t>
            </a:r>
            <a:r>
              <a:rPr lang="en-US" sz="1600" dirty="0">
                <a:latin typeface="Courier New" pitchFamily="49" charset="0"/>
              </a:rPr>
              <a:t> = x;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5" name="Rectangle 4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Effect of Loop Unrolling</a:t>
            </a:r>
          </a:p>
        </p:txBody>
      </p:sp>
      <p:sp>
        <p:nvSpPr>
          <p:cNvPr id="788526" name="Rectangle 46"/>
          <p:cNvSpPr>
            <a:spLocks noGrp="1" noChangeArrowheads="1"/>
          </p:cNvSpPr>
          <p:nvPr>
            <p:ph type="body" idx="1"/>
          </p:nvPr>
        </p:nvSpPr>
        <p:spPr>
          <a:xfrm>
            <a:off x="379413" y="3886200"/>
            <a:ext cx="8307387" cy="2667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Helps integer add</a:t>
            </a:r>
          </a:p>
          <a:p>
            <a:pPr lvl="1">
              <a:defRPr/>
            </a:pPr>
            <a:r>
              <a:rPr lang="en-US" dirty="0"/>
              <a:t>Achieves latency bound</a:t>
            </a:r>
          </a:p>
          <a:p>
            <a:pPr eaLnBrk="1" hangingPunct="1">
              <a:defRPr/>
            </a:pPr>
            <a:r>
              <a:rPr lang="en-US" dirty="0"/>
              <a:t>Others don’t improve. </a:t>
            </a:r>
            <a:r>
              <a:rPr lang="en-US" i="1" dirty="0">
                <a:solidFill>
                  <a:srgbClr val="990000"/>
                </a:solidFill>
              </a:rPr>
              <a:t>Why?</a:t>
            </a:r>
          </a:p>
          <a:p>
            <a:pPr lvl="1" eaLnBrk="1" hangingPunct="1">
              <a:defRPr/>
            </a:pPr>
            <a:r>
              <a:rPr lang="en-US" dirty="0"/>
              <a:t>Still sequential dependency</a:t>
            </a:r>
          </a:p>
        </p:txBody>
      </p:sp>
      <p:sp>
        <p:nvSpPr>
          <p:cNvPr id="22556" name="Rectangle 47"/>
          <p:cNvSpPr>
            <a:spLocks noChangeArrowheads="1"/>
          </p:cNvSpPr>
          <p:nvPr/>
        </p:nvSpPr>
        <p:spPr bwMode="auto">
          <a:xfrm>
            <a:off x="4495800" y="4191000"/>
            <a:ext cx="3767056" cy="366767"/>
          </a:xfrm>
          <a:prstGeom prst="rect">
            <a:avLst/>
          </a:prstGeom>
          <a:solidFill>
            <a:srgbClr val="F6F5BD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x = (x OP d[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]) OP d[i+1];</a:t>
            </a:r>
          </a:p>
        </p:txBody>
      </p:sp>
      <p:graphicFrame>
        <p:nvGraphicFramePr>
          <p:cNvPr id="7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879756"/>
              </p:ext>
            </p:extLst>
          </p:nvPr>
        </p:nvGraphicFramePr>
        <p:xfrm>
          <a:off x="1570037" y="1346327"/>
          <a:ext cx="6003925" cy="2165223"/>
        </p:xfrm>
        <a:graphic>
          <a:graphicData uri="http://schemas.openxmlformats.org/drawingml/2006/table">
            <a:tbl>
              <a:tblPr/>
              <a:tblGrid>
                <a:gridCol w="1723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Method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Integer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Double FP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Operation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Combine4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1.27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5.01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Unroll 2x1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5.01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Latency Bound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5.00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5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08907" y="435678"/>
            <a:ext cx="8049293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Loop Unrolling with </a:t>
            </a:r>
            <a:r>
              <a:rPr lang="en-US" dirty="0" err="1"/>
              <a:t>Reassociation</a:t>
            </a:r>
            <a:r>
              <a:rPr lang="en-US" dirty="0"/>
              <a:t> (2x1a)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670550"/>
            <a:ext cx="7939087" cy="577850"/>
          </a:xfrm>
        </p:spPr>
        <p:txBody>
          <a:bodyPr/>
          <a:lstStyle/>
          <a:p>
            <a:r>
              <a:rPr lang="en-US" sz="2800" dirty="0"/>
              <a:t>Can this change the result of the computation?</a:t>
            </a:r>
          </a:p>
          <a:p>
            <a:r>
              <a:rPr lang="en-US" sz="2800" dirty="0"/>
              <a:t>Yes, for FP. </a:t>
            </a:r>
            <a:r>
              <a:rPr lang="en-US" sz="2800" i="1" dirty="0">
                <a:solidFill>
                  <a:srgbClr val="C00000"/>
                </a:solidFill>
              </a:rPr>
              <a:t>Why?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914400" y="1295400"/>
            <a:ext cx="5984009" cy="4275529"/>
          </a:xfrm>
          <a:prstGeom prst="rect">
            <a:avLst/>
          </a:prstGeom>
          <a:solidFill>
            <a:srgbClr val="F6F5BD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void unroll2aa_combine(</a:t>
            </a:r>
            <a:r>
              <a:rPr lang="en-US" sz="1600" dirty="0" err="1">
                <a:latin typeface="Courier New" pitchFamily="49" charset="0"/>
              </a:rPr>
              <a:t>vec_ptr</a:t>
            </a:r>
            <a:r>
              <a:rPr lang="en-US" sz="1600" dirty="0">
                <a:latin typeface="Courier New" pitchFamily="49" charset="0"/>
              </a:rPr>
              <a:t> v, </a:t>
            </a:r>
            <a:r>
              <a:rPr lang="en-US" sz="1600" dirty="0" err="1">
                <a:latin typeface="Courier New" pitchFamily="49" charset="0"/>
              </a:rPr>
              <a:t>data_t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dest</a:t>
            </a:r>
            <a:r>
              <a:rPr lang="en-US" sz="1600" dirty="0">
                <a:latin typeface="Courier New" pitchFamily="49" charset="0"/>
              </a:rPr>
              <a:t>)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long length = </a:t>
            </a:r>
            <a:r>
              <a:rPr lang="en-US" sz="1600" dirty="0" err="1">
                <a:latin typeface="Courier New" pitchFamily="49" charset="0"/>
              </a:rPr>
              <a:t>vec_length</a:t>
            </a:r>
            <a:r>
              <a:rPr lang="en-US" sz="1600" dirty="0">
                <a:latin typeface="Courier New" pitchFamily="49" charset="0"/>
              </a:rPr>
              <a:t>(v);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long limit = length-1;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data_t</a:t>
            </a:r>
            <a:r>
              <a:rPr lang="en-US" sz="1600" dirty="0">
                <a:latin typeface="Courier New" pitchFamily="49" charset="0"/>
              </a:rPr>
              <a:t> *d = </a:t>
            </a:r>
            <a:r>
              <a:rPr lang="en-US" sz="1600" dirty="0" err="1">
                <a:latin typeface="Courier New" pitchFamily="49" charset="0"/>
              </a:rPr>
              <a:t>get_vec_start</a:t>
            </a:r>
            <a:r>
              <a:rPr lang="en-US" sz="1600" dirty="0">
                <a:latin typeface="Courier New" pitchFamily="49" charset="0"/>
              </a:rPr>
              <a:t>(v);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data_t</a:t>
            </a:r>
            <a:r>
              <a:rPr lang="en-US" sz="1600" dirty="0">
                <a:latin typeface="Courier New" pitchFamily="49" charset="0"/>
              </a:rPr>
              <a:t> x = IDENT;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long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/* Combine 2 elements at a time */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for (</a:t>
            </a:r>
            <a:r>
              <a:rPr lang="en-US" sz="1600" dirty="0" err="1">
                <a:solidFill>
                  <a:srgbClr val="A50021"/>
                </a:solidFill>
                <a:latin typeface="Courier New" pitchFamily="49" charset="0"/>
              </a:rPr>
              <a:t>i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 = 0; </a:t>
            </a:r>
            <a:r>
              <a:rPr lang="en-US" sz="1600" dirty="0" err="1">
                <a:solidFill>
                  <a:srgbClr val="A50021"/>
                </a:solidFill>
                <a:latin typeface="Courier New" pitchFamily="49" charset="0"/>
              </a:rPr>
              <a:t>i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 &lt; limit; </a:t>
            </a:r>
            <a:r>
              <a:rPr lang="en-US" sz="1600" dirty="0" err="1">
                <a:solidFill>
                  <a:srgbClr val="A50021"/>
                </a:solidFill>
                <a:latin typeface="Courier New" pitchFamily="49" charset="0"/>
              </a:rPr>
              <a:t>i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+=2) 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	x = x OP </a:t>
            </a:r>
            <a:r>
              <a:rPr lang="en-US" sz="1600" dirty="0">
                <a:solidFill>
                  <a:schemeClr val="folHlink"/>
                </a:solidFill>
                <a:latin typeface="Courier New" pitchFamily="49" charset="0"/>
              </a:rPr>
              <a:t>(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d[</a:t>
            </a:r>
            <a:r>
              <a:rPr lang="en-US" sz="1600" dirty="0" err="1">
                <a:solidFill>
                  <a:srgbClr val="A50021"/>
                </a:solidFill>
                <a:latin typeface="Courier New" pitchFamily="49" charset="0"/>
              </a:rPr>
              <a:t>i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] OP d[i+1]</a:t>
            </a:r>
            <a:r>
              <a:rPr lang="en-US" sz="1600" dirty="0">
                <a:solidFill>
                  <a:schemeClr val="folHlink"/>
                </a:solidFill>
                <a:latin typeface="Courier New" pitchFamily="49" charset="0"/>
              </a:rPr>
              <a:t>)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    }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/* Finish any remaining elements */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for (;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&lt; length;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++) 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	x = x OP d[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}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*</a:t>
            </a:r>
            <a:r>
              <a:rPr lang="en-US" sz="1600" dirty="0" err="1">
                <a:latin typeface="Courier New" pitchFamily="49" charset="0"/>
              </a:rPr>
              <a:t>dest</a:t>
            </a:r>
            <a:r>
              <a:rPr lang="en-US" sz="1600" dirty="0">
                <a:latin typeface="Courier New" pitchFamily="49" charset="0"/>
              </a:rPr>
              <a:t> = x;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5" name="Rectangle 47"/>
          <p:cNvSpPr>
            <a:spLocks noChangeArrowheads="1"/>
          </p:cNvSpPr>
          <p:nvPr/>
        </p:nvSpPr>
        <p:spPr bwMode="auto">
          <a:xfrm>
            <a:off x="5014881" y="4831583"/>
            <a:ext cx="3767056" cy="366767"/>
          </a:xfrm>
          <a:prstGeom prst="rect">
            <a:avLst/>
          </a:prstGeom>
          <a:solidFill>
            <a:srgbClr val="F1C7C7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x = (x OP d[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]) OP d[i+1];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14881" y="4462251"/>
            <a:ext cx="1981953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Compare to before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26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Effect of Reassociation</a:t>
            </a:r>
          </a:p>
        </p:txBody>
      </p:sp>
      <p:sp>
        <p:nvSpPr>
          <p:cNvPr id="793627" name="Rectangle 27"/>
          <p:cNvSpPr>
            <a:spLocks noGrp="1" noChangeArrowheads="1"/>
          </p:cNvSpPr>
          <p:nvPr>
            <p:ph type="body" idx="1"/>
          </p:nvPr>
        </p:nvSpPr>
        <p:spPr>
          <a:xfrm>
            <a:off x="290513" y="4710166"/>
            <a:ext cx="8307387" cy="173508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Nearly 2x speedup for </a:t>
            </a:r>
            <a:r>
              <a:rPr lang="en-US" dirty="0" err="1"/>
              <a:t>Int</a:t>
            </a:r>
            <a:r>
              <a:rPr lang="en-US" dirty="0"/>
              <a:t> *, FP +, FP *</a:t>
            </a:r>
          </a:p>
          <a:p>
            <a:pPr lvl="1" eaLnBrk="1" hangingPunct="1">
              <a:defRPr/>
            </a:pPr>
            <a:r>
              <a:rPr lang="en-US" dirty="0"/>
              <a:t>Reason: Breaks sequential dependency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n-US" dirty="0"/>
              <a:t>Why is that? (next slide)</a:t>
            </a:r>
          </a:p>
        </p:txBody>
      </p:sp>
      <p:sp>
        <p:nvSpPr>
          <p:cNvPr id="24610" name="Rectangle 28"/>
          <p:cNvSpPr>
            <a:spLocks noChangeArrowheads="1"/>
          </p:cNvSpPr>
          <p:nvPr/>
        </p:nvSpPr>
        <p:spPr bwMode="auto">
          <a:xfrm>
            <a:off x="1143000" y="5653033"/>
            <a:ext cx="3767056" cy="366767"/>
          </a:xfrm>
          <a:prstGeom prst="rect">
            <a:avLst/>
          </a:prstGeom>
          <a:solidFill>
            <a:srgbClr val="F6F5BD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x = x OP (d[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 OP d[i+1]);</a:t>
            </a:r>
          </a:p>
        </p:txBody>
      </p:sp>
      <p:graphicFrame>
        <p:nvGraphicFramePr>
          <p:cNvPr id="8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193069"/>
              </p:ext>
            </p:extLst>
          </p:nvPr>
        </p:nvGraphicFramePr>
        <p:xfrm>
          <a:off x="1570037" y="1066800"/>
          <a:ext cx="6003925" cy="3165221"/>
        </p:xfrm>
        <a:graphic>
          <a:graphicData uri="http://schemas.openxmlformats.org/drawingml/2006/table">
            <a:tbl>
              <a:tblPr/>
              <a:tblGrid>
                <a:gridCol w="1723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0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Method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Integer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Double FP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Operation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Combine4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1.27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5.01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Unroll 2x1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5.01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Unroll 2x1a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1.51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1.51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2.51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Latency Bound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5.00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Throughput Bound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0.50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0.50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3" name="Straight Arrow Connector 2"/>
          <p:cNvCxnSpPr/>
          <p:nvPr/>
        </p:nvCxnSpPr>
        <p:spPr bwMode="auto">
          <a:xfrm flipH="1" flipV="1">
            <a:off x="7391400" y="4267200"/>
            <a:ext cx="381000" cy="60960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6953414" y="4782597"/>
            <a:ext cx="2190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2 </a:t>
            </a:r>
            <a:r>
              <a:rPr lang="en-US" sz="1800" dirty="0" err="1">
                <a:latin typeface="Calibri" pitchFamily="34" charset="0"/>
              </a:rPr>
              <a:t>func</a:t>
            </a:r>
            <a:r>
              <a:rPr lang="en-US" sz="1800" dirty="0">
                <a:latin typeface="Calibri" pitchFamily="34" charset="0"/>
              </a:rPr>
              <a:t>. units for FP *</a:t>
            </a:r>
          </a:p>
          <a:p>
            <a:r>
              <a:rPr lang="en-US" sz="1800" dirty="0">
                <a:latin typeface="Calibri" pitchFamily="34" charset="0"/>
              </a:rPr>
              <a:t>2 </a:t>
            </a:r>
            <a:r>
              <a:rPr lang="en-US" sz="1800" dirty="0" err="1">
                <a:latin typeface="Calibri" pitchFamily="34" charset="0"/>
              </a:rPr>
              <a:t>func</a:t>
            </a:r>
            <a:r>
              <a:rPr lang="en-US" sz="1800" dirty="0">
                <a:latin typeface="Calibri" pitchFamily="34" charset="0"/>
              </a:rPr>
              <a:t>. units for load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 flipV="1">
            <a:off x="4191000" y="4191000"/>
            <a:ext cx="1771814" cy="1581835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5581814" y="5696634"/>
            <a:ext cx="2190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4 </a:t>
            </a:r>
            <a:r>
              <a:rPr lang="en-US" sz="1800" dirty="0" err="1">
                <a:latin typeface="Calibri" pitchFamily="34" charset="0"/>
              </a:rPr>
              <a:t>func</a:t>
            </a:r>
            <a:r>
              <a:rPr lang="en-US" sz="1800" dirty="0">
                <a:latin typeface="Calibri" pitchFamily="34" charset="0"/>
              </a:rPr>
              <a:t>. units for </a:t>
            </a:r>
            <a:r>
              <a:rPr lang="en-US" sz="1800" dirty="0" err="1">
                <a:latin typeface="Calibri" pitchFamily="34" charset="0"/>
              </a:rPr>
              <a:t>int</a:t>
            </a:r>
            <a:r>
              <a:rPr lang="en-US" sz="1800" dirty="0">
                <a:latin typeface="Calibri" pitchFamily="34" charset="0"/>
              </a:rPr>
              <a:t> +</a:t>
            </a:r>
          </a:p>
          <a:p>
            <a:r>
              <a:rPr lang="en-US" sz="1800" dirty="0">
                <a:latin typeface="Calibri" pitchFamily="34" charset="0"/>
              </a:rPr>
              <a:t>2 </a:t>
            </a:r>
            <a:r>
              <a:rPr lang="en-US" sz="1800" dirty="0" err="1">
                <a:latin typeface="Calibri" pitchFamily="34" charset="0"/>
              </a:rPr>
              <a:t>func</a:t>
            </a:r>
            <a:r>
              <a:rPr lang="en-US" sz="1800" dirty="0">
                <a:latin typeface="Calibri" pitchFamily="34" charset="0"/>
              </a:rPr>
              <a:t>. units for load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3627" grpId="0" build="p"/>
      <p:bldP spid="2461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ine 7"/>
          <p:cNvSpPr>
            <a:spLocks noChangeShapeType="1"/>
          </p:cNvSpPr>
          <p:nvPr/>
        </p:nvSpPr>
        <p:spPr bwMode="auto">
          <a:xfrm>
            <a:off x="3124200" y="54864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Reassociated Computation</a:t>
            </a:r>
          </a:p>
        </p:txBody>
      </p:sp>
      <p:sp>
        <p:nvSpPr>
          <p:cNvPr id="66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89500" y="1481138"/>
            <a:ext cx="3949700" cy="5224462"/>
          </a:xfrm>
        </p:spPr>
        <p:txBody>
          <a:bodyPr/>
          <a:lstStyle/>
          <a:p>
            <a:pPr marL="287338" indent="-287338" eaLnBrk="1" hangingPunct="1">
              <a:lnSpc>
                <a:spcPct val="85000"/>
              </a:lnSpc>
              <a:defRPr/>
            </a:pPr>
            <a:r>
              <a:rPr lang="en-US" dirty="0"/>
              <a:t>What changed:</a:t>
            </a:r>
          </a:p>
          <a:p>
            <a:pPr marL="628650" lvl="1" indent="-230188">
              <a:lnSpc>
                <a:spcPct val="85000"/>
              </a:lnSpc>
              <a:defRPr/>
            </a:pPr>
            <a:r>
              <a:rPr lang="en-US" sz="1800" dirty="0"/>
              <a:t>Ops in the next iteration can be started early (no dependency)</a:t>
            </a:r>
          </a:p>
          <a:p>
            <a:pPr marL="287338" indent="-287338" eaLnBrk="1" hangingPunct="1">
              <a:lnSpc>
                <a:spcPct val="85000"/>
              </a:lnSpc>
              <a:defRPr/>
            </a:pPr>
            <a:endParaRPr lang="en-US" dirty="0"/>
          </a:p>
          <a:p>
            <a:pPr marL="287338" indent="-287338" eaLnBrk="1" hangingPunct="1">
              <a:lnSpc>
                <a:spcPct val="85000"/>
              </a:lnSpc>
              <a:defRPr/>
            </a:pPr>
            <a:r>
              <a:rPr lang="en-US" dirty="0"/>
              <a:t>Overall Performance</a:t>
            </a:r>
          </a:p>
          <a:p>
            <a:pPr marL="627063" lvl="1" indent="-228600" eaLnBrk="1" hangingPunct="1">
              <a:lnSpc>
                <a:spcPct val="90000"/>
              </a:lnSpc>
              <a:defRPr/>
            </a:pPr>
            <a:r>
              <a:rPr lang="en-US" sz="1800" dirty="0"/>
              <a:t>N elements, D cycles latency/op</a:t>
            </a:r>
          </a:p>
          <a:p>
            <a:pPr marL="627063" lvl="1" indent="-228600" eaLnBrk="1" hangingPunct="1">
              <a:lnSpc>
                <a:spcPct val="90000"/>
              </a:lnSpc>
              <a:defRPr/>
            </a:pPr>
            <a:r>
              <a:rPr lang="en-US" sz="1800" dirty="0"/>
              <a:t>(N/2+1)*D cycles:</a:t>
            </a:r>
            <a:br>
              <a:rPr lang="en-US" sz="1800" dirty="0"/>
            </a:br>
            <a:r>
              <a:rPr lang="en-US" sz="1800" b="1" dirty="0">
                <a:solidFill>
                  <a:srgbClr val="C00000"/>
                </a:solidFill>
              </a:rPr>
              <a:t>CPE = D/2</a:t>
            </a:r>
          </a:p>
        </p:txBody>
      </p:sp>
      <p:sp>
        <p:nvSpPr>
          <p:cNvPr id="25607" name="AutoShape 6"/>
          <p:cNvSpPr>
            <a:spLocks noChangeArrowheads="1"/>
          </p:cNvSpPr>
          <p:nvPr/>
        </p:nvSpPr>
        <p:spPr bwMode="auto">
          <a:xfrm>
            <a:off x="1066800" y="3616325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5608" name="Line 7"/>
          <p:cNvSpPr>
            <a:spLocks noChangeShapeType="1"/>
          </p:cNvSpPr>
          <p:nvPr/>
        </p:nvSpPr>
        <p:spPr bwMode="auto">
          <a:xfrm>
            <a:off x="1219200" y="3387725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5609" name="AutoShape 8"/>
          <p:cNvSpPr>
            <a:spLocks noChangeArrowheads="1"/>
          </p:cNvSpPr>
          <p:nvPr/>
        </p:nvSpPr>
        <p:spPr bwMode="auto">
          <a:xfrm>
            <a:off x="1676400" y="4149725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5611" name="Freeform 10"/>
          <p:cNvSpPr>
            <a:spLocks/>
          </p:cNvSpPr>
          <p:nvPr/>
        </p:nvSpPr>
        <p:spPr bwMode="auto">
          <a:xfrm>
            <a:off x="1371600" y="3921125"/>
            <a:ext cx="304800" cy="369888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662539" name="Rectangle 11"/>
          <p:cNvSpPr>
            <a:spLocks noChangeArrowheads="1"/>
          </p:cNvSpPr>
          <p:nvPr/>
        </p:nvSpPr>
        <p:spPr bwMode="auto">
          <a:xfrm>
            <a:off x="1112838" y="3082925"/>
            <a:ext cx="230188" cy="36988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1</a:t>
            </a:r>
            <a:endParaRPr lang="en-US" sz="1800" baseline="-25000">
              <a:solidFill>
                <a:schemeClr val="tx2"/>
              </a:solidFill>
              <a:latin typeface="Courier New" pitchFamily="49" charset="0"/>
            </a:endParaRPr>
          </a:p>
        </p:txBody>
      </p:sp>
      <p:sp>
        <p:nvSpPr>
          <p:cNvPr id="25613" name="AutoShape 12"/>
          <p:cNvSpPr>
            <a:spLocks noChangeArrowheads="1"/>
          </p:cNvSpPr>
          <p:nvPr/>
        </p:nvSpPr>
        <p:spPr bwMode="auto">
          <a:xfrm>
            <a:off x="2270125" y="4683125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5615" name="Freeform 14"/>
          <p:cNvSpPr>
            <a:spLocks/>
          </p:cNvSpPr>
          <p:nvPr/>
        </p:nvSpPr>
        <p:spPr bwMode="auto">
          <a:xfrm>
            <a:off x="1965325" y="4454525"/>
            <a:ext cx="304800" cy="369888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5616" name="AutoShape 15"/>
          <p:cNvSpPr>
            <a:spLocks noChangeArrowheads="1"/>
          </p:cNvSpPr>
          <p:nvPr/>
        </p:nvSpPr>
        <p:spPr bwMode="auto">
          <a:xfrm>
            <a:off x="2863850" y="5216525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5618" name="Freeform 17"/>
          <p:cNvSpPr>
            <a:spLocks/>
          </p:cNvSpPr>
          <p:nvPr/>
        </p:nvSpPr>
        <p:spPr bwMode="auto">
          <a:xfrm>
            <a:off x="2559050" y="4987925"/>
            <a:ext cx="304800" cy="369888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5661" name="AutoShape 25"/>
          <p:cNvSpPr>
            <a:spLocks noChangeArrowheads="1"/>
          </p:cNvSpPr>
          <p:nvPr/>
        </p:nvSpPr>
        <p:spPr bwMode="auto">
          <a:xfrm>
            <a:off x="1371600" y="2930525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D5F1C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*</a:t>
            </a:r>
          </a:p>
        </p:txBody>
      </p:sp>
      <p:sp>
        <p:nvSpPr>
          <p:cNvPr id="662554" name="Rectangle 26"/>
          <p:cNvSpPr>
            <a:spLocks noChangeArrowheads="1"/>
          </p:cNvSpPr>
          <p:nvPr/>
        </p:nvSpPr>
        <p:spPr bwMode="auto">
          <a:xfrm>
            <a:off x="1676400" y="2438400"/>
            <a:ext cx="320675" cy="36988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1</a:t>
            </a:r>
          </a:p>
        </p:txBody>
      </p:sp>
      <p:sp>
        <p:nvSpPr>
          <p:cNvPr id="25663" name="Line 27"/>
          <p:cNvSpPr>
            <a:spLocks noChangeShapeType="1"/>
          </p:cNvSpPr>
          <p:nvPr/>
        </p:nvSpPr>
        <p:spPr bwMode="auto">
          <a:xfrm>
            <a:off x="1447800" y="2701925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662556" name="Rectangle 28"/>
          <p:cNvSpPr>
            <a:spLocks noChangeArrowheads="1"/>
          </p:cNvSpPr>
          <p:nvPr/>
        </p:nvSpPr>
        <p:spPr bwMode="auto">
          <a:xfrm>
            <a:off x="1295400" y="2438400"/>
            <a:ext cx="323850" cy="36988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0</a:t>
            </a:r>
          </a:p>
        </p:txBody>
      </p:sp>
      <p:sp>
        <p:nvSpPr>
          <p:cNvPr id="25665" name="Freeform 29"/>
          <p:cNvSpPr>
            <a:spLocks/>
          </p:cNvSpPr>
          <p:nvPr/>
        </p:nvSpPr>
        <p:spPr bwMode="auto">
          <a:xfrm>
            <a:off x="1447800" y="3235325"/>
            <a:ext cx="92075" cy="369888"/>
          </a:xfrm>
          <a:custGeom>
            <a:avLst/>
            <a:gdLst>
              <a:gd name="T0" fmla="*/ 96 w 96"/>
              <a:gd name="T1" fmla="*/ 0 h 144"/>
              <a:gd name="T2" fmla="*/ 96 w 96"/>
              <a:gd name="T3" fmla="*/ 48 h 144"/>
              <a:gd name="T4" fmla="*/ 0 w 96"/>
              <a:gd name="T5" fmla="*/ 48 h 144"/>
              <a:gd name="T6" fmla="*/ 0 w 96"/>
              <a:gd name="T7" fmla="*/ 144 h 14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144"/>
              <a:gd name="T14" fmla="*/ 96 w 96"/>
              <a:gd name="T15" fmla="*/ 144 h 1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144">
                <a:moveTo>
                  <a:pt x="96" y="0"/>
                </a:moveTo>
                <a:lnTo>
                  <a:pt x="96" y="48"/>
                </a:lnTo>
                <a:lnTo>
                  <a:pt x="0" y="48"/>
                </a:lnTo>
                <a:lnTo>
                  <a:pt x="0" y="144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5666" name="Line 30"/>
          <p:cNvSpPr>
            <a:spLocks noChangeShapeType="1"/>
          </p:cNvSpPr>
          <p:nvPr/>
        </p:nvSpPr>
        <p:spPr bwMode="auto">
          <a:xfrm>
            <a:off x="1828800" y="2701925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5655" name="AutoShape 32"/>
          <p:cNvSpPr>
            <a:spLocks noChangeArrowheads="1"/>
          </p:cNvSpPr>
          <p:nvPr/>
        </p:nvSpPr>
        <p:spPr bwMode="auto">
          <a:xfrm>
            <a:off x="1981200" y="3463925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D5F1C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662561" name="Rectangle 33"/>
          <p:cNvSpPr>
            <a:spLocks noChangeArrowheads="1"/>
          </p:cNvSpPr>
          <p:nvPr/>
        </p:nvSpPr>
        <p:spPr bwMode="auto">
          <a:xfrm>
            <a:off x="2286000" y="2971800"/>
            <a:ext cx="320675" cy="36988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3</a:t>
            </a:r>
          </a:p>
        </p:txBody>
      </p:sp>
      <p:sp>
        <p:nvSpPr>
          <p:cNvPr id="25657" name="Line 34"/>
          <p:cNvSpPr>
            <a:spLocks noChangeShapeType="1"/>
          </p:cNvSpPr>
          <p:nvPr/>
        </p:nvSpPr>
        <p:spPr bwMode="auto">
          <a:xfrm>
            <a:off x="2057400" y="3235325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662563" name="Rectangle 35"/>
          <p:cNvSpPr>
            <a:spLocks noChangeArrowheads="1"/>
          </p:cNvSpPr>
          <p:nvPr/>
        </p:nvSpPr>
        <p:spPr bwMode="auto">
          <a:xfrm>
            <a:off x="1905000" y="2971800"/>
            <a:ext cx="323850" cy="36988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2</a:t>
            </a:r>
          </a:p>
        </p:txBody>
      </p:sp>
      <p:sp>
        <p:nvSpPr>
          <p:cNvPr id="25659" name="Freeform 36"/>
          <p:cNvSpPr>
            <a:spLocks/>
          </p:cNvSpPr>
          <p:nvPr/>
        </p:nvSpPr>
        <p:spPr bwMode="auto">
          <a:xfrm>
            <a:off x="2057400" y="3768725"/>
            <a:ext cx="92075" cy="369888"/>
          </a:xfrm>
          <a:custGeom>
            <a:avLst/>
            <a:gdLst>
              <a:gd name="T0" fmla="*/ 96 w 96"/>
              <a:gd name="T1" fmla="*/ 0 h 144"/>
              <a:gd name="T2" fmla="*/ 96 w 96"/>
              <a:gd name="T3" fmla="*/ 48 h 144"/>
              <a:gd name="T4" fmla="*/ 0 w 96"/>
              <a:gd name="T5" fmla="*/ 48 h 144"/>
              <a:gd name="T6" fmla="*/ 0 w 96"/>
              <a:gd name="T7" fmla="*/ 144 h 14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144"/>
              <a:gd name="T14" fmla="*/ 96 w 96"/>
              <a:gd name="T15" fmla="*/ 144 h 1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144">
                <a:moveTo>
                  <a:pt x="96" y="0"/>
                </a:moveTo>
                <a:lnTo>
                  <a:pt x="96" y="48"/>
                </a:lnTo>
                <a:lnTo>
                  <a:pt x="0" y="48"/>
                </a:lnTo>
                <a:lnTo>
                  <a:pt x="0" y="144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5660" name="Line 37"/>
          <p:cNvSpPr>
            <a:spLocks noChangeShapeType="1"/>
          </p:cNvSpPr>
          <p:nvPr/>
        </p:nvSpPr>
        <p:spPr bwMode="auto">
          <a:xfrm>
            <a:off x="2438400" y="3235325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5649" name="AutoShape 39"/>
          <p:cNvSpPr>
            <a:spLocks noChangeArrowheads="1"/>
          </p:cNvSpPr>
          <p:nvPr/>
        </p:nvSpPr>
        <p:spPr bwMode="auto">
          <a:xfrm>
            <a:off x="2590800" y="3997325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D5F1C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662568" name="Rectangle 40"/>
          <p:cNvSpPr>
            <a:spLocks noChangeArrowheads="1"/>
          </p:cNvSpPr>
          <p:nvPr/>
        </p:nvSpPr>
        <p:spPr bwMode="auto">
          <a:xfrm>
            <a:off x="2895600" y="3505200"/>
            <a:ext cx="320675" cy="36988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5</a:t>
            </a:r>
          </a:p>
        </p:txBody>
      </p:sp>
      <p:sp>
        <p:nvSpPr>
          <p:cNvPr id="25651" name="Line 41"/>
          <p:cNvSpPr>
            <a:spLocks noChangeShapeType="1"/>
          </p:cNvSpPr>
          <p:nvPr/>
        </p:nvSpPr>
        <p:spPr bwMode="auto">
          <a:xfrm>
            <a:off x="2667000" y="3768725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662570" name="Rectangle 42"/>
          <p:cNvSpPr>
            <a:spLocks noChangeArrowheads="1"/>
          </p:cNvSpPr>
          <p:nvPr/>
        </p:nvSpPr>
        <p:spPr bwMode="auto">
          <a:xfrm>
            <a:off x="2514600" y="3505200"/>
            <a:ext cx="323850" cy="36988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4</a:t>
            </a:r>
          </a:p>
        </p:txBody>
      </p:sp>
      <p:sp>
        <p:nvSpPr>
          <p:cNvPr id="25653" name="Freeform 43"/>
          <p:cNvSpPr>
            <a:spLocks/>
          </p:cNvSpPr>
          <p:nvPr/>
        </p:nvSpPr>
        <p:spPr bwMode="auto">
          <a:xfrm>
            <a:off x="2667000" y="4302125"/>
            <a:ext cx="92075" cy="369888"/>
          </a:xfrm>
          <a:custGeom>
            <a:avLst/>
            <a:gdLst>
              <a:gd name="T0" fmla="*/ 96 w 96"/>
              <a:gd name="T1" fmla="*/ 0 h 144"/>
              <a:gd name="T2" fmla="*/ 96 w 96"/>
              <a:gd name="T3" fmla="*/ 48 h 144"/>
              <a:gd name="T4" fmla="*/ 0 w 96"/>
              <a:gd name="T5" fmla="*/ 48 h 144"/>
              <a:gd name="T6" fmla="*/ 0 w 96"/>
              <a:gd name="T7" fmla="*/ 144 h 14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144"/>
              <a:gd name="T14" fmla="*/ 96 w 96"/>
              <a:gd name="T15" fmla="*/ 144 h 1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144">
                <a:moveTo>
                  <a:pt x="96" y="0"/>
                </a:moveTo>
                <a:lnTo>
                  <a:pt x="96" y="48"/>
                </a:lnTo>
                <a:lnTo>
                  <a:pt x="0" y="48"/>
                </a:lnTo>
                <a:lnTo>
                  <a:pt x="0" y="144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5654" name="Line 44"/>
          <p:cNvSpPr>
            <a:spLocks noChangeShapeType="1"/>
          </p:cNvSpPr>
          <p:nvPr/>
        </p:nvSpPr>
        <p:spPr bwMode="auto">
          <a:xfrm>
            <a:off x="3048000" y="3768725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5643" name="AutoShape 46"/>
          <p:cNvSpPr>
            <a:spLocks noChangeArrowheads="1"/>
          </p:cNvSpPr>
          <p:nvPr/>
        </p:nvSpPr>
        <p:spPr bwMode="auto">
          <a:xfrm>
            <a:off x="3200400" y="4530725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D5F1C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662575" name="Rectangle 47"/>
          <p:cNvSpPr>
            <a:spLocks noChangeArrowheads="1"/>
          </p:cNvSpPr>
          <p:nvPr/>
        </p:nvSpPr>
        <p:spPr bwMode="auto">
          <a:xfrm>
            <a:off x="3505200" y="4038600"/>
            <a:ext cx="320675" cy="36988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7</a:t>
            </a:r>
          </a:p>
        </p:txBody>
      </p:sp>
      <p:sp>
        <p:nvSpPr>
          <p:cNvPr id="25645" name="Line 48"/>
          <p:cNvSpPr>
            <a:spLocks noChangeShapeType="1"/>
          </p:cNvSpPr>
          <p:nvPr/>
        </p:nvSpPr>
        <p:spPr bwMode="auto">
          <a:xfrm>
            <a:off x="3276600" y="4302125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662577" name="Rectangle 49"/>
          <p:cNvSpPr>
            <a:spLocks noChangeArrowheads="1"/>
          </p:cNvSpPr>
          <p:nvPr/>
        </p:nvSpPr>
        <p:spPr bwMode="auto">
          <a:xfrm>
            <a:off x="3124200" y="4038600"/>
            <a:ext cx="323850" cy="36988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6</a:t>
            </a:r>
          </a:p>
        </p:txBody>
      </p:sp>
      <p:sp>
        <p:nvSpPr>
          <p:cNvPr id="25647" name="Freeform 50"/>
          <p:cNvSpPr>
            <a:spLocks/>
          </p:cNvSpPr>
          <p:nvPr/>
        </p:nvSpPr>
        <p:spPr bwMode="auto">
          <a:xfrm>
            <a:off x="3276600" y="4835525"/>
            <a:ext cx="92075" cy="369888"/>
          </a:xfrm>
          <a:custGeom>
            <a:avLst/>
            <a:gdLst>
              <a:gd name="T0" fmla="*/ 96 w 96"/>
              <a:gd name="T1" fmla="*/ 0 h 144"/>
              <a:gd name="T2" fmla="*/ 96 w 96"/>
              <a:gd name="T3" fmla="*/ 48 h 144"/>
              <a:gd name="T4" fmla="*/ 0 w 96"/>
              <a:gd name="T5" fmla="*/ 48 h 144"/>
              <a:gd name="T6" fmla="*/ 0 w 96"/>
              <a:gd name="T7" fmla="*/ 144 h 14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144"/>
              <a:gd name="T14" fmla="*/ 96 w 96"/>
              <a:gd name="T15" fmla="*/ 144 h 1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144">
                <a:moveTo>
                  <a:pt x="96" y="0"/>
                </a:moveTo>
                <a:lnTo>
                  <a:pt x="96" y="48"/>
                </a:lnTo>
                <a:lnTo>
                  <a:pt x="0" y="48"/>
                </a:lnTo>
                <a:lnTo>
                  <a:pt x="0" y="144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5648" name="Line 51"/>
          <p:cNvSpPr>
            <a:spLocks noChangeShapeType="1"/>
          </p:cNvSpPr>
          <p:nvPr/>
        </p:nvSpPr>
        <p:spPr bwMode="auto">
          <a:xfrm>
            <a:off x="3657600" y="4302125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67" name="Rectangle 28"/>
          <p:cNvSpPr>
            <a:spLocks noChangeArrowheads="1"/>
          </p:cNvSpPr>
          <p:nvPr/>
        </p:nvSpPr>
        <p:spPr bwMode="auto">
          <a:xfrm>
            <a:off x="457200" y="1614433"/>
            <a:ext cx="3767056" cy="366767"/>
          </a:xfrm>
          <a:prstGeom prst="rect">
            <a:avLst/>
          </a:prstGeom>
          <a:solidFill>
            <a:srgbClr val="F6F5BD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x = x OP (d[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 OP d[i+1]);</a:t>
            </a: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381000"/>
            <a:ext cx="8558382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Loop Unrolling with Separate Accumulators (2x2)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9413" y="6019800"/>
            <a:ext cx="8307387" cy="577850"/>
          </a:xfrm>
        </p:spPr>
        <p:txBody>
          <a:bodyPr/>
          <a:lstStyle/>
          <a:p>
            <a:r>
              <a:rPr lang="en-US" sz="2800" dirty="0"/>
              <a:t>Different form of </a:t>
            </a:r>
            <a:r>
              <a:rPr lang="en-US" sz="2800" dirty="0" err="1"/>
              <a:t>reassociation</a:t>
            </a:r>
            <a:endParaRPr lang="en-US" sz="2800" dirty="0"/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2133600" y="990600"/>
            <a:ext cx="5842000" cy="4772025"/>
          </a:xfrm>
          <a:prstGeom prst="rect">
            <a:avLst/>
          </a:prstGeom>
          <a:solidFill>
            <a:srgbClr val="F6F5BD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void unroll2a_combine(</a:t>
            </a:r>
            <a:r>
              <a:rPr lang="en-US" sz="1600" dirty="0" err="1">
                <a:latin typeface="Courier New" pitchFamily="49" charset="0"/>
              </a:rPr>
              <a:t>vec_ptr</a:t>
            </a:r>
            <a:r>
              <a:rPr lang="en-US" sz="1600" dirty="0">
                <a:latin typeface="Courier New" pitchFamily="49" charset="0"/>
              </a:rPr>
              <a:t> v, </a:t>
            </a:r>
            <a:r>
              <a:rPr lang="en-US" sz="1600" dirty="0" err="1">
                <a:latin typeface="Courier New" pitchFamily="49" charset="0"/>
              </a:rPr>
              <a:t>data_t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dest</a:t>
            </a:r>
            <a:r>
              <a:rPr lang="en-US" sz="1600" dirty="0">
                <a:latin typeface="Courier New" pitchFamily="49" charset="0"/>
              </a:rPr>
              <a:t>)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long length = </a:t>
            </a:r>
            <a:r>
              <a:rPr lang="en-US" sz="1600" dirty="0" err="1">
                <a:latin typeface="Courier New" pitchFamily="49" charset="0"/>
              </a:rPr>
              <a:t>vec_length</a:t>
            </a:r>
            <a:r>
              <a:rPr lang="en-US" sz="1600" dirty="0">
                <a:latin typeface="Courier New" pitchFamily="49" charset="0"/>
              </a:rPr>
              <a:t>(v);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long limit = length-1;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data_t</a:t>
            </a:r>
            <a:r>
              <a:rPr lang="en-US" sz="1600" dirty="0">
                <a:latin typeface="Courier New" pitchFamily="49" charset="0"/>
              </a:rPr>
              <a:t> *d = </a:t>
            </a:r>
            <a:r>
              <a:rPr lang="en-US" sz="1600" dirty="0" err="1">
                <a:latin typeface="Courier New" pitchFamily="49" charset="0"/>
              </a:rPr>
              <a:t>get_vec_start</a:t>
            </a:r>
            <a:r>
              <a:rPr lang="en-US" sz="1600" dirty="0">
                <a:latin typeface="Courier New" pitchFamily="49" charset="0"/>
              </a:rPr>
              <a:t>(v);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data_t</a:t>
            </a:r>
            <a:r>
              <a:rPr lang="en-US" sz="1600" dirty="0">
                <a:latin typeface="Courier New" pitchFamily="49" charset="0"/>
              </a:rPr>
              <a:t> x0 = IDENT;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data_t</a:t>
            </a:r>
            <a:r>
              <a:rPr lang="en-US" sz="1600" dirty="0">
                <a:latin typeface="Courier New" pitchFamily="49" charset="0"/>
              </a:rPr>
              <a:t> x1 = IDENT;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long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/* Combine 2 elements at a time */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for (</a:t>
            </a:r>
            <a:r>
              <a:rPr lang="en-US" sz="1600" dirty="0" err="1">
                <a:solidFill>
                  <a:srgbClr val="A50021"/>
                </a:solidFill>
                <a:latin typeface="Courier New" pitchFamily="49" charset="0"/>
              </a:rPr>
              <a:t>i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 = 0; </a:t>
            </a:r>
            <a:r>
              <a:rPr lang="en-US" sz="1600" dirty="0" err="1">
                <a:solidFill>
                  <a:srgbClr val="A50021"/>
                </a:solidFill>
                <a:latin typeface="Courier New" pitchFamily="49" charset="0"/>
              </a:rPr>
              <a:t>i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 &lt; limit; </a:t>
            </a:r>
            <a:r>
              <a:rPr lang="en-US" sz="1600" dirty="0" err="1">
                <a:solidFill>
                  <a:srgbClr val="A50021"/>
                </a:solidFill>
                <a:latin typeface="Courier New" pitchFamily="49" charset="0"/>
              </a:rPr>
              <a:t>i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+=2) 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       x0 = x0 OP d[</a:t>
            </a:r>
            <a:r>
              <a:rPr lang="en-US" sz="1600" dirty="0" err="1">
                <a:solidFill>
                  <a:srgbClr val="A50021"/>
                </a:solidFill>
                <a:latin typeface="Courier New" pitchFamily="49" charset="0"/>
              </a:rPr>
              <a:t>i</a:t>
            </a: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];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       x1 = x1 OP d[i+1];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solidFill>
                  <a:srgbClr val="A50021"/>
                </a:solidFill>
                <a:latin typeface="Courier New" pitchFamily="49" charset="0"/>
              </a:rPr>
              <a:t>    }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/* Finish any remaining elements */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for (;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&lt; length;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++) {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	x0 = x0 OP d[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}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    *</a:t>
            </a:r>
            <a:r>
              <a:rPr lang="en-US" sz="1600" dirty="0" err="1">
                <a:latin typeface="Courier New" pitchFamily="49" charset="0"/>
              </a:rPr>
              <a:t>dest</a:t>
            </a:r>
            <a:r>
              <a:rPr lang="en-US" sz="1600" dirty="0">
                <a:latin typeface="Courier New" pitchFamily="49" charset="0"/>
              </a:rPr>
              <a:t> = x0 OP x1;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2" name="Rectangle 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Effect of Separate Accumulators</a:t>
            </a:r>
          </a:p>
        </p:txBody>
      </p:sp>
      <p:sp>
        <p:nvSpPr>
          <p:cNvPr id="798753" name="Rectangle 33"/>
          <p:cNvSpPr>
            <a:spLocks noGrp="1" noChangeArrowheads="1"/>
          </p:cNvSpPr>
          <p:nvPr>
            <p:ph type="body" idx="1"/>
          </p:nvPr>
        </p:nvSpPr>
        <p:spPr>
          <a:xfrm>
            <a:off x="290513" y="4603750"/>
            <a:ext cx="8307387" cy="18732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/>
              <a:t>Int</a:t>
            </a:r>
            <a:r>
              <a:rPr lang="en-US" dirty="0"/>
              <a:t> + makes use of two load units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2x speedup (over unroll2) for </a:t>
            </a:r>
            <a:r>
              <a:rPr lang="en-US" dirty="0" err="1"/>
              <a:t>Int</a:t>
            </a:r>
            <a:r>
              <a:rPr lang="en-US" dirty="0"/>
              <a:t> *, FP +, FP *</a:t>
            </a:r>
          </a:p>
          <a:p>
            <a:pPr lvl="1" eaLnBrk="1" hangingPunct="1">
              <a:defRPr/>
            </a:pPr>
            <a:endParaRPr lang="en-US" dirty="0"/>
          </a:p>
        </p:txBody>
      </p:sp>
      <p:sp>
        <p:nvSpPr>
          <p:cNvPr id="27688" name="Rectangle 34"/>
          <p:cNvSpPr>
            <a:spLocks noChangeArrowheads="1"/>
          </p:cNvSpPr>
          <p:nvPr/>
        </p:nvSpPr>
        <p:spPr bwMode="auto">
          <a:xfrm>
            <a:off x="1116830" y="5196267"/>
            <a:ext cx="2802048" cy="643766"/>
          </a:xfrm>
          <a:prstGeom prst="rect">
            <a:avLst/>
          </a:prstGeom>
          <a:solidFill>
            <a:srgbClr val="F6F5BD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x0 = x0 OP d[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x1 = x1 OP d[i+1];</a:t>
            </a:r>
          </a:p>
        </p:txBody>
      </p:sp>
      <p:graphicFrame>
        <p:nvGraphicFramePr>
          <p:cNvPr id="7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288528"/>
              </p:ext>
            </p:extLst>
          </p:nvPr>
        </p:nvGraphicFramePr>
        <p:xfrm>
          <a:off x="357016" y="1168527"/>
          <a:ext cx="7796385" cy="3101975"/>
        </p:xfrm>
        <a:graphic>
          <a:graphicData uri="http://schemas.openxmlformats.org/drawingml/2006/table">
            <a:tbl>
              <a:tblPr/>
              <a:tblGrid>
                <a:gridCol w="241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4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4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Method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Integer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Double FP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Operation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Combine4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1.27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5.01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Unroll 2x1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5.01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Unroll 2x1a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1.51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1.51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2.51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Unroll 2x2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0.81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1.51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1.51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2.51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Latency Bound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5.00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Throughput Bound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0.50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0.50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3" grpId="0" build="p"/>
      <p:bldP spid="2768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Line 138"/>
          <p:cNvSpPr>
            <a:spLocks noChangeShapeType="1"/>
          </p:cNvSpPr>
          <p:nvPr/>
        </p:nvSpPr>
        <p:spPr bwMode="auto">
          <a:xfrm>
            <a:off x="3505200" y="54864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0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85107" y="457200"/>
            <a:ext cx="7592093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Separate Accumulators</a:t>
            </a:r>
          </a:p>
        </p:txBody>
      </p:sp>
      <p:sp>
        <p:nvSpPr>
          <p:cNvPr id="28717" name="AutoShape 101"/>
          <p:cNvSpPr>
            <a:spLocks noChangeArrowheads="1"/>
          </p:cNvSpPr>
          <p:nvPr/>
        </p:nvSpPr>
        <p:spPr bwMode="auto">
          <a:xfrm>
            <a:off x="2057400" y="31242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8718" name="Line 102"/>
          <p:cNvSpPr>
            <a:spLocks noChangeShapeType="1"/>
          </p:cNvSpPr>
          <p:nvPr/>
        </p:nvSpPr>
        <p:spPr bwMode="auto">
          <a:xfrm>
            <a:off x="2209800" y="28956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8719" name="Line 103"/>
          <p:cNvSpPr>
            <a:spLocks noChangeShapeType="1"/>
          </p:cNvSpPr>
          <p:nvPr/>
        </p:nvSpPr>
        <p:spPr bwMode="auto">
          <a:xfrm>
            <a:off x="2438400" y="28956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8720" name="AutoShape 104"/>
          <p:cNvSpPr>
            <a:spLocks noChangeArrowheads="1"/>
          </p:cNvSpPr>
          <p:nvPr/>
        </p:nvSpPr>
        <p:spPr bwMode="auto">
          <a:xfrm>
            <a:off x="2667000" y="36576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8722" name="Line 106"/>
          <p:cNvSpPr>
            <a:spLocks noChangeShapeType="1"/>
          </p:cNvSpPr>
          <p:nvPr/>
        </p:nvSpPr>
        <p:spPr bwMode="auto">
          <a:xfrm>
            <a:off x="3048000" y="34290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8723" name="Freeform 107"/>
          <p:cNvSpPr>
            <a:spLocks/>
          </p:cNvSpPr>
          <p:nvPr/>
        </p:nvSpPr>
        <p:spPr bwMode="auto">
          <a:xfrm>
            <a:off x="2362200" y="3429000"/>
            <a:ext cx="304800" cy="369332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triangle" w="lg" len="med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00876" name="Rectangle 108"/>
          <p:cNvSpPr>
            <a:spLocks noChangeArrowheads="1"/>
          </p:cNvSpPr>
          <p:nvPr/>
        </p:nvSpPr>
        <p:spPr bwMode="auto">
          <a:xfrm>
            <a:off x="2103438" y="2590800"/>
            <a:ext cx="230191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1</a:t>
            </a:r>
            <a:endParaRPr lang="en-US" sz="1800" baseline="-25000">
              <a:solidFill>
                <a:schemeClr val="tx2"/>
              </a:solidFill>
              <a:latin typeface="Courier New" pitchFamily="49" charset="0"/>
            </a:endParaRPr>
          </a:p>
        </p:txBody>
      </p:sp>
      <p:sp>
        <p:nvSpPr>
          <p:cNvPr id="800877" name="Rectangle 109"/>
          <p:cNvSpPr>
            <a:spLocks noChangeArrowheads="1"/>
          </p:cNvSpPr>
          <p:nvPr/>
        </p:nvSpPr>
        <p:spPr bwMode="auto">
          <a:xfrm>
            <a:off x="2286000" y="25908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1</a:t>
            </a:r>
          </a:p>
        </p:txBody>
      </p:sp>
      <p:sp>
        <p:nvSpPr>
          <p:cNvPr id="800878" name="Rectangle 110"/>
          <p:cNvSpPr>
            <a:spLocks noChangeArrowheads="1"/>
          </p:cNvSpPr>
          <p:nvPr/>
        </p:nvSpPr>
        <p:spPr bwMode="auto">
          <a:xfrm>
            <a:off x="2895600" y="31242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3</a:t>
            </a:r>
          </a:p>
        </p:txBody>
      </p:sp>
      <p:sp>
        <p:nvSpPr>
          <p:cNvPr id="28727" name="AutoShape 111"/>
          <p:cNvSpPr>
            <a:spLocks noChangeArrowheads="1"/>
          </p:cNvSpPr>
          <p:nvPr/>
        </p:nvSpPr>
        <p:spPr bwMode="auto">
          <a:xfrm>
            <a:off x="3260725" y="41910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8729" name="Line 113"/>
          <p:cNvSpPr>
            <a:spLocks noChangeShapeType="1"/>
          </p:cNvSpPr>
          <p:nvPr/>
        </p:nvSpPr>
        <p:spPr bwMode="auto">
          <a:xfrm>
            <a:off x="3641725" y="39624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8730" name="Freeform 114"/>
          <p:cNvSpPr>
            <a:spLocks/>
          </p:cNvSpPr>
          <p:nvPr/>
        </p:nvSpPr>
        <p:spPr bwMode="auto">
          <a:xfrm>
            <a:off x="2955925" y="3962400"/>
            <a:ext cx="304800" cy="369332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triangle" w="lg" len="med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00883" name="Rectangle 115"/>
          <p:cNvSpPr>
            <a:spLocks noChangeArrowheads="1"/>
          </p:cNvSpPr>
          <p:nvPr/>
        </p:nvSpPr>
        <p:spPr bwMode="auto">
          <a:xfrm>
            <a:off x="3489325" y="36576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5</a:t>
            </a:r>
          </a:p>
        </p:txBody>
      </p:sp>
      <p:sp>
        <p:nvSpPr>
          <p:cNvPr id="28732" name="AutoShape 116"/>
          <p:cNvSpPr>
            <a:spLocks noChangeArrowheads="1"/>
          </p:cNvSpPr>
          <p:nvPr/>
        </p:nvSpPr>
        <p:spPr bwMode="auto">
          <a:xfrm>
            <a:off x="3854450" y="47244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8734" name="Line 118"/>
          <p:cNvSpPr>
            <a:spLocks noChangeShapeType="1"/>
          </p:cNvSpPr>
          <p:nvPr/>
        </p:nvSpPr>
        <p:spPr bwMode="auto">
          <a:xfrm>
            <a:off x="4235450" y="44958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8735" name="Freeform 119"/>
          <p:cNvSpPr>
            <a:spLocks/>
          </p:cNvSpPr>
          <p:nvPr/>
        </p:nvSpPr>
        <p:spPr bwMode="auto">
          <a:xfrm>
            <a:off x="3549650" y="4495800"/>
            <a:ext cx="304800" cy="369332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triangle" w="lg" len="med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00888" name="Rectangle 120"/>
          <p:cNvSpPr>
            <a:spLocks noChangeArrowheads="1"/>
          </p:cNvSpPr>
          <p:nvPr/>
        </p:nvSpPr>
        <p:spPr bwMode="auto">
          <a:xfrm>
            <a:off x="4083050" y="41910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7</a:t>
            </a:r>
          </a:p>
        </p:txBody>
      </p:sp>
      <p:sp>
        <p:nvSpPr>
          <p:cNvPr id="28740" name="Freeform 124"/>
          <p:cNvSpPr>
            <a:spLocks/>
          </p:cNvSpPr>
          <p:nvPr/>
        </p:nvSpPr>
        <p:spPr bwMode="auto">
          <a:xfrm flipH="1">
            <a:off x="3733800" y="5029200"/>
            <a:ext cx="409575" cy="369332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8680" name="AutoShape 134"/>
          <p:cNvSpPr>
            <a:spLocks noChangeArrowheads="1"/>
          </p:cNvSpPr>
          <p:nvPr/>
        </p:nvSpPr>
        <p:spPr bwMode="auto">
          <a:xfrm>
            <a:off x="3200400" y="5246132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8683" name="AutoShape 137"/>
          <p:cNvSpPr>
            <a:spLocks noChangeArrowheads="1"/>
          </p:cNvSpPr>
          <p:nvPr/>
        </p:nvSpPr>
        <p:spPr bwMode="auto">
          <a:xfrm>
            <a:off x="609600" y="31242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8684" name="Line 138"/>
          <p:cNvSpPr>
            <a:spLocks noChangeShapeType="1"/>
          </p:cNvSpPr>
          <p:nvPr/>
        </p:nvSpPr>
        <p:spPr bwMode="auto">
          <a:xfrm>
            <a:off x="762000" y="28956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8685" name="Line 139"/>
          <p:cNvSpPr>
            <a:spLocks noChangeShapeType="1"/>
          </p:cNvSpPr>
          <p:nvPr/>
        </p:nvSpPr>
        <p:spPr bwMode="auto">
          <a:xfrm>
            <a:off x="990600" y="28956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8686" name="AutoShape 140"/>
          <p:cNvSpPr>
            <a:spLocks noChangeArrowheads="1"/>
          </p:cNvSpPr>
          <p:nvPr/>
        </p:nvSpPr>
        <p:spPr bwMode="auto">
          <a:xfrm>
            <a:off x="1219200" y="36576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8688" name="Line 142"/>
          <p:cNvSpPr>
            <a:spLocks noChangeShapeType="1"/>
          </p:cNvSpPr>
          <p:nvPr/>
        </p:nvSpPr>
        <p:spPr bwMode="auto">
          <a:xfrm>
            <a:off x="1600200" y="34290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8689" name="Freeform 143"/>
          <p:cNvSpPr>
            <a:spLocks/>
          </p:cNvSpPr>
          <p:nvPr/>
        </p:nvSpPr>
        <p:spPr bwMode="auto">
          <a:xfrm>
            <a:off x="914400" y="3429000"/>
            <a:ext cx="304800" cy="369332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triangle" w="lg" len="med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00912" name="Rectangle 144"/>
          <p:cNvSpPr>
            <a:spLocks noChangeArrowheads="1"/>
          </p:cNvSpPr>
          <p:nvPr/>
        </p:nvSpPr>
        <p:spPr bwMode="auto">
          <a:xfrm>
            <a:off x="655638" y="2590800"/>
            <a:ext cx="230191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1</a:t>
            </a:r>
            <a:endParaRPr lang="en-US" sz="1800" baseline="-25000">
              <a:solidFill>
                <a:schemeClr val="tx2"/>
              </a:solidFill>
              <a:latin typeface="Courier New" pitchFamily="49" charset="0"/>
            </a:endParaRPr>
          </a:p>
        </p:txBody>
      </p:sp>
      <p:sp>
        <p:nvSpPr>
          <p:cNvPr id="800913" name="Rectangle 145"/>
          <p:cNvSpPr>
            <a:spLocks noChangeArrowheads="1"/>
          </p:cNvSpPr>
          <p:nvPr/>
        </p:nvSpPr>
        <p:spPr bwMode="auto">
          <a:xfrm>
            <a:off x="838200" y="25908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0</a:t>
            </a:r>
          </a:p>
        </p:txBody>
      </p:sp>
      <p:sp>
        <p:nvSpPr>
          <p:cNvPr id="800914" name="Rectangle 146"/>
          <p:cNvSpPr>
            <a:spLocks noChangeArrowheads="1"/>
          </p:cNvSpPr>
          <p:nvPr/>
        </p:nvSpPr>
        <p:spPr bwMode="auto">
          <a:xfrm>
            <a:off x="1447800" y="31242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2</a:t>
            </a:r>
          </a:p>
        </p:txBody>
      </p:sp>
      <p:sp>
        <p:nvSpPr>
          <p:cNvPr id="28693" name="AutoShape 147"/>
          <p:cNvSpPr>
            <a:spLocks noChangeArrowheads="1"/>
          </p:cNvSpPr>
          <p:nvPr/>
        </p:nvSpPr>
        <p:spPr bwMode="auto">
          <a:xfrm>
            <a:off x="1812925" y="41910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8695" name="Line 149"/>
          <p:cNvSpPr>
            <a:spLocks noChangeShapeType="1"/>
          </p:cNvSpPr>
          <p:nvPr/>
        </p:nvSpPr>
        <p:spPr bwMode="auto">
          <a:xfrm>
            <a:off x="2193925" y="39624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8696" name="Freeform 150"/>
          <p:cNvSpPr>
            <a:spLocks/>
          </p:cNvSpPr>
          <p:nvPr/>
        </p:nvSpPr>
        <p:spPr bwMode="auto">
          <a:xfrm>
            <a:off x="1508125" y="3962400"/>
            <a:ext cx="304800" cy="369332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triangle" w="lg" len="med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00919" name="Rectangle 151"/>
          <p:cNvSpPr>
            <a:spLocks noChangeArrowheads="1"/>
          </p:cNvSpPr>
          <p:nvPr/>
        </p:nvSpPr>
        <p:spPr bwMode="auto">
          <a:xfrm>
            <a:off x="2041525" y="36576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4</a:t>
            </a:r>
          </a:p>
        </p:txBody>
      </p:sp>
      <p:sp>
        <p:nvSpPr>
          <p:cNvPr id="28698" name="AutoShape 152"/>
          <p:cNvSpPr>
            <a:spLocks noChangeArrowheads="1"/>
          </p:cNvSpPr>
          <p:nvPr/>
        </p:nvSpPr>
        <p:spPr bwMode="auto">
          <a:xfrm>
            <a:off x="2406650" y="4724400"/>
            <a:ext cx="533400" cy="304800"/>
          </a:xfrm>
          <a:prstGeom prst="roundRect">
            <a:avLst>
              <a:gd name="adj" fmla="val 19644"/>
            </a:avLst>
          </a:prstGeom>
          <a:solidFill>
            <a:srgbClr val="F1C7C7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*</a:t>
            </a:r>
          </a:p>
        </p:txBody>
      </p:sp>
      <p:sp>
        <p:nvSpPr>
          <p:cNvPr id="28700" name="Line 154"/>
          <p:cNvSpPr>
            <a:spLocks noChangeShapeType="1"/>
          </p:cNvSpPr>
          <p:nvPr/>
        </p:nvSpPr>
        <p:spPr bwMode="auto">
          <a:xfrm>
            <a:off x="2787650" y="44958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8701" name="Freeform 155"/>
          <p:cNvSpPr>
            <a:spLocks/>
          </p:cNvSpPr>
          <p:nvPr/>
        </p:nvSpPr>
        <p:spPr bwMode="auto">
          <a:xfrm>
            <a:off x="2101850" y="4495800"/>
            <a:ext cx="304800" cy="369332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triangle" w="lg" len="med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800924" name="Rectangle 156"/>
          <p:cNvSpPr>
            <a:spLocks noChangeArrowheads="1"/>
          </p:cNvSpPr>
          <p:nvPr/>
        </p:nvSpPr>
        <p:spPr bwMode="auto">
          <a:xfrm>
            <a:off x="2635250" y="4191000"/>
            <a:ext cx="323165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ctr">
              <a:defRPr/>
            </a:pP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d</a:t>
            </a:r>
            <a:r>
              <a:rPr lang="en-US" sz="1800" baseline="-25000">
                <a:solidFill>
                  <a:schemeClr val="tx2"/>
                </a:solidFill>
                <a:latin typeface="Courier New" pitchFamily="49" charset="0"/>
              </a:rPr>
              <a:t>6</a:t>
            </a:r>
          </a:p>
        </p:txBody>
      </p:sp>
      <p:sp>
        <p:nvSpPr>
          <p:cNvPr id="28706" name="Freeform 160"/>
          <p:cNvSpPr>
            <a:spLocks/>
          </p:cNvSpPr>
          <p:nvPr/>
        </p:nvSpPr>
        <p:spPr bwMode="auto">
          <a:xfrm>
            <a:off x="2695574" y="5029200"/>
            <a:ext cx="504825" cy="369332"/>
          </a:xfrm>
          <a:custGeom>
            <a:avLst/>
            <a:gdLst>
              <a:gd name="T0" fmla="*/ 0 w 288"/>
              <a:gd name="T1" fmla="*/ 0 h 48"/>
              <a:gd name="T2" fmla="*/ 0 w 288"/>
              <a:gd name="T3" fmla="*/ 48 h 48"/>
              <a:gd name="T4" fmla="*/ 288 w 288"/>
              <a:gd name="T5" fmla="*/ 48 h 48"/>
              <a:gd name="T6" fmla="*/ 0 60000 65536"/>
              <a:gd name="T7" fmla="*/ 0 60000 65536"/>
              <a:gd name="T8" fmla="*/ 0 60000 65536"/>
              <a:gd name="T9" fmla="*/ 0 w 288"/>
              <a:gd name="T10" fmla="*/ 0 h 48"/>
              <a:gd name="T11" fmla="*/ 288 w 28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 type="triangle" w="lg" len="med"/>
          </a:ln>
        </p:spPr>
        <p:txBody>
          <a:bodyPr wrap="square" lIns="45720" rIns="45720" anchor="ctr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5" name="Rectangle 34"/>
          <p:cNvSpPr>
            <a:spLocks noChangeArrowheads="1"/>
          </p:cNvSpPr>
          <p:nvPr/>
        </p:nvSpPr>
        <p:spPr bwMode="auto">
          <a:xfrm>
            <a:off x="609600" y="1642234"/>
            <a:ext cx="2802048" cy="643766"/>
          </a:xfrm>
          <a:prstGeom prst="rect">
            <a:avLst/>
          </a:prstGeom>
          <a:solidFill>
            <a:srgbClr val="F6F5BD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x0 = x0 OP d[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];</a:t>
            </a: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800" dirty="0">
                <a:latin typeface="Courier New" pitchFamily="49" charset="0"/>
              </a:rPr>
              <a:t> x1 = x1 OP d[i+1];</a:t>
            </a:r>
          </a:p>
        </p:txBody>
      </p:sp>
      <p:sp>
        <p:nvSpPr>
          <p:cNvPr id="76" name="Rectangle 3"/>
          <p:cNvSpPr txBox="1">
            <a:spLocks noChangeArrowheads="1"/>
          </p:cNvSpPr>
          <p:nvPr/>
        </p:nvSpPr>
        <p:spPr bwMode="auto">
          <a:xfrm>
            <a:off x="4965700" y="1600200"/>
            <a:ext cx="39497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What changed:</a:t>
            </a:r>
          </a:p>
          <a:p>
            <a:pPr marL="628650" marR="0" lvl="1" indent="-230188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Two independent “streams” of operations</a:t>
            </a:r>
          </a:p>
          <a:p>
            <a:pPr marL="287338" marR="0" lvl="0" indent="-287338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287338" marR="0" lvl="0" indent="-287338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Overall Performance</a:t>
            </a:r>
          </a:p>
          <a:p>
            <a:pPr marL="627063" marR="0" lvl="1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N elements, D cycles latency/op</a:t>
            </a:r>
          </a:p>
          <a:p>
            <a:pPr marL="627063" marR="0" lvl="1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Should be (N/2+1)*D cycles: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</a:b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CPE = D/2</a:t>
            </a:r>
          </a:p>
          <a:p>
            <a:pPr marL="627063" marR="0" lvl="1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CPE</a:t>
            </a:r>
            <a:r>
              <a:rPr kumimoji="0" lang="en-US" sz="18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matches prediction!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410200" y="4953000"/>
            <a:ext cx="1698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What Now?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592093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Unrolling &amp; Accumulating</a:t>
            </a:r>
          </a:p>
        </p:txBody>
      </p:sp>
      <p:sp>
        <p:nvSpPr>
          <p:cNvPr id="80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07388" cy="464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Idea</a:t>
            </a:r>
          </a:p>
          <a:p>
            <a:pPr lvl="1" eaLnBrk="1" hangingPunct="1">
              <a:defRPr/>
            </a:pPr>
            <a:r>
              <a:rPr lang="en-US" dirty="0"/>
              <a:t>Can unroll to any degree L</a:t>
            </a:r>
          </a:p>
          <a:p>
            <a:pPr lvl="1" eaLnBrk="1" hangingPunct="1">
              <a:defRPr/>
            </a:pPr>
            <a:r>
              <a:rPr lang="en-US" dirty="0"/>
              <a:t>Can accumulate K results in parallel</a:t>
            </a:r>
          </a:p>
          <a:p>
            <a:pPr lvl="1" eaLnBrk="1" hangingPunct="1">
              <a:defRPr/>
            </a:pPr>
            <a:r>
              <a:rPr lang="en-US" dirty="0"/>
              <a:t>L must be multiple of K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Limitations</a:t>
            </a:r>
          </a:p>
          <a:p>
            <a:pPr lvl="1" eaLnBrk="1" hangingPunct="1">
              <a:defRPr/>
            </a:pPr>
            <a:r>
              <a:rPr lang="en-US" dirty="0"/>
              <a:t>Diminishing returns</a:t>
            </a:r>
          </a:p>
          <a:p>
            <a:pPr lvl="2" eaLnBrk="1" hangingPunct="1">
              <a:defRPr/>
            </a:pPr>
            <a:r>
              <a:rPr lang="en-US" dirty="0"/>
              <a:t>Cannot go beyond throughput limitations of execution units</a:t>
            </a:r>
          </a:p>
          <a:p>
            <a:pPr lvl="1" eaLnBrk="1" hangingPunct="1">
              <a:defRPr/>
            </a:pPr>
            <a:r>
              <a:rPr lang="en-US" dirty="0"/>
              <a:t>Large overhead for short lengths</a:t>
            </a:r>
          </a:p>
          <a:p>
            <a:pPr lvl="2" eaLnBrk="1" hangingPunct="1">
              <a:defRPr/>
            </a:pPr>
            <a:r>
              <a:rPr lang="en-US" dirty="0"/>
              <a:t>Finish off iterations sequentially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592093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Unrolling &amp; Accumulating: Double *</a:t>
            </a:r>
          </a:p>
        </p:txBody>
      </p:sp>
      <p:sp>
        <p:nvSpPr>
          <p:cNvPr id="80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74750"/>
            <a:ext cx="8307388" cy="14160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Case</a:t>
            </a:r>
          </a:p>
          <a:p>
            <a:pPr lvl="1" eaLnBrk="1" hangingPunct="1">
              <a:defRPr/>
            </a:pPr>
            <a:r>
              <a:rPr lang="en-US" dirty="0"/>
              <a:t>Intel </a:t>
            </a:r>
            <a:r>
              <a:rPr lang="en-US" dirty="0" err="1"/>
              <a:t>Haswell</a:t>
            </a:r>
            <a:r>
              <a:rPr lang="en-US" dirty="0"/>
              <a:t> </a:t>
            </a:r>
          </a:p>
          <a:p>
            <a:pPr lvl="1" eaLnBrk="1" hangingPunct="1">
              <a:defRPr/>
            </a:pPr>
            <a:r>
              <a:rPr lang="en-US" dirty="0"/>
              <a:t>Double FP Multiplication</a:t>
            </a:r>
          </a:p>
          <a:p>
            <a:pPr lvl="1" eaLnBrk="1" hangingPunct="1">
              <a:defRPr/>
            </a:pPr>
            <a:r>
              <a:rPr lang="en-US" dirty="0"/>
              <a:t>Latency bound: 5.00.  Throughput bound: 0.50 </a:t>
            </a:r>
          </a:p>
        </p:txBody>
      </p:sp>
      <p:graphicFrame>
        <p:nvGraphicFramePr>
          <p:cNvPr id="803965" name="Group 1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899044"/>
              </p:ext>
            </p:extLst>
          </p:nvPr>
        </p:nvGraphicFramePr>
        <p:xfrm>
          <a:off x="1066800" y="2819400"/>
          <a:ext cx="6705600" cy="352044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74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FP 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Unrolling Factor 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K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5.01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5.01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5.01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5.01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5.01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5.01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5.01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2.51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2.51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2.51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1.67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1.25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1.26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0.84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0.88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0.63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0.51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0.52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6200000">
            <a:off x="-205369" y="4544304"/>
            <a:ext cx="1930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Accumulators</a:t>
            </a: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592093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Unrolling &amp; Accumulating: </a:t>
            </a:r>
            <a:r>
              <a:rPr lang="en-US" dirty="0" err="1"/>
              <a:t>Int</a:t>
            </a:r>
            <a:r>
              <a:rPr lang="en-US" dirty="0"/>
              <a:t> +</a:t>
            </a:r>
          </a:p>
        </p:txBody>
      </p:sp>
      <p:sp>
        <p:nvSpPr>
          <p:cNvPr id="80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74750"/>
            <a:ext cx="8307388" cy="14160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Case</a:t>
            </a:r>
          </a:p>
          <a:p>
            <a:pPr lvl="1" eaLnBrk="1" hangingPunct="1">
              <a:defRPr/>
            </a:pPr>
            <a:r>
              <a:rPr lang="en-US" dirty="0"/>
              <a:t>Intel </a:t>
            </a:r>
            <a:r>
              <a:rPr lang="en-US" dirty="0" err="1"/>
              <a:t>Haswell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Integer addition</a:t>
            </a:r>
          </a:p>
          <a:p>
            <a:pPr lvl="1" eaLnBrk="1" hangingPunct="1">
              <a:defRPr/>
            </a:pPr>
            <a:r>
              <a:rPr lang="en-US" dirty="0"/>
              <a:t>Latency bound: 1.00.  Throughput bound: 1.00 </a:t>
            </a:r>
          </a:p>
        </p:txBody>
      </p:sp>
      <p:graphicFrame>
        <p:nvGraphicFramePr>
          <p:cNvPr id="803965" name="Group 1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548720"/>
              </p:ext>
            </p:extLst>
          </p:nvPr>
        </p:nvGraphicFramePr>
        <p:xfrm>
          <a:off x="1066800" y="2819400"/>
          <a:ext cx="6705600" cy="352044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74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FP *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Unrolling Factor 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K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1.27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1.01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1.01</a:t>
                      </a:r>
                    </a:p>
                  </a:txBody>
                  <a:tcPr marL="45720" marR="45720"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itchFamily="34" charset="0"/>
                        </a:rPr>
                        <a:t>1.01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1.01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1.01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1.01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0.81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0.69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0.54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0.74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0.69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1.24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0.56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0.56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0.54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0.54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12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itchFamily="34" charset="0"/>
                        </a:rPr>
                        <a:t>0.56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6200000">
            <a:off x="-205369" y="4544304"/>
            <a:ext cx="1930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Accumulators</a:t>
            </a: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2" name="Rectangle 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Achievable Performance</a:t>
            </a:r>
          </a:p>
        </p:txBody>
      </p:sp>
      <p:sp>
        <p:nvSpPr>
          <p:cNvPr id="798753" name="Rectangle 33"/>
          <p:cNvSpPr>
            <a:spLocks noGrp="1" noChangeArrowheads="1"/>
          </p:cNvSpPr>
          <p:nvPr>
            <p:ph type="body" idx="1"/>
          </p:nvPr>
        </p:nvSpPr>
        <p:spPr>
          <a:xfrm>
            <a:off x="290513" y="4603750"/>
            <a:ext cx="8307387" cy="18732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Limited only by throughput of functional units</a:t>
            </a:r>
          </a:p>
          <a:p>
            <a:pPr eaLnBrk="1" hangingPunct="1">
              <a:defRPr/>
            </a:pPr>
            <a:r>
              <a:rPr lang="en-US" dirty="0"/>
              <a:t>Up to 42X improvement over original, </a:t>
            </a:r>
            <a:r>
              <a:rPr lang="en-US" dirty="0" err="1"/>
              <a:t>unoptimized</a:t>
            </a:r>
            <a:r>
              <a:rPr lang="en-US" dirty="0"/>
              <a:t> code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</p:txBody>
      </p:sp>
      <p:graphicFrame>
        <p:nvGraphicFramePr>
          <p:cNvPr id="7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858130"/>
              </p:ext>
            </p:extLst>
          </p:nvPr>
        </p:nvGraphicFramePr>
        <p:xfrm>
          <a:off x="357016" y="1168527"/>
          <a:ext cx="7796385" cy="1939925"/>
        </p:xfrm>
        <a:graphic>
          <a:graphicData uri="http://schemas.openxmlformats.org/drawingml/2006/table">
            <a:tbl>
              <a:tblPr/>
              <a:tblGrid>
                <a:gridCol w="241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4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4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Method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Integer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Double FP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Operation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Best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0.54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0.52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Latency Bound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5.00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Throughput Bound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0.50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0.50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-25400"/>
            <a:ext cx="8716962" cy="7810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Programming with AVX2</a:t>
            </a:r>
          </a:p>
        </p:txBody>
      </p:sp>
      <p:sp>
        <p:nvSpPr>
          <p:cNvPr id="82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565150"/>
            <a:ext cx="8307387" cy="6140450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dirty="0"/>
              <a:t>Y</a:t>
            </a:r>
            <a:r>
              <a:rPr lang="en-US" dirty="0">
                <a:ea typeface="+mn-ea"/>
              </a:rPr>
              <a:t>MM Registers</a:t>
            </a:r>
          </a:p>
          <a:p>
            <a:pPr lvl="1" eaLnBrk="1" hangingPunct="1">
              <a:lnSpc>
                <a:spcPct val="105000"/>
              </a:lnSpc>
              <a:buFont typeface="Wingdings" pitchFamily="2" charset="2"/>
              <a:buChar char="n"/>
              <a:defRPr/>
            </a:pPr>
            <a:r>
              <a:rPr lang="en-US" dirty="0"/>
              <a:t>16 total, each 32 bytes</a:t>
            </a:r>
          </a:p>
          <a:p>
            <a:pPr lvl="1" eaLnBrk="1" hangingPunct="1">
              <a:lnSpc>
                <a:spcPct val="105000"/>
              </a:lnSpc>
              <a:buFont typeface="Wingdings" pitchFamily="2" charset="2"/>
              <a:buChar char="n"/>
              <a:defRPr/>
            </a:pPr>
            <a:r>
              <a:rPr lang="en-US" dirty="0"/>
              <a:t>32 single-byte integers</a:t>
            </a:r>
          </a:p>
          <a:p>
            <a:pPr lvl="1" eaLnBrk="1" hangingPunct="1">
              <a:lnSpc>
                <a:spcPct val="105000"/>
              </a:lnSpc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lnSpc>
                <a:spcPct val="105000"/>
              </a:lnSpc>
              <a:buFont typeface="Wingdings" pitchFamily="2" charset="2"/>
              <a:buChar char="n"/>
              <a:defRPr/>
            </a:pPr>
            <a:r>
              <a:rPr lang="en-US" dirty="0"/>
              <a:t>16 16-bit integers</a:t>
            </a:r>
          </a:p>
          <a:p>
            <a:pPr lvl="1" eaLnBrk="1" hangingPunct="1">
              <a:lnSpc>
                <a:spcPct val="105000"/>
              </a:lnSpc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lnSpc>
                <a:spcPct val="105000"/>
              </a:lnSpc>
              <a:buFont typeface="Wingdings" pitchFamily="2" charset="2"/>
              <a:buChar char="n"/>
              <a:defRPr/>
            </a:pPr>
            <a:r>
              <a:rPr lang="en-US" dirty="0"/>
              <a:t>8 32-bit integers</a:t>
            </a:r>
          </a:p>
          <a:p>
            <a:pPr lvl="1" eaLnBrk="1" hangingPunct="1">
              <a:lnSpc>
                <a:spcPct val="105000"/>
              </a:lnSpc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lnSpc>
                <a:spcPct val="105000"/>
              </a:lnSpc>
              <a:buFont typeface="Wingdings" pitchFamily="2" charset="2"/>
              <a:buChar char="n"/>
              <a:defRPr/>
            </a:pPr>
            <a:r>
              <a:rPr lang="en-US" dirty="0"/>
              <a:t>8 single-precision floats</a:t>
            </a:r>
          </a:p>
          <a:p>
            <a:pPr lvl="1" eaLnBrk="1" hangingPunct="1">
              <a:lnSpc>
                <a:spcPct val="105000"/>
              </a:lnSpc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lnSpc>
                <a:spcPct val="105000"/>
              </a:lnSpc>
              <a:buFont typeface="Wingdings" pitchFamily="2" charset="2"/>
              <a:buChar char="n"/>
              <a:defRPr/>
            </a:pPr>
            <a:r>
              <a:rPr lang="en-US" dirty="0"/>
              <a:t>4 double-precision floats</a:t>
            </a:r>
          </a:p>
          <a:p>
            <a:pPr lvl="1" eaLnBrk="1" hangingPunct="1">
              <a:lnSpc>
                <a:spcPct val="105000"/>
              </a:lnSpc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lnSpc>
                <a:spcPct val="105000"/>
              </a:lnSpc>
              <a:buFont typeface="Wingdings" pitchFamily="2" charset="2"/>
              <a:buChar char="n"/>
              <a:defRPr/>
            </a:pPr>
            <a:r>
              <a:rPr lang="en-US" dirty="0"/>
              <a:t>1 single-precision float</a:t>
            </a:r>
          </a:p>
          <a:p>
            <a:pPr lvl="1" eaLnBrk="1" hangingPunct="1">
              <a:lnSpc>
                <a:spcPct val="105000"/>
              </a:lnSpc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lnSpc>
                <a:spcPct val="105000"/>
              </a:lnSpc>
              <a:buFont typeface="Wingdings" pitchFamily="2" charset="2"/>
              <a:buChar char="n"/>
              <a:defRPr/>
            </a:pPr>
            <a:r>
              <a:rPr lang="en-US" dirty="0"/>
              <a:t>1 double-precision float</a:t>
            </a:r>
          </a:p>
        </p:txBody>
      </p:sp>
      <p:grpSp>
        <p:nvGrpSpPr>
          <p:cNvPr id="39941" name="Group 21"/>
          <p:cNvGrpSpPr>
            <a:grpSpLocks/>
          </p:cNvGrpSpPr>
          <p:nvPr/>
        </p:nvGrpSpPr>
        <p:grpSpPr bwMode="auto">
          <a:xfrm>
            <a:off x="609600" y="2546350"/>
            <a:ext cx="7315200" cy="304800"/>
            <a:chOff x="768" y="864"/>
            <a:chExt cx="4608" cy="192"/>
          </a:xfrm>
        </p:grpSpPr>
        <p:sp>
          <p:nvSpPr>
            <p:cNvPr id="40047" name="Rectangle 22"/>
            <p:cNvSpPr>
              <a:spLocks noChangeArrowheads="1"/>
            </p:cNvSpPr>
            <p:nvPr/>
          </p:nvSpPr>
          <p:spPr bwMode="auto">
            <a:xfrm>
              <a:off x="768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48" name="Rectangle 23"/>
            <p:cNvSpPr>
              <a:spLocks noChangeArrowheads="1"/>
            </p:cNvSpPr>
            <p:nvPr/>
          </p:nvSpPr>
          <p:spPr bwMode="auto">
            <a:xfrm>
              <a:off x="1056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49" name="Rectangle 24"/>
            <p:cNvSpPr>
              <a:spLocks noChangeArrowheads="1"/>
            </p:cNvSpPr>
            <p:nvPr/>
          </p:nvSpPr>
          <p:spPr bwMode="auto">
            <a:xfrm>
              <a:off x="1344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50" name="Rectangle 25"/>
            <p:cNvSpPr>
              <a:spLocks noChangeArrowheads="1"/>
            </p:cNvSpPr>
            <p:nvPr/>
          </p:nvSpPr>
          <p:spPr bwMode="auto">
            <a:xfrm>
              <a:off x="1632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51" name="Rectangle 26"/>
            <p:cNvSpPr>
              <a:spLocks noChangeArrowheads="1"/>
            </p:cNvSpPr>
            <p:nvPr/>
          </p:nvSpPr>
          <p:spPr bwMode="auto">
            <a:xfrm>
              <a:off x="1920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52" name="Rectangle 27"/>
            <p:cNvSpPr>
              <a:spLocks noChangeArrowheads="1"/>
            </p:cNvSpPr>
            <p:nvPr/>
          </p:nvSpPr>
          <p:spPr bwMode="auto">
            <a:xfrm>
              <a:off x="2208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53" name="Rectangle 28"/>
            <p:cNvSpPr>
              <a:spLocks noChangeArrowheads="1"/>
            </p:cNvSpPr>
            <p:nvPr/>
          </p:nvSpPr>
          <p:spPr bwMode="auto">
            <a:xfrm>
              <a:off x="2496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54" name="Rectangle 29"/>
            <p:cNvSpPr>
              <a:spLocks noChangeArrowheads="1"/>
            </p:cNvSpPr>
            <p:nvPr/>
          </p:nvSpPr>
          <p:spPr bwMode="auto">
            <a:xfrm>
              <a:off x="2784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55" name="Rectangle 30"/>
            <p:cNvSpPr>
              <a:spLocks noChangeArrowheads="1"/>
            </p:cNvSpPr>
            <p:nvPr/>
          </p:nvSpPr>
          <p:spPr bwMode="auto">
            <a:xfrm>
              <a:off x="3072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56" name="Rectangle 31"/>
            <p:cNvSpPr>
              <a:spLocks noChangeArrowheads="1"/>
            </p:cNvSpPr>
            <p:nvPr/>
          </p:nvSpPr>
          <p:spPr bwMode="auto">
            <a:xfrm>
              <a:off x="3360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57" name="Rectangle 32"/>
            <p:cNvSpPr>
              <a:spLocks noChangeArrowheads="1"/>
            </p:cNvSpPr>
            <p:nvPr/>
          </p:nvSpPr>
          <p:spPr bwMode="auto">
            <a:xfrm>
              <a:off x="3648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58" name="Rectangle 33"/>
            <p:cNvSpPr>
              <a:spLocks noChangeArrowheads="1"/>
            </p:cNvSpPr>
            <p:nvPr/>
          </p:nvSpPr>
          <p:spPr bwMode="auto">
            <a:xfrm>
              <a:off x="3936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59" name="Rectangle 34"/>
            <p:cNvSpPr>
              <a:spLocks noChangeArrowheads="1"/>
            </p:cNvSpPr>
            <p:nvPr/>
          </p:nvSpPr>
          <p:spPr bwMode="auto">
            <a:xfrm>
              <a:off x="4224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60" name="Rectangle 35"/>
            <p:cNvSpPr>
              <a:spLocks noChangeArrowheads="1"/>
            </p:cNvSpPr>
            <p:nvPr/>
          </p:nvSpPr>
          <p:spPr bwMode="auto">
            <a:xfrm>
              <a:off x="4512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61" name="Rectangle 36"/>
            <p:cNvSpPr>
              <a:spLocks noChangeArrowheads="1"/>
            </p:cNvSpPr>
            <p:nvPr/>
          </p:nvSpPr>
          <p:spPr bwMode="auto">
            <a:xfrm>
              <a:off x="4800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62" name="Rectangle 37"/>
            <p:cNvSpPr>
              <a:spLocks noChangeArrowheads="1"/>
            </p:cNvSpPr>
            <p:nvPr/>
          </p:nvSpPr>
          <p:spPr bwMode="auto">
            <a:xfrm>
              <a:off x="5088" y="864"/>
              <a:ext cx="288" cy="192"/>
            </a:xfrm>
            <a:prstGeom prst="rect">
              <a:avLst/>
            </a:prstGeom>
            <a:solidFill>
              <a:srgbClr val="FFCCCC"/>
            </a:solidFill>
            <a:ln w="6350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9945" name="Rectangle 89"/>
          <p:cNvSpPr>
            <a:spLocks noChangeArrowheads="1"/>
          </p:cNvSpPr>
          <p:nvPr/>
        </p:nvSpPr>
        <p:spPr bwMode="auto">
          <a:xfrm>
            <a:off x="609600" y="2546350"/>
            <a:ext cx="914400" cy="3048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9946" name="Rectangle 90"/>
          <p:cNvSpPr>
            <a:spLocks noChangeArrowheads="1"/>
          </p:cNvSpPr>
          <p:nvPr/>
        </p:nvSpPr>
        <p:spPr bwMode="auto">
          <a:xfrm>
            <a:off x="1524000" y="2546350"/>
            <a:ext cx="914400" cy="3048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9947" name="Rectangle 91"/>
          <p:cNvSpPr>
            <a:spLocks noChangeArrowheads="1"/>
          </p:cNvSpPr>
          <p:nvPr/>
        </p:nvSpPr>
        <p:spPr bwMode="auto">
          <a:xfrm>
            <a:off x="2438400" y="2546350"/>
            <a:ext cx="914400" cy="3048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9948" name="Rectangle 92"/>
          <p:cNvSpPr>
            <a:spLocks noChangeArrowheads="1"/>
          </p:cNvSpPr>
          <p:nvPr/>
        </p:nvSpPr>
        <p:spPr bwMode="auto">
          <a:xfrm>
            <a:off x="3352800" y="2546350"/>
            <a:ext cx="914400" cy="3048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9949" name="Rectangle 93"/>
          <p:cNvSpPr>
            <a:spLocks noChangeArrowheads="1"/>
          </p:cNvSpPr>
          <p:nvPr/>
        </p:nvSpPr>
        <p:spPr bwMode="auto">
          <a:xfrm>
            <a:off x="4267200" y="2546350"/>
            <a:ext cx="914400" cy="3048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9950" name="Rectangle 94"/>
          <p:cNvSpPr>
            <a:spLocks noChangeArrowheads="1"/>
          </p:cNvSpPr>
          <p:nvPr/>
        </p:nvSpPr>
        <p:spPr bwMode="auto">
          <a:xfrm>
            <a:off x="5181600" y="2546350"/>
            <a:ext cx="914400" cy="3048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9951" name="Rectangle 95"/>
          <p:cNvSpPr>
            <a:spLocks noChangeArrowheads="1"/>
          </p:cNvSpPr>
          <p:nvPr/>
        </p:nvSpPr>
        <p:spPr bwMode="auto">
          <a:xfrm>
            <a:off x="6096000" y="2546350"/>
            <a:ext cx="914400" cy="3048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9952" name="Rectangle 96"/>
          <p:cNvSpPr>
            <a:spLocks noChangeArrowheads="1"/>
          </p:cNvSpPr>
          <p:nvPr/>
        </p:nvSpPr>
        <p:spPr bwMode="auto">
          <a:xfrm>
            <a:off x="7010400" y="2546350"/>
            <a:ext cx="914400" cy="3048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9953" name="Rectangle 97"/>
          <p:cNvSpPr>
            <a:spLocks noChangeArrowheads="1"/>
          </p:cNvSpPr>
          <p:nvPr/>
        </p:nvSpPr>
        <p:spPr bwMode="auto">
          <a:xfrm>
            <a:off x="609600" y="3308350"/>
            <a:ext cx="1828800" cy="3048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143" name="Rectangle 4"/>
          <p:cNvSpPr>
            <a:spLocks noChangeArrowheads="1"/>
          </p:cNvSpPr>
          <p:nvPr/>
        </p:nvSpPr>
        <p:spPr bwMode="auto">
          <a:xfrm>
            <a:off x="6096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44" name="Rectangle 4"/>
          <p:cNvSpPr>
            <a:spLocks noChangeArrowheads="1"/>
          </p:cNvSpPr>
          <p:nvPr/>
        </p:nvSpPr>
        <p:spPr bwMode="auto">
          <a:xfrm>
            <a:off x="6096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65" name="Rectangle 4"/>
          <p:cNvSpPr>
            <a:spLocks noChangeArrowheads="1"/>
          </p:cNvSpPr>
          <p:nvPr/>
        </p:nvSpPr>
        <p:spPr bwMode="auto">
          <a:xfrm>
            <a:off x="8382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66" name="Rectangle 4"/>
          <p:cNvSpPr>
            <a:spLocks noChangeArrowheads="1"/>
          </p:cNvSpPr>
          <p:nvPr/>
        </p:nvSpPr>
        <p:spPr bwMode="auto">
          <a:xfrm>
            <a:off x="10668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67" name="Rectangle 4"/>
          <p:cNvSpPr>
            <a:spLocks noChangeArrowheads="1"/>
          </p:cNvSpPr>
          <p:nvPr/>
        </p:nvSpPr>
        <p:spPr bwMode="auto">
          <a:xfrm>
            <a:off x="12954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68" name="Rectangle 4"/>
          <p:cNvSpPr>
            <a:spLocks noChangeArrowheads="1"/>
          </p:cNvSpPr>
          <p:nvPr/>
        </p:nvSpPr>
        <p:spPr bwMode="auto">
          <a:xfrm>
            <a:off x="15240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69" name="Rectangle 4"/>
          <p:cNvSpPr>
            <a:spLocks noChangeArrowheads="1"/>
          </p:cNvSpPr>
          <p:nvPr/>
        </p:nvSpPr>
        <p:spPr bwMode="auto">
          <a:xfrm>
            <a:off x="15240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70" name="Rectangle 4"/>
          <p:cNvSpPr>
            <a:spLocks noChangeArrowheads="1"/>
          </p:cNvSpPr>
          <p:nvPr/>
        </p:nvSpPr>
        <p:spPr bwMode="auto">
          <a:xfrm>
            <a:off x="17526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71" name="Rectangle 4"/>
          <p:cNvSpPr>
            <a:spLocks noChangeArrowheads="1"/>
          </p:cNvSpPr>
          <p:nvPr/>
        </p:nvSpPr>
        <p:spPr bwMode="auto">
          <a:xfrm>
            <a:off x="19812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72" name="Rectangle 4"/>
          <p:cNvSpPr>
            <a:spLocks noChangeArrowheads="1"/>
          </p:cNvSpPr>
          <p:nvPr/>
        </p:nvSpPr>
        <p:spPr bwMode="auto">
          <a:xfrm>
            <a:off x="22098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73" name="Rectangle 4"/>
          <p:cNvSpPr>
            <a:spLocks noChangeArrowheads="1"/>
          </p:cNvSpPr>
          <p:nvPr/>
        </p:nvSpPr>
        <p:spPr bwMode="auto">
          <a:xfrm>
            <a:off x="24384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74" name="Rectangle 4"/>
          <p:cNvSpPr>
            <a:spLocks noChangeArrowheads="1"/>
          </p:cNvSpPr>
          <p:nvPr/>
        </p:nvSpPr>
        <p:spPr bwMode="auto">
          <a:xfrm>
            <a:off x="24384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75" name="Rectangle 4"/>
          <p:cNvSpPr>
            <a:spLocks noChangeArrowheads="1"/>
          </p:cNvSpPr>
          <p:nvPr/>
        </p:nvSpPr>
        <p:spPr bwMode="auto">
          <a:xfrm>
            <a:off x="26670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76" name="Rectangle 4"/>
          <p:cNvSpPr>
            <a:spLocks noChangeArrowheads="1"/>
          </p:cNvSpPr>
          <p:nvPr/>
        </p:nvSpPr>
        <p:spPr bwMode="auto">
          <a:xfrm>
            <a:off x="28956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77" name="Rectangle 4"/>
          <p:cNvSpPr>
            <a:spLocks noChangeArrowheads="1"/>
          </p:cNvSpPr>
          <p:nvPr/>
        </p:nvSpPr>
        <p:spPr bwMode="auto">
          <a:xfrm>
            <a:off x="31242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78" name="Rectangle 4"/>
          <p:cNvSpPr>
            <a:spLocks noChangeArrowheads="1"/>
          </p:cNvSpPr>
          <p:nvPr/>
        </p:nvSpPr>
        <p:spPr bwMode="auto">
          <a:xfrm>
            <a:off x="33528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79" name="Rectangle 4"/>
          <p:cNvSpPr>
            <a:spLocks noChangeArrowheads="1"/>
          </p:cNvSpPr>
          <p:nvPr/>
        </p:nvSpPr>
        <p:spPr bwMode="auto">
          <a:xfrm>
            <a:off x="33528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80" name="Rectangle 4"/>
          <p:cNvSpPr>
            <a:spLocks noChangeArrowheads="1"/>
          </p:cNvSpPr>
          <p:nvPr/>
        </p:nvSpPr>
        <p:spPr bwMode="auto">
          <a:xfrm>
            <a:off x="35814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81" name="Rectangle 4"/>
          <p:cNvSpPr>
            <a:spLocks noChangeArrowheads="1"/>
          </p:cNvSpPr>
          <p:nvPr/>
        </p:nvSpPr>
        <p:spPr bwMode="auto">
          <a:xfrm>
            <a:off x="38100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82" name="Rectangle 4"/>
          <p:cNvSpPr>
            <a:spLocks noChangeArrowheads="1"/>
          </p:cNvSpPr>
          <p:nvPr/>
        </p:nvSpPr>
        <p:spPr bwMode="auto">
          <a:xfrm>
            <a:off x="40386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83" name="Rectangle 4"/>
          <p:cNvSpPr>
            <a:spLocks noChangeArrowheads="1"/>
          </p:cNvSpPr>
          <p:nvPr/>
        </p:nvSpPr>
        <p:spPr bwMode="auto">
          <a:xfrm>
            <a:off x="42672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84" name="Rectangle 4"/>
          <p:cNvSpPr>
            <a:spLocks noChangeArrowheads="1"/>
          </p:cNvSpPr>
          <p:nvPr/>
        </p:nvSpPr>
        <p:spPr bwMode="auto">
          <a:xfrm>
            <a:off x="42672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85" name="Rectangle 4"/>
          <p:cNvSpPr>
            <a:spLocks noChangeArrowheads="1"/>
          </p:cNvSpPr>
          <p:nvPr/>
        </p:nvSpPr>
        <p:spPr bwMode="auto">
          <a:xfrm>
            <a:off x="44958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86" name="Rectangle 4"/>
          <p:cNvSpPr>
            <a:spLocks noChangeArrowheads="1"/>
          </p:cNvSpPr>
          <p:nvPr/>
        </p:nvSpPr>
        <p:spPr bwMode="auto">
          <a:xfrm>
            <a:off x="47244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87" name="Rectangle 4"/>
          <p:cNvSpPr>
            <a:spLocks noChangeArrowheads="1"/>
          </p:cNvSpPr>
          <p:nvPr/>
        </p:nvSpPr>
        <p:spPr bwMode="auto">
          <a:xfrm>
            <a:off x="49530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88" name="Rectangle 4"/>
          <p:cNvSpPr>
            <a:spLocks noChangeArrowheads="1"/>
          </p:cNvSpPr>
          <p:nvPr/>
        </p:nvSpPr>
        <p:spPr bwMode="auto">
          <a:xfrm>
            <a:off x="51816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89" name="Rectangle 4"/>
          <p:cNvSpPr>
            <a:spLocks noChangeArrowheads="1"/>
          </p:cNvSpPr>
          <p:nvPr/>
        </p:nvSpPr>
        <p:spPr bwMode="auto">
          <a:xfrm>
            <a:off x="51816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90" name="Rectangle 4"/>
          <p:cNvSpPr>
            <a:spLocks noChangeArrowheads="1"/>
          </p:cNvSpPr>
          <p:nvPr/>
        </p:nvSpPr>
        <p:spPr bwMode="auto">
          <a:xfrm>
            <a:off x="54102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91" name="Rectangle 4"/>
          <p:cNvSpPr>
            <a:spLocks noChangeArrowheads="1"/>
          </p:cNvSpPr>
          <p:nvPr/>
        </p:nvSpPr>
        <p:spPr bwMode="auto">
          <a:xfrm>
            <a:off x="56388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92" name="Rectangle 4"/>
          <p:cNvSpPr>
            <a:spLocks noChangeArrowheads="1"/>
          </p:cNvSpPr>
          <p:nvPr/>
        </p:nvSpPr>
        <p:spPr bwMode="auto">
          <a:xfrm>
            <a:off x="58674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93" name="Rectangle 4"/>
          <p:cNvSpPr>
            <a:spLocks noChangeArrowheads="1"/>
          </p:cNvSpPr>
          <p:nvPr/>
        </p:nvSpPr>
        <p:spPr bwMode="auto">
          <a:xfrm>
            <a:off x="60960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94" name="Rectangle 4"/>
          <p:cNvSpPr>
            <a:spLocks noChangeArrowheads="1"/>
          </p:cNvSpPr>
          <p:nvPr/>
        </p:nvSpPr>
        <p:spPr bwMode="auto">
          <a:xfrm>
            <a:off x="60960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95" name="Rectangle 4"/>
          <p:cNvSpPr>
            <a:spLocks noChangeArrowheads="1"/>
          </p:cNvSpPr>
          <p:nvPr/>
        </p:nvSpPr>
        <p:spPr bwMode="auto">
          <a:xfrm>
            <a:off x="63246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96" name="Rectangle 4"/>
          <p:cNvSpPr>
            <a:spLocks noChangeArrowheads="1"/>
          </p:cNvSpPr>
          <p:nvPr/>
        </p:nvSpPr>
        <p:spPr bwMode="auto">
          <a:xfrm>
            <a:off x="65532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97" name="Rectangle 4"/>
          <p:cNvSpPr>
            <a:spLocks noChangeArrowheads="1"/>
          </p:cNvSpPr>
          <p:nvPr/>
        </p:nvSpPr>
        <p:spPr bwMode="auto">
          <a:xfrm>
            <a:off x="67818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98" name="Rectangle 4"/>
          <p:cNvSpPr>
            <a:spLocks noChangeArrowheads="1"/>
          </p:cNvSpPr>
          <p:nvPr/>
        </p:nvSpPr>
        <p:spPr bwMode="auto">
          <a:xfrm>
            <a:off x="70104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199" name="Rectangle 4"/>
          <p:cNvSpPr>
            <a:spLocks noChangeArrowheads="1"/>
          </p:cNvSpPr>
          <p:nvPr/>
        </p:nvSpPr>
        <p:spPr bwMode="auto">
          <a:xfrm>
            <a:off x="70104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00" name="Rectangle 4"/>
          <p:cNvSpPr>
            <a:spLocks noChangeArrowheads="1"/>
          </p:cNvSpPr>
          <p:nvPr/>
        </p:nvSpPr>
        <p:spPr bwMode="auto">
          <a:xfrm>
            <a:off x="72390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01" name="Rectangle 4"/>
          <p:cNvSpPr>
            <a:spLocks noChangeArrowheads="1"/>
          </p:cNvSpPr>
          <p:nvPr/>
        </p:nvSpPr>
        <p:spPr bwMode="auto">
          <a:xfrm>
            <a:off x="74676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02" name="Rectangle 4"/>
          <p:cNvSpPr>
            <a:spLocks noChangeArrowheads="1"/>
          </p:cNvSpPr>
          <p:nvPr/>
        </p:nvSpPr>
        <p:spPr bwMode="auto">
          <a:xfrm>
            <a:off x="7696200" y="1784350"/>
            <a:ext cx="2286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03" name="Rectangle 4"/>
          <p:cNvSpPr>
            <a:spLocks noChangeArrowheads="1"/>
          </p:cNvSpPr>
          <p:nvPr/>
        </p:nvSpPr>
        <p:spPr bwMode="auto">
          <a:xfrm>
            <a:off x="609600" y="3308350"/>
            <a:ext cx="9144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04" name="Rectangle 4"/>
          <p:cNvSpPr>
            <a:spLocks noChangeArrowheads="1"/>
          </p:cNvSpPr>
          <p:nvPr/>
        </p:nvSpPr>
        <p:spPr bwMode="auto">
          <a:xfrm>
            <a:off x="1524000" y="3308350"/>
            <a:ext cx="9144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05" name="Rectangle 4"/>
          <p:cNvSpPr>
            <a:spLocks noChangeArrowheads="1"/>
          </p:cNvSpPr>
          <p:nvPr/>
        </p:nvSpPr>
        <p:spPr bwMode="auto">
          <a:xfrm>
            <a:off x="2438400" y="3308350"/>
            <a:ext cx="9144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06" name="Rectangle 4"/>
          <p:cNvSpPr>
            <a:spLocks noChangeArrowheads="1"/>
          </p:cNvSpPr>
          <p:nvPr/>
        </p:nvSpPr>
        <p:spPr bwMode="auto">
          <a:xfrm>
            <a:off x="3352800" y="3308350"/>
            <a:ext cx="9144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07" name="Rectangle 4"/>
          <p:cNvSpPr>
            <a:spLocks noChangeArrowheads="1"/>
          </p:cNvSpPr>
          <p:nvPr/>
        </p:nvSpPr>
        <p:spPr bwMode="auto">
          <a:xfrm>
            <a:off x="4267200" y="3308350"/>
            <a:ext cx="9144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08" name="Rectangle 4"/>
          <p:cNvSpPr>
            <a:spLocks noChangeArrowheads="1"/>
          </p:cNvSpPr>
          <p:nvPr/>
        </p:nvSpPr>
        <p:spPr bwMode="auto">
          <a:xfrm>
            <a:off x="5181600" y="3308350"/>
            <a:ext cx="9144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09" name="Rectangle 4"/>
          <p:cNvSpPr>
            <a:spLocks noChangeArrowheads="1"/>
          </p:cNvSpPr>
          <p:nvPr/>
        </p:nvSpPr>
        <p:spPr bwMode="auto">
          <a:xfrm>
            <a:off x="6096000" y="3308350"/>
            <a:ext cx="9144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10" name="Rectangle 4"/>
          <p:cNvSpPr>
            <a:spLocks noChangeArrowheads="1"/>
          </p:cNvSpPr>
          <p:nvPr/>
        </p:nvSpPr>
        <p:spPr bwMode="auto">
          <a:xfrm>
            <a:off x="7010400" y="3308350"/>
            <a:ext cx="914400" cy="304800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11" name="Rectangle 97"/>
          <p:cNvSpPr>
            <a:spLocks noChangeArrowheads="1"/>
          </p:cNvSpPr>
          <p:nvPr/>
        </p:nvSpPr>
        <p:spPr bwMode="auto">
          <a:xfrm>
            <a:off x="609600" y="4114800"/>
            <a:ext cx="18288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212" name="Rectangle 4"/>
          <p:cNvSpPr>
            <a:spLocks noChangeArrowheads="1"/>
          </p:cNvSpPr>
          <p:nvPr/>
        </p:nvSpPr>
        <p:spPr bwMode="auto">
          <a:xfrm>
            <a:off x="609600" y="4114800"/>
            <a:ext cx="9144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13" name="Rectangle 4"/>
          <p:cNvSpPr>
            <a:spLocks noChangeArrowheads="1"/>
          </p:cNvSpPr>
          <p:nvPr/>
        </p:nvSpPr>
        <p:spPr bwMode="auto">
          <a:xfrm>
            <a:off x="1524000" y="4114800"/>
            <a:ext cx="9144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14" name="Rectangle 4"/>
          <p:cNvSpPr>
            <a:spLocks noChangeArrowheads="1"/>
          </p:cNvSpPr>
          <p:nvPr/>
        </p:nvSpPr>
        <p:spPr bwMode="auto">
          <a:xfrm>
            <a:off x="2438400" y="4114800"/>
            <a:ext cx="9144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15" name="Rectangle 4"/>
          <p:cNvSpPr>
            <a:spLocks noChangeArrowheads="1"/>
          </p:cNvSpPr>
          <p:nvPr/>
        </p:nvSpPr>
        <p:spPr bwMode="auto">
          <a:xfrm>
            <a:off x="3352800" y="4114800"/>
            <a:ext cx="9144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16" name="Rectangle 4"/>
          <p:cNvSpPr>
            <a:spLocks noChangeArrowheads="1"/>
          </p:cNvSpPr>
          <p:nvPr/>
        </p:nvSpPr>
        <p:spPr bwMode="auto">
          <a:xfrm>
            <a:off x="4267200" y="4114800"/>
            <a:ext cx="9144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17" name="Rectangle 4"/>
          <p:cNvSpPr>
            <a:spLocks noChangeArrowheads="1"/>
          </p:cNvSpPr>
          <p:nvPr/>
        </p:nvSpPr>
        <p:spPr bwMode="auto">
          <a:xfrm>
            <a:off x="5181600" y="4114800"/>
            <a:ext cx="9144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18" name="Rectangle 4"/>
          <p:cNvSpPr>
            <a:spLocks noChangeArrowheads="1"/>
          </p:cNvSpPr>
          <p:nvPr/>
        </p:nvSpPr>
        <p:spPr bwMode="auto">
          <a:xfrm>
            <a:off x="6096000" y="4114800"/>
            <a:ext cx="9144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19" name="Rectangle 4"/>
          <p:cNvSpPr>
            <a:spLocks noChangeArrowheads="1"/>
          </p:cNvSpPr>
          <p:nvPr/>
        </p:nvSpPr>
        <p:spPr bwMode="auto">
          <a:xfrm>
            <a:off x="7010400" y="4114800"/>
            <a:ext cx="9144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21" name="Rectangle 4"/>
          <p:cNvSpPr>
            <a:spLocks noChangeArrowheads="1"/>
          </p:cNvSpPr>
          <p:nvPr/>
        </p:nvSpPr>
        <p:spPr bwMode="auto">
          <a:xfrm>
            <a:off x="609600" y="4876800"/>
            <a:ext cx="18288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29" name="Rectangle 4"/>
          <p:cNvSpPr>
            <a:spLocks noChangeArrowheads="1"/>
          </p:cNvSpPr>
          <p:nvPr/>
        </p:nvSpPr>
        <p:spPr bwMode="auto">
          <a:xfrm>
            <a:off x="2420257" y="4876800"/>
            <a:ext cx="18288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30" name="Rectangle 4"/>
          <p:cNvSpPr>
            <a:spLocks noChangeArrowheads="1"/>
          </p:cNvSpPr>
          <p:nvPr/>
        </p:nvSpPr>
        <p:spPr bwMode="auto">
          <a:xfrm>
            <a:off x="4230914" y="4876800"/>
            <a:ext cx="18288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31" name="Rectangle 4"/>
          <p:cNvSpPr>
            <a:spLocks noChangeArrowheads="1"/>
          </p:cNvSpPr>
          <p:nvPr/>
        </p:nvSpPr>
        <p:spPr bwMode="auto">
          <a:xfrm>
            <a:off x="6041571" y="4876800"/>
            <a:ext cx="18288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32" name="Rectangle 97"/>
          <p:cNvSpPr>
            <a:spLocks noChangeArrowheads="1"/>
          </p:cNvSpPr>
          <p:nvPr/>
        </p:nvSpPr>
        <p:spPr bwMode="auto">
          <a:xfrm>
            <a:off x="609600" y="5638800"/>
            <a:ext cx="18288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233" name="Rectangle 4"/>
          <p:cNvSpPr>
            <a:spLocks noChangeArrowheads="1"/>
          </p:cNvSpPr>
          <p:nvPr/>
        </p:nvSpPr>
        <p:spPr bwMode="auto">
          <a:xfrm>
            <a:off x="609600" y="5638800"/>
            <a:ext cx="9144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34" name="Rectangle 4"/>
          <p:cNvSpPr>
            <a:spLocks noChangeArrowheads="1"/>
          </p:cNvSpPr>
          <p:nvPr/>
        </p:nvSpPr>
        <p:spPr bwMode="auto">
          <a:xfrm>
            <a:off x="1524000" y="5638800"/>
            <a:ext cx="914400" cy="304800"/>
          </a:xfrm>
          <a:prstGeom prst="rect">
            <a:avLst/>
          </a:prstGeom>
          <a:solidFill>
            <a:srgbClr val="E9FAFF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35" name="Rectangle 4"/>
          <p:cNvSpPr>
            <a:spLocks noChangeArrowheads="1"/>
          </p:cNvSpPr>
          <p:nvPr/>
        </p:nvSpPr>
        <p:spPr bwMode="auto">
          <a:xfrm>
            <a:off x="2438400" y="5638800"/>
            <a:ext cx="914400" cy="304800"/>
          </a:xfrm>
          <a:prstGeom prst="rect">
            <a:avLst/>
          </a:prstGeom>
          <a:solidFill>
            <a:srgbClr val="E9FAFF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36" name="Rectangle 4"/>
          <p:cNvSpPr>
            <a:spLocks noChangeArrowheads="1"/>
          </p:cNvSpPr>
          <p:nvPr/>
        </p:nvSpPr>
        <p:spPr bwMode="auto">
          <a:xfrm>
            <a:off x="3352800" y="5638800"/>
            <a:ext cx="914400" cy="304800"/>
          </a:xfrm>
          <a:prstGeom prst="rect">
            <a:avLst/>
          </a:prstGeom>
          <a:solidFill>
            <a:srgbClr val="E9FAFF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37" name="Rectangle 4"/>
          <p:cNvSpPr>
            <a:spLocks noChangeArrowheads="1"/>
          </p:cNvSpPr>
          <p:nvPr/>
        </p:nvSpPr>
        <p:spPr bwMode="auto">
          <a:xfrm>
            <a:off x="4267200" y="5638800"/>
            <a:ext cx="914400" cy="304800"/>
          </a:xfrm>
          <a:prstGeom prst="rect">
            <a:avLst/>
          </a:prstGeom>
          <a:solidFill>
            <a:srgbClr val="E9FAFF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38" name="Rectangle 4"/>
          <p:cNvSpPr>
            <a:spLocks noChangeArrowheads="1"/>
          </p:cNvSpPr>
          <p:nvPr/>
        </p:nvSpPr>
        <p:spPr bwMode="auto">
          <a:xfrm>
            <a:off x="5181600" y="5638800"/>
            <a:ext cx="914400" cy="304800"/>
          </a:xfrm>
          <a:prstGeom prst="rect">
            <a:avLst/>
          </a:prstGeom>
          <a:solidFill>
            <a:srgbClr val="E9FAFF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39" name="Rectangle 4"/>
          <p:cNvSpPr>
            <a:spLocks noChangeArrowheads="1"/>
          </p:cNvSpPr>
          <p:nvPr/>
        </p:nvSpPr>
        <p:spPr bwMode="auto">
          <a:xfrm>
            <a:off x="6096000" y="5638800"/>
            <a:ext cx="914400" cy="304800"/>
          </a:xfrm>
          <a:prstGeom prst="rect">
            <a:avLst/>
          </a:prstGeom>
          <a:solidFill>
            <a:srgbClr val="E9FAFF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40" name="Rectangle 4"/>
          <p:cNvSpPr>
            <a:spLocks noChangeArrowheads="1"/>
          </p:cNvSpPr>
          <p:nvPr/>
        </p:nvSpPr>
        <p:spPr bwMode="auto">
          <a:xfrm>
            <a:off x="7010400" y="5638800"/>
            <a:ext cx="914400" cy="304800"/>
          </a:xfrm>
          <a:prstGeom prst="rect">
            <a:avLst/>
          </a:prstGeom>
          <a:solidFill>
            <a:srgbClr val="E9FAFF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41" name="Rectangle 4"/>
          <p:cNvSpPr>
            <a:spLocks noChangeArrowheads="1"/>
          </p:cNvSpPr>
          <p:nvPr/>
        </p:nvSpPr>
        <p:spPr bwMode="auto">
          <a:xfrm>
            <a:off x="609600" y="6400800"/>
            <a:ext cx="18288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42" name="Rectangle 4"/>
          <p:cNvSpPr>
            <a:spLocks noChangeArrowheads="1"/>
          </p:cNvSpPr>
          <p:nvPr/>
        </p:nvSpPr>
        <p:spPr bwMode="auto">
          <a:xfrm>
            <a:off x="2420257" y="6400800"/>
            <a:ext cx="1828800" cy="304800"/>
          </a:xfrm>
          <a:prstGeom prst="rect">
            <a:avLst/>
          </a:prstGeom>
          <a:solidFill>
            <a:srgbClr val="E9FAFF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43" name="Rectangle 4"/>
          <p:cNvSpPr>
            <a:spLocks noChangeArrowheads="1"/>
          </p:cNvSpPr>
          <p:nvPr/>
        </p:nvSpPr>
        <p:spPr bwMode="auto">
          <a:xfrm>
            <a:off x="4230914" y="6400800"/>
            <a:ext cx="1828800" cy="304800"/>
          </a:xfrm>
          <a:prstGeom prst="rect">
            <a:avLst/>
          </a:prstGeom>
          <a:solidFill>
            <a:srgbClr val="E9FAFF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  <p:sp>
        <p:nvSpPr>
          <p:cNvPr id="244" name="Rectangle 4"/>
          <p:cNvSpPr>
            <a:spLocks noChangeArrowheads="1"/>
          </p:cNvSpPr>
          <p:nvPr/>
        </p:nvSpPr>
        <p:spPr bwMode="auto">
          <a:xfrm>
            <a:off x="6041571" y="6400800"/>
            <a:ext cx="1828800" cy="304800"/>
          </a:xfrm>
          <a:prstGeom prst="rect">
            <a:avLst/>
          </a:prstGeom>
          <a:solidFill>
            <a:srgbClr val="E9FAFF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square" lIns="45720" rIns="45720" anchor="ctr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909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127000"/>
            <a:ext cx="8716962" cy="7810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SIMD Operations</a:t>
            </a:r>
          </a:p>
        </p:txBody>
      </p:sp>
      <p:sp>
        <p:nvSpPr>
          <p:cNvPr id="82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869950"/>
            <a:ext cx="8307387" cy="5378450"/>
          </a:xfrm>
        </p:spPr>
        <p:txBody>
          <a:bodyPr/>
          <a:lstStyle/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/>
              <a:t>SIMD Operations: Single Precision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>
              <a:ea typeface="+mn-ea"/>
            </a:endParaRPr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/>
              <a:t>SIMD Operations: Double Precision</a:t>
            </a:r>
          </a:p>
        </p:txBody>
      </p:sp>
      <p:grpSp>
        <p:nvGrpSpPr>
          <p:cNvPr id="170" name="Group 169"/>
          <p:cNvGrpSpPr/>
          <p:nvPr/>
        </p:nvGrpSpPr>
        <p:grpSpPr>
          <a:xfrm>
            <a:off x="246821" y="4218583"/>
            <a:ext cx="8470713" cy="2029817"/>
            <a:chOff x="220672" y="1409321"/>
            <a:chExt cx="8470713" cy="2029817"/>
          </a:xfrm>
        </p:grpSpPr>
        <p:grpSp>
          <p:nvGrpSpPr>
            <p:cNvPr id="171" name="Group 170"/>
            <p:cNvGrpSpPr/>
            <p:nvPr/>
          </p:nvGrpSpPr>
          <p:grpSpPr>
            <a:xfrm>
              <a:off x="220672" y="1905000"/>
              <a:ext cx="7315200" cy="304800"/>
              <a:chOff x="220672" y="1869398"/>
              <a:chExt cx="7315200" cy="304800"/>
            </a:xfrm>
          </p:grpSpPr>
          <p:sp>
            <p:nvSpPr>
              <p:cNvPr id="200" name="Rectangle 213"/>
              <p:cNvSpPr>
                <a:spLocks noChangeArrowheads="1"/>
              </p:cNvSpPr>
              <p:nvPr/>
            </p:nvSpPr>
            <p:spPr bwMode="auto">
              <a:xfrm>
                <a:off x="220672" y="1869398"/>
                <a:ext cx="1828800" cy="304800"/>
              </a:xfrm>
              <a:prstGeom prst="rect">
                <a:avLst/>
              </a:prstGeom>
              <a:solidFill>
                <a:srgbClr val="CBDBFF"/>
              </a:solidFill>
              <a:ln w="28575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1" name="Rectangle 214"/>
              <p:cNvSpPr>
                <a:spLocks noChangeArrowheads="1"/>
              </p:cNvSpPr>
              <p:nvPr/>
            </p:nvSpPr>
            <p:spPr bwMode="auto">
              <a:xfrm>
                <a:off x="2049472" y="1869398"/>
                <a:ext cx="1828800" cy="304800"/>
              </a:xfrm>
              <a:prstGeom prst="rect">
                <a:avLst/>
              </a:prstGeom>
              <a:solidFill>
                <a:srgbClr val="CBDBFF"/>
              </a:solidFill>
              <a:ln w="28575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2" name="Rectangle 215"/>
              <p:cNvSpPr>
                <a:spLocks noChangeArrowheads="1"/>
              </p:cNvSpPr>
              <p:nvPr/>
            </p:nvSpPr>
            <p:spPr bwMode="auto">
              <a:xfrm>
                <a:off x="3878272" y="1869398"/>
                <a:ext cx="1828800" cy="304800"/>
              </a:xfrm>
              <a:prstGeom prst="rect">
                <a:avLst/>
              </a:prstGeom>
              <a:solidFill>
                <a:srgbClr val="CBDBFF"/>
              </a:solidFill>
              <a:ln w="28575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3" name="Rectangle 216"/>
              <p:cNvSpPr>
                <a:spLocks noChangeArrowheads="1"/>
              </p:cNvSpPr>
              <p:nvPr/>
            </p:nvSpPr>
            <p:spPr bwMode="auto">
              <a:xfrm>
                <a:off x="5707072" y="1869398"/>
                <a:ext cx="1828800" cy="304800"/>
              </a:xfrm>
              <a:prstGeom prst="rect">
                <a:avLst/>
              </a:prstGeom>
              <a:solidFill>
                <a:srgbClr val="CBDBFF"/>
              </a:solidFill>
              <a:ln w="28575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72" name="Group 239"/>
            <p:cNvGrpSpPr>
              <a:grpSpLocks/>
            </p:cNvGrpSpPr>
            <p:nvPr/>
          </p:nvGrpSpPr>
          <p:grpSpPr bwMode="auto">
            <a:xfrm>
              <a:off x="830272" y="2209800"/>
              <a:ext cx="685800" cy="838200"/>
              <a:chOff x="720" y="864"/>
              <a:chExt cx="432" cy="528"/>
            </a:xfrm>
          </p:grpSpPr>
          <p:sp>
            <p:nvSpPr>
              <p:cNvPr id="196" name="Oval 240"/>
              <p:cNvSpPr>
                <a:spLocks noChangeArrowheads="1"/>
              </p:cNvSpPr>
              <p:nvPr/>
            </p:nvSpPr>
            <p:spPr bwMode="auto">
              <a:xfrm>
                <a:off x="816" y="1008"/>
                <a:ext cx="215" cy="217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2"/>
                </a:solidFill>
                <a:round/>
                <a:headEnd/>
                <a:tailEnd type="none" w="sm" len="sm"/>
              </a:ln>
            </p:spPr>
            <p:txBody>
              <a:bodyPr wrap="none" lIns="45720" rIns="45720" anchor="ctr"/>
              <a:lstStyle/>
              <a:p>
                <a:pPr algn="ctr"/>
                <a:r>
                  <a:rPr lang="en-US">
                    <a:latin typeface="Courier New" charset="0"/>
                  </a:rPr>
                  <a:t>+</a:t>
                </a:r>
              </a:p>
            </p:txBody>
          </p:sp>
          <p:sp>
            <p:nvSpPr>
              <p:cNvPr id="197" name="Line 241"/>
              <p:cNvSpPr>
                <a:spLocks noChangeShapeType="1"/>
              </p:cNvSpPr>
              <p:nvPr/>
            </p:nvSpPr>
            <p:spPr bwMode="auto">
              <a:xfrm>
                <a:off x="720" y="864"/>
                <a:ext cx="144" cy="144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8" name="Line 242"/>
              <p:cNvSpPr>
                <a:spLocks noChangeShapeType="1"/>
              </p:cNvSpPr>
              <p:nvPr/>
            </p:nvSpPr>
            <p:spPr bwMode="auto">
              <a:xfrm flipV="1">
                <a:off x="720" y="1200"/>
                <a:ext cx="144" cy="192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9" name="Line 243"/>
              <p:cNvSpPr>
                <a:spLocks noChangeShapeType="1"/>
              </p:cNvSpPr>
              <p:nvPr/>
            </p:nvSpPr>
            <p:spPr bwMode="auto">
              <a:xfrm rot="5400000" flipV="1">
                <a:off x="984" y="1224"/>
                <a:ext cx="192" cy="144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73" name="Group 244"/>
            <p:cNvGrpSpPr>
              <a:grpSpLocks/>
            </p:cNvGrpSpPr>
            <p:nvPr/>
          </p:nvGrpSpPr>
          <p:grpSpPr bwMode="auto">
            <a:xfrm>
              <a:off x="2659072" y="2209800"/>
              <a:ext cx="685800" cy="838200"/>
              <a:chOff x="720" y="864"/>
              <a:chExt cx="432" cy="528"/>
            </a:xfrm>
          </p:grpSpPr>
          <p:sp>
            <p:nvSpPr>
              <p:cNvPr id="192" name="Oval 245"/>
              <p:cNvSpPr>
                <a:spLocks noChangeArrowheads="1"/>
              </p:cNvSpPr>
              <p:nvPr/>
            </p:nvSpPr>
            <p:spPr bwMode="auto">
              <a:xfrm>
                <a:off x="816" y="1008"/>
                <a:ext cx="215" cy="217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2"/>
                </a:solidFill>
                <a:round/>
                <a:headEnd/>
                <a:tailEnd type="none" w="sm" len="sm"/>
              </a:ln>
            </p:spPr>
            <p:txBody>
              <a:bodyPr wrap="none" lIns="45720" rIns="45720" anchor="ctr"/>
              <a:lstStyle/>
              <a:p>
                <a:pPr algn="ctr"/>
                <a:r>
                  <a:rPr lang="en-US">
                    <a:latin typeface="Courier New" charset="0"/>
                  </a:rPr>
                  <a:t>+</a:t>
                </a:r>
              </a:p>
            </p:txBody>
          </p:sp>
          <p:sp>
            <p:nvSpPr>
              <p:cNvPr id="193" name="Line 246"/>
              <p:cNvSpPr>
                <a:spLocks noChangeShapeType="1"/>
              </p:cNvSpPr>
              <p:nvPr/>
            </p:nvSpPr>
            <p:spPr bwMode="auto">
              <a:xfrm>
                <a:off x="720" y="864"/>
                <a:ext cx="144" cy="144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4" name="Line 247"/>
              <p:cNvSpPr>
                <a:spLocks noChangeShapeType="1"/>
              </p:cNvSpPr>
              <p:nvPr/>
            </p:nvSpPr>
            <p:spPr bwMode="auto">
              <a:xfrm flipV="1">
                <a:off x="720" y="1200"/>
                <a:ext cx="144" cy="192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5" name="Line 248"/>
              <p:cNvSpPr>
                <a:spLocks noChangeShapeType="1"/>
              </p:cNvSpPr>
              <p:nvPr/>
            </p:nvSpPr>
            <p:spPr bwMode="auto">
              <a:xfrm rot="5400000" flipV="1">
                <a:off x="984" y="1224"/>
                <a:ext cx="192" cy="144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74" name="Group 249"/>
            <p:cNvGrpSpPr>
              <a:grpSpLocks/>
            </p:cNvGrpSpPr>
            <p:nvPr/>
          </p:nvGrpSpPr>
          <p:grpSpPr bwMode="auto">
            <a:xfrm>
              <a:off x="4487872" y="2209800"/>
              <a:ext cx="685800" cy="838200"/>
              <a:chOff x="720" y="864"/>
              <a:chExt cx="432" cy="528"/>
            </a:xfrm>
          </p:grpSpPr>
          <p:sp>
            <p:nvSpPr>
              <p:cNvPr id="188" name="Oval 250"/>
              <p:cNvSpPr>
                <a:spLocks noChangeArrowheads="1"/>
              </p:cNvSpPr>
              <p:nvPr/>
            </p:nvSpPr>
            <p:spPr bwMode="auto">
              <a:xfrm>
                <a:off x="816" y="1008"/>
                <a:ext cx="215" cy="217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2"/>
                </a:solidFill>
                <a:round/>
                <a:headEnd/>
                <a:tailEnd type="none" w="sm" len="sm"/>
              </a:ln>
            </p:spPr>
            <p:txBody>
              <a:bodyPr wrap="none" lIns="45720" rIns="45720" anchor="ctr"/>
              <a:lstStyle/>
              <a:p>
                <a:pPr algn="ctr"/>
                <a:r>
                  <a:rPr lang="en-US">
                    <a:latin typeface="Courier New" charset="0"/>
                  </a:rPr>
                  <a:t>+</a:t>
                </a:r>
              </a:p>
            </p:txBody>
          </p:sp>
          <p:sp>
            <p:nvSpPr>
              <p:cNvPr id="189" name="Line 251"/>
              <p:cNvSpPr>
                <a:spLocks noChangeShapeType="1"/>
              </p:cNvSpPr>
              <p:nvPr/>
            </p:nvSpPr>
            <p:spPr bwMode="auto">
              <a:xfrm>
                <a:off x="720" y="864"/>
                <a:ext cx="144" cy="144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0" name="Line 252"/>
              <p:cNvSpPr>
                <a:spLocks noChangeShapeType="1"/>
              </p:cNvSpPr>
              <p:nvPr/>
            </p:nvSpPr>
            <p:spPr bwMode="auto">
              <a:xfrm flipV="1">
                <a:off x="720" y="1200"/>
                <a:ext cx="144" cy="192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1" name="Line 253"/>
              <p:cNvSpPr>
                <a:spLocks noChangeShapeType="1"/>
              </p:cNvSpPr>
              <p:nvPr/>
            </p:nvSpPr>
            <p:spPr bwMode="auto">
              <a:xfrm rot="5400000" flipV="1">
                <a:off x="984" y="1224"/>
                <a:ext cx="192" cy="144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75" name="Group 254"/>
            <p:cNvGrpSpPr>
              <a:grpSpLocks/>
            </p:cNvGrpSpPr>
            <p:nvPr/>
          </p:nvGrpSpPr>
          <p:grpSpPr bwMode="auto">
            <a:xfrm>
              <a:off x="6316672" y="2209800"/>
              <a:ext cx="685800" cy="838200"/>
              <a:chOff x="720" y="864"/>
              <a:chExt cx="432" cy="528"/>
            </a:xfrm>
          </p:grpSpPr>
          <p:sp>
            <p:nvSpPr>
              <p:cNvPr id="184" name="Oval 255"/>
              <p:cNvSpPr>
                <a:spLocks noChangeArrowheads="1"/>
              </p:cNvSpPr>
              <p:nvPr/>
            </p:nvSpPr>
            <p:spPr bwMode="auto">
              <a:xfrm>
                <a:off x="816" y="1008"/>
                <a:ext cx="215" cy="217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2"/>
                </a:solidFill>
                <a:round/>
                <a:headEnd/>
                <a:tailEnd type="none" w="sm" len="sm"/>
              </a:ln>
            </p:spPr>
            <p:txBody>
              <a:bodyPr wrap="none" lIns="45720" rIns="45720" anchor="ctr"/>
              <a:lstStyle/>
              <a:p>
                <a:pPr algn="ctr"/>
                <a:r>
                  <a:rPr lang="en-US">
                    <a:latin typeface="Courier New" charset="0"/>
                  </a:rPr>
                  <a:t>+</a:t>
                </a:r>
              </a:p>
            </p:txBody>
          </p:sp>
          <p:sp>
            <p:nvSpPr>
              <p:cNvPr id="185" name="Line 256"/>
              <p:cNvSpPr>
                <a:spLocks noChangeShapeType="1"/>
              </p:cNvSpPr>
              <p:nvPr/>
            </p:nvSpPr>
            <p:spPr bwMode="auto">
              <a:xfrm>
                <a:off x="720" y="864"/>
                <a:ext cx="144" cy="144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6" name="Line 257"/>
              <p:cNvSpPr>
                <a:spLocks noChangeShapeType="1"/>
              </p:cNvSpPr>
              <p:nvPr/>
            </p:nvSpPr>
            <p:spPr bwMode="auto">
              <a:xfrm flipV="1">
                <a:off x="720" y="1200"/>
                <a:ext cx="144" cy="192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7" name="Line 258"/>
              <p:cNvSpPr>
                <a:spLocks noChangeShapeType="1"/>
              </p:cNvSpPr>
              <p:nvPr/>
            </p:nvSpPr>
            <p:spPr bwMode="auto">
              <a:xfrm rot="5400000" flipV="1">
                <a:off x="984" y="1224"/>
                <a:ext cx="192" cy="144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76" name="Text Box 259"/>
            <p:cNvSpPr txBox="1">
              <a:spLocks noChangeArrowheads="1"/>
            </p:cNvSpPr>
            <p:nvPr/>
          </p:nvSpPr>
          <p:spPr bwMode="auto">
            <a:xfrm>
              <a:off x="7642235" y="1870986"/>
              <a:ext cx="10158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lIns="45720" r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Courier New" charset="0"/>
                </a:rPr>
                <a:t>%ymm0</a:t>
              </a:r>
            </a:p>
          </p:txBody>
        </p:sp>
        <p:sp>
          <p:nvSpPr>
            <p:cNvPr id="177" name="Text Box 260"/>
            <p:cNvSpPr txBox="1">
              <a:spLocks noChangeArrowheads="1"/>
            </p:cNvSpPr>
            <p:nvPr/>
          </p:nvSpPr>
          <p:spPr bwMode="auto">
            <a:xfrm>
              <a:off x="7675572" y="2977473"/>
              <a:ext cx="10158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lIns="45720" r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Courier New" charset="0"/>
                </a:rPr>
                <a:t>%ymm1</a:t>
              </a:r>
            </a:p>
          </p:txBody>
        </p:sp>
        <p:sp>
          <p:nvSpPr>
            <p:cNvPr id="178" name="Text Box 261"/>
            <p:cNvSpPr txBox="1">
              <a:spLocks noChangeArrowheads="1"/>
            </p:cNvSpPr>
            <p:nvPr/>
          </p:nvSpPr>
          <p:spPr bwMode="auto">
            <a:xfrm>
              <a:off x="2659072" y="1409321"/>
              <a:ext cx="489442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lIns="45720" r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r>
                <a:rPr lang="en-US" dirty="0" err="1">
                  <a:latin typeface="Courier New" charset="0"/>
                </a:rPr>
                <a:t>vaddpd</a:t>
              </a:r>
              <a:r>
                <a:rPr lang="en-US" dirty="0">
                  <a:latin typeface="Courier New" charset="0"/>
                </a:rPr>
                <a:t> %ymm0, %ymm1, %ymm1</a:t>
              </a:r>
            </a:p>
          </p:txBody>
        </p:sp>
        <p:grpSp>
          <p:nvGrpSpPr>
            <p:cNvPr id="179" name="Group 178"/>
            <p:cNvGrpSpPr/>
            <p:nvPr/>
          </p:nvGrpSpPr>
          <p:grpSpPr>
            <a:xfrm>
              <a:off x="220672" y="3048000"/>
              <a:ext cx="7315200" cy="304800"/>
              <a:chOff x="220672" y="1869398"/>
              <a:chExt cx="7315200" cy="304800"/>
            </a:xfrm>
          </p:grpSpPr>
          <p:sp>
            <p:nvSpPr>
              <p:cNvPr id="180" name="Rectangle 213"/>
              <p:cNvSpPr>
                <a:spLocks noChangeArrowheads="1"/>
              </p:cNvSpPr>
              <p:nvPr/>
            </p:nvSpPr>
            <p:spPr bwMode="auto">
              <a:xfrm>
                <a:off x="220672" y="1869398"/>
                <a:ext cx="1828800" cy="304800"/>
              </a:xfrm>
              <a:prstGeom prst="rect">
                <a:avLst/>
              </a:prstGeom>
              <a:solidFill>
                <a:srgbClr val="CBDBFF"/>
              </a:solidFill>
              <a:ln w="28575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1" name="Rectangle 214"/>
              <p:cNvSpPr>
                <a:spLocks noChangeArrowheads="1"/>
              </p:cNvSpPr>
              <p:nvPr/>
            </p:nvSpPr>
            <p:spPr bwMode="auto">
              <a:xfrm>
                <a:off x="2049472" y="1869398"/>
                <a:ext cx="1828800" cy="304800"/>
              </a:xfrm>
              <a:prstGeom prst="rect">
                <a:avLst/>
              </a:prstGeom>
              <a:solidFill>
                <a:srgbClr val="CBDBFF"/>
              </a:solidFill>
              <a:ln w="28575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" name="Rectangle 215"/>
              <p:cNvSpPr>
                <a:spLocks noChangeArrowheads="1"/>
              </p:cNvSpPr>
              <p:nvPr/>
            </p:nvSpPr>
            <p:spPr bwMode="auto">
              <a:xfrm>
                <a:off x="3878272" y="1869398"/>
                <a:ext cx="1828800" cy="304800"/>
              </a:xfrm>
              <a:prstGeom prst="rect">
                <a:avLst/>
              </a:prstGeom>
              <a:solidFill>
                <a:srgbClr val="CBDBFF"/>
              </a:solidFill>
              <a:ln w="28575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" name="Rectangle 216"/>
              <p:cNvSpPr>
                <a:spLocks noChangeArrowheads="1"/>
              </p:cNvSpPr>
              <p:nvPr/>
            </p:nvSpPr>
            <p:spPr bwMode="auto">
              <a:xfrm>
                <a:off x="5707072" y="1869398"/>
                <a:ext cx="1828800" cy="304800"/>
              </a:xfrm>
              <a:prstGeom prst="rect">
                <a:avLst/>
              </a:prstGeom>
              <a:solidFill>
                <a:srgbClr val="CBDBFF"/>
              </a:solidFill>
              <a:ln w="28575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04" name="Group 203"/>
          <p:cNvGrpSpPr/>
          <p:nvPr/>
        </p:nvGrpSpPr>
        <p:grpSpPr>
          <a:xfrm>
            <a:off x="246821" y="1295400"/>
            <a:ext cx="8471268" cy="2029817"/>
            <a:chOff x="251960" y="3810000"/>
            <a:chExt cx="8471268" cy="2029817"/>
          </a:xfrm>
        </p:grpSpPr>
        <p:sp>
          <p:nvSpPr>
            <p:cNvPr id="205" name="Text Box 259"/>
            <p:cNvSpPr txBox="1">
              <a:spLocks noChangeArrowheads="1"/>
            </p:cNvSpPr>
            <p:nvPr/>
          </p:nvSpPr>
          <p:spPr bwMode="auto">
            <a:xfrm>
              <a:off x="7674078" y="4271665"/>
              <a:ext cx="10158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lIns="45720" r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Courier New" charset="0"/>
                </a:rPr>
                <a:t>%ymm0</a:t>
              </a:r>
            </a:p>
          </p:txBody>
        </p:sp>
        <p:sp>
          <p:nvSpPr>
            <p:cNvPr id="206" name="Text Box 260"/>
            <p:cNvSpPr txBox="1">
              <a:spLocks noChangeArrowheads="1"/>
            </p:cNvSpPr>
            <p:nvPr/>
          </p:nvSpPr>
          <p:spPr bwMode="auto">
            <a:xfrm>
              <a:off x="7707415" y="5378152"/>
              <a:ext cx="10158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lIns="45720" r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Courier New" charset="0"/>
                </a:rPr>
                <a:t>%ymm1</a:t>
              </a:r>
            </a:p>
          </p:txBody>
        </p:sp>
        <p:sp>
          <p:nvSpPr>
            <p:cNvPr id="207" name="Text Box 261"/>
            <p:cNvSpPr txBox="1">
              <a:spLocks noChangeArrowheads="1"/>
            </p:cNvSpPr>
            <p:nvPr/>
          </p:nvSpPr>
          <p:spPr bwMode="auto">
            <a:xfrm>
              <a:off x="2690915" y="3810000"/>
              <a:ext cx="489442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lIns="45720" r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r>
                <a:rPr lang="en-US" dirty="0" err="1">
                  <a:latin typeface="Courier New" charset="0"/>
                </a:rPr>
                <a:t>vaddsd</a:t>
              </a:r>
              <a:r>
                <a:rPr lang="en-US" dirty="0">
                  <a:latin typeface="Courier New" charset="0"/>
                </a:rPr>
                <a:t> %ymm0, %ymm1, %ymm1</a:t>
              </a:r>
            </a:p>
          </p:txBody>
        </p:sp>
        <p:grpSp>
          <p:nvGrpSpPr>
            <p:cNvPr id="208" name="Group 207"/>
            <p:cNvGrpSpPr/>
            <p:nvPr/>
          </p:nvGrpSpPr>
          <p:grpSpPr>
            <a:xfrm>
              <a:off x="251960" y="4343400"/>
              <a:ext cx="7312428" cy="1447800"/>
              <a:chOff x="251960" y="4267200"/>
              <a:chExt cx="7312428" cy="1447800"/>
            </a:xfrm>
          </p:grpSpPr>
          <p:grpSp>
            <p:nvGrpSpPr>
              <p:cNvPr id="209" name="Group 208"/>
              <p:cNvGrpSpPr/>
              <p:nvPr/>
            </p:nvGrpSpPr>
            <p:grpSpPr>
              <a:xfrm>
                <a:off x="252515" y="4267200"/>
                <a:ext cx="7311873" cy="304800"/>
                <a:chOff x="252515" y="4369406"/>
                <a:chExt cx="7311873" cy="304800"/>
              </a:xfrm>
            </p:grpSpPr>
            <p:grpSp>
              <p:nvGrpSpPr>
                <p:cNvPr id="263" name="Group 262"/>
                <p:cNvGrpSpPr/>
                <p:nvPr/>
              </p:nvGrpSpPr>
              <p:grpSpPr>
                <a:xfrm>
                  <a:off x="252515" y="4369406"/>
                  <a:ext cx="1828800" cy="304800"/>
                  <a:chOff x="252515" y="4305679"/>
                  <a:chExt cx="3657600" cy="304800"/>
                </a:xfrm>
              </p:grpSpPr>
              <p:sp>
                <p:nvSpPr>
                  <p:cNvPr id="273" name="Rectangle 213"/>
                  <p:cNvSpPr>
                    <a:spLocks noChangeArrowheads="1"/>
                  </p:cNvSpPr>
                  <p:nvPr/>
                </p:nvSpPr>
                <p:spPr bwMode="auto">
                  <a:xfrm>
                    <a:off x="2525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74" name="Rectangle 214"/>
                  <p:cNvSpPr>
                    <a:spLocks noChangeArrowheads="1"/>
                  </p:cNvSpPr>
                  <p:nvPr/>
                </p:nvSpPr>
                <p:spPr bwMode="auto">
                  <a:xfrm>
                    <a:off x="20813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64" name="Group 263"/>
                <p:cNvGrpSpPr/>
                <p:nvPr/>
              </p:nvGrpSpPr>
              <p:grpSpPr>
                <a:xfrm>
                  <a:off x="2080206" y="4369406"/>
                  <a:ext cx="1828800" cy="304800"/>
                  <a:chOff x="252515" y="4305679"/>
                  <a:chExt cx="3657600" cy="304800"/>
                </a:xfrm>
              </p:grpSpPr>
              <p:sp>
                <p:nvSpPr>
                  <p:cNvPr id="271" name="Rectangle 213"/>
                  <p:cNvSpPr>
                    <a:spLocks noChangeArrowheads="1"/>
                  </p:cNvSpPr>
                  <p:nvPr/>
                </p:nvSpPr>
                <p:spPr bwMode="auto">
                  <a:xfrm>
                    <a:off x="2525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72" name="Rectangle 214"/>
                  <p:cNvSpPr>
                    <a:spLocks noChangeArrowheads="1"/>
                  </p:cNvSpPr>
                  <p:nvPr/>
                </p:nvSpPr>
                <p:spPr bwMode="auto">
                  <a:xfrm>
                    <a:off x="20813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65" name="Group 264"/>
                <p:cNvGrpSpPr/>
                <p:nvPr/>
              </p:nvGrpSpPr>
              <p:grpSpPr>
                <a:xfrm>
                  <a:off x="3907897" y="4369406"/>
                  <a:ext cx="1828800" cy="304800"/>
                  <a:chOff x="252515" y="4305679"/>
                  <a:chExt cx="3657600" cy="304800"/>
                </a:xfrm>
              </p:grpSpPr>
              <p:sp>
                <p:nvSpPr>
                  <p:cNvPr id="269" name="Rectangle 213"/>
                  <p:cNvSpPr>
                    <a:spLocks noChangeArrowheads="1"/>
                  </p:cNvSpPr>
                  <p:nvPr/>
                </p:nvSpPr>
                <p:spPr bwMode="auto">
                  <a:xfrm>
                    <a:off x="2525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70" name="Rectangle 214"/>
                  <p:cNvSpPr>
                    <a:spLocks noChangeArrowheads="1"/>
                  </p:cNvSpPr>
                  <p:nvPr/>
                </p:nvSpPr>
                <p:spPr bwMode="auto">
                  <a:xfrm>
                    <a:off x="20813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66" name="Group 265"/>
                <p:cNvGrpSpPr/>
                <p:nvPr/>
              </p:nvGrpSpPr>
              <p:grpSpPr>
                <a:xfrm>
                  <a:off x="5735588" y="4369406"/>
                  <a:ext cx="1828800" cy="304800"/>
                  <a:chOff x="252515" y="4305679"/>
                  <a:chExt cx="3657600" cy="304800"/>
                </a:xfrm>
              </p:grpSpPr>
              <p:sp>
                <p:nvSpPr>
                  <p:cNvPr id="267" name="Rectangle 213"/>
                  <p:cNvSpPr>
                    <a:spLocks noChangeArrowheads="1"/>
                  </p:cNvSpPr>
                  <p:nvPr/>
                </p:nvSpPr>
                <p:spPr bwMode="auto">
                  <a:xfrm>
                    <a:off x="2525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68" name="Rectangle 214"/>
                  <p:cNvSpPr>
                    <a:spLocks noChangeArrowheads="1"/>
                  </p:cNvSpPr>
                  <p:nvPr/>
                </p:nvSpPr>
                <p:spPr bwMode="auto">
                  <a:xfrm>
                    <a:off x="20813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10" name="Group 209"/>
              <p:cNvGrpSpPr/>
              <p:nvPr/>
            </p:nvGrpSpPr>
            <p:grpSpPr>
              <a:xfrm>
                <a:off x="251960" y="5410200"/>
                <a:ext cx="7311873" cy="304800"/>
                <a:chOff x="252515" y="4369406"/>
                <a:chExt cx="7311873" cy="304800"/>
              </a:xfrm>
            </p:grpSpPr>
            <p:grpSp>
              <p:nvGrpSpPr>
                <p:cNvPr id="251" name="Group 250"/>
                <p:cNvGrpSpPr/>
                <p:nvPr/>
              </p:nvGrpSpPr>
              <p:grpSpPr>
                <a:xfrm>
                  <a:off x="252515" y="4369406"/>
                  <a:ext cx="1828800" cy="304800"/>
                  <a:chOff x="252515" y="4305679"/>
                  <a:chExt cx="3657600" cy="304800"/>
                </a:xfrm>
              </p:grpSpPr>
              <p:sp>
                <p:nvSpPr>
                  <p:cNvPr id="261" name="Rectangle 213"/>
                  <p:cNvSpPr>
                    <a:spLocks noChangeArrowheads="1"/>
                  </p:cNvSpPr>
                  <p:nvPr/>
                </p:nvSpPr>
                <p:spPr bwMode="auto">
                  <a:xfrm>
                    <a:off x="2525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62" name="Rectangle 214"/>
                  <p:cNvSpPr>
                    <a:spLocks noChangeArrowheads="1"/>
                  </p:cNvSpPr>
                  <p:nvPr/>
                </p:nvSpPr>
                <p:spPr bwMode="auto">
                  <a:xfrm>
                    <a:off x="20813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52" name="Group 251"/>
                <p:cNvGrpSpPr/>
                <p:nvPr/>
              </p:nvGrpSpPr>
              <p:grpSpPr>
                <a:xfrm>
                  <a:off x="2080206" y="4369406"/>
                  <a:ext cx="1828800" cy="304800"/>
                  <a:chOff x="252515" y="4305679"/>
                  <a:chExt cx="3657600" cy="304800"/>
                </a:xfrm>
              </p:grpSpPr>
              <p:sp>
                <p:nvSpPr>
                  <p:cNvPr id="259" name="Rectangle 213"/>
                  <p:cNvSpPr>
                    <a:spLocks noChangeArrowheads="1"/>
                  </p:cNvSpPr>
                  <p:nvPr/>
                </p:nvSpPr>
                <p:spPr bwMode="auto">
                  <a:xfrm>
                    <a:off x="2525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60" name="Rectangle 214"/>
                  <p:cNvSpPr>
                    <a:spLocks noChangeArrowheads="1"/>
                  </p:cNvSpPr>
                  <p:nvPr/>
                </p:nvSpPr>
                <p:spPr bwMode="auto">
                  <a:xfrm>
                    <a:off x="20813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53" name="Group 252"/>
                <p:cNvGrpSpPr/>
                <p:nvPr/>
              </p:nvGrpSpPr>
              <p:grpSpPr>
                <a:xfrm>
                  <a:off x="3907897" y="4369406"/>
                  <a:ext cx="1828800" cy="304800"/>
                  <a:chOff x="252515" y="4305679"/>
                  <a:chExt cx="3657600" cy="304800"/>
                </a:xfrm>
              </p:grpSpPr>
              <p:sp>
                <p:nvSpPr>
                  <p:cNvPr id="257" name="Rectangle 213"/>
                  <p:cNvSpPr>
                    <a:spLocks noChangeArrowheads="1"/>
                  </p:cNvSpPr>
                  <p:nvPr/>
                </p:nvSpPr>
                <p:spPr bwMode="auto">
                  <a:xfrm>
                    <a:off x="2525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8" name="Rectangle 214"/>
                  <p:cNvSpPr>
                    <a:spLocks noChangeArrowheads="1"/>
                  </p:cNvSpPr>
                  <p:nvPr/>
                </p:nvSpPr>
                <p:spPr bwMode="auto">
                  <a:xfrm>
                    <a:off x="20813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54" name="Group 253"/>
                <p:cNvGrpSpPr/>
                <p:nvPr/>
              </p:nvGrpSpPr>
              <p:grpSpPr>
                <a:xfrm>
                  <a:off x="5735588" y="4369406"/>
                  <a:ext cx="1828800" cy="304800"/>
                  <a:chOff x="252515" y="4305679"/>
                  <a:chExt cx="3657600" cy="304800"/>
                </a:xfrm>
              </p:grpSpPr>
              <p:sp>
                <p:nvSpPr>
                  <p:cNvPr id="255" name="Rectangle 213"/>
                  <p:cNvSpPr>
                    <a:spLocks noChangeArrowheads="1"/>
                  </p:cNvSpPr>
                  <p:nvPr/>
                </p:nvSpPr>
                <p:spPr bwMode="auto">
                  <a:xfrm>
                    <a:off x="2525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6" name="Rectangle 214"/>
                  <p:cNvSpPr>
                    <a:spLocks noChangeArrowheads="1"/>
                  </p:cNvSpPr>
                  <p:nvPr/>
                </p:nvSpPr>
                <p:spPr bwMode="auto">
                  <a:xfrm>
                    <a:off x="2081315" y="4305679"/>
                    <a:ext cx="1828800" cy="304800"/>
                  </a:xfrm>
                  <a:prstGeom prst="rect">
                    <a:avLst/>
                  </a:prstGeom>
                  <a:solidFill>
                    <a:srgbClr val="CBDBFF"/>
                  </a:solidFill>
                  <a:ln w="28575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11" name="Group 239"/>
              <p:cNvGrpSpPr>
                <a:grpSpLocks/>
              </p:cNvGrpSpPr>
              <p:nvPr/>
            </p:nvGrpSpPr>
            <p:grpSpPr bwMode="auto">
              <a:xfrm>
                <a:off x="380999" y="4572000"/>
                <a:ext cx="685801" cy="838200"/>
                <a:chOff x="720" y="864"/>
                <a:chExt cx="432" cy="528"/>
              </a:xfrm>
            </p:grpSpPr>
            <p:sp>
              <p:nvSpPr>
                <p:cNvPr id="247" name="Oval 240"/>
                <p:cNvSpPr>
                  <a:spLocks noChangeArrowheads="1"/>
                </p:cNvSpPr>
                <p:nvPr/>
              </p:nvSpPr>
              <p:spPr bwMode="auto">
                <a:xfrm>
                  <a:off x="816" y="1008"/>
                  <a:ext cx="215" cy="21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2"/>
                  </a:solidFill>
                  <a:round/>
                  <a:headEnd/>
                  <a:tailEnd type="none" w="sm" len="sm"/>
                </a:ln>
              </p:spPr>
              <p:txBody>
                <a:bodyPr wrap="none" lIns="45720" rIns="45720" anchor="ctr"/>
                <a:lstStyle/>
                <a:p>
                  <a:pPr algn="ctr"/>
                  <a:r>
                    <a:rPr lang="en-US" dirty="0">
                      <a:latin typeface="Courier New" charset="0"/>
                    </a:rPr>
                    <a:t>+</a:t>
                  </a:r>
                </a:p>
              </p:txBody>
            </p:sp>
            <p:sp>
              <p:nvSpPr>
                <p:cNvPr id="248" name="Line 241"/>
                <p:cNvSpPr>
                  <a:spLocks noChangeShapeType="1"/>
                </p:cNvSpPr>
                <p:nvPr/>
              </p:nvSpPr>
              <p:spPr bwMode="auto">
                <a:xfrm>
                  <a:off x="720" y="864"/>
                  <a:ext cx="144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9" name="Line 242"/>
                <p:cNvSpPr>
                  <a:spLocks noChangeShapeType="1"/>
                </p:cNvSpPr>
                <p:nvPr/>
              </p:nvSpPr>
              <p:spPr bwMode="auto">
                <a:xfrm flipV="1">
                  <a:off x="720" y="1200"/>
                  <a:ext cx="144" cy="19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0" name="Line 243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984" y="1224"/>
                  <a:ext cx="192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2" name="Group 239"/>
              <p:cNvGrpSpPr>
                <a:grpSpLocks/>
              </p:cNvGrpSpPr>
              <p:nvPr/>
            </p:nvGrpSpPr>
            <p:grpSpPr bwMode="auto">
              <a:xfrm>
                <a:off x="1295399" y="4572000"/>
                <a:ext cx="685801" cy="838200"/>
                <a:chOff x="720" y="864"/>
                <a:chExt cx="432" cy="528"/>
              </a:xfrm>
            </p:grpSpPr>
            <p:sp>
              <p:nvSpPr>
                <p:cNvPr id="243" name="Oval 240"/>
                <p:cNvSpPr>
                  <a:spLocks noChangeArrowheads="1"/>
                </p:cNvSpPr>
                <p:nvPr/>
              </p:nvSpPr>
              <p:spPr bwMode="auto">
                <a:xfrm>
                  <a:off x="816" y="1008"/>
                  <a:ext cx="215" cy="21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2"/>
                  </a:solidFill>
                  <a:round/>
                  <a:headEnd/>
                  <a:tailEnd type="none" w="sm" len="sm"/>
                </a:ln>
              </p:spPr>
              <p:txBody>
                <a:bodyPr wrap="none" lIns="45720" rIns="45720" anchor="ctr"/>
                <a:lstStyle/>
                <a:p>
                  <a:pPr algn="ctr"/>
                  <a:r>
                    <a:rPr lang="en-US" dirty="0">
                      <a:latin typeface="Courier New" charset="0"/>
                    </a:rPr>
                    <a:t>+</a:t>
                  </a:r>
                </a:p>
              </p:txBody>
            </p:sp>
            <p:sp>
              <p:nvSpPr>
                <p:cNvPr id="244" name="Line 241"/>
                <p:cNvSpPr>
                  <a:spLocks noChangeShapeType="1"/>
                </p:cNvSpPr>
                <p:nvPr/>
              </p:nvSpPr>
              <p:spPr bwMode="auto">
                <a:xfrm>
                  <a:off x="720" y="864"/>
                  <a:ext cx="144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5" name="Line 242"/>
                <p:cNvSpPr>
                  <a:spLocks noChangeShapeType="1"/>
                </p:cNvSpPr>
                <p:nvPr/>
              </p:nvSpPr>
              <p:spPr bwMode="auto">
                <a:xfrm flipV="1">
                  <a:off x="720" y="1200"/>
                  <a:ext cx="144" cy="19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6" name="Line 243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984" y="1224"/>
                  <a:ext cx="192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3" name="Group 239"/>
              <p:cNvGrpSpPr>
                <a:grpSpLocks/>
              </p:cNvGrpSpPr>
              <p:nvPr/>
            </p:nvGrpSpPr>
            <p:grpSpPr bwMode="auto">
              <a:xfrm>
                <a:off x="2209799" y="4572000"/>
                <a:ext cx="685801" cy="838200"/>
                <a:chOff x="720" y="864"/>
                <a:chExt cx="432" cy="528"/>
              </a:xfrm>
            </p:grpSpPr>
            <p:sp>
              <p:nvSpPr>
                <p:cNvPr id="239" name="Oval 240"/>
                <p:cNvSpPr>
                  <a:spLocks noChangeArrowheads="1"/>
                </p:cNvSpPr>
                <p:nvPr/>
              </p:nvSpPr>
              <p:spPr bwMode="auto">
                <a:xfrm>
                  <a:off x="816" y="1008"/>
                  <a:ext cx="215" cy="21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2"/>
                  </a:solidFill>
                  <a:round/>
                  <a:headEnd/>
                  <a:tailEnd type="none" w="sm" len="sm"/>
                </a:ln>
              </p:spPr>
              <p:txBody>
                <a:bodyPr wrap="none" lIns="45720" rIns="45720" anchor="ctr"/>
                <a:lstStyle/>
                <a:p>
                  <a:pPr algn="ctr"/>
                  <a:r>
                    <a:rPr lang="en-US" dirty="0">
                      <a:latin typeface="Courier New" charset="0"/>
                    </a:rPr>
                    <a:t>+</a:t>
                  </a:r>
                </a:p>
              </p:txBody>
            </p:sp>
            <p:sp>
              <p:nvSpPr>
                <p:cNvPr id="240" name="Line 241"/>
                <p:cNvSpPr>
                  <a:spLocks noChangeShapeType="1"/>
                </p:cNvSpPr>
                <p:nvPr/>
              </p:nvSpPr>
              <p:spPr bwMode="auto">
                <a:xfrm>
                  <a:off x="720" y="864"/>
                  <a:ext cx="144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1" name="Line 242"/>
                <p:cNvSpPr>
                  <a:spLocks noChangeShapeType="1"/>
                </p:cNvSpPr>
                <p:nvPr/>
              </p:nvSpPr>
              <p:spPr bwMode="auto">
                <a:xfrm flipV="1">
                  <a:off x="720" y="1200"/>
                  <a:ext cx="144" cy="19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2" name="Line 243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984" y="1224"/>
                  <a:ext cx="192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4" name="Group 239"/>
              <p:cNvGrpSpPr>
                <a:grpSpLocks/>
              </p:cNvGrpSpPr>
              <p:nvPr/>
            </p:nvGrpSpPr>
            <p:grpSpPr bwMode="auto">
              <a:xfrm>
                <a:off x="3124199" y="4572000"/>
                <a:ext cx="685801" cy="838200"/>
                <a:chOff x="720" y="864"/>
                <a:chExt cx="432" cy="528"/>
              </a:xfrm>
            </p:grpSpPr>
            <p:sp>
              <p:nvSpPr>
                <p:cNvPr id="235" name="Oval 240"/>
                <p:cNvSpPr>
                  <a:spLocks noChangeArrowheads="1"/>
                </p:cNvSpPr>
                <p:nvPr/>
              </p:nvSpPr>
              <p:spPr bwMode="auto">
                <a:xfrm>
                  <a:off x="816" y="1008"/>
                  <a:ext cx="215" cy="21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2"/>
                  </a:solidFill>
                  <a:round/>
                  <a:headEnd/>
                  <a:tailEnd type="none" w="sm" len="sm"/>
                </a:ln>
              </p:spPr>
              <p:txBody>
                <a:bodyPr wrap="none" lIns="45720" rIns="45720" anchor="ctr"/>
                <a:lstStyle/>
                <a:p>
                  <a:pPr algn="ctr"/>
                  <a:r>
                    <a:rPr lang="en-US" dirty="0">
                      <a:latin typeface="Courier New" charset="0"/>
                    </a:rPr>
                    <a:t>+</a:t>
                  </a:r>
                </a:p>
              </p:txBody>
            </p:sp>
            <p:sp>
              <p:nvSpPr>
                <p:cNvPr id="236" name="Line 241"/>
                <p:cNvSpPr>
                  <a:spLocks noChangeShapeType="1"/>
                </p:cNvSpPr>
                <p:nvPr/>
              </p:nvSpPr>
              <p:spPr bwMode="auto">
                <a:xfrm>
                  <a:off x="720" y="864"/>
                  <a:ext cx="144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37" name="Line 242"/>
                <p:cNvSpPr>
                  <a:spLocks noChangeShapeType="1"/>
                </p:cNvSpPr>
                <p:nvPr/>
              </p:nvSpPr>
              <p:spPr bwMode="auto">
                <a:xfrm flipV="1">
                  <a:off x="720" y="1200"/>
                  <a:ext cx="144" cy="19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38" name="Line 243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984" y="1224"/>
                  <a:ext cx="192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5" name="Group 239"/>
              <p:cNvGrpSpPr>
                <a:grpSpLocks/>
              </p:cNvGrpSpPr>
              <p:nvPr/>
            </p:nvGrpSpPr>
            <p:grpSpPr bwMode="auto">
              <a:xfrm>
                <a:off x="4038599" y="4572000"/>
                <a:ext cx="685801" cy="838200"/>
                <a:chOff x="720" y="864"/>
                <a:chExt cx="432" cy="528"/>
              </a:xfrm>
            </p:grpSpPr>
            <p:sp>
              <p:nvSpPr>
                <p:cNvPr id="231" name="Oval 240"/>
                <p:cNvSpPr>
                  <a:spLocks noChangeArrowheads="1"/>
                </p:cNvSpPr>
                <p:nvPr/>
              </p:nvSpPr>
              <p:spPr bwMode="auto">
                <a:xfrm>
                  <a:off x="816" y="1008"/>
                  <a:ext cx="215" cy="21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2"/>
                  </a:solidFill>
                  <a:round/>
                  <a:headEnd/>
                  <a:tailEnd type="none" w="sm" len="sm"/>
                </a:ln>
              </p:spPr>
              <p:txBody>
                <a:bodyPr wrap="none" lIns="45720" rIns="45720" anchor="ctr"/>
                <a:lstStyle/>
                <a:p>
                  <a:pPr algn="ctr"/>
                  <a:r>
                    <a:rPr lang="en-US" dirty="0">
                      <a:latin typeface="Courier New" charset="0"/>
                    </a:rPr>
                    <a:t>+</a:t>
                  </a:r>
                </a:p>
              </p:txBody>
            </p:sp>
            <p:sp>
              <p:nvSpPr>
                <p:cNvPr id="232" name="Line 241"/>
                <p:cNvSpPr>
                  <a:spLocks noChangeShapeType="1"/>
                </p:cNvSpPr>
                <p:nvPr/>
              </p:nvSpPr>
              <p:spPr bwMode="auto">
                <a:xfrm>
                  <a:off x="720" y="864"/>
                  <a:ext cx="144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33" name="Line 242"/>
                <p:cNvSpPr>
                  <a:spLocks noChangeShapeType="1"/>
                </p:cNvSpPr>
                <p:nvPr/>
              </p:nvSpPr>
              <p:spPr bwMode="auto">
                <a:xfrm flipV="1">
                  <a:off x="720" y="1200"/>
                  <a:ext cx="144" cy="19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34" name="Line 243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984" y="1224"/>
                  <a:ext cx="192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6" name="Group 239"/>
              <p:cNvGrpSpPr>
                <a:grpSpLocks/>
              </p:cNvGrpSpPr>
              <p:nvPr/>
            </p:nvGrpSpPr>
            <p:grpSpPr bwMode="auto">
              <a:xfrm>
                <a:off x="4952999" y="4572000"/>
                <a:ext cx="685801" cy="838200"/>
                <a:chOff x="720" y="864"/>
                <a:chExt cx="432" cy="528"/>
              </a:xfrm>
            </p:grpSpPr>
            <p:sp>
              <p:nvSpPr>
                <p:cNvPr id="227" name="Oval 240"/>
                <p:cNvSpPr>
                  <a:spLocks noChangeArrowheads="1"/>
                </p:cNvSpPr>
                <p:nvPr/>
              </p:nvSpPr>
              <p:spPr bwMode="auto">
                <a:xfrm>
                  <a:off x="816" y="1008"/>
                  <a:ext cx="215" cy="21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2"/>
                  </a:solidFill>
                  <a:round/>
                  <a:headEnd/>
                  <a:tailEnd type="none" w="sm" len="sm"/>
                </a:ln>
              </p:spPr>
              <p:txBody>
                <a:bodyPr wrap="none" lIns="45720" rIns="45720" anchor="ctr"/>
                <a:lstStyle/>
                <a:p>
                  <a:pPr algn="ctr"/>
                  <a:r>
                    <a:rPr lang="en-US" dirty="0">
                      <a:latin typeface="Courier New" charset="0"/>
                    </a:rPr>
                    <a:t>+</a:t>
                  </a:r>
                </a:p>
              </p:txBody>
            </p:sp>
            <p:sp>
              <p:nvSpPr>
                <p:cNvPr id="228" name="Line 241"/>
                <p:cNvSpPr>
                  <a:spLocks noChangeShapeType="1"/>
                </p:cNvSpPr>
                <p:nvPr/>
              </p:nvSpPr>
              <p:spPr bwMode="auto">
                <a:xfrm>
                  <a:off x="720" y="864"/>
                  <a:ext cx="144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29" name="Line 242"/>
                <p:cNvSpPr>
                  <a:spLocks noChangeShapeType="1"/>
                </p:cNvSpPr>
                <p:nvPr/>
              </p:nvSpPr>
              <p:spPr bwMode="auto">
                <a:xfrm flipV="1">
                  <a:off x="720" y="1200"/>
                  <a:ext cx="144" cy="19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30" name="Line 243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984" y="1224"/>
                  <a:ext cx="192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7" name="Group 239"/>
              <p:cNvGrpSpPr>
                <a:grpSpLocks/>
              </p:cNvGrpSpPr>
              <p:nvPr/>
            </p:nvGrpSpPr>
            <p:grpSpPr bwMode="auto">
              <a:xfrm>
                <a:off x="5867399" y="4572000"/>
                <a:ext cx="685801" cy="838200"/>
                <a:chOff x="720" y="864"/>
                <a:chExt cx="432" cy="528"/>
              </a:xfrm>
            </p:grpSpPr>
            <p:sp>
              <p:nvSpPr>
                <p:cNvPr id="223" name="Oval 240"/>
                <p:cNvSpPr>
                  <a:spLocks noChangeArrowheads="1"/>
                </p:cNvSpPr>
                <p:nvPr/>
              </p:nvSpPr>
              <p:spPr bwMode="auto">
                <a:xfrm>
                  <a:off x="816" y="1008"/>
                  <a:ext cx="215" cy="21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2"/>
                  </a:solidFill>
                  <a:round/>
                  <a:headEnd/>
                  <a:tailEnd type="none" w="sm" len="sm"/>
                </a:ln>
              </p:spPr>
              <p:txBody>
                <a:bodyPr wrap="none" lIns="45720" rIns="45720" anchor="ctr"/>
                <a:lstStyle/>
                <a:p>
                  <a:pPr algn="ctr"/>
                  <a:r>
                    <a:rPr lang="en-US" dirty="0">
                      <a:latin typeface="Courier New" charset="0"/>
                    </a:rPr>
                    <a:t>+</a:t>
                  </a:r>
                </a:p>
              </p:txBody>
            </p:sp>
            <p:sp>
              <p:nvSpPr>
                <p:cNvPr id="224" name="Line 241"/>
                <p:cNvSpPr>
                  <a:spLocks noChangeShapeType="1"/>
                </p:cNvSpPr>
                <p:nvPr/>
              </p:nvSpPr>
              <p:spPr bwMode="auto">
                <a:xfrm>
                  <a:off x="720" y="864"/>
                  <a:ext cx="144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25" name="Line 242"/>
                <p:cNvSpPr>
                  <a:spLocks noChangeShapeType="1"/>
                </p:cNvSpPr>
                <p:nvPr/>
              </p:nvSpPr>
              <p:spPr bwMode="auto">
                <a:xfrm flipV="1">
                  <a:off x="720" y="1200"/>
                  <a:ext cx="144" cy="19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26" name="Line 243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984" y="1224"/>
                  <a:ext cx="192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8" name="Group 239"/>
              <p:cNvGrpSpPr>
                <a:grpSpLocks/>
              </p:cNvGrpSpPr>
              <p:nvPr/>
            </p:nvGrpSpPr>
            <p:grpSpPr bwMode="auto">
              <a:xfrm>
                <a:off x="6781799" y="4572000"/>
                <a:ext cx="685801" cy="838200"/>
                <a:chOff x="720" y="864"/>
                <a:chExt cx="432" cy="528"/>
              </a:xfrm>
            </p:grpSpPr>
            <p:sp>
              <p:nvSpPr>
                <p:cNvPr id="219" name="Oval 240"/>
                <p:cNvSpPr>
                  <a:spLocks noChangeArrowheads="1"/>
                </p:cNvSpPr>
                <p:nvPr/>
              </p:nvSpPr>
              <p:spPr bwMode="auto">
                <a:xfrm>
                  <a:off x="816" y="1008"/>
                  <a:ext cx="215" cy="21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2"/>
                  </a:solidFill>
                  <a:round/>
                  <a:headEnd/>
                  <a:tailEnd type="none" w="sm" len="sm"/>
                </a:ln>
              </p:spPr>
              <p:txBody>
                <a:bodyPr wrap="none" lIns="45720" rIns="45720" anchor="ctr"/>
                <a:lstStyle/>
                <a:p>
                  <a:pPr algn="ctr"/>
                  <a:r>
                    <a:rPr lang="en-US" dirty="0">
                      <a:latin typeface="Courier New" charset="0"/>
                    </a:rPr>
                    <a:t>+</a:t>
                  </a:r>
                </a:p>
              </p:txBody>
            </p:sp>
            <p:sp>
              <p:nvSpPr>
                <p:cNvPr id="220" name="Line 241"/>
                <p:cNvSpPr>
                  <a:spLocks noChangeShapeType="1"/>
                </p:cNvSpPr>
                <p:nvPr/>
              </p:nvSpPr>
              <p:spPr bwMode="auto">
                <a:xfrm>
                  <a:off x="720" y="864"/>
                  <a:ext cx="144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21" name="Line 242"/>
                <p:cNvSpPr>
                  <a:spLocks noChangeShapeType="1"/>
                </p:cNvSpPr>
                <p:nvPr/>
              </p:nvSpPr>
              <p:spPr bwMode="auto">
                <a:xfrm flipV="1">
                  <a:off x="720" y="1200"/>
                  <a:ext cx="144" cy="19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22" name="Line 243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984" y="1224"/>
                  <a:ext cx="192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8820541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2" name="Rectangle 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Using Vector Instructions</a:t>
            </a:r>
          </a:p>
        </p:txBody>
      </p:sp>
      <p:sp>
        <p:nvSpPr>
          <p:cNvPr id="798753" name="Rectangle 33"/>
          <p:cNvSpPr>
            <a:spLocks noGrp="1" noChangeArrowheads="1"/>
          </p:cNvSpPr>
          <p:nvPr>
            <p:ph type="body" idx="1"/>
          </p:nvPr>
        </p:nvSpPr>
        <p:spPr>
          <a:xfrm>
            <a:off x="290513" y="4603750"/>
            <a:ext cx="8307387" cy="18732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Make use of AVX Instructions</a:t>
            </a:r>
          </a:p>
          <a:p>
            <a:pPr lvl="1" eaLnBrk="1" hangingPunct="1">
              <a:defRPr/>
            </a:pPr>
            <a:r>
              <a:rPr lang="en-US" dirty="0"/>
              <a:t>Parallel operations on multiple data elements</a:t>
            </a:r>
          </a:p>
          <a:p>
            <a:pPr lvl="1" eaLnBrk="1" hangingPunct="1">
              <a:defRPr/>
            </a:pPr>
            <a:r>
              <a:rPr lang="en-US" dirty="0"/>
              <a:t>See Web Aside OPT:SIMD on CS:APP web page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</p:txBody>
      </p:sp>
      <p:graphicFrame>
        <p:nvGraphicFramePr>
          <p:cNvPr id="7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276137"/>
              </p:ext>
            </p:extLst>
          </p:nvPr>
        </p:nvGraphicFramePr>
        <p:xfrm>
          <a:off x="357016" y="1168527"/>
          <a:ext cx="7796385" cy="2939923"/>
        </p:xfrm>
        <a:graphic>
          <a:graphicData uri="http://schemas.openxmlformats.org/drawingml/2006/table">
            <a:tbl>
              <a:tblPr/>
              <a:tblGrid>
                <a:gridCol w="241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4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4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Method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Integer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Double FP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Operation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Add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Helvetica" pitchFamily="34" charset="0"/>
                        </a:rPr>
                        <a:t>Mult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Scalar Best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0.54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0.52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Vector Best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0.06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0.24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0.25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0.16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Latency Bound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0.50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3.00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5.00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Throughput Bound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0.50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1.00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0.50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Vec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 Throughput Bound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0.06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0.12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0.25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</a:rPr>
                        <a:t>0.12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913" y="1220788"/>
            <a:ext cx="8624887" cy="5140325"/>
          </a:xfrm>
        </p:spPr>
        <p:txBody>
          <a:bodyPr/>
          <a:lstStyle/>
          <a:p>
            <a:pPr marL="284163" indent="-284163" eaLnBrk="1" hangingPunct="1">
              <a:defRPr/>
            </a:pPr>
            <a:r>
              <a:rPr lang="en-US" dirty="0"/>
              <a:t>Challenge</a:t>
            </a:r>
          </a:p>
          <a:p>
            <a:pPr marL="457200" lvl="1" indent="-173038" eaLnBrk="1" hangingPunct="1">
              <a:defRPr/>
            </a:pPr>
            <a:r>
              <a:rPr lang="en-US" dirty="0">
                <a:solidFill>
                  <a:srgbClr val="990000"/>
                </a:solidFill>
              </a:rPr>
              <a:t>Instruction Control Unit </a:t>
            </a:r>
            <a:r>
              <a:rPr lang="en-US" dirty="0"/>
              <a:t>must work well ahead of </a:t>
            </a:r>
            <a:r>
              <a:rPr lang="en-US" dirty="0">
                <a:solidFill>
                  <a:srgbClr val="990000"/>
                </a:solidFill>
              </a:rPr>
              <a:t>Execution Unit</a:t>
            </a:r>
            <a:br>
              <a:rPr lang="en-US" dirty="0"/>
            </a:br>
            <a:r>
              <a:rPr lang="en-US" dirty="0"/>
              <a:t>to generate enough operations to keep EU busy</a:t>
            </a:r>
          </a:p>
          <a:p>
            <a:pPr marL="285750" lvl="1" indent="-171450" eaLnBrk="1" hangingPunct="1">
              <a:defRPr/>
            </a:pPr>
            <a:endParaRPr lang="en-US" dirty="0"/>
          </a:p>
          <a:p>
            <a:pPr marL="285750" lvl="1" indent="-171450" eaLnBrk="1" hangingPunct="1">
              <a:defRPr/>
            </a:pPr>
            <a:endParaRPr lang="en-US" dirty="0"/>
          </a:p>
          <a:p>
            <a:pPr marL="285750" lvl="1" indent="-171450" eaLnBrk="1" hangingPunct="1">
              <a:defRPr/>
            </a:pPr>
            <a:endParaRPr lang="en-US" dirty="0"/>
          </a:p>
          <a:p>
            <a:pPr marL="285750" lvl="1" indent="-171450" eaLnBrk="1" hangingPunct="1">
              <a:defRPr/>
            </a:pPr>
            <a:endParaRPr lang="en-US" dirty="0"/>
          </a:p>
          <a:p>
            <a:pPr marL="285750" lvl="1" indent="-171450" eaLnBrk="1" hangingPunct="1">
              <a:defRPr/>
            </a:pPr>
            <a:endParaRPr lang="en-US" dirty="0"/>
          </a:p>
          <a:p>
            <a:pPr marL="285750" lvl="1" indent="-171450" eaLnBrk="1" hangingPunct="1">
              <a:defRPr/>
            </a:pPr>
            <a:endParaRPr lang="en-US" dirty="0"/>
          </a:p>
          <a:p>
            <a:pPr marL="285750" lvl="1" indent="-171450" eaLnBrk="1" hangingPunct="1">
              <a:defRPr/>
            </a:pPr>
            <a:endParaRPr lang="en-US" dirty="0"/>
          </a:p>
          <a:p>
            <a:pPr marL="457200" lvl="1" indent="-173038">
              <a:defRPr/>
            </a:pPr>
            <a:r>
              <a:rPr lang="en-US" dirty="0"/>
              <a:t>When encounters conditional branch, cannot reliably determine where to continue fetching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143000" y="2506308"/>
            <a:ext cx="4615445" cy="230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404663:  </a:t>
            </a:r>
            <a:r>
              <a:rPr lang="nl-NL" sz="1800" dirty="0" err="1">
                <a:latin typeface="Courier New" pitchFamily="49" charset="0"/>
              </a:rPr>
              <a:t>mov</a:t>
            </a:r>
            <a:r>
              <a:rPr lang="nl-NL" sz="1800" dirty="0">
                <a:latin typeface="Courier New" pitchFamily="49" charset="0"/>
              </a:rPr>
              <a:t>    $0x0,%eax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404668:  </a:t>
            </a:r>
            <a:r>
              <a:rPr lang="nl-NL" sz="1800" dirty="0" err="1">
                <a:latin typeface="Courier New" pitchFamily="49" charset="0"/>
              </a:rPr>
              <a:t>cmp</a:t>
            </a:r>
            <a:r>
              <a:rPr lang="nl-NL" sz="1800" dirty="0">
                <a:latin typeface="Courier New" pitchFamily="49" charset="0"/>
              </a:rPr>
              <a:t>    (%</a:t>
            </a:r>
            <a:r>
              <a:rPr lang="nl-NL" sz="1800" dirty="0" err="1">
                <a:latin typeface="Courier New" pitchFamily="49" charset="0"/>
              </a:rPr>
              <a:t>rdi</a:t>
            </a:r>
            <a:r>
              <a:rPr lang="nl-NL" sz="1800" dirty="0">
                <a:latin typeface="Courier New" pitchFamily="49" charset="0"/>
              </a:rPr>
              <a:t>),%</a:t>
            </a:r>
            <a:r>
              <a:rPr lang="nl-NL" sz="1800" dirty="0" err="1">
                <a:latin typeface="Courier New" pitchFamily="49" charset="0"/>
              </a:rPr>
              <a:t>rsi</a:t>
            </a:r>
            <a:endParaRPr lang="nl-NL" sz="18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</a:t>
            </a:r>
            <a:r>
              <a:rPr lang="nl-NL" sz="1800" i="1" dirty="0">
                <a:latin typeface="Courier New" pitchFamily="49" charset="0"/>
              </a:rPr>
              <a:t>40466b:  </a:t>
            </a:r>
            <a:r>
              <a:rPr lang="nl-NL" sz="1800" i="1" dirty="0" err="1">
                <a:latin typeface="Courier New" pitchFamily="49" charset="0"/>
              </a:rPr>
              <a:t>jge</a:t>
            </a:r>
            <a:r>
              <a:rPr lang="nl-NL" sz="1800" i="1" dirty="0">
                <a:latin typeface="Courier New" pitchFamily="49" charset="0"/>
              </a:rPr>
              <a:t>    404685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40466d:  </a:t>
            </a:r>
            <a:r>
              <a:rPr lang="nl-NL" sz="1800" dirty="0" err="1">
                <a:latin typeface="Courier New" pitchFamily="49" charset="0"/>
              </a:rPr>
              <a:t>mov</a:t>
            </a:r>
            <a:r>
              <a:rPr lang="nl-NL" sz="1800" dirty="0">
                <a:latin typeface="Courier New" pitchFamily="49" charset="0"/>
              </a:rPr>
              <a:t>    0x8(%</a:t>
            </a:r>
            <a:r>
              <a:rPr lang="nl-NL" sz="1800" dirty="0" err="1">
                <a:latin typeface="Courier New" pitchFamily="49" charset="0"/>
              </a:rPr>
              <a:t>rdi</a:t>
            </a:r>
            <a:r>
              <a:rPr lang="nl-NL" sz="1800" dirty="0">
                <a:latin typeface="Courier New" pitchFamily="49" charset="0"/>
              </a:rPr>
              <a:t>),%</a:t>
            </a:r>
            <a:r>
              <a:rPr lang="nl-NL" sz="1800" dirty="0" err="1">
                <a:latin typeface="Courier New" pitchFamily="49" charset="0"/>
              </a:rPr>
              <a:t>rax</a:t>
            </a:r>
            <a:endParaRPr lang="nl-NL" sz="18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 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 . . .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endParaRPr lang="nl-NL" sz="18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404685:  </a:t>
            </a:r>
            <a:r>
              <a:rPr lang="nl-NL" sz="1800" dirty="0" err="1">
                <a:latin typeface="Courier New" pitchFamily="49" charset="0"/>
              </a:rPr>
              <a:t>repz</a:t>
            </a:r>
            <a:r>
              <a:rPr lang="nl-NL" sz="1800" dirty="0">
                <a:latin typeface="Courier New" pitchFamily="49" charset="0"/>
              </a:rPr>
              <a:t> </a:t>
            </a:r>
            <a:r>
              <a:rPr lang="nl-NL" sz="1800" dirty="0" err="1">
                <a:latin typeface="Courier New" pitchFamily="49" charset="0"/>
              </a:rPr>
              <a:t>retq</a:t>
            </a:r>
            <a:endParaRPr lang="nl-NL" sz="1800" dirty="0">
              <a:latin typeface="Courier New" pitchFamily="49" charset="0"/>
            </a:endParaRPr>
          </a:p>
        </p:txBody>
      </p:sp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6421438" cy="573087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What About Branches?</a:t>
            </a:r>
          </a:p>
        </p:txBody>
      </p:sp>
      <p:sp>
        <p:nvSpPr>
          <p:cNvPr id="48133" name="AutoShape 5"/>
          <p:cNvSpPr>
            <a:spLocks/>
          </p:cNvSpPr>
          <p:nvPr/>
        </p:nvSpPr>
        <p:spPr bwMode="auto">
          <a:xfrm>
            <a:off x="5792916" y="2514600"/>
            <a:ext cx="304800" cy="509814"/>
          </a:xfrm>
          <a:prstGeom prst="rightBrace">
            <a:avLst>
              <a:gd name="adj1" fmla="val 166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6172835" y="2562749"/>
            <a:ext cx="1411605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Executing</a:t>
            </a:r>
          </a:p>
        </p:txBody>
      </p:sp>
      <p:sp>
        <p:nvSpPr>
          <p:cNvPr id="48136" name="Text Box 8"/>
          <p:cNvSpPr txBox="1">
            <a:spLocks noChangeArrowheads="1"/>
          </p:cNvSpPr>
          <p:nvPr/>
        </p:nvSpPr>
        <p:spPr bwMode="auto">
          <a:xfrm>
            <a:off x="6622835" y="3045767"/>
            <a:ext cx="2444965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990000"/>
                </a:solidFill>
                <a:latin typeface="Calibri" pitchFamily="34" charset="0"/>
              </a:rPr>
              <a:t>How to continue?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 flipH="1">
            <a:off x="5257800" y="3276600"/>
            <a:ext cx="1295400" cy="0"/>
          </a:xfrm>
          <a:prstGeom prst="straightConnector1">
            <a:avLst/>
          </a:prstGeom>
          <a:noFill/>
          <a:ln w="25400" cap="flat" cmpd="sng" algn="ctr">
            <a:solidFill>
              <a:srgbClr val="99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5862638" cy="573087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Modern CPU Design</a:t>
            </a:r>
          </a:p>
        </p:txBody>
      </p:sp>
      <p:sp>
        <p:nvSpPr>
          <p:cNvPr id="421891" name="Rectangle 3"/>
          <p:cNvSpPr>
            <a:spLocks noChangeArrowheads="1"/>
          </p:cNvSpPr>
          <p:nvPr/>
        </p:nvSpPr>
        <p:spPr bwMode="auto">
          <a:xfrm>
            <a:off x="1542040" y="3505200"/>
            <a:ext cx="6510337" cy="30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b" anchorCtr="0"/>
          <a:lstStyle/>
          <a:p>
            <a:pPr eaLnBrk="1" hangingPunct="1">
              <a:lnSpc>
                <a:spcPct val="100000"/>
              </a:lnSpc>
              <a:defRPr/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Execution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2057400" y="3900160"/>
            <a:ext cx="5706052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Functional</a:t>
            </a:r>
          </a:p>
          <a:p>
            <a:pPr algn="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Units</a:t>
            </a:r>
          </a:p>
        </p:txBody>
      </p:sp>
      <p:sp>
        <p:nvSpPr>
          <p:cNvPr id="421893" name="Rectangle 5"/>
          <p:cNvSpPr>
            <a:spLocks noChangeArrowheads="1"/>
          </p:cNvSpPr>
          <p:nvPr/>
        </p:nvSpPr>
        <p:spPr bwMode="auto">
          <a:xfrm>
            <a:off x="1542040" y="1219200"/>
            <a:ext cx="6510337" cy="1905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t" anchorCtr="0"/>
          <a:lstStyle/>
          <a:p>
            <a:pPr eaLnBrk="1" hangingPunct="1">
              <a:lnSpc>
                <a:spcPct val="100000"/>
              </a:lnSpc>
              <a:defRPr/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Instruction Control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2216727" y="4038600"/>
            <a:ext cx="676275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Branch</a:t>
            </a: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3759777" y="4038600"/>
            <a:ext cx="676275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</a:rPr>
              <a:t>Arith</a:t>
            </a:r>
            <a:endParaRPr lang="en-US" sz="1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4532890" y="4038600"/>
            <a:ext cx="674687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</a:rPr>
              <a:t>Arith</a:t>
            </a:r>
            <a:endParaRPr lang="en-US" sz="1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5302827" y="4038600"/>
            <a:ext cx="676275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Load</a:t>
            </a:r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6074352" y="4038600"/>
            <a:ext cx="676275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Store</a:t>
            </a:r>
          </a:p>
        </p:txBody>
      </p:sp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6460115" y="1676400"/>
            <a:ext cx="1303337" cy="11430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Instruction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Cache</a:t>
            </a:r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5302827" y="5562600"/>
            <a:ext cx="1447800" cy="6096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Data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Cache</a:t>
            </a:r>
          </a:p>
        </p:txBody>
      </p: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4242377" y="1676400"/>
            <a:ext cx="1157288" cy="5334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Fetch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Control</a:t>
            </a:r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4242377" y="2286000"/>
            <a:ext cx="1157288" cy="5334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Instruction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Decode</a:t>
            </a:r>
          </a:p>
        </p:txBody>
      </p:sp>
      <p:sp>
        <p:nvSpPr>
          <p:cNvPr id="11279" name="Line 15"/>
          <p:cNvSpPr>
            <a:spLocks noChangeShapeType="1"/>
          </p:cNvSpPr>
          <p:nvPr/>
        </p:nvSpPr>
        <p:spPr bwMode="auto">
          <a:xfrm>
            <a:off x="5399665" y="1948130"/>
            <a:ext cx="10604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0" name="Line 16"/>
          <p:cNvSpPr>
            <a:spLocks noChangeShapeType="1"/>
          </p:cNvSpPr>
          <p:nvPr/>
        </p:nvSpPr>
        <p:spPr bwMode="auto">
          <a:xfrm flipH="1">
            <a:off x="5399665" y="2562880"/>
            <a:ext cx="10604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1" name="Line 17"/>
          <p:cNvSpPr>
            <a:spLocks noChangeShapeType="1"/>
          </p:cNvSpPr>
          <p:nvPr/>
        </p:nvSpPr>
        <p:spPr bwMode="auto">
          <a:xfrm>
            <a:off x="4820227" y="28194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2" name="Freeform 18"/>
          <p:cNvSpPr>
            <a:spLocks/>
          </p:cNvSpPr>
          <p:nvPr/>
        </p:nvSpPr>
        <p:spPr bwMode="auto">
          <a:xfrm flipH="1">
            <a:off x="2313565" y="1752600"/>
            <a:ext cx="1928812" cy="2286000"/>
          </a:xfrm>
          <a:custGeom>
            <a:avLst/>
            <a:gdLst>
              <a:gd name="T0" fmla="*/ 0 w 144"/>
              <a:gd name="T1" fmla="*/ 0 h 864"/>
              <a:gd name="T2" fmla="*/ 144 w 144"/>
              <a:gd name="T3" fmla="*/ 0 h 864"/>
              <a:gd name="T4" fmla="*/ 144 w 144"/>
              <a:gd name="T5" fmla="*/ 864 h 864"/>
              <a:gd name="T6" fmla="*/ 0 60000 65536"/>
              <a:gd name="T7" fmla="*/ 0 60000 65536"/>
              <a:gd name="T8" fmla="*/ 0 60000 65536"/>
              <a:gd name="T9" fmla="*/ 0 w 144"/>
              <a:gd name="T10" fmla="*/ 0 h 864"/>
              <a:gd name="T11" fmla="*/ 144 w 144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864">
                <a:moveTo>
                  <a:pt x="0" y="0"/>
                </a:moveTo>
                <a:lnTo>
                  <a:pt x="144" y="0"/>
                </a:lnTo>
                <a:lnTo>
                  <a:pt x="144" y="864"/>
                </a:lnTo>
              </a:path>
            </a:pathLst>
          </a:custGeom>
          <a:noFill/>
          <a:ln w="28575">
            <a:solidFill>
              <a:schemeClr val="tx1"/>
            </a:solidFill>
            <a:prstDash val="sysDot"/>
            <a:round/>
            <a:headEnd type="triangle" w="med" len="med"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3" name="Line 19"/>
          <p:cNvSpPr>
            <a:spLocks noChangeShapeType="1"/>
          </p:cNvSpPr>
          <p:nvPr/>
        </p:nvSpPr>
        <p:spPr bwMode="auto">
          <a:xfrm rot="5400000">
            <a:off x="4963102" y="50292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4" name="Line 20"/>
          <p:cNvSpPr>
            <a:spLocks noChangeShapeType="1"/>
          </p:cNvSpPr>
          <p:nvPr/>
        </p:nvSpPr>
        <p:spPr bwMode="auto">
          <a:xfrm rot="16200000" flipV="1">
            <a:off x="5253615" y="50292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5" name="Line 21"/>
          <p:cNvSpPr>
            <a:spLocks noChangeShapeType="1"/>
          </p:cNvSpPr>
          <p:nvPr/>
        </p:nvSpPr>
        <p:spPr bwMode="auto">
          <a:xfrm rot="5400000">
            <a:off x="5734627" y="50292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6" name="Line 22"/>
          <p:cNvSpPr>
            <a:spLocks noChangeShapeType="1"/>
          </p:cNvSpPr>
          <p:nvPr/>
        </p:nvSpPr>
        <p:spPr bwMode="auto">
          <a:xfrm rot="5400000">
            <a:off x="6023552" y="50292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5514320" y="1673423"/>
            <a:ext cx="7822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Address</a:t>
            </a:r>
          </a:p>
        </p:txBody>
      </p:sp>
      <p:sp>
        <p:nvSpPr>
          <p:cNvPr id="11288" name="Text Box 24"/>
          <p:cNvSpPr txBox="1">
            <a:spLocks noChangeArrowheads="1"/>
          </p:cNvSpPr>
          <p:nvPr/>
        </p:nvSpPr>
        <p:spPr bwMode="auto">
          <a:xfrm>
            <a:off x="5410200" y="2286000"/>
            <a:ext cx="10691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Instructions</a:t>
            </a:r>
          </a:p>
        </p:txBody>
      </p:sp>
      <p:sp>
        <p:nvSpPr>
          <p:cNvPr id="11289" name="Text Box 25"/>
          <p:cNvSpPr txBox="1">
            <a:spLocks noChangeArrowheads="1"/>
          </p:cNvSpPr>
          <p:nvPr/>
        </p:nvSpPr>
        <p:spPr bwMode="auto">
          <a:xfrm>
            <a:off x="4800600" y="2816423"/>
            <a:ext cx="101098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Operations</a:t>
            </a:r>
          </a:p>
        </p:txBody>
      </p:sp>
      <p:sp>
        <p:nvSpPr>
          <p:cNvPr id="11290" name="Text Box 26"/>
          <p:cNvSpPr txBox="1">
            <a:spLocks noChangeArrowheads="1"/>
          </p:cNvSpPr>
          <p:nvPr/>
        </p:nvSpPr>
        <p:spPr bwMode="auto">
          <a:xfrm>
            <a:off x="2286000" y="3166080"/>
            <a:ext cx="129195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Prediction OK?</a:t>
            </a:r>
          </a:p>
        </p:txBody>
      </p:sp>
      <p:sp>
        <p:nvSpPr>
          <p:cNvPr id="11291" name="Text Box 27"/>
          <p:cNvSpPr txBox="1">
            <a:spLocks noChangeArrowheads="1"/>
          </p:cNvSpPr>
          <p:nvPr/>
        </p:nvSpPr>
        <p:spPr bwMode="auto">
          <a:xfrm>
            <a:off x="6515677" y="5240179"/>
            <a:ext cx="43473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000" dirty="0">
                <a:latin typeface="Calibri" pitchFamily="34" charset="0"/>
              </a:rPr>
              <a:t>Data</a:t>
            </a:r>
          </a:p>
        </p:txBody>
      </p:sp>
      <p:sp>
        <p:nvSpPr>
          <p:cNvPr id="11292" name="Text Box 28"/>
          <p:cNvSpPr txBox="1">
            <a:spLocks noChangeArrowheads="1"/>
          </p:cNvSpPr>
          <p:nvPr/>
        </p:nvSpPr>
        <p:spPr bwMode="auto">
          <a:xfrm>
            <a:off x="5735940" y="5257800"/>
            <a:ext cx="43473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000" dirty="0">
                <a:latin typeface="Calibri" pitchFamily="34" charset="0"/>
              </a:rPr>
              <a:t>Data</a:t>
            </a:r>
          </a:p>
        </p:txBody>
      </p:sp>
      <p:sp>
        <p:nvSpPr>
          <p:cNvPr id="11293" name="Text Box 29"/>
          <p:cNvSpPr txBox="1">
            <a:spLocks noChangeArrowheads="1"/>
          </p:cNvSpPr>
          <p:nvPr/>
        </p:nvSpPr>
        <p:spPr bwMode="auto">
          <a:xfrm>
            <a:off x="5084584" y="5011579"/>
            <a:ext cx="47801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000" dirty="0" err="1">
                <a:latin typeface="Calibri" pitchFamily="34" charset="0"/>
              </a:rPr>
              <a:t>Addr</a:t>
            </a:r>
            <a:r>
              <a:rPr lang="en-US" sz="1000" dirty="0">
                <a:latin typeface="Calibri" pitchFamily="34" charset="0"/>
              </a:rPr>
              <a:t>.</a:t>
            </a:r>
          </a:p>
        </p:txBody>
      </p:sp>
      <p:sp>
        <p:nvSpPr>
          <p:cNvPr id="11294" name="Text Box 30"/>
          <p:cNvSpPr txBox="1">
            <a:spLocks noChangeArrowheads="1"/>
          </p:cNvSpPr>
          <p:nvPr/>
        </p:nvSpPr>
        <p:spPr bwMode="auto">
          <a:xfrm>
            <a:off x="5853440" y="5011579"/>
            <a:ext cx="47801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000" dirty="0" err="1">
                <a:latin typeface="Calibri" pitchFamily="34" charset="0"/>
              </a:rPr>
              <a:t>Addr</a:t>
            </a:r>
            <a:r>
              <a:rPr lang="en-US" sz="1000" dirty="0">
                <a:latin typeface="Calibri" pitchFamily="34" charset="0"/>
              </a:rPr>
              <a:t>.</a:t>
            </a:r>
          </a:p>
        </p:txBody>
      </p:sp>
      <p:sp>
        <p:nvSpPr>
          <p:cNvPr id="11295" name="Line 31"/>
          <p:cNvSpPr>
            <a:spLocks noChangeShapeType="1"/>
          </p:cNvSpPr>
          <p:nvPr/>
        </p:nvSpPr>
        <p:spPr bwMode="auto">
          <a:xfrm>
            <a:off x="2543175" y="3810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96" name="Line 32"/>
          <p:cNvSpPr>
            <a:spLocks noChangeShapeType="1"/>
          </p:cNvSpPr>
          <p:nvPr/>
        </p:nvSpPr>
        <p:spPr bwMode="auto">
          <a:xfrm>
            <a:off x="4087812" y="3810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97" name="Line 33"/>
          <p:cNvSpPr>
            <a:spLocks noChangeShapeType="1"/>
          </p:cNvSpPr>
          <p:nvPr/>
        </p:nvSpPr>
        <p:spPr bwMode="auto">
          <a:xfrm>
            <a:off x="4857750" y="3810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98" name="Line 34"/>
          <p:cNvSpPr>
            <a:spLocks noChangeShapeType="1"/>
          </p:cNvSpPr>
          <p:nvPr/>
        </p:nvSpPr>
        <p:spPr bwMode="auto">
          <a:xfrm>
            <a:off x="5630862" y="3810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99" name="Line 35"/>
          <p:cNvSpPr>
            <a:spLocks noChangeShapeType="1"/>
          </p:cNvSpPr>
          <p:nvPr/>
        </p:nvSpPr>
        <p:spPr bwMode="auto">
          <a:xfrm>
            <a:off x="6400800" y="3810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00" name="Line 36"/>
          <p:cNvSpPr>
            <a:spLocks noChangeShapeType="1"/>
          </p:cNvSpPr>
          <p:nvPr/>
        </p:nvSpPr>
        <p:spPr bwMode="auto">
          <a:xfrm>
            <a:off x="2543175" y="3810000"/>
            <a:ext cx="3857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01" name="Rectangle 37"/>
          <p:cNvSpPr>
            <a:spLocks noChangeArrowheads="1"/>
          </p:cNvSpPr>
          <p:nvPr/>
        </p:nvSpPr>
        <p:spPr bwMode="auto">
          <a:xfrm>
            <a:off x="2989840" y="4038600"/>
            <a:ext cx="673100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</a:rPr>
              <a:t>Arith</a:t>
            </a:r>
            <a:endParaRPr lang="en-US" sz="1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1302" name="Line 38"/>
          <p:cNvSpPr>
            <a:spLocks noChangeShapeType="1"/>
          </p:cNvSpPr>
          <p:nvPr/>
        </p:nvSpPr>
        <p:spPr bwMode="auto">
          <a:xfrm>
            <a:off x="3314700" y="3810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03" name="Line 39"/>
          <p:cNvSpPr>
            <a:spLocks noChangeShapeType="1"/>
          </p:cNvSpPr>
          <p:nvPr/>
        </p:nvSpPr>
        <p:spPr bwMode="auto">
          <a:xfrm>
            <a:off x="1735715" y="4876800"/>
            <a:ext cx="521469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2507240" y="4495800"/>
            <a:ext cx="3857625" cy="381000"/>
            <a:chOff x="768" y="2016"/>
            <a:chExt cx="1920" cy="144"/>
          </a:xfrm>
        </p:grpSpPr>
        <p:sp>
          <p:nvSpPr>
            <p:cNvPr id="11313" name="Line 41"/>
            <p:cNvSpPr>
              <a:spLocks noChangeShapeType="1"/>
            </p:cNvSpPr>
            <p:nvPr/>
          </p:nvSpPr>
          <p:spPr bwMode="auto">
            <a:xfrm>
              <a:off x="768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1314" name="Line 42"/>
            <p:cNvSpPr>
              <a:spLocks noChangeShapeType="1"/>
            </p:cNvSpPr>
            <p:nvPr/>
          </p:nvSpPr>
          <p:spPr bwMode="auto">
            <a:xfrm>
              <a:off x="1536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1315" name="Line 43"/>
            <p:cNvSpPr>
              <a:spLocks noChangeShapeType="1"/>
            </p:cNvSpPr>
            <p:nvPr/>
          </p:nvSpPr>
          <p:spPr bwMode="auto">
            <a:xfrm>
              <a:off x="1920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1316" name="Line 44"/>
            <p:cNvSpPr>
              <a:spLocks noChangeShapeType="1"/>
            </p:cNvSpPr>
            <p:nvPr/>
          </p:nvSpPr>
          <p:spPr bwMode="auto">
            <a:xfrm>
              <a:off x="2304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1317" name="Line 45"/>
            <p:cNvSpPr>
              <a:spLocks noChangeShapeType="1"/>
            </p:cNvSpPr>
            <p:nvPr/>
          </p:nvSpPr>
          <p:spPr bwMode="auto">
            <a:xfrm>
              <a:off x="2688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1318" name="Line 46"/>
            <p:cNvSpPr>
              <a:spLocks noChangeShapeType="1"/>
            </p:cNvSpPr>
            <p:nvPr/>
          </p:nvSpPr>
          <p:spPr bwMode="auto">
            <a:xfrm>
              <a:off x="1152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1305" name="Rectangle 47"/>
          <p:cNvSpPr>
            <a:spLocks noChangeArrowheads="1"/>
          </p:cNvSpPr>
          <p:nvPr/>
        </p:nvSpPr>
        <p:spPr bwMode="auto">
          <a:xfrm>
            <a:off x="2796165" y="4829175"/>
            <a:ext cx="15149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Operation Results</a:t>
            </a:r>
          </a:p>
        </p:txBody>
      </p:sp>
      <p:sp>
        <p:nvSpPr>
          <p:cNvPr id="11306" name="Rectangle 48"/>
          <p:cNvSpPr>
            <a:spLocks noChangeArrowheads="1"/>
          </p:cNvSpPr>
          <p:nvPr/>
        </p:nvSpPr>
        <p:spPr bwMode="auto">
          <a:xfrm>
            <a:off x="2796165" y="1828800"/>
            <a:ext cx="1157287" cy="9906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Retirement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Unit</a:t>
            </a:r>
          </a:p>
        </p:txBody>
      </p:sp>
      <p:sp>
        <p:nvSpPr>
          <p:cNvPr id="11307" name="Rectangle 49"/>
          <p:cNvSpPr>
            <a:spLocks noChangeArrowheads="1"/>
          </p:cNvSpPr>
          <p:nvPr/>
        </p:nvSpPr>
        <p:spPr bwMode="auto">
          <a:xfrm>
            <a:off x="2989840" y="2286000"/>
            <a:ext cx="769937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Register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File</a:t>
            </a:r>
          </a:p>
        </p:txBody>
      </p:sp>
      <p:sp>
        <p:nvSpPr>
          <p:cNvPr id="11308" name="Line 50"/>
          <p:cNvSpPr>
            <a:spLocks noChangeShapeType="1"/>
          </p:cNvSpPr>
          <p:nvPr/>
        </p:nvSpPr>
        <p:spPr bwMode="auto">
          <a:xfrm>
            <a:off x="2313565" y="2209800"/>
            <a:ext cx="482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09" name="Freeform 51"/>
          <p:cNvSpPr>
            <a:spLocks/>
          </p:cNvSpPr>
          <p:nvPr/>
        </p:nvSpPr>
        <p:spPr bwMode="auto">
          <a:xfrm flipH="1">
            <a:off x="1904999" y="2667000"/>
            <a:ext cx="891166" cy="2209800"/>
          </a:xfrm>
          <a:custGeom>
            <a:avLst/>
            <a:gdLst>
              <a:gd name="T0" fmla="*/ 0 w 144"/>
              <a:gd name="T1" fmla="*/ 0 h 864"/>
              <a:gd name="T2" fmla="*/ 144 w 144"/>
              <a:gd name="T3" fmla="*/ 0 h 864"/>
              <a:gd name="T4" fmla="*/ 144 w 144"/>
              <a:gd name="T5" fmla="*/ 864 h 864"/>
              <a:gd name="T6" fmla="*/ 0 60000 65536"/>
              <a:gd name="T7" fmla="*/ 0 60000 65536"/>
              <a:gd name="T8" fmla="*/ 0 60000 65536"/>
              <a:gd name="T9" fmla="*/ 0 w 144"/>
              <a:gd name="T10" fmla="*/ 0 h 864"/>
              <a:gd name="T11" fmla="*/ 144 w 144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864">
                <a:moveTo>
                  <a:pt x="0" y="0"/>
                </a:moveTo>
                <a:lnTo>
                  <a:pt x="144" y="0"/>
                </a:lnTo>
                <a:lnTo>
                  <a:pt x="144" y="864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10" name="Text Box 52"/>
          <p:cNvSpPr txBox="1">
            <a:spLocks noChangeArrowheads="1"/>
          </p:cNvSpPr>
          <p:nvPr/>
        </p:nvSpPr>
        <p:spPr bwMode="auto">
          <a:xfrm>
            <a:off x="457200" y="3159100"/>
            <a:ext cx="144520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Register Updates</a:t>
            </a:r>
          </a:p>
        </p:txBody>
      </p:sp>
      <p:sp>
        <p:nvSpPr>
          <p:cNvPr id="11311" name="Line 53"/>
          <p:cNvSpPr>
            <a:spLocks noChangeShapeType="1"/>
          </p:cNvSpPr>
          <p:nvPr/>
        </p:nvSpPr>
        <p:spPr bwMode="auto">
          <a:xfrm>
            <a:off x="3759777" y="2514600"/>
            <a:ext cx="48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12" name="Freeform 54"/>
          <p:cNvSpPr>
            <a:spLocks/>
          </p:cNvSpPr>
          <p:nvPr/>
        </p:nvSpPr>
        <p:spPr bwMode="auto">
          <a:xfrm>
            <a:off x="3856615" y="2819400"/>
            <a:ext cx="963612" cy="228600"/>
          </a:xfrm>
          <a:custGeom>
            <a:avLst/>
            <a:gdLst>
              <a:gd name="T0" fmla="*/ 480 w 480"/>
              <a:gd name="T1" fmla="*/ 144 h 144"/>
              <a:gd name="T2" fmla="*/ 0 w 480"/>
              <a:gd name="T3" fmla="*/ 144 h 144"/>
              <a:gd name="T4" fmla="*/ 0 w 480"/>
              <a:gd name="T5" fmla="*/ 0 h 144"/>
              <a:gd name="T6" fmla="*/ 0 60000 65536"/>
              <a:gd name="T7" fmla="*/ 0 60000 65536"/>
              <a:gd name="T8" fmla="*/ 0 60000 65536"/>
              <a:gd name="T9" fmla="*/ 0 w 480"/>
              <a:gd name="T10" fmla="*/ 0 h 144"/>
              <a:gd name="T11" fmla="*/ 480 w 48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144">
                <a:moveTo>
                  <a:pt x="480" y="144"/>
                </a:moveTo>
                <a:lnTo>
                  <a:pt x="0" y="144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22160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3"/>
            <a:ext cx="5938838" cy="573087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Branch Outcomes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763000" cy="1828800"/>
          </a:xfrm>
        </p:spPr>
        <p:txBody>
          <a:bodyPr/>
          <a:lstStyle/>
          <a:p>
            <a:pPr marL="285750" lvl="1" indent="-171450" eaLnBrk="1" hangingPunct="1"/>
            <a:r>
              <a:rPr lang="en-US" b="1" dirty="0"/>
              <a:t>When encounter conditional branch, cannot determine where to continue fetching</a:t>
            </a:r>
          </a:p>
          <a:p>
            <a:pPr marL="573088" lvl="2" indent="-173038" eaLnBrk="1" hangingPunct="1"/>
            <a:r>
              <a:rPr lang="en-US" dirty="0"/>
              <a:t>Branch Taken: Transfer control to branch target</a:t>
            </a:r>
          </a:p>
          <a:p>
            <a:pPr marL="573088" lvl="2" indent="-173038" eaLnBrk="1" hangingPunct="1"/>
            <a:r>
              <a:rPr lang="en-US" dirty="0"/>
              <a:t>Branch Not-Taken: Continue with next instruction in sequence</a:t>
            </a:r>
          </a:p>
          <a:p>
            <a:pPr marL="285750" lvl="1" indent="-171450" eaLnBrk="1" hangingPunct="1"/>
            <a:r>
              <a:rPr lang="en-US" b="1" dirty="0"/>
              <a:t>Cannot resolve until outcome determined by branch/integer unit</a:t>
            </a: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4953000" y="4800600"/>
            <a:ext cx="188070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990000"/>
                </a:solidFill>
                <a:latin typeface="Calibri" pitchFamily="34" charset="0"/>
              </a:rPr>
              <a:t>Branch Taken</a:t>
            </a:r>
          </a:p>
        </p:txBody>
      </p:sp>
      <p:sp>
        <p:nvSpPr>
          <p:cNvPr id="49159" name="Freeform 7"/>
          <p:cNvSpPr>
            <a:spLocks/>
          </p:cNvSpPr>
          <p:nvPr/>
        </p:nvSpPr>
        <p:spPr bwMode="auto">
          <a:xfrm>
            <a:off x="4648200" y="4271665"/>
            <a:ext cx="838200" cy="228600"/>
          </a:xfrm>
          <a:custGeom>
            <a:avLst/>
            <a:gdLst>
              <a:gd name="T0" fmla="*/ 0 w 248"/>
              <a:gd name="T1" fmla="*/ 0 h 144"/>
              <a:gd name="T2" fmla="*/ 240 w 248"/>
              <a:gd name="T3" fmla="*/ 48 h 144"/>
              <a:gd name="T4" fmla="*/ 48 w 248"/>
              <a:gd name="T5" fmla="*/ 144 h 144"/>
              <a:gd name="T6" fmla="*/ 0 60000 65536"/>
              <a:gd name="T7" fmla="*/ 0 60000 65536"/>
              <a:gd name="T8" fmla="*/ 0 60000 65536"/>
              <a:gd name="T9" fmla="*/ 0 w 248"/>
              <a:gd name="T10" fmla="*/ 0 h 144"/>
              <a:gd name="T11" fmla="*/ 248 w 248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144">
                <a:moveTo>
                  <a:pt x="0" y="0"/>
                </a:moveTo>
                <a:cubicBezTo>
                  <a:pt x="116" y="12"/>
                  <a:pt x="232" y="24"/>
                  <a:pt x="240" y="48"/>
                </a:cubicBezTo>
                <a:cubicBezTo>
                  <a:pt x="248" y="72"/>
                  <a:pt x="148" y="108"/>
                  <a:pt x="48" y="144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49160" name="Text Box 8"/>
          <p:cNvSpPr txBox="1">
            <a:spLocks noChangeArrowheads="1"/>
          </p:cNvSpPr>
          <p:nvPr/>
        </p:nvSpPr>
        <p:spPr bwMode="auto">
          <a:xfrm>
            <a:off x="5486400" y="4038600"/>
            <a:ext cx="2488482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0000FF"/>
                </a:solidFill>
                <a:latin typeface="Calibri" pitchFamily="34" charset="0"/>
              </a:rPr>
              <a:t>Branch Not-Taken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28600" y="3457220"/>
            <a:ext cx="4615445" cy="230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404663:  </a:t>
            </a:r>
            <a:r>
              <a:rPr lang="nl-NL" sz="1800" dirty="0" err="1">
                <a:latin typeface="Courier New" pitchFamily="49" charset="0"/>
              </a:rPr>
              <a:t>mov</a:t>
            </a:r>
            <a:r>
              <a:rPr lang="nl-NL" sz="1800" dirty="0">
                <a:latin typeface="Courier New" pitchFamily="49" charset="0"/>
              </a:rPr>
              <a:t>    $0x0,%eax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404668:  </a:t>
            </a:r>
            <a:r>
              <a:rPr lang="nl-NL" sz="1800" dirty="0" err="1">
                <a:latin typeface="Courier New" pitchFamily="49" charset="0"/>
              </a:rPr>
              <a:t>cmp</a:t>
            </a:r>
            <a:r>
              <a:rPr lang="nl-NL" sz="1800" dirty="0">
                <a:latin typeface="Courier New" pitchFamily="49" charset="0"/>
              </a:rPr>
              <a:t>    (%</a:t>
            </a:r>
            <a:r>
              <a:rPr lang="nl-NL" sz="1800" dirty="0" err="1">
                <a:latin typeface="Courier New" pitchFamily="49" charset="0"/>
              </a:rPr>
              <a:t>rdi</a:t>
            </a:r>
            <a:r>
              <a:rPr lang="nl-NL" sz="1800" dirty="0">
                <a:latin typeface="Courier New" pitchFamily="49" charset="0"/>
              </a:rPr>
              <a:t>),%</a:t>
            </a:r>
            <a:r>
              <a:rPr lang="nl-NL" sz="1800" dirty="0" err="1">
                <a:latin typeface="Courier New" pitchFamily="49" charset="0"/>
              </a:rPr>
              <a:t>rsi</a:t>
            </a:r>
            <a:endParaRPr lang="nl-NL" sz="18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</a:t>
            </a:r>
            <a:r>
              <a:rPr lang="nl-NL" sz="1800" i="1" dirty="0">
                <a:latin typeface="Courier New" pitchFamily="49" charset="0"/>
              </a:rPr>
              <a:t>40466b:  </a:t>
            </a:r>
            <a:r>
              <a:rPr lang="nl-NL" sz="1800" i="1" dirty="0" err="1">
                <a:latin typeface="Courier New" pitchFamily="49" charset="0"/>
              </a:rPr>
              <a:t>jge</a:t>
            </a:r>
            <a:r>
              <a:rPr lang="nl-NL" sz="1800" i="1" dirty="0">
                <a:latin typeface="Courier New" pitchFamily="49" charset="0"/>
              </a:rPr>
              <a:t>    404685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40466d:  </a:t>
            </a:r>
            <a:r>
              <a:rPr lang="nl-NL" sz="1800" dirty="0" err="1">
                <a:latin typeface="Courier New" pitchFamily="49" charset="0"/>
              </a:rPr>
              <a:t>mov</a:t>
            </a:r>
            <a:r>
              <a:rPr lang="nl-NL" sz="1800" dirty="0">
                <a:latin typeface="Courier New" pitchFamily="49" charset="0"/>
              </a:rPr>
              <a:t>    0x8(%</a:t>
            </a:r>
            <a:r>
              <a:rPr lang="nl-NL" sz="1800" dirty="0" err="1">
                <a:latin typeface="Courier New" pitchFamily="49" charset="0"/>
              </a:rPr>
              <a:t>rdi</a:t>
            </a:r>
            <a:r>
              <a:rPr lang="nl-NL" sz="1800" dirty="0">
                <a:latin typeface="Courier New" pitchFamily="49" charset="0"/>
              </a:rPr>
              <a:t>),%</a:t>
            </a:r>
            <a:r>
              <a:rPr lang="nl-NL" sz="1800" dirty="0" err="1">
                <a:latin typeface="Courier New" pitchFamily="49" charset="0"/>
              </a:rPr>
              <a:t>rax</a:t>
            </a:r>
            <a:endParaRPr lang="nl-NL" sz="18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 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 . . .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endParaRPr lang="nl-NL" sz="18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404685:  </a:t>
            </a:r>
            <a:r>
              <a:rPr lang="nl-NL" sz="1800" dirty="0" err="1">
                <a:latin typeface="Courier New" pitchFamily="49" charset="0"/>
              </a:rPr>
              <a:t>repz</a:t>
            </a:r>
            <a:r>
              <a:rPr lang="nl-NL" sz="1800" dirty="0">
                <a:latin typeface="Courier New" pitchFamily="49" charset="0"/>
              </a:rPr>
              <a:t> </a:t>
            </a:r>
            <a:r>
              <a:rPr lang="nl-NL" sz="1800" dirty="0" err="1">
                <a:latin typeface="Courier New" pitchFamily="49" charset="0"/>
              </a:rPr>
              <a:t>retq</a:t>
            </a:r>
            <a:endParaRPr lang="nl-NL" sz="1800" dirty="0">
              <a:latin typeface="Courier New" pitchFamily="49" charset="0"/>
            </a:endParaRPr>
          </a:p>
        </p:txBody>
      </p:sp>
      <p:sp>
        <p:nvSpPr>
          <p:cNvPr id="49161" name="Freeform 9"/>
          <p:cNvSpPr>
            <a:spLocks/>
          </p:cNvSpPr>
          <p:nvPr/>
        </p:nvSpPr>
        <p:spPr bwMode="auto">
          <a:xfrm rot="20125028" flipV="1">
            <a:off x="3041206" y="4284874"/>
            <a:ext cx="2505991" cy="952014"/>
          </a:xfrm>
          <a:custGeom>
            <a:avLst/>
            <a:gdLst>
              <a:gd name="T0" fmla="*/ 0 w 1379"/>
              <a:gd name="T1" fmla="*/ 0 h 664"/>
              <a:gd name="T2" fmla="*/ 1168 w 1379"/>
              <a:gd name="T3" fmla="*/ 216 h 664"/>
              <a:gd name="T4" fmla="*/ 1264 w 1379"/>
              <a:gd name="T5" fmla="*/ 400 h 664"/>
              <a:gd name="T6" fmla="*/ 832 w 1379"/>
              <a:gd name="T7" fmla="*/ 664 h 664"/>
              <a:gd name="T8" fmla="*/ 0 60000 65536"/>
              <a:gd name="T9" fmla="*/ 0 60000 65536"/>
              <a:gd name="T10" fmla="*/ 0 60000 65536"/>
              <a:gd name="T11" fmla="*/ 0 60000 65536"/>
              <a:gd name="T12" fmla="*/ 0 w 1379"/>
              <a:gd name="T13" fmla="*/ 0 h 664"/>
              <a:gd name="T14" fmla="*/ 1379 w 1379"/>
              <a:gd name="T15" fmla="*/ 664 h 6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79" h="664">
                <a:moveTo>
                  <a:pt x="0" y="0"/>
                </a:moveTo>
                <a:cubicBezTo>
                  <a:pt x="195" y="37"/>
                  <a:pt x="957" y="149"/>
                  <a:pt x="1168" y="216"/>
                </a:cubicBezTo>
                <a:cubicBezTo>
                  <a:pt x="1379" y="283"/>
                  <a:pt x="1320" y="325"/>
                  <a:pt x="1264" y="400"/>
                </a:cubicBezTo>
                <a:cubicBezTo>
                  <a:pt x="1208" y="475"/>
                  <a:pt x="922" y="609"/>
                  <a:pt x="832" y="664"/>
                </a:cubicBezTo>
              </a:path>
            </a:pathLst>
          </a:custGeom>
          <a:noFill/>
          <a:ln w="38100">
            <a:solidFill>
              <a:srgbClr val="990000"/>
            </a:solidFill>
            <a:round/>
            <a:headEnd type="triangle"/>
            <a:tailEnd type="none" w="med" len="med"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7513"/>
            <a:ext cx="5634038" cy="573087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Branch Prediction</a:t>
            </a:r>
          </a:p>
        </p:txBody>
      </p:sp>
      <p:sp>
        <p:nvSpPr>
          <p:cNvPr id="66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4452" y="1003300"/>
            <a:ext cx="8307387" cy="20447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Idea</a:t>
            </a:r>
          </a:p>
          <a:p>
            <a:pPr lvl="1" eaLnBrk="1" hangingPunct="1">
              <a:defRPr/>
            </a:pPr>
            <a:r>
              <a:rPr lang="en-US" dirty="0"/>
              <a:t>Guess which way branch will go</a:t>
            </a:r>
          </a:p>
          <a:p>
            <a:pPr lvl="1" eaLnBrk="1" hangingPunct="1">
              <a:defRPr/>
            </a:pPr>
            <a:r>
              <a:rPr lang="en-US" dirty="0"/>
              <a:t>Begin executing instructions at predicted position</a:t>
            </a:r>
          </a:p>
          <a:p>
            <a:pPr lvl="2" eaLnBrk="1" hangingPunct="1">
              <a:defRPr/>
            </a:pPr>
            <a:r>
              <a:rPr lang="en-US" dirty="0"/>
              <a:t>But don’t actually modify register or memory data</a:t>
            </a:r>
          </a:p>
          <a:p>
            <a:pPr eaLnBrk="1" hangingPunct="1">
              <a:defRPr/>
            </a:pPr>
            <a:endParaRPr lang="en-US" sz="2000" dirty="0"/>
          </a:p>
        </p:txBody>
      </p:sp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5759726" y="3431232"/>
            <a:ext cx="1895199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990000"/>
                </a:solidFill>
                <a:latin typeface="Calibri" pitchFamily="34" charset="0"/>
              </a:rPr>
              <a:t>Predict Taken</a:t>
            </a:r>
          </a:p>
        </p:txBody>
      </p:sp>
      <p:sp>
        <p:nvSpPr>
          <p:cNvPr id="50184" name="AutoShape 8"/>
          <p:cNvSpPr>
            <a:spLocks/>
          </p:cNvSpPr>
          <p:nvPr/>
        </p:nvSpPr>
        <p:spPr bwMode="auto">
          <a:xfrm>
            <a:off x="5029200" y="4744160"/>
            <a:ext cx="304800" cy="609600"/>
          </a:xfrm>
          <a:prstGeom prst="rightBrace">
            <a:avLst>
              <a:gd name="adj1" fmla="val 166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5375817" y="4642534"/>
            <a:ext cx="1430841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Begin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Execution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28600" y="2743200"/>
            <a:ext cx="4615445" cy="230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404663:  </a:t>
            </a:r>
            <a:r>
              <a:rPr lang="nl-NL" sz="1800" dirty="0" err="1">
                <a:latin typeface="Courier New" pitchFamily="49" charset="0"/>
              </a:rPr>
              <a:t>mov</a:t>
            </a:r>
            <a:r>
              <a:rPr lang="nl-NL" sz="1800" dirty="0">
                <a:latin typeface="Courier New" pitchFamily="49" charset="0"/>
              </a:rPr>
              <a:t>    $0x0,%eax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404668:  </a:t>
            </a:r>
            <a:r>
              <a:rPr lang="nl-NL" sz="1800" dirty="0" err="1">
                <a:latin typeface="Courier New" pitchFamily="49" charset="0"/>
              </a:rPr>
              <a:t>cmp</a:t>
            </a:r>
            <a:r>
              <a:rPr lang="nl-NL" sz="1800" dirty="0">
                <a:latin typeface="Courier New" pitchFamily="49" charset="0"/>
              </a:rPr>
              <a:t>    (%</a:t>
            </a:r>
            <a:r>
              <a:rPr lang="nl-NL" sz="1800" dirty="0" err="1">
                <a:latin typeface="Courier New" pitchFamily="49" charset="0"/>
              </a:rPr>
              <a:t>rdi</a:t>
            </a:r>
            <a:r>
              <a:rPr lang="nl-NL" sz="1800" dirty="0">
                <a:latin typeface="Courier New" pitchFamily="49" charset="0"/>
              </a:rPr>
              <a:t>),%</a:t>
            </a:r>
            <a:r>
              <a:rPr lang="nl-NL" sz="1800" dirty="0" err="1">
                <a:latin typeface="Courier New" pitchFamily="49" charset="0"/>
              </a:rPr>
              <a:t>rsi</a:t>
            </a:r>
            <a:endParaRPr lang="nl-NL" sz="18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</a:t>
            </a:r>
            <a:r>
              <a:rPr lang="nl-NL" sz="1800" i="1" dirty="0">
                <a:latin typeface="Courier New" pitchFamily="49" charset="0"/>
              </a:rPr>
              <a:t>40466b:  </a:t>
            </a:r>
            <a:r>
              <a:rPr lang="nl-NL" sz="1800" i="1" dirty="0" err="1">
                <a:latin typeface="Courier New" pitchFamily="49" charset="0"/>
              </a:rPr>
              <a:t>jge</a:t>
            </a:r>
            <a:r>
              <a:rPr lang="nl-NL" sz="1800" i="1" dirty="0">
                <a:latin typeface="Courier New" pitchFamily="49" charset="0"/>
              </a:rPr>
              <a:t>    404685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40466d:  </a:t>
            </a:r>
            <a:r>
              <a:rPr lang="nl-NL" sz="1800" dirty="0" err="1">
                <a:latin typeface="Courier New" pitchFamily="49" charset="0"/>
              </a:rPr>
              <a:t>mov</a:t>
            </a:r>
            <a:r>
              <a:rPr lang="nl-NL" sz="1800" dirty="0">
                <a:latin typeface="Courier New" pitchFamily="49" charset="0"/>
              </a:rPr>
              <a:t>    0x8(%</a:t>
            </a:r>
            <a:r>
              <a:rPr lang="nl-NL" sz="1800" dirty="0" err="1">
                <a:latin typeface="Courier New" pitchFamily="49" charset="0"/>
              </a:rPr>
              <a:t>rdi</a:t>
            </a:r>
            <a:r>
              <a:rPr lang="nl-NL" sz="1800" dirty="0">
                <a:latin typeface="Courier New" pitchFamily="49" charset="0"/>
              </a:rPr>
              <a:t>),%</a:t>
            </a:r>
            <a:r>
              <a:rPr lang="nl-NL" sz="1800" dirty="0" err="1">
                <a:latin typeface="Courier New" pitchFamily="49" charset="0"/>
              </a:rPr>
              <a:t>rax</a:t>
            </a:r>
            <a:endParaRPr lang="nl-NL" sz="18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 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 . . .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endParaRPr lang="nl-NL" sz="18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nl-NL" sz="1800" dirty="0">
                <a:latin typeface="Courier New" pitchFamily="49" charset="0"/>
              </a:rPr>
              <a:t>  404685:  </a:t>
            </a:r>
            <a:r>
              <a:rPr lang="nl-NL" sz="1800" dirty="0" err="1">
                <a:latin typeface="Courier New" pitchFamily="49" charset="0"/>
              </a:rPr>
              <a:t>repz</a:t>
            </a:r>
            <a:r>
              <a:rPr lang="nl-NL" sz="1800" dirty="0">
                <a:latin typeface="Courier New" pitchFamily="49" charset="0"/>
              </a:rPr>
              <a:t> </a:t>
            </a:r>
            <a:r>
              <a:rPr lang="nl-NL" sz="1800" dirty="0" err="1">
                <a:latin typeface="Courier New" pitchFamily="49" charset="0"/>
              </a:rPr>
              <a:t>retq</a:t>
            </a:r>
            <a:endParaRPr lang="nl-NL" sz="1800" dirty="0">
              <a:latin typeface="Courier New" pitchFamily="49" charset="0"/>
            </a:endParaRPr>
          </a:p>
        </p:txBody>
      </p:sp>
      <p:sp>
        <p:nvSpPr>
          <p:cNvPr id="11" name="Freeform 9"/>
          <p:cNvSpPr>
            <a:spLocks/>
          </p:cNvSpPr>
          <p:nvPr/>
        </p:nvSpPr>
        <p:spPr bwMode="auto">
          <a:xfrm rot="20125028" flipV="1">
            <a:off x="3252605" y="3627906"/>
            <a:ext cx="2505991" cy="952014"/>
          </a:xfrm>
          <a:custGeom>
            <a:avLst/>
            <a:gdLst>
              <a:gd name="T0" fmla="*/ 0 w 1379"/>
              <a:gd name="T1" fmla="*/ 0 h 664"/>
              <a:gd name="T2" fmla="*/ 1168 w 1379"/>
              <a:gd name="T3" fmla="*/ 216 h 664"/>
              <a:gd name="T4" fmla="*/ 1264 w 1379"/>
              <a:gd name="T5" fmla="*/ 400 h 664"/>
              <a:gd name="T6" fmla="*/ 832 w 1379"/>
              <a:gd name="T7" fmla="*/ 664 h 664"/>
              <a:gd name="T8" fmla="*/ 0 60000 65536"/>
              <a:gd name="T9" fmla="*/ 0 60000 65536"/>
              <a:gd name="T10" fmla="*/ 0 60000 65536"/>
              <a:gd name="T11" fmla="*/ 0 60000 65536"/>
              <a:gd name="T12" fmla="*/ 0 w 1379"/>
              <a:gd name="T13" fmla="*/ 0 h 664"/>
              <a:gd name="T14" fmla="*/ 1379 w 1379"/>
              <a:gd name="T15" fmla="*/ 664 h 6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79" h="664">
                <a:moveTo>
                  <a:pt x="0" y="0"/>
                </a:moveTo>
                <a:cubicBezTo>
                  <a:pt x="195" y="37"/>
                  <a:pt x="957" y="149"/>
                  <a:pt x="1168" y="216"/>
                </a:cubicBezTo>
                <a:cubicBezTo>
                  <a:pt x="1379" y="283"/>
                  <a:pt x="1320" y="325"/>
                  <a:pt x="1264" y="400"/>
                </a:cubicBezTo>
                <a:cubicBezTo>
                  <a:pt x="1208" y="475"/>
                  <a:pt x="922" y="609"/>
                  <a:pt x="832" y="664"/>
                </a:cubicBezTo>
              </a:path>
            </a:pathLst>
          </a:custGeom>
          <a:noFill/>
          <a:ln w="38100">
            <a:solidFill>
              <a:srgbClr val="990000"/>
            </a:solidFill>
            <a:round/>
            <a:headEnd type="triangle"/>
            <a:tailEnd type="none" w="med" len="med"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3"/>
          <p:cNvSpPr>
            <a:spLocks noChangeArrowheads="1"/>
          </p:cNvSpPr>
          <p:nvPr/>
        </p:nvSpPr>
        <p:spPr bwMode="auto">
          <a:xfrm>
            <a:off x="489955" y="2481206"/>
            <a:ext cx="4615445" cy="10746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en-US" sz="1600" dirty="0">
                <a:latin typeface="Courier New" pitchFamily="49" charset="0"/>
              </a:rPr>
              <a:t> </a:t>
            </a:r>
            <a:r>
              <a:rPr lang="da-DK" sz="1600" dirty="0">
                <a:latin typeface="Courier New" pitchFamily="49" charset="0"/>
              </a:rPr>
              <a:t> 401029:  </a:t>
            </a:r>
            <a:r>
              <a:rPr lang="da-DK" sz="1600" dirty="0" err="1">
                <a:latin typeface="Courier New" pitchFamily="49" charset="0"/>
              </a:rPr>
              <a:t>vmulsd</a:t>
            </a:r>
            <a:r>
              <a:rPr lang="da-DK" sz="1600" dirty="0">
                <a:latin typeface="Courier New" pitchFamily="49" charset="0"/>
              </a:rPr>
              <a:t> (%</a:t>
            </a:r>
            <a:r>
              <a:rPr lang="da-DK" sz="1600" dirty="0" err="1">
                <a:latin typeface="Courier New" pitchFamily="49" charset="0"/>
              </a:rPr>
              <a:t>rdx</a:t>
            </a:r>
            <a:r>
              <a:rPr lang="da-DK" sz="1600" dirty="0">
                <a:latin typeface="Courier New" pitchFamily="49" charset="0"/>
              </a:rPr>
              <a:t>),%xmm0,%xmm0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40102d:  </a:t>
            </a:r>
            <a:r>
              <a:rPr lang="da-DK" sz="1600" dirty="0" err="1">
                <a:latin typeface="Courier New" pitchFamily="49" charset="0"/>
              </a:rPr>
              <a:t>add</a:t>
            </a:r>
            <a:r>
              <a:rPr lang="da-DK" sz="1600" dirty="0">
                <a:latin typeface="Courier New" pitchFamily="49" charset="0"/>
              </a:rPr>
              <a:t>    $0x8,%rdx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401031:  </a:t>
            </a:r>
            <a:r>
              <a:rPr lang="da-DK" sz="1600" dirty="0" err="1">
                <a:latin typeface="Courier New" pitchFamily="49" charset="0"/>
              </a:rPr>
              <a:t>cmp</a:t>
            </a:r>
            <a:r>
              <a:rPr lang="da-DK" sz="1600" dirty="0">
                <a:latin typeface="Courier New" pitchFamily="49" charset="0"/>
              </a:rPr>
              <a:t>    %</a:t>
            </a:r>
            <a:r>
              <a:rPr lang="da-DK" sz="1600" dirty="0" err="1">
                <a:latin typeface="Courier New" pitchFamily="49" charset="0"/>
              </a:rPr>
              <a:t>rax</a:t>
            </a:r>
            <a:r>
              <a:rPr lang="da-DK" sz="1600" dirty="0">
                <a:latin typeface="Courier New" pitchFamily="49" charset="0"/>
              </a:rPr>
              <a:t>,%</a:t>
            </a:r>
            <a:r>
              <a:rPr lang="da-DK" sz="1600" dirty="0" err="1">
                <a:latin typeface="Courier New" pitchFamily="49" charset="0"/>
              </a:rPr>
              <a:t>rdx</a:t>
            </a:r>
            <a:endParaRPr lang="da-DK" sz="16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401034:  </a:t>
            </a:r>
            <a:r>
              <a:rPr lang="da-DK" sz="1600" dirty="0" err="1">
                <a:latin typeface="Courier New" pitchFamily="49" charset="0"/>
              </a:rPr>
              <a:t>jne</a:t>
            </a:r>
            <a:r>
              <a:rPr lang="da-DK" sz="1600" dirty="0">
                <a:latin typeface="Courier New" pitchFamily="49" charset="0"/>
              </a:rPr>
              <a:t>    401029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489955" y="3878347"/>
            <a:ext cx="4615445" cy="10746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en-US" sz="1600" dirty="0">
                <a:latin typeface="Courier New" pitchFamily="49" charset="0"/>
              </a:rPr>
              <a:t> </a:t>
            </a:r>
            <a:r>
              <a:rPr lang="da-DK" sz="1600" dirty="0">
                <a:latin typeface="Courier New" pitchFamily="49" charset="0"/>
              </a:rPr>
              <a:t> 401029:  </a:t>
            </a:r>
            <a:r>
              <a:rPr lang="da-DK" sz="1600" dirty="0" err="1">
                <a:latin typeface="Courier New" pitchFamily="49" charset="0"/>
              </a:rPr>
              <a:t>vmulsd</a:t>
            </a:r>
            <a:r>
              <a:rPr lang="da-DK" sz="1600" dirty="0">
                <a:latin typeface="Courier New" pitchFamily="49" charset="0"/>
              </a:rPr>
              <a:t> (%</a:t>
            </a:r>
            <a:r>
              <a:rPr lang="da-DK" sz="1600" dirty="0" err="1">
                <a:latin typeface="Courier New" pitchFamily="49" charset="0"/>
              </a:rPr>
              <a:t>rdx</a:t>
            </a:r>
            <a:r>
              <a:rPr lang="da-DK" sz="1600" dirty="0">
                <a:latin typeface="Courier New" pitchFamily="49" charset="0"/>
              </a:rPr>
              <a:t>),%xmm0,%xmm0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40102d:  </a:t>
            </a:r>
            <a:r>
              <a:rPr lang="da-DK" sz="1600" dirty="0" err="1">
                <a:latin typeface="Courier New" pitchFamily="49" charset="0"/>
              </a:rPr>
              <a:t>add</a:t>
            </a:r>
            <a:r>
              <a:rPr lang="da-DK" sz="1600" dirty="0">
                <a:latin typeface="Courier New" pitchFamily="49" charset="0"/>
              </a:rPr>
              <a:t>    $0x8,%rdx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401031:  </a:t>
            </a:r>
            <a:r>
              <a:rPr lang="da-DK" sz="1600" dirty="0" err="1">
                <a:latin typeface="Courier New" pitchFamily="49" charset="0"/>
              </a:rPr>
              <a:t>cmp</a:t>
            </a:r>
            <a:r>
              <a:rPr lang="da-DK" sz="1600" dirty="0">
                <a:latin typeface="Courier New" pitchFamily="49" charset="0"/>
              </a:rPr>
              <a:t>    %</a:t>
            </a:r>
            <a:r>
              <a:rPr lang="da-DK" sz="1600" dirty="0" err="1">
                <a:latin typeface="Courier New" pitchFamily="49" charset="0"/>
              </a:rPr>
              <a:t>rax</a:t>
            </a:r>
            <a:r>
              <a:rPr lang="da-DK" sz="1600" dirty="0">
                <a:latin typeface="Courier New" pitchFamily="49" charset="0"/>
              </a:rPr>
              <a:t>,%</a:t>
            </a:r>
            <a:r>
              <a:rPr lang="da-DK" sz="1600" dirty="0" err="1">
                <a:latin typeface="Courier New" pitchFamily="49" charset="0"/>
              </a:rPr>
              <a:t>rdx</a:t>
            </a:r>
            <a:endParaRPr lang="da-DK" sz="16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401034:  </a:t>
            </a:r>
            <a:r>
              <a:rPr lang="da-DK" sz="1600" dirty="0" err="1">
                <a:latin typeface="Courier New" pitchFamily="49" charset="0"/>
              </a:rPr>
              <a:t>jne</a:t>
            </a:r>
            <a:r>
              <a:rPr lang="da-DK" sz="1600" dirty="0">
                <a:latin typeface="Courier New" pitchFamily="49" charset="0"/>
              </a:rPr>
              <a:t>    401029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28" name="Rectangle 3"/>
          <p:cNvSpPr>
            <a:spLocks noChangeArrowheads="1"/>
          </p:cNvSpPr>
          <p:nvPr/>
        </p:nvSpPr>
        <p:spPr bwMode="auto">
          <a:xfrm>
            <a:off x="489955" y="5326147"/>
            <a:ext cx="4615445" cy="10746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en-US" sz="1600" dirty="0">
                <a:latin typeface="Courier New" pitchFamily="49" charset="0"/>
              </a:rPr>
              <a:t> </a:t>
            </a:r>
            <a:r>
              <a:rPr lang="da-DK" sz="1600" dirty="0">
                <a:latin typeface="Courier New" pitchFamily="49" charset="0"/>
              </a:rPr>
              <a:t> 401029:  </a:t>
            </a:r>
            <a:r>
              <a:rPr lang="da-DK" sz="1600" dirty="0" err="1">
                <a:latin typeface="Courier New" pitchFamily="49" charset="0"/>
              </a:rPr>
              <a:t>vmulsd</a:t>
            </a:r>
            <a:r>
              <a:rPr lang="da-DK" sz="1600" dirty="0">
                <a:latin typeface="Courier New" pitchFamily="49" charset="0"/>
              </a:rPr>
              <a:t> (%</a:t>
            </a:r>
            <a:r>
              <a:rPr lang="da-DK" sz="1600" dirty="0" err="1">
                <a:latin typeface="Courier New" pitchFamily="49" charset="0"/>
              </a:rPr>
              <a:t>rdx</a:t>
            </a:r>
            <a:r>
              <a:rPr lang="da-DK" sz="1600" dirty="0">
                <a:latin typeface="Courier New" pitchFamily="49" charset="0"/>
              </a:rPr>
              <a:t>),%xmm0,%xmm0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40102d:  </a:t>
            </a:r>
            <a:r>
              <a:rPr lang="da-DK" sz="1600" dirty="0" err="1">
                <a:latin typeface="Courier New" pitchFamily="49" charset="0"/>
              </a:rPr>
              <a:t>add</a:t>
            </a:r>
            <a:r>
              <a:rPr lang="da-DK" sz="1600" dirty="0">
                <a:latin typeface="Courier New" pitchFamily="49" charset="0"/>
              </a:rPr>
              <a:t>    $0x8,%rdx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401031:  </a:t>
            </a:r>
            <a:r>
              <a:rPr lang="da-DK" sz="1600" dirty="0" err="1">
                <a:latin typeface="Courier New" pitchFamily="49" charset="0"/>
              </a:rPr>
              <a:t>cmp</a:t>
            </a:r>
            <a:r>
              <a:rPr lang="da-DK" sz="1600" dirty="0">
                <a:latin typeface="Courier New" pitchFamily="49" charset="0"/>
              </a:rPr>
              <a:t>    %</a:t>
            </a:r>
            <a:r>
              <a:rPr lang="da-DK" sz="1600" dirty="0" err="1">
                <a:latin typeface="Courier New" pitchFamily="49" charset="0"/>
              </a:rPr>
              <a:t>rax</a:t>
            </a:r>
            <a:r>
              <a:rPr lang="da-DK" sz="1600" dirty="0">
                <a:latin typeface="Courier New" pitchFamily="49" charset="0"/>
              </a:rPr>
              <a:t>,%</a:t>
            </a:r>
            <a:r>
              <a:rPr lang="da-DK" sz="1600" dirty="0" err="1">
                <a:latin typeface="Courier New" pitchFamily="49" charset="0"/>
              </a:rPr>
              <a:t>rdx</a:t>
            </a:r>
            <a:endParaRPr lang="da-DK" sz="16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401034:  </a:t>
            </a:r>
            <a:r>
              <a:rPr lang="da-DK" sz="1600" dirty="0" err="1">
                <a:latin typeface="Courier New" pitchFamily="49" charset="0"/>
              </a:rPr>
              <a:t>jne</a:t>
            </a:r>
            <a:r>
              <a:rPr lang="da-DK" sz="1600" dirty="0">
                <a:latin typeface="Courier New" pitchFamily="49" charset="0"/>
              </a:rPr>
              <a:t>    401029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66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63748" y="448574"/>
            <a:ext cx="78565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Branch Prediction Through Loop</a:t>
            </a: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489955" y="1120562"/>
            <a:ext cx="4615445" cy="10746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en-US" sz="1600" dirty="0">
                <a:latin typeface="Courier New" pitchFamily="49" charset="0"/>
              </a:rPr>
              <a:t> </a:t>
            </a:r>
            <a:r>
              <a:rPr lang="da-DK" sz="1600" dirty="0">
                <a:latin typeface="Courier New" pitchFamily="49" charset="0"/>
              </a:rPr>
              <a:t> 401029:  </a:t>
            </a:r>
            <a:r>
              <a:rPr lang="da-DK" sz="1600" dirty="0" err="1">
                <a:latin typeface="Courier New" pitchFamily="49" charset="0"/>
              </a:rPr>
              <a:t>vmulsd</a:t>
            </a:r>
            <a:r>
              <a:rPr lang="da-DK" sz="1600" dirty="0">
                <a:latin typeface="Courier New" pitchFamily="49" charset="0"/>
              </a:rPr>
              <a:t> (%</a:t>
            </a:r>
            <a:r>
              <a:rPr lang="da-DK" sz="1600" dirty="0" err="1">
                <a:latin typeface="Courier New" pitchFamily="49" charset="0"/>
              </a:rPr>
              <a:t>rdx</a:t>
            </a:r>
            <a:r>
              <a:rPr lang="da-DK" sz="1600" dirty="0">
                <a:latin typeface="Courier New" pitchFamily="49" charset="0"/>
              </a:rPr>
              <a:t>),%xmm0,%xmm0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40102d:  </a:t>
            </a:r>
            <a:r>
              <a:rPr lang="da-DK" sz="1600" dirty="0" err="1">
                <a:latin typeface="Courier New" pitchFamily="49" charset="0"/>
              </a:rPr>
              <a:t>add</a:t>
            </a:r>
            <a:r>
              <a:rPr lang="da-DK" sz="1600" dirty="0">
                <a:latin typeface="Courier New" pitchFamily="49" charset="0"/>
              </a:rPr>
              <a:t>    $0x8,%rdx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401031:  </a:t>
            </a:r>
            <a:r>
              <a:rPr lang="da-DK" sz="1600" dirty="0" err="1">
                <a:latin typeface="Courier New" pitchFamily="49" charset="0"/>
              </a:rPr>
              <a:t>cmp</a:t>
            </a:r>
            <a:r>
              <a:rPr lang="da-DK" sz="1600" dirty="0">
                <a:latin typeface="Courier New" pitchFamily="49" charset="0"/>
              </a:rPr>
              <a:t>    %</a:t>
            </a:r>
            <a:r>
              <a:rPr lang="da-DK" sz="1600" dirty="0" err="1">
                <a:latin typeface="Courier New" pitchFamily="49" charset="0"/>
              </a:rPr>
              <a:t>rax</a:t>
            </a:r>
            <a:r>
              <a:rPr lang="da-DK" sz="1600" dirty="0">
                <a:latin typeface="Courier New" pitchFamily="49" charset="0"/>
              </a:rPr>
              <a:t>,%</a:t>
            </a:r>
            <a:r>
              <a:rPr lang="da-DK" sz="1600" dirty="0" err="1">
                <a:latin typeface="Courier New" pitchFamily="49" charset="0"/>
              </a:rPr>
              <a:t>rdx</a:t>
            </a:r>
            <a:endParaRPr lang="da-DK" sz="16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401034:  </a:t>
            </a:r>
            <a:r>
              <a:rPr lang="da-DK" sz="1600" dirty="0" err="1">
                <a:latin typeface="Courier New" pitchFamily="49" charset="0"/>
              </a:rPr>
              <a:t>jne</a:t>
            </a:r>
            <a:r>
              <a:rPr lang="da-DK" sz="1600" dirty="0">
                <a:latin typeface="Courier New" pitchFamily="49" charset="0"/>
              </a:rPr>
              <a:t>    401029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51206" name="Freeform 6"/>
          <p:cNvSpPr>
            <a:spLocks/>
          </p:cNvSpPr>
          <p:nvPr/>
        </p:nvSpPr>
        <p:spPr bwMode="auto">
          <a:xfrm>
            <a:off x="4073525" y="2133600"/>
            <a:ext cx="1587500" cy="514350"/>
          </a:xfrm>
          <a:custGeom>
            <a:avLst/>
            <a:gdLst>
              <a:gd name="T0" fmla="*/ 0 w 1000"/>
              <a:gd name="T1" fmla="*/ 0 h 224"/>
              <a:gd name="T2" fmla="*/ 880 w 1000"/>
              <a:gd name="T3" fmla="*/ 56 h 224"/>
              <a:gd name="T4" fmla="*/ 720 w 1000"/>
              <a:gd name="T5" fmla="*/ 224 h 224"/>
              <a:gd name="T6" fmla="*/ 0 60000 65536"/>
              <a:gd name="T7" fmla="*/ 0 60000 65536"/>
              <a:gd name="T8" fmla="*/ 0 60000 65536"/>
              <a:gd name="T9" fmla="*/ 0 w 1000"/>
              <a:gd name="T10" fmla="*/ 0 h 224"/>
              <a:gd name="T11" fmla="*/ 1000 w 1000"/>
              <a:gd name="T12" fmla="*/ 224 h 2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0" h="224">
                <a:moveTo>
                  <a:pt x="0" y="0"/>
                </a:moveTo>
                <a:cubicBezTo>
                  <a:pt x="147" y="9"/>
                  <a:pt x="760" y="19"/>
                  <a:pt x="880" y="56"/>
                </a:cubicBezTo>
                <a:cubicBezTo>
                  <a:pt x="1000" y="93"/>
                  <a:pt x="753" y="189"/>
                  <a:pt x="720" y="224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1207" name="Freeform 7"/>
          <p:cNvSpPr>
            <a:spLocks/>
          </p:cNvSpPr>
          <p:nvPr/>
        </p:nvSpPr>
        <p:spPr bwMode="auto">
          <a:xfrm>
            <a:off x="4073525" y="3555859"/>
            <a:ext cx="1587500" cy="438291"/>
          </a:xfrm>
          <a:custGeom>
            <a:avLst/>
            <a:gdLst>
              <a:gd name="T0" fmla="*/ 0 w 1000"/>
              <a:gd name="T1" fmla="*/ 0 h 224"/>
              <a:gd name="T2" fmla="*/ 880 w 1000"/>
              <a:gd name="T3" fmla="*/ 56 h 224"/>
              <a:gd name="T4" fmla="*/ 720 w 1000"/>
              <a:gd name="T5" fmla="*/ 224 h 224"/>
              <a:gd name="T6" fmla="*/ 0 60000 65536"/>
              <a:gd name="T7" fmla="*/ 0 60000 65536"/>
              <a:gd name="T8" fmla="*/ 0 60000 65536"/>
              <a:gd name="T9" fmla="*/ 0 w 1000"/>
              <a:gd name="T10" fmla="*/ 0 h 224"/>
              <a:gd name="T11" fmla="*/ 1000 w 1000"/>
              <a:gd name="T12" fmla="*/ 224 h 2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0" h="224">
                <a:moveTo>
                  <a:pt x="0" y="0"/>
                </a:moveTo>
                <a:cubicBezTo>
                  <a:pt x="147" y="9"/>
                  <a:pt x="760" y="19"/>
                  <a:pt x="880" y="56"/>
                </a:cubicBezTo>
                <a:cubicBezTo>
                  <a:pt x="1000" y="93"/>
                  <a:pt x="753" y="189"/>
                  <a:pt x="720" y="224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1208" name="Text Box 8"/>
          <p:cNvSpPr txBox="1">
            <a:spLocks noChangeArrowheads="1"/>
          </p:cNvSpPr>
          <p:nvPr/>
        </p:nvSpPr>
        <p:spPr bwMode="auto">
          <a:xfrm>
            <a:off x="4114800" y="1733550"/>
            <a:ext cx="86273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i="1" dirty="0" err="1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 = 98</a:t>
            </a:r>
          </a:p>
        </p:txBody>
      </p:sp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4114800" y="3105150"/>
            <a:ext cx="86273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i="1" dirty="0" err="1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 = 99</a:t>
            </a:r>
          </a:p>
        </p:txBody>
      </p:sp>
      <p:sp>
        <p:nvSpPr>
          <p:cNvPr id="51210" name="Text Box 10"/>
          <p:cNvSpPr txBox="1">
            <a:spLocks noChangeArrowheads="1"/>
          </p:cNvSpPr>
          <p:nvPr/>
        </p:nvSpPr>
        <p:spPr bwMode="auto">
          <a:xfrm>
            <a:off x="4114800" y="4552950"/>
            <a:ext cx="101822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i="1" dirty="0" err="1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 = 100</a:t>
            </a:r>
          </a:p>
        </p:txBody>
      </p:sp>
      <p:sp>
        <p:nvSpPr>
          <p:cNvPr id="51211" name="Text Box 11"/>
          <p:cNvSpPr txBox="1">
            <a:spLocks noChangeArrowheads="1"/>
          </p:cNvSpPr>
          <p:nvPr/>
        </p:nvSpPr>
        <p:spPr bwMode="auto">
          <a:xfrm>
            <a:off x="5575338" y="2216628"/>
            <a:ext cx="214308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Predict Taken (OK)</a:t>
            </a:r>
          </a:p>
        </p:txBody>
      </p:sp>
      <p:sp>
        <p:nvSpPr>
          <p:cNvPr id="51212" name="Text Box 12"/>
          <p:cNvSpPr txBox="1">
            <a:spLocks noChangeArrowheads="1"/>
          </p:cNvSpPr>
          <p:nvPr/>
        </p:nvSpPr>
        <p:spPr bwMode="auto">
          <a:xfrm>
            <a:off x="5548111" y="3409950"/>
            <a:ext cx="1610890" cy="70788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Predict Taken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(Oops)</a:t>
            </a:r>
          </a:p>
        </p:txBody>
      </p:sp>
      <p:sp>
        <p:nvSpPr>
          <p:cNvPr id="51214" name="Text Box 14"/>
          <p:cNvSpPr txBox="1">
            <a:spLocks noChangeArrowheads="1"/>
          </p:cNvSpPr>
          <p:nvPr/>
        </p:nvSpPr>
        <p:spPr bwMode="auto">
          <a:xfrm>
            <a:off x="4114800" y="5946775"/>
            <a:ext cx="101822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i="1" dirty="0" err="1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 = 101</a:t>
            </a:r>
          </a:p>
        </p:txBody>
      </p:sp>
      <p:sp>
        <p:nvSpPr>
          <p:cNvPr id="51215" name="Freeform 15"/>
          <p:cNvSpPr>
            <a:spLocks/>
          </p:cNvSpPr>
          <p:nvPr/>
        </p:nvSpPr>
        <p:spPr bwMode="auto">
          <a:xfrm>
            <a:off x="4060825" y="4953000"/>
            <a:ext cx="1587500" cy="438150"/>
          </a:xfrm>
          <a:custGeom>
            <a:avLst/>
            <a:gdLst>
              <a:gd name="T0" fmla="*/ 0 w 1000"/>
              <a:gd name="T1" fmla="*/ 0 h 224"/>
              <a:gd name="T2" fmla="*/ 880 w 1000"/>
              <a:gd name="T3" fmla="*/ 56 h 224"/>
              <a:gd name="T4" fmla="*/ 720 w 1000"/>
              <a:gd name="T5" fmla="*/ 224 h 224"/>
              <a:gd name="T6" fmla="*/ 0 60000 65536"/>
              <a:gd name="T7" fmla="*/ 0 60000 65536"/>
              <a:gd name="T8" fmla="*/ 0 60000 65536"/>
              <a:gd name="T9" fmla="*/ 0 w 1000"/>
              <a:gd name="T10" fmla="*/ 0 h 224"/>
              <a:gd name="T11" fmla="*/ 1000 w 1000"/>
              <a:gd name="T12" fmla="*/ 224 h 2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0" h="224">
                <a:moveTo>
                  <a:pt x="0" y="0"/>
                </a:moveTo>
                <a:cubicBezTo>
                  <a:pt x="147" y="9"/>
                  <a:pt x="760" y="19"/>
                  <a:pt x="880" y="56"/>
                </a:cubicBezTo>
                <a:cubicBezTo>
                  <a:pt x="1000" y="93"/>
                  <a:pt x="753" y="189"/>
                  <a:pt x="720" y="224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1216" name="Text Box 16"/>
          <p:cNvSpPr txBox="1">
            <a:spLocks noChangeArrowheads="1"/>
          </p:cNvSpPr>
          <p:nvPr/>
        </p:nvSpPr>
        <p:spPr bwMode="auto">
          <a:xfrm>
            <a:off x="5548111" y="1047750"/>
            <a:ext cx="2219325" cy="70788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i="1" dirty="0">
                <a:latin typeface="Calibri" pitchFamily="34" charset="0"/>
              </a:rPr>
              <a:t>Assume </a:t>
            </a:r>
          </a:p>
          <a:p>
            <a:pPr>
              <a:lnSpc>
                <a:spcPct val="100000"/>
              </a:lnSpc>
            </a:pPr>
            <a:r>
              <a:rPr lang="en-US" sz="2000" i="1" dirty="0">
                <a:latin typeface="Calibri" pitchFamily="34" charset="0"/>
              </a:rPr>
              <a:t>vector length = </a:t>
            </a:r>
            <a:r>
              <a:rPr lang="en-US" sz="2000" i="1" dirty="0">
                <a:solidFill>
                  <a:srgbClr val="C00000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51217" name="Text Box 17"/>
          <p:cNvSpPr txBox="1">
            <a:spLocks noChangeArrowheads="1"/>
          </p:cNvSpPr>
          <p:nvPr/>
        </p:nvSpPr>
        <p:spPr bwMode="auto">
          <a:xfrm>
            <a:off x="5548111" y="4248150"/>
            <a:ext cx="1295400" cy="10156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Read invalid location</a:t>
            </a:r>
          </a:p>
        </p:txBody>
      </p:sp>
      <p:sp>
        <p:nvSpPr>
          <p:cNvPr id="51218" name="Line 18"/>
          <p:cNvSpPr>
            <a:spLocks noChangeShapeType="1"/>
          </p:cNvSpPr>
          <p:nvPr/>
        </p:nvSpPr>
        <p:spPr bwMode="auto">
          <a:xfrm flipH="1" flipV="1">
            <a:off x="4518025" y="4171950"/>
            <a:ext cx="1066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1219" name="Line 19"/>
          <p:cNvSpPr>
            <a:spLocks noChangeShapeType="1"/>
          </p:cNvSpPr>
          <p:nvPr/>
        </p:nvSpPr>
        <p:spPr bwMode="auto">
          <a:xfrm>
            <a:off x="7889875" y="5086350"/>
            <a:ext cx="0" cy="1219200"/>
          </a:xfrm>
          <a:prstGeom prst="line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</a:endParaRPr>
          </a:p>
        </p:txBody>
      </p:sp>
      <p:sp>
        <p:nvSpPr>
          <p:cNvPr id="51220" name="Line 20"/>
          <p:cNvSpPr>
            <a:spLocks noChangeShapeType="1"/>
          </p:cNvSpPr>
          <p:nvPr/>
        </p:nvSpPr>
        <p:spPr bwMode="auto">
          <a:xfrm>
            <a:off x="7889875" y="3867150"/>
            <a:ext cx="0" cy="1219200"/>
          </a:xfrm>
          <a:prstGeom prst="line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</a:endParaRPr>
          </a:p>
        </p:txBody>
      </p:sp>
      <p:sp>
        <p:nvSpPr>
          <p:cNvPr id="51221" name="Text Box 21"/>
          <p:cNvSpPr txBox="1">
            <a:spLocks noChangeArrowheads="1"/>
          </p:cNvSpPr>
          <p:nvPr/>
        </p:nvSpPr>
        <p:spPr bwMode="auto">
          <a:xfrm>
            <a:off x="7280275" y="4220742"/>
            <a:ext cx="1342099" cy="461665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Executed</a:t>
            </a:r>
          </a:p>
        </p:txBody>
      </p:sp>
      <p:sp>
        <p:nvSpPr>
          <p:cNvPr id="51222" name="Text Box 22"/>
          <p:cNvSpPr txBox="1">
            <a:spLocks noChangeArrowheads="1"/>
          </p:cNvSpPr>
          <p:nvPr/>
        </p:nvSpPr>
        <p:spPr bwMode="auto">
          <a:xfrm>
            <a:off x="7362825" y="5425654"/>
            <a:ext cx="1191929" cy="461665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Fetched</a:t>
            </a:r>
          </a:p>
        </p:txBody>
      </p:sp>
      <p:sp>
        <p:nvSpPr>
          <p:cNvPr id="51223" name="Line 23"/>
          <p:cNvSpPr>
            <a:spLocks noChangeShapeType="1"/>
          </p:cNvSpPr>
          <p:nvPr/>
        </p:nvSpPr>
        <p:spPr bwMode="auto">
          <a:xfrm flipV="1">
            <a:off x="7737475" y="3867150"/>
            <a:ext cx="304800" cy="0"/>
          </a:xfrm>
          <a:prstGeom prst="line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</a:endParaRPr>
          </a:p>
        </p:txBody>
      </p:sp>
      <p:sp>
        <p:nvSpPr>
          <p:cNvPr id="51224" name="Line 24"/>
          <p:cNvSpPr>
            <a:spLocks noChangeShapeType="1"/>
          </p:cNvSpPr>
          <p:nvPr/>
        </p:nvSpPr>
        <p:spPr bwMode="auto">
          <a:xfrm flipV="1">
            <a:off x="7737475" y="5086350"/>
            <a:ext cx="304800" cy="0"/>
          </a:xfrm>
          <a:prstGeom prst="line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</a:endParaRPr>
          </a:p>
        </p:txBody>
      </p:sp>
      <p:sp>
        <p:nvSpPr>
          <p:cNvPr id="51225" name="Line 25"/>
          <p:cNvSpPr>
            <a:spLocks noChangeShapeType="1"/>
          </p:cNvSpPr>
          <p:nvPr/>
        </p:nvSpPr>
        <p:spPr bwMode="auto">
          <a:xfrm flipV="1">
            <a:off x="7737475" y="6305550"/>
            <a:ext cx="304800" cy="0"/>
          </a:xfrm>
          <a:prstGeom prst="line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"/>
          <p:cNvSpPr>
            <a:spLocks noChangeArrowheads="1"/>
          </p:cNvSpPr>
          <p:nvPr/>
        </p:nvSpPr>
        <p:spPr bwMode="auto">
          <a:xfrm>
            <a:off x="489955" y="2481206"/>
            <a:ext cx="4615445" cy="10746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en-US" sz="1600" dirty="0">
                <a:latin typeface="Courier New" pitchFamily="49" charset="0"/>
              </a:rPr>
              <a:t> </a:t>
            </a:r>
            <a:r>
              <a:rPr lang="da-DK" sz="1600" dirty="0">
                <a:latin typeface="Courier New" pitchFamily="49" charset="0"/>
              </a:rPr>
              <a:t> 401029:  </a:t>
            </a:r>
            <a:r>
              <a:rPr lang="da-DK" sz="1600" dirty="0" err="1">
                <a:latin typeface="Courier New" pitchFamily="49" charset="0"/>
              </a:rPr>
              <a:t>vmulsd</a:t>
            </a:r>
            <a:r>
              <a:rPr lang="da-DK" sz="1600" dirty="0">
                <a:latin typeface="Courier New" pitchFamily="49" charset="0"/>
              </a:rPr>
              <a:t> (%</a:t>
            </a:r>
            <a:r>
              <a:rPr lang="da-DK" sz="1600" dirty="0" err="1">
                <a:latin typeface="Courier New" pitchFamily="49" charset="0"/>
              </a:rPr>
              <a:t>rdx</a:t>
            </a:r>
            <a:r>
              <a:rPr lang="da-DK" sz="1600" dirty="0">
                <a:latin typeface="Courier New" pitchFamily="49" charset="0"/>
              </a:rPr>
              <a:t>),%xmm0,%xmm0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40102d:  </a:t>
            </a:r>
            <a:r>
              <a:rPr lang="da-DK" sz="1600" dirty="0" err="1">
                <a:latin typeface="Courier New" pitchFamily="49" charset="0"/>
              </a:rPr>
              <a:t>add</a:t>
            </a:r>
            <a:r>
              <a:rPr lang="da-DK" sz="1600" dirty="0">
                <a:latin typeface="Courier New" pitchFamily="49" charset="0"/>
              </a:rPr>
              <a:t>    $0x8,%rdx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401031:  </a:t>
            </a:r>
            <a:r>
              <a:rPr lang="da-DK" sz="1600" dirty="0" err="1">
                <a:latin typeface="Courier New" pitchFamily="49" charset="0"/>
              </a:rPr>
              <a:t>cmp</a:t>
            </a:r>
            <a:r>
              <a:rPr lang="da-DK" sz="1600" dirty="0">
                <a:latin typeface="Courier New" pitchFamily="49" charset="0"/>
              </a:rPr>
              <a:t>    %</a:t>
            </a:r>
            <a:r>
              <a:rPr lang="da-DK" sz="1600" dirty="0" err="1">
                <a:latin typeface="Courier New" pitchFamily="49" charset="0"/>
              </a:rPr>
              <a:t>rax</a:t>
            </a:r>
            <a:r>
              <a:rPr lang="da-DK" sz="1600" dirty="0">
                <a:latin typeface="Courier New" pitchFamily="49" charset="0"/>
              </a:rPr>
              <a:t>,%</a:t>
            </a:r>
            <a:r>
              <a:rPr lang="da-DK" sz="1600" dirty="0" err="1">
                <a:latin typeface="Courier New" pitchFamily="49" charset="0"/>
              </a:rPr>
              <a:t>rdx</a:t>
            </a:r>
            <a:endParaRPr lang="da-DK" sz="16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401034:  </a:t>
            </a:r>
            <a:r>
              <a:rPr lang="da-DK" sz="1600" dirty="0" err="1">
                <a:latin typeface="Courier New" pitchFamily="49" charset="0"/>
              </a:rPr>
              <a:t>jne</a:t>
            </a:r>
            <a:r>
              <a:rPr lang="da-DK" sz="1600" dirty="0">
                <a:latin typeface="Courier New" pitchFamily="49" charset="0"/>
              </a:rPr>
              <a:t>    401029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489955" y="3878347"/>
            <a:ext cx="4615445" cy="10746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en-US" sz="1600" dirty="0">
                <a:latin typeface="Courier New" pitchFamily="49" charset="0"/>
              </a:rPr>
              <a:t> </a:t>
            </a:r>
            <a:r>
              <a:rPr lang="da-DK" sz="1600" dirty="0">
                <a:latin typeface="Courier New" pitchFamily="49" charset="0"/>
              </a:rPr>
              <a:t> 401029:  </a:t>
            </a:r>
            <a:r>
              <a:rPr lang="da-DK" sz="1600" dirty="0" err="1">
                <a:latin typeface="Courier New" pitchFamily="49" charset="0"/>
              </a:rPr>
              <a:t>vmulsd</a:t>
            </a:r>
            <a:r>
              <a:rPr lang="da-DK" sz="1600" dirty="0">
                <a:latin typeface="Courier New" pitchFamily="49" charset="0"/>
              </a:rPr>
              <a:t> (%</a:t>
            </a:r>
            <a:r>
              <a:rPr lang="da-DK" sz="1600" dirty="0" err="1">
                <a:latin typeface="Courier New" pitchFamily="49" charset="0"/>
              </a:rPr>
              <a:t>rdx</a:t>
            </a:r>
            <a:r>
              <a:rPr lang="da-DK" sz="1600" dirty="0">
                <a:latin typeface="Courier New" pitchFamily="49" charset="0"/>
              </a:rPr>
              <a:t>),%xmm0,%xmm0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40102d:  </a:t>
            </a:r>
            <a:r>
              <a:rPr lang="da-DK" sz="1600" dirty="0" err="1">
                <a:latin typeface="Courier New" pitchFamily="49" charset="0"/>
              </a:rPr>
              <a:t>add</a:t>
            </a:r>
            <a:r>
              <a:rPr lang="da-DK" sz="1600" dirty="0">
                <a:latin typeface="Courier New" pitchFamily="49" charset="0"/>
              </a:rPr>
              <a:t>    $0x8,%rdx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401031:  </a:t>
            </a:r>
            <a:r>
              <a:rPr lang="da-DK" sz="1600" dirty="0" err="1">
                <a:latin typeface="Courier New" pitchFamily="49" charset="0"/>
              </a:rPr>
              <a:t>cmp</a:t>
            </a:r>
            <a:r>
              <a:rPr lang="da-DK" sz="1600" dirty="0">
                <a:latin typeface="Courier New" pitchFamily="49" charset="0"/>
              </a:rPr>
              <a:t>    %</a:t>
            </a:r>
            <a:r>
              <a:rPr lang="da-DK" sz="1600" dirty="0" err="1">
                <a:latin typeface="Courier New" pitchFamily="49" charset="0"/>
              </a:rPr>
              <a:t>rax</a:t>
            </a:r>
            <a:r>
              <a:rPr lang="da-DK" sz="1600" dirty="0">
                <a:latin typeface="Courier New" pitchFamily="49" charset="0"/>
              </a:rPr>
              <a:t>,%</a:t>
            </a:r>
            <a:r>
              <a:rPr lang="da-DK" sz="1600" dirty="0" err="1">
                <a:latin typeface="Courier New" pitchFamily="49" charset="0"/>
              </a:rPr>
              <a:t>rdx</a:t>
            </a:r>
            <a:endParaRPr lang="da-DK" sz="16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401034:  </a:t>
            </a:r>
            <a:r>
              <a:rPr lang="da-DK" sz="1600" dirty="0" err="1">
                <a:latin typeface="Courier New" pitchFamily="49" charset="0"/>
              </a:rPr>
              <a:t>jne</a:t>
            </a:r>
            <a:r>
              <a:rPr lang="da-DK" sz="1600" dirty="0">
                <a:latin typeface="Courier New" pitchFamily="49" charset="0"/>
              </a:rPr>
              <a:t>    401029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30" name="Rectangle 3"/>
          <p:cNvSpPr>
            <a:spLocks noChangeArrowheads="1"/>
          </p:cNvSpPr>
          <p:nvPr/>
        </p:nvSpPr>
        <p:spPr bwMode="auto">
          <a:xfrm>
            <a:off x="489955" y="5326147"/>
            <a:ext cx="4615445" cy="10746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en-US" sz="1600" dirty="0">
                <a:latin typeface="Courier New" pitchFamily="49" charset="0"/>
              </a:rPr>
              <a:t> </a:t>
            </a:r>
            <a:r>
              <a:rPr lang="da-DK" sz="1600" dirty="0">
                <a:latin typeface="Courier New" pitchFamily="49" charset="0"/>
              </a:rPr>
              <a:t> 401029:  </a:t>
            </a:r>
            <a:r>
              <a:rPr lang="da-DK" sz="1600" dirty="0" err="1">
                <a:latin typeface="Courier New" pitchFamily="49" charset="0"/>
              </a:rPr>
              <a:t>vmulsd</a:t>
            </a:r>
            <a:r>
              <a:rPr lang="da-DK" sz="1600" dirty="0">
                <a:latin typeface="Courier New" pitchFamily="49" charset="0"/>
              </a:rPr>
              <a:t> (%</a:t>
            </a:r>
            <a:r>
              <a:rPr lang="da-DK" sz="1600" dirty="0" err="1">
                <a:latin typeface="Courier New" pitchFamily="49" charset="0"/>
              </a:rPr>
              <a:t>rdx</a:t>
            </a:r>
            <a:r>
              <a:rPr lang="da-DK" sz="1600" dirty="0">
                <a:latin typeface="Courier New" pitchFamily="49" charset="0"/>
              </a:rPr>
              <a:t>),%xmm0,%xmm0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40102d:  </a:t>
            </a:r>
            <a:r>
              <a:rPr lang="da-DK" sz="1600" dirty="0" err="1">
                <a:latin typeface="Courier New" pitchFamily="49" charset="0"/>
              </a:rPr>
              <a:t>add</a:t>
            </a:r>
            <a:r>
              <a:rPr lang="da-DK" sz="1600" dirty="0">
                <a:latin typeface="Courier New" pitchFamily="49" charset="0"/>
              </a:rPr>
              <a:t>    $0x8,%rdx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401031:  </a:t>
            </a:r>
            <a:r>
              <a:rPr lang="da-DK" sz="1600" dirty="0" err="1">
                <a:latin typeface="Courier New" pitchFamily="49" charset="0"/>
              </a:rPr>
              <a:t>cmp</a:t>
            </a:r>
            <a:r>
              <a:rPr lang="da-DK" sz="1600" dirty="0">
                <a:latin typeface="Courier New" pitchFamily="49" charset="0"/>
              </a:rPr>
              <a:t>    %</a:t>
            </a:r>
            <a:r>
              <a:rPr lang="da-DK" sz="1600" dirty="0" err="1">
                <a:latin typeface="Courier New" pitchFamily="49" charset="0"/>
              </a:rPr>
              <a:t>rax</a:t>
            </a:r>
            <a:r>
              <a:rPr lang="da-DK" sz="1600" dirty="0">
                <a:latin typeface="Courier New" pitchFamily="49" charset="0"/>
              </a:rPr>
              <a:t>,%</a:t>
            </a:r>
            <a:r>
              <a:rPr lang="da-DK" sz="1600" dirty="0" err="1">
                <a:latin typeface="Courier New" pitchFamily="49" charset="0"/>
              </a:rPr>
              <a:t>rdx</a:t>
            </a:r>
            <a:endParaRPr lang="da-DK" sz="16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401034:  </a:t>
            </a:r>
            <a:r>
              <a:rPr lang="da-DK" sz="1600" dirty="0" err="1">
                <a:latin typeface="Courier New" pitchFamily="49" charset="0"/>
              </a:rPr>
              <a:t>jne</a:t>
            </a:r>
            <a:r>
              <a:rPr lang="da-DK" sz="1600" dirty="0">
                <a:latin typeface="Courier New" pitchFamily="49" charset="0"/>
              </a:rPr>
              <a:t>    401029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489955" y="1120562"/>
            <a:ext cx="4615445" cy="10746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en-US" sz="1600" dirty="0">
                <a:latin typeface="Courier New" pitchFamily="49" charset="0"/>
              </a:rPr>
              <a:t> </a:t>
            </a:r>
            <a:r>
              <a:rPr lang="da-DK" sz="1600" dirty="0">
                <a:latin typeface="Courier New" pitchFamily="49" charset="0"/>
              </a:rPr>
              <a:t> 401029:  </a:t>
            </a:r>
            <a:r>
              <a:rPr lang="da-DK" sz="1600" dirty="0" err="1">
                <a:latin typeface="Courier New" pitchFamily="49" charset="0"/>
              </a:rPr>
              <a:t>vmulsd</a:t>
            </a:r>
            <a:r>
              <a:rPr lang="da-DK" sz="1600" dirty="0">
                <a:latin typeface="Courier New" pitchFamily="49" charset="0"/>
              </a:rPr>
              <a:t> (%</a:t>
            </a:r>
            <a:r>
              <a:rPr lang="da-DK" sz="1600" dirty="0" err="1">
                <a:latin typeface="Courier New" pitchFamily="49" charset="0"/>
              </a:rPr>
              <a:t>rdx</a:t>
            </a:r>
            <a:r>
              <a:rPr lang="da-DK" sz="1600" dirty="0">
                <a:latin typeface="Courier New" pitchFamily="49" charset="0"/>
              </a:rPr>
              <a:t>),%xmm0,%xmm0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40102d:  </a:t>
            </a:r>
            <a:r>
              <a:rPr lang="da-DK" sz="1600" dirty="0" err="1">
                <a:latin typeface="Courier New" pitchFamily="49" charset="0"/>
              </a:rPr>
              <a:t>add</a:t>
            </a:r>
            <a:r>
              <a:rPr lang="da-DK" sz="1600" dirty="0">
                <a:latin typeface="Courier New" pitchFamily="49" charset="0"/>
              </a:rPr>
              <a:t>    $0x8,%rdx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401031:  </a:t>
            </a:r>
            <a:r>
              <a:rPr lang="da-DK" sz="1600" dirty="0" err="1">
                <a:latin typeface="Courier New" pitchFamily="49" charset="0"/>
              </a:rPr>
              <a:t>cmp</a:t>
            </a:r>
            <a:r>
              <a:rPr lang="da-DK" sz="1600" dirty="0">
                <a:latin typeface="Courier New" pitchFamily="49" charset="0"/>
              </a:rPr>
              <a:t>    %</a:t>
            </a:r>
            <a:r>
              <a:rPr lang="da-DK" sz="1600" dirty="0" err="1">
                <a:latin typeface="Courier New" pitchFamily="49" charset="0"/>
              </a:rPr>
              <a:t>rax</a:t>
            </a:r>
            <a:r>
              <a:rPr lang="da-DK" sz="1600" dirty="0">
                <a:latin typeface="Courier New" pitchFamily="49" charset="0"/>
              </a:rPr>
              <a:t>,%</a:t>
            </a:r>
            <a:r>
              <a:rPr lang="da-DK" sz="1600" dirty="0" err="1">
                <a:latin typeface="Courier New" pitchFamily="49" charset="0"/>
              </a:rPr>
              <a:t>rdx</a:t>
            </a:r>
            <a:endParaRPr lang="da-DK" sz="16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da-DK" sz="1600" dirty="0">
                <a:latin typeface="Courier New" pitchFamily="49" charset="0"/>
              </a:rPr>
              <a:t>  401034:  </a:t>
            </a:r>
            <a:r>
              <a:rPr lang="da-DK" sz="1600" dirty="0" err="1">
                <a:latin typeface="Courier New" pitchFamily="49" charset="0"/>
              </a:rPr>
              <a:t>jne</a:t>
            </a:r>
            <a:r>
              <a:rPr lang="da-DK" sz="1600" dirty="0">
                <a:latin typeface="Courier New" pitchFamily="49" charset="0"/>
              </a:rPr>
              <a:t>    401029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32" name="Freeform 6"/>
          <p:cNvSpPr>
            <a:spLocks/>
          </p:cNvSpPr>
          <p:nvPr/>
        </p:nvSpPr>
        <p:spPr bwMode="auto">
          <a:xfrm>
            <a:off x="4073525" y="2133600"/>
            <a:ext cx="1587500" cy="514350"/>
          </a:xfrm>
          <a:custGeom>
            <a:avLst/>
            <a:gdLst>
              <a:gd name="T0" fmla="*/ 0 w 1000"/>
              <a:gd name="T1" fmla="*/ 0 h 224"/>
              <a:gd name="T2" fmla="*/ 880 w 1000"/>
              <a:gd name="T3" fmla="*/ 56 h 224"/>
              <a:gd name="T4" fmla="*/ 720 w 1000"/>
              <a:gd name="T5" fmla="*/ 224 h 224"/>
              <a:gd name="T6" fmla="*/ 0 60000 65536"/>
              <a:gd name="T7" fmla="*/ 0 60000 65536"/>
              <a:gd name="T8" fmla="*/ 0 60000 65536"/>
              <a:gd name="T9" fmla="*/ 0 w 1000"/>
              <a:gd name="T10" fmla="*/ 0 h 224"/>
              <a:gd name="T11" fmla="*/ 1000 w 1000"/>
              <a:gd name="T12" fmla="*/ 224 h 2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0" h="224">
                <a:moveTo>
                  <a:pt x="0" y="0"/>
                </a:moveTo>
                <a:cubicBezTo>
                  <a:pt x="147" y="9"/>
                  <a:pt x="760" y="19"/>
                  <a:pt x="880" y="56"/>
                </a:cubicBezTo>
                <a:cubicBezTo>
                  <a:pt x="1000" y="93"/>
                  <a:pt x="753" y="189"/>
                  <a:pt x="720" y="224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3" name="Freeform 7"/>
          <p:cNvSpPr>
            <a:spLocks/>
          </p:cNvSpPr>
          <p:nvPr/>
        </p:nvSpPr>
        <p:spPr bwMode="auto">
          <a:xfrm>
            <a:off x="4073525" y="3555859"/>
            <a:ext cx="1587500" cy="438291"/>
          </a:xfrm>
          <a:custGeom>
            <a:avLst/>
            <a:gdLst>
              <a:gd name="T0" fmla="*/ 0 w 1000"/>
              <a:gd name="T1" fmla="*/ 0 h 224"/>
              <a:gd name="T2" fmla="*/ 880 w 1000"/>
              <a:gd name="T3" fmla="*/ 56 h 224"/>
              <a:gd name="T4" fmla="*/ 720 w 1000"/>
              <a:gd name="T5" fmla="*/ 224 h 224"/>
              <a:gd name="T6" fmla="*/ 0 60000 65536"/>
              <a:gd name="T7" fmla="*/ 0 60000 65536"/>
              <a:gd name="T8" fmla="*/ 0 60000 65536"/>
              <a:gd name="T9" fmla="*/ 0 w 1000"/>
              <a:gd name="T10" fmla="*/ 0 h 224"/>
              <a:gd name="T11" fmla="*/ 1000 w 1000"/>
              <a:gd name="T12" fmla="*/ 224 h 2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0" h="224">
                <a:moveTo>
                  <a:pt x="0" y="0"/>
                </a:moveTo>
                <a:cubicBezTo>
                  <a:pt x="147" y="9"/>
                  <a:pt x="760" y="19"/>
                  <a:pt x="880" y="56"/>
                </a:cubicBezTo>
                <a:cubicBezTo>
                  <a:pt x="1000" y="93"/>
                  <a:pt x="753" y="189"/>
                  <a:pt x="720" y="224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4" name="Text Box 8"/>
          <p:cNvSpPr txBox="1">
            <a:spLocks noChangeArrowheads="1"/>
          </p:cNvSpPr>
          <p:nvPr/>
        </p:nvSpPr>
        <p:spPr bwMode="auto">
          <a:xfrm>
            <a:off x="4114800" y="1733550"/>
            <a:ext cx="86273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i="1" dirty="0" err="1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 = 98</a:t>
            </a:r>
          </a:p>
        </p:txBody>
      </p:sp>
      <p:sp>
        <p:nvSpPr>
          <p:cNvPr id="35" name="Text Box 9"/>
          <p:cNvSpPr txBox="1">
            <a:spLocks noChangeArrowheads="1"/>
          </p:cNvSpPr>
          <p:nvPr/>
        </p:nvSpPr>
        <p:spPr bwMode="auto">
          <a:xfrm>
            <a:off x="4114800" y="3105150"/>
            <a:ext cx="86273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i="1" dirty="0" err="1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 = 99</a:t>
            </a:r>
          </a:p>
        </p:txBody>
      </p:sp>
      <p:sp>
        <p:nvSpPr>
          <p:cNvPr id="36" name="Text Box 10"/>
          <p:cNvSpPr txBox="1">
            <a:spLocks noChangeArrowheads="1"/>
          </p:cNvSpPr>
          <p:nvPr/>
        </p:nvSpPr>
        <p:spPr bwMode="auto">
          <a:xfrm>
            <a:off x="4114800" y="4552950"/>
            <a:ext cx="101822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i="1" dirty="0" err="1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 = 100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5575338" y="2216628"/>
            <a:ext cx="214308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Predict Taken (OK)</a:t>
            </a:r>
          </a:p>
        </p:txBody>
      </p:sp>
      <p:sp>
        <p:nvSpPr>
          <p:cNvPr id="38" name="Text Box 12"/>
          <p:cNvSpPr txBox="1">
            <a:spLocks noChangeArrowheads="1"/>
          </p:cNvSpPr>
          <p:nvPr/>
        </p:nvSpPr>
        <p:spPr bwMode="auto">
          <a:xfrm>
            <a:off x="5548111" y="3409950"/>
            <a:ext cx="1610890" cy="70788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Predict Taken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(Oops)</a:t>
            </a:r>
          </a:p>
        </p:txBody>
      </p:sp>
      <p:sp>
        <p:nvSpPr>
          <p:cNvPr id="39" name="Text Box 14"/>
          <p:cNvSpPr txBox="1">
            <a:spLocks noChangeArrowheads="1"/>
          </p:cNvSpPr>
          <p:nvPr/>
        </p:nvSpPr>
        <p:spPr bwMode="auto">
          <a:xfrm>
            <a:off x="4114800" y="5946775"/>
            <a:ext cx="101822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i="1" dirty="0" err="1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 = 101</a:t>
            </a:r>
          </a:p>
        </p:txBody>
      </p:sp>
      <p:sp>
        <p:nvSpPr>
          <p:cNvPr id="40" name="Freeform 15"/>
          <p:cNvSpPr>
            <a:spLocks/>
          </p:cNvSpPr>
          <p:nvPr/>
        </p:nvSpPr>
        <p:spPr bwMode="auto">
          <a:xfrm>
            <a:off x="4060825" y="4953000"/>
            <a:ext cx="1587500" cy="438150"/>
          </a:xfrm>
          <a:custGeom>
            <a:avLst/>
            <a:gdLst>
              <a:gd name="T0" fmla="*/ 0 w 1000"/>
              <a:gd name="T1" fmla="*/ 0 h 224"/>
              <a:gd name="T2" fmla="*/ 880 w 1000"/>
              <a:gd name="T3" fmla="*/ 56 h 224"/>
              <a:gd name="T4" fmla="*/ 720 w 1000"/>
              <a:gd name="T5" fmla="*/ 224 h 224"/>
              <a:gd name="T6" fmla="*/ 0 60000 65536"/>
              <a:gd name="T7" fmla="*/ 0 60000 65536"/>
              <a:gd name="T8" fmla="*/ 0 60000 65536"/>
              <a:gd name="T9" fmla="*/ 0 w 1000"/>
              <a:gd name="T10" fmla="*/ 0 h 224"/>
              <a:gd name="T11" fmla="*/ 1000 w 1000"/>
              <a:gd name="T12" fmla="*/ 224 h 2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0" h="224">
                <a:moveTo>
                  <a:pt x="0" y="0"/>
                </a:moveTo>
                <a:cubicBezTo>
                  <a:pt x="147" y="9"/>
                  <a:pt x="760" y="19"/>
                  <a:pt x="880" y="56"/>
                </a:cubicBezTo>
                <a:cubicBezTo>
                  <a:pt x="1000" y="93"/>
                  <a:pt x="753" y="189"/>
                  <a:pt x="720" y="224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1" name="Text Box 16"/>
          <p:cNvSpPr txBox="1">
            <a:spLocks noChangeArrowheads="1"/>
          </p:cNvSpPr>
          <p:nvPr/>
        </p:nvSpPr>
        <p:spPr bwMode="auto">
          <a:xfrm>
            <a:off x="5548111" y="1047750"/>
            <a:ext cx="2219325" cy="70788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i="1" dirty="0">
                <a:latin typeface="Calibri" pitchFamily="34" charset="0"/>
              </a:rPr>
              <a:t>Assume </a:t>
            </a:r>
          </a:p>
          <a:p>
            <a:pPr>
              <a:lnSpc>
                <a:spcPct val="100000"/>
              </a:lnSpc>
            </a:pPr>
            <a:r>
              <a:rPr lang="en-US" sz="2000" i="1" dirty="0">
                <a:latin typeface="Calibri" pitchFamily="34" charset="0"/>
              </a:rPr>
              <a:t>vector length = </a:t>
            </a:r>
            <a:r>
              <a:rPr lang="en-US" sz="2000" i="1" dirty="0">
                <a:solidFill>
                  <a:srgbClr val="C00000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66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9454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Branch Misprediction Invalidation</a:t>
            </a:r>
          </a:p>
        </p:txBody>
      </p:sp>
      <p:sp>
        <p:nvSpPr>
          <p:cNvPr id="52239" name="Text Box 15"/>
          <p:cNvSpPr txBox="1">
            <a:spLocks noChangeArrowheads="1"/>
          </p:cNvSpPr>
          <p:nvPr/>
        </p:nvSpPr>
        <p:spPr bwMode="auto">
          <a:xfrm>
            <a:off x="5943600" y="4928556"/>
            <a:ext cx="1445139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Invalidate</a:t>
            </a:r>
          </a:p>
        </p:txBody>
      </p:sp>
      <p:sp>
        <p:nvSpPr>
          <p:cNvPr id="52242" name="Line 18"/>
          <p:cNvSpPr>
            <a:spLocks noChangeShapeType="1"/>
          </p:cNvSpPr>
          <p:nvPr/>
        </p:nvSpPr>
        <p:spPr bwMode="auto">
          <a:xfrm>
            <a:off x="685800" y="4114800"/>
            <a:ext cx="44196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2243" name="Line 19"/>
          <p:cNvSpPr>
            <a:spLocks noChangeShapeType="1"/>
          </p:cNvSpPr>
          <p:nvPr/>
        </p:nvSpPr>
        <p:spPr bwMode="auto">
          <a:xfrm>
            <a:off x="685800" y="4385096"/>
            <a:ext cx="44196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2244" name="Line 20"/>
          <p:cNvSpPr>
            <a:spLocks noChangeShapeType="1"/>
          </p:cNvSpPr>
          <p:nvPr/>
        </p:nvSpPr>
        <p:spPr bwMode="auto">
          <a:xfrm>
            <a:off x="685800" y="4613696"/>
            <a:ext cx="44196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2245" name="Line 21"/>
          <p:cNvSpPr>
            <a:spLocks noChangeShapeType="1"/>
          </p:cNvSpPr>
          <p:nvPr/>
        </p:nvSpPr>
        <p:spPr bwMode="auto">
          <a:xfrm>
            <a:off x="685800" y="4876800"/>
            <a:ext cx="44196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2246" name="Line 22"/>
          <p:cNvSpPr>
            <a:spLocks noChangeShapeType="1"/>
          </p:cNvSpPr>
          <p:nvPr/>
        </p:nvSpPr>
        <p:spPr bwMode="auto">
          <a:xfrm>
            <a:off x="685800" y="5105400"/>
            <a:ext cx="44196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2247" name="Line 23"/>
          <p:cNvSpPr>
            <a:spLocks noChangeShapeType="1"/>
          </p:cNvSpPr>
          <p:nvPr/>
        </p:nvSpPr>
        <p:spPr bwMode="auto">
          <a:xfrm>
            <a:off x="685800" y="5545348"/>
            <a:ext cx="44196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2248" name="Line 24"/>
          <p:cNvSpPr>
            <a:spLocks noChangeShapeType="1"/>
          </p:cNvSpPr>
          <p:nvPr/>
        </p:nvSpPr>
        <p:spPr bwMode="auto">
          <a:xfrm>
            <a:off x="685800" y="5773948"/>
            <a:ext cx="44196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2249" name="Line 25"/>
          <p:cNvSpPr>
            <a:spLocks noChangeShapeType="1"/>
          </p:cNvSpPr>
          <p:nvPr/>
        </p:nvSpPr>
        <p:spPr bwMode="auto">
          <a:xfrm>
            <a:off x="685800" y="6019800"/>
            <a:ext cx="44196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2250" name="AutoShape 26"/>
          <p:cNvSpPr>
            <a:spLocks/>
          </p:cNvSpPr>
          <p:nvPr/>
        </p:nvSpPr>
        <p:spPr bwMode="auto">
          <a:xfrm>
            <a:off x="5562600" y="4070350"/>
            <a:ext cx="304800" cy="2178050"/>
          </a:xfrm>
          <a:prstGeom prst="rightBrace">
            <a:avLst>
              <a:gd name="adj1" fmla="val 56250"/>
              <a:gd name="adj2" fmla="val 50000"/>
            </a:avLst>
          </a:prstGeom>
          <a:noFill/>
          <a:ln w="25400">
            <a:solidFill>
              <a:srgbClr val="C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46" name="Line 25"/>
          <p:cNvSpPr>
            <a:spLocks noChangeShapeType="1"/>
          </p:cNvSpPr>
          <p:nvPr/>
        </p:nvSpPr>
        <p:spPr bwMode="auto">
          <a:xfrm>
            <a:off x="685800" y="6248400"/>
            <a:ext cx="44196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93712"/>
            <a:ext cx="75517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Branch Misprediction Recovery</a:t>
            </a:r>
          </a:p>
        </p:txBody>
      </p:sp>
      <p:sp>
        <p:nvSpPr>
          <p:cNvPr id="66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8896" y="3962400"/>
            <a:ext cx="8009626" cy="13684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Performance Cost</a:t>
            </a:r>
          </a:p>
          <a:p>
            <a:pPr lvl="1" eaLnBrk="1" hangingPunct="1">
              <a:defRPr/>
            </a:pPr>
            <a:r>
              <a:rPr lang="en-US" dirty="0"/>
              <a:t>Multiple clock cycles on modern processor</a:t>
            </a:r>
          </a:p>
          <a:p>
            <a:pPr lvl="1" eaLnBrk="1" hangingPunct="1">
              <a:defRPr/>
            </a:pPr>
            <a:r>
              <a:rPr lang="en-US" dirty="0"/>
              <a:t>Can be a major performance limiter</a:t>
            </a:r>
          </a:p>
        </p:txBody>
      </p:sp>
      <p:sp>
        <p:nvSpPr>
          <p:cNvPr id="53252" name="Rectangle 5"/>
          <p:cNvSpPr>
            <a:spLocks noChangeArrowheads="1"/>
          </p:cNvSpPr>
          <p:nvPr/>
        </p:nvSpPr>
        <p:spPr bwMode="auto">
          <a:xfrm>
            <a:off x="589861" y="1354028"/>
            <a:ext cx="5341039" cy="181331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cs-CZ" sz="1600" dirty="0">
                <a:latin typeface="Courier New" pitchFamily="49" charset="0"/>
              </a:rPr>
              <a:t>  401029:  </a:t>
            </a:r>
            <a:r>
              <a:rPr lang="cs-CZ" sz="1600" dirty="0" err="1">
                <a:latin typeface="Courier New" pitchFamily="49" charset="0"/>
              </a:rPr>
              <a:t>vmulsd</a:t>
            </a:r>
            <a:r>
              <a:rPr lang="cs-CZ" sz="1600" dirty="0">
                <a:latin typeface="Courier New" pitchFamily="49" charset="0"/>
              </a:rPr>
              <a:t> (%</a:t>
            </a:r>
            <a:r>
              <a:rPr lang="cs-CZ" sz="1600" dirty="0" err="1">
                <a:latin typeface="Courier New" pitchFamily="49" charset="0"/>
              </a:rPr>
              <a:t>rdx</a:t>
            </a:r>
            <a:r>
              <a:rPr lang="cs-CZ" sz="1600" dirty="0">
                <a:latin typeface="Courier New" pitchFamily="49" charset="0"/>
              </a:rPr>
              <a:t>),%xmm0,%xmm0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cs-CZ" sz="1600" dirty="0">
                <a:latin typeface="Courier New" pitchFamily="49" charset="0"/>
              </a:rPr>
              <a:t>  40102d:  </a:t>
            </a:r>
            <a:r>
              <a:rPr lang="cs-CZ" sz="1600" dirty="0" err="1">
                <a:latin typeface="Courier New" pitchFamily="49" charset="0"/>
              </a:rPr>
              <a:t>add</a:t>
            </a:r>
            <a:r>
              <a:rPr lang="cs-CZ" sz="1600" dirty="0">
                <a:latin typeface="Courier New" pitchFamily="49" charset="0"/>
              </a:rPr>
              <a:t>    $0x8,%rdx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cs-CZ" sz="1600" dirty="0">
                <a:latin typeface="Courier New" pitchFamily="49" charset="0"/>
              </a:rPr>
              <a:t>  401031:  </a:t>
            </a:r>
            <a:r>
              <a:rPr lang="cs-CZ" sz="1600" dirty="0" err="1">
                <a:latin typeface="Courier New" pitchFamily="49" charset="0"/>
              </a:rPr>
              <a:t>cmp</a:t>
            </a:r>
            <a:r>
              <a:rPr lang="cs-CZ" sz="1600" dirty="0">
                <a:latin typeface="Courier New" pitchFamily="49" charset="0"/>
              </a:rPr>
              <a:t>    %</a:t>
            </a:r>
            <a:r>
              <a:rPr lang="cs-CZ" sz="1600" dirty="0" err="1">
                <a:latin typeface="Courier New" pitchFamily="49" charset="0"/>
              </a:rPr>
              <a:t>rax</a:t>
            </a:r>
            <a:r>
              <a:rPr lang="cs-CZ" sz="1600" dirty="0">
                <a:latin typeface="Courier New" pitchFamily="49" charset="0"/>
              </a:rPr>
              <a:t>,%</a:t>
            </a:r>
            <a:r>
              <a:rPr lang="cs-CZ" sz="1600" dirty="0" err="1">
                <a:latin typeface="Courier New" pitchFamily="49" charset="0"/>
              </a:rPr>
              <a:t>rdx</a:t>
            </a:r>
            <a:endParaRPr lang="cs-CZ" sz="1600" dirty="0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cs-CZ" sz="1600" dirty="0">
                <a:latin typeface="Courier New" pitchFamily="49" charset="0"/>
              </a:rPr>
              <a:t>  401034:  </a:t>
            </a:r>
            <a:r>
              <a:rPr lang="cs-CZ" sz="1600" dirty="0" err="1">
                <a:latin typeface="Courier New" pitchFamily="49" charset="0"/>
              </a:rPr>
              <a:t>jne</a:t>
            </a:r>
            <a:r>
              <a:rPr lang="cs-CZ" sz="1600" dirty="0">
                <a:latin typeface="Courier New" pitchFamily="49" charset="0"/>
              </a:rPr>
              <a:t>    401029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cs-CZ" sz="1600" dirty="0">
                <a:latin typeface="Courier New" pitchFamily="49" charset="0"/>
              </a:rPr>
              <a:t>  401036:  </a:t>
            </a:r>
            <a:r>
              <a:rPr lang="cs-CZ" sz="1600" dirty="0" err="1">
                <a:latin typeface="Courier New" pitchFamily="49" charset="0"/>
              </a:rPr>
              <a:t>jmp</a:t>
            </a:r>
            <a:r>
              <a:rPr lang="cs-CZ" sz="1600" dirty="0">
                <a:latin typeface="Courier New" pitchFamily="49" charset="0"/>
              </a:rPr>
              <a:t>    401040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cs-CZ" sz="1600" dirty="0">
                <a:latin typeface="Courier New" pitchFamily="49" charset="0"/>
              </a:rPr>
              <a:t>   . . .</a:t>
            </a:r>
          </a:p>
          <a:p>
            <a:pPr>
              <a:lnSpc>
                <a:spcPct val="100000"/>
              </a:lnSpc>
              <a:tabLst>
                <a:tab pos="685800" algn="l"/>
                <a:tab pos="1435100" algn="l"/>
                <a:tab pos="3606800" algn="l"/>
                <a:tab pos="4686300" algn="l"/>
              </a:tabLst>
            </a:pPr>
            <a:r>
              <a:rPr lang="cs-CZ" sz="1600" dirty="0">
                <a:latin typeface="Courier New" pitchFamily="49" charset="0"/>
              </a:rPr>
              <a:t>  401040:  </a:t>
            </a:r>
            <a:r>
              <a:rPr lang="cs-CZ" sz="1600" dirty="0" err="1">
                <a:latin typeface="Courier New" pitchFamily="49" charset="0"/>
              </a:rPr>
              <a:t>vmovsd</a:t>
            </a:r>
            <a:r>
              <a:rPr lang="cs-CZ" sz="1600" dirty="0">
                <a:latin typeface="Courier New" pitchFamily="49" charset="0"/>
              </a:rPr>
              <a:t> %xmm0,(%r12)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53253" name="Freeform 7"/>
          <p:cNvSpPr>
            <a:spLocks/>
          </p:cNvSpPr>
          <p:nvPr/>
        </p:nvSpPr>
        <p:spPr bwMode="auto">
          <a:xfrm>
            <a:off x="3793627" y="2260687"/>
            <a:ext cx="1968500" cy="228600"/>
          </a:xfrm>
          <a:custGeom>
            <a:avLst/>
            <a:gdLst>
              <a:gd name="T0" fmla="*/ 0 w 1000"/>
              <a:gd name="T1" fmla="*/ 0 h 224"/>
              <a:gd name="T2" fmla="*/ 880 w 1000"/>
              <a:gd name="T3" fmla="*/ 56 h 224"/>
              <a:gd name="T4" fmla="*/ 720 w 1000"/>
              <a:gd name="T5" fmla="*/ 224 h 224"/>
              <a:gd name="T6" fmla="*/ 0 60000 65536"/>
              <a:gd name="T7" fmla="*/ 0 60000 65536"/>
              <a:gd name="T8" fmla="*/ 0 60000 65536"/>
              <a:gd name="T9" fmla="*/ 0 w 1000"/>
              <a:gd name="T10" fmla="*/ 0 h 224"/>
              <a:gd name="T11" fmla="*/ 1000 w 1000"/>
              <a:gd name="T12" fmla="*/ 224 h 2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0" h="224">
                <a:moveTo>
                  <a:pt x="0" y="0"/>
                </a:moveTo>
                <a:cubicBezTo>
                  <a:pt x="147" y="9"/>
                  <a:pt x="760" y="19"/>
                  <a:pt x="880" y="56"/>
                </a:cubicBezTo>
                <a:cubicBezTo>
                  <a:pt x="1000" y="93"/>
                  <a:pt x="753" y="189"/>
                  <a:pt x="720" y="224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3254" name="Text Box 9"/>
          <p:cNvSpPr txBox="1">
            <a:spLocks noChangeArrowheads="1"/>
          </p:cNvSpPr>
          <p:nvPr/>
        </p:nvSpPr>
        <p:spPr bwMode="auto">
          <a:xfrm>
            <a:off x="4777877" y="1676400"/>
            <a:ext cx="86273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i="1" dirty="0" err="1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 = 99</a:t>
            </a:r>
          </a:p>
        </p:txBody>
      </p:sp>
      <p:sp>
        <p:nvSpPr>
          <p:cNvPr id="53255" name="Text Box 11"/>
          <p:cNvSpPr txBox="1">
            <a:spLocks noChangeArrowheads="1"/>
          </p:cNvSpPr>
          <p:nvPr/>
        </p:nvSpPr>
        <p:spPr bwMode="auto">
          <a:xfrm>
            <a:off x="5965371" y="1796230"/>
            <a:ext cx="271760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Definitely not taken</a:t>
            </a:r>
          </a:p>
        </p:txBody>
      </p:sp>
      <p:sp>
        <p:nvSpPr>
          <p:cNvPr id="8" name="AutoShape 8"/>
          <p:cNvSpPr>
            <a:spLocks/>
          </p:cNvSpPr>
          <p:nvPr/>
        </p:nvSpPr>
        <p:spPr bwMode="auto">
          <a:xfrm>
            <a:off x="5958114" y="2471651"/>
            <a:ext cx="304800" cy="609600"/>
          </a:xfrm>
          <a:prstGeom prst="rightBrace">
            <a:avLst>
              <a:gd name="adj1" fmla="val 166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304731" y="2370025"/>
            <a:ext cx="1215447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Reload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Pipeline</a:t>
            </a: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36398"/>
            <a:ext cx="5849938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Important Tools</a:t>
            </a:r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3793" indent="-223793" defTabSz="895168">
              <a:tabLst>
                <a:tab pos="6399506" algn="l"/>
              </a:tabLst>
              <a:defRPr/>
            </a:pPr>
            <a:r>
              <a:rPr lang="en-US" dirty="0">
                <a:ea typeface="+mn-ea"/>
                <a:cs typeface="+mn-cs"/>
              </a:rPr>
              <a:t>Measurement</a:t>
            </a:r>
          </a:p>
          <a:p>
            <a:pPr marL="560274" lvl="1" indent="-222205" defTabSz="895168">
              <a:tabLst>
                <a:tab pos="6399506" algn="l"/>
              </a:tabLst>
              <a:defRPr/>
            </a:pPr>
            <a:r>
              <a:rPr lang="en-US" dirty="0"/>
              <a:t>Accurately compute time taken by code</a:t>
            </a:r>
          </a:p>
          <a:p>
            <a:pPr marL="839618" lvl="2" indent="-165067" defTabSz="895168">
              <a:tabLst>
                <a:tab pos="6399506" algn="l"/>
              </a:tabLst>
              <a:defRPr/>
            </a:pPr>
            <a:r>
              <a:rPr lang="en-US" dirty="0"/>
              <a:t>Most modern machines have built in cycle counters</a:t>
            </a:r>
          </a:p>
          <a:p>
            <a:pPr marL="839618" lvl="2" indent="-165067" defTabSz="895168">
              <a:tabLst>
                <a:tab pos="6399506" algn="l"/>
              </a:tabLst>
              <a:defRPr/>
            </a:pPr>
            <a:r>
              <a:rPr lang="en-US" dirty="0"/>
              <a:t>Using them to get reliable measurements is tricky</a:t>
            </a:r>
          </a:p>
          <a:p>
            <a:pPr marL="560274" lvl="1" indent="-222205" defTabSz="895168">
              <a:tabLst>
                <a:tab pos="6399506" algn="l"/>
              </a:tabLst>
              <a:defRPr/>
            </a:pPr>
            <a:r>
              <a:rPr lang="en-US" dirty="0"/>
              <a:t>Profile procedure calling frequencies</a:t>
            </a:r>
          </a:p>
          <a:p>
            <a:pPr marL="839618" lvl="2" indent="-165067" defTabSz="895168">
              <a:tabLst>
                <a:tab pos="6399506" algn="l"/>
              </a:tabLst>
              <a:defRPr/>
            </a:pPr>
            <a:r>
              <a:rPr lang="en-US" dirty="0"/>
              <a:t>Unix tool </a:t>
            </a:r>
            <a:r>
              <a:rPr lang="en-US" dirty="0" err="1"/>
              <a:t>gprof</a:t>
            </a:r>
            <a:endParaRPr lang="en-US" dirty="0"/>
          </a:p>
          <a:p>
            <a:pPr marL="223793" indent="-223793" defTabSz="895168">
              <a:tabLst>
                <a:tab pos="6399506" algn="l"/>
              </a:tabLst>
              <a:defRPr/>
            </a:pPr>
            <a:r>
              <a:rPr lang="en-US" dirty="0">
                <a:ea typeface="+mn-ea"/>
                <a:cs typeface="+mn-cs"/>
              </a:rPr>
              <a:t>Observation</a:t>
            </a:r>
          </a:p>
          <a:p>
            <a:pPr marL="560274" lvl="1" indent="-222205" defTabSz="895168">
              <a:tabLst>
                <a:tab pos="6399506" algn="l"/>
              </a:tabLst>
              <a:defRPr/>
            </a:pPr>
            <a:r>
              <a:rPr lang="en-US" dirty="0"/>
              <a:t>Generating assembly code</a:t>
            </a:r>
          </a:p>
          <a:p>
            <a:pPr marL="839618" lvl="2" indent="-165067" defTabSz="895168">
              <a:tabLst>
                <a:tab pos="6399506" algn="l"/>
              </a:tabLst>
              <a:defRPr/>
            </a:pPr>
            <a:r>
              <a:rPr lang="en-US" dirty="0"/>
              <a:t>Lets you see what optimizations compiler can make</a:t>
            </a:r>
          </a:p>
          <a:p>
            <a:pPr marL="839618" lvl="2" indent="-165067" defTabSz="895168">
              <a:tabLst>
                <a:tab pos="6399506" algn="l"/>
              </a:tabLst>
              <a:defRPr/>
            </a:pPr>
            <a:r>
              <a:rPr lang="en-US" dirty="0"/>
              <a:t>Understand capabilities/limitations of particular compiler</a:t>
            </a:r>
          </a:p>
        </p:txBody>
      </p:sp>
    </p:spTree>
    <p:extLst>
      <p:ext uri="{BB962C8B-B14F-4D97-AF65-F5344CB8AC3E}">
        <p14:creationId xmlns:p14="http://schemas.microsoft.com/office/powerpoint/2010/main" val="40302216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36398"/>
            <a:ext cx="6688138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Code Profiling Example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4" y="991731"/>
            <a:ext cx="8307387" cy="607731"/>
          </a:xfrm>
        </p:spPr>
        <p:txBody>
          <a:bodyPr/>
          <a:lstStyle/>
          <a:p>
            <a:pPr eaLnBrk="1" hangingPunct="1">
              <a:buFont typeface="Wingdings" pitchFamily="-109" charset="2"/>
              <a:buNone/>
              <a:defRPr/>
            </a:pPr>
            <a:r>
              <a:rPr lang="en-US">
                <a:ea typeface="+mn-ea"/>
                <a:cs typeface="+mn-cs"/>
              </a:rPr>
              <a:t>Task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Count word frequencies in text document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Produce sorted list of words from most frequent to least</a:t>
            </a:r>
          </a:p>
          <a:p>
            <a:pPr eaLnBrk="1" hangingPunct="1">
              <a:buFont typeface="Wingdings" pitchFamily="-109" charset="2"/>
              <a:buNone/>
              <a:defRPr/>
            </a:pPr>
            <a:r>
              <a:rPr lang="en-US">
                <a:ea typeface="+mn-ea"/>
                <a:cs typeface="+mn-cs"/>
              </a:rPr>
              <a:t>Steps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Convert strings to lowercase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Apply hash function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Read words and insert into hash table</a:t>
            </a: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/>
              <a:t>Mostly list operations</a:t>
            </a: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/>
              <a:t>Maintain counter for each unique word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Sort results</a:t>
            </a:r>
          </a:p>
          <a:p>
            <a:pPr eaLnBrk="1" hangingPunct="1">
              <a:buFont typeface="Wingdings" pitchFamily="-109" charset="2"/>
              <a:buNone/>
              <a:defRPr/>
            </a:pPr>
            <a:r>
              <a:rPr lang="en-US">
                <a:ea typeface="+mn-ea"/>
                <a:cs typeface="+mn-cs"/>
              </a:rPr>
              <a:t>Data Set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Collected works of Shakespeare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946,596 total words, 26,596 unique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Initial implementation: 9.2 seconds</a:t>
            </a:r>
          </a:p>
        </p:txBody>
      </p:sp>
      <p:graphicFrame>
        <p:nvGraphicFramePr>
          <p:cNvPr id="409604" name="Group 4"/>
          <p:cNvGraphicFramePr>
            <a:graphicFrameLocks noGrp="1"/>
          </p:cNvGraphicFramePr>
          <p:nvPr/>
        </p:nvGraphicFramePr>
        <p:xfrm>
          <a:off x="5867400" y="3124341"/>
          <a:ext cx="2438400" cy="323367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367"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29,801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the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367"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27,529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and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367"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21,029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I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367"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20,957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to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367"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18,514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of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367"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15,370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a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367"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14010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you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367"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12,936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my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367"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11,722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in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367"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11,519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-109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Helvetica" pitchFamily="-109" charset="0"/>
                        </a:rPr>
                        <a:t>that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4072" name="Rectangle 40"/>
          <p:cNvSpPr>
            <a:spLocks noChangeArrowheads="1"/>
          </p:cNvSpPr>
          <p:nvPr/>
        </p:nvSpPr>
        <p:spPr bwMode="auto">
          <a:xfrm>
            <a:off x="5851689" y="2133600"/>
            <a:ext cx="2799551" cy="94398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1421" tIns="45710" rIns="91421" bIns="45710">
            <a:prstTxWarp prst="textNoShape">
              <a:avLst/>
            </a:prstTxWarp>
            <a:spAutoFit/>
          </a:bodyPr>
          <a:lstStyle/>
          <a:p>
            <a:pPr marL="114277" lvl="1">
              <a:spcBef>
                <a:spcPct val="30000"/>
              </a:spcBef>
              <a:buSzPct val="100000"/>
            </a:pPr>
            <a:r>
              <a:rPr lang="en-US" sz="2403" dirty="0">
                <a:solidFill>
                  <a:srgbClr val="A50021"/>
                </a:solidFill>
              </a:rPr>
              <a:t>Shakespeare’s</a:t>
            </a:r>
          </a:p>
          <a:p>
            <a:pPr marL="114277" lvl="1">
              <a:spcBef>
                <a:spcPct val="30000"/>
              </a:spcBef>
              <a:buSzPct val="100000"/>
            </a:pPr>
            <a:r>
              <a:rPr lang="en-US" sz="2403" dirty="0">
                <a:solidFill>
                  <a:srgbClr val="A50021"/>
                </a:solidFill>
              </a:rPr>
              <a:t>most frequent words</a:t>
            </a:r>
          </a:p>
        </p:txBody>
      </p:sp>
    </p:spTree>
    <p:extLst>
      <p:ext uri="{BB962C8B-B14F-4D97-AF65-F5344CB8AC3E}">
        <p14:creationId xmlns:p14="http://schemas.microsoft.com/office/powerpoint/2010/main" val="12929006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36398"/>
            <a:ext cx="5608638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Code Profiling</a:t>
            </a: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4" y="991731"/>
            <a:ext cx="8307387" cy="5452121"/>
          </a:xfrm>
        </p:spPr>
        <p:txBody>
          <a:bodyPr/>
          <a:lstStyle/>
          <a:p>
            <a:pPr eaLnBrk="1" hangingPunct="1">
              <a:buFont typeface="Wingdings" pitchFamily="-109" charset="2"/>
              <a:buNone/>
              <a:defRPr/>
            </a:pPr>
            <a:r>
              <a:rPr lang="en-US" dirty="0">
                <a:ea typeface="+mn-ea"/>
                <a:cs typeface="+mn-cs"/>
              </a:rPr>
              <a:t>Augment Executable Program with Timing Functions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 dirty="0"/>
              <a:t>Computes (approximate) amount of time spent in each function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 dirty="0"/>
              <a:t>Time computation method</a:t>
            </a: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 dirty="0"/>
              <a:t>Periodically (~ every 10ms) interrupt program</a:t>
            </a: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 dirty="0"/>
              <a:t>Determine what function is currently executing</a:t>
            </a: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 dirty="0"/>
              <a:t>Increment its timer by interval (e.g., 10ms)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 dirty="0"/>
              <a:t>Also maintains counter for each function indicating number of times called</a:t>
            </a:r>
          </a:p>
          <a:p>
            <a:pPr eaLnBrk="1" hangingPunct="1">
              <a:buFont typeface="Wingdings" pitchFamily="-109" charset="2"/>
              <a:buNone/>
              <a:defRPr/>
            </a:pPr>
            <a:r>
              <a:rPr lang="en-US" dirty="0">
                <a:ea typeface="+mn-ea"/>
                <a:cs typeface="+mn-cs"/>
              </a:rPr>
              <a:t>Using</a:t>
            </a:r>
          </a:p>
          <a:p>
            <a:pPr lvl="1" eaLnBrk="1" hangingPunct="1">
              <a:buFont typeface="Wingdings" pitchFamily="-109" charset="2"/>
              <a:buNone/>
              <a:defRPr/>
            </a:pPr>
            <a:r>
              <a:rPr lang="en-US" b="1" dirty="0" err="1">
                <a:latin typeface="Courier New" pitchFamily="-109" charset="0"/>
              </a:rPr>
              <a:t>gcc</a:t>
            </a:r>
            <a:r>
              <a:rPr lang="en-US" b="1" dirty="0">
                <a:latin typeface="Courier New" pitchFamily="-109" charset="0"/>
              </a:rPr>
              <a:t> –O2 –pg </a:t>
            </a:r>
            <a:r>
              <a:rPr lang="en-US" b="1" dirty="0" err="1">
                <a:latin typeface="Courier New" pitchFamily="-109" charset="0"/>
              </a:rPr>
              <a:t>prog</a:t>
            </a:r>
            <a:r>
              <a:rPr lang="en-US" b="1" dirty="0">
                <a:latin typeface="Courier New" pitchFamily="-109" charset="0"/>
              </a:rPr>
              <a:t>. –</a:t>
            </a:r>
            <a:r>
              <a:rPr lang="en-US" b="1" dirty="0" err="1">
                <a:latin typeface="Courier New" pitchFamily="-109" charset="0"/>
              </a:rPr>
              <a:t>o</a:t>
            </a:r>
            <a:r>
              <a:rPr lang="en-US" b="1" dirty="0">
                <a:latin typeface="Courier New" pitchFamily="-109" charset="0"/>
              </a:rPr>
              <a:t> </a:t>
            </a:r>
            <a:r>
              <a:rPr lang="en-US" b="1" dirty="0" err="1">
                <a:latin typeface="Courier New" pitchFamily="-109" charset="0"/>
              </a:rPr>
              <a:t>prog</a:t>
            </a:r>
            <a:endParaRPr lang="en-US" b="1" dirty="0">
              <a:latin typeface="Courier New" pitchFamily="-109" charset="0"/>
            </a:endParaRPr>
          </a:p>
          <a:p>
            <a:pPr lvl="1" eaLnBrk="1" hangingPunct="1">
              <a:buFont typeface="Wingdings" pitchFamily="-109" charset="2"/>
              <a:buNone/>
              <a:defRPr/>
            </a:pPr>
            <a:r>
              <a:rPr lang="en-US" b="1" dirty="0">
                <a:latin typeface="Courier New" pitchFamily="-109" charset="0"/>
              </a:rPr>
              <a:t>./</a:t>
            </a:r>
            <a:r>
              <a:rPr lang="en-US" b="1" dirty="0" err="1">
                <a:latin typeface="Courier New" pitchFamily="-109" charset="0"/>
              </a:rPr>
              <a:t>prog</a:t>
            </a:r>
            <a:endParaRPr lang="en-US" b="1" dirty="0">
              <a:latin typeface="Courier New" pitchFamily="-109" charset="0"/>
            </a:endParaRP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 dirty="0"/>
              <a:t>Executes in normal fashion, but also generates file </a:t>
            </a:r>
            <a:r>
              <a:rPr lang="en-US" b="1" dirty="0" err="1">
                <a:latin typeface="Courier New" pitchFamily="-109" charset="0"/>
              </a:rPr>
              <a:t>gmon.out</a:t>
            </a:r>
            <a:endParaRPr lang="en-US" b="1" dirty="0">
              <a:latin typeface="Courier New" pitchFamily="-109" charset="0"/>
            </a:endParaRPr>
          </a:p>
          <a:p>
            <a:pPr lvl="1" eaLnBrk="1" hangingPunct="1">
              <a:buFont typeface="Wingdings" pitchFamily="-109" charset="2"/>
              <a:buNone/>
              <a:defRPr/>
            </a:pPr>
            <a:r>
              <a:rPr lang="en-US" b="1" dirty="0" err="1">
                <a:latin typeface="Courier New" pitchFamily="-109" charset="0"/>
              </a:rPr>
              <a:t>gprof</a:t>
            </a:r>
            <a:r>
              <a:rPr lang="en-US" b="1" dirty="0">
                <a:latin typeface="Courier New" pitchFamily="-109" charset="0"/>
              </a:rPr>
              <a:t> </a:t>
            </a:r>
            <a:r>
              <a:rPr lang="en-US" b="1" dirty="0" err="1">
                <a:latin typeface="Courier New" pitchFamily="-109" charset="0"/>
              </a:rPr>
              <a:t>prog</a:t>
            </a:r>
            <a:endParaRPr lang="en-US" b="1" dirty="0">
              <a:latin typeface="Courier New" pitchFamily="-109" charset="0"/>
            </a:endParaRP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 dirty="0"/>
              <a:t>Generates profile information based on </a:t>
            </a:r>
            <a:r>
              <a:rPr lang="en-US" b="1" dirty="0" err="1">
                <a:latin typeface="Courier New" pitchFamily="-109" charset="0"/>
              </a:rPr>
              <a:t>gmon.out</a:t>
            </a:r>
            <a:endParaRPr lang="en-US" b="1" dirty="0">
              <a:latin typeface="Courier New" pitchFamily="-10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1991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36398"/>
            <a:ext cx="6091238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Profiling Results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4" y="3262391"/>
            <a:ext cx="8307387" cy="3181462"/>
          </a:xfrm>
        </p:spPr>
        <p:txBody>
          <a:bodyPr/>
          <a:lstStyle/>
          <a:p>
            <a:pPr eaLnBrk="1" hangingPunct="1">
              <a:buFont typeface="Wingdings" pitchFamily="-109" charset="2"/>
              <a:buNone/>
              <a:defRPr/>
            </a:pPr>
            <a:r>
              <a:rPr lang="en-US">
                <a:ea typeface="+mn-ea"/>
                <a:cs typeface="+mn-cs"/>
              </a:rPr>
              <a:t>Call Statistics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Number of calls and cumulative time for each function</a:t>
            </a:r>
          </a:p>
          <a:p>
            <a:pPr eaLnBrk="1" hangingPunct="1">
              <a:buFont typeface="Wingdings" pitchFamily="-109" charset="2"/>
              <a:buNone/>
              <a:defRPr/>
            </a:pPr>
            <a:r>
              <a:rPr lang="en-US">
                <a:ea typeface="+mn-ea"/>
                <a:cs typeface="+mn-cs"/>
              </a:rPr>
              <a:t>Performance Limiter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Using inefficient sorting algorithm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Single call uses 87% of CPU time</a:t>
            </a:r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228600" y="1220224"/>
            <a:ext cx="8286750" cy="1593111"/>
          </a:xfrm>
          <a:prstGeom prst="rect">
            <a:avLst/>
          </a:prstGeom>
          <a:solidFill>
            <a:srgbClr val="FFCCFF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68" tIns="44441" rIns="90468" bIns="44441">
            <a:prstTxWarp prst="textNoShape">
              <a:avLst/>
            </a:prstTxWarp>
            <a:spAutoFit/>
          </a:bodyPr>
          <a:lstStyle/>
          <a:p>
            <a:pPr>
              <a:tabLst>
                <a:tab pos="914215" algn="l"/>
                <a:tab pos="2285537" algn="l"/>
              </a:tabLst>
            </a:pPr>
            <a:r>
              <a:rPr lang="en-US" sz="1602" dirty="0">
                <a:latin typeface="Courier New" pitchFamily="-106" charset="0"/>
              </a:rPr>
              <a:t> %   cumulative   self              self     total           </a:t>
            </a:r>
          </a:p>
          <a:p>
            <a:pPr>
              <a:tabLst>
                <a:tab pos="914215" algn="l"/>
                <a:tab pos="2285537" algn="l"/>
              </a:tabLst>
            </a:pPr>
            <a:r>
              <a:rPr lang="en-US" sz="1602" dirty="0">
                <a:latin typeface="Courier New" pitchFamily="-106" charset="0"/>
              </a:rPr>
              <a:t> time   seconds   seconds    calls  ms/call  ms/call  name    </a:t>
            </a:r>
          </a:p>
          <a:p>
            <a:pPr>
              <a:tabLst>
                <a:tab pos="914215" algn="l"/>
                <a:tab pos="2285537" algn="l"/>
              </a:tabLst>
            </a:pPr>
            <a:r>
              <a:rPr lang="en-US" sz="1602" dirty="0">
                <a:latin typeface="Courier New" pitchFamily="-106" charset="0"/>
              </a:rPr>
              <a:t> 86.60      8.21     8.21        1  8210.00  8210.00  </a:t>
            </a:r>
            <a:r>
              <a:rPr lang="en-US" sz="1602" dirty="0" err="1">
                <a:latin typeface="Courier New" pitchFamily="-106" charset="0"/>
              </a:rPr>
              <a:t>sort_words</a:t>
            </a:r>
            <a:endParaRPr lang="en-US" sz="1602" dirty="0">
              <a:latin typeface="Courier New" pitchFamily="-106" charset="0"/>
            </a:endParaRPr>
          </a:p>
          <a:p>
            <a:pPr>
              <a:tabLst>
                <a:tab pos="914215" algn="l"/>
                <a:tab pos="2285537" algn="l"/>
              </a:tabLst>
            </a:pPr>
            <a:r>
              <a:rPr lang="en-US" sz="1602" dirty="0">
                <a:latin typeface="Courier New" pitchFamily="-106" charset="0"/>
              </a:rPr>
              <a:t>  5.80      8.76     0.55   946596     0.00     0.00  lower1</a:t>
            </a:r>
          </a:p>
          <a:p>
            <a:pPr>
              <a:tabLst>
                <a:tab pos="914215" algn="l"/>
                <a:tab pos="2285537" algn="l"/>
              </a:tabLst>
            </a:pPr>
            <a:r>
              <a:rPr lang="en-US" sz="1602" dirty="0">
                <a:latin typeface="Courier New" pitchFamily="-106" charset="0"/>
              </a:rPr>
              <a:t>  4.75      9.21     0.45   946596     0.00     0.00  </a:t>
            </a:r>
            <a:r>
              <a:rPr lang="en-US" sz="1602" dirty="0" err="1">
                <a:latin typeface="Courier New" pitchFamily="-106" charset="0"/>
              </a:rPr>
              <a:t>find_ele_rec</a:t>
            </a:r>
            <a:endParaRPr lang="en-US" sz="1602" dirty="0">
              <a:latin typeface="Courier New" pitchFamily="-106" charset="0"/>
            </a:endParaRPr>
          </a:p>
          <a:p>
            <a:pPr>
              <a:tabLst>
                <a:tab pos="914215" algn="l"/>
                <a:tab pos="2285537" algn="l"/>
              </a:tabLst>
            </a:pPr>
            <a:r>
              <a:rPr lang="en-US" sz="1602" dirty="0">
                <a:latin typeface="Courier New" pitchFamily="-106" charset="0"/>
              </a:rPr>
              <a:t>  1.27      9.33     0.12   946596     0.00     0.00  </a:t>
            </a:r>
            <a:r>
              <a:rPr lang="en-US" sz="1602" dirty="0" err="1">
                <a:latin typeface="Courier New" pitchFamily="-106" charset="0"/>
              </a:rPr>
              <a:t>h_add</a:t>
            </a:r>
            <a:endParaRPr lang="en-US" sz="1602" dirty="0">
              <a:latin typeface="Courier New" pitchFamily="-10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97261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382838" y="336398"/>
            <a:ext cx="4419600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Code Optimizations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4" y="4395340"/>
            <a:ext cx="8307387" cy="377650"/>
          </a:xfrm>
        </p:spPr>
        <p:txBody>
          <a:bodyPr/>
          <a:lstStyle/>
          <a:p>
            <a:pPr lvl="1" eaLnBrk="1" hangingPunct="1"/>
            <a:r>
              <a:rPr lang="en-US">
                <a:ea typeface="ＭＳ Ｐゴシック" pitchFamily="-106" charset="-128"/>
              </a:rPr>
              <a:t>First step: Use more efficient sorting function</a:t>
            </a:r>
          </a:p>
          <a:p>
            <a:pPr lvl="1" eaLnBrk="1" hangingPunct="1"/>
            <a:r>
              <a:rPr lang="en-US">
                <a:ea typeface="ＭＳ Ｐゴシック" pitchFamily="-106" charset="-128"/>
              </a:rPr>
              <a:t>Library function </a:t>
            </a:r>
            <a:r>
              <a:rPr lang="en-US">
                <a:latin typeface="Courier New" pitchFamily="-106" charset="0"/>
                <a:ea typeface="ＭＳ Ｐゴシック" pitchFamily="-106" charset="-128"/>
              </a:rPr>
              <a:t>qsort</a:t>
            </a:r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962025" y="1372555"/>
          <a:ext cx="7219950" cy="2637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Chart" r:id="rId3" imgW="8572500" imgH="3136900" progId="Excel.Sheet.8">
                  <p:embed/>
                </p:oleObj>
              </mc:Choice>
              <mc:Fallback>
                <p:oleObj name="Chart" r:id="rId3" imgW="8572500" imgH="3136900" progId="Excel.Sheet.8">
                  <p:embed/>
                  <p:pic>
                    <p:nvPicPr>
                      <p:cNvPr id="471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1372555"/>
                        <a:ext cx="7219950" cy="2637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44265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53920"/>
            <a:ext cx="5964238" cy="572823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Further Optimizations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4" y="3657495"/>
            <a:ext cx="8307387" cy="2097702"/>
          </a:xfrm>
        </p:spPr>
        <p:txBody>
          <a:bodyPr/>
          <a:lstStyle/>
          <a:p>
            <a:pPr lvl="1" eaLnBrk="1" hangingPunct="1"/>
            <a:r>
              <a:rPr lang="en-US">
                <a:ea typeface="ＭＳ Ｐゴシック" pitchFamily="-106" charset="-128"/>
              </a:rPr>
              <a:t>Iter first: Use iterative function to insert elements into linked list</a:t>
            </a:r>
          </a:p>
          <a:p>
            <a:pPr lvl="2" eaLnBrk="1" hangingPunct="1"/>
            <a:r>
              <a:rPr lang="en-US">
                <a:ea typeface="ＭＳ Ｐゴシック" pitchFamily="-106" charset="-128"/>
              </a:rPr>
              <a:t>Causes code to slow down</a:t>
            </a:r>
          </a:p>
          <a:p>
            <a:pPr lvl="1" eaLnBrk="1" hangingPunct="1"/>
            <a:r>
              <a:rPr lang="en-US">
                <a:ea typeface="ＭＳ Ｐゴシック" pitchFamily="-106" charset="-128"/>
              </a:rPr>
              <a:t>Iter last: Iterative function, places new entry at end of list</a:t>
            </a:r>
          </a:p>
          <a:p>
            <a:pPr lvl="2" eaLnBrk="1" hangingPunct="1"/>
            <a:r>
              <a:rPr lang="en-US">
                <a:ea typeface="ＭＳ Ｐゴシック" pitchFamily="-106" charset="-128"/>
              </a:rPr>
              <a:t>Tend to place most common words at front of list</a:t>
            </a:r>
          </a:p>
          <a:p>
            <a:pPr lvl="1" eaLnBrk="1" hangingPunct="1"/>
            <a:r>
              <a:rPr lang="en-US">
                <a:ea typeface="ＭＳ Ｐゴシック" pitchFamily="-106" charset="-128"/>
              </a:rPr>
              <a:t>Big table: Increase number of hash buckets</a:t>
            </a:r>
          </a:p>
          <a:p>
            <a:pPr lvl="1" eaLnBrk="1" hangingPunct="1"/>
            <a:r>
              <a:rPr lang="en-US">
                <a:ea typeface="ＭＳ Ｐゴシック" pitchFamily="-106" charset="-128"/>
              </a:rPr>
              <a:t>Better hash: Use more sophisticated hash function</a:t>
            </a:r>
          </a:p>
          <a:p>
            <a:pPr lvl="1" eaLnBrk="1" hangingPunct="1"/>
            <a:r>
              <a:rPr lang="en-US">
                <a:ea typeface="ＭＳ Ｐゴシック" pitchFamily="-106" charset="-128"/>
              </a:rPr>
              <a:t>Linear lower: Move </a:t>
            </a:r>
            <a:r>
              <a:rPr lang="en-US">
                <a:latin typeface="Courier New" pitchFamily="-106" charset="0"/>
                <a:ea typeface="ＭＳ Ｐゴシック" pitchFamily="-106" charset="-128"/>
              </a:rPr>
              <a:t>strlen</a:t>
            </a:r>
            <a:r>
              <a:rPr lang="en-US">
                <a:ea typeface="ＭＳ Ｐゴシック" pitchFamily="-106" charset="-128"/>
              </a:rPr>
              <a:t> out of loop</a:t>
            </a:r>
          </a:p>
        </p:txBody>
      </p:sp>
      <p:graphicFrame>
        <p:nvGraphicFramePr>
          <p:cNvPr id="48130" name="Object 2"/>
          <p:cNvGraphicFramePr>
            <a:graphicFrameLocks noChangeAspect="1"/>
          </p:cNvGraphicFramePr>
          <p:nvPr/>
        </p:nvGraphicFramePr>
        <p:xfrm>
          <a:off x="962025" y="839402"/>
          <a:ext cx="7219950" cy="2637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Chart" r:id="rId3" imgW="8585200" imgH="3136900" progId="Excel.Sheet.8">
                  <p:embed/>
                </p:oleObj>
              </mc:Choice>
              <mc:Fallback>
                <p:oleObj name="Chart" r:id="rId3" imgW="8585200" imgH="3136900" progId="Excel.Sheet.8">
                  <p:embed/>
                  <p:pic>
                    <p:nvPicPr>
                      <p:cNvPr id="481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839402"/>
                        <a:ext cx="7219950" cy="2637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34709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1" y="336398"/>
            <a:ext cx="6345238" cy="57282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Profiling Observations</a:t>
            </a:r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-109" charset="2"/>
              <a:buNone/>
              <a:defRPr/>
            </a:pPr>
            <a:r>
              <a:rPr lang="en-US">
                <a:ea typeface="+mn-ea"/>
                <a:cs typeface="+mn-cs"/>
              </a:rPr>
              <a:t>Benefits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Helps identify performance bottlenecks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Especially useful when have complex system with many components</a:t>
            </a:r>
          </a:p>
          <a:p>
            <a:pPr eaLnBrk="1" hangingPunct="1">
              <a:buFont typeface="Wingdings" pitchFamily="-109" charset="2"/>
              <a:buNone/>
              <a:defRPr/>
            </a:pPr>
            <a:r>
              <a:rPr lang="en-US">
                <a:ea typeface="+mn-ea"/>
                <a:cs typeface="+mn-cs"/>
              </a:rPr>
              <a:t>Limitations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Only shows performance for data tested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E.g., linear lower did not show big gain, since words are short</a:t>
            </a: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/>
              <a:t>Quadratic inefficiency could remain lurking in code</a:t>
            </a:r>
          </a:p>
          <a:p>
            <a:pPr lvl="1" eaLnBrk="1" hangingPunct="1">
              <a:buFont typeface="Wingdings" pitchFamily="-109" charset="2"/>
              <a:buChar char="n"/>
              <a:defRPr/>
            </a:pPr>
            <a:r>
              <a:rPr lang="en-US"/>
              <a:t>Timing mechanism fairly crude</a:t>
            </a:r>
          </a:p>
          <a:p>
            <a:pPr lvl="2" eaLnBrk="1" hangingPunct="1">
              <a:buFont typeface="Wingdings" pitchFamily="-109" charset="2"/>
              <a:buChar char="l"/>
              <a:defRPr/>
            </a:pPr>
            <a:r>
              <a:rPr lang="en-US"/>
              <a:t>Only works for programs that run for &gt; 3 seconds</a:t>
            </a:r>
          </a:p>
        </p:txBody>
      </p:sp>
    </p:spTree>
    <p:extLst>
      <p:ext uri="{BB962C8B-B14F-4D97-AF65-F5344CB8AC3E}">
        <p14:creationId xmlns:p14="http://schemas.microsoft.com/office/powerpoint/2010/main" val="30913093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7543800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Getting High Performance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52538"/>
            <a:ext cx="8320087" cy="5224462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Good compiler and flags</a:t>
            </a:r>
          </a:p>
          <a:p>
            <a:pPr eaLnBrk="1" hangingPunct="1">
              <a:defRPr/>
            </a:pPr>
            <a:r>
              <a:rPr lang="en-US" dirty="0"/>
              <a:t>Don’t do anything stupid</a:t>
            </a:r>
          </a:p>
          <a:p>
            <a:pPr lvl="1" eaLnBrk="1" hangingPunct="1">
              <a:defRPr/>
            </a:pPr>
            <a:r>
              <a:rPr lang="en-US" dirty="0"/>
              <a:t>Watch out for hidden algorithmic inefficiencies</a:t>
            </a:r>
          </a:p>
          <a:p>
            <a:pPr lvl="1" eaLnBrk="1" hangingPunct="1">
              <a:defRPr/>
            </a:pPr>
            <a:r>
              <a:rPr lang="en-US" dirty="0"/>
              <a:t>Write compiler-friendly code</a:t>
            </a:r>
          </a:p>
          <a:p>
            <a:pPr lvl="2" eaLnBrk="1" hangingPunct="1">
              <a:defRPr/>
            </a:pPr>
            <a:r>
              <a:rPr lang="en-US" dirty="0"/>
              <a:t>Watch out for optimization blockers: </a:t>
            </a:r>
            <a:br>
              <a:rPr lang="en-US" dirty="0"/>
            </a:br>
            <a:r>
              <a:rPr lang="en-US" dirty="0"/>
              <a:t>procedure calls &amp; memory references</a:t>
            </a:r>
          </a:p>
          <a:p>
            <a:pPr lvl="1">
              <a:defRPr/>
            </a:pPr>
            <a:r>
              <a:rPr lang="en-US" dirty="0"/>
              <a:t>Look carefully at innermost loops (where most work is done)</a:t>
            </a:r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Tune code for machine</a:t>
            </a:r>
          </a:p>
          <a:p>
            <a:pPr lvl="1" eaLnBrk="1" hangingPunct="1">
              <a:defRPr/>
            </a:pPr>
            <a:r>
              <a:rPr lang="en-US" dirty="0"/>
              <a:t>Exploit instruction-level parallelism</a:t>
            </a:r>
          </a:p>
          <a:p>
            <a:pPr lvl="1" eaLnBrk="1" hangingPunct="1">
              <a:defRPr/>
            </a:pPr>
            <a:r>
              <a:rPr lang="en-US" dirty="0"/>
              <a:t>Avoid unpredictable branches</a:t>
            </a:r>
          </a:p>
          <a:p>
            <a:pPr lvl="1" eaLnBrk="1" hangingPunct="1">
              <a:defRPr/>
            </a:pPr>
            <a:r>
              <a:rPr lang="en-US" dirty="0"/>
              <a:t>Make code cache friendly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25400" cap="flat" cmpd="sng" algn="ctr">
          <a:noFill/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noFill/>
        <a:ln w="2540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13216</TotalTime>
  <Words>7063</Words>
  <Application>Microsoft Office PowerPoint</Application>
  <PresentationFormat>On-screen Show (4:3)</PresentationFormat>
  <Paragraphs>1524</Paragraphs>
  <Slides>78</Slides>
  <Notes>54</Notes>
  <HiddenSlides>1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90" baseType="lpstr">
      <vt:lpstr>ＭＳ Ｐゴシック</vt:lpstr>
      <vt:lpstr>Arial</vt:lpstr>
      <vt:lpstr>Arial Narrow</vt:lpstr>
      <vt:lpstr>Calibri</vt:lpstr>
      <vt:lpstr>Century Gothic</vt:lpstr>
      <vt:lpstr>Courier New</vt:lpstr>
      <vt:lpstr>Helvetica</vt:lpstr>
      <vt:lpstr>Times New Roman</vt:lpstr>
      <vt:lpstr>Wingdings</vt:lpstr>
      <vt:lpstr>Wingdings 2</vt:lpstr>
      <vt:lpstr>template2007</vt:lpstr>
      <vt:lpstr>Chart</vt:lpstr>
      <vt:lpstr>Program Optimization   </vt:lpstr>
      <vt:lpstr>Today</vt:lpstr>
      <vt:lpstr>Performance Realities</vt:lpstr>
      <vt:lpstr>Optimizing Compilers</vt:lpstr>
      <vt:lpstr>Limitations of Optimizing Compilers</vt:lpstr>
      <vt:lpstr>Machine-independent Optimizations</vt:lpstr>
      <vt:lpstr>Compiler-Generated Code Motion (-O1)</vt:lpstr>
      <vt:lpstr>Reduction in Strength</vt:lpstr>
      <vt:lpstr>Share Common Subexpressions</vt:lpstr>
      <vt:lpstr>Optimization Blocker #1: Procedure Calls</vt:lpstr>
      <vt:lpstr>Lower Case Conversion Performance</vt:lpstr>
      <vt:lpstr>Convert Loop To Goto Form</vt:lpstr>
      <vt:lpstr>Calling Strlen</vt:lpstr>
      <vt:lpstr>Improving Performance</vt:lpstr>
      <vt:lpstr>Lower Case Conversion Performance</vt:lpstr>
      <vt:lpstr>Optimization Blocker: Procedure Calls</vt:lpstr>
      <vt:lpstr>Memory Matters</vt:lpstr>
      <vt:lpstr>Memory Aliasing</vt:lpstr>
      <vt:lpstr>Memory Aliasing</vt:lpstr>
      <vt:lpstr>Removing Aliasing</vt:lpstr>
      <vt:lpstr>Optimization Blocker: Memory Aliasing</vt:lpstr>
      <vt:lpstr>Benchmark Example: Data Type for Vectors</vt:lpstr>
      <vt:lpstr>Benchmark Computation</vt:lpstr>
      <vt:lpstr>Time Scales</vt:lpstr>
      <vt:lpstr>Cycles Per Element (CPE)</vt:lpstr>
      <vt:lpstr>Benchmark Performance</vt:lpstr>
      <vt:lpstr>Basic Optimizations</vt:lpstr>
      <vt:lpstr>Effect of Basic Optimizations</vt:lpstr>
      <vt:lpstr>Machine-Independent Opt. Summary</vt:lpstr>
      <vt:lpstr>Exploiting Instruction-Level Parallelism</vt:lpstr>
      <vt:lpstr>Modern CPU Design</vt:lpstr>
      <vt:lpstr>Superscalar Processor</vt:lpstr>
      <vt:lpstr>Intel Nehalem microarchitecture</vt:lpstr>
      <vt:lpstr>Haswell CPU</vt:lpstr>
      <vt:lpstr>PowerPoint Presentation</vt:lpstr>
      <vt:lpstr>Latency versus Throughput</vt:lpstr>
      <vt:lpstr>Translation Example</vt:lpstr>
      <vt:lpstr>Translation Example #1</vt:lpstr>
      <vt:lpstr>Translation Example #2</vt:lpstr>
      <vt:lpstr>Translation Example #3</vt:lpstr>
      <vt:lpstr>Translation Example #4</vt:lpstr>
      <vt:lpstr>Pipelined Functional Units</vt:lpstr>
      <vt:lpstr>x86-64 Compilation of Combine4</vt:lpstr>
      <vt:lpstr>Visualizing Operations</vt:lpstr>
      <vt:lpstr>Visualizing Operations</vt:lpstr>
      <vt:lpstr>Visualizing Operations  for FP</vt:lpstr>
      <vt:lpstr>Visualizing Operations for FP</vt:lpstr>
      <vt:lpstr>Combine4 = Serial Computation (OP = *)</vt:lpstr>
      <vt:lpstr>Loop Unrolling (2x1)</vt:lpstr>
      <vt:lpstr>Effect of Loop Unrolling</vt:lpstr>
      <vt:lpstr>Loop Unrolling with Reassociation (2x1a)</vt:lpstr>
      <vt:lpstr>Effect of Reassociation</vt:lpstr>
      <vt:lpstr>Reassociated Computation</vt:lpstr>
      <vt:lpstr>Loop Unrolling with Separate Accumulators (2x2)</vt:lpstr>
      <vt:lpstr>Effect of Separate Accumulators</vt:lpstr>
      <vt:lpstr>Separate Accumulators</vt:lpstr>
      <vt:lpstr>Unrolling &amp; Accumulating</vt:lpstr>
      <vt:lpstr>Unrolling &amp; Accumulating: Double *</vt:lpstr>
      <vt:lpstr>Unrolling &amp; Accumulating: Int +</vt:lpstr>
      <vt:lpstr>Achievable Performance</vt:lpstr>
      <vt:lpstr>Programming with AVX2</vt:lpstr>
      <vt:lpstr>SIMD Operations</vt:lpstr>
      <vt:lpstr>Using Vector Instructions</vt:lpstr>
      <vt:lpstr>What About Branches?</vt:lpstr>
      <vt:lpstr>Modern CPU Design</vt:lpstr>
      <vt:lpstr>Branch Outcomes</vt:lpstr>
      <vt:lpstr>Branch Prediction</vt:lpstr>
      <vt:lpstr>Branch Prediction Through Loop</vt:lpstr>
      <vt:lpstr>Branch Misprediction Invalidation</vt:lpstr>
      <vt:lpstr>Branch Misprediction Recovery</vt:lpstr>
      <vt:lpstr>Important Tools</vt:lpstr>
      <vt:lpstr>Code Profiling Example</vt:lpstr>
      <vt:lpstr>Code Profiling</vt:lpstr>
      <vt:lpstr>Profiling Results</vt:lpstr>
      <vt:lpstr>Code Optimizations</vt:lpstr>
      <vt:lpstr>Further Optimizations</vt:lpstr>
      <vt:lpstr>Profiling Observations</vt:lpstr>
      <vt:lpstr>Getting High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Erol Sahin</cp:lastModifiedBy>
  <cp:revision>401</cp:revision>
  <cp:lastPrinted>2021-12-20T12:23:04Z</cp:lastPrinted>
  <dcterms:created xsi:type="dcterms:W3CDTF">2011-08-30T20:07:27Z</dcterms:created>
  <dcterms:modified xsi:type="dcterms:W3CDTF">2022-12-20T04:49:42Z</dcterms:modified>
</cp:coreProperties>
</file>