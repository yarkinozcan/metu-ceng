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1432" r:id="rId2"/>
    <p:sldId id="1411" r:id="rId3"/>
    <p:sldId id="1262" r:id="rId4"/>
    <p:sldId id="1286" r:id="rId5"/>
    <p:sldId id="1285" r:id="rId6"/>
    <p:sldId id="1264" r:id="rId7"/>
    <p:sldId id="1412" r:id="rId8"/>
    <p:sldId id="1265" r:id="rId9"/>
    <p:sldId id="1266" r:id="rId10"/>
    <p:sldId id="1268" r:id="rId11"/>
    <p:sldId id="1289" r:id="rId12"/>
    <p:sldId id="1290" r:id="rId13"/>
    <p:sldId id="1291" r:id="rId14"/>
    <p:sldId id="1292" r:id="rId15"/>
    <p:sldId id="1293" r:id="rId16"/>
    <p:sldId id="1294" r:id="rId17"/>
    <p:sldId id="1430" r:id="rId18"/>
    <p:sldId id="1273" r:id="rId19"/>
    <p:sldId id="1414" r:id="rId20"/>
    <p:sldId id="1274" r:id="rId21"/>
    <p:sldId id="1295" r:id="rId22"/>
    <p:sldId id="1277" r:id="rId23"/>
    <p:sldId id="1415" r:id="rId24"/>
    <p:sldId id="1278" r:id="rId25"/>
    <p:sldId id="1416" r:id="rId26"/>
    <p:sldId id="1427" r:id="rId27"/>
    <p:sldId id="1428" r:id="rId28"/>
    <p:sldId id="1417" r:id="rId29"/>
    <p:sldId id="1418" r:id="rId30"/>
    <p:sldId id="1419" r:id="rId31"/>
    <p:sldId id="1420" r:id="rId32"/>
    <p:sldId id="1421" r:id="rId33"/>
    <p:sldId id="1431" r:id="rId34"/>
    <p:sldId id="1422" r:id="rId35"/>
    <p:sldId id="1423" r:id="rId36"/>
    <p:sldId id="1424" r:id="rId37"/>
    <p:sldId id="1425" r:id="rId38"/>
    <p:sldId id="1429" r:id="rId39"/>
    <p:sldId id="1426" r:id="rId40"/>
    <p:sldId id="1433" r:id="rId41"/>
    <p:sldId id="1434" r:id="rId42"/>
    <p:sldId id="1435" r:id="rId43"/>
    <p:sldId id="1436" r:id="rId44"/>
    <p:sldId id="1437" r:id="rId45"/>
    <p:sldId id="1438" r:id="rId46"/>
    <p:sldId id="1439" r:id="rId47"/>
    <p:sldId id="1440" r:id="rId48"/>
    <p:sldId id="1441" r:id="rId49"/>
    <p:sldId id="1442" r:id="rId50"/>
    <p:sldId id="1443" r:id="rId51"/>
    <p:sldId id="1444" r:id="rId52"/>
    <p:sldId id="1445" r:id="rId53"/>
    <p:sldId id="1446" r:id="rId54"/>
    <p:sldId id="1447" r:id="rId55"/>
    <p:sldId id="1448" r:id="rId56"/>
    <p:sldId id="1449" r:id="rId57"/>
    <p:sldId id="1450" r:id="rId58"/>
    <p:sldId id="1451" r:id="rId59"/>
    <p:sldId id="1452" r:id="rId60"/>
    <p:sldId id="1453" r:id="rId61"/>
    <p:sldId id="1454" r:id="rId62"/>
    <p:sldId id="1455" r:id="rId63"/>
    <p:sldId id="1456" r:id="rId64"/>
    <p:sldId id="1457" r:id="rId65"/>
    <p:sldId id="1458" r:id="rId66"/>
    <p:sldId id="1459" r:id="rId67"/>
    <p:sldId id="1460" r:id="rId68"/>
    <p:sldId id="1461" r:id="rId69"/>
    <p:sldId id="1462" r:id="rId70"/>
    <p:sldId id="1463" r:id="rId71"/>
    <p:sldId id="1464" r:id="rId72"/>
  </p:sldIdLst>
  <p:sldSz cx="9144000" cy="6858000" type="screen4x3"/>
  <p:notesSz cx="7302500" cy="9586913"/>
  <p:custDataLst>
    <p:tags r:id="rId7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DEDFF5"/>
    <a:srgbClr val="F5F5F5"/>
    <a:srgbClr val="FFFFFF"/>
    <a:srgbClr val="DBF2DA"/>
    <a:srgbClr val="F6D2D2"/>
    <a:srgbClr val="990000"/>
    <a:srgbClr val="F6F5BD"/>
    <a:srgbClr val="D5F1CF"/>
    <a:srgbClr val="F1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 autoAdjust="0"/>
    <p:restoredTop sz="93333" autoAdjust="0"/>
  </p:normalViewPr>
  <p:slideViewPr>
    <p:cSldViewPr snapToObjects="1">
      <p:cViewPr varScale="1">
        <p:scale>
          <a:sx n="119" d="100"/>
          <a:sy n="119" d="100"/>
        </p:scale>
        <p:origin x="1992" y="192"/>
      </p:cViewPr>
      <p:guideLst>
        <p:guide orient="horz" pos="331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240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6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39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6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9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2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03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10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32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71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73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2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12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46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43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2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8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60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88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087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861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7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054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03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710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839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630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16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12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09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299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19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252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29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58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ext Box 1"/>
          <p:cNvSpPr txBox="1">
            <a:spLocks noChangeArrowheads="1"/>
          </p:cNvSpPr>
          <p:nvPr/>
        </p:nvSpPr>
        <p:spPr bwMode="auto">
          <a:xfrm>
            <a:off x="1264660" y="726233"/>
            <a:ext cx="4774840" cy="358197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924" tIns="47462" rIns="94924" bIns="47462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0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2560" y="4554112"/>
            <a:ext cx="5357380" cy="4316406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91288" tIns="45644" rIns="91288" bIns="45644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207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49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303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462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80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47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251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68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555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57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384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78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842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88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670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88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044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88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304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032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209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88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75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646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272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332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706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77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96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942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0068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287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86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sapp.cs.cmu.ed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csapp.cs.cmu.edu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lvl="0" indent="0">
              <a:defRPr/>
            </a:pPr>
            <a:r>
              <a:rPr lang="en-US" dirty="0"/>
              <a:t>Virtual Memory: Concepts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CENG331  - Computer Organization 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endParaRPr lang="en-US" dirty="0"/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r>
              <a:rPr lang="en-US" sz="1600" dirty="0"/>
              <a:t>Adapted from slides of the textbook: </a:t>
            </a:r>
            <a:r>
              <a:rPr lang="en-US" sz="1600" dirty="0">
                <a:hlinkClick r:id="rId3"/>
              </a:rPr>
              <a:t>http://csapp.cs.cmu.edu/</a:t>
            </a:r>
            <a:r>
              <a:rPr lang="en-US" sz="1600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53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 spaces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protection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translation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350837" y="381000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 System Using Physical Addressing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2" y="5791200"/>
            <a:ext cx="8307388" cy="881063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Used in “simple” systems like embedded microcontrollers in devices like cars, elevators, and digital picture frames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4648200" y="4233863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341813" y="1665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0: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4341813" y="1893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1: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4103002" y="4186238"/>
            <a:ext cx="584839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M-1: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4379913" y="1371600"/>
            <a:ext cx="138884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1600200" y="246740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4343400" y="2122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2: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4341813" y="23510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3: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4648200" y="16700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4648200" y="18986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4648200" y="21272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4648200" y="23558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4648200" y="25844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4648200" y="28130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4341813" y="2579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4: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4341813" y="2808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5:</a:t>
            </a: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4648200" y="30416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4648200" y="32702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4341813" y="3036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6:</a:t>
            </a: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4343400" y="3265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7:</a:t>
            </a:r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4648200" y="4010025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733628" y="2133600"/>
            <a:ext cx="1567353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(PA)</a:t>
            </a:r>
          </a:p>
        </p:txBody>
      </p:sp>
      <p:sp>
        <p:nvSpPr>
          <p:cNvPr id="9247" name="AutoShape 31"/>
          <p:cNvSpPr>
            <a:spLocks/>
          </p:cNvSpPr>
          <p:nvPr/>
        </p:nvSpPr>
        <p:spPr bwMode="auto">
          <a:xfrm>
            <a:off x="5638801" y="2584450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715726" y="4832740"/>
            <a:ext cx="1069320" cy="3366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Data word</a:t>
            </a:r>
          </a:p>
        </p:txBody>
      </p:sp>
      <p:sp>
        <p:nvSpPr>
          <p:cNvPr id="9249" name="Rectangle 33"/>
          <p:cNvSpPr>
            <a:spLocks noChangeArrowheads="1"/>
          </p:cNvSpPr>
          <p:nvPr/>
        </p:nvSpPr>
        <p:spPr bwMode="auto">
          <a:xfrm>
            <a:off x="4648200" y="3499301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4341813" y="350043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8:</a:t>
            </a:r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4724400" y="3733800"/>
            <a:ext cx="914400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 anchor="ctr"/>
          <a:lstStyle/>
          <a:p>
            <a:pPr algn="ctr" rt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alibri" pitchFamily="34" charset="0"/>
              </a:rPr>
              <a:t>...</a:t>
            </a:r>
          </a:p>
        </p:txBody>
      </p:sp>
      <p:cxnSp>
        <p:nvCxnSpPr>
          <p:cNvPr id="40" name="Straight Arrow Connector 39"/>
          <p:cNvCxnSpPr>
            <a:stCxn id="9226" idx="3"/>
            <a:endCxn id="9239" idx="1"/>
          </p:cNvCxnSpPr>
          <p:nvPr/>
        </p:nvCxnSpPr>
        <p:spPr bwMode="auto">
          <a:xfrm flipV="1">
            <a:off x="2667000" y="2732732"/>
            <a:ext cx="16748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 flipH="1">
            <a:off x="5791201" y="3041650"/>
            <a:ext cx="533399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 rot="5400000">
            <a:off x="5403850" y="3956844"/>
            <a:ext cx="1839912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/>
          <p:nvPr/>
        </p:nvCxnSpPr>
        <p:spPr bwMode="auto">
          <a:xfrm rot="10800000">
            <a:off x="2133602" y="3000809"/>
            <a:ext cx="4189410" cy="1876787"/>
          </a:xfrm>
          <a:prstGeom prst="bentConnector3">
            <a:avLst>
              <a:gd name="adj1" fmla="val 9999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3352800" y="2667000"/>
            <a:ext cx="307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849998" y="2280692"/>
            <a:ext cx="3749615" cy="1149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350837" y="381000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 System Using Virtual Addressing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2" y="5443537"/>
            <a:ext cx="8307388" cy="1262063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Used in all modern servers, laptops, and smart phones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One of the great ideas in computer science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324600" y="4386263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018213" y="1817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0: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6018213" y="2046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1: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779402" y="4338638"/>
            <a:ext cx="584839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M-1: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6056313" y="1524000"/>
            <a:ext cx="138884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429000" y="2619808"/>
            <a:ext cx="1066800" cy="533400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6019800" y="2274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2: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6018213" y="2503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3: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324600" y="18224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6324600" y="20510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6324600" y="22796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6324600" y="25082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6324600" y="27368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6324600" y="29654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6018213" y="27320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4: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6018213" y="2960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5:</a:t>
            </a: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6324600" y="31940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6324600" y="34226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6018213" y="3189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6:</a:t>
            </a: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6019800" y="3417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7:</a:t>
            </a:r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6324600" y="4162425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557652" y="2378791"/>
            <a:ext cx="1395808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Physical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(PA)</a:t>
            </a:r>
          </a:p>
        </p:txBody>
      </p:sp>
      <p:sp>
        <p:nvSpPr>
          <p:cNvPr id="9247" name="AutoShape 31"/>
          <p:cNvSpPr>
            <a:spLocks/>
          </p:cNvSpPr>
          <p:nvPr/>
        </p:nvSpPr>
        <p:spPr bwMode="auto">
          <a:xfrm>
            <a:off x="7315201" y="2736850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4000500" y="5000625"/>
            <a:ext cx="95697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 word</a:t>
            </a:r>
          </a:p>
        </p:txBody>
      </p:sp>
      <p:sp>
        <p:nvSpPr>
          <p:cNvPr id="9249" name="Rectangle 33"/>
          <p:cNvSpPr>
            <a:spLocks noChangeArrowheads="1"/>
          </p:cNvSpPr>
          <p:nvPr/>
        </p:nvSpPr>
        <p:spPr bwMode="auto">
          <a:xfrm>
            <a:off x="6324600" y="3651701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6018213" y="365283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8:</a:t>
            </a:r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6400800" y="3886200"/>
            <a:ext cx="914400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 anchor="ctr"/>
          <a:lstStyle/>
          <a:p>
            <a:pPr algn="ctr" rt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alibri" pitchFamily="34" charset="0"/>
              </a:rPr>
              <a:t>...</a:t>
            </a:r>
          </a:p>
        </p:txBody>
      </p:sp>
      <p:cxnSp>
        <p:nvCxnSpPr>
          <p:cNvPr id="40" name="Straight Arrow Connector 39"/>
          <p:cNvCxnSpPr>
            <a:stCxn id="9226" idx="3"/>
            <a:endCxn id="9239" idx="1"/>
          </p:cNvCxnSpPr>
          <p:nvPr/>
        </p:nvCxnSpPr>
        <p:spPr bwMode="auto">
          <a:xfrm flipV="1">
            <a:off x="4495800" y="2885132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 flipH="1">
            <a:off x="7467601" y="3194050"/>
            <a:ext cx="533399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 rot="5400000">
            <a:off x="7080250" y="4109244"/>
            <a:ext cx="1839912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>
            <a:endCxn id="37" idx="2"/>
          </p:cNvCxnSpPr>
          <p:nvPr/>
        </p:nvCxnSpPr>
        <p:spPr bwMode="auto">
          <a:xfrm rot="10800000">
            <a:off x="1524000" y="3153695"/>
            <a:ext cx="6475412" cy="1876304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990600" y="2620295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057400" y="2882426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057839" y="2378791"/>
            <a:ext cx="1305078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Virtual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(VA)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19767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5400" y="2815141"/>
            <a:ext cx="307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2200" y="2882426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4100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289925" cy="4972050"/>
          </a:xfrm>
        </p:spPr>
        <p:txBody>
          <a:bodyPr/>
          <a:lstStyle/>
          <a:p>
            <a:r>
              <a:rPr lang="en-US" sz="2000" dirty="0">
                <a:solidFill>
                  <a:srgbClr val="990000"/>
                </a:solidFill>
              </a:rPr>
              <a:t>Linear address space: </a:t>
            </a:r>
            <a:r>
              <a:rPr lang="en-US" sz="2000" b="0" dirty="0"/>
              <a:t>Ordered set of contiguous non-negative integer addresses:</a:t>
            </a:r>
            <a:br>
              <a:rPr lang="en-US" sz="2000" b="0" dirty="0"/>
            </a:br>
            <a:r>
              <a:rPr lang="en-US" sz="2000" b="0" dirty="0"/>
              <a:t>		{0, 1, 2, 3 … }</a:t>
            </a:r>
          </a:p>
          <a:p>
            <a:endParaRPr lang="en-US" sz="2000" dirty="0">
              <a:solidFill>
                <a:srgbClr val="990000"/>
              </a:solidFill>
            </a:endParaRPr>
          </a:p>
          <a:p>
            <a:r>
              <a:rPr lang="en-US" sz="2000" dirty="0">
                <a:solidFill>
                  <a:srgbClr val="990000"/>
                </a:solidFill>
              </a:rPr>
              <a:t>Virtual address space: </a:t>
            </a:r>
            <a:r>
              <a:rPr lang="en-US" sz="2000" b="0" dirty="0"/>
              <a:t>Set of N = 2</a:t>
            </a:r>
            <a:r>
              <a:rPr lang="en-US" sz="2000" b="0" baseline="30000" dirty="0"/>
              <a:t>n</a:t>
            </a:r>
            <a:r>
              <a:rPr lang="en-US" sz="2000" b="0" dirty="0"/>
              <a:t> virtual addresses</a:t>
            </a:r>
            <a:br>
              <a:rPr lang="en-US" sz="2000" b="0" dirty="0"/>
            </a:br>
            <a:r>
              <a:rPr lang="en-US" sz="2000" b="0" dirty="0"/>
              <a:t>		{0, 1, 2, 3, …, N-1}</a:t>
            </a:r>
          </a:p>
          <a:p>
            <a:endParaRPr lang="en-US" sz="2000" dirty="0">
              <a:solidFill>
                <a:srgbClr val="990000"/>
              </a:solidFill>
            </a:endParaRPr>
          </a:p>
          <a:p>
            <a:r>
              <a:rPr lang="en-US" sz="2000" dirty="0">
                <a:solidFill>
                  <a:srgbClr val="990000"/>
                </a:solidFill>
              </a:rPr>
              <a:t>Physical address space: </a:t>
            </a:r>
            <a:r>
              <a:rPr lang="en-US" sz="2000" b="0" dirty="0"/>
              <a:t>Set of M = 2</a:t>
            </a:r>
            <a:r>
              <a:rPr lang="en-US" sz="2000" b="0" baseline="30000" dirty="0"/>
              <a:t>m</a:t>
            </a:r>
            <a:r>
              <a:rPr lang="en-US" sz="2000" b="0" dirty="0"/>
              <a:t> physical addresses</a:t>
            </a:r>
            <a:br>
              <a:rPr lang="en-US" sz="2000" b="0" dirty="0"/>
            </a:br>
            <a:r>
              <a:rPr lang="en-US" sz="2000" b="0" dirty="0"/>
              <a:t>		{0, 1, 2, 3, …, M-1}</a:t>
            </a:r>
          </a:p>
          <a:p>
            <a:endParaRPr lang="en-US" sz="2000" b="0" dirty="0"/>
          </a:p>
          <a:p>
            <a:r>
              <a:rPr lang="en-US" sz="2000" dirty="0"/>
              <a:t>Clean distinction between data (bytes) and their attributes (addresses)</a:t>
            </a:r>
          </a:p>
          <a:p>
            <a:r>
              <a:rPr lang="en-US" sz="2000" dirty="0"/>
              <a:t>Every byte in main memory has one physical address and zero or more virtual addresses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001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Why Virtual Memory (VM)?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301750"/>
            <a:ext cx="8686800" cy="5480050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Uses main </a:t>
            </a:r>
            <a:r>
              <a:rPr lang="en-GB" dirty="0"/>
              <a:t>memory efficiently</a:t>
            </a:r>
            <a:endParaRPr lang="en-GB" dirty="0">
              <a:effectLst/>
            </a:endParaRP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 DRAM as a cache for parts of a virtual address space</a:t>
            </a:r>
          </a:p>
          <a:p>
            <a:pPr>
              <a:lnSpc>
                <a:spcPct val="83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Simplifies memory management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process gets the same uniform linear address space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Isolates address spaces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One process can’t interfere with another’s memory	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User program cannot access privileged kernel information and code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/>
              <a:t>VM as a tool for caching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protection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translation</a:t>
            </a:r>
          </a:p>
          <a:p>
            <a:pPr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VM as a Tool for Caching</a:t>
            </a:r>
            <a:endParaRPr lang="en-GB" dirty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7896225" cy="2066925"/>
          </a:xfrm>
        </p:spPr>
        <p:txBody>
          <a:bodyPr/>
          <a:lstStyle/>
          <a:p>
            <a:r>
              <a:rPr lang="en-US" dirty="0"/>
              <a:t>Conceptually,</a:t>
            </a:r>
            <a:r>
              <a:rPr lang="en-US" i="1" dirty="0">
                <a:solidFill>
                  <a:srgbClr val="990000"/>
                </a:solidFill>
              </a:rPr>
              <a:t> virtual memory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/>
              <a:t>is an array of N contiguous bytes stored on disk. </a:t>
            </a:r>
          </a:p>
          <a:p>
            <a:r>
              <a:rPr lang="en-US" dirty="0"/>
              <a:t>The contents of the array on disk are cached in </a:t>
            </a:r>
            <a:r>
              <a:rPr lang="en-US" i="1" dirty="0">
                <a:solidFill>
                  <a:srgbClr val="990000"/>
                </a:solidFill>
              </a:rPr>
              <a:t>physical memory</a:t>
            </a:r>
            <a:r>
              <a:rPr lang="en-US" dirty="0"/>
              <a:t> (</a:t>
            </a:r>
            <a:r>
              <a:rPr lang="en-US" i="1" dirty="0">
                <a:solidFill>
                  <a:srgbClr val="990000"/>
                </a:solidFill>
              </a:rPr>
              <a:t>DRAM cache</a:t>
            </a:r>
            <a:r>
              <a:rPr lang="en-US" dirty="0"/>
              <a:t>)</a:t>
            </a:r>
          </a:p>
          <a:p>
            <a:pPr lvl="1"/>
            <a:r>
              <a:rPr lang="en-GB" dirty="0"/>
              <a:t>These cache blocks are called </a:t>
            </a:r>
            <a:r>
              <a:rPr lang="en-GB" i="1" dirty="0"/>
              <a:t>pages </a:t>
            </a:r>
            <a:r>
              <a:rPr lang="en-GB" dirty="0"/>
              <a:t>(size is P = 2</a:t>
            </a:r>
            <a:r>
              <a:rPr lang="en-GB" baseline="30000" dirty="0"/>
              <a:t>p</a:t>
            </a:r>
            <a:r>
              <a:rPr lang="en-GB" dirty="0"/>
              <a:t> bytes)</a:t>
            </a:r>
            <a:endParaRPr lang="en-GB" baseline="30000" dirty="0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5145248" y="53022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021510" y="5281613"/>
            <a:ext cx="850938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2</a:t>
            </a:r>
            <a:r>
              <a:rPr lang="en-GB" sz="1400" baseline="30000" dirty="0">
                <a:latin typeface="Calibri" pitchFamily="34" charset="0"/>
              </a:rPr>
              <a:t>m-p</a:t>
            </a:r>
            <a:r>
              <a:rPr lang="en-GB" sz="1400" dirty="0">
                <a:latin typeface="Calibri" pitchFamily="34" charset="0"/>
              </a:rPr>
              <a:t>-1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762661" y="3503913"/>
            <a:ext cx="162788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memory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5145248" y="41719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145248" y="44005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145248" y="46291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2329023" y="5508625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1834983" y="3916363"/>
            <a:ext cx="515909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0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1834983" y="4144963"/>
            <a:ext cx="515909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1524000" y="5505450"/>
            <a:ext cx="826892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  <a:r>
              <a:rPr lang="en-GB" sz="1400" baseline="30000" dirty="0">
                <a:latin typeface="Calibri" pitchFamily="34" charset="0"/>
              </a:rPr>
              <a:t>n-p</a:t>
            </a:r>
            <a:r>
              <a:rPr lang="en-GB" sz="1400" dirty="0">
                <a:latin typeface="Calibri" pitchFamily="34" charset="0"/>
              </a:rPr>
              <a:t>-1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2019461" y="3503913"/>
            <a:ext cx="152509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Virtual memory</a:t>
            </a:r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2329023" y="3927024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Unallocated</a:t>
            </a: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2329023" y="4155624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2329023" y="4384224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2329023" y="461010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Unallocated</a:t>
            </a:r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2329023" y="4835525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2329023" y="5064125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6021510" y="4141788"/>
            <a:ext cx="50556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0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6021510" y="4370388"/>
            <a:ext cx="50556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1</a:t>
            </a:r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>
            <a:off x="3243423" y="4264025"/>
            <a:ext cx="1905000" cy="260350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5145248" y="50736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312" name="Line 24"/>
          <p:cNvSpPr>
            <a:spLocks noChangeShapeType="1"/>
          </p:cNvSpPr>
          <p:nvPr/>
        </p:nvSpPr>
        <p:spPr bwMode="auto">
          <a:xfrm>
            <a:off x="3243423" y="4981575"/>
            <a:ext cx="1905000" cy="457200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2329023" y="5286375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>
            <a:off x="5145248" y="48577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Line 27"/>
          <p:cNvSpPr>
            <a:spLocks noChangeShapeType="1"/>
          </p:cNvSpPr>
          <p:nvPr/>
        </p:nvSpPr>
        <p:spPr bwMode="auto">
          <a:xfrm flipV="1">
            <a:off x="3243423" y="4979988"/>
            <a:ext cx="1905000" cy="384175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3189448" y="3810000"/>
            <a:ext cx="2540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0</a:t>
            </a:r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3203286" y="5606794"/>
            <a:ext cx="370486" cy="2458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N-1</a:t>
            </a: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4799216" y="5414351"/>
            <a:ext cx="398101" cy="2458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M-1</a:t>
            </a:r>
          </a:p>
        </p:txBody>
      </p:sp>
      <p:sp>
        <p:nvSpPr>
          <p:cNvPr id="12319" name="Text Box 31"/>
          <p:cNvSpPr txBox="1">
            <a:spLocks noChangeArrowheads="1"/>
          </p:cNvSpPr>
          <p:nvPr/>
        </p:nvSpPr>
        <p:spPr bwMode="auto">
          <a:xfrm>
            <a:off x="4948131" y="4055885"/>
            <a:ext cx="2540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0</a:t>
            </a:r>
          </a:p>
        </p:txBody>
      </p:sp>
      <p:sp>
        <p:nvSpPr>
          <p:cNvPr id="12320" name="Text Box 32"/>
          <p:cNvSpPr txBox="1">
            <a:spLocks noChangeArrowheads="1"/>
          </p:cNvSpPr>
          <p:nvPr/>
        </p:nvSpPr>
        <p:spPr bwMode="auto">
          <a:xfrm>
            <a:off x="1913533" y="5899495"/>
            <a:ext cx="1794579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Virtual pages (VPs)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stored on disk</a:t>
            </a:r>
          </a:p>
        </p:txBody>
      </p:sp>
      <p:sp>
        <p:nvSpPr>
          <p:cNvPr id="12321" name="Text Box 33"/>
          <p:cNvSpPr txBox="1">
            <a:spLocks noChangeArrowheads="1"/>
          </p:cNvSpPr>
          <p:nvPr/>
        </p:nvSpPr>
        <p:spPr bwMode="auto">
          <a:xfrm>
            <a:off x="4708977" y="5899495"/>
            <a:ext cx="1872124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pages (</a:t>
            </a:r>
            <a:r>
              <a:rPr lang="en-GB" sz="1600" dirty="0" err="1">
                <a:latin typeface="Calibri" pitchFamily="34" charset="0"/>
              </a:rPr>
              <a:t>PPs</a:t>
            </a:r>
            <a:r>
              <a:rPr lang="en-GB" sz="1600" dirty="0">
                <a:latin typeface="Calibri" pitchFamily="34" charset="0"/>
              </a:rPr>
              <a:t>)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cached in DRAM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278169" y="468757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DRAM Cache Organization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347788"/>
            <a:ext cx="8548687" cy="535781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DRAM cache organization driven by the enormous miss penalty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DRAM is about </a:t>
            </a:r>
            <a:r>
              <a:rPr lang="en-GB" b="1" i="1" dirty="0">
                <a:solidFill>
                  <a:srgbClr val="C00000"/>
                </a:solidFill>
              </a:rPr>
              <a:t>10x</a:t>
            </a:r>
            <a:r>
              <a:rPr lang="en-GB" dirty="0"/>
              <a:t> slower than SRAM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Disk is about </a:t>
            </a:r>
            <a:r>
              <a:rPr lang="en-GB" b="1" i="1" dirty="0">
                <a:solidFill>
                  <a:srgbClr val="C00000"/>
                </a:solidFill>
              </a:rPr>
              <a:t>10,000x</a:t>
            </a:r>
            <a:r>
              <a:rPr lang="en-GB" dirty="0"/>
              <a:t> slower than DRAM</a:t>
            </a:r>
          </a:p>
          <a:p>
            <a:pPr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Consequences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Large page (block) size: typically 4-8 KB, sometimes 4 MB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Fully associative 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Any VP can be placed in any PP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Requires a “large” mapping function – different from CPU caches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Highly sophisticated, expensive replacement algorithms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Too complicated and open-ended to be implemented in hardware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Write-back rather than write-through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Enabling Data Structure: Page Table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147763"/>
            <a:ext cx="8307387" cy="12906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 </a:t>
            </a:r>
            <a:r>
              <a:rPr lang="en-GB" i="1" dirty="0">
                <a:solidFill>
                  <a:srgbClr val="C00000"/>
                </a:solidFill>
              </a:rPr>
              <a:t>page table </a:t>
            </a:r>
            <a:r>
              <a:rPr lang="en-GB" dirty="0"/>
              <a:t>is an array of page table entries (PTEs) that maps virtual pages to physical pages. 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Per-process kernel data structure in DRAM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120900" y="46767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120900" y="4905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2120900" y="44481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2120900" y="33051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120900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2120900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2120900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2120900" y="42195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2073631" y="51751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5348288" y="23622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5465763" y="34006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5465763" y="36099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2946400" y="47974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2946400" y="34274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2971800" y="31988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2921000" y="29702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5400675" y="43592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1816100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1816100" y="4905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1816100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1816100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1816100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1816100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1816100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1816100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1587500" y="30003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1824127" y="32750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1824920" y="35079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1824127" y="39737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1824920" y="41808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1824127" y="44202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1824920" y="48796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1824127" y="46467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1824920" y="37408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2187575" y="25114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1209497" y="32399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1206322" y="48528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6831013" y="29098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5465763" y="31750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5465763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2895600" y="50038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2895600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2895600" y="38671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2895600" y="3632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6843713" y="3570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5473700" y="49879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5473700" y="52984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5473700" y="59194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5473700" y="62299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5473700" y="65405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2895600" y="40763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2908300" y="41210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2895600" y="4286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2940050" y="36433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5473700" y="56089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8" grpId="0"/>
      <p:bldP spid="14349" grpId="0" animBg="1"/>
      <p:bldP spid="14350" grpId="0" animBg="1"/>
      <p:bldP spid="14351" grpId="0" animBg="1"/>
      <p:bldP spid="14352" grpId="0" animBg="1"/>
      <p:bldP spid="14353" grpId="0" animBg="1"/>
      <p:bldP spid="14354" grpId="0" animBg="1"/>
      <p:bldP spid="14355" grpId="0"/>
      <p:bldP spid="14376" grpId="0"/>
      <p:bldP spid="14377" grpId="0" animBg="1"/>
      <p:bldP spid="14378" grpId="0" animBg="1"/>
      <p:bldP spid="14383" grpId="0"/>
      <p:bldP spid="14384" grpId="0" animBg="1"/>
      <p:bldP spid="14385" grpId="0" animBg="1"/>
      <p:bldP spid="14386" grpId="0" animBg="1"/>
      <p:bldP spid="14387" grpId="0" animBg="1"/>
      <p:bldP spid="14388" grpId="0" animBg="1"/>
      <p:bldP spid="14390" grpId="0" animBg="1"/>
      <p:bldP spid="14392" grpId="0" animBg="1"/>
      <p:bldP spid="1439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Page Hit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6048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Page hit: </a:t>
            </a:r>
            <a:r>
              <a:rPr lang="en-GB" dirty="0"/>
              <a:t>reference to VM word that is in physical memory (DRAM cache hit)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1849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1849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1849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1849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1849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1849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1849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1849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1376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123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5298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5298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104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104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0358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39850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4647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8801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8801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8801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8801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8801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8801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8801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8801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6515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8881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8889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8881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8889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8881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8889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8881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8889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2516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2735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2703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8950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5298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5298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39596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39596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39596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39596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077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5377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5377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5377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5377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5377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39596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39723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39596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040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5377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381000" y="24384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1" name="Shape 60"/>
          <p:cNvCxnSpPr>
            <a:stCxn id="59" idx="2"/>
            <a:endCxn id="14372" idx="1"/>
          </p:cNvCxnSpPr>
          <p:nvPr/>
        </p:nvCxnSpPr>
        <p:spPr bwMode="auto">
          <a:xfrm rot="16200000" flipH="1">
            <a:off x="1543358" y="2319029"/>
            <a:ext cx="983343" cy="170785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25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Page fault: </a:t>
            </a:r>
            <a:r>
              <a:rPr lang="en-GB" dirty="0"/>
              <a:t>reference to VM word that is not in physical memory (DRAM cache miss)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rgbClr val="F1C7C7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0" name="Shape 59"/>
          <p:cNvCxnSpPr>
            <a:stCxn id="59" idx="2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80289" y="40878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6639" y="34432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0" name="Shape 59"/>
          <p:cNvCxnSpPr>
            <a:stCxn id="59" idx="2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Offending instruction is restarted: page hit!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80289" y="40878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6639" y="34432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309831" y="5791200"/>
            <a:ext cx="578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Key point</a:t>
            </a:r>
            <a:r>
              <a:rPr lang="en-US" sz="1800" dirty="0">
                <a:latin typeface="Calibri" pitchFamily="34" charset="0"/>
              </a:rPr>
              <a:t>: Waiting until the miss to copy the page to DRAM is known as </a:t>
            </a:r>
            <a:r>
              <a:rPr lang="en-US" sz="1800" i="1" dirty="0">
                <a:solidFill>
                  <a:srgbClr val="FF0000"/>
                </a:solidFill>
                <a:latin typeface="Calibri" pitchFamily="34" charset="0"/>
              </a:rPr>
              <a:t>demand paging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3261139" y="38512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Allocating a new page (VP 5) of virtual memory.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61139" y="40798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61139" y="43084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261139" y="27082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61139" y="29368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261139" y="31654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261139" y="33940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261139" y="36226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213870" y="45782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488527" y="17653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606002" y="28037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606002" y="30130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086639" y="4200525"/>
            <a:ext cx="2519363" cy="173736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V="1">
            <a:off x="4086639" y="28305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V="1">
            <a:off x="4112039" y="26019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V="1">
            <a:off x="4061239" y="23733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6540914" y="37623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956339" y="4079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956339" y="4308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956339" y="3851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2956339" y="2708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956339" y="2936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956339" y="3165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2956339" y="33940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2956339" y="36226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2727739" y="24034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2964366" y="26781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2965159" y="29110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2964366" y="33768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2965159" y="35839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2964366" y="38233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2965159" y="42827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2964366" y="40498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2965159" y="31439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3327814" y="19145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2349736" y="26430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2346561" y="42559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7971252" y="23129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606002" y="25781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606002" y="23495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4035839" y="44069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4035839" y="4178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4035839" y="3270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4035839" y="3035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7983952" y="29733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613939" y="43910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613939" y="47015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613939" y="53225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613939" y="59378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613939" y="62484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54" name="Oval 53"/>
          <p:cNvSpPr>
            <a:spLocks noChangeArrowheads="1"/>
          </p:cNvSpPr>
          <p:nvPr/>
        </p:nvSpPr>
        <p:spPr bwMode="auto">
          <a:xfrm>
            <a:off x="4035839" y="34794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>
            <a:off x="4080289" y="37195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Oval 55"/>
          <p:cNvSpPr>
            <a:spLocks noChangeArrowheads="1"/>
          </p:cNvSpPr>
          <p:nvPr/>
        </p:nvSpPr>
        <p:spPr bwMode="auto">
          <a:xfrm>
            <a:off x="4035839" y="36893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V="1">
            <a:off x="4086639" y="30749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613939" y="50120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613939" y="56273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5</a:t>
            </a:r>
          </a:p>
        </p:txBody>
      </p:sp>
      <p:sp>
        <p:nvSpPr>
          <p:cNvPr id="63" name="Line 15"/>
          <p:cNvSpPr>
            <a:spLocks noChangeShapeType="1"/>
          </p:cNvSpPr>
          <p:nvPr/>
        </p:nvSpPr>
        <p:spPr bwMode="auto">
          <a:xfrm>
            <a:off x="4094576" y="3932835"/>
            <a:ext cx="2519363" cy="173736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4043776" y="391061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38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3603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Locality to the Rescue Again!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28738"/>
            <a:ext cx="8307387" cy="5224462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Virtual memory seems terribly inefficient, but it works because of locality. </a:t>
            </a:r>
          </a:p>
          <a:p>
            <a:pPr>
              <a:lnSpc>
                <a:spcPct val="83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At any point in time, programs tend to access a set of active virtual pages called the </a:t>
            </a:r>
            <a:r>
              <a:rPr lang="en-GB" i="1" dirty="0">
                <a:solidFill>
                  <a:srgbClr val="C00000"/>
                </a:solidFill>
              </a:rPr>
              <a:t>working set</a:t>
            </a:r>
            <a:endParaRPr lang="en-GB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Programs with better temporal locality will have smaller working sets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(working set size &lt; main memory size)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Good performance for one process after compulsory misses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( SUM(working set sizes) &gt; main memory size )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  <a:ea typeface="+mn-ea"/>
                <a:cs typeface="+mn-cs"/>
              </a:rPr>
              <a:t>Thrashing:</a:t>
            </a:r>
            <a:r>
              <a:rPr lang="en-GB" i="1" dirty="0"/>
              <a:t> </a:t>
            </a:r>
            <a:r>
              <a:rPr lang="en-GB" dirty="0"/>
              <a:t>Performance meltdown</a:t>
            </a:r>
            <a:r>
              <a:rPr lang="en-GB" i="1" dirty="0"/>
              <a:t> </a:t>
            </a:r>
            <a:r>
              <a:rPr lang="en-GB" dirty="0"/>
              <a:t>where pages are swapped (copied) in and out continuously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</a:t>
            </a:r>
          </a:p>
          <a:p>
            <a:r>
              <a:rPr lang="en-US" dirty="0">
                <a:solidFill>
                  <a:srgbClr val="000000"/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protection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translation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62468" y="569913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VM as a Tool for Memory Management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7850188" cy="1257300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Key idea: each process has its own virtual address space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It can view memory as a simple linear array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Mapping function scatters addresses through physical memory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Well-chosen mappings can improve locality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993775" y="31462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1: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731356" y="3120362"/>
            <a:ext cx="1066800" cy="1175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Space (DRAM)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2359919" y="30700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2192338" y="43697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6629400" y="4634041"/>
            <a:ext cx="1449388" cy="512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(e.g., read-only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library code)</a:t>
            </a: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993775" y="51274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2: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2616556" y="3225395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616556" y="3480982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616556" y="373303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616556" y="424298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2838717" y="3861958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2359919" y="5051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2192338" y="63509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616556" y="520279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2616556" y="545838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2616556" y="571044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2616556" y="622038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2838717" y="5839359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715000" y="32224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715000" y="347807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715000" y="373656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5715000" y="398969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5715000" y="424528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5715000" y="450377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5715000" y="475936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715000" y="501892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5715000" y="527451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5715000" y="553301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5715000" y="61942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5960177" y="5742270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5474234" y="30700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72" name="Rectangle 26"/>
          <p:cNvSpPr>
            <a:spLocks noChangeArrowheads="1"/>
          </p:cNvSpPr>
          <p:nvPr/>
        </p:nvSpPr>
        <p:spPr bwMode="auto">
          <a:xfrm>
            <a:off x="5261580" y="6344474"/>
            <a:ext cx="485453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M</a:t>
            </a:r>
            <a:r>
              <a:rPr lang="en-GB" sz="1400" b="1" dirty="0">
                <a:latin typeface="Calibri" pitchFamily="34" charset="0"/>
              </a:rPr>
              <a:t>-1</a:t>
            </a:r>
          </a:p>
        </p:txBody>
      </p:sp>
      <p:cxnSp>
        <p:nvCxnSpPr>
          <p:cNvPr id="74" name="Straight Arrow Connector 73"/>
          <p:cNvCxnSpPr>
            <a:stCxn id="46" idx="3"/>
            <a:endCxn id="59" idx="1"/>
          </p:cNvCxnSpPr>
          <p:nvPr/>
        </p:nvCxnSpPr>
        <p:spPr bwMode="auto">
          <a:xfrm>
            <a:off x="3530956" y="3608776"/>
            <a:ext cx="2184044" cy="255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Straight Arrow Connector 75"/>
          <p:cNvCxnSpPr>
            <a:stCxn id="47" idx="3"/>
            <a:endCxn id="63" idx="1"/>
          </p:cNvCxnSpPr>
          <p:nvPr/>
        </p:nvCxnSpPr>
        <p:spPr bwMode="auto">
          <a:xfrm>
            <a:off x="3530956" y="3860833"/>
            <a:ext cx="2184044" cy="10263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Straight Arrow Connector 77"/>
          <p:cNvCxnSpPr>
            <a:stCxn id="54" idx="3"/>
            <a:endCxn id="63" idx="1"/>
          </p:cNvCxnSpPr>
          <p:nvPr/>
        </p:nvCxnSpPr>
        <p:spPr bwMode="auto">
          <a:xfrm flipV="1">
            <a:off x="3530956" y="4887158"/>
            <a:ext cx="2184044" cy="9510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Straight Arrow Connector 79"/>
          <p:cNvCxnSpPr>
            <a:stCxn id="53" idx="3"/>
            <a:endCxn id="65" idx="1"/>
          </p:cNvCxnSpPr>
          <p:nvPr/>
        </p:nvCxnSpPr>
        <p:spPr bwMode="auto">
          <a:xfrm flipV="1">
            <a:off x="3530956" y="5402309"/>
            <a:ext cx="2184044" cy="1838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3911530" y="2971800"/>
            <a:ext cx="1350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translation</a:t>
            </a:r>
            <a:endParaRPr lang="en-US" sz="2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54001" y="533400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VM as a Tool for Memory Management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1905000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Memory allocation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virtual page can be mapped to any physical page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 virtual page can be stored in different physical pages at different times</a:t>
            </a:r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Sharing code and data among processes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 virtual pages to the same physical page (here: PP 6)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993775" y="32224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1: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731356" y="3196562"/>
            <a:ext cx="1066800" cy="1175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Space (DRAM)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2359919" y="3146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2192338" y="44459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6629400" y="4710241"/>
            <a:ext cx="1449388" cy="512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(e.g., read-only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library code)</a:t>
            </a: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993775" y="52036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2: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2616556" y="3301595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616556" y="3557182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616556" y="380923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616556" y="431918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2838717" y="3938158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2359919" y="51274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2192338" y="64271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616556" y="527899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2616556" y="553458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2616556" y="578664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2616556" y="629658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2838717" y="5915559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715000" y="32986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715000" y="355268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715000" y="381276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5715000" y="406589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5715000" y="432148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5715000" y="457997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5715000" y="483556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715000" y="509512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5715000" y="535071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5715000" y="560921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5715000" y="62704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5960177" y="5818470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5474234" y="3146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72" name="Rectangle 26"/>
          <p:cNvSpPr>
            <a:spLocks noChangeArrowheads="1"/>
          </p:cNvSpPr>
          <p:nvPr/>
        </p:nvSpPr>
        <p:spPr bwMode="auto">
          <a:xfrm>
            <a:off x="5261580" y="6420674"/>
            <a:ext cx="485453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M</a:t>
            </a:r>
            <a:r>
              <a:rPr lang="en-GB" sz="1400" b="1" dirty="0">
                <a:latin typeface="Calibri" pitchFamily="34" charset="0"/>
              </a:rPr>
              <a:t>-1</a:t>
            </a:r>
          </a:p>
        </p:txBody>
      </p:sp>
      <p:cxnSp>
        <p:nvCxnSpPr>
          <p:cNvPr id="74" name="Straight Arrow Connector 73"/>
          <p:cNvCxnSpPr>
            <a:stCxn id="46" idx="3"/>
            <a:endCxn id="59" idx="1"/>
          </p:cNvCxnSpPr>
          <p:nvPr/>
        </p:nvCxnSpPr>
        <p:spPr bwMode="auto">
          <a:xfrm>
            <a:off x="3530956" y="3684976"/>
            <a:ext cx="2184044" cy="255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Straight Arrow Connector 75"/>
          <p:cNvCxnSpPr>
            <a:stCxn id="47" idx="3"/>
            <a:endCxn id="63" idx="1"/>
          </p:cNvCxnSpPr>
          <p:nvPr/>
        </p:nvCxnSpPr>
        <p:spPr bwMode="auto">
          <a:xfrm>
            <a:off x="3530956" y="3937033"/>
            <a:ext cx="2184044" cy="10263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Straight Arrow Connector 77"/>
          <p:cNvCxnSpPr>
            <a:stCxn id="54" idx="3"/>
            <a:endCxn id="63" idx="1"/>
          </p:cNvCxnSpPr>
          <p:nvPr/>
        </p:nvCxnSpPr>
        <p:spPr bwMode="auto">
          <a:xfrm flipV="1">
            <a:off x="3530956" y="4963358"/>
            <a:ext cx="2184044" cy="9510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Straight Arrow Connector 79"/>
          <p:cNvCxnSpPr>
            <a:stCxn id="53" idx="3"/>
            <a:endCxn id="65" idx="1"/>
          </p:cNvCxnSpPr>
          <p:nvPr/>
        </p:nvCxnSpPr>
        <p:spPr bwMode="auto">
          <a:xfrm flipV="1">
            <a:off x="3530956" y="5478509"/>
            <a:ext cx="2184044" cy="1838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3911530" y="3048000"/>
            <a:ext cx="1350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translation</a:t>
            </a:r>
            <a:endParaRPr lang="en-US" sz="2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3603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Simplifying Linking and Loading</a:t>
            </a:r>
          </a:p>
        </p:txBody>
      </p:sp>
      <p:sp>
        <p:nvSpPr>
          <p:cNvPr id="23578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3962400" cy="4778910"/>
          </a:xfrm>
          <a:ln/>
        </p:spPr>
        <p:txBody>
          <a:bodyPr/>
          <a:lstStyle/>
          <a:p>
            <a:pPr marL="228600" indent="-228600">
              <a:spcBef>
                <a:spcPts val="1250"/>
              </a:spcBef>
              <a:tabLst>
                <a:tab pos="28733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Linking</a:t>
            </a:r>
            <a:r>
              <a:rPr lang="en-GB" b="0" dirty="0">
                <a:effectLst/>
              </a:rPr>
              <a:t> 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Each program has similar virtual address space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Code, stack, and shared libraries always start at the same address</a:t>
            </a:r>
          </a:p>
          <a:p>
            <a:pPr lvl="1">
              <a:spcBef>
                <a:spcPts val="563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/>
          </a:p>
          <a:p>
            <a:pPr marL="228600" indent="-228600">
              <a:spcBef>
                <a:spcPts val="1250"/>
              </a:spcBef>
              <a:tabLst>
                <a:tab pos="28733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Loading </a:t>
            </a:r>
          </a:p>
          <a:p>
            <a:pPr marL="457200" lvl="1" indent="-228600">
              <a:lnSpc>
                <a:spcPct val="94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execve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/>
              <a:t>allocates virtual pages for .text and .data sections &amp; creates PTEs marked as invalid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The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.text </a:t>
            </a:r>
            <a:r>
              <a:rPr lang="en-GB" sz="1800" dirty="0"/>
              <a:t>and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.data </a:t>
            </a:r>
            <a:r>
              <a:rPr lang="en-GB" sz="1800" dirty="0"/>
              <a:t>sections are copied, page by page, on demand by the virtual memory system</a:t>
            </a:r>
          </a:p>
          <a:p>
            <a:pPr>
              <a:spcBef>
                <a:spcPts val="1125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>
              <a:solidFill>
                <a:srgbClr val="000066"/>
              </a:solidFill>
              <a:effectLst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4998661" y="1262063"/>
            <a:ext cx="2789237" cy="487362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Kernel virtual memory</a:t>
            </a:r>
          </a:p>
        </p:txBody>
      </p:sp>
      <p:sp>
        <p:nvSpPr>
          <p:cNvPr id="53" name="Rectangle 15"/>
          <p:cNvSpPr>
            <a:spLocks noChangeArrowheads="1"/>
          </p:cNvSpPr>
          <p:nvPr/>
        </p:nvSpPr>
        <p:spPr bwMode="auto">
          <a:xfrm>
            <a:off x="4998661" y="2963863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Memory-mapped region for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shared libraries</a:t>
            </a:r>
          </a:p>
        </p:txBody>
      </p: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4998661" y="3629025"/>
            <a:ext cx="2789237" cy="7239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Rectangle 17"/>
          <p:cNvSpPr>
            <a:spLocks noChangeArrowheads="1"/>
          </p:cNvSpPr>
          <p:nvPr/>
        </p:nvSpPr>
        <p:spPr bwMode="auto">
          <a:xfrm>
            <a:off x="4998662" y="4350808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Run-time heap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(created by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56" name="Rectangle 18"/>
          <p:cNvSpPr>
            <a:spLocks noChangeArrowheads="1"/>
          </p:cNvSpPr>
          <p:nvPr/>
        </p:nvSpPr>
        <p:spPr bwMode="auto">
          <a:xfrm>
            <a:off x="4998661" y="2054225"/>
            <a:ext cx="2789237" cy="906463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19"/>
          <p:cNvSpPr>
            <a:spLocks noChangeShapeType="1"/>
          </p:cNvSpPr>
          <p:nvPr/>
        </p:nvSpPr>
        <p:spPr bwMode="auto">
          <a:xfrm flipV="1">
            <a:off x="6388782" y="3957638"/>
            <a:ext cx="1588" cy="3841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98661" y="1719263"/>
            <a:ext cx="2789237" cy="563562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User stack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(created at runtime)</a:t>
            </a:r>
          </a:p>
        </p:txBody>
      </p:sp>
      <p:sp>
        <p:nvSpPr>
          <p:cNvPr id="59" name="Line 21"/>
          <p:cNvSpPr>
            <a:spLocks noChangeShapeType="1"/>
          </p:cNvSpPr>
          <p:nvPr/>
        </p:nvSpPr>
        <p:spPr bwMode="auto">
          <a:xfrm flipV="1">
            <a:off x="6388782" y="2738438"/>
            <a:ext cx="1588" cy="2317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Line 22"/>
          <p:cNvSpPr>
            <a:spLocks noChangeShapeType="1"/>
          </p:cNvSpPr>
          <p:nvPr/>
        </p:nvSpPr>
        <p:spPr bwMode="auto">
          <a:xfrm>
            <a:off x="6388782" y="2282825"/>
            <a:ext cx="1588" cy="2286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" name="Rectangle 23"/>
          <p:cNvSpPr>
            <a:spLocks noChangeArrowheads="1"/>
          </p:cNvSpPr>
          <p:nvPr/>
        </p:nvSpPr>
        <p:spPr bwMode="auto">
          <a:xfrm>
            <a:off x="4998661" y="6312958"/>
            <a:ext cx="2789238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62" name="Text Box 24"/>
          <p:cNvSpPr txBox="1">
            <a:spLocks noChangeArrowheads="1"/>
          </p:cNvSpPr>
          <p:nvPr/>
        </p:nvSpPr>
        <p:spPr bwMode="auto">
          <a:xfrm>
            <a:off x="4733026" y="6531510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8146053" y="2108200"/>
            <a:ext cx="869831" cy="80855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%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rsp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(stack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pointer)</a:t>
            </a:r>
          </a:p>
        </p:txBody>
      </p:sp>
      <p:sp>
        <p:nvSpPr>
          <p:cNvPr id="64" name="Line 26"/>
          <p:cNvSpPr>
            <a:spLocks noChangeShapeType="1"/>
          </p:cNvSpPr>
          <p:nvPr/>
        </p:nvSpPr>
        <p:spPr bwMode="auto">
          <a:xfrm flipH="1">
            <a:off x="7839666" y="2279650"/>
            <a:ext cx="384175" cy="1588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Text Box 27"/>
          <p:cNvSpPr txBox="1">
            <a:spLocks noChangeArrowheads="1"/>
          </p:cNvSpPr>
          <p:nvPr/>
        </p:nvSpPr>
        <p:spPr bwMode="auto">
          <a:xfrm>
            <a:off x="8008032" y="990600"/>
            <a:ext cx="1149972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Memory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invisible to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user code</a:t>
            </a:r>
          </a:p>
        </p:txBody>
      </p:sp>
      <p:sp>
        <p:nvSpPr>
          <p:cNvPr id="66" name="Line 28"/>
          <p:cNvSpPr>
            <a:spLocks noChangeShapeType="1"/>
          </p:cNvSpPr>
          <p:nvPr/>
        </p:nvSpPr>
        <p:spPr bwMode="auto">
          <a:xfrm flipV="1">
            <a:off x="7855632" y="1257568"/>
            <a:ext cx="1588" cy="4603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" name="Text Box 29"/>
          <p:cNvSpPr txBox="1">
            <a:spLocks noChangeArrowheads="1"/>
          </p:cNvSpPr>
          <p:nvPr/>
        </p:nvSpPr>
        <p:spPr bwMode="auto">
          <a:xfrm>
            <a:off x="8200120" y="4173538"/>
            <a:ext cx="552052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brk</a:t>
            </a:r>
          </a:p>
        </p:txBody>
      </p:sp>
      <p:sp>
        <p:nvSpPr>
          <p:cNvPr id="68" name="Line 30"/>
          <p:cNvSpPr>
            <a:spLocks noChangeShapeType="1"/>
          </p:cNvSpPr>
          <p:nvPr/>
        </p:nvSpPr>
        <p:spPr bwMode="auto">
          <a:xfrm flipH="1">
            <a:off x="7815945" y="4340225"/>
            <a:ext cx="384175" cy="1588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Box 32"/>
          <p:cNvSpPr txBox="1">
            <a:spLocks noChangeArrowheads="1"/>
          </p:cNvSpPr>
          <p:nvPr/>
        </p:nvSpPr>
        <p:spPr bwMode="auto">
          <a:xfrm>
            <a:off x="3985528" y="6189452"/>
            <a:ext cx="1043672" cy="2991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ourier New" pitchFamily="49" charset="0"/>
                <a:ea typeface="msgothic" charset="0"/>
                <a:cs typeface="msgothic" charset="0"/>
              </a:rPr>
              <a:t>0x400000</a:t>
            </a:r>
          </a:p>
        </p:txBody>
      </p:sp>
      <p:sp>
        <p:nvSpPr>
          <p:cNvPr id="70" name="Rectangle 34"/>
          <p:cNvSpPr>
            <a:spLocks noChangeArrowheads="1"/>
          </p:cNvSpPr>
          <p:nvPr/>
        </p:nvSpPr>
        <p:spPr bwMode="auto">
          <a:xfrm>
            <a:off x="4998661" y="5017558"/>
            <a:ext cx="2789238" cy="669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Read/write segment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(.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4998661" y="5643033"/>
            <a:ext cx="2789238" cy="669925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Read-only segment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.init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text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rodata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72" name="AutoShape 36"/>
          <p:cNvSpPr>
            <a:spLocks/>
          </p:cNvSpPr>
          <p:nvPr/>
        </p:nvSpPr>
        <p:spPr bwMode="auto">
          <a:xfrm>
            <a:off x="7836582" y="5026025"/>
            <a:ext cx="76200" cy="12954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Text Box 37"/>
          <p:cNvSpPr txBox="1">
            <a:spLocks noChangeArrowheads="1"/>
          </p:cNvSpPr>
          <p:nvPr/>
        </p:nvSpPr>
        <p:spPr bwMode="auto">
          <a:xfrm>
            <a:off x="7988982" y="5010150"/>
            <a:ext cx="1149459" cy="13009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Loaded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from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the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executable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file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</a:t>
            </a:r>
          </a:p>
          <a:p>
            <a:r>
              <a:rPr lang="en-US" dirty="0">
                <a:solidFill>
                  <a:srgbClr val="7F7F7F"/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rgbClr val="000000"/>
                </a:solidFill>
              </a:rPr>
              <a:t>VM as a tool for memory protection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translation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327025" y="381000"/>
            <a:ext cx="88931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VM as a Tool for Memory Protection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8668" y="1212321"/>
            <a:ext cx="8307387" cy="1293812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Extend PTEs with permission bits</a:t>
            </a:r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Page fault handler checks these before remapping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violated, send process SIGSEGV (segmentation fault)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52400" y="2870188"/>
            <a:ext cx="1072087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</a:t>
            </a:r>
            <a:r>
              <a:rPr lang="en-GB" sz="1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i</a:t>
            </a: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: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297363" y="2871788"/>
            <a:ext cx="866262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Address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976441" y="2871788"/>
            <a:ext cx="649664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READ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616199" y="2871788"/>
            <a:ext cx="738727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WRITE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4003675" y="31765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6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951037" y="31765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2636837" y="31765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4003675" y="34813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4</a:t>
            </a: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1951037" y="34813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2636837" y="34813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4003675" y="37861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2</a:t>
            </a: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1951037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533400" y="31718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0: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533400" y="34766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1: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534987" y="37814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2:</a:t>
            </a:r>
          </a:p>
        </p:txBody>
      </p:sp>
      <p:sp>
        <p:nvSpPr>
          <p:cNvPr id="24595" name="Rectangle 19"/>
          <p:cNvSpPr>
            <a:spLocks noChangeArrowheads="1"/>
          </p:cNvSpPr>
          <p:nvPr/>
        </p:nvSpPr>
        <p:spPr bwMode="auto">
          <a:xfrm>
            <a:off x="3605213" y="4167188"/>
            <a:ext cx="246062" cy="45653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152400" y="5099453"/>
            <a:ext cx="1075293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j:</a:t>
            </a:r>
          </a:p>
        </p:txBody>
      </p:sp>
      <p:sp>
        <p:nvSpPr>
          <p:cNvPr id="24611" name="Rectangle 35"/>
          <p:cNvSpPr>
            <a:spLocks noChangeArrowheads="1"/>
          </p:cNvSpPr>
          <p:nvPr/>
        </p:nvSpPr>
        <p:spPr bwMode="auto">
          <a:xfrm>
            <a:off x="2636837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1356256" y="2871788"/>
            <a:ext cx="52392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SUP</a:t>
            </a:r>
          </a:p>
        </p:txBody>
      </p:sp>
      <p:sp>
        <p:nvSpPr>
          <p:cNvPr id="24619" name="Rectangle 43"/>
          <p:cNvSpPr>
            <a:spLocks noChangeArrowheads="1"/>
          </p:cNvSpPr>
          <p:nvPr/>
        </p:nvSpPr>
        <p:spPr bwMode="auto">
          <a:xfrm>
            <a:off x="1262062" y="31765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0" name="Rectangle 44"/>
          <p:cNvSpPr>
            <a:spLocks noChangeArrowheads="1"/>
          </p:cNvSpPr>
          <p:nvPr/>
        </p:nvSpPr>
        <p:spPr bwMode="auto">
          <a:xfrm>
            <a:off x="1262062" y="34813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1" name="Rectangle 45"/>
          <p:cNvSpPr>
            <a:spLocks noChangeArrowheads="1"/>
          </p:cNvSpPr>
          <p:nvPr/>
        </p:nvSpPr>
        <p:spPr bwMode="auto">
          <a:xfrm>
            <a:off x="1262062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4300538" y="5080000"/>
            <a:ext cx="866262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Address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981879" y="5080000"/>
            <a:ext cx="649664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READ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2621637" y="5080000"/>
            <a:ext cx="738727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WRITE</a:t>
            </a:r>
          </a:p>
        </p:txBody>
      </p:sp>
      <p:sp>
        <p:nvSpPr>
          <p:cNvPr id="24625" name="Rectangle 49"/>
          <p:cNvSpPr>
            <a:spLocks noChangeArrowheads="1"/>
          </p:cNvSpPr>
          <p:nvPr/>
        </p:nvSpPr>
        <p:spPr bwMode="auto">
          <a:xfrm>
            <a:off x="4006850" y="53848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9</a:t>
            </a:r>
          </a:p>
        </p:txBody>
      </p:sp>
      <p:sp>
        <p:nvSpPr>
          <p:cNvPr id="24626" name="Rectangle 50"/>
          <p:cNvSpPr>
            <a:spLocks noChangeArrowheads="1"/>
          </p:cNvSpPr>
          <p:nvPr/>
        </p:nvSpPr>
        <p:spPr bwMode="auto">
          <a:xfrm>
            <a:off x="1959650" y="53848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27" name="Rectangle 51"/>
          <p:cNvSpPr>
            <a:spLocks noChangeArrowheads="1"/>
          </p:cNvSpPr>
          <p:nvPr/>
        </p:nvSpPr>
        <p:spPr bwMode="auto">
          <a:xfrm>
            <a:off x="2645450" y="53848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8" name="Rectangle 52"/>
          <p:cNvSpPr>
            <a:spLocks noChangeArrowheads="1"/>
          </p:cNvSpPr>
          <p:nvPr/>
        </p:nvSpPr>
        <p:spPr bwMode="auto">
          <a:xfrm>
            <a:off x="4006850" y="56896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6</a:t>
            </a:r>
          </a:p>
        </p:txBody>
      </p:sp>
      <p:sp>
        <p:nvSpPr>
          <p:cNvPr id="24629" name="Rectangle 53"/>
          <p:cNvSpPr>
            <a:spLocks noChangeArrowheads="1"/>
          </p:cNvSpPr>
          <p:nvPr/>
        </p:nvSpPr>
        <p:spPr bwMode="auto">
          <a:xfrm>
            <a:off x="1959650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0" name="Rectangle 54"/>
          <p:cNvSpPr>
            <a:spLocks noChangeArrowheads="1"/>
          </p:cNvSpPr>
          <p:nvPr/>
        </p:nvSpPr>
        <p:spPr bwMode="auto">
          <a:xfrm>
            <a:off x="2645450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1" name="Rectangle 55"/>
          <p:cNvSpPr>
            <a:spLocks noChangeArrowheads="1"/>
          </p:cNvSpPr>
          <p:nvPr/>
        </p:nvSpPr>
        <p:spPr bwMode="auto">
          <a:xfrm>
            <a:off x="4006850" y="59944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11</a:t>
            </a:r>
          </a:p>
        </p:txBody>
      </p:sp>
      <p:sp>
        <p:nvSpPr>
          <p:cNvPr id="24632" name="Rectangle 56"/>
          <p:cNvSpPr>
            <a:spLocks noChangeArrowheads="1"/>
          </p:cNvSpPr>
          <p:nvPr/>
        </p:nvSpPr>
        <p:spPr bwMode="auto">
          <a:xfrm>
            <a:off x="1959650" y="59944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3" name="Rectangle 57"/>
          <p:cNvSpPr>
            <a:spLocks noChangeArrowheads="1"/>
          </p:cNvSpPr>
          <p:nvPr/>
        </p:nvSpPr>
        <p:spPr bwMode="auto">
          <a:xfrm>
            <a:off x="2645450" y="59944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4" name="Text Box 58"/>
          <p:cNvSpPr txBox="1">
            <a:spLocks noChangeArrowheads="1"/>
          </p:cNvSpPr>
          <p:nvPr/>
        </p:nvSpPr>
        <p:spPr bwMode="auto">
          <a:xfrm>
            <a:off x="1361694" y="5080000"/>
            <a:ext cx="52392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SUP</a:t>
            </a:r>
          </a:p>
        </p:txBody>
      </p:sp>
      <p:sp>
        <p:nvSpPr>
          <p:cNvPr id="24635" name="Rectangle 59"/>
          <p:cNvSpPr>
            <a:spLocks noChangeArrowheads="1"/>
          </p:cNvSpPr>
          <p:nvPr/>
        </p:nvSpPr>
        <p:spPr bwMode="auto">
          <a:xfrm>
            <a:off x="1270675" y="53848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36" name="Rectangle 60"/>
          <p:cNvSpPr>
            <a:spLocks noChangeArrowheads="1"/>
          </p:cNvSpPr>
          <p:nvPr/>
        </p:nvSpPr>
        <p:spPr bwMode="auto">
          <a:xfrm>
            <a:off x="1270675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7" name="Rectangle 61"/>
          <p:cNvSpPr>
            <a:spLocks noChangeArrowheads="1"/>
          </p:cNvSpPr>
          <p:nvPr/>
        </p:nvSpPr>
        <p:spPr bwMode="auto">
          <a:xfrm>
            <a:off x="1270675" y="59944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38" name="Text Box 62"/>
          <p:cNvSpPr txBox="1">
            <a:spLocks noChangeArrowheads="1"/>
          </p:cNvSpPr>
          <p:nvPr/>
        </p:nvSpPr>
        <p:spPr bwMode="auto">
          <a:xfrm>
            <a:off x="659488" y="53863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0:</a:t>
            </a:r>
          </a:p>
        </p:txBody>
      </p:sp>
      <p:sp>
        <p:nvSpPr>
          <p:cNvPr id="24639" name="Text Box 63"/>
          <p:cNvSpPr txBox="1">
            <a:spLocks noChangeArrowheads="1"/>
          </p:cNvSpPr>
          <p:nvPr/>
        </p:nvSpPr>
        <p:spPr bwMode="auto">
          <a:xfrm>
            <a:off x="659488" y="56911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1:</a:t>
            </a:r>
          </a:p>
        </p:txBody>
      </p:sp>
      <p:sp>
        <p:nvSpPr>
          <p:cNvPr id="24640" name="Text Box 64"/>
          <p:cNvSpPr txBox="1">
            <a:spLocks noChangeArrowheads="1"/>
          </p:cNvSpPr>
          <p:nvPr/>
        </p:nvSpPr>
        <p:spPr bwMode="auto">
          <a:xfrm>
            <a:off x="661075" y="59959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2:</a:t>
            </a:r>
          </a:p>
        </p:txBody>
      </p:sp>
      <p:sp>
        <p:nvSpPr>
          <p:cNvPr id="93" name="Rectangle 4"/>
          <p:cNvSpPr>
            <a:spLocks noChangeArrowheads="1"/>
          </p:cNvSpPr>
          <p:nvPr/>
        </p:nvSpPr>
        <p:spPr bwMode="auto">
          <a:xfrm>
            <a:off x="7086600" y="2548468"/>
            <a:ext cx="1676400" cy="63239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Space</a:t>
            </a:r>
          </a:p>
        </p:txBody>
      </p:sp>
      <p:sp>
        <p:nvSpPr>
          <p:cNvPr id="95" name="Rectangle 94"/>
          <p:cNvSpPr/>
          <p:nvPr/>
        </p:nvSpPr>
        <p:spPr bwMode="auto">
          <a:xfrm>
            <a:off x="7161212" y="318086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7161212" y="3436449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7161212" y="369494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98" name="Rectangle 97"/>
          <p:cNvSpPr/>
          <p:nvPr/>
        </p:nvSpPr>
        <p:spPr bwMode="auto">
          <a:xfrm>
            <a:off x="7161212" y="395653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7161212" y="421212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/>
              </a:rPr>
              <a:t>PP 4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7161212" y="446636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7161212" y="4726207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102" name="Rectangle 101"/>
          <p:cNvSpPr/>
          <p:nvPr/>
        </p:nvSpPr>
        <p:spPr bwMode="auto">
          <a:xfrm>
            <a:off x="7161212" y="497681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161212" y="5232891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104" name="Rectangle 103"/>
          <p:cNvSpPr/>
          <p:nvPr/>
        </p:nvSpPr>
        <p:spPr bwMode="auto">
          <a:xfrm>
            <a:off x="7161212" y="548640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/>
              </a:rPr>
              <a:t>PP 9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7162800" y="573673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7162800" y="599281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11</a:t>
            </a:r>
          </a:p>
        </p:txBody>
      </p:sp>
      <p:cxnSp>
        <p:nvCxnSpPr>
          <p:cNvPr id="114" name="Straight Arrow Connector 113"/>
          <p:cNvCxnSpPr>
            <a:stCxn id="24584" idx="3"/>
            <a:endCxn id="101" idx="1"/>
          </p:cNvCxnSpPr>
          <p:nvPr/>
        </p:nvCxnSpPr>
        <p:spPr bwMode="auto">
          <a:xfrm>
            <a:off x="5527675" y="3328988"/>
            <a:ext cx="1633537" cy="152501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6" name="Straight Arrow Connector 115"/>
          <p:cNvCxnSpPr>
            <a:stCxn id="24587" idx="3"/>
            <a:endCxn id="99" idx="1"/>
          </p:cNvCxnSpPr>
          <p:nvPr/>
        </p:nvCxnSpPr>
        <p:spPr bwMode="auto">
          <a:xfrm>
            <a:off x="5527675" y="3633788"/>
            <a:ext cx="1633537" cy="70613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8" name="Straight Arrow Connector 117"/>
          <p:cNvCxnSpPr>
            <a:stCxn id="24590" idx="3"/>
            <a:endCxn id="97" idx="1"/>
          </p:cNvCxnSpPr>
          <p:nvPr/>
        </p:nvCxnSpPr>
        <p:spPr bwMode="auto">
          <a:xfrm flipV="1">
            <a:off x="5527675" y="3822739"/>
            <a:ext cx="1633537" cy="11584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0" name="Straight Arrow Connector 119"/>
          <p:cNvCxnSpPr>
            <a:stCxn id="24625" idx="3"/>
            <a:endCxn id="104" idx="1"/>
          </p:cNvCxnSpPr>
          <p:nvPr/>
        </p:nvCxnSpPr>
        <p:spPr bwMode="auto">
          <a:xfrm>
            <a:off x="5530850" y="5537200"/>
            <a:ext cx="1630362" cy="7699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2" name="Straight Arrow Connector 121"/>
          <p:cNvCxnSpPr>
            <a:stCxn id="24628" idx="3"/>
            <a:endCxn id="101" idx="1"/>
          </p:cNvCxnSpPr>
          <p:nvPr/>
        </p:nvCxnSpPr>
        <p:spPr bwMode="auto">
          <a:xfrm flipV="1">
            <a:off x="5530850" y="4854001"/>
            <a:ext cx="1630362" cy="98799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4" name="Straight Arrow Connector 123"/>
          <p:cNvCxnSpPr>
            <a:stCxn id="24631" idx="3"/>
            <a:endCxn id="112" idx="1"/>
          </p:cNvCxnSpPr>
          <p:nvPr/>
        </p:nvCxnSpPr>
        <p:spPr bwMode="auto">
          <a:xfrm flipV="1">
            <a:off x="5530850" y="6120607"/>
            <a:ext cx="1631950" cy="261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3367100" y="2870200"/>
            <a:ext cx="604275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EXEC</a:t>
            </a:r>
          </a:p>
        </p:txBody>
      </p:sp>
      <p:sp>
        <p:nvSpPr>
          <p:cNvPr id="66" name="Rectangle 13"/>
          <p:cNvSpPr>
            <a:spLocks noChangeArrowheads="1"/>
          </p:cNvSpPr>
          <p:nvPr/>
        </p:nvSpPr>
        <p:spPr bwMode="auto">
          <a:xfrm>
            <a:off x="3320511" y="34798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3370868" y="5076120"/>
            <a:ext cx="604275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EXEC</a:t>
            </a:r>
          </a:p>
        </p:txBody>
      </p:sp>
      <p:sp>
        <p:nvSpPr>
          <p:cNvPr id="70" name="Rectangle 13"/>
          <p:cNvSpPr>
            <a:spLocks noChangeArrowheads="1"/>
          </p:cNvSpPr>
          <p:nvPr/>
        </p:nvSpPr>
        <p:spPr bwMode="auto">
          <a:xfrm>
            <a:off x="3324279" y="56857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3324279" y="59905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2" name="Rectangle 13"/>
          <p:cNvSpPr>
            <a:spLocks noChangeArrowheads="1"/>
          </p:cNvSpPr>
          <p:nvPr/>
        </p:nvSpPr>
        <p:spPr bwMode="auto">
          <a:xfrm>
            <a:off x="3316607" y="3173057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3" name="Rectangle 13"/>
          <p:cNvSpPr>
            <a:spLocks noChangeArrowheads="1"/>
          </p:cNvSpPr>
          <p:nvPr/>
        </p:nvSpPr>
        <p:spPr bwMode="auto">
          <a:xfrm>
            <a:off x="3326117" y="53809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4" name="Rectangle 10"/>
          <p:cNvSpPr>
            <a:spLocks noChangeArrowheads="1"/>
          </p:cNvSpPr>
          <p:nvPr/>
        </p:nvSpPr>
        <p:spPr bwMode="auto">
          <a:xfrm>
            <a:off x="3316607" y="37861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53570" y="195886"/>
            <a:ext cx="1752600" cy="2246769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SUP bit set to 1 indicates that the process must be running in </a:t>
            </a:r>
            <a:r>
              <a:rPr lang="en-US" sz="1400" dirty="0" err="1">
                <a:latin typeface="Calibri" pitchFamily="34" charset="0"/>
              </a:rPr>
              <a:t>SUPervisor</a:t>
            </a:r>
            <a:r>
              <a:rPr lang="en-US" sz="1400" dirty="0">
                <a:latin typeface="Calibri" pitchFamily="34" charset="0"/>
              </a:rPr>
              <a:t> mode to access.</a:t>
            </a:r>
          </a:p>
          <a:p>
            <a:r>
              <a:rPr lang="en-US" sz="1400" dirty="0">
                <a:latin typeface="Calibri" pitchFamily="34" charset="0"/>
              </a:rPr>
              <a:t>Processes running in user mode can only access pages with SUP set to 0.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</a:t>
            </a:r>
          </a:p>
          <a:p>
            <a:r>
              <a:rPr lang="en-US" dirty="0">
                <a:solidFill>
                  <a:srgbClr val="7F7F7F"/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rgbClr val="7F7F7F"/>
                </a:solidFill>
              </a:rPr>
              <a:t>VM as a tool for memory protection</a:t>
            </a:r>
          </a:p>
          <a:p>
            <a:r>
              <a:rPr lang="en-US" dirty="0"/>
              <a:t>Address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2906" y="456956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310" name="Rectangle 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VM Address Translation</a:t>
            </a:r>
          </a:p>
        </p:txBody>
      </p:sp>
      <p:sp>
        <p:nvSpPr>
          <p:cNvPr id="566311" name="Rectangle 39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442325" cy="4972050"/>
          </a:xfrm>
        </p:spPr>
        <p:txBody>
          <a:bodyPr/>
          <a:lstStyle/>
          <a:p>
            <a:r>
              <a:rPr lang="en-US" dirty="0"/>
              <a:t>Virtual Address Space</a:t>
            </a:r>
          </a:p>
          <a:p>
            <a:pPr lvl="1"/>
            <a:r>
              <a:rPr lang="en-US" i="1" dirty="0"/>
              <a:t>V = {0, 1, …, N–1}</a:t>
            </a:r>
          </a:p>
          <a:p>
            <a:r>
              <a:rPr lang="en-US" dirty="0"/>
              <a:t>Physical Address Space</a:t>
            </a:r>
          </a:p>
          <a:p>
            <a:pPr lvl="1"/>
            <a:r>
              <a:rPr lang="en-US" i="1" dirty="0"/>
              <a:t>P = {0, 1, …, M–1}</a:t>
            </a:r>
          </a:p>
          <a:p>
            <a:r>
              <a:rPr lang="en-US" dirty="0"/>
              <a:t>Address Translation</a:t>
            </a:r>
          </a:p>
          <a:p>
            <a:pPr lvl="1"/>
            <a:r>
              <a:rPr lang="en-US" b="1" i="1" dirty="0"/>
              <a:t>MAP:  V </a:t>
            </a:r>
            <a:r>
              <a:rPr lang="en-US" b="1" i="1" dirty="0" err="1">
                <a:sym typeface="Symbol" charset="2"/>
              </a:rPr>
              <a:t></a:t>
            </a:r>
            <a:r>
              <a:rPr lang="en-US" b="1" i="1" dirty="0"/>
              <a:t>  P  U  {</a:t>
            </a:r>
            <a:r>
              <a:rPr lang="en-US" b="1" i="1" dirty="0" err="1">
                <a:sym typeface="Symbol" charset="2"/>
              </a:rPr>
              <a:t></a:t>
            </a:r>
            <a:r>
              <a:rPr lang="en-US" b="1" i="1" dirty="0"/>
              <a:t>}</a:t>
            </a:r>
          </a:p>
          <a:p>
            <a:pPr lvl="1"/>
            <a:r>
              <a:rPr lang="en-US" dirty="0"/>
              <a:t>For virtual address </a:t>
            </a:r>
            <a:r>
              <a:rPr lang="en-US" b="1" i="1" dirty="0"/>
              <a:t>a</a:t>
            </a:r>
            <a:r>
              <a:rPr lang="en-US" dirty="0"/>
              <a:t>:</a:t>
            </a:r>
          </a:p>
          <a:p>
            <a:pPr lvl="2"/>
            <a:r>
              <a:rPr lang="en-US" b="1" i="1" dirty="0" err="1"/>
              <a:t>MAP(a</a:t>
            </a:r>
            <a:r>
              <a:rPr lang="en-US" b="1" i="1" dirty="0"/>
              <a:t>)  =  a</a:t>
            </a:r>
            <a:r>
              <a:rPr lang="en-US" i="1" dirty="0"/>
              <a:t>’</a:t>
            </a:r>
            <a:r>
              <a:rPr lang="en-US" dirty="0"/>
              <a:t>  if data at virtual address </a:t>
            </a:r>
            <a:r>
              <a:rPr lang="en-US" b="1" i="1" dirty="0"/>
              <a:t>a</a:t>
            </a:r>
            <a:r>
              <a:rPr lang="en-US" dirty="0"/>
              <a:t> is at physical address </a:t>
            </a:r>
            <a:r>
              <a:rPr lang="en-US" b="1" i="1" dirty="0"/>
              <a:t>a’</a:t>
            </a:r>
            <a:r>
              <a:rPr lang="en-US" i="1" dirty="0"/>
              <a:t> </a:t>
            </a:r>
            <a:r>
              <a:rPr lang="en-US" dirty="0"/>
              <a:t>in </a:t>
            </a:r>
            <a:r>
              <a:rPr lang="en-US" b="1" i="1" dirty="0"/>
              <a:t>P</a:t>
            </a:r>
          </a:p>
          <a:p>
            <a:pPr lvl="2"/>
            <a:r>
              <a:rPr lang="en-US" b="1" i="1" dirty="0" err="1"/>
              <a:t>MAP(a</a:t>
            </a:r>
            <a:r>
              <a:rPr lang="en-US" b="1" i="1" dirty="0"/>
              <a:t>)  = </a:t>
            </a:r>
            <a:r>
              <a:rPr lang="en-US" b="1" i="1" dirty="0" err="1">
                <a:sym typeface="Symbol" charset="2"/>
              </a:rPr>
              <a:t></a:t>
            </a:r>
            <a:r>
              <a:rPr lang="en-US" b="1" i="1" dirty="0"/>
              <a:t> </a:t>
            </a:r>
            <a:r>
              <a:rPr lang="en-US" dirty="0"/>
              <a:t>if data at virtual address </a:t>
            </a:r>
            <a:r>
              <a:rPr lang="en-US" b="1" i="1" dirty="0"/>
              <a:t>a</a:t>
            </a:r>
            <a:r>
              <a:rPr lang="en-US" dirty="0"/>
              <a:t> is not in physical memory</a:t>
            </a:r>
          </a:p>
          <a:p>
            <a:pPr lvl="3"/>
            <a:r>
              <a:rPr lang="en-US" dirty="0"/>
              <a:t>Either invalid or stored on disk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29782" cy="762000"/>
          </a:xfrm>
        </p:spPr>
        <p:txBody>
          <a:bodyPr/>
          <a:lstStyle/>
          <a:p>
            <a:r>
              <a:rPr lang="en-US" dirty="0"/>
              <a:t>Summary of Address Translation Symbols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7896225" cy="5267325"/>
          </a:xfrm>
        </p:spPr>
        <p:txBody>
          <a:bodyPr>
            <a:normAutofit/>
          </a:bodyPr>
          <a:lstStyle/>
          <a:p>
            <a:r>
              <a:rPr lang="en-US" dirty="0"/>
              <a:t>Basic Parameters</a:t>
            </a:r>
          </a:p>
          <a:p>
            <a:pPr lvl="1"/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virtual address space</a:t>
            </a:r>
            <a:endParaRPr lang="en-US" baseline="30000" dirty="0"/>
          </a:p>
          <a:p>
            <a:pPr lvl="1"/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physical address space</a:t>
            </a:r>
            <a:endParaRPr lang="en-US" baseline="30000" dirty="0"/>
          </a:p>
          <a:p>
            <a:pPr lvl="1"/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  <a:endParaRPr lang="en-US" baseline="30000" dirty="0"/>
          </a:p>
          <a:p>
            <a:r>
              <a:rPr lang="en-US" dirty="0"/>
              <a:t>Components of the virtual address (VA)</a:t>
            </a:r>
          </a:p>
          <a:p>
            <a:pPr lvl="1"/>
            <a:r>
              <a:rPr lang="en-US" b="1" dirty="0"/>
              <a:t>TLBI</a:t>
            </a:r>
            <a:r>
              <a:rPr lang="en-US" dirty="0"/>
              <a:t>: TLB index</a:t>
            </a:r>
          </a:p>
          <a:p>
            <a:pPr lvl="1"/>
            <a:r>
              <a:rPr lang="en-US" b="1" dirty="0"/>
              <a:t>TLBT</a:t>
            </a:r>
            <a:r>
              <a:rPr lang="en-US" dirty="0"/>
              <a:t>: TLB tag</a:t>
            </a:r>
          </a:p>
          <a:p>
            <a:pPr lvl="1"/>
            <a:r>
              <a:rPr lang="en-US" b="1" dirty="0"/>
              <a:t>VPO</a:t>
            </a:r>
            <a:r>
              <a:rPr lang="en-US" dirty="0"/>
              <a:t>: Virtual page offset </a:t>
            </a:r>
          </a:p>
          <a:p>
            <a:pPr lvl="1"/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r>
              <a:rPr lang="en-US" dirty="0"/>
              <a:t>Components of the physical address (PA)</a:t>
            </a:r>
          </a:p>
          <a:p>
            <a:pPr lvl="1"/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/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Translation With a Page Table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3753117" y="1840468"/>
            <a:ext cx="25146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Virtual page number (VPN)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267717" y="1840468"/>
            <a:ext cx="2133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Virtual page offset (VPO)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753117" y="32120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3372117" y="32120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3753117" y="3516868"/>
            <a:ext cx="2514600" cy="304800"/>
          </a:xfrm>
          <a:prstGeom prst="rect">
            <a:avLst/>
          </a:prstGeom>
          <a:solidFill>
            <a:srgbClr val="D5F1C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3372117" y="3516868"/>
            <a:ext cx="381000" cy="304800"/>
          </a:xfrm>
          <a:prstGeom prst="rect">
            <a:avLst/>
          </a:prstGeom>
          <a:solidFill>
            <a:srgbClr val="8DBA84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753117" y="38216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372117" y="38216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3753117" y="41264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3372117" y="41264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3753117" y="5726668"/>
            <a:ext cx="2514600" cy="304800"/>
          </a:xfrm>
          <a:prstGeom prst="rect">
            <a:avLst/>
          </a:prstGeom>
          <a:solidFill>
            <a:srgbClr val="D5F1C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Physical page number (PPN)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6267717" y="5726668"/>
            <a:ext cx="2133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Physical page offset (PPO)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3117" y="1207070"/>
            <a:ext cx="16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3117" y="6031468"/>
            <a:ext cx="175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5355" y="2939463"/>
            <a:ext cx="554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Valid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0703" y="2940531"/>
            <a:ext cx="227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Physical page number (PPN)</a:t>
            </a:r>
          </a:p>
        </p:txBody>
      </p:sp>
      <p:cxnSp>
        <p:nvCxnSpPr>
          <p:cNvPr id="24" name="Elbow Connector 23"/>
          <p:cNvCxnSpPr>
            <a:stCxn id="3" idx="1"/>
            <a:endCxn id="8" idx="1"/>
          </p:cNvCxnSpPr>
          <p:nvPr/>
        </p:nvCxnSpPr>
        <p:spPr bwMode="auto">
          <a:xfrm rot="10800000" flipV="1">
            <a:off x="3372117" y="1992868"/>
            <a:ext cx="381000" cy="1676400"/>
          </a:xfrm>
          <a:prstGeom prst="bentConnector3">
            <a:avLst>
              <a:gd name="adj1" fmla="val 258028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4" idx="2"/>
            <a:endCxn id="14" idx="0"/>
          </p:cNvCxnSpPr>
          <p:nvPr/>
        </p:nvCxnSpPr>
        <p:spPr bwMode="auto">
          <a:xfrm rot="5400000">
            <a:off x="5543817" y="3935968"/>
            <a:ext cx="3581400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5400000">
            <a:off x="3976677" y="4692134"/>
            <a:ext cx="2069068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Rectangle 35"/>
          <p:cNvSpPr/>
          <p:nvPr/>
        </p:nvSpPr>
        <p:spPr bwMode="auto">
          <a:xfrm>
            <a:off x="453279" y="1633336"/>
            <a:ext cx="1524000" cy="719063"/>
          </a:xfrm>
          <a:prstGeom prst="rect">
            <a:avLst/>
          </a:prstGeom>
          <a:solidFill>
            <a:srgbClr val="F1C7C7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Page table </a:t>
            </a:r>
            <a:br>
              <a:rPr lang="en-US" sz="1400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base register</a:t>
            </a:r>
          </a:p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(PTBR)</a:t>
            </a:r>
          </a:p>
        </p:txBody>
      </p:sp>
      <p:cxnSp>
        <p:nvCxnSpPr>
          <p:cNvPr id="38" name="Shape 37"/>
          <p:cNvCxnSpPr/>
          <p:nvPr/>
        </p:nvCxnSpPr>
        <p:spPr bwMode="auto">
          <a:xfrm rot="5400000">
            <a:off x="2286267" y="3459719"/>
            <a:ext cx="1066800" cy="148590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Shape 39"/>
          <p:cNvCxnSpPr>
            <a:stCxn id="36" idx="2"/>
          </p:cNvCxnSpPr>
          <p:nvPr/>
        </p:nvCxnSpPr>
        <p:spPr bwMode="auto">
          <a:xfrm rot="16200000" flipH="1">
            <a:off x="1863863" y="1703814"/>
            <a:ext cx="859669" cy="2156837"/>
          </a:xfrm>
          <a:prstGeom prst="bentConnector2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3272477" y="2639892"/>
            <a:ext cx="129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95962" y="2667000"/>
            <a:ext cx="1582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90000"/>
                </a:solidFill>
                <a:latin typeface="Calibri" pitchFamily="34" charset="0"/>
              </a:rPr>
              <a:t>Page table address </a:t>
            </a:r>
          </a:p>
          <a:p>
            <a:r>
              <a:rPr lang="en-US" sz="1400" dirty="0">
                <a:solidFill>
                  <a:srgbClr val="990000"/>
                </a:solidFill>
                <a:latin typeface="Calibri" pitchFamily="34" charset="0"/>
              </a:rPr>
              <a:t>for process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195" y="4371965"/>
            <a:ext cx="16855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alibri" pitchFamily="34" charset="0"/>
              </a:rPr>
              <a:t>Valid bit = 0:</a:t>
            </a:r>
          </a:p>
          <a:p>
            <a:pPr algn="r"/>
            <a:r>
              <a:rPr lang="en-US" sz="1400" dirty="0">
                <a:latin typeface="Calibri" pitchFamily="34" charset="0"/>
              </a:rPr>
              <a:t>page not in memory</a:t>
            </a:r>
          </a:p>
          <a:p>
            <a:pPr algn="r"/>
            <a:r>
              <a:rPr lang="en-US" sz="1400" dirty="0">
                <a:latin typeface="Calibri" pitchFamily="34" charset="0"/>
              </a:rPr>
              <a:t>(page fault)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551801"/>
            <a:ext cx="29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7045" y="1551801"/>
            <a:ext cx="42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p-1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7354" y="1551801"/>
            <a:ext cx="301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Calibri" pitchFamily="34" charset="0"/>
              </a:rPr>
              <a:t>p</a:t>
            </a:r>
            <a:endParaRPr lang="en-US" sz="1200" i="1" dirty="0"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53117" y="1551801"/>
            <a:ext cx="42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n-1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5796" y="5450463"/>
            <a:ext cx="29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3241" y="5450463"/>
            <a:ext cx="42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p-1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2765" y="5450463"/>
            <a:ext cx="301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Calibri" pitchFamily="34" charset="0"/>
              </a:rPr>
              <a:t>p</a:t>
            </a:r>
            <a:endParaRPr lang="en-US" sz="1200" i="1" dirty="0">
              <a:latin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18528" y="5450463"/>
            <a:ext cx="469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m-1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572895"/>
            <a:ext cx="3749615" cy="16774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Translation: Page Hit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419600"/>
            <a:ext cx="6781800" cy="2057400"/>
          </a:xfrm>
          <a:ln/>
        </p:spPr>
        <p:txBody>
          <a:bodyPr/>
          <a:lstStyle/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1) Processor sends virtual address to MMU 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2-3) MMU fetches PTE from page table in memory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4) MMU sends physical address to cache/memory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5) Cache/memory sends data word to processor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1809754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1524728"/>
            <a:ext cx="914400" cy="22844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606298" y="2631411"/>
            <a:ext cx="37475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87787" y="3580538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5030787" y="28842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2162233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2424364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2157277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577141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5513388" y="1717011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 flipV="1">
            <a:off x="5030787" y="19698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5566800" y="2021811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5030787" y="22746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58988" y="2695634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07266" y="1921934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5656358" y="1469495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5656358" y="2324630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5656358" y="2951163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21666" y="3865564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48" grpId="0"/>
      <p:bldP spid="43" grpId="0"/>
      <p:bldP spid="47" grpId="0"/>
      <p:bldP spid="52" grpId="0" animBg="1"/>
      <p:bldP spid="53" grpId="0" animBg="1"/>
      <p:bldP spid="54" grpId="0" animBg="1"/>
      <p:bldP spid="5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609600" y="2237000"/>
            <a:ext cx="3749615" cy="16774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Translation: Page Fault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495800"/>
            <a:ext cx="8001000" cy="2057400"/>
          </a:xfrm>
          <a:ln/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1) Processor sends virtual address to MMU </a:t>
            </a:r>
          </a:p>
          <a:p>
            <a:pPr>
              <a:lnSpc>
                <a:spcPct val="110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2-3) MMU fetches PTE from page table in memory</a:t>
            </a:r>
          </a:p>
          <a:p>
            <a:pPr>
              <a:lnSpc>
                <a:spcPct val="110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4) Valid bit is zero, so MMU triggers page fault exception</a:t>
            </a:r>
          </a:p>
          <a:p>
            <a:pPr>
              <a:lnSpc>
                <a:spcPct val="110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5) Handler identifies victim (and, if dirty, pages it out to disk)</a:t>
            </a:r>
          </a:p>
          <a:p>
            <a:pPr>
              <a:lnSpc>
                <a:spcPct val="110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6) Handler pages in new page and updates PTE in memory</a:t>
            </a:r>
          </a:p>
          <a:p>
            <a:pPr>
              <a:lnSpc>
                <a:spcPct val="110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7) Handler returns to original process, restarting faulting instruction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188602" y="2473859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5777815" y="2188833"/>
            <a:ext cx="914400" cy="192596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750202" y="282633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1817002" y="3088469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274202" y="2829849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766" y="2241246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4738003" y="2394344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 flipV="1">
            <a:off x="4255402" y="2647203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4791415" y="2835472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4255402" y="3104403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2330387" y="2594506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4880973" y="2146828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4880973" y="3154363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4563533" y="1554162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192962" y="2700868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7924800" y="2192866"/>
            <a:ext cx="914400" cy="192596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Disk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5760880" y="1219200"/>
            <a:ext cx="2527985" cy="533400"/>
          </a:xfrm>
          <a:prstGeom prst="rect">
            <a:avLst/>
          </a:prstGeom>
          <a:solidFill>
            <a:srgbClr val="F6F5BD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Page fault handler</a:t>
            </a:r>
          </a:p>
        </p:txBody>
      </p:sp>
      <p:cxnSp>
        <p:nvCxnSpPr>
          <p:cNvPr id="27" name="Shape 26"/>
          <p:cNvCxnSpPr>
            <a:stCxn id="9226" idx="0"/>
            <a:endCxn id="25" idx="1"/>
          </p:cNvCxnSpPr>
          <p:nvPr/>
        </p:nvCxnSpPr>
        <p:spPr bwMode="auto">
          <a:xfrm rot="5400000" flipH="1" flipV="1">
            <a:off x="4247462" y="960441"/>
            <a:ext cx="987959" cy="2038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6707187" y="2633132"/>
            <a:ext cx="1217613" cy="22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10800000">
            <a:off x="6707188" y="3580024"/>
            <a:ext cx="12176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Down Arrow 33"/>
          <p:cNvSpPr/>
          <p:nvPr/>
        </p:nvSpPr>
        <p:spPr bwMode="auto">
          <a:xfrm>
            <a:off x="7086600" y="1752600"/>
            <a:ext cx="457200" cy="628516"/>
          </a:xfrm>
          <a:prstGeom prst="downArrow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6773333" y="2353733"/>
            <a:ext cx="105828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Victim page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6858000" y="3302001"/>
            <a:ext cx="91952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New page</a:t>
            </a: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4267200" y="1180238"/>
            <a:ext cx="90791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Exception</a:t>
            </a:r>
          </a:p>
        </p:txBody>
      </p:sp>
      <p:sp>
        <p:nvSpPr>
          <p:cNvPr id="42" name="Oval 21"/>
          <p:cNvSpPr>
            <a:spLocks noChangeArrowheads="1"/>
          </p:cNvSpPr>
          <p:nvPr/>
        </p:nvSpPr>
        <p:spPr bwMode="auto">
          <a:xfrm>
            <a:off x="7205132" y="3662362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2330386" y="317314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7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25" grpId="0" animBg="1"/>
      <p:bldP spid="34" grpId="0" animBg="1"/>
      <p:bldP spid="35" grpId="0"/>
      <p:bldP spid="36" grpId="0"/>
      <p:bldP spid="39" grpId="0"/>
      <p:bldP spid="42" grpId="0" animBg="1"/>
      <p:bldP spid="4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471" name="Rectangle 79"/>
          <p:cNvSpPr>
            <a:spLocks noChangeArrowheads="1"/>
          </p:cNvSpPr>
          <p:nvPr/>
        </p:nvSpPr>
        <p:spPr bwMode="auto">
          <a:xfrm>
            <a:off x="827088" y="2222211"/>
            <a:ext cx="3646487" cy="2438400"/>
          </a:xfrm>
          <a:prstGeom prst="rect">
            <a:avLst/>
          </a:prstGeom>
          <a:solidFill>
            <a:srgbClr val="EBEBEB"/>
          </a:solidFill>
          <a:ln w="12700" cap="flat" cmpd="sng" algn="ctr">
            <a:noFill/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20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Integrating VM and Cache</a:t>
            </a:r>
          </a:p>
        </p:txBody>
      </p:sp>
      <p:sp>
        <p:nvSpPr>
          <p:cNvPr id="571458" name="Rectangle 66"/>
          <p:cNvSpPr>
            <a:spLocks noChangeArrowheads="1"/>
          </p:cNvSpPr>
          <p:nvPr/>
        </p:nvSpPr>
        <p:spPr bwMode="auto">
          <a:xfrm>
            <a:off x="2552700" y="3411249"/>
            <a:ext cx="384721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dirty="0">
                <a:latin typeface="+mn-lt"/>
              </a:rPr>
              <a:t>VA</a:t>
            </a:r>
          </a:p>
        </p:txBody>
      </p:sp>
      <p:sp>
        <p:nvSpPr>
          <p:cNvPr id="571459" name="Rectangle 67"/>
          <p:cNvSpPr>
            <a:spLocks noChangeArrowheads="1"/>
          </p:cNvSpPr>
          <p:nvPr/>
        </p:nvSpPr>
        <p:spPr bwMode="auto">
          <a:xfrm>
            <a:off x="1028700" y="3182649"/>
            <a:ext cx="1230313" cy="457200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CPU</a:t>
            </a:r>
          </a:p>
        </p:txBody>
      </p:sp>
      <p:sp>
        <p:nvSpPr>
          <p:cNvPr id="571460" name="Rectangle 68"/>
          <p:cNvSpPr>
            <a:spLocks noChangeArrowheads="1"/>
          </p:cNvSpPr>
          <p:nvPr/>
        </p:nvSpPr>
        <p:spPr bwMode="auto">
          <a:xfrm>
            <a:off x="3267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MMU</a:t>
            </a:r>
          </a:p>
        </p:txBody>
      </p:sp>
      <p:sp>
        <p:nvSpPr>
          <p:cNvPr id="571461" name="Rectangle 69"/>
          <p:cNvSpPr>
            <a:spLocks noChangeArrowheads="1"/>
          </p:cNvSpPr>
          <p:nvPr/>
        </p:nvSpPr>
        <p:spPr bwMode="auto">
          <a:xfrm>
            <a:off x="5448300" y="2420649"/>
            <a:ext cx="925513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 b="0">
              <a:latin typeface="+mn-lt"/>
            </a:endParaRPr>
          </a:p>
        </p:txBody>
      </p:sp>
      <p:sp>
        <p:nvSpPr>
          <p:cNvPr id="571462" name="Line 70"/>
          <p:cNvSpPr>
            <a:spLocks noChangeShapeType="1"/>
          </p:cNvSpPr>
          <p:nvPr/>
        </p:nvSpPr>
        <p:spPr bwMode="auto">
          <a:xfrm flipV="1">
            <a:off x="2259013" y="3411249"/>
            <a:ext cx="1001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3" name="Line 71"/>
          <p:cNvSpPr>
            <a:spLocks noChangeShapeType="1"/>
          </p:cNvSpPr>
          <p:nvPr/>
        </p:nvSpPr>
        <p:spPr bwMode="auto">
          <a:xfrm flipV="1">
            <a:off x="1638300" y="3639849"/>
            <a:ext cx="0" cy="1249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4" name="Rectangle 72"/>
          <p:cNvSpPr>
            <a:spLocks noChangeArrowheads="1"/>
          </p:cNvSpPr>
          <p:nvPr/>
        </p:nvSpPr>
        <p:spPr bwMode="auto">
          <a:xfrm>
            <a:off x="4564063" y="2922299"/>
            <a:ext cx="564257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dirty="0">
                <a:latin typeface="+mn-lt"/>
              </a:rPr>
              <a:t>PTEA</a:t>
            </a:r>
          </a:p>
        </p:txBody>
      </p:sp>
      <p:sp>
        <p:nvSpPr>
          <p:cNvPr id="571465" name="Text Box 73"/>
          <p:cNvSpPr txBox="1">
            <a:spLocks noChangeArrowheads="1"/>
          </p:cNvSpPr>
          <p:nvPr/>
        </p:nvSpPr>
        <p:spPr bwMode="auto">
          <a:xfrm>
            <a:off x="4286250" y="1764009"/>
            <a:ext cx="49494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PTE</a:t>
            </a:r>
          </a:p>
        </p:txBody>
      </p:sp>
      <p:sp>
        <p:nvSpPr>
          <p:cNvPr id="571466" name="Line 74"/>
          <p:cNvSpPr>
            <a:spLocks noChangeShapeType="1"/>
          </p:cNvSpPr>
          <p:nvPr/>
        </p:nvSpPr>
        <p:spPr bwMode="auto">
          <a:xfrm>
            <a:off x="4286250" y="3181061"/>
            <a:ext cx="116205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7" name="Rectangle 75"/>
          <p:cNvSpPr>
            <a:spLocks noChangeArrowheads="1"/>
          </p:cNvSpPr>
          <p:nvPr/>
        </p:nvSpPr>
        <p:spPr bwMode="auto">
          <a:xfrm>
            <a:off x="4692650" y="3563649"/>
            <a:ext cx="347852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>
                <a:latin typeface="+mn-lt"/>
              </a:rPr>
              <a:t>PA</a:t>
            </a:r>
          </a:p>
        </p:txBody>
      </p:sp>
      <p:sp>
        <p:nvSpPr>
          <p:cNvPr id="571468" name="Line 76"/>
          <p:cNvSpPr>
            <a:spLocks noChangeShapeType="1"/>
          </p:cNvSpPr>
          <p:nvPr/>
        </p:nvSpPr>
        <p:spPr bwMode="auto">
          <a:xfrm flipH="1">
            <a:off x="1638300" y="4889211"/>
            <a:ext cx="3568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9" name="Text Box 77"/>
          <p:cNvSpPr txBox="1">
            <a:spLocks noChangeArrowheads="1"/>
          </p:cNvSpPr>
          <p:nvPr/>
        </p:nvSpPr>
        <p:spPr bwMode="auto">
          <a:xfrm>
            <a:off x="3200400" y="4813011"/>
            <a:ext cx="58381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+mn-lt"/>
              </a:rPr>
              <a:t>Data</a:t>
            </a:r>
          </a:p>
        </p:txBody>
      </p:sp>
      <p:sp>
        <p:nvSpPr>
          <p:cNvPr id="571470" name="Line 78"/>
          <p:cNvSpPr>
            <a:spLocks noChangeShapeType="1"/>
          </p:cNvSpPr>
          <p:nvPr/>
        </p:nvSpPr>
        <p:spPr bwMode="auto">
          <a:xfrm flipV="1">
            <a:off x="4305300" y="3822411"/>
            <a:ext cx="1162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73" name="Rectangle 81"/>
          <p:cNvSpPr>
            <a:spLocks noChangeArrowheads="1"/>
          </p:cNvSpPr>
          <p:nvPr/>
        </p:nvSpPr>
        <p:spPr bwMode="auto">
          <a:xfrm>
            <a:off x="7532688" y="2420649"/>
            <a:ext cx="925512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Memory</a:t>
            </a:r>
          </a:p>
        </p:txBody>
      </p:sp>
      <p:sp>
        <p:nvSpPr>
          <p:cNvPr id="571474" name="Line 82"/>
          <p:cNvSpPr>
            <a:spLocks noChangeShapeType="1"/>
          </p:cNvSpPr>
          <p:nvPr/>
        </p:nvSpPr>
        <p:spPr bwMode="auto">
          <a:xfrm>
            <a:off x="6373813" y="3822411"/>
            <a:ext cx="1177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75" name="Text Box 83"/>
          <p:cNvSpPr txBox="1">
            <a:spLocks noChangeArrowheads="1"/>
          </p:cNvSpPr>
          <p:nvPr/>
        </p:nvSpPr>
        <p:spPr bwMode="auto">
          <a:xfrm>
            <a:off x="6750050" y="3516609"/>
            <a:ext cx="4042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PA</a:t>
            </a:r>
          </a:p>
        </p:txBody>
      </p:sp>
      <p:sp>
        <p:nvSpPr>
          <p:cNvPr id="571476" name="Text Box 84"/>
          <p:cNvSpPr txBox="1">
            <a:spLocks noChangeArrowheads="1"/>
          </p:cNvSpPr>
          <p:nvPr/>
        </p:nvSpPr>
        <p:spPr bwMode="auto">
          <a:xfrm>
            <a:off x="5981507" y="3575704"/>
            <a:ext cx="47961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PA</a:t>
            </a:r>
          </a:p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miss</a:t>
            </a:r>
          </a:p>
        </p:txBody>
      </p:sp>
      <p:sp>
        <p:nvSpPr>
          <p:cNvPr id="571477" name="Rectangle 85"/>
          <p:cNvSpPr>
            <a:spLocks noChangeArrowheads="1"/>
          </p:cNvSpPr>
          <p:nvPr/>
        </p:nvSpPr>
        <p:spPr bwMode="auto">
          <a:xfrm>
            <a:off x="6648450" y="2861974"/>
            <a:ext cx="564257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>
                <a:latin typeface="+mn-lt"/>
              </a:rPr>
              <a:t>PTEA</a:t>
            </a:r>
          </a:p>
        </p:txBody>
      </p:sp>
      <p:sp>
        <p:nvSpPr>
          <p:cNvPr id="571478" name="Text Box 86"/>
          <p:cNvSpPr txBox="1">
            <a:spLocks noChangeArrowheads="1"/>
          </p:cNvSpPr>
          <p:nvPr/>
        </p:nvSpPr>
        <p:spPr bwMode="auto">
          <a:xfrm>
            <a:off x="5933633" y="2905779"/>
            <a:ext cx="50526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PTEA</a:t>
            </a:r>
          </a:p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miss</a:t>
            </a:r>
          </a:p>
        </p:txBody>
      </p:sp>
      <p:sp>
        <p:nvSpPr>
          <p:cNvPr id="571479" name="Line 87"/>
          <p:cNvSpPr>
            <a:spLocks noChangeShapeType="1"/>
          </p:cNvSpPr>
          <p:nvPr/>
        </p:nvSpPr>
        <p:spPr bwMode="auto">
          <a:xfrm flipH="1">
            <a:off x="3763963" y="2071399"/>
            <a:ext cx="14430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0" name="Line 88"/>
          <p:cNvSpPr>
            <a:spLocks noChangeShapeType="1"/>
          </p:cNvSpPr>
          <p:nvPr/>
        </p:nvSpPr>
        <p:spPr bwMode="auto">
          <a:xfrm flipV="1">
            <a:off x="3763963" y="2071399"/>
            <a:ext cx="0" cy="349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1" name="Line 89"/>
          <p:cNvSpPr>
            <a:spLocks noChangeShapeType="1"/>
          </p:cNvSpPr>
          <p:nvPr/>
        </p:nvSpPr>
        <p:spPr bwMode="auto">
          <a:xfrm flipH="1">
            <a:off x="5207000" y="2603211"/>
            <a:ext cx="24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2" name="Line 90"/>
          <p:cNvSpPr>
            <a:spLocks noChangeShapeType="1"/>
          </p:cNvSpPr>
          <p:nvPr/>
        </p:nvSpPr>
        <p:spPr bwMode="auto">
          <a:xfrm flipV="1">
            <a:off x="5207000" y="2071399"/>
            <a:ext cx="0" cy="531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3" name="Text Box 91"/>
          <p:cNvSpPr txBox="1">
            <a:spLocks noChangeArrowheads="1"/>
          </p:cNvSpPr>
          <p:nvPr/>
        </p:nvSpPr>
        <p:spPr bwMode="auto">
          <a:xfrm>
            <a:off x="5399088" y="2402542"/>
            <a:ext cx="50526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PTEA </a:t>
            </a:r>
          </a:p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hit</a:t>
            </a:r>
          </a:p>
        </p:txBody>
      </p:sp>
      <p:sp>
        <p:nvSpPr>
          <p:cNvPr id="571484" name="Line 92"/>
          <p:cNvSpPr>
            <a:spLocks noChangeShapeType="1"/>
          </p:cNvSpPr>
          <p:nvPr/>
        </p:nvSpPr>
        <p:spPr bwMode="auto">
          <a:xfrm flipH="1">
            <a:off x="5207000" y="4355811"/>
            <a:ext cx="24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5" name="Line 93"/>
          <p:cNvSpPr>
            <a:spLocks noChangeShapeType="1"/>
          </p:cNvSpPr>
          <p:nvPr/>
        </p:nvSpPr>
        <p:spPr bwMode="auto">
          <a:xfrm flipH="1" flipV="1">
            <a:off x="5207000" y="4355811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6" name="Text Box 94"/>
          <p:cNvSpPr txBox="1">
            <a:spLocks noChangeArrowheads="1"/>
          </p:cNvSpPr>
          <p:nvPr/>
        </p:nvSpPr>
        <p:spPr bwMode="auto">
          <a:xfrm>
            <a:off x="5399088" y="4155142"/>
            <a:ext cx="35839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PA </a:t>
            </a:r>
          </a:p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hit</a:t>
            </a:r>
          </a:p>
        </p:txBody>
      </p:sp>
      <p:sp>
        <p:nvSpPr>
          <p:cNvPr id="571487" name="Line 95"/>
          <p:cNvSpPr>
            <a:spLocks noChangeShapeType="1"/>
          </p:cNvSpPr>
          <p:nvPr/>
        </p:nvSpPr>
        <p:spPr bwMode="auto">
          <a:xfrm>
            <a:off x="6389688" y="3182649"/>
            <a:ext cx="116205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8" name="Line 96"/>
          <p:cNvSpPr>
            <a:spLocks noChangeShapeType="1"/>
          </p:cNvSpPr>
          <p:nvPr/>
        </p:nvSpPr>
        <p:spPr bwMode="auto">
          <a:xfrm flipH="1">
            <a:off x="6373813" y="4355811"/>
            <a:ext cx="1171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9" name="Text Box 97"/>
          <p:cNvSpPr txBox="1">
            <a:spLocks noChangeArrowheads="1"/>
          </p:cNvSpPr>
          <p:nvPr/>
        </p:nvSpPr>
        <p:spPr bwMode="auto">
          <a:xfrm>
            <a:off x="6672263" y="4050009"/>
            <a:ext cx="58381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Data</a:t>
            </a:r>
          </a:p>
        </p:txBody>
      </p:sp>
      <p:sp>
        <p:nvSpPr>
          <p:cNvPr id="571490" name="Line 98"/>
          <p:cNvSpPr>
            <a:spLocks noChangeShapeType="1"/>
          </p:cNvSpPr>
          <p:nvPr/>
        </p:nvSpPr>
        <p:spPr bwMode="auto">
          <a:xfrm flipH="1">
            <a:off x="6361113" y="2603211"/>
            <a:ext cx="1171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91" name="Text Box 99"/>
          <p:cNvSpPr txBox="1">
            <a:spLocks noChangeArrowheads="1"/>
          </p:cNvSpPr>
          <p:nvPr/>
        </p:nvSpPr>
        <p:spPr bwMode="auto">
          <a:xfrm>
            <a:off x="6689725" y="2265659"/>
            <a:ext cx="49494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PTE</a:t>
            </a:r>
          </a:p>
        </p:txBody>
      </p:sp>
      <p:sp>
        <p:nvSpPr>
          <p:cNvPr id="571492" name="Text Box 100"/>
          <p:cNvSpPr txBox="1">
            <a:spLocks noChangeArrowheads="1"/>
          </p:cNvSpPr>
          <p:nvPr/>
        </p:nvSpPr>
        <p:spPr bwMode="auto">
          <a:xfrm>
            <a:off x="5573713" y="4596824"/>
            <a:ext cx="671979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L1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cache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2222211"/>
            <a:ext cx="110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CPU Chip</a:t>
            </a:r>
          </a:p>
        </p:txBody>
      </p:sp>
      <p:sp>
        <p:nvSpPr>
          <p:cNvPr id="44" name="Rectangle 72"/>
          <p:cNvSpPr>
            <a:spLocks noChangeArrowheads="1"/>
          </p:cNvSpPr>
          <p:nvPr/>
        </p:nvSpPr>
        <p:spPr bwMode="auto">
          <a:xfrm>
            <a:off x="943437" y="6191230"/>
            <a:ext cx="7241252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i="1" dirty="0">
                <a:latin typeface="+mn-lt"/>
              </a:rPr>
              <a:t>VA: virtual address, PA: physical address, PTE: page table entry, PTEA = PTE address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/>
          </p:nvPr>
        </p:nvSpPr>
        <p:spPr>
          <a:xfrm>
            <a:off x="389467" y="493712"/>
            <a:ext cx="8382000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Speeding up Translation with a TLB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81138"/>
            <a:ext cx="8548687" cy="5224462"/>
          </a:xfrm>
          <a:ln/>
        </p:spPr>
        <p:txBody>
          <a:bodyPr/>
          <a:lstStyle/>
          <a:p>
            <a:pPr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Page table entries (PTEs) are cached in L1 like any other memory word</a:t>
            </a:r>
          </a:p>
          <a:p>
            <a:pPr lvl="1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PTEs may be evicted by other data references</a:t>
            </a:r>
          </a:p>
          <a:p>
            <a:pPr lvl="1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PTE hit still requires a small L1 delay</a:t>
            </a:r>
          </a:p>
          <a:p>
            <a:pPr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Solution: </a:t>
            </a:r>
            <a:r>
              <a:rPr lang="en-GB" i="1" dirty="0">
                <a:solidFill>
                  <a:srgbClr val="C00000"/>
                </a:solidFill>
                <a:effectLst/>
              </a:rPr>
              <a:t>Translation </a:t>
            </a:r>
            <a:r>
              <a:rPr lang="en-GB" i="1" dirty="0" err="1">
                <a:solidFill>
                  <a:srgbClr val="C00000"/>
                </a:solidFill>
                <a:effectLst/>
              </a:rPr>
              <a:t>Lookaside</a:t>
            </a:r>
            <a:r>
              <a:rPr lang="en-GB" i="1" dirty="0">
                <a:solidFill>
                  <a:srgbClr val="C00000"/>
                </a:solidFill>
                <a:effectLst/>
              </a:rPr>
              <a:t> Buffer</a:t>
            </a:r>
            <a:r>
              <a:rPr lang="en-GB" dirty="0">
                <a:effectLst/>
              </a:rPr>
              <a:t> (TLB)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Small set-associative hardware cache in MMU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Maps virtual page numbers to  physical page numbers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Contains complete page table entries for small number of pages</a:t>
            </a:r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TLB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847725"/>
          </a:xfrm>
        </p:spPr>
        <p:txBody>
          <a:bodyPr/>
          <a:lstStyle/>
          <a:p>
            <a:r>
              <a:rPr lang="en-US" dirty="0"/>
              <a:t>MMU uses the VPN portion of the virtual address to access the TLB: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4454526" y="2908300"/>
            <a:ext cx="1658937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TLB tag (TLBT)</a:t>
            </a:r>
          </a:p>
        </p:txBody>
      </p:sp>
      <p:sp>
        <p:nvSpPr>
          <p:cNvPr id="5" name="Rectangle 380"/>
          <p:cNvSpPr>
            <a:spLocks noChangeArrowheads="1"/>
          </p:cNvSpPr>
          <p:nvPr/>
        </p:nvSpPr>
        <p:spPr bwMode="auto">
          <a:xfrm>
            <a:off x="6108701" y="2908300"/>
            <a:ext cx="177006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800"/>
              <a:t>TLB index (TLBI)</a:t>
            </a:r>
          </a:p>
        </p:txBody>
      </p:sp>
      <p:sp>
        <p:nvSpPr>
          <p:cNvPr id="6" name="Text Box 381"/>
          <p:cNvSpPr txBox="1">
            <a:spLocks noChangeArrowheads="1"/>
          </p:cNvSpPr>
          <p:nvPr/>
        </p:nvSpPr>
        <p:spPr bwMode="auto">
          <a:xfrm>
            <a:off x="8670926" y="2607261"/>
            <a:ext cx="27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7" name="Text Box 382"/>
          <p:cNvSpPr txBox="1">
            <a:spLocks noChangeArrowheads="1"/>
          </p:cNvSpPr>
          <p:nvPr/>
        </p:nvSpPr>
        <p:spPr bwMode="auto">
          <a:xfrm>
            <a:off x="7842251" y="2607261"/>
            <a:ext cx="4370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/>
              <a:t>p-1</a:t>
            </a:r>
          </a:p>
        </p:txBody>
      </p:sp>
      <p:sp>
        <p:nvSpPr>
          <p:cNvPr id="8" name="Text Box 383"/>
          <p:cNvSpPr txBox="1">
            <a:spLocks noChangeArrowheads="1"/>
          </p:cNvSpPr>
          <p:nvPr/>
        </p:nvSpPr>
        <p:spPr bwMode="auto">
          <a:xfrm>
            <a:off x="7637463" y="2607261"/>
            <a:ext cx="28745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/>
              <a:t>p</a:t>
            </a:r>
          </a:p>
        </p:txBody>
      </p:sp>
      <p:sp>
        <p:nvSpPr>
          <p:cNvPr id="9" name="Text Box 384"/>
          <p:cNvSpPr txBox="1">
            <a:spLocks noChangeArrowheads="1"/>
          </p:cNvSpPr>
          <p:nvPr/>
        </p:nvSpPr>
        <p:spPr bwMode="auto">
          <a:xfrm>
            <a:off x="4343400" y="2607261"/>
            <a:ext cx="4370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/>
              <a:t>n-1</a:t>
            </a:r>
          </a:p>
        </p:txBody>
      </p:sp>
      <p:sp>
        <p:nvSpPr>
          <p:cNvPr id="10" name="Rectangle 385"/>
          <p:cNvSpPr>
            <a:spLocks noChangeArrowheads="1"/>
          </p:cNvSpPr>
          <p:nvPr/>
        </p:nvSpPr>
        <p:spPr bwMode="auto">
          <a:xfrm>
            <a:off x="7880351" y="2908300"/>
            <a:ext cx="91916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800"/>
              <a:t>VPO</a:t>
            </a:r>
          </a:p>
        </p:txBody>
      </p:sp>
      <p:sp>
        <p:nvSpPr>
          <p:cNvPr id="11" name="AutoShape 386"/>
          <p:cNvSpPr>
            <a:spLocks/>
          </p:cNvSpPr>
          <p:nvPr/>
        </p:nvSpPr>
        <p:spPr bwMode="auto">
          <a:xfrm rot="5400000" flipV="1">
            <a:off x="6056313" y="869950"/>
            <a:ext cx="177800" cy="3403600"/>
          </a:xfrm>
          <a:prstGeom prst="leftBrace">
            <a:avLst>
              <a:gd name="adj1" fmla="val 159524"/>
              <a:gd name="adj2" fmla="val 49949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2" name="Text Box 387"/>
          <p:cNvSpPr txBox="1">
            <a:spLocks noChangeArrowheads="1"/>
          </p:cNvSpPr>
          <p:nvPr/>
        </p:nvSpPr>
        <p:spPr bwMode="auto">
          <a:xfrm>
            <a:off x="5840413" y="2113518"/>
            <a:ext cx="5737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800" dirty="0"/>
              <a:t>VPN</a:t>
            </a:r>
          </a:p>
        </p:txBody>
      </p:sp>
      <p:sp>
        <p:nvSpPr>
          <p:cNvPr id="13" name="Text Box 388"/>
          <p:cNvSpPr txBox="1">
            <a:spLocks noChangeArrowheads="1"/>
          </p:cNvSpPr>
          <p:nvPr/>
        </p:nvSpPr>
        <p:spPr bwMode="auto">
          <a:xfrm>
            <a:off x="6107113" y="2607261"/>
            <a:ext cx="5913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/>
              <a:t>p+t-1</a:t>
            </a:r>
          </a:p>
        </p:txBody>
      </p:sp>
      <p:sp>
        <p:nvSpPr>
          <p:cNvPr id="14" name="Text Box 389"/>
          <p:cNvSpPr txBox="1">
            <a:spLocks noChangeArrowheads="1"/>
          </p:cNvSpPr>
          <p:nvPr/>
        </p:nvSpPr>
        <p:spPr bwMode="auto">
          <a:xfrm>
            <a:off x="5749926" y="2607261"/>
            <a:ext cx="4417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 dirty="0" err="1"/>
              <a:t>p+t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 bwMode="auto">
          <a:xfrm>
            <a:off x="838200" y="3739782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987607" y="3815985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280925" y="3914651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501788" y="3914651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1096928" y="391465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3050943" y="4994139"/>
            <a:ext cx="5496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alibri" pitchFamily="34" charset="0"/>
              </a:rPr>
              <a:t>…</a:t>
            </a:r>
          </a:p>
        </p:txBody>
      </p:sp>
      <p:sp>
        <p:nvSpPr>
          <p:cNvPr id="109" name="Rectangle 108"/>
          <p:cNvSpPr/>
          <p:nvPr/>
        </p:nvSpPr>
        <p:spPr bwMode="auto">
          <a:xfrm>
            <a:off x="3540307" y="3815985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4833625" y="3914651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4054488" y="3914651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3649628" y="391465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3200" y="3847561"/>
            <a:ext cx="65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0</a:t>
            </a:r>
          </a:p>
        </p:txBody>
      </p:sp>
      <p:sp>
        <p:nvSpPr>
          <p:cNvPr id="114" name="Rectangle 113"/>
          <p:cNvSpPr/>
          <p:nvPr/>
        </p:nvSpPr>
        <p:spPr bwMode="auto">
          <a:xfrm>
            <a:off x="863600" y="4520968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013007" y="4597171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2306325" y="4695837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1527188" y="4695837"/>
            <a:ext cx="61978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1122328" y="4695837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3565707" y="4597171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4859025" y="4695837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4079888" y="4695837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675028" y="4695837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8600" y="4628747"/>
            <a:ext cx="65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1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863600" y="5559357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1013007" y="5635560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2306325" y="5734226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27" name="Rectangle 126"/>
          <p:cNvSpPr/>
          <p:nvPr/>
        </p:nvSpPr>
        <p:spPr bwMode="auto">
          <a:xfrm>
            <a:off x="1527188" y="57342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1122328" y="57342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3565707" y="5635560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4859025" y="5734226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31" name="Rectangle 130"/>
          <p:cNvSpPr/>
          <p:nvPr/>
        </p:nvSpPr>
        <p:spPr bwMode="auto">
          <a:xfrm>
            <a:off x="4079888" y="57342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32" name="Rectangle 131"/>
          <p:cNvSpPr/>
          <p:nvPr/>
        </p:nvSpPr>
        <p:spPr bwMode="auto">
          <a:xfrm>
            <a:off x="3675028" y="57342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0" y="5667136"/>
            <a:ext cx="844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T-1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77610" y="192885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T = 2</a:t>
            </a:r>
            <a:r>
              <a:rPr lang="en-US" sz="1800" baseline="30000" dirty="0">
                <a:latin typeface="Calibri" pitchFamily="34" charset="0"/>
              </a:rPr>
              <a:t>t</a:t>
            </a:r>
            <a:r>
              <a:rPr lang="en-US" sz="1800" dirty="0">
                <a:latin typeface="Calibri" pitchFamily="34" charset="0"/>
              </a:rPr>
              <a:t> sets</a:t>
            </a:r>
            <a:endParaRPr lang="en-US" sz="1800" baseline="30000" dirty="0">
              <a:latin typeface="Calibri" pitchFamily="34" charset="0"/>
            </a:endParaRPr>
          </a:p>
        </p:txBody>
      </p:sp>
      <p:grpSp>
        <p:nvGrpSpPr>
          <p:cNvPr id="150" name="Group 149"/>
          <p:cNvGrpSpPr/>
          <p:nvPr/>
        </p:nvGrpSpPr>
        <p:grpSpPr>
          <a:xfrm>
            <a:off x="6121401" y="3213100"/>
            <a:ext cx="2967558" cy="1663700"/>
            <a:chOff x="6121401" y="3213100"/>
            <a:chExt cx="2967558" cy="1663700"/>
          </a:xfrm>
        </p:grpSpPr>
        <p:cxnSp>
          <p:nvCxnSpPr>
            <p:cNvPr id="136" name="Straight Connector 135"/>
            <p:cNvCxnSpPr>
              <a:stCxn id="5" idx="2"/>
            </p:cNvCxnSpPr>
            <p:nvPr/>
          </p:nvCxnSpPr>
          <p:spPr bwMode="auto">
            <a:xfrm>
              <a:off x="6993732" y="3213100"/>
              <a:ext cx="0" cy="16637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Straight Arrow Connector 139"/>
            <p:cNvCxnSpPr/>
            <p:nvPr/>
          </p:nvCxnSpPr>
          <p:spPr bwMode="auto">
            <a:xfrm flipH="1">
              <a:off x="6121401" y="4876800"/>
              <a:ext cx="872331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43" name="TextBox 142"/>
            <p:cNvSpPr txBox="1"/>
            <p:nvPr/>
          </p:nvSpPr>
          <p:spPr>
            <a:xfrm>
              <a:off x="7086600" y="4177761"/>
              <a:ext cx="2002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TLBI selects the set</a:t>
              </a:r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1828800" y="2395319"/>
            <a:ext cx="2625726" cy="2300518"/>
            <a:chOff x="1828800" y="2395319"/>
            <a:chExt cx="2625726" cy="2300518"/>
          </a:xfrm>
        </p:grpSpPr>
        <p:cxnSp>
          <p:nvCxnSpPr>
            <p:cNvPr id="145" name="Straight Connector 144"/>
            <p:cNvCxnSpPr>
              <a:stCxn id="4" idx="1"/>
            </p:cNvCxnSpPr>
            <p:nvPr/>
          </p:nvCxnSpPr>
          <p:spPr bwMode="auto">
            <a:xfrm flipH="1" flipV="1">
              <a:off x="1828800" y="3048000"/>
              <a:ext cx="2625726" cy="127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Arrow Connector 146"/>
            <p:cNvCxnSpPr>
              <a:endCxn id="117" idx="0"/>
            </p:cNvCxnSpPr>
            <p:nvPr/>
          </p:nvCxnSpPr>
          <p:spPr bwMode="auto">
            <a:xfrm>
              <a:off x="1828800" y="3048000"/>
              <a:ext cx="8283" cy="164783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48" name="TextBox 147"/>
            <p:cNvSpPr txBox="1"/>
            <p:nvPr/>
          </p:nvSpPr>
          <p:spPr>
            <a:xfrm>
              <a:off x="2281787" y="2395319"/>
              <a:ext cx="20616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TLBT matches tag of line within 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846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752600"/>
            <a:ext cx="3749615" cy="2695242"/>
          </a:xfrm>
          <a:prstGeom prst="rect">
            <a:avLst/>
          </a:prstGeom>
          <a:solidFill>
            <a:srgbClr val="EBEBEB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TLB Hit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3007259"/>
            <a:ext cx="1066800" cy="1237384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2722233"/>
            <a:ext cx="914400" cy="2284410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606298" y="3352800"/>
            <a:ext cx="37475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87787" y="4778043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5030787" y="3605659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3359738"/>
            <a:ext cx="1066800" cy="5334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3621869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3354782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7526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4648200" y="2311401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58988" y="3893139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07266" y="3119439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4038600" y="2362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5656358" y="3672552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21666" y="506306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506411" y="5822950"/>
            <a:ext cx="7189789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 TLB hit eliminates a memory access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TLB</a:t>
            </a:r>
          </a:p>
        </p:txBody>
      </p:sp>
      <p:cxnSp>
        <p:nvCxnSpPr>
          <p:cNvPr id="28" name="Straight Arrow Connector 27"/>
          <p:cNvCxnSpPr/>
          <p:nvPr/>
        </p:nvCxnSpPr>
        <p:spPr bwMode="auto">
          <a:xfrm rot="16200000" flipV="1">
            <a:off x="4058177" y="2645836"/>
            <a:ext cx="721259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5400000">
            <a:off x="4286777" y="2645836"/>
            <a:ext cx="721259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928532" y="2667000"/>
            <a:ext cx="502358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VPN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4737628" y="2633132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48" grpId="0"/>
      <p:bldP spid="47" grpId="0"/>
      <p:bldP spid="54" grpId="0" animBg="1"/>
      <p:bldP spid="56" grpId="0" animBg="1"/>
      <p:bldP spid="5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724358"/>
            <a:ext cx="3749615" cy="2695242"/>
          </a:xfrm>
          <a:prstGeom prst="rect">
            <a:avLst/>
          </a:prstGeom>
          <a:solidFill>
            <a:srgbClr val="EBEBEB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TLB Miss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3007259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2722233"/>
            <a:ext cx="914400" cy="2284410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576700" y="3810000"/>
            <a:ext cx="37475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87787" y="4778043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5030787" y="4062859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335973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3621869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3354782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7526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5537202" y="2361338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58988" y="3893139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07266" y="3119439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4038600" y="2362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5626760" y="4129752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21666" y="506306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TLB</a:t>
            </a:r>
          </a:p>
        </p:txBody>
      </p:sp>
      <p:cxnSp>
        <p:nvCxnSpPr>
          <p:cNvPr id="28" name="Straight Arrow Connector 27"/>
          <p:cNvCxnSpPr/>
          <p:nvPr/>
        </p:nvCxnSpPr>
        <p:spPr bwMode="auto">
          <a:xfrm rot="16200000" flipV="1">
            <a:off x="4058177" y="2645836"/>
            <a:ext cx="721259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5400000">
            <a:off x="4286777" y="2645836"/>
            <a:ext cx="721259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928532" y="2667000"/>
            <a:ext cx="502358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VPN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5626760" y="2121431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  <a:endParaRPr lang="en-GB" sz="14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513388" y="3371716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31" name="Straight Arrow Connector 30"/>
          <p:cNvCxnSpPr/>
          <p:nvPr/>
        </p:nvCxnSpPr>
        <p:spPr bwMode="auto">
          <a:xfrm flipV="1">
            <a:off x="5030787" y="3624575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Oval 18"/>
          <p:cNvSpPr>
            <a:spLocks noChangeArrowheads="1"/>
          </p:cNvSpPr>
          <p:nvPr/>
        </p:nvSpPr>
        <p:spPr bwMode="auto">
          <a:xfrm>
            <a:off x="5626760" y="3124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3</a:t>
            </a:r>
            <a:endParaRPr lang="en-GB" sz="14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34" name="Elbow Connector 33"/>
          <p:cNvCxnSpPr/>
          <p:nvPr/>
        </p:nvCxnSpPr>
        <p:spPr bwMode="auto">
          <a:xfrm rot="10800000">
            <a:off x="4648200" y="2636839"/>
            <a:ext cx="1905000" cy="482601"/>
          </a:xfrm>
          <a:prstGeom prst="bentConnector3">
            <a:avLst>
              <a:gd name="adj1" fmla="val 21556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519113" y="5715000"/>
            <a:ext cx="771048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itchFamily="2" charset="2"/>
              <a:buNone/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 TLB miss incurs an additional memory access (the PTE)</a:t>
            </a:r>
            <a:b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</a:b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Fortunately, TLB misses are rare. Why?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48" grpId="0"/>
      <p:bldP spid="47" grpId="0"/>
      <p:bldP spid="54" grpId="0" animBg="1"/>
      <p:bldP spid="56" grpId="0" animBg="1"/>
      <p:bldP spid="53" grpId="0" animBg="1"/>
      <p:bldP spid="27" grpId="0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Multi-Level Page Tables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295400"/>
            <a:ext cx="6918325" cy="4972050"/>
          </a:xfrm>
        </p:spPr>
        <p:txBody>
          <a:bodyPr/>
          <a:lstStyle/>
          <a:p>
            <a:r>
              <a:rPr lang="en-GB" dirty="0"/>
              <a:t>Suppose:</a:t>
            </a:r>
          </a:p>
          <a:p>
            <a:pPr lvl="1"/>
            <a:r>
              <a:rPr lang="en-GB" dirty="0"/>
              <a:t>4KB (2</a:t>
            </a:r>
            <a:r>
              <a:rPr lang="en-GB" baseline="30000" dirty="0"/>
              <a:t>12</a:t>
            </a:r>
            <a:r>
              <a:rPr lang="en-GB" dirty="0"/>
              <a:t>) page size, 48-bit address space, 8-byte PTE </a:t>
            </a:r>
          </a:p>
          <a:p>
            <a:endParaRPr lang="en-GB" dirty="0"/>
          </a:p>
          <a:p>
            <a:r>
              <a:rPr lang="en-GB" dirty="0"/>
              <a:t>Problem:</a:t>
            </a:r>
          </a:p>
          <a:p>
            <a:pPr lvl="1"/>
            <a:r>
              <a:rPr lang="en-GB" dirty="0"/>
              <a:t>Would need a 512 GB page table!</a:t>
            </a:r>
          </a:p>
          <a:p>
            <a:pPr lvl="2"/>
            <a:r>
              <a:rPr lang="en-GB" dirty="0"/>
              <a:t>2</a:t>
            </a:r>
            <a:r>
              <a:rPr lang="en-GB" baseline="30000" dirty="0"/>
              <a:t>48</a:t>
            </a:r>
            <a:r>
              <a:rPr lang="en-GB" dirty="0"/>
              <a:t> * 2</a:t>
            </a:r>
            <a:r>
              <a:rPr lang="en-GB" baseline="30000" dirty="0"/>
              <a:t>-12  </a:t>
            </a:r>
            <a:r>
              <a:rPr lang="en-GB" dirty="0"/>
              <a:t>* 2</a:t>
            </a:r>
            <a:r>
              <a:rPr lang="en-GB" baseline="30000" dirty="0"/>
              <a:t>3</a:t>
            </a:r>
            <a:r>
              <a:rPr lang="en-GB" dirty="0"/>
              <a:t> = 2</a:t>
            </a:r>
            <a:r>
              <a:rPr lang="en-GB" baseline="30000" dirty="0"/>
              <a:t>39</a:t>
            </a:r>
            <a:r>
              <a:rPr lang="en-GB" dirty="0"/>
              <a:t> bytes</a:t>
            </a:r>
          </a:p>
          <a:p>
            <a:endParaRPr lang="en-GB" dirty="0"/>
          </a:p>
          <a:p>
            <a:r>
              <a:rPr lang="en-GB" dirty="0"/>
              <a:t>Common solution: Multi-level page table</a:t>
            </a:r>
          </a:p>
          <a:p>
            <a:r>
              <a:rPr lang="en-GB" dirty="0"/>
              <a:t>Example: 2-level page table</a:t>
            </a:r>
          </a:p>
          <a:p>
            <a:pPr lvl="1"/>
            <a:r>
              <a:rPr lang="en-GB" dirty="0"/>
              <a:t>Level 1 table: each PTE points to a page table (always memory resident)</a:t>
            </a:r>
          </a:p>
          <a:p>
            <a:pPr lvl="1"/>
            <a:r>
              <a:rPr lang="en-GB" dirty="0"/>
              <a:t>Level 2 table: each PTE points to a page </a:t>
            </a:r>
            <a:br>
              <a:rPr lang="en-GB" dirty="0"/>
            </a:br>
            <a:r>
              <a:rPr lang="en-GB" dirty="0"/>
              <a:t>(paged in and out like any other data)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243743" y="1333500"/>
            <a:ext cx="2671657" cy="4696895"/>
            <a:chOff x="6243743" y="1333500"/>
            <a:chExt cx="2671657" cy="4696895"/>
          </a:xfrm>
        </p:grpSpPr>
        <p:sp>
          <p:nvSpPr>
            <p:cNvPr id="40963" name="Text Box 3"/>
            <p:cNvSpPr txBox="1">
              <a:spLocks noChangeArrowheads="1"/>
            </p:cNvSpPr>
            <p:nvPr/>
          </p:nvSpPr>
          <p:spPr bwMode="auto">
            <a:xfrm>
              <a:off x="6243743" y="2719927"/>
              <a:ext cx="842857" cy="6667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Level 1</a:t>
              </a:r>
            </a:p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Table</a:t>
              </a:r>
            </a:p>
          </p:txBody>
        </p:sp>
        <p:sp>
          <p:nvSpPr>
            <p:cNvPr id="40964" name="Rectangle 4"/>
            <p:cNvSpPr>
              <a:spLocks noChangeArrowheads="1"/>
            </p:cNvSpPr>
            <p:nvPr/>
          </p:nvSpPr>
          <p:spPr bwMode="auto">
            <a:xfrm>
              <a:off x="6327247" y="3363395"/>
              <a:ext cx="758952" cy="1143000"/>
            </a:xfrm>
            <a:prstGeom prst="rect">
              <a:avLst/>
            </a:prstGeom>
            <a:solidFill>
              <a:srgbClr val="F6F5BD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5" name="Rectangle 5"/>
            <p:cNvSpPr>
              <a:spLocks noChangeArrowheads="1"/>
            </p:cNvSpPr>
            <p:nvPr/>
          </p:nvSpPr>
          <p:spPr bwMode="auto">
            <a:xfrm>
              <a:off x="8170334" y="19917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6" name="Rectangle 6"/>
            <p:cNvSpPr>
              <a:spLocks noChangeArrowheads="1"/>
            </p:cNvSpPr>
            <p:nvPr/>
          </p:nvSpPr>
          <p:spPr bwMode="auto">
            <a:xfrm>
              <a:off x="8170334" y="33633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Rectangle 7"/>
            <p:cNvSpPr>
              <a:spLocks noChangeArrowheads="1"/>
            </p:cNvSpPr>
            <p:nvPr/>
          </p:nvSpPr>
          <p:spPr bwMode="auto">
            <a:xfrm>
              <a:off x="8170334" y="48873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8" name="Text Box 8"/>
            <p:cNvSpPr txBox="1">
              <a:spLocks noChangeArrowheads="1"/>
            </p:cNvSpPr>
            <p:nvPr/>
          </p:nvSpPr>
          <p:spPr bwMode="auto">
            <a:xfrm rot="16200000">
              <a:off x="8261381" y="4527581"/>
              <a:ext cx="365227" cy="33321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...</a:t>
              </a:r>
            </a:p>
          </p:txBody>
        </p:sp>
        <p:sp>
          <p:nvSpPr>
            <p:cNvPr id="40969" name="Text Box 9"/>
            <p:cNvSpPr txBox="1">
              <a:spLocks noChangeArrowheads="1"/>
            </p:cNvSpPr>
            <p:nvPr/>
          </p:nvSpPr>
          <p:spPr bwMode="auto">
            <a:xfrm>
              <a:off x="8072543" y="1333500"/>
              <a:ext cx="842857" cy="6667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Level 2</a:t>
              </a:r>
            </a:p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Tables</a:t>
              </a:r>
            </a:p>
          </p:txBody>
        </p:sp>
        <p:sp>
          <p:nvSpPr>
            <p:cNvPr id="40970" name="Line 10"/>
            <p:cNvSpPr>
              <a:spLocks noChangeShapeType="1"/>
            </p:cNvSpPr>
            <p:nvPr/>
          </p:nvSpPr>
          <p:spPr bwMode="auto">
            <a:xfrm flipV="1">
              <a:off x="6874934" y="1990208"/>
              <a:ext cx="1295400" cy="1450975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Line 11"/>
            <p:cNvSpPr>
              <a:spLocks noChangeShapeType="1"/>
            </p:cNvSpPr>
            <p:nvPr/>
          </p:nvSpPr>
          <p:spPr bwMode="auto">
            <a:xfrm flipV="1">
              <a:off x="6874934" y="3361808"/>
              <a:ext cx="1295400" cy="231775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Line 12"/>
            <p:cNvSpPr>
              <a:spLocks noChangeShapeType="1"/>
            </p:cNvSpPr>
            <p:nvPr/>
          </p:nvSpPr>
          <p:spPr bwMode="auto">
            <a:xfrm>
              <a:off x="7027334" y="4423845"/>
              <a:ext cx="1143000" cy="463550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>
              <a:off x="6333067" y="35157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Line 14"/>
            <p:cNvSpPr>
              <a:spLocks noChangeShapeType="1"/>
            </p:cNvSpPr>
            <p:nvPr/>
          </p:nvSpPr>
          <p:spPr bwMode="auto">
            <a:xfrm>
              <a:off x="6333067" y="36681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>
              <a:off x="6333067" y="43539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Text Box 16"/>
            <p:cNvSpPr txBox="1">
              <a:spLocks noChangeArrowheads="1"/>
            </p:cNvSpPr>
            <p:nvPr/>
          </p:nvSpPr>
          <p:spPr bwMode="auto">
            <a:xfrm>
              <a:off x="6572490" y="3820595"/>
              <a:ext cx="426270" cy="27216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vert="eaVert" wrap="none" lIns="90360" tIns="44280" rIns="90360" bIns="44280">
              <a:spAutoFit/>
            </a:bodyPr>
            <a:lstStyle/>
            <a:p>
              <a:pPr rtl="1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...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841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 Two-Level Page Table Hierarchy</a:t>
            </a:r>
          </a:p>
        </p:txBody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800886" y="1106488"/>
            <a:ext cx="1205715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Level 1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5858933" y="6426198"/>
            <a:ext cx="507510" cy="3346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>
            <a:spAutoFit/>
          </a:bodyPr>
          <a:lstStyle/>
          <a:p>
            <a:pPr rtl="1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alibri" pitchFamily="34" charset="0"/>
              </a:rPr>
              <a:t>...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121025" y="1112838"/>
            <a:ext cx="1297085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Level 2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tables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5538788" y="17795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0</a:t>
            </a: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5538788" y="20843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5538788" y="23891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1023</a:t>
            </a: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5538788" y="26939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1024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5538788" y="29987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5538788" y="33035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2047</a:t>
            </a: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5538788" y="17795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5538788" y="26939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5538788" y="3608388"/>
            <a:ext cx="990600" cy="1841500"/>
          </a:xfrm>
          <a:prstGeom prst="rect">
            <a:avLst/>
          </a:prstGeom>
          <a:solidFill>
            <a:srgbClr val="F6F5BD"/>
          </a:solidFill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Gap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6473825" y="1641475"/>
            <a:ext cx="266700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</a:p>
        </p:txBody>
      </p: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3252788" y="21732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3252788" y="24780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3252788" y="2782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2" name="Rectangle 18"/>
          <p:cNvSpPr>
            <a:spLocks noChangeArrowheads="1"/>
          </p:cNvSpPr>
          <p:nvPr/>
        </p:nvSpPr>
        <p:spPr bwMode="auto">
          <a:xfrm>
            <a:off x="3252788" y="21732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3252788" y="3544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04" name="Rectangle 20"/>
          <p:cNvSpPr>
            <a:spLocks noChangeArrowheads="1"/>
          </p:cNvSpPr>
          <p:nvPr/>
        </p:nvSpPr>
        <p:spPr bwMode="auto">
          <a:xfrm>
            <a:off x="3252788" y="38496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3252788" y="41544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6" name="Rectangle 22"/>
          <p:cNvSpPr>
            <a:spLocks noChangeArrowheads="1"/>
          </p:cNvSpPr>
          <p:nvPr/>
        </p:nvSpPr>
        <p:spPr bwMode="auto">
          <a:xfrm>
            <a:off x="3252788" y="35448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07" name="Rectangle 23"/>
          <p:cNvSpPr>
            <a:spLocks noChangeArrowheads="1"/>
          </p:cNvSpPr>
          <p:nvPr/>
        </p:nvSpPr>
        <p:spPr bwMode="auto">
          <a:xfrm>
            <a:off x="3252788" y="4840288"/>
            <a:ext cx="990600" cy="609600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1023 null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PTEs</a:t>
            </a:r>
          </a:p>
        </p:txBody>
      </p:sp>
      <p:sp>
        <p:nvSpPr>
          <p:cNvPr id="42008" name="Rectangle 24"/>
          <p:cNvSpPr>
            <a:spLocks noChangeArrowheads="1"/>
          </p:cNvSpPr>
          <p:nvPr/>
        </p:nvSpPr>
        <p:spPr bwMode="auto">
          <a:xfrm>
            <a:off x="3252788" y="5449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9" name="Rectangle 25"/>
          <p:cNvSpPr>
            <a:spLocks noChangeArrowheads="1"/>
          </p:cNvSpPr>
          <p:nvPr/>
        </p:nvSpPr>
        <p:spPr bwMode="auto">
          <a:xfrm>
            <a:off x="3252788" y="48402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10" name="Rectangle 26"/>
          <p:cNvSpPr>
            <a:spLocks noChangeArrowheads="1"/>
          </p:cNvSpPr>
          <p:nvPr/>
        </p:nvSpPr>
        <p:spPr bwMode="auto">
          <a:xfrm>
            <a:off x="5538788" y="5449888"/>
            <a:ext cx="990600" cy="609600"/>
          </a:xfrm>
          <a:prstGeom prst="rect">
            <a:avLst/>
          </a:prstGeom>
          <a:solidFill>
            <a:srgbClr val="DEDFF5"/>
          </a:solidFill>
          <a:ln w="12600">
            <a:solidFill>
              <a:srgbClr val="DEDFF5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1023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unallocated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pages</a:t>
            </a:r>
          </a:p>
        </p:txBody>
      </p:sp>
      <p:sp>
        <p:nvSpPr>
          <p:cNvPr id="42011" name="Rectangle 27"/>
          <p:cNvSpPr>
            <a:spLocks noChangeArrowheads="1"/>
          </p:cNvSpPr>
          <p:nvPr/>
        </p:nvSpPr>
        <p:spPr bwMode="auto">
          <a:xfrm>
            <a:off x="5538788" y="60594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9215</a:t>
            </a:r>
          </a:p>
        </p:txBody>
      </p:sp>
      <p:sp>
        <p:nvSpPr>
          <p:cNvPr id="42012" name="Rectangle 28"/>
          <p:cNvSpPr>
            <a:spLocks noChangeArrowheads="1"/>
          </p:cNvSpPr>
          <p:nvPr/>
        </p:nvSpPr>
        <p:spPr bwMode="auto">
          <a:xfrm>
            <a:off x="5538788" y="54498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5537199" y="1106488"/>
            <a:ext cx="982256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memory</a:t>
            </a:r>
          </a:p>
        </p:txBody>
      </p:sp>
      <p:sp>
        <p:nvSpPr>
          <p:cNvPr id="42014" name="Line 30"/>
          <p:cNvSpPr>
            <a:spLocks noChangeShapeType="1"/>
          </p:cNvSpPr>
          <p:nvPr/>
        </p:nvSpPr>
        <p:spPr bwMode="auto">
          <a:xfrm flipV="1">
            <a:off x="4243388" y="179070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5" name="Line 31"/>
          <p:cNvSpPr>
            <a:spLocks noChangeShapeType="1"/>
          </p:cNvSpPr>
          <p:nvPr/>
        </p:nvSpPr>
        <p:spPr bwMode="auto">
          <a:xfrm flipV="1">
            <a:off x="4243388" y="240030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6" name="Line 32"/>
          <p:cNvSpPr>
            <a:spLocks noChangeShapeType="1"/>
          </p:cNvSpPr>
          <p:nvPr/>
        </p:nvSpPr>
        <p:spPr bwMode="auto">
          <a:xfrm flipV="1">
            <a:off x="4243388" y="270510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7" name="Line 33"/>
          <p:cNvSpPr>
            <a:spLocks noChangeShapeType="1"/>
          </p:cNvSpPr>
          <p:nvPr/>
        </p:nvSpPr>
        <p:spPr bwMode="auto">
          <a:xfrm flipV="1">
            <a:off x="4243388" y="331470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8" name="Line 34"/>
          <p:cNvSpPr>
            <a:spLocks noChangeShapeType="1"/>
          </p:cNvSpPr>
          <p:nvPr/>
        </p:nvSpPr>
        <p:spPr bwMode="auto">
          <a:xfrm>
            <a:off x="4243388" y="5602288"/>
            <a:ext cx="1219200" cy="457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9" name="Line 35"/>
          <p:cNvSpPr>
            <a:spLocks noChangeShapeType="1"/>
          </p:cNvSpPr>
          <p:nvPr/>
        </p:nvSpPr>
        <p:spPr bwMode="auto">
          <a:xfrm flipV="1">
            <a:off x="1957388" y="2171700"/>
            <a:ext cx="1243012" cy="231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0" name="Line 36"/>
          <p:cNvSpPr>
            <a:spLocks noChangeShapeType="1"/>
          </p:cNvSpPr>
          <p:nvPr/>
        </p:nvSpPr>
        <p:spPr bwMode="auto">
          <a:xfrm>
            <a:off x="1957388" y="2706688"/>
            <a:ext cx="1295400" cy="838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1" name="Line 37"/>
          <p:cNvSpPr>
            <a:spLocks noChangeShapeType="1"/>
          </p:cNvSpPr>
          <p:nvPr/>
        </p:nvSpPr>
        <p:spPr bwMode="auto">
          <a:xfrm>
            <a:off x="1957388" y="4840288"/>
            <a:ext cx="1295400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2" name="Rectangle 38"/>
          <p:cNvSpPr>
            <a:spLocks noChangeArrowheads="1"/>
          </p:cNvSpPr>
          <p:nvPr/>
        </p:nvSpPr>
        <p:spPr bwMode="auto">
          <a:xfrm>
            <a:off x="838200" y="4992688"/>
            <a:ext cx="1119188" cy="8382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(1K - 9)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null PTEs </a:t>
            </a:r>
          </a:p>
        </p:txBody>
      </p:sp>
      <p:sp>
        <p:nvSpPr>
          <p:cNvPr id="42023" name="Rectangle 39"/>
          <p:cNvSpPr>
            <a:spLocks noChangeArrowheads="1"/>
          </p:cNvSpPr>
          <p:nvPr/>
        </p:nvSpPr>
        <p:spPr bwMode="auto">
          <a:xfrm>
            <a:off x="838200" y="22494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24" name="Rectangle 40"/>
          <p:cNvSpPr>
            <a:spLocks noChangeArrowheads="1"/>
          </p:cNvSpPr>
          <p:nvPr/>
        </p:nvSpPr>
        <p:spPr bwMode="auto">
          <a:xfrm>
            <a:off x="838200" y="25542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</a:t>
            </a:r>
          </a:p>
        </p:txBody>
      </p:sp>
      <p:sp>
        <p:nvSpPr>
          <p:cNvPr id="42025" name="Rectangle 41"/>
          <p:cNvSpPr>
            <a:spLocks noChangeArrowheads="1"/>
          </p:cNvSpPr>
          <p:nvPr/>
        </p:nvSpPr>
        <p:spPr bwMode="auto">
          <a:xfrm>
            <a:off x="838200" y="28590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2 (null)</a:t>
            </a:r>
          </a:p>
        </p:txBody>
      </p:sp>
      <p:sp>
        <p:nvSpPr>
          <p:cNvPr id="42026" name="Rectangle 42"/>
          <p:cNvSpPr>
            <a:spLocks noChangeArrowheads="1"/>
          </p:cNvSpPr>
          <p:nvPr/>
        </p:nvSpPr>
        <p:spPr bwMode="auto">
          <a:xfrm>
            <a:off x="838200" y="31638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3 (null)</a:t>
            </a:r>
          </a:p>
        </p:txBody>
      </p:sp>
      <p:sp>
        <p:nvSpPr>
          <p:cNvPr id="42027" name="Rectangle 43"/>
          <p:cNvSpPr>
            <a:spLocks noChangeArrowheads="1"/>
          </p:cNvSpPr>
          <p:nvPr/>
        </p:nvSpPr>
        <p:spPr bwMode="auto">
          <a:xfrm>
            <a:off x="838200" y="34686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4 (null)</a:t>
            </a:r>
          </a:p>
        </p:txBody>
      </p:sp>
      <p:sp>
        <p:nvSpPr>
          <p:cNvPr id="42028" name="Rectangle 44"/>
          <p:cNvSpPr>
            <a:spLocks noChangeArrowheads="1"/>
          </p:cNvSpPr>
          <p:nvPr/>
        </p:nvSpPr>
        <p:spPr bwMode="auto">
          <a:xfrm>
            <a:off x="838200" y="37734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5 (null)</a:t>
            </a:r>
          </a:p>
        </p:txBody>
      </p:sp>
      <p:sp>
        <p:nvSpPr>
          <p:cNvPr id="42029" name="Rectangle 45"/>
          <p:cNvSpPr>
            <a:spLocks noChangeArrowheads="1"/>
          </p:cNvSpPr>
          <p:nvPr/>
        </p:nvSpPr>
        <p:spPr bwMode="auto">
          <a:xfrm>
            <a:off x="838200" y="40782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6 (null)</a:t>
            </a:r>
          </a:p>
        </p:txBody>
      </p:sp>
      <p:sp>
        <p:nvSpPr>
          <p:cNvPr id="42030" name="Rectangle 46"/>
          <p:cNvSpPr>
            <a:spLocks noChangeArrowheads="1"/>
          </p:cNvSpPr>
          <p:nvPr/>
        </p:nvSpPr>
        <p:spPr bwMode="auto">
          <a:xfrm>
            <a:off x="838200" y="43830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7 (null)</a:t>
            </a:r>
          </a:p>
        </p:txBody>
      </p:sp>
      <p:sp>
        <p:nvSpPr>
          <p:cNvPr id="42031" name="Rectangle 47"/>
          <p:cNvSpPr>
            <a:spLocks noChangeArrowheads="1"/>
          </p:cNvSpPr>
          <p:nvPr/>
        </p:nvSpPr>
        <p:spPr bwMode="auto">
          <a:xfrm>
            <a:off x="838200" y="46878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8</a:t>
            </a:r>
          </a:p>
        </p:txBody>
      </p:sp>
      <p:sp>
        <p:nvSpPr>
          <p:cNvPr id="42032" name="Rectangle 48"/>
          <p:cNvSpPr>
            <a:spLocks noChangeArrowheads="1"/>
          </p:cNvSpPr>
          <p:nvPr/>
        </p:nvSpPr>
        <p:spPr bwMode="auto">
          <a:xfrm>
            <a:off x="838200" y="2249488"/>
            <a:ext cx="1119188" cy="3581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3" name="AutoShape 49"/>
          <p:cNvSpPr>
            <a:spLocks/>
          </p:cNvSpPr>
          <p:nvPr/>
        </p:nvSpPr>
        <p:spPr bwMode="auto">
          <a:xfrm>
            <a:off x="6665678" y="17922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4" name="Text Box 50"/>
          <p:cNvSpPr txBox="1">
            <a:spLocks noChangeArrowheads="1"/>
          </p:cNvSpPr>
          <p:nvPr/>
        </p:nvSpPr>
        <p:spPr bwMode="auto">
          <a:xfrm>
            <a:off x="6918090" y="2403475"/>
            <a:ext cx="1885942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2K allocated VM pages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for code and data</a:t>
            </a:r>
          </a:p>
        </p:txBody>
      </p:sp>
      <p:sp>
        <p:nvSpPr>
          <p:cNvPr id="42035" name="AutoShape 51"/>
          <p:cNvSpPr>
            <a:spLocks/>
          </p:cNvSpPr>
          <p:nvPr/>
        </p:nvSpPr>
        <p:spPr bwMode="auto">
          <a:xfrm>
            <a:off x="6665678" y="36210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6" name="Text Box 52"/>
          <p:cNvSpPr txBox="1">
            <a:spLocks noChangeArrowheads="1"/>
          </p:cNvSpPr>
          <p:nvPr/>
        </p:nvSpPr>
        <p:spPr bwMode="auto">
          <a:xfrm>
            <a:off x="6916503" y="4306888"/>
            <a:ext cx="207509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6K unallocated VM pages</a:t>
            </a:r>
          </a:p>
        </p:txBody>
      </p:sp>
      <p:sp>
        <p:nvSpPr>
          <p:cNvPr id="42037" name="AutoShape 53"/>
          <p:cNvSpPr>
            <a:spLocks/>
          </p:cNvSpPr>
          <p:nvPr/>
        </p:nvSpPr>
        <p:spPr bwMode="auto">
          <a:xfrm>
            <a:off x="6589478" y="5449888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8" name="Text Box 54"/>
          <p:cNvSpPr txBox="1">
            <a:spLocks noChangeArrowheads="1"/>
          </p:cNvSpPr>
          <p:nvPr/>
        </p:nvSpPr>
        <p:spPr bwMode="auto">
          <a:xfrm>
            <a:off x="6916503" y="5588000"/>
            <a:ext cx="198853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1023 unallocated  pages</a:t>
            </a:r>
          </a:p>
        </p:txBody>
      </p:sp>
      <p:sp>
        <p:nvSpPr>
          <p:cNvPr id="42039" name="AutoShape 55"/>
          <p:cNvSpPr>
            <a:spLocks/>
          </p:cNvSpPr>
          <p:nvPr/>
        </p:nvSpPr>
        <p:spPr bwMode="auto">
          <a:xfrm>
            <a:off x="6589478" y="6059488"/>
            <a:ext cx="304800" cy="3048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40" name="Text Box 56"/>
          <p:cNvSpPr txBox="1">
            <a:spLocks noChangeArrowheads="1"/>
          </p:cNvSpPr>
          <p:nvPr/>
        </p:nvSpPr>
        <p:spPr bwMode="auto">
          <a:xfrm>
            <a:off x="6918090" y="6000750"/>
            <a:ext cx="1717627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1 allocated VM page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for the stack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000" y="6324600"/>
            <a:ext cx="4104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libri" pitchFamily="34" charset="0"/>
              </a:rPr>
              <a:t>32 bit addresses, 4KB pages, 4-byte </a:t>
            </a:r>
            <a:r>
              <a:rPr lang="en-US" sz="1800" i="1" dirty="0" err="1">
                <a:latin typeface="Calibri" pitchFamily="34" charset="0"/>
              </a:rPr>
              <a:t>PTEs</a:t>
            </a:r>
            <a:endParaRPr lang="en-US" sz="1800" i="1" dirty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Translating with a k-level Page Table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177800" y="1833361"/>
            <a:ext cx="1524000" cy="719063"/>
          </a:xfrm>
          <a:prstGeom prst="rect">
            <a:avLst/>
          </a:prstGeom>
          <a:solidFill>
            <a:srgbClr val="F1C7C7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Page table </a:t>
            </a:r>
            <a:br>
              <a:rPr lang="en-US" sz="1600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base register</a:t>
            </a:r>
          </a:p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(PTBR)</a:t>
            </a:r>
          </a:p>
        </p:txBody>
      </p:sp>
      <p:cxnSp>
        <p:nvCxnSpPr>
          <p:cNvPr id="5" name="Straight Connector 4"/>
          <p:cNvCxnSpPr>
            <a:stCxn id="51" idx="2"/>
          </p:cNvCxnSpPr>
          <p:nvPr/>
        </p:nvCxnSpPr>
        <p:spPr bwMode="auto">
          <a:xfrm>
            <a:off x="939800" y="2552424"/>
            <a:ext cx="0" cy="148617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939800" y="4038600"/>
            <a:ext cx="1193800" cy="95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4" name="Rectangle 379"/>
          <p:cNvSpPr>
            <a:spLocks noChangeArrowheads="1"/>
          </p:cNvSpPr>
          <p:nvPr/>
        </p:nvSpPr>
        <p:spPr bwMode="auto">
          <a:xfrm>
            <a:off x="1630362" y="2981325"/>
            <a:ext cx="123983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/>
              <a:t>VPN 1</a:t>
            </a:r>
          </a:p>
        </p:txBody>
      </p:sp>
      <p:sp>
        <p:nvSpPr>
          <p:cNvPr id="105" name="Text Box 381"/>
          <p:cNvSpPr txBox="1">
            <a:spLocks noChangeArrowheads="1"/>
          </p:cNvSpPr>
          <p:nvPr/>
        </p:nvSpPr>
        <p:spPr bwMode="auto">
          <a:xfrm>
            <a:off x="7388225" y="2692986"/>
            <a:ext cx="27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0</a:t>
            </a:r>
          </a:p>
        </p:txBody>
      </p:sp>
      <p:sp>
        <p:nvSpPr>
          <p:cNvPr id="106" name="Text Box 382"/>
          <p:cNvSpPr txBox="1">
            <a:spLocks noChangeArrowheads="1"/>
          </p:cNvSpPr>
          <p:nvPr/>
        </p:nvSpPr>
        <p:spPr bwMode="auto">
          <a:xfrm>
            <a:off x="6559550" y="2692986"/>
            <a:ext cx="4370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p-1</a:t>
            </a:r>
          </a:p>
        </p:txBody>
      </p:sp>
      <p:sp>
        <p:nvSpPr>
          <p:cNvPr id="107" name="Text Box 384"/>
          <p:cNvSpPr txBox="1">
            <a:spLocks noChangeArrowheads="1"/>
          </p:cNvSpPr>
          <p:nvPr/>
        </p:nvSpPr>
        <p:spPr bwMode="auto">
          <a:xfrm>
            <a:off x="1524000" y="2654886"/>
            <a:ext cx="4370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n-1</a:t>
            </a:r>
          </a:p>
        </p:txBody>
      </p:sp>
      <p:sp>
        <p:nvSpPr>
          <p:cNvPr id="108" name="Rectangle 385"/>
          <p:cNvSpPr>
            <a:spLocks noChangeArrowheads="1"/>
          </p:cNvSpPr>
          <p:nvPr/>
        </p:nvSpPr>
        <p:spPr bwMode="auto">
          <a:xfrm>
            <a:off x="6610350" y="2981325"/>
            <a:ext cx="919162" cy="304800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/>
              <a:t>VPO</a:t>
            </a:r>
          </a:p>
        </p:txBody>
      </p:sp>
      <p:sp>
        <p:nvSpPr>
          <p:cNvPr id="109" name="Rectangle 390"/>
          <p:cNvSpPr>
            <a:spLocks noChangeArrowheads="1"/>
          </p:cNvSpPr>
          <p:nvPr/>
        </p:nvSpPr>
        <p:spPr bwMode="auto">
          <a:xfrm>
            <a:off x="2879725" y="2981325"/>
            <a:ext cx="123983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/>
              <a:t>VPN 2</a:t>
            </a:r>
          </a:p>
        </p:txBody>
      </p:sp>
      <p:sp>
        <p:nvSpPr>
          <p:cNvPr id="110" name="Rectangle 391"/>
          <p:cNvSpPr>
            <a:spLocks noChangeArrowheads="1"/>
          </p:cNvSpPr>
          <p:nvPr/>
        </p:nvSpPr>
        <p:spPr bwMode="auto">
          <a:xfrm>
            <a:off x="4124325" y="2981325"/>
            <a:ext cx="123983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/>
              <a:t>...</a:t>
            </a:r>
          </a:p>
        </p:txBody>
      </p:sp>
      <p:sp>
        <p:nvSpPr>
          <p:cNvPr id="111" name="Rectangle 392"/>
          <p:cNvSpPr>
            <a:spLocks noChangeArrowheads="1"/>
          </p:cNvSpPr>
          <p:nvPr/>
        </p:nvSpPr>
        <p:spPr bwMode="auto">
          <a:xfrm>
            <a:off x="5364162" y="2981325"/>
            <a:ext cx="123983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/>
              <a:t>VPN k</a:t>
            </a:r>
          </a:p>
        </p:txBody>
      </p:sp>
      <p:sp>
        <p:nvSpPr>
          <p:cNvPr id="112" name="Line 393"/>
          <p:cNvSpPr>
            <a:spLocks noChangeShapeType="1"/>
          </p:cNvSpPr>
          <p:nvPr/>
        </p:nvSpPr>
        <p:spPr bwMode="auto">
          <a:xfrm>
            <a:off x="1820862" y="3143250"/>
            <a:ext cx="0" cy="13451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13" name="Rectangle 395"/>
          <p:cNvSpPr>
            <a:spLocks noChangeArrowheads="1"/>
          </p:cNvSpPr>
          <p:nvPr/>
        </p:nvSpPr>
        <p:spPr bwMode="auto">
          <a:xfrm>
            <a:off x="21637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14" name="Line 396"/>
          <p:cNvSpPr>
            <a:spLocks noChangeShapeType="1"/>
          </p:cNvSpPr>
          <p:nvPr/>
        </p:nvSpPr>
        <p:spPr bwMode="auto">
          <a:xfrm>
            <a:off x="1820862" y="44884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15" name="Rectangle 397"/>
          <p:cNvSpPr>
            <a:spLocks noChangeArrowheads="1"/>
          </p:cNvSpPr>
          <p:nvPr/>
        </p:nvSpPr>
        <p:spPr bwMode="auto">
          <a:xfrm>
            <a:off x="2163762" y="4424948"/>
            <a:ext cx="520700" cy="1143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16" name="Line 398"/>
          <p:cNvSpPr>
            <a:spLocks noChangeShapeType="1"/>
          </p:cNvSpPr>
          <p:nvPr/>
        </p:nvSpPr>
        <p:spPr bwMode="auto">
          <a:xfrm>
            <a:off x="3027362" y="3143250"/>
            <a:ext cx="0" cy="1103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17" name="Rectangle 399"/>
          <p:cNvSpPr>
            <a:spLocks noChangeArrowheads="1"/>
          </p:cNvSpPr>
          <p:nvPr/>
        </p:nvSpPr>
        <p:spPr bwMode="auto">
          <a:xfrm>
            <a:off x="33702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18" name="Line 400"/>
          <p:cNvSpPr>
            <a:spLocks noChangeShapeType="1"/>
          </p:cNvSpPr>
          <p:nvPr/>
        </p:nvSpPr>
        <p:spPr bwMode="auto">
          <a:xfrm>
            <a:off x="3027362" y="42471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19" name="Rectangle 401"/>
          <p:cNvSpPr>
            <a:spLocks noChangeArrowheads="1"/>
          </p:cNvSpPr>
          <p:nvPr/>
        </p:nvSpPr>
        <p:spPr bwMode="auto">
          <a:xfrm>
            <a:off x="3370262" y="4196348"/>
            <a:ext cx="520700" cy="1143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20" name="Line 402"/>
          <p:cNvSpPr>
            <a:spLocks noChangeShapeType="1"/>
          </p:cNvSpPr>
          <p:nvPr/>
        </p:nvSpPr>
        <p:spPr bwMode="auto">
          <a:xfrm>
            <a:off x="5541962" y="3143250"/>
            <a:ext cx="0" cy="1484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21" name="Rectangle 403"/>
          <p:cNvSpPr>
            <a:spLocks noChangeArrowheads="1"/>
          </p:cNvSpPr>
          <p:nvPr/>
        </p:nvSpPr>
        <p:spPr bwMode="auto">
          <a:xfrm>
            <a:off x="58848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22" name="Line 404"/>
          <p:cNvSpPr>
            <a:spLocks noChangeShapeType="1"/>
          </p:cNvSpPr>
          <p:nvPr/>
        </p:nvSpPr>
        <p:spPr bwMode="auto">
          <a:xfrm>
            <a:off x="5541962" y="46281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23" name="Rectangle 405"/>
          <p:cNvSpPr>
            <a:spLocks noChangeArrowheads="1"/>
          </p:cNvSpPr>
          <p:nvPr/>
        </p:nvSpPr>
        <p:spPr bwMode="auto">
          <a:xfrm>
            <a:off x="5884862" y="4539248"/>
            <a:ext cx="520700" cy="152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/>
              <a:t>PPN</a:t>
            </a:r>
          </a:p>
        </p:txBody>
      </p:sp>
      <p:sp>
        <p:nvSpPr>
          <p:cNvPr id="124" name="Text Box 407"/>
          <p:cNvSpPr txBox="1">
            <a:spLocks noChangeArrowheads="1"/>
          </p:cNvSpPr>
          <p:nvPr/>
        </p:nvSpPr>
        <p:spPr bwMode="auto">
          <a:xfrm>
            <a:off x="7388225" y="5101809"/>
            <a:ext cx="27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0</a:t>
            </a:r>
          </a:p>
        </p:txBody>
      </p:sp>
      <p:sp>
        <p:nvSpPr>
          <p:cNvPr id="125" name="Text Box 408"/>
          <p:cNvSpPr txBox="1">
            <a:spLocks noChangeArrowheads="1"/>
          </p:cNvSpPr>
          <p:nvPr/>
        </p:nvSpPr>
        <p:spPr bwMode="auto">
          <a:xfrm>
            <a:off x="6559550" y="5101809"/>
            <a:ext cx="4370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p-1</a:t>
            </a:r>
          </a:p>
        </p:txBody>
      </p:sp>
      <p:sp>
        <p:nvSpPr>
          <p:cNvPr id="126" name="Text Box 409"/>
          <p:cNvSpPr txBox="1">
            <a:spLocks noChangeArrowheads="1"/>
          </p:cNvSpPr>
          <p:nvPr/>
        </p:nvSpPr>
        <p:spPr bwMode="auto">
          <a:xfrm>
            <a:off x="2751137" y="5098634"/>
            <a:ext cx="4838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m-1</a:t>
            </a:r>
          </a:p>
        </p:txBody>
      </p:sp>
      <p:sp>
        <p:nvSpPr>
          <p:cNvPr id="127" name="Rectangle 410"/>
          <p:cNvSpPr>
            <a:spLocks noChangeArrowheads="1"/>
          </p:cNvSpPr>
          <p:nvPr/>
        </p:nvSpPr>
        <p:spPr bwMode="auto">
          <a:xfrm>
            <a:off x="6610350" y="5390148"/>
            <a:ext cx="919162" cy="304800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/>
              <a:t>PPO</a:t>
            </a:r>
          </a:p>
        </p:txBody>
      </p:sp>
      <p:sp>
        <p:nvSpPr>
          <p:cNvPr id="128" name="Rectangle 411"/>
          <p:cNvSpPr>
            <a:spLocks noChangeArrowheads="1"/>
          </p:cNvSpPr>
          <p:nvPr/>
        </p:nvSpPr>
        <p:spPr bwMode="auto">
          <a:xfrm>
            <a:off x="2879725" y="5390148"/>
            <a:ext cx="372427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/>
              <a:t>PPN</a:t>
            </a:r>
          </a:p>
        </p:txBody>
      </p:sp>
      <p:sp>
        <p:nvSpPr>
          <p:cNvPr id="129" name="Line 414"/>
          <p:cNvSpPr>
            <a:spLocks noChangeShapeType="1"/>
          </p:cNvSpPr>
          <p:nvPr/>
        </p:nvSpPr>
        <p:spPr bwMode="auto">
          <a:xfrm>
            <a:off x="2570162" y="4488448"/>
            <a:ext cx="309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30" name="Line 415"/>
          <p:cNvSpPr>
            <a:spLocks noChangeShapeType="1"/>
          </p:cNvSpPr>
          <p:nvPr/>
        </p:nvSpPr>
        <p:spPr bwMode="auto">
          <a:xfrm flipH="1" flipV="1">
            <a:off x="2874962" y="403442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31" name="Line 416"/>
          <p:cNvSpPr>
            <a:spLocks noChangeShapeType="1"/>
          </p:cNvSpPr>
          <p:nvPr/>
        </p:nvSpPr>
        <p:spPr bwMode="auto">
          <a:xfrm>
            <a:off x="2879725" y="4031248"/>
            <a:ext cx="490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32" name="Line 417"/>
          <p:cNvSpPr>
            <a:spLocks noChangeShapeType="1"/>
          </p:cNvSpPr>
          <p:nvPr/>
        </p:nvSpPr>
        <p:spPr bwMode="auto">
          <a:xfrm>
            <a:off x="3789362" y="4247148"/>
            <a:ext cx="309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33" name="Line 418"/>
          <p:cNvSpPr>
            <a:spLocks noChangeShapeType="1"/>
          </p:cNvSpPr>
          <p:nvPr/>
        </p:nvSpPr>
        <p:spPr bwMode="auto">
          <a:xfrm flipV="1">
            <a:off x="4090987" y="4031248"/>
            <a:ext cx="4763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34" name="Line 419"/>
          <p:cNvSpPr>
            <a:spLocks noChangeShapeType="1"/>
          </p:cNvSpPr>
          <p:nvPr/>
        </p:nvSpPr>
        <p:spPr bwMode="auto">
          <a:xfrm>
            <a:off x="4098925" y="4031248"/>
            <a:ext cx="490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35" name="Text Box 420"/>
          <p:cNvSpPr txBox="1">
            <a:spLocks noChangeArrowheads="1"/>
          </p:cNvSpPr>
          <p:nvPr/>
        </p:nvSpPr>
        <p:spPr bwMode="auto">
          <a:xfrm>
            <a:off x="3695700" y="2548523"/>
            <a:ext cx="17748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VIRTUAL ADDRESS</a:t>
            </a:r>
          </a:p>
        </p:txBody>
      </p:sp>
      <p:sp>
        <p:nvSpPr>
          <p:cNvPr id="136" name="Text Box 421"/>
          <p:cNvSpPr txBox="1">
            <a:spLocks noChangeArrowheads="1"/>
          </p:cNvSpPr>
          <p:nvPr/>
        </p:nvSpPr>
        <p:spPr bwMode="auto">
          <a:xfrm>
            <a:off x="4200525" y="5757446"/>
            <a:ext cx="190308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PHYSICAL ADDRESS</a:t>
            </a:r>
          </a:p>
        </p:txBody>
      </p:sp>
      <p:sp>
        <p:nvSpPr>
          <p:cNvPr id="137" name="Line 422"/>
          <p:cNvSpPr>
            <a:spLocks noChangeShapeType="1"/>
          </p:cNvSpPr>
          <p:nvPr/>
        </p:nvSpPr>
        <p:spPr bwMode="auto">
          <a:xfrm flipH="1">
            <a:off x="7062787" y="3419475"/>
            <a:ext cx="0" cy="19706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38" name="Line 423"/>
          <p:cNvSpPr>
            <a:spLocks noChangeShapeType="1"/>
          </p:cNvSpPr>
          <p:nvPr/>
        </p:nvSpPr>
        <p:spPr bwMode="auto">
          <a:xfrm>
            <a:off x="6557962" y="4609098"/>
            <a:ext cx="220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39" name="Line 424"/>
          <p:cNvSpPr>
            <a:spLocks noChangeShapeType="1"/>
          </p:cNvSpPr>
          <p:nvPr/>
        </p:nvSpPr>
        <p:spPr bwMode="auto">
          <a:xfrm>
            <a:off x="6773862" y="4613861"/>
            <a:ext cx="0" cy="534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40" name="Line 425"/>
          <p:cNvSpPr>
            <a:spLocks noChangeShapeType="1"/>
          </p:cNvSpPr>
          <p:nvPr/>
        </p:nvSpPr>
        <p:spPr bwMode="auto">
          <a:xfrm flipH="1">
            <a:off x="4779962" y="5145673"/>
            <a:ext cx="1993900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41" name="Line 426"/>
          <p:cNvSpPr>
            <a:spLocks noChangeShapeType="1"/>
          </p:cNvSpPr>
          <p:nvPr/>
        </p:nvSpPr>
        <p:spPr bwMode="auto">
          <a:xfrm>
            <a:off x="4779962" y="5148848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42" name="Line 427"/>
          <p:cNvSpPr>
            <a:spLocks noChangeShapeType="1"/>
          </p:cNvSpPr>
          <p:nvPr/>
        </p:nvSpPr>
        <p:spPr bwMode="auto">
          <a:xfrm>
            <a:off x="5186362" y="4031248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43" name="Text Box 428"/>
          <p:cNvSpPr txBox="1">
            <a:spLocks noChangeArrowheads="1"/>
          </p:cNvSpPr>
          <p:nvPr/>
        </p:nvSpPr>
        <p:spPr bwMode="auto">
          <a:xfrm>
            <a:off x="4525962" y="3801646"/>
            <a:ext cx="3250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...</a:t>
            </a:r>
          </a:p>
        </p:txBody>
      </p:sp>
      <p:sp>
        <p:nvSpPr>
          <p:cNvPr id="144" name="Text Box 429"/>
          <p:cNvSpPr txBox="1">
            <a:spLocks noChangeArrowheads="1"/>
          </p:cNvSpPr>
          <p:nvPr/>
        </p:nvSpPr>
        <p:spPr bwMode="auto">
          <a:xfrm>
            <a:off x="4894262" y="3801646"/>
            <a:ext cx="3250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...</a:t>
            </a:r>
          </a:p>
        </p:txBody>
      </p:sp>
      <p:sp>
        <p:nvSpPr>
          <p:cNvPr id="145" name="Text Box 430"/>
          <p:cNvSpPr txBox="1">
            <a:spLocks noChangeArrowheads="1"/>
          </p:cNvSpPr>
          <p:nvPr/>
        </p:nvSpPr>
        <p:spPr bwMode="auto">
          <a:xfrm>
            <a:off x="1957387" y="3371562"/>
            <a:ext cx="1016925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Level 1</a:t>
            </a:r>
          </a:p>
          <a:p>
            <a:pPr algn="ctr"/>
            <a:r>
              <a:rPr lang="en-US" sz="1600"/>
              <a:t>page table</a:t>
            </a:r>
          </a:p>
        </p:txBody>
      </p:sp>
      <p:sp>
        <p:nvSpPr>
          <p:cNvPr id="146" name="Text Box 431"/>
          <p:cNvSpPr txBox="1">
            <a:spLocks noChangeArrowheads="1"/>
          </p:cNvSpPr>
          <p:nvPr/>
        </p:nvSpPr>
        <p:spPr bwMode="auto">
          <a:xfrm>
            <a:off x="3176587" y="3362037"/>
            <a:ext cx="1016925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Level 2</a:t>
            </a:r>
          </a:p>
          <a:p>
            <a:pPr algn="ctr"/>
            <a:r>
              <a:rPr lang="en-US" sz="1600"/>
              <a:t>page table</a:t>
            </a:r>
          </a:p>
        </p:txBody>
      </p:sp>
      <p:sp>
        <p:nvSpPr>
          <p:cNvPr id="147" name="Text Box 432"/>
          <p:cNvSpPr txBox="1">
            <a:spLocks noChangeArrowheads="1"/>
          </p:cNvSpPr>
          <p:nvPr/>
        </p:nvSpPr>
        <p:spPr bwMode="auto">
          <a:xfrm>
            <a:off x="5681662" y="3352512"/>
            <a:ext cx="1016925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/>
              <a:t>Level k</a:t>
            </a:r>
          </a:p>
          <a:p>
            <a:pPr algn="ctr"/>
            <a:r>
              <a:rPr lang="en-US" sz="1600"/>
              <a:t>page table</a:t>
            </a:r>
          </a:p>
        </p:txBody>
      </p:sp>
      <p:sp>
        <p:nvSpPr>
          <p:cNvPr id="148" name="AutoShape 433"/>
          <p:cNvSpPr>
            <a:spLocks/>
          </p:cNvSpPr>
          <p:nvPr/>
        </p:nvSpPr>
        <p:spPr bwMode="auto">
          <a:xfrm rot="5400000">
            <a:off x="7014369" y="2905919"/>
            <a:ext cx="112712" cy="914400"/>
          </a:xfrm>
          <a:prstGeom prst="rightBrace">
            <a:avLst>
              <a:gd name="adj1" fmla="val 6760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  <p:sp>
        <p:nvSpPr>
          <p:cNvPr id="149" name="AutoShape 434"/>
          <p:cNvSpPr>
            <a:spLocks/>
          </p:cNvSpPr>
          <p:nvPr/>
        </p:nvSpPr>
        <p:spPr bwMode="auto">
          <a:xfrm>
            <a:off x="6446837" y="4539248"/>
            <a:ext cx="74613" cy="142875"/>
          </a:xfrm>
          <a:prstGeom prst="rightBrace">
            <a:avLst>
              <a:gd name="adj1" fmla="val 1595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7020713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Grp="1" noChangeArrowheads="1"/>
          </p:cNvSpPr>
          <p:nvPr>
            <p:ph type="title"/>
          </p:nvPr>
        </p:nvSpPr>
        <p:spPr>
          <a:xfrm>
            <a:off x="447676" y="493713"/>
            <a:ext cx="5292725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Summary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7387" cy="4800600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Programmer’s view of virtual </a:t>
            </a:r>
            <a:r>
              <a:rPr lang="en-GB" dirty="0"/>
              <a:t>m</a:t>
            </a:r>
            <a:r>
              <a:rPr lang="en-GB" dirty="0">
                <a:effectLst/>
              </a:rPr>
              <a:t>emory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process has its own private linear address space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Cannot be corrupted by other processes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>
              <a:effectLst/>
            </a:endParaRP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System </a:t>
            </a:r>
            <a:r>
              <a:rPr lang="en-GB" dirty="0"/>
              <a:t>v</a:t>
            </a:r>
            <a:r>
              <a:rPr lang="en-GB" dirty="0">
                <a:effectLst/>
              </a:rPr>
              <a:t>iew of virtual </a:t>
            </a:r>
            <a:r>
              <a:rPr lang="en-GB" dirty="0"/>
              <a:t>m</a:t>
            </a:r>
            <a:r>
              <a:rPr lang="en-GB" dirty="0">
                <a:effectLst/>
              </a:rPr>
              <a:t>emory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Uses memory efficiently by caching virtual memory pages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Efficient only because of locality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Simplifies memory management and programming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Simplifies protection by providing a convenient </a:t>
            </a:r>
            <a:r>
              <a:rPr lang="en-GB" dirty="0" err="1"/>
              <a:t>interpositioning</a:t>
            </a:r>
            <a:r>
              <a:rPr lang="en-GB" dirty="0"/>
              <a:t> point to check permissions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lvl="0" indent="0">
              <a:defRPr/>
            </a:pPr>
            <a:r>
              <a:rPr lang="en-US" dirty="0"/>
              <a:t>Virtual Memory: Systems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CENG331  - Computer Organization 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en-US" b="1" dirty="0"/>
              <a:t>Instructors:</a:t>
            </a:r>
            <a:r>
              <a:rPr lang="en-US" dirty="0"/>
              <a:t> </a:t>
            </a:r>
          </a:p>
          <a:p>
            <a:pPr lvl="0">
              <a:defRPr/>
            </a:pPr>
            <a:r>
              <a:rPr lang="en-US" dirty="0"/>
              <a:t>Murat </a:t>
            </a:r>
            <a:r>
              <a:rPr lang="en-US" dirty="0" err="1"/>
              <a:t>Manguoglu</a:t>
            </a:r>
            <a:r>
              <a:rPr lang="en-US" dirty="0"/>
              <a:t>	(Section 1)</a:t>
            </a:r>
          </a:p>
          <a:p>
            <a:pPr lvl="0">
              <a:defRPr/>
            </a:pPr>
            <a:r>
              <a:rPr lang="en-US" dirty="0" err="1"/>
              <a:t>Erol</a:t>
            </a:r>
            <a:r>
              <a:rPr lang="en-US" dirty="0"/>
              <a:t> </a:t>
            </a:r>
            <a:r>
              <a:rPr lang="en-US" dirty="0" err="1"/>
              <a:t>Sahin</a:t>
            </a:r>
            <a:r>
              <a:rPr lang="en-US" dirty="0"/>
              <a:t> 		(Section 2) </a:t>
            </a:r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r>
              <a:rPr lang="en-US" sz="1600" dirty="0"/>
              <a:t>Adapted from slides of the textbook: </a:t>
            </a:r>
            <a:r>
              <a:rPr lang="en-US" sz="1600" dirty="0">
                <a:hlinkClick r:id="rId3"/>
              </a:rPr>
              <a:t>http://csapp.cs.cmu.edu/</a:t>
            </a:r>
            <a:r>
              <a:rPr lang="en-US" sz="1600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962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memory system example</a:t>
            </a:r>
          </a:p>
          <a:p>
            <a:r>
              <a:rPr lang="en-US" dirty="0">
                <a:solidFill>
                  <a:srgbClr val="7F7F7F"/>
                </a:solidFill>
              </a:rPr>
              <a:t>Case study: Core i7/Linux memory system</a:t>
            </a:r>
          </a:p>
          <a:p>
            <a:r>
              <a:rPr lang="en-US" dirty="0">
                <a:solidFill>
                  <a:srgbClr val="7F7F7F"/>
                </a:solidFill>
              </a:rPr>
              <a:t>Memory mapping</a:t>
            </a:r>
          </a:p>
        </p:txBody>
      </p:sp>
    </p:spTree>
    <p:extLst>
      <p:ext uri="{BB962C8B-B14F-4D97-AF65-F5344CB8AC3E}">
        <p14:creationId xmlns:p14="http://schemas.microsoft.com/office/powerpoint/2010/main" val="1372891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Symbols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7896225" cy="52673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Basic Parameters</a:t>
            </a:r>
          </a:p>
          <a:p>
            <a:pPr lvl="1"/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virtual address space</a:t>
            </a:r>
            <a:endParaRPr lang="en-US" baseline="30000" dirty="0"/>
          </a:p>
          <a:p>
            <a:pPr lvl="1"/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physical address space</a:t>
            </a:r>
            <a:endParaRPr lang="en-US" baseline="30000" dirty="0"/>
          </a:p>
          <a:p>
            <a:pPr lvl="1"/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  <a:endParaRPr lang="en-US" baseline="30000" dirty="0"/>
          </a:p>
          <a:p>
            <a:r>
              <a:rPr lang="en-US" dirty="0"/>
              <a:t>Components of the virtual address (VA)</a:t>
            </a:r>
          </a:p>
          <a:p>
            <a:pPr lvl="1"/>
            <a:r>
              <a:rPr lang="en-US" b="1" dirty="0"/>
              <a:t>TLBI</a:t>
            </a:r>
            <a:r>
              <a:rPr lang="en-US" dirty="0"/>
              <a:t>: TLB index</a:t>
            </a:r>
          </a:p>
          <a:p>
            <a:pPr lvl="1"/>
            <a:r>
              <a:rPr lang="en-US" b="1" dirty="0"/>
              <a:t>TLBT</a:t>
            </a:r>
            <a:r>
              <a:rPr lang="en-US" dirty="0"/>
              <a:t>: TLB tag</a:t>
            </a:r>
          </a:p>
          <a:p>
            <a:pPr lvl="1"/>
            <a:r>
              <a:rPr lang="en-US" b="1" dirty="0"/>
              <a:t>VPO</a:t>
            </a:r>
            <a:r>
              <a:rPr lang="en-US" dirty="0"/>
              <a:t>: Virtual page offset </a:t>
            </a:r>
          </a:p>
          <a:p>
            <a:pPr lvl="1"/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r>
              <a:rPr lang="en-US" dirty="0"/>
              <a:t>Components of the physical address (PA)</a:t>
            </a:r>
          </a:p>
          <a:p>
            <a:pPr lvl="1"/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/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lvl="1"/>
            <a:r>
              <a:rPr lang="en-US" b="1" dirty="0"/>
              <a:t>CO</a:t>
            </a:r>
            <a:r>
              <a:rPr lang="en-US" dirty="0"/>
              <a:t>: Byte offset within cache line</a:t>
            </a:r>
          </a:p>
          <a:p>
            <a:pPr lvl="1"/>
            <a:r>
              <a:rPr lang="en-US" b="1" dirty="0"/>
              <a:t>CI:</a:t>
            </a:r>
            <a:r>
              <a:rPr lang="en-US" dirty="0"/>
              <a:t> Cache index</a:t>
            </a:r>
          </a:p>
          <a:p>
            <a:pPr lvl="1"/>
            <a:r>
              <a:rPr lang="en-US" b="1" dirty="0"/>
              <a:t>CT</a:t>
            </a:r>
            <a:r>
              <a:rPr lang="en-US" dirty="0"/>
              <a:t>: Cache tag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28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510647"/>
            <a:ext cx="730885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Simple Memory System Example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220788"/>
            <a:ext cx="8307387" cy="15827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Addressing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14-bit virtual addresses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12-bit physical address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Page size = 64 bytes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960438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960438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13</a:t>
            </a: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1447800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1447800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12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1935163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1935163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11</a:t>
            </a:r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2422525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2422525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10</a:t>
            </a:r>
          </a:p>
        </p:txBody>
      </p:sp>
      <p:sp>
        <p:nvSpPr>
          <p:cNvPr id="33809" name="Rectangle 17"/>
          <p:cNvSpPr>
            <a:spLocks noChangeArrowheads="1"/>
          </p:cNvSpPr>
          <p:nvPr/>
        </p:nvSpPr>
        <p:spPr bwMode="auto">
          <a:xfrm>
            <a:off x="2909888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Rectangle 18"/>
          <p:cNvSpPr>
            <a:spLocks noChangeArrowheads="1"/>
          </p:cNvSpPr>
          <p:nvPr/>
        </p:nvSpPr>
        <p:spPr bwMode="auto">
          <a:xfrm>
            <a:off x="2909888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9</a:t>
            </a:r>
          </a:p>
        </p:txBody>
      </p:sp>
      <p:sp>
        <p:nvSpPr>
          <p:cNvPr id="33812" name="Rectangle 20"/>
          <p:cNvSpPr>
            <a:spLocks noChangeArrowheads="1"/>
          </p:cNvSpPr>
          <p:nvPr/>
        </p:nvSpPr>
        <p:spPr bwMode="auto">
          <a:xfrm>
            <a:off x="3397250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3" name="Rectangle 21"/>
          <p:cNvSpPr>
            <a:spLocks noChangeArrowheads="1"/>
          </p:cNvSpPr>
          <p:nvPr/>
        </p:nvSpPr>
        <p:spPr bwMode="auto">
          <a:xfrm>
            <a:off x="3397250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8</a:t>
            </a:r>
          </a:p>
        </p:txBody>
      </p:sp>
      <p:sp>
        <p:nvSpPr>
          <p:cNvPr id="33815" name="Rectangle 23"/>
          <p:cNvSpPr>
            <a:spLocks noChangeArrowheads="1"/>
          </p:cNvSpPr>
          <p:nvPr/>
        </p:nvSpPr>
        <p:spPr bwMode="auto">
          <a:xfrm>
            <a:off x="3884613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Rectangle 24"/>
          <p:cNvSpPr>
            <a:spLocks noChangeArrowheads="1"/>
          </p:cNvSpPr>
          <p:nvPr/>
        </p:nvSpPr>
        <p:spPr bwMode="auto">
          <a:xfrm>
            <a:off x="3884613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7</a:t>
            </a:r>
          </a:p>
        </p:txBody>
      </p:sp>
      <p:sp>
        <p:nvSpPr>
          <p:cNvPr id="33818" name="Rectangle 26"/>
          <p:cNvSpPr>
            <a:spLocks noChangeArrowheads="1"/>
          </p:cNvSpPr>
          <p:nvPr/>
        </p:nvSpPr>
        <p:spPr bwMode="auto">
          <a:xfrm>
            <a:off x="4371975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9" name="Rectangle 27"/>
          <p:cNvSpPr>
            <a:spLocks noChangeArrowheads="1"/>
          </p:cNvSpPr>
          <p:nvPr/>
        </p:nvSpPr>
        <p:spPr bwMode="auto">
          <a:xfrm>
            <a:off x="4371975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6</a:t>
            </a:r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4859338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2" name="Rectangle 30"/>
          <p:cNvSpPr>
            <a:spLocks noChangeArrowheads="1"/>
          </p:cNvSpPr>
          <p:nvPr/>
        </p:nvSpPr>
        <p:spPr bwMode="auto">
          <a:xfrm>
            <a:off x="4859338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5</a:t>
            </a:r>
          </a:p>
        </p:txBody>
      </p:sp>
      <p:sp>
        <p:nvSpPr>
          <p:cNvPr id="33824" name="Rectangle 32"/>
          <p:cNvSpPr>
            <a:spLocks noChangeArrowheads="1"/>
          </p:cNvSpPr>
          <p:nvPr/>
        </p:nvSpPr>
        <p:spPr bwMode="auto">
          <a:xfrm>
            <a:off x="5346700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5" name="Rectangle 33"/>
          <p:cNvSpPr>
            <a:spLocks noChangeArrowheads="1"/>
          </p:cNvSpPr>
          <p:nvPr/>
        </p:nvSpPr>
        <p:spPr bwMode="auto">
          <a:xfrm>
            <a:off x="5346700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4</a:t>
            </a:r>
          </a:p>
        </p:txBody>
      </p:sp>
      <p:sp>
        <p:nvSpPr>
          <p:cNvPr id="33827" name="Rectangle 35"/>
          <p:cNvSpPr>
            <a:spLocks noChangeArrowheads="1"/>
          </p:cNvSpPr>
          <p:nvPr/>
        </p:nvSpPr>
        <p:spPr bwMode="auto">
          <a:xfrm>
            <a:off x="5834063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8" name="Rectangle 36"/>
          <p:cNvSpPr>
            <a:spLocks noChangeArrowheads="1"/>
          </p:cNvSpPr>
          <p:nvPr/>
        </p:nvSpPr>
        <p:spPr bwMode="auto">
          <a:xfrm>
            <a:off x="5834063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3</a:t>
            </a:r>
          </a:p>
        </p:txBody>
      </p:sp>
      <p:sp>
        <p:nvSpPr>
          <p:cNvPr id="33830" name="Rectangle 38"/>
          <p:cNvSpPr>
            <a:spLocks noChangeArrowheads="1"/>
          </p:cNvSpPr>
          <p:nvPr/>
        </p:nvSpPr>
        <p:spPr bwMode="auto">
          <a:xfrm>
            <a:off x="6321425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1" name="Rectangle 39"/>
          <p:cNvSpPr>
            <a:spLocks noChangeArrowheads="1"/>
          </p:cNvSpPr>
          <p:nvPr/>
        </p:nvSpPr>
        <p:spPr bwMode="auto">
          <a:xfrm>
            <a:off x="6321425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2</a:t>
            </a:r>
          </a:p>
        </p:txBody>
      </p:sp>
      <p:sp>
        <p:nvSpPr>
          <p:cNvPr id="33833" name="Rectangle 41"/>
          <p:cNvSpPr>
            <a:spLocks noChangeArrowheads="1"/>
          </p:cNvSpPr>
          <p:nvPr/>
        </p:nvSpPr>
        <p:spPr bwMode="auto">
          <a:xfrm>
            <a:off x="6808788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4" name="Rectangle 42"/>
          <p:cNvSpPr>
            <a:spLocks noChangeArrowheads="1"/>
          </p:cNvSpPr>
          <p:nvPr/>
        </p:nvSpPr>
        <p:spPr bwMode="auto">
          <a:xfrm>
            <a:off x="6808788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</a:t>
            </a:r>
          </a:p>
        </p:txBody>
      </p:sp>
      <p:sp>
        <p:nvSpPr>
          <p:cNvPr id="33836" name="Rectangle 44"/>
          <p:cNvSpPr>
            <a:spLocks noChangeArrowheads="1"/>
          </p:cNvSpPr>
          <p:nvPr/>
        </p:nvSpPr>
        <p:spPr bwMode="auto">
          <a:xfrm>
            <a:off x="7296150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" name="Rectangle 45"/>
          <p:cNvSpPr>
            <a:spLocks noChangeArrowheads="1"/>
          </p:cNvSpPr>
          <p:nvPr/>
        </p:nvSpPr>
        <p:spPr bwMode="auto">
          <a:xfrm>
            <a:off x="7296150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33840" name="Rectangle 48"/>
          <p:cNvSpPr>
            <a:spLocks noChangeArrowheads="1"/>
          </p:cNvSpPr>
          <p:nvPr/>
        </p:nvSpPr>
        <p:spPr bwMode="auto">
          <a:xfrm>
            <a:off x="1935163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1" name="Rectangle 49"/>
          <p:cNvSpPr>
            <a:spLocks noChangeArrowheads="1"/>
          </p:cNvSpPr>
          <p:nvPr/>
        </p:nvSpPr>
        <p:spPr bwMode="auto">
          <a:xfrm>
            <a:off x="1935163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11</a:t>
            </a:r>
          </a:p>
        </p:txBody>
      </p:sp>
      <p:sp>
        <p:nvSpPr>
          <p:cNvPr id="33843" name="Rectangle 51"/>
          <p:cNvSpPr>
            <a:spLocks noChangeArrowheads="1"/>
          </p:cNvSpPr>
          <p:nvPr/>
        </p:nvSpPr>
        <p:spPr bwMode="auto">
          <a:xfrm>
            <a:off x="2422525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4" name="Rectangle 52"/>
          <p:cNvSpPr>
            <a:spLocks noChangeArrowheads="1"/>
          </p:cNvSpPr>
          <p:nvPr/>
        </p:nvSpPr>
        <p:spPr bwMode="auto">
          <a:xfrm>
            <a:off x="2422525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10</a:t>
            </a:r>
          </a:p>
        </p:txBody>
      </p:sp>
      <p:sp>
        <p:nvSpPr>
          <p:cNvPr id="33846" name="Rectangle 54"/>
          <p:cNvSpPr>
            <a:spLocks noChangeArrowheads="1"/>
          </p:cNvSpPr>
          <p:nvPr/>
        </p:nvSpPr>
        <p:spPr bwMode="auto">
          <a:xfrm>
            <a:off x="2909888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7" name="Rectangle 55"/>
          <p:cNvSpPr>
            <a:spLocks noChangeArrowheads="1"/>
          </p:cNvSpPr>
          <p:nvPr/>
        </p:nvSpPr>
        <p:spPr bwMode="auto">
          <a:xfrm>
            <a:off x="2909888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9</a:t>
            </a:r>
          </a:p>
        </p:txBody>
      </p:sp>
      <p:sp>
        <p:nvSpPr>
          <p:cNvPr id="33849" name="Rectangle 57"/>
          <p:cNvSpPr>
            <a:spLocks noChangeArrowheads="1"/>
          </p:cNvSpPr>
          <p:nvPr/>
        </p:nvSpPr>
        <p:spPr bwMode="auto">
          <a:xfrm>
            <a:off x="3397250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0" name="Rectangle 58"/>
          <p:cNvSpPr>
            <a:spLocks noChangeArrowheads="1"/>
          </p:cNvSpPr>
          <p:nvPr/>
        </p:nvSpPr>
        <p:spPr bwMode="auto">
          <a:xfrm>
            <a:off x="3397250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8</a:t>
            </a:r>
          </a:p>
        </p:txBody>
      </p:sp>
      <p:sp>
        <p:nvSpPr>
          <p:cNvPr id="33852" name="Rectangle 60"/>
          <p:cNvSpPr>
            <a:spLocks noChangeArrowheads="1"/>
          </p:cNvSpPr>
          <p:nvPr/>
        </p:nvSpPr>
        <p:spPr bwMode="auto">
          <a:xfrm>
            <a:off x="3884613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3" name="Rectangle 61"/>
          <p:cNvSpPr>
            <a:spLocks noChangeArrowheads="1"/>
          </p:cNvSpPr>
          <p:nvPr/>
        </p:nvSpPr>
        <p:spPr bwMode="auto">
          <a:xfrm>
            <a:off x="3884613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7</a:t>
            </a:r>
          </a:p>
        </p:txBody>
      </p:sp>
      <p:sp>
        <p:nvSpPr>
          <p:cNvPr id="33855" name="Rectangle 63"/>
          <p:cNvSpPr>
            <a:spLocks noChangeArrowheads="1"/>
          </p:cNvSpPr>
          <p:nvPr/>
        </p:nvSpPr>
        <p:spPr bwMode="auto">
          <a:xfrm>
            <a:off x="4371975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6" name="Rectangle 64"/>
          <p:cNvSpPr>
            <a:spLocks noChangeArrowheads="1"/>
          </p:cNvSpPr>
          <p:nvPr/>
        </p:nvSpPr>
        <p:spPr bwMode="auto">
          <a:xfrm>
            <a:off x="4371975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6</a:t>
            </a:r>
          </a:p>
        </p:txBody>
      </p:sp>
      <p:sp>
        <p:nvSpPr>
          <p:cNvPr id="33858" name="Rectangle 66"/>
          <p:cNvSpPr>
            <a:spLocks noChangeArrowheads="1"/>
          </p:cNvSpPr>
          <p:nvPr/>
        </p:nvSpPr>
        <p:spPr bwMode="auto">
          <a:xfrm>
            <a:off x="4859338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9" name="Rectangle 67"/>
          <p:cNvSpPr>
            <a:spLocks noChangeArrowheads="1"/>
          </p:cNvSpPr>
          <p:nvPr/>
        </p:nvSpPr>
        <p:spPr bwMode="auto">
          <a:xfrm>
            <a:off x="4859338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5</a:t>
            </a:r>
          </a:p>
        </p:txBody>
      </p:sp>
      <p:sp>
        <p:nvSpPr>
          <p:cNvPr id="33861" name="Rectangle 69"/>
          <p:cNvSpPr>
            <a:spLocks noChangeArrowheads="1"/>
          </p:cNvSpPr>
          <p:nvPr/>
        </p:nvSpPr>
        <p:spPr bwMode="auto">
          <a:xfrm>
            <a:off x="5346700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62" name="Rectangle 70"/>
          <p:cNvSpPr>
            <a:spLocks noChangeArrowheads="1"/>
          </p:cNvSpPr>
          <p:nvPr/>
        </p:nvSpPr>
        <p:spPr bwMode="auto">
          <a:xfrm>
            <a:off x="5346700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4</a:t>
            </a:r>
          </a:p>
        </p:txBody>
      </p:sp>
      <p:sp>
        <p:nvSpPr>
          <p:cNvPr id="33864" name="Rectangle 72"/>
          <p:cNvSpPr>
            <a:spLocks noChangeArrowheads="1"/>
          </p:cNvSpPr>
          <p:nvPr/>
        </p:nvSpPr>
        <p:spPr bwMode="auto">
          <a:xfrm>
            <a:off x="5834063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65" name="Rectangle 73"/>
          <p:cNvSpPr>
            <a:spLocks noChangeArrowheads="1"/>
          </p:cNvSpPr>
          <p:nvPr/>
        </p:nvSpPr>
        <p:spPr bwMode="auto">
          <a:xfrm>
            <a:off x="5834063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3</a:t>
            </a:r>
          </a:p>
        </p:txBody>
      </p:sp>
      <p:sp>
        <p:nvSpPr>
          <p:cNvPr id="33867" name="Rectangle 75"/>
          <p:cNvSpPr>
            <a:spLocks noChangeArrowheads="1"/>
          </p:cNvSpPr>
          <p:nvPr/>
        </p:nvSpPr>
        <p:spPr bwMode="auto">
          <a:xfrm>
            <a:off x="6321425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68" name="Rectangle 76"/>
          <p:cNvSpPr>
            <a:spLocks noChangeArrowheads="1"/>
          </p:cNvSpPr>
          <p:nvPr/>
        </p:nvSpPr>
        <p:spPr bwMode="auto">
          <a:xfrm>
            <a:off x="6321425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2</a:t>
            </a:r>
          </a:p>
        </p:txBody>
      </p:sp>
      <p:sp>
        <p:nvSpPr>
          <p:cNvPr id="33870" name="Rectangle 78"/>
          <p:cNvSpPr>
            <a:spLocks noChangeArrowheads="1"/>
          </p:cNvSpPr>
          <p:nvPr/>
        </p:nvSpPr>
        <p:spPr bwMode="auto">
          <a:xfrm>
            <a:off x="6808788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71" name="Rectangle 79"/>
          <p:cNvSpPr>
            <a:spLocks noChangeArrowheads="1"/>
          </p:cNvSpPr>
          <p:nvPr/>
        </p:nvSpPr>
        <p:spPr bwMode="auto">
          <a:xfrm>
            <a:off x="6808788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</a:t>
            </a:r>
          </a:p>
        </p:txBody>
      </p:sp>
      <p:sp>
        <p:nvSpPr>
          <p:cNvPr id="33873" name="Rectangle 81"/>
          <p:cNvSpPr>
            <a:spLocks noChangeArrowheads="1"/>
          </p:cNvSpPr>
          <p:nvPr/>
        </p:nvSpPr>
        <p:spPr bwMode="auto">
          <a:xfrm>
            <a:off x="7296150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74" name="Rectangle 82"/>
          <p:cNvSpPr>
            <a:spLocks noChangeArrowheads="1"/>
          </p:cNvSpPr>
          <p:nvPr/>
        </p:nvSpPr>
        <p:spPr bwMode="auto">
          <a:xfrm>
            <a:off x="7296150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4859337" y="3860800"/>
            <a:ext cx="2924174" cy="333375"/>
            <a:chOff x="3061" y="2261"/>
            <a:chExt cx="1842" cy="210"/>
          </a:xfrm>
        </p:grpSpPr>
        <p:sp>
          <p:nvSpPr>
            <p:cNvPr id="33876" name="Line 84"/>
            <p:cNvSpPr>
              <a:spLocks noChangeShapeType="1"/>
            </p:cNvSpPr>
            <p:nvPr/>
          </p:nvSpPr>
          <p:spPr bwMode="auto">
            <a:xfrm>
              <a:off x="3061" y="23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77" name="Text Box 85"/>
            <p:cNvSpPr txBox="1">
              <a:spLocks noChangeArrowheads="1"/>
            </p:cNvSpPr>
            <p:nvPr/>
          </p:nvSpPr>
          <p:spPr bwMode="auto">
            <a:xfrm>
              <a:off x="3768" y="2261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4876801" y="5813425"/>
            <a:ext cx="2924176" cy="333375"/>
            <a:chOff x="3072" y="3312"/>
            <a:chExt cx="1842" cy="210"/>
          </a:xfrm>
        </p:grpSpPr>
        <p:sp>
          <p:nvSpPr>
            <p:cNvPr id="33879" name="Line 87"/>
            <p:cNvSpPr>
              <a:spLocks noChangeShapeType="1"/>
            </p:cNvSpPr>
            <p:nvPr/>
          </p:nvSpPr>
          <p:spPr bwMode="auto">
            <a:xfrm>
              <a:off x="3072" y="340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80" name="Text Box 88"/>
            <p:cNvSpPr txBox="1">
              <a:spLocks noChangeArrowheads="1"/>
            </p:cNvSpPr>
            <p:nvPr/>
          </p:nvSpPr>
          <p:spPr bwMode="auto">
            <a:xfrm>
              <a:off x="3779" y="3312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4" name="Group 89"/>
          <p:cNvGrpSpPr>
            <a:grpSpLocks/>
          </p:cNvGrpSpPr>
          <p:nvPr/>
        </p:nvGrpSpPr>
        <p:grpSpPr bwMode="auto">
          <a:xfrm>
            <a:off x="1981200" y="5813425"/>
            <a:ext cx="2924176" cy="333375"/>
            <a:chOff x="1248" y="3312"/>
            <a:chExt cx="1842" cy="210"/>
          </a:xfrm>
        </p:grpSpPr>
        <p:sp>
          <p:nvSpPr>
            <p:cNvPr id="33882" name="Line 90"/>
            <p:cNvSpPr>
              <a:spLocks noChangeShapeType="1"/>
            </p:cNvSpPr>
            <p:nvPr/>
          </p:nvSpPr>
          <p:spPr bwMode="auto">
            <a:xfrm>
              <a:off x="1248" y="340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83" name="Text Box 91"/>
            <p:cNvSpPr txBox="1">
              <a:spLocks noChangeArrowheads="1"/>
            </p:cNvSpPr>
            <p:nvPr/>
          </p:nvSpPr>
          <p:spPr bwMode="auto">
            <a:xfrm>
              <a:off x="1955" y="3312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5" name="Group 92"/>
          <p:cNvGrpSpPr>
            <a:grpSpLocks/>
          </p:cNvGrpSpPr>
          <p:nvPr/>
        </p:nvGrpSpPr>
        <p:grpSpPr bwMode="auto">
          <a:xfrm>
            <a:off x="960438" y="3852862"/>
            <a:ext cx="3916363" cy="333375"/>
            <a:chOff x="605" y="2256"/>
            <a:chExt cx="2467" cy="210"/>
          </a:xfrm>
        </p:grpSpPr>
        <p:sp>
          <p:nvSpPr>
            <p:cNvPr id="33885" name="Line 93"/>
            <p:cNvSpPr>
              <a:spLocks noChangeShapeType="1"/>
            </p:cNvSpPr>
            <p:nvPr/>
          </p:nvSpPr>
          <p:spPr bwMode="auto">
            <a:xfrm>
              <a:off x="605" y="23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86" name="Text Box 94"/>
            <p:cNvSpPr txBox="1">
              <a:spLocks noChangeArrowheads="1"/>
            </p:cNvSpPr>
            <p:nvPr/>
          </p:nvSpPr>
          <p:spPr bwMode="auto">
            <a:xfrm>
              <a:off x="1553" y="2256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VPN</a:t>
              </a:r>
            </a:p>
          </p:txBody>
        </p:sp>
      </p:grpSp>
      <p:sp>
        <p:nvSpPr>
          <p:cNvPr id="33887" name="Text Box 95"/>
          <p:cNvSpPr txBox="1">
            <a:spLocks noChangeArrowheads="1"/>
          </p:cNvSpPr>
          <p:nvPr/>
        </p:nvSpPr>
        <p:spPr bwMode="auto">
          <a:xfrm>
            <a:off x="1657352" y="4289425"/>
            <a:ext cx="2174440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Page Number</a:t>
            </a:r>
          </a:p>
        </p:txBody>
      </p:sp>
      <p:sp>
        <p:nvSpPr>
          <p:cNvPr id="33888" name="Text Box 96"/>
          <p:cNvSpPr txBox="1">
            <a:spLocks noChangeArrowheads="1"/>
          </p:cNvSpPr>
          <p:nvPr/>
        </p:nvSpPr>
        <p:spPr bwMode="auto">
          <a:xfrm>
            <a:off x="5291668" y="4278312"/>
            <a:ext cx="1976630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Page Offset</a:t>
            </a:r>
          </a:p>
        </p:txBody>
      </p:sp>
      <p:sp>
        <p:nvSpPr>
          <p:cNvPr id="33889" name="Text Box 97"/>
          <p:cNvSpPr txBox="1">
            <a:spLocks noChangeArrowheads="1"/>
          </p:cNvSpPr>
          <p:nvPr/>
        </p:nvSpPr>
        <p:spPr bwMode="auto">
          <a:xfrm>
            <a:off x="2203983" y="6162675"/>
            <a:ext cx="2289280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Page Number</a:t>
            </a:r>
          </a:p>
        </p:txBody>
      </p:sp>
      <p:sp>
        <p:nvSpPr>
          <p:cNvPr id="33890" name="Text Box 98"/>
          <p:cNvSpPr txBox="1">
            <a:spLocks noChangeArrowheads="1"/>
          </p:cNvSpPr>
          <p:nvPr/>
        </p:nvSpPr>
        <p:spPr bwMode="auto">
          <a:xfrm>
            <a:off x="5232399" y="6194425"/>
            <a:ext cx="2091469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Page Offset</a:t>
            </a:r>
          </a:p>
        </p:txBody>
      </p:sp>
    </p:spTree>
    <p:extLst>
      <p:ext uri="{BB962C8B-B14F-4D97-AF65-F5344CB8AC3E}">
        <p14:creationId xmlns:p14="http://schemas.microsoft.com/office/powerpoint/2010/main" val="14905035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669448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1. Simple Memory System TLB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3" y="1179512"/>
            <a:ext cx="8307387" cy="5221288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16 entries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4-way associative</a:t>
            </a:r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 lvl="2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1125538" y="3275012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1125538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13</a:t>
            </a: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1612900" y="3275012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1612900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12</a:t>
            </a: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2100263" y="3275012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2100263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11</a:t>
            </a:r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2587625" y="3275012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2587625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10</a:t>
            </a:r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3074988" y="3275012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3074988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9</a:t>
            </a:r>
          </a:p>
        </p:txBody>
      </p:sp>
      <p:sp>
        <p:nvSpPr>
          <p:cNvPr id="35861" name="Rectangle 21"/>
          <p:cNvSpPr>
            <a:spLocks noChangeArrowheads="1"/>
          </p:cNvSpPr>
          <p:nvPr/>
        </p:nvSpPr>
        <p:spPr bwMode="auto">
          <a:xfrm>
            <a:off x="3562350" y="3275012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2" name="Rectangle 22"/>
          <p:cNvSpPr>
            <a:spLocks noChangeArrowheads="1"/>
          </p:cNvSpPr>
          <p:nvPr/>
        </p:nvSpPr>
        <p:spPr bwMode="auto">
          <a:xfrm>
            <a:off x="3562350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8</a:t>
            </a:r>
          </a:p>
        </p:txBody>
      </p:sp>
      <p:sp>
        <p:nvSpPr>
          <p:cNvPr id="35864" name="Rectangle 24"/>
          <p:cNvSpPr>
            <a:spLocks noChangeArrowheads="1"/>
          </p:cNvSpPr>
          <p:nvPr/>
        </p:nvSpPr>
        <p:spPr bwMode="auto">
          <a:xfrm>
            <a:off x="4049713" y="327501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5" name="Rectangle 25"/>
          <p:cNvSpPr>
            <a:spLocks noChangeArrowheads="1"/>
          </p:cNvSpPr>
          <p:nvPr/>
        </p:nvSpPr>
        <p:spPr bwMode="auto">
          <a:xfrm>
            <a:off x="4049713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7</a:t>
            </a:r>
          </a:p>
        </p:txBody>
      </p:sp>
      <p:sp>
        <p:nvSpPr>
          <p:cNvPr id="35867" name="Rectangle 27"/>
          <p:cNvSpPr>
            <a:spLocks noChangeArrowheads="1"/>
          </p:cNvSpPr>
          <p:nvPr/>
        </p:nvSpPr>
        <p:spPr bwMode="auto">
          <a:xfrm>
            <a:off x="4537075" y="327501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8" name="Rectangle 28"/>
          <p:cNvSpPr>
            <a:spLocks noChangeArrowheads="1"/>
          </p:cNvSpPr>
          <p:nvPr/>
        </p:nvSpPr>
        <p:spPr bwMode="auto">
          <a:xfrm>
            <a:off x="4537075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6</a:t>
            </a:r>
          </a:p>
        </p:txBody>
      </p:sp>
      <p:sp>
        <p:nvSpPr>
          <p:cNvPr id="35870" name="Rectangle 30"/>
          <p:cNvSpPr>
            <a:spLocks noChangeArrowheads="1"/>
          </p:cNvSpPr>
          <p:nvPr/>
        </p:nvSpPr>
        <p:spPr bwMode="auto">
          <a:xfrm>
            <a:off x="5024438" y="327501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Rectangle 31"/>
          <p:cNvSpPr>
            <a:spLocks noChangeArrowheads="1"/>
          </p:cNvSpPr>
          <p:nvPr/>
        </p:nvSpPr>
        <p:spPr bwMode="auto">
          <a:xfrm>
            <a:off x="5024438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5</a:t>
            </a:r>
          </a:p>
        </p:txBody>
      </p:sp>
      <p:sp>
        <p:nvSpPr>
          <p:cNvPr id="35873" name="Rectangle 33"/>
          <p:cNvSpPr>
            <a:spLocks noChangeArrowheads="1"/>
          </p:cNvSpPr>
          <p:nvPr/>
        </p:nvSpPr>
        <p:spPr bwMode="auto">
          <a:xfrm>
            <a:off x="5511800" y="327501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Rectangle 34"/>
          <p:cNvSpPr>
            <a:spLocks noChangeArrowheads="1"/>
          </p:cNvSpPr>
          <p:nvPr/>
        </p:nvSpPr>
        <p:spPr bwMode="auto">
          <a:xfrm>
            <a:off x="5511800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4</a:t>
            </a:r>
          </a:p>
        </p:txBody>
      </p:sp>
      <p:sp>
        <p:nvSpPr>
          <p:cNvPr id="35876" name="Rectangle 36"/>
          <p:cNvSpPr>
            <a:spLocks noChangeArrowheads="1"/>
          </p:cNvSpPr>
          <p:nvPr/>
        </p:nvSpPr>
        <p:spPr bwMode="auto">
          <a:xfrm>
            <a:off x="5999163" y="327501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7" name="Rectangle 37"/>
          <p:cNvSpPr>
            <a:spLocks noChangeArrowheads="1"/>
          </p:cNvSpPr>
          <p:nvPr/>
        </p:nvSpPr>
        <p:spPr bwMode="auto">
          <a:xfrm>
            <a:off x="5999163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3</a:t>
            </a:r>
          </a:p>
        </p:txBody>
      </p:sp>
      <p:sp>
        <p:nvSpPr>
          <p:cNvPr id="35879" name="Rectangle 39"/>
          <p:cNvSpPr>
            <a:spLocks noChangeArrowheads="1"/>
          </p:cNvSpPr>
          <p:nvPr/>
        </p:nvSpPr>
        <p:spPr bwMode="auto">
          <a:xfrm>
            <a:off x="6486525" y="327501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0" name="Rectangle 40"/>
          <p:cNvSpPr>
            <a:spLocks noChangeArrowheads="1"/>
          </p:cNvSpPr>
          <p:nvPr/>
        </p:nvSpPr>
        <p:spPr bwMode="auto">
          <a:xfrm>
            <a:off x="6486525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2</a:t>
            </a:r>
          </a:p>
        </p:txBody>
      </p:sp>
      <p:sp>
        <p:nvSpPr>
          <p:cNvPr id="35882" name="Rectangle 42"/>
          <p:cNvSpPr>
            <a:spLocks noChangeArrowheads="1"/>
          </p:cNvSpPr>
          <p:nvPr/>
        </p:nvSpPr>
        <p:spPr bwMode="auto">
          <a:xfrm>
            <a:off x="6973888" y="327501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3" name="Rectangle 43"/>
          <p:cNvSpPr>
            <a:spLocks noChangeArrowheads="1"/>
          </p:cNvSpPr>
          <p:nvPr/>
        </p:nvSpPr>
        <p:spPr bwMode="auto">
          <a:xfrm>
            <a:off x="6973888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</a:t>
            </a:r>
          </a:p>
        </p:txBody>
      </p:sp>
      <p:sp>
        <p:nvSpPr>
          <p:cNvPr id="35885" name="Rectangle 45"/>
          <p:cNvSpPr>
            <a:spLocks noChangeArrowheads="1"/>
          </p:cNvSpPr>
          <p:nvPr/>
        </p:nvSpPr>
        <p:spPr bwMode="auto">
          <a:xfrm>
            <a:off x="7461250" y="327501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6" name="Rectangle 46"/>
          <p:cNvSpPr>
            <a:spLocks noChangeArrowheads="1"/>
          </p:cNvSpPr>
          <p:nvPr/>
        </p:nvSpPr>
        <p:spPr bwMode="auto">
          <a:xfrm>
            <a:off x="7461250" y="297021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5024437" y="3731683"/>
            <a:ext cx="2924175" cy="333375"/>
            <a:chOff x="3061" y="2140"/>
            <a:chExt cx="1842" cy="210"/>
          </a:xfrm>
        </p:grpSpPr>
        <p:sp>
          <p:nvSpPr>
            <p:cNvPr id="35888" name="Line 48"/>
            <p:cNvSpPr>
              <a:spLocks noChangeShapeType="1"/>
            </p:cNvSpPr>
            <p:nvPr/>
          </p:nvSpPr>
          <p:spPr bwMode="auto">
            <a:xfrm>
              <a:off x="3061" y="2231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89" name="Text Box 49"/>
            <p:cNvSpPr txBox="1">
              <a:spLocks noChangeArrowheads="1"/>
            </p:cNvSpPr>
            <p:nvPr/>
          </p:nvSpPr>
          <p:spPr bwMode="auto">
            <a:xfrm>
              <a:off x="3768" y="2140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1117071" y="3732212"/>
            <a:ext cx="3916362" cy="333375"/>
            <a:chOff x="605" y="2135"/>
            <a:chExt cx="2467" cy="210"/>
          </a:xfrm>
        </p:grpSpPr>
        <p:sp>
          <p:nvSpPr>
            <p:cNvPr id="35891" name="Line 51"/>
            <p:cNvSpPr>
              <a:spLocks noChangeShapeType="1"/>
            </p:cNvSpPr>
            <p:nvPr/>
          </p:nvSpPr>
          <p:spPr bwMode="auto">
            <a:xfrm>
              <a:off x="605" y="2226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92" name="Text Box 52"/>
            <p:cNvSpPr txBox="1">
              <a:spLocks noChangeArrowheads="1"/>
            </p:cNvSpPr>
            <p:nvPr/>
          </p:nvSpPr>
          <p:spPr bwMode="auto">
            <a:xfrm>
              <a:off x="1553" y="2135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VPN</a:t>
              </a:r>
            </a:p>
          </p:txBody>
        </p:sp>
      </p:grp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4046538" y="2708803"/>
            <a:ext cx="992187" cy="306388"/>
            <a:chOff x="2445" y="1501"/>
            <a:chExt cx="625" cy="193"/>
          </a:xfrm>
        </p:grpSpPr>
        <p:sp>
          <p:nvSpPr>
            <p:cNvPr id="35894" name="Line 54"/>
            <p:cNvSpPr>
              <a:spLocks noChangeShapeType="1"/>
            </p:cNvSpPr>
            <p:nvPr/>
          </p:nvSpPr>
          <p:spPr bwMode="auto">
            <a:xfrm>
              <a:off x="2445" y="1579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95" name="Text Box 55"/>
            <p:cNvSpPr txBox="1">
              <a:spLocks noChangeArrowheads="1"/>
            </p:cNvSpPr>
            <p:nvPr/>
          </p:nvSpPr>
          <p:spPr bwMode="auto">
            <a:xfrm>
              <a:off x="2586" y="1501"/>
              <a:ext cx="340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TLBI</a:t>
              </a:r>
            </a:p>
          </p:txBody>
        </p:sp>
      </p:grp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1125538" y="2705099"/>
            <a:ext cx="2925762" cy="306388"/>
            <a:chOff x="605" y="1488"/>
            <a:chExt cx="1843" cy="193"/>
          </a:xfrm>
        </p:grpSpPr>
        <p:sp>
          <p:nvSpPr>
            <p:cNvPr id="35897" name="Line 57"/>
            <p:cNvSpPr>
              <a:spLocks noChangeShapeType="1"/>
            </p:cNvSpPr>
            <p:nvPr/>
          </p:nvSpPr>
          <p:spPr bwMode="auto">
            <a:xfrm>
              <a:off x="605" y="1566"/>
              <a:ext cx="184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98" name="Text Box 58"/>
            <p:cNvSpPr txBox="1">
              <a:spLocks noChangeArrowheads="1"/>
            </p:cNvSpPr>
            <p:nvPr/>
          </p:nvSpPr>
          <p:spPr bwMode="auto">
            <a:xfrm>
              <a:off x="1387" y="1488"/>
              <a:ext cx="367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TLBT</a:t>
              </a:r>
            </a:p>
          </p:txBody>
        </p:sp>
      </p:grpSp>
      <p:sp>
        <p:nvSpPr>
          <p:cNvPr id="35900" name="Rectangle 60"/>
          <p:cNvSpPr>
            <a:spLocks noChangeArrowheads="1"/>
          </p:cNvSpPr>
          <p:nvPr/>
        </p:nvSpPr>
        <p:spPr bwMode="auto">
          <a:xfrm>
            <a:off x="8062912" y="6024563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01" name="Rectangle 61"/>
          <p:cNvSpPr>
            <a:spLocks noChangeArrowheads="1"/>
          </p:cNvSpPr>
          <p:nvPr/>
        </p:nvSpPr>
        <p:spPr bwMode="auto">
          <a:xfrm>
            <a:off x="7432675" y="6024563"/>
            <a:ext cx="630238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02" name="Rectangle 62"/>
          <p:cNvSpPr>
            <a:spLocks noChangeArrowheads="1"/>
          </p:cNvSpPr>
          <p:nvPr/>
        </p:nvSpPr>
        <p:spPr bwMode="auto">
          <a:xfrm>
            <a:off x="6807200" y="6024563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02</a:t>
            </a:r>
          </a:p>
        </p:txBody>
      </p:sp>
      <p:sp>
        <p:nvSpPr>
          <p:cNvPr id="35903" name="Rectangle 63"/>
          <p:cNvSpPr>
            <a:spLocks noChangeArrowheads="1"/>
          </p:cNvSpPr>
          <p:nvPr/>
        </p:nvSpPr>
        <p:spPr bwMode="auto">
          <a:xfrm>
            <a:off x="6178550" y="6024563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5904" name="Rectangle 64"/>
          <p:cNvSpPr>
            <a:spLocks noChangeArrowheads="1"/>
          </p:cNvSpPr>
          <p:nvPr/>
        </p:nvSpPr>
        <p:spPr bwMode="auto">
          <a:xfrm>
            <a:off x="5553075" y="6024563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34</a:t>
            </a:r>
          </a:p>
        </p:txBody>
      </p:sp>
      <p:sp>
        <p:nvSpPr>
          <p:cNvPr id="35905" name="Rectangle 65"/>
          <p:cNvSpPr>
            <a:spLocks noChangeArrowheads="1"/>
          </p:cNvSpPr>
          <p:nvPr/>
        </p:nvSpPr>
        <p:spPr bwMode="auto">
          <a:xfrm>
            <a:off x="4926012" y="6024563"/>
            <a:ext cx="627063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0A</a:t>
            </a:r>
          </a:p>
        </p:txBody>
      </p:sp>
      <p:sp>
        <p:nvSpPr>
          <p:cNvPr id="35906" name="Rectangle 66"/>
          <p:cNvSpPr>
            <a:spLocks noChangeArrowheads="1"/>
          </p:cNvSpPr>
          <p:nvPr/>
        </p:nvSpPr>
        <p:spPr bwMode="auto">
          <a:xfrm>
            <a:off x="4297362" y="6024563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5907" name="Rectangle 67"/>
          <p:cNvSpPr>
            <a:spLocks noChangeArrowheads="1"/>
          </p:cNvSpPr>
          <p:nvPr/>
        </p:nvSpPr>
        <p:spPr bwMode="auto">
          <a:xfrm>
            <a:off x="3670300" y="6024563"/>
            <a:ext cx="627063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0D</a:t>
            </a:r>
          </a:p>
        </p:txBody>
      </p:sp>
      <p:sp>
        <p:nvSpPr>
          <p:cNvPr id="35908" name="Rectangle 68"/>
          <p:cNvSpPr>
            <a:spLocks noChangeArrowheads="1"/>
          </p:cNvSpPr>
          <p:nvPr/>
        </p:nvSpPr>
        <p:spPr bwMode="auto">
          <a:xfrm>
            <a:off x="3044825" y="6024563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03</a:t>
            </a:r>
          </a:p>
        </p:txBody>
      </p:sp>
      <p:sp>
        <p:nvSpPr>
          <p:cNvPr id="35909" name="Rectangle 69"/>
          <p:cNvSpPr>
            <a:spLocks noChangeArrowheads="1"/>
          </p:cNvSpPr>
          <p:nvPr/>
        </p:nvSpPr>
        <p:spPr bwMode="auto">
          <a:xfrm>
            <a:off x="2416175" y="6024563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10" name="Rectangle 70"/>
          <p:cNvSpPr>
            <a:spLocks noChangeArrowheads="1"/>
          </p:cNvSpPr>
          <p:nvPr/>
        </p:nvSpPr>
        <p:spPr bwMode="auto">
          <a:xfrm>
            <a:off x="1790700" y="6024563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11" name="Rectangle 71"/>
          <p:cNvSpPr>
            <a:spLocks noChangeArrowheads="1"/>
          </p:cNvSpPr>
          <p:nvPr/>
        </p:nvSpPr>
        <p:spPr bwMode="auto">
          <a:xfrm>
            <a:off x="1160462" y="6024563"/>
            <a:ext cx="630238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07</a:t>
            </a:r>
          </a:p>
        </p:txBody>
      </p:sp>
      <p:sp>
        <p:nvSpPr>
          <p:cNvPr id="35912" name="Rectangle 72"/>
          <p:cNvSpPr>
            <a:spLocks noChangeArrowheads="1"/>
          </p:cNvSpPr>
          <p:nvPr/>
        </p:nvSpPr>
        <p:spPr bwMode="auto">
          <a:xfrm>
            <a:off x="534987" y="6024563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5913" name="Rectangle 73"/>
          <p:cNvSpPr>
            <a:spLocks noChangeArrowheads="1"/>
          </p:cNvSpPr>
          <p:nvPr/>
        </p:nvSpPr>
        <p:spPr bwMode="auto">
          <a:xfrm>
            <a:off x="8062912" y="5699125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14" name="Rectangle 74"/>
          <p:cNvSpPr>
            <a:spLocks noChangeArrowheads="1"/>
          </p:cNvSpPr>
          <p:nvPr/>
        </p:nvSpPr>
        <p:spPr bwMode="auto">
          <a:xfrm>
            <a:off x="7432675" y="5699125"/>
            <a:ext cx="630238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15" name="Rectangle 75"/>
          <p:cNvSpPr>
            <a:spLocks noChangeArrowheads="1"/>
          </p:cNvSpPr>
          <p:nvPr/>
        </p:nvSpPr>
        <p:spPr bwMode="auto">
          <a:xfrm>
            <a:off x="6807200" y="5699125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03</a:t>
            </a:r>
          </a:p>
        </p:txBody>
      </p:sp>
      <p:sp>
        <p:nvSpPr>
          <p:cNvPr id="35916" name="Rectangle 76"/>
          <p:cNvSpPr>
            <a:spLocks noChangeArrowheads="1"/>
          </p:cNvSpPr>
          <p:nvPr/>
        </p:nvSpPr>
        <p:spPr bwMode="auto">
          <a:xfrm>
            <a:off x="6178550" y="5699125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17" name="Rectangle 77"/>
          <p:cNvSpPr>
            <a:spLocks noChangeArrowheads="1"/>
          </p:cNvSpPr>
          <p:nvPr/>
        </p:nvSpPr>
        <p:spPr bwMode="auto">
          <a:xfrm>
            <a:off x="5553075" y="5699125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18" name="Rectangle 78"/>
          <p:cNvSpPr>
            <a:spLocks noChangeArrowheads="1"/>
          </p:cNvSpPr>
          <p:nvPr/>
        </p:nvSpPr>
        <p:spPr bwMode="auto">
          <a:xfrm>
            <a:off x="4926012" y="5699125"/>
            <a:ext cx="627063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06</a:t>
            </a:r>
          </a:p>
        </p:txBody>
      </p:sp>
      <p:sp>
        <p:nvSpPr>
          <p:cNvPr id="35919" name="Rectangle 79"/>
          <p:cNvSpPr>
            <a:spLocks noChangeArrowheads="1"/>
          </p:cNvSpPr>
          <p:nvPr/>
        </p:nvSpPr>
        <p:spPr bwMode="auto">
          <a:xfrm>
            <a:off x="4297362" y="5699125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20" name="Rectangle 80"/>
          <p:cNvSpPr>
            <a:spLocks noChangeArrowheads="1"/>
          </p:cNvSpPr>
          <p:nvPr/>
        </p:nvSpPr>
        <p:spPr bwMode="auto">
          <a:xfrm>
            <a:off x="3670300" y="5699125"/>
            <a:ext cx="627063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21" name="Rectangle 81"/>
          <p:cNvSpPr>
            <a:spLocks noChangeArrowheads="1"/>
          </p:cNvSpPr>
          <p:nvPr/>
        </p:nvSpPr>
        <p:spPr bwMode="auto">
          <a:xfrm>
            <a:off x="3044825" y="5699125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08</a:t>
            </a:r>
          </a:p>
        </p:txBody>
      </p:sp>
      <p:sp>
        <p:nvSpPr>
          <p:cNvPr id="35922" name="Rectangle 82"/>
          <p:cNvSpPr>
            <a:spLocks noChangeArrowheads="1"/>
          </p:cNvSpPr>
          <p:nvPr/>
        </p:nvSpPr>
        <p:spPr bwMode="auto">
          <a:xfrm>
            <a:off x="2416175" y="5699125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23" name="Rectangle 83"/>
          <p:cNvSpPr>
            <a:spLocks noChangeArrowheads="1"/>
          </p:cNvSpPr>
          <p:nvPr/>
        </p:nvSpPr>
        <p:spPr bwMode="auto">
          <a:xfrm>
            <a:off x="1790700" y="5699125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24" name="Rectangle 84"/>
          <p:cNvSpPr>
            <a:spLocks noChangeArrowheads="1"/>
          </p:cNvSpPr>
          <p:nvPr/>
        </p:nvSpPr>
        <p:spPr bwMode="auto">
          <a:xfrm>
            <a:off x="1160462" y="5699125"/>
            <a:ext cx="630238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02</a:t>
            </a:r>
          </a:p>
        </p:txBody>
      </p:sp>
      <p:sp>
        <p:nvSpPr>
          <p:cNvPr id="35925" name="Rectangle 85"/>
          <p:cNvSpPr>
            <a:spLocks noChangeArrowheads="1"/>
          </p:cNvSpPr>
          <p:nvPr/>
        </p:nvSpPr>
        <p:spPr bwMode="auto">
          <a:xfrm>
            <a:off x="534987" y="5699125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5926" name="Rectangle 86"/>
          <p:cNvSpPr>
            <a:spLocks noChangeArrowheads="1"/>
          </p:cNvSpPr>
          <p:nvPr/>
        </p:nvSpPr>
        <p:spPr bwMode="auto">
          <a:xfrm>
            <a:off x="8062912" y="5375275"/>
            <a:ext cx="625475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27" name="Rectangle 87"/>
          <p:cNvSpPr>
            <a:spLocks noChangeArrowheads="1"/>
          </p:cNvSpPr>
          <p:nvPr/>
        </p:nvSpPr>
        <p:spPr bwMode="auto">
          <a:xfrm>
            <a:off x="7432675" y="5375275"/>
            <a:ext cx="630238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28" name="Rectangle 88"/>
          <p:cNvSpPr>
            <a:spLocks noChangeArrowheads="1"/>
          </p:cNvSpPr>
          <p:nvPr/>
        </p:nvSpPr>
        <p:spPr bwMode="auto">
          <a:xfrm>
            <a:off x="6807200" y="5375275"/>
            <a:ext cx="625475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0A</a:t>
            </a:r>
          </a:p>
        </p:txBody>
      </p:sp>
      <p:sp>
        <p:nvSpPr>
          <p:cNvPr id="35929" name="Rectangle 89"/>
          <p:cNvSpPr>
            <a:spLocks noChangeArrowheads="1"/>
          </p:cNvSpPr>
          <p:nvPr/>
        </p:nvSpPr>
        <p:spPr bwMode="auto">
          <a:xfrm>
            <a:off x="6178550" y="5375275"/>
            <a:ext cx="628650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30" name="Rectangle 90"/>
          <p:cNvSpPr>
            <a:spLocks noChangeArrowheads="1"/>
          </p:cNvSpPr>
          <p:nvPr/>
        </p:nvSpPr>
        <p:spPr bwMode="auto">
          <a:xfrm>
            <a:off x="5553075" y="5375275"/>
            <a:ext cx="625475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31" name="Rectangle 91"/>
          <p:cNvSpPr>
            <a:spLocks noChangeArrowheads="1"/>
          </p:cNvSpPr>
          <p:nvPr/>
        </p:nvSpPr>
        <p:spPr bwMode="auto">
          <a:xfrm>
            <a:off x="4926012" y="5375275"/>
            <a:ext cx="627063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04</a:t>
            </a:r>
          </a:p>
        </p:txBody>
      </p:sp>
      <p:sp>
        <p:nvSpPr>
          <p:cNvPr id="35932" name="Rectangle 92"/>
          <p:cNvSpPr>
            <a:spLocks noChangeArrowheads="1"/>
          </p:cNvSpPr>
          <p:nvPr/>
        </p:nvSpPr>
        <p:spPr bwMode="auto">
          <a:xfrm>
            <a:off x="4297362" y="5375275"/>
            <a:ext cx="628650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33" name="Rectangle 93"/>
          <p:cNvSpPr>
            <a:spLocks noChangeArrowheads="1"/>
          </p:cNvSpPr>
          <p:nvPr/>
        </p:nvSpPr>
        <p:spPr bwMode="auto">
          <a:xfrm>
            <a:off x="3670300" y="5375275"/>
            <a:ext cx="627063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34" name="Rectangle 94"/>
          <p:cNvSpPr>
            <a:spLocks noChangeArrowheads="1"/>
          </p:cNvSpPr>
          <p:nvPr/>
        </p:nvSpPr>
        <p:spPr bwMode="auto">
          <a:xfrm>
            <a:off x="3044825" y="5375275"/>
            <a:ext cx="625475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02</a:t>
            </a:r>
          </a:p>
        </p:txBody>
      </p:sp>
      <p:sp>
        <p:nvSpPr>
          <p:cNvPr id="35935" name="Rectangle 95"/>
          <p:cNvSpPr>
            <a:spLocks noChangeArrowheads="1"/>
          </p:cNvSpPr>
          <p:nvPr/>
        </p:nvSpPr>
        <p:spPr bwMode="auto">
          <a:xfrm>
            <a:off x="2416175" y="5375275"/>
            <a:ext cx="628650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5936" name="Rectangle 96"/>
          <p:cNvSpPr>
            <a:spLocks noChangeArrowheads="1"/>
          </p:cNvSpPr>
          <p:nvPr/>
        </p:nvSpPr>
        <p:spPr bwMode="auto">
          <a:xfrm>
            <a:off x="1790700" y="5375275"/>
            <a:ext cx="625475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2D</a:t>
            </a:r>
          </a:p>
        </p:txBody>
      </p:sp>
      <p:sp>
        <p:nvSpPr>
          <p:cNvPr id="35937" name="Rectangle 97"/>
          <p:cNvSpPr>
            <a:spLocks noChangeArrowheads="1"/>
          </p:cNvSpPr>
          <p:nvPr/>
        </p:nvSpPr>
        <p:spPr bwMode="auto">
          <a:xfrm>
            <a:off x="1160462" y="5375275"/>
            <a:ext cx="630238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03</a:t>
            </a:r>
          </a:p>
        </p:txBody>
      </p:sp>
      <p:sp>
        <p:nvSpPr>
          <p:cNvPr id="35938" name="Rectangle 98"/>
          <p:cNvSpPr>
            <a:spLocks noChangeArrowheads="1"/>
          </p:cNvSpPr>
          <p:nvPr/>
        </p:nvSpPr>
        <p:spPr bwMode="auto">
          <a:xfrm>
            <a:off x="534987" y="5375275"/>
            <a:ext cx="625475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5939" name="Rectangle 99"/>
          <p:cNvSpPr>
            <a:spLocks noChangeArrowheads="1"/>
          </p:cNvSpPr>
          <p:nvPr/>
        </p:nvSpPr>
        <p:spPr bwMode="auto">
          <a:xfrm>
            <a:off x="8062912" y="5049838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5940" name="Rectangle 100"/>
          <p:cNvSpPr>
            <a:spLocks noChangeArrowheads="1"/>
          </p:cNvSpPr>
          <p:nvPr/>
        </p:nvSpPr>
        <p:spPr bwMode="auto">
          <a:xfrm>
            <a:off x="7432675" y="5049838"/>
            <a:ext cx="630238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02</a:t>
            </a:r>
          </a:p>
        </p:txBody>
      </p:sp>
      <p:sp>
        <p:nvSpPr>
          <p:cNvPr id="35941" name="Rectangle 101"/>
          <p:cNvSpPr>
            <a:spLocks noChangeArrowheads="1"/>
          </p:cNvSpPr>
          <p:nvPr/>
        </p:nvSpPr>
        <p:spPr bwMode="auto">
          <a:xfrm>
            <a:off x="6807200" y="5049838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07</a:t>
            </a:r>
          </a:p>
        </p:txBody>
      </p:sp>
      <p:sp>
        <p:nvSpPr>
          <p:cNvPr id="35942" name="Rectangle 102"/>
          <p:cNvSpPr>
            <a:spLocks noChangeArrowheads="1"/>
          </p:cNvSpPr>
          <p:nvPr/>
        </p:nvSpPr>
        <p:spPr bwMode="auto">
          <a:xfrm>
            <a:off x="6178550" y="5049838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43" name="Rectangle 103"/>
          <p:cNvSpPr>
            <a:spLocks noChangeArrowheads="1"/>
          </p:cNvSpPr>
          <p:nvPr/>
        </p:nvSpPr>
        <p:spPr bwMode="auto">
          <a:xfrm>
            <a:off x="5553075" y="5049838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44" name="Rectangle 104"/>
          <p:cNvSpPr>
            <a:spLocks noChangeArrowheads="1"/>
          </p:cNvSpPr>
          <p:nvPr/>
        </p:nvSpPr>
        <p:spPr bwMode="auto">
          <a:xfrm>
            <a:off x="4926012" y="5049838"/>
            <a:ext cx="627063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00</a:t>
            </a:r>
          </a:p>
        </p:txBody>
      </p:sp>
      <p:sp>
        <p:nvSpPr>
          <p:cNvPr id="35945" name="Rectangle 105"/>
          <p:cNvSpPr>
            <a:spLocks noChangeArrowheads="1"/>
          </p:cNvSpPr>
          <p:nvPr/>
        </p:nvSpPr>
        <p:spPr bwMode="auto">
          <a:xfrm>
            <a:off x="4297362" y="5049838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5946" name="Rectangle 106"/>
          <p:cNvSpPr>
            <a:spLocks noChangeArrowheads="1"/>
          </p:cNvSpPr>
          <p:nvPr/>
        </p:nvSpPr>
        <p:spPr bwMode="auto">
          <a:xfrm>
            <a:off x="3670300" y="5049838"/>
            <a:ext cx="627063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0D</a:t>
            </a:r>
          </a:p>
        </p:txBody>
      </p:sp>
      <p:sp>
        <p:nvSpPr>
          <p:cNvPr id="35947" name="Rectangle 107"/>
          <p:cNvSpPr>
            <a:spLocks noChangeArrowheads="1"/>
          </p:cNvSpPr>
          <p:nvPr/>
        </p:nvSpPr>
        <p:spPr bwMode="auto">
          <a:xfrm>
            <a:off x="3044825" y="5049838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09</a:t>
            </a:r>
          </a:p>
        </p:txBody>
      </p:sp>
      <p:sp>
        <p:nvSpPr>
          <p:cNvPr id="35948" name="Rectangle 108"/>
          <p:cNvSpPr>
            <a:spLocks noChangeArrowheads="1"/>
          </p:cNvSpPr>
          <p:nvPr/>
        </p:nvSpPr>
        <p:spPr bwMode="auto">
          <a:xfrm>
            <a:off x="2416175" y="5049838"/>
            <a:ext cx="62865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5949" name="Rectangle 109"/>
          <p:cNvSpPr>
            <a:spLocks noChangeArrowheads="1"/>
          </p:cNvSpPr>
          <p:nvPr/>
        </p:nvSpPr>
        <p:spPr bwMode="auto">
          <a:xfrm>
            <a:off x="1790700" y="5049838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5950" name="Rectangle 110"/>
          <p:cNvSpPr>
            <a:spLocks noChangeArrowheads="1"/>
          </p:cNvSpPr>
          <p:nvPr/>
        </p:nvSpPr>
        <p:spPr bwMode="auto">
          <a:xfrm>
            <a:off x="1160462" y="5049838"/>
            <a:ext cx="630238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03</a:t>
            </a:r>
          </a:p>
        </p:txBody>
      </p:sp>
      <p:sp>
        <p:nvSpPr>
          <p:cNvPr id="35951" name="Rectangle 111"/>
          <p:cNvSpPr>
            <a:spLocks noChangeArrowheads="1"/>
          </p:cNvSpPr>
          <p:nvPr/>
        </p:nvSpPr>
        <p:spPr bwMode="auto">
          <a:xfrm>
            <a:off x="534987" y="5049838"/>
            <a:ext cx="625475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5952" name="Rectangle 112"/>
          <p:cNvSpPr>
            <a:spLocks noChangeArrowheads="1"/>
          </p:cNvSpPr>
          <p:nvPr/>
        </p:nvSpPr>
        <p:spPr bwMode="auto">
          <a:xfrm>
            <a:off x="8062912" y="4724400"/>
            <a:ext cx="625475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5953" name="Rectangle 113"/>
          <p:cNvSpPr>
            <a:spLocks noChangeArrowheads="1"/>
          </p:cNvSpPr>
          <p:nvPr/>
        </p:nvSpPr>
        <p:spPr bwMode="auto">
          <a:xfrm>
            <a:off x="7432675" y="4724400"/>
            <a:ext cx="630238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</a:p>
        </p:txBody>
      </p:sp>
      <p:sp>
        <p:nvSpPr>
          <p:cNvPr id="35954" name="Rectangle 114"/>
          <p:cNvSpPr>
            <a:spLocks noChangeArrowheads="1"/>
          </p:cNvSpPr>
          <p:nvPr/>
        </p:nvSpPr>
        <p:spPr bwMode="auto">
          <a:xfrm>
            <a:off x="6807200" y="4724400"/>
            <a:ext cx="625475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</a:p>
        </p:txBody>
      </p:sp>
      <p:sp>
        <p:nvSpPr>
          <p:cNvPr id="35955" name="Rectangle 115"/>
          <p:cNvSpPr>
            <a:spLocks noChangeArrowheads="1"/>
          </p:cNvSpPr>
          <p:nvPr/>
        </p:nvSpPr>
        <p:spPr bwMode="auto">
          <a:xfrm>
            <a:off x="6178550" y="4724400"/>
            <a:ext cx="628650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5956" name="Rectangle 116"/>
          <p:cNvSpPr>
            <a:spLocks noChangeArrowheads="1"/>
          </p:cNvSpPr>
          <p:nvPr/>
        </p:nvSpPr>
        <p:spPr bwMode="auto">
          <a:xfrm>
            <a:off x="5553075" y="4724400"/>
            <a:ext cx="625475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</a:p>
        </p:txBody>
      </p:sp>
      <p:sp>
        <p:nvSpPr>
          <p:cNvPr id="35957" name="Rectangle 117"/>
          <p:cNvSpPr>
            <a:spLocks noChangeArrowheads="1"/>
          </p:cNvSpPr>
          <p:nvPr/>
        </p:nvSpPr>
        <p:spPr bwMode="auto">
          <a:xfrm>
            <a:off x="4926012" y="4724400"/>
            <a:ext cx="627063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</a:p>
        </p:txBody>
      </p:sp>
      <p:sp>
        <p:nvSpPr>
          <p:cNvPr id="35958" name="Rectangle 118"/>
          <p:cNvSpPr>
            <a:spLocks noChangeArrowheads="1"/>
          </p:cNvSpPr>
          <p:nvPr/>
        </p:nvSpPr>
        <p:spPr bwMode="auto">
          <a:xfrm>
            <a:off x="4297362" y="4724400"/>
            <a:ext cx="628650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5959" name="Rectangle 119"/>
          <p:cNvSpPr>
            <a:spLocks noChangeArrowheads="1"/>
          </p:cNvSpPr>
          <p:nvPr/>
        </p:nvSpPr>
        <p:spPr bwMode="auto">
          <a:xfrm>
            <a:off x="3670300" y="4724400"/>
            <a:ext cx="627063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</a:p>
        </p:txBody>
      </p:sp>
      <p:sp>
        <p:nvSpPr>
          <p:cNvPr id="35960" name="Rectangle 120"/>
          <p:cNvSpPr>
            <a:spLocks noChangeArrowheads="1"/>
          </p:cNvSpPr>
          <p:nvPr/>
        </p:nvSpPr>
        <p:spPr bwMode="auto">
          <a:xfrm>
            <a:off x="3044825" y="4724400"/>
            <a:ext cx="625475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</a:p>
        </p:txBody>
      </p:sp>
      <p:sp>
        <p:nvSpPr>
          <p:cNvPr id="35961" name="Rectangle 121"/>
          <p:cNvSpPr>
            <a:spLocks noChangeArrowheads="1"/>
          </p:cNvSpPr>
          <p:nvPr/>
        </p:nvSpPr>
        <p:spPr bwMode="auto">
          <a:xfrm>
            <a:off x="2416175" y="4724400"/>
            <a:ext cx="628650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5962" name="Rectangle 122"/>
          <p:cNvSpPr>
            <a:spLocks noChangeArrowheads="1"/>
          </p:cNvSpPr>
          <p:nvPr/>
        </p:nvSpPr>
        <p:spPr bwMode="auto">
          <a:xfrm>
            <a:off x="1790700" y="4724400"/>
            <a:ext cx="625475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</a:p>
        </p:txBody>
      </p:sp>
      <p:sp>
        <p:nvSpPr>
          <p:cNvPr id="35963" name="Rectangle 123"/>
          <p:cNvSpPr>
            <a:spLocks noChangeArrowheads="1"/>
          </p:cNvSpPr>
          <p:nvPr/>
        </p:nvSpPr>
        <p:spPr bwMode="auto">
          <a:xfrm>
            <a:off x="1160462" y="4724400"/>
            <a:ext cx="630238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</a:p>
        </p:txBody>
      </p:sp>
      <p:sp>
        <p:nvSpPr>
          <p:cNvPr id="35964" name="Rectangle 124"/>
          <p:cNvSpPr>
            <a:spLocks noChangeArrowheads="1"/>
          </p:cNvSpPr>
          <p:nvPr/>
        </p:nvSpPr>
        <p:spPr bwMode="auto">
          <a:xfrm>
            <a:off x="534987" y="4724400"/>
            <a:ext cx="625475" cy="32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Set</a:t>
            </a:r>
          </a:p>
        </p:txBody>
      </p:sp>
      <p:sp>
        <p:nvSpPr>
          <p:cNvPr id="35965" name="Line 125"/>
          <p:cNvSpPr>
            <a:spLocks noChangeShapeType="1"/>
          </p:cNvSpPr>
          <p:nvPr/>
        </p:nvSpPr>
        <p:spPr bwMode="auto">
          <a:xfrm>
            <a:off x="534987" y="5049838"/>
            <a:ext cx="8153401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35966" name="Line 126"/>
          <p:cNvSpPr>
            <a:spLocks noChangeShapeType="1"/>
          </p:cNvSpPr>
          <p:nvPr/>
        </p:nvSpPr>
        <p:spPr bwMode="auto">
          <a:xfrm>
            <a:off x="534987" y="5375275"/>
            <a:ext cx="8153401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67" name="Line 127"/>
          <p:cNvSpPr>
            <a:spLocks noChangeShapeType="1"/>
          </p:cNvSpPr>
          <p:nvPr/>
        </p:nvSpPr>
        <p:spPr bwMode="auto">
          <a:xfrm>
            <a:off x="534987" y="5699125"/>
            <a:ext cx="8153401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68" name="Line 128"/>
          <p:cNvSpPr>
            <a:spLocks noChangeShapeType="1"/>
          </p:cNvSpPr>
          <p:nvPr/>
        </p:nvSpPr>
        <p:spPr bwMode="auto">
          <a:xfrm>
            <a:off x="534987" y="6024563"/>
            <a:ext cx="8153401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69" name="Line 129"/>
          <p:cNvSpPr>
            <a:spLocks noChangeShapeType="1"/>
          </p:cNvSpPr>
          <p:nvPr/>
        </p:nvSpPr>
        <p:spPr bwMode="auto">
          <a:xfrm>
            <a:off x="1790700" y="4724400"/>
            <a:ext cx="1588" cy="162560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0" name="Line 130"/>
          <p:cNvSpPr>
            <a:spLocks noChangeShapeType="1"/>
          </p:cNvSpPr>
          <p:nvPr/>
        </p:nvSpPr>
        <p:spPr bwMode="auto">
          <a:xfrm>
            <a:off x="2416175" y="4724400"/>
            <a:ext cx="1588" cy="162560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1" name="Line 131"/>
          <p:cNvSpPr>
            <a:spLocks noChangeShapeType="1"/>
          </p:cNvSpPr>
          <p:nvPr/>
        </p:nvSpPr>
        <p:spPr bwMode="auto">
          <a:xfrm>
            <a:off x="3670300" y="4724400"/>
            <a:ext cx="1588" cy="162560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2" name="Line 132"/>
          <p:cNvSpPr>
            <a:spLocks noChangeShapeType="1"/>
          </p:cNvSpPr>
          <p:nvPr/>
        </p:nvSpPr>
        <p:spPr bwMode="auto">
          <a:xfrm>
            <a:off x="4297362" y="4724400"/>
            <a:ext cx="1588" cy="162560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3" name="Line 133"/>
          <p:cNvSpPr>
            <a:spLocks noChangeShapeType="1"/>
          </p:cNvSpPr>
          <p:nvPr/>
        </p:nvSpPr>
        <p:spPr bwMode="auto">
          <a:xfrm>
            <a:off x="5553075" y="4724400"/>
            <a:ext cx="1588" cy="162560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4" name="Line 134"/>
          <p:cNvSpPr>
            <a:spLocks noChangeShapeType="1"/>
          </p:cNvSpPr>
          <p:nvPr/>
        </p:nvSpPr>
        <p:spPr bwMode="auto">
          <a:xfrm>
            <a:off x="6178550" y="4724400"/>
            <a:ext cx="1588" cy="162560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5" name="Line 135"/>
          <p:cNvSpPr>
            <a:spLocks noChangeShapeType="1"/>
          </p:cNvSpPr>
          <p:nvPr/>
        </p:nvSpPr>
        <p:spPr bwMode="auto">
          <a:xfrm>
            <a:off x="7432675" y="4724400"/>
            <a:ext cx="1588" cy="162560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6" name="Line 136"/>
          <p:cNvSpPr>
            <a:spLocks noChangeShapeType="1"/>
          </p:cNvSpPr>
          <p:nvPr/>
        </p:nvSpPr>
        <p:spPr bwMode="auto">
          <a:xfrm>
            <a:off x="8062912" y="4724400"/>
            <a:ext cx="1588" cy="162560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7" name="Line 137"/>
          <p:cNvSpPr>
            <a:spLocks noChangeShapeType="1"/>
          </p:cNvSpPr>
          <p:nvPr/>
        </p:nvSpPr>
        <p:spPr bwMode="auto">
          <a:xfrm>
            <a:off x="1160462" y="4724400"/>
            <a:ext cx="1588" cy="162560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8" name="Line 138"/>
          <p:cNvSpPr>
            <a:spLocks noChangeShapeType="1"/>
          </p:cNvSpPr>
          <p:nvPr/>
        </p:nvSpPr>
        <p:spPr bwMode="auto">
          <a:xfrm>
            <a:off x="3044825" y="4724400"/>
            <a:ext cx="1588" cy="162560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79" name="Line 139"/>
          <p:cNvSpPr>
            <a:spLocks noChangeShapeType="1"/>
          </p:cNvSpPr>
          <p:nvPr/>
        </p:nvSpPr>
        <p:spPr bwMode="auto">
          <a:xfrm>
            <a:off x="534987" y="4724400"/>
            <a:ext cx="1588" cy="162560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80" name="Line 140"/>
          <p:cNvSpPr>
            <a:spLocks noChangeShapeType="1"/>
          </p:cNvSpPr>
          <p:nvPr/>
        </p:nvSpPr>
        <p:spPr bwMode="auto">
          <a:xfrm>
            <a:off x="4926012" y="4724400"/>
            <a:ext cx="1588" cy="162560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81" name="Line 141"/>
          <p:cNvSpPr>
            <a:spLocks noChangeShapeType="1"/>
          </p:cNvSpPr>
          <p:nvPr/>
        </p:nvSpPr>
        <p:spPr bwMode="auto">
          <a:xfrm>
            <a:off x="6807200" y="4724400"/>
            <a:ext cx="1588" cy="162560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82" name="Line 142"/>
          <p:cNvSpPr>
            <a:spLocks noChangeShapeType="1"/>
          </p:cNvSpPr>
          <p:nvPr/>
        </p:nvSpPr>
        <p:spPr bwMode="auto">
          <a:xfrm>
            <a:off x="534987" y="4724400"/>
            <a:ext cx="8153401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35983" name="Line 143"/>
          <p:cNvSpPr>
            <a:spLocks noChangeShapeType="1"/>
          </p:cNvSpPr>
          <p:nvPr/>
        </p:nvSpPr>
        <p:spPr bwMode="auto">
          <a:xfrm>
            <a:off x="8688388" y="4724400"/>
            <a:ext cx="1588" cy="162560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984" name="Line 144"/>
          <p:cNvSpPr>
            <a:spLocks noChangeShapeType="1"/>
          </p:cNvSpPr>
          <p:nvPr/>
        </p:nvSpPr>
        <p:spPr bwMode="auto">
          <a:xfrm>
            <a:off x="534987" y="6350001"/>
            <a:ext cx="8153401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727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>
          <a:xfrm>
            <a:off x="431799" y="241300"/>
            <a:ext cx="8110538" cy="1054100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2. Simple Memory System Page Table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1745" y="1298575"/>
            <a:ext cx="8307387" cy="454025"/>
          </a:xfrm>
          <a:ln/>
        </p:spPr>
        <p:txBody>
          <a:bodyPr/>
          <a:lstStyle/>
          <a:p>
            <a:pPr>
              <a:buNone/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2000" b="0" dirty="0"/>
              <a:t>Only show first 16 entries (out of 256)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6110288" y="478155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5418138" y="478155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0D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724400" y="478155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0F</a:t>
            </a: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6110288" y="4475163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5418138" y="4475163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11</a:t>
            </a:r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4724400" y="4475163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0E</a:t>
            </a:r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6110288" y="416877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5418138" y="416877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2D</a:t>
            </a:r>
          </a:p>
        </p:txBody>
      </p:sp>
      <p:sp>
        <p:nvSpPr>
          <p:cNvPr id="34834" name="Rectangle 18"/>
          <p:cNvSpPr>
            <a:spLocks noChangeArrowheads="1"/>
          </p:cNvSpPr>
          <p:nvPr/>
        </p:nvSpPr>
        <p:spPr bwMode="auto">
          <a:xfrm>
            <a:off x="4724400" y="416877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0D</a:t>
            </a:r>
          </a:p>
        </p:txBody>
      </p:sp>
      <p:sp>
        <p:nvSpPr>
          <p:cNvPr id="34838" name="Rectangle 22"/>
          <p:cNvSpPr>
            <a:spLocks noChangeArrowheads="1"/>
          </p:cNvSpPr>
          <p:nvPr/>
        </p:nvSpPr>
        <p:spPr bwMode="auto">
          <a:xfrm>
            <a:off x="6110288" y="386080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34839" name="Rectangle 23"/>
          <p:cNvSpPr>
            <a:spLocks noChangeArrowheads="1"/>
          </p:cNvSpPr>
          <p:nvPr/>
        </p:nvSpPr>
        <p:spPr bwMode="auto">
          <a:xfrm>
            <a:off x="5418138" y="386080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34840" name="Rectangle 24"/>
          <p:cNvSpPr>
            <a:spLocks noChangeArrowheads="1"/>
          </p:cNvSpPr>
          <p:nvPr/>
        </p:nvSpPr>
        <p:spPr bwMode="auto">
          <a:xfrm>
            <a:off x="4724400" y="386080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0C</a:t>
            </a:r>
          </a:p>
        </p:txBody>
      </p:sp>
      <p:sp>
        <p:nvSpPr>
          <p:cNvPr id="34844" name="Rectangle 28"/>
          <p:cNvSpPr>
            <a:spLocks noChangeArrowheads="1"/>
          </p:cNvSpPr>
          <p:nvPr/>
        </p:nvSpPr>
        <p:spPr bwMode="auto">
          <a:xfrm>
            <a:off x="6110288" y="355282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34845" name="Rectangle 29"/>
          <p:cNvSpPr>
            <a:spLocks noChangeArrowheads="1"/>
          </p:cNvSpPr>
          <p:nvPr/>
        </p:nvSpPr>
        <p:spPr bwMode="auto">
          <a:xfrm>
            <a:off x="5418138" y="355282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34846" name="Rectangle 30"/>
          <p:cNvSpPr>
            <a:spLocks noChangeArrowheads="1"/>
          </p:cNvSpPr>
          <p:nvPr/>
        </p:nvSpPr>
        <p:spPr bwMode="auto">
          <a:xfrm>
            <a:off x="4724400" y="355282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0B</a:t>
            </a:r>
          </a:p>
        </p:txBody>
      </p:sp>
      <p:sp>
        <p:nvSpPr>
          <p:cNvPr id="34850" name="Rectangle 34"/>
          <p:cNvSpPr>
            <a:spLocks noChangeArrowheads="1"/>
          </p:cNvSpPr>
          <p:nvPr/>
        </p:nvSpPr>
        <p:spPr bwMode="auto">
          <a:xfrm>
            <a:off x="6110288" y="3246438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51" name="Rectangle 35"/>
          <p:cNvSpPr>
            <a:spLocks noChangeArrowheads="1"/>
          </p:cNvSpPr>
          <p:nvPr/>
        </p:nvSpPr>
        <p:spPr bwMode="auto">
          <a:xfrm>
            <a:off x="5418138" y="3246438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09</a:t>
            </a:r>
          </a:p>
        </p:txBody>
      </p:sp>
      <p:sp>
        <p:nvSpPr>
          <p:cNvPr id="34852" name="Rectangle 36"/>
          <p:cNvSpPr>
            <a:spLocks noChangeArrowheads="1"/>
          </p:cNvSpPr>
          <p:nvPr/>
        </p:nvSpPr>
        <p:spPr bwMode="auto">
          <a:xfrm>
            <a:off x="4724400" y="3246438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0A</a:t>
            </a:r>
          </a:p>
        </p:txBody>
      </p:sp>
      <p:sp>
        <p:nvSpPr>
          <p:cNvPr id="34856" name="Rectangle 40"/>
          <p:cNvSpPr>
            <a:spLocks noChangeArrowheads="1"/>
          </p:cNvSpPr>
          <p:nvPr/>
        </p:nvSpPr>
        <p:spPr bwMode="auto">
          <a:xfrm>
            <a:off x="6110288" y="294005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57" name="Rectangle 41"/>
          <p:cNvSpPr>
            <a:spLocks noChangeArrowheads="1"/>
          </p:cNvSpPr>
          <p:nvPr/>
        </p:nvSpPr>
        <p:spPr bwMode="auto">
          <a:xfrm>
            <a:off x="5418138" y="294005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17</a:t>
            </a:r>
          </a:p>
        </p:txBody>
      </p:sp>
      <p:sp>
        <p:nvSpPr>
          <p:cNvPr id="34858" name="Rectangle 42"/>
          <p:cNvSpPr>
            <a:spLocks noChangeArrowheads="1"/>
          </p:cNvSpPr>
          <p:nvPr/>
        </p:nvSpPr>
        <p:spPr bwMode="auto">
          <a:xfrm>
            <a:off x="4724400" y="294005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09</a:t>
            </a:r>
          </a:p>
        </p:txBody>
      </p:sp>
      <p:sp>
        <p:nvSpPr>
          <p:cNvPr id="34862" name="Rectangle 46"/>
          <p:cNvSpPr>
            <a:spLocks noChangeArrowheads="1"/>
          </p:cNvSpPr>
          <p:nvPr/>
        </p:nvSpPr>
        <p:spPr bwMode="auto">
          <a:xfrm>
            <a:off x="6110288" y="263207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63" name="Rectangle 47"/>
          <p:cNvSpPr>
            <a:spLocks noChangeArrowheads="1"/>
          </p:cNvSpPr>
          <p:nvPr/>
        </p:nvSpPr>
        <p:spPr bwMode="auto">
          <a:xfrm>
            <a:off x="5418138" y="263207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13</a:t>
            </a:r>
          </a:p>
        </p:txBody>
      </p:sp>
      <p:sp>
        <p:nvSpPr>
          <p:cNvPr id="34864" name="Rectangle 48"/>
          <p:cNvSpPr>
            <a:spLocks noChangeArrowheads="1"/>
          </p:cNvSpPr>
          <p:nvPr/>
        </p:nvSpPr>
        <p:spPr bwMode="auto">
          <a:xfrm>
            <a:off x="4724400" y="263207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08</a:t>
            </a:r>
          </a:p>
        </p:txBody>
      </p:sp>
      <p:sp>
        <p:nvSpPr>
          <p:cNvPr id="34868" name="Rectangle 52"/>
          <p:cNvSpPr>
            <a:spLocks noChangeArrowheads="1"/>
          </p:cNvSpPr>
          <p:nvPr/>
        </p:nvSpPr>
        <p:spPr bwMode="auto">
          <a:xfrm>
            <a:off x="6110288" y="2325688"/>
            <a:ext cx="692150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4869" name="Rectangle 53"/>
          <p:cNvSpPr>
            <a:spLocks noChangeArrowheads="1"/>
          </p:cNvSpPr>
          <p:nvPr/>
        </p:nvSpPr>
        <p:spPr bwMode="auto">
          <a:xfrm>
            <a:off x="5418138" y="2325688"/>
            <a:ext cx="692150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auto">
          <a:xfrm>
            <a:off x="4724400" y="2325688"/>
            <a:ext cx="693738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VPN</a:t>
            </a:r>
          </a:p>
        </p:txBody>
      </p:sp>
      <p:sp>
        <p:nvSpPr>
          <p:cNvPr id="34874" name="Line 58"/>
          <p:cNvSpPr>
            <a:spLocks noChangeShapeType="1"/>
          </p:cNvSpPr>
          <p:nvPr/>
        </p:nvSpPr>
        <p:spPr bwMode="auto">
          <a:xfrm>
            <a:off x="4724400" y="2632076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5" name="Line 59"/>
          <p:cNvSpPr>
            <a:spLocks noChangeShapeType="1"/>
          </p:cNvSpPr>
          <p:nvPr/>
        </p:nvSpPr>
        <p:spPr bwMode="auto">
          <a:xfrm>
            <a:off x="4724400" y="2940051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6" name="Line 60"/>
          <p:cNvSpPr>
            <a:spLocks noChangeShapeType="1"/>
          </p:cNvSpPr>
          <p:nvPr/>
        </p:nvSpPr>
        <p:spPr bwMode="auto">
          <a:xfrm>
            <a:off x="4724400" y="3249611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7" name="Line 61"/>
          <p:cNvSpPr>
            <a:spLocks noChangeShapeType="1"/>
          </p:cNvSpPr>
          <p:nvPr/>
        </p:nvSpPr>
        <p:spPr bwMode="auto">
          <a:xfrm>
            <a:off x="4724400" y="3552826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8" name="Line 62"/>
          <p:cNvSpPr>
            <a:spLocks noChangeShapeType="1"/>
          </p:cNvSpPr>
          <p:nvPr/>
        </p:nvSpPr>
        <p:spPr bwMode="auto">
          <a:xfrm>
            <a:off x="4724400" y="3860801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9" name="Line 63"/>
          <p:cNvSpPr>
            <a:spLocks noChangeShapeType="1"/>
          </p:cNvSpPr>
          <p:nvPr/>
        </p:nvSpPr>
        <p:spPr bwMode="auto">
          <a:xfrm>
            <a:off x="4724400" y="4157135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0" name="Line 64"/>
          <p:cNvSpPr>
            <a:spLocks noChangeShapeType="1"/>
          </p:cNvSpPr>
          <p:nvPr/>
        </p:nvSpPr>
        <p:spPr bwMode="auto">
          <a:xfrm>
            <a:off x="4724400" y="4475163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1" name="Line 65"/>
          <p:cNvSpPr>
            <a:spLocks noChangeShapeType="1"/>
          </p:cNvSpPr>
          <p:nvPr/>
        </p:nvSpPr>
        <p:spPr bwMode="auto">
          <a:xfrm>
            <a:off x="4724400" y="4781551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4" name="Line 68"/>
          <p:cNvSpPr>
            <a:spLocks noChangeShapeType="1"/>
          </p:cNvSpPr>
          <p:nvPr/>
        </p:nvSpPr>
        <p:spPr bwMode="auto">
          <a:xfrm>
            <a:off x="5418138" y="2325688"/>
            <a:ext cx="1588" cy="276383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5" name="Line 69"/>
          <p:cNvSpPr>
            <a:spLocks noChangeShapeType="1"/>
          </p:cNvSpPr>
          <p:nvPr/>
        </p:nvSpPr>
        <p:spPr bwMode="auto">
          <a:xfrm>
            <a:off x="6110288" y="2325688"/>
            <a:ext cx="1588" cy="276383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8" name="Line 72"/>
          <p:cNvSpPr>
            <a:spLocks noChangeShapeType="1"/>
          </p:cNvSpPr>
          <p:nvPr/>
        </p:nvSpPr>
        <p:spPr bwMode="auto">
          <a:xfrm>
            <a:off x="4724400" y="2325688"/>
            <a:ext cx="2103120" cy="158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9" name="Line 73"/>
          <p:cNvSpPr>
            <a:spLocks noChangeShapeType="1"/>
          </p:cNvSpPr>
          <p:nvPr/>
        </p:nvSpPr>
        <p:spPr bwMode="auto">
          <a:xfrm>
            <a:off x="6810905" y="2325688"/>
            <a:ext cx="1588" cy="276383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90" name="Line 74"/>
          <p:cNvSpPr>
            <a:spLocks noChangeShapeType="1"/>
          </p:cNvSpPr>
          <p:nvPr/>
        </p:nvSpPr>
        <p:spPr bwMode="auto">
          <a:xfrm>
            <a:off x="4724400" y="5089526"/>
            <a:ext cx="2103120" cy="158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7" name="Line 73"/>
          <p:cNvSpPr>
            <a:spLocks noChangeShapeType="1"/>
          </p:cNvSpPr>
          <p:nvPr/>
        </p:nvSpPr>
        <p:spPr bwMode="auto">
          <a:xfrm>
            <a:off x="4724400" y="2333095"/>
            <a:ext cx="1588" cy="276383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" name="Rectangle 7"/>
          <p:cNvSpPr>
            <a:spLocks noChangeArrowheads="1"/>
          </p:cNvSpPr>
          <p:nvPr/>
        </p:nvSpPr>
        <p:spPr bwMode="auto">
          <a:xfrm>
            <a:off x="3290888" y="478155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149" name="Rectangle 8"/>
          <p:cNvSpPr>
            <a:spLocks noChangeArrowheads="1"/>
          </p:cNvSpPr>
          <p:nvPr/>
        </p:nvSpPr>
        <p:spPr bwMode="auto">
          <a:xfrm>
            <a:off x="2598738" y="478155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150" name="Rectangle 9"/>
          <p:cNvSpPr>
            <a:spLocks noChangeArrowheads="1"/>
          </p:cNvSpPr>
          <p:nvPr/>
        </p:nvSpPr>
        <p:spPr bwMode="auto">
          <a:xfrm>
            <a:off x="1905000" y="478155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07</a:t>
            </a:r>
          </a:p>
        </p:txBody>
      </p:sp>
      <p:sp>
        <p:nvSpPr>
          <p:cNvPr id="151" name="Rectangle 13"/>
          <p:cNvSpPr>
            <a:spLocks noChangeArrowheads="1"/>
          </p:cNvSpPr>
          <p:nvPr/>
        </p:nvSpPr>
        <p:spPr bwMode="auto">
          <a:xfrm>
            <a:off x="3290888" y="4475163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152" name="Rectangle 14"/>
          <p:cNvSpPr>
            <a:spLocks noChangeArrowheads="1"/>
          </p:cNvSpPr>
          <p:nvPr/>
        </p:nvSpPr>
        <p:spPr bwMode="auto">
          <a:xfrm>
            <a:off x="2598738" y="4475163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153" name="Rectangle 15"/>
          <p:cNvSpPr>
            <a:spLocks noChangeArrowheads="1"/>
          </p:cNvSpPr>
          <p:nvPr/>
        </p:nvSpPr>
        <p:spPr bwMode="auto">
          <a:xfrm>
            <a:off x="1905000" y="4475163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154" name="Rectangle 19"/>
          <p:cNvSpPr>
            <a:spLocks noChangeArrowheads="1"/>
          </p:cNvSpPr>
          <p:nvPr/>
        </p:nvSpPr>
        <p:spPr bwMode="auto">
          <a:xfrm>
            <a:off x="3290888" y="416877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155" name="Rectangle 20"/>
          <p:cNvSpPr>
            <a:spLocks noChangeArrowheads="1"/>
          </p:cNvSpPr>
          <p:nvPr/>
        </p:nvSpPr>
        <p:spPr bwMode="auto">
          <a:xfrm>
            <a:off x="2598738" y="416877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16</a:t>
            </a:r>
          </a:p>
        </p:txBody>
      </p:sp>
      <p:sp>
        <p:nvSpPr>
          <p:cNvPr id="156" name="Rectangle 21"/>
          <p:cNvSpPr>
            <a:spLocks noChangeArrowheads="1"/>
          </p:cNvSpPr>
          <p:nvPr/>
        </p:nvSpPr>
        <p:spPr bwMode="auto">
          <a:xfrm>
            <a:off x="1905000" y="416877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157" name="Rectangle 25"/>
          <p:cNvSpPr>
            <a:spLocks noChangeArrowheads="1"/>
          </p:cNvSpPr>
          <p:nvPr/>
        </p:nvSpPr>
        <p:spPr bwMode="auto">
          <a:xfrm>
            <a:off x="3290888" y="386080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158" name="Rectangle 26"/>
          <p:cNvSpPr>
            <a:spLocks noChangeArrowheads="1"/>
          </p:cNvSpPr>
          <p:nvPr/>
        </p:nvSpPr>
        <p:spPr bwMode="auto">
          <a:xfrm>
            <a:off x="2598738" y="386080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159" name="Rectangle 27"/>
          <p:cNvSpPr>
            <a:spLocks noChangeArrowheads="1"/>
          </p:cNvSpPr>
          <p:nvPr/>
        </p:nvSpPr>
        <p:spPr bwMode="auto">
          <a:xfrm>
            <a:off x="1905000" y="386080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160" name="Rectangle 31"/>
          <p:cNvSpPr>
            <a:spLocks noChangeArrowheads="1"/>
          </p:cNvSpPr>
          <p:nvPr/>
        </p:nvSpPr>
        <p:spPr bwMode="auto">
          <a:xfrm>
            <a:off x="3290888" y="355282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2598738" y="355282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02</a:t>
            </a:r>
          </a:p>
        </p:txBody>
      </p:sp>
      <p:sp>
        <p:nvSpPr>
          <p:cNvPr id="162" name="Rectangle 33"/>
          <p:cNvSpPr>
            <a:spLocks noChangeArrowheads="1"/>
          </p:cNvSpPr>
          <p:nvPr/>
        </p:nvSpPr>
        <p:spPr bwMode="auto">
          <a:xfrm>
            <a:off x="1905000" y="355282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163" name="Rectangle 37"/>
          <p:cNvSpPr>
            <a:spLocks noChangeArrowheads="1"/>
          </p:cNvSpPr>
          <p:nvPr/>
        </p:nvSpPr>
        <p:spPr bwMode="auto">
          <a:xfrm>
            <a:off x="3290888" y="3246438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164" name="Rectangle 38"/>
          <p:cNvSpPr>
            <a:spLocks noChangeArrowheads="1"/>
          </p:cNvSpPr>
          <p:nvPr/>
        </p:nvSpPr>
        <p:spPr bwMode="auto">
          <a:xfrm>
            <a:off x="2598738" y="3246438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33</a:t>
            </a:r>
          </a:p>
        </p:txBody>
      </p:sp>
      <p:sp>
        <p:nvSpPr>
          <p:cNvPr id="165" name="Rectangle 39"/>
          <p:cNvSpPr>
            <a:spLocks noChangeArrowheads="1"/>
          </p:cNvSpPr>
          <p:nvPr/>
        </p:nvSpPr>
        <p:spPr bwMode="auto">
          <a:xfrm>
            <a:off x="1905000" y="3246438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166" name="Rectangle 43"/>
          <p:cNvSpPr>
            <a:spLocks noChangeArrowheads="1"/>
          </p:cNvSpPr>
          <p:nvPr/>
        </p:nvSpPr>
        <p:spPr bwMode="auto">
          <a:xfrm>
            <a:off x="3290888" y="294005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167" name="Rectangle 44"/>
          <p:cNvSpPr>
            <a:spLocks noChangeArrowheads="1"/>
          </p:cNvSpPr>
          <p:nvPr/>
        </p:nvSpPr>
        <p:spPr bwMode="auto">
          <a:xfrm>
            <a:off x="2598738" y="294005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168" name="Rectangle 45"/>
          <p:cNvSpPr>
            <a:spLocks noChangeArrowheads="1"/>
          </p:cNvSpPr>
          <p:nvPr/>
        </p:nvSpPr>
        <p:spPr bwMode="auto">
          <a:xfrm>
            <a:off x="1905000" y="294005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169" name="Rectangle 49"/>
          <p:cNvSpPr>
            <a:spLocks noChangeArrowheads="1"/>
          </p:cNvSpPr>
          <p:nvPr/>
        </p:nvSpPr>
        <p:spPr bwMode="auto">
          <a:xfrm>
            <a:off x="3290888" y="263207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170" name="Rectangle 50"/>
          <p:cNvSpPr>
            <a:spLocks noChangeArrowheads="1"/>
          </p:cNvSpPr>
          <p:nvPr/>
        </p:nvSpPr>
        <p:spPr bwMode="auto">
          <a:xfrm>
            <a:off x="2598738" y="263207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28</a:t>
            </a:r>
          </a:p>
        </p:txBody>
      </p:sp>
      <p:sp>
        <p:nvSpPr>
          <p:cNvPr id="171" name="Rectangle 51"/>
          <p:cNvSpPr>
            <a:spLocks noChangeArrowheads="1"/>
          </p:cNvSpPr>
          <p:nvPr/>
        </p:nvSpPr>
        <p:spPr bwMode="auto">
          <a:xfrm>
            <a:off x="1905000" y="263207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00</a:t>
            </a:r>
          </a:p>
        </p:txBody>
      </p:sp>
      <p:sp>
        <p:nvSpPr>
          <p:cNvPr id="172" name="Rectangle 55"/>
          <p:cNvSpPr>
            <a:spLocks noChangeArrowheads="1"/>
          </p:cNvSpPr>
          <p:nvPr/>
        </p:nvSpPr>
        <p:spPr bwMode="auto">
          <a:xfrm>
            <a:off x="3290888" y="2325688"/>
            <a:ext cx="692150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73" name="Rectangle 56"/>
          <p:cNvSpPr>
            <a:spLocks noChangeArrowheads="1"/>
          </p:cNvSpPr>
          <p:nvPr/>
        </p:nvSpPr>
        <p:spPr bwMode="auto">
          <a:xfrm>
            <a:off x="2598738" y="2325688"/>
            <a:ext cx="692150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</a:p>
        </p:txBody>
      </p:sp>
      <p:sp>
        <p:nvSpPr>
          <p:cNvPr id="174" name="Rectangle 57"/>
          <p:cNvSpPr>
            <a:spLocks noChangeArrowheads="1"/>
          </p:cNvSpPr>
          <p:nvPr/>
        </p:nvSpPr>
        <p:spPr bwMode="auto">
          <a:xfrm>
            <a:off x="1905000" y="2325688"/>
            <a:ext cx="693738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VPN</a:t>
            </a:r>
          </a:p>
        </p:txBody>
      </p:sp>
      <p:sp>
        <p:nvSpPr>
          <p:cNvPr id="175" name="Line 58"/>
          <p:cNvSpPr>
            <a:spLocks noChangeShapeType="1"/>
          </p:cNvSpPr>
          <p:nvPr/>
        </p:nvSpPr>
        <p:spPr bwMode="auto">
          <a:xfrm>
            <a:off x="1905000" y="2632076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6" name="Line 59"/>
          <p:cNvSpPr>
            <a:spLocks noChangeShapeType="1"/>
          </p:cNvSpPr>
          <p:nvPr/>
        </p:nvSpPr>
        <p:spPr bwMode="auto">
          <a:xfrm>
            <a:off x="1905000" y="2940051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7" name="Line 60"/>
          <p:cNvSpPr>
            <a:spLocks noChangeShapeType="1"/>
          </p:cNvSpPr>
          <p:nvPr/>
        </p:nvSpPr>
        <p:spPr bwMode="auto">
          <a:xfrm>
            <a:off x="1905000" y="3249611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8" name="Line 61"/>
          <p:cNvSpPr>
            <a:spLocks noChangeShapeType="1"/>
          </p:cNvSpPr>
          <p:nvPr/>
        </p:nvSpPr>
        <p:spPr bwMode="auto">
          <a:xfrm>
            <a:off x="1905000" y="3552826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9" name="Line 62"/>
          <p:cNvSpPr>
            <a:spLocks noChangeShapeType="1"/>
          </p:cNvSpPr>
          <p:nvPr/>
        </p:nvSpPr>
        <p:spPr bwMode="auto">
          <a:xfrm>
            <a:off x="1905000" y="3860801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0" name="Line 63"/>
          <p:cNvSpPr>
            <a:spLocks noChangeShapeType="1"/>
          </p:cNvSpPr>
          <p:nvPr/>
        </p:nvSpPr>
        <p:spPr bwMode="auto">
          <a:xfrm>
            <a:off x="1905000" y="4172478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" name="Line 64"/>
          <p:cNvSpPr>
            <a:spLocks noChangeShapeType="1"/>
          </p:cNvSpPr>
          <p:nvPr/>
        </p:nvSpPr>
        <p:spPr bwMode="auto">
          <a:xfrm>
            <a:off x="1905000" y="4475163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" name="Line 65"/>
          <p:cNvSpPr>
            <a:spLocks noChangeShapeType="1"/>
          </p:cNvSpPr>
          <p:nvPr/>
        </p:nvSpPr>
        <p:spPr bwMode="auto">
          <a:xfrm>
            <a:off x="1905000" y="4781551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" name="Line 66"/>
          <p:cNvSpPr>
            <a:spLocks noChangeShapeType="1"/>
          </p:cNvSpPr>
          <p:nvPr/>
        </p:nvSpPr>
        <p:spPr bwMode="auto">
          <a:xfrm>
            <a:off x="2589212" y="2325688"/>
            <a:ext cx="1588" cy="276383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" name="Line 67"/>
          <p:cNvSpPr>
            <a:spLocks noChangeShapeType="1"/>
          </p:cNvSpPr>
          <p:nvPr/>
        </p:nvSpPr>
        <p:spPr bwMode="auto">
          <a:xfrm>
            <a:off x="3290888" y="2325688"/>
            <a:ext cx="1588" cy="276383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5" name="Line 70"/>
          <p:cNvSpPr>
            <a:spLocks noChangeShapeType="1"/>
          </p:cNvSpPr>
          <p:nvPr/>
        </p:nvSpPr>
        <p:spPr bwMode="auto">
          <a:xfrm>
            <a:off x="1905000" y="2325688"/>
            <a:ext cx="1588" cy="276383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" name="Line 72"/>
          <p:cNvSpPr>
            <a:spLocks noChangeShapeType="1"/>
          </p:cNvSpPr>
          <p:nvPr/>
        </p:nvSpPr>
        <p:spPr bwMode="auto">
          <a:xfrm>
            <a:off x="1905000" y="2325688"/>
            <a:ext cx="2075688" cy="158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7" name="Line 74"/>
          <p:cNvSpPr>
            <a:spLocks noChangeShapeType="1"/>
          </p:cNvSpPr>
          <p:nvPr/>
        </p:nvSpPr>
        <p:spPr bwMode="auto">
          <a:xfrm>
            <a:off x="1905000" y="5089526"/>
            <a:ext cx="2075688" cy="158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8" name="Line 70"/>
          <p:cNvSpPr>
            <a:spLocks noChangeShapeType="1"/>
          </p:cNvSpPr>
          <p:nvPr/>
        </p:nvSpPr>
        <p:spPr bwMode="auto">
          <a:xfrm>
            <a:off x="3989386" y="2316480"/>
            <a:ext cx="1588" cy="2788920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90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>
          <a:xfrm>
            <a:off x="385284" y="417512"/>
            <a:ext cx="7285038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3. Simple Memory System Cache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068387"/>
            <a:ext cx="8307387" cy="1446213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16 lines, 4-byte block size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Physically addressed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Direct mapped</a:t>
            </a: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1711325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1711325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11</a:t>
            </a:r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2198688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2198688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10</a:t>
            </a:r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2686051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2686051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9</a:t>
            </a:r>
          </a:p>
        </p:txBody>
      </p:sp>
      <p:sp>
        <p:nvSpPr>
          <p:cNvPr id="36879" name="Rectangle 15"/>
          <p:cNvSpPr>
            <a:spLocks noChangeArrowheads="1"/>
          </p:cNvSpPr>
          <p:nvPr/>
        </p:nvSpPr>
        <p:spPr bwMode="auto">
          <a:xfrm>
            <a:off x="3173414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Rectangle 16"/>
          <p:cNvSpPr>
            <a:spLocks noChangeArrowheads="1"/>
          </p:cNvSpPr>
          <p:nvPr/>
        </p:nvSpPr>
        <p:spPr bwMode="auto">
          <a:xfrm>
            <a:off x="3173414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8</a:t>
            </a:r>
          </a:p>
        </p:txBody>
      </p:sp>
      <p:sp>
        <p:nvSpPr>
          <p:cNvPr id="36882" name="Rectangle 18"/>
          <p:cNvSpPr>
            <a:spLocks noChangeArrowheads="1"/>
          </p:cNvSpPr>
          <p:nvPr/>
        </p:nvSpPr>
        <p:spPr bwMode="auto">
          <a:xfrm>
            <a:off x="3660777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3" name="Rectangle 19"/>
          <p:cNvSpPr>
            <a:spLocks noChangeArrowheads="1"/>
          </p:cNvSpPr>
          <p:nvPr/>
        </p:nvSpPr>
        <p:spPr bwMode="auto">
          <a:xfrm>
            <a:off x="3660777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7</a:t>
            </a:r>
          </a:p>
        </p:txBody>
      </p:sp>
      <p:sp>
        <p:nvSpPr>
          <p:cNvPr id="36885" name="Rectangle 21"/>
          <p:cNvSpPr>
            <a:spLocks noChangeArrowheads="1"/>
          </p:cNvSpPr>
          <p:nvPr/>
        </p:nvSpPr>
        <p:spPr bwMode="auto">
          <a:xfrm>
            <a:off x="4148140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4148140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6</a:t>
            </a:r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4635503" y="3125787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9" name="Rectangle 25"/>
          <p:cNvSpPr>
            <a:spLocks noChangeArrowheads="1"/>
          </p:cNvSpPr>
          <p:nvPr/>
        </p:nvSpPr>
        <p:spPr bwMode="auto">
          <a:xfrm>
            <a:off x="4635503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5</a:t>
            </a:r>
          </a:p>
        </p:txBody>
      </p:sp>
      <p:sp>
        <p:nvSpPr>
          <p:cNvPr id="36891" name="Rectangle 27"/>
          <p:cNvSpPr>
            <a:spLocks noChangeArrowheads="1"/>
          </p:cNvSpPr>
          <p:nvPr/>
        </p:nvSpPr>
        <p:spPr bwMode="auto">
          <a:xfrm>
            <a:off x="5122866" y="3125787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2" name="Rectangle 28"/>
          <p:cNvSpPr>
            <a:spLocks noChangeArrowheads="1"/>
          </p:cNvSpPr>
          <p:nvPr/>
        </p:nvSpPr>
        <p:spPr bwMode="auto">
          <a:xfrm>
            <a:off x="5122866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4</a:t>
            </a:r>
          </a:p>
        </p:txBody>
      </p:sp>
      <p:sp>
        <p:nvSpPr>
          <p:cNvPr id="36894" name="Rectangle 30"/>
          <p:cNvSpPr>
            <a:spLocks noChangeArrowheads="1"/>
          </p:cNvSpPr>
          <p:nvPr/>
        </p:nvSpPr>
        <p:spPr bwMode="auto">
          <a:xfrm>
            <a:off x="5610229" y="3125787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5" name="Rectangle 31"/>
          <p:cNvSpPr>
            <a:spLocks noChangeArrowheads="1"/>
          </p:cNvSpPr>
          <p:nvPr/>
        </p:nvSpPr>
        <p:spPr bwMode="auto">
          <a:xfrm>
            <a:off x="5610229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3</a:t>
            </a:r>
          </a:p>
        </p:txBody>
      </p:sp>
      <p:sp>
        <p:nvSpPr>
          <p:cNvPr id="36897" name="Rectangle 33"/>
          <p:cNvSpPr>
            <a:spLocks noChangeArrowheads="1"/>
          </p:cNvSpPr>
          <p:nvPr/>
        </p:nvSpPr>
        <p:spPr bwMode="auto">
          <a:xfrm>
            <a:off x="6097591" y="3125787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8" name="Rectangle 34"/>
          <p:cNvSpPr>
            <a:spLocks noChangeArrowheads="1"/>
          </p:cNvSpPr>
          <p:nvPr/>
        </p:nvSpPr>
        <p:spPr bwMode="auto">
          <a:xfrm>
            <a:off x="6097591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2</a:t>
            </a:r>
          </a:p>
        </p:txBody>
      </p:sp>
      <p:sp>
        <p:nvSpPr>
          <p:cNvPr id="36900" name="Rectangle 36"/>
          <p:cNvSpPr>
            <a:spLocks noChangeArrowheads="1"/>
          </p:cNvSpPr>
          <p:nvPr/>
        </p:nvSpPr>
        <p:spPr bwMode="auto">
          <a:xfrm>
            <a:off x="6584953" y="3125787"/>
            <a:ext cx="4873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1" name="Rectangle 37"/>
          <p:cNvSpPr>
            <a:spLocks noChangeArrowheads="1"/>
          </p:cNvSpPr>
          <p:nvPr/>
        </p:nvSpPr>
        <p:spPr bwMode="auto">
          <a:xfrm>
            <a:off x="6584953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</a:t>
            </a:r>
          </a:p>
        </p:txBody>
      </p:sp>
      <p:sp>
        <p:nvSpPr>
          <p:cNvPr id="36903" name="Rectangle 39"/>
          <p:cNvSpPr>
            <a:spLocks noChangeArrowheads="1"/>
          </p:cNvSpPr>
          <p:nvPr/>
        </p:nvSpPr>
        <p:spPr bwMode="auto">
          <a:xfrm>
            <a:off x="7072312" y="3125787"/>
            <a:ext cx="4873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4" name="Rectangle 40"/>
          <p:cNvSpPr>
            <a:spLocks noChangeArrowheads="1"/>
          </p:cNvSpPr>
          <p:nvPr/>
        </p:nvSpPr>
        <p:spPr bwMode="auto">
          <a:xfrm>
            <a:off x="7072312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652964" y="3478212"/>
            <a:ext cx="2924175" cy="333375"/>
            <a:chOff x="2931" y="2156"/>
            <a:chExt cx="1842" cy="210"/>
          </a:xfrm>
        </p:grpSpPr>
        <p:sp>
          <p:nvSpPr>
            <p:cNvPr id="36906" name="Line 42"/>
            <p:cNvSpPr>
              <a:spLocks noChangeShapeType="1"/>
            </p:cNvSpPr>
            <p:nvPr/>
          </p:nvSpPr>
          <p:spPr bwMode="auto">
            <a:xfrm>
              <a:off x="2931" y="2247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Text Box 43"/>
            <p:cNvSpPr txBox="1">
              <a:spLocks noChangeArrowheads="1"/>
            </p:cNvSpPr>
            <p:nvPr/>
          </p:nvSpPr>
          <p:spPr bwMode="auto">
            <a:xfrm>
              <a:off x="3638" y="2156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757364" y="3478212"/>
            <a:ext cx="2924175" cy="333375"/>
            <a:chOff x="1107" y="2156"/>
            <a:chExt cx="1842" cy="210"/>
          </a:xfrm>
        </p:grpSpPr>
        <p:sp>
          <p:nvSpPr>
            <p:cNvPr id="36909" name="Line 45"/>
            <p:cNvSpPr>
              <a:spLocks noChangeShapeType="1"/>
            </p:cNvSpPr>
            <p:nvPr/>
          </p:nvSpPr>
          <p:spPr bwMode="auto">
            <a:xfrm>
              <a:off x="1107" y="2247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Text Box 46"/>
            <p:cNvSpPr txBox="1">
              <a:spLocks noChangeArrowheads="1"/>
            </p:cNvSpPr>
            <p:nvPr/>
          </p:nvSpPr>
          <p:spPr bwMode="auto">
            <a:xfrm>
              <a:off x="1814" y="2156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6556382" y="2523067"/>
            <a:ext cx="992189" cy="306388"/>
            <a:chOff x="4130" y="1501"/>
            <a:chExt cx="625" cy="193"/>
          </a:xfrm>
        </p:grpSpPr>
        <p:sp>
          <p:nvSpPr>
            <p:cNvPr id="36912" name="Line 48"/>
            <p:cNvSpPr>
              <a:spLocks noChangeShapeType="1"/>
            </p:cNvSpPr>
            <p:nvPr/>
          </p:nvSpPr>
          <p:spPr bwMode="auto">
            <a:xfrm>
              <a:off x="4130" y="1579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Text Box 49"/>
            <p:cNvSpPr txBox="1">
              <a:spLocks noChangeArrowheads="1"/>
            </p:cNvSpPr>
            <p:nvPr/>
          </p:nvSpPr>
          <p:spPr bwMode="auto">
            <a:xfrm>
              <a:off x="4316" y="1501"/>
              <a:ext cx="271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CO</a:t>
              </a:r>
            </a:p>
          </p:txBody>
        </p:sp>
      </p:grp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4627033" y="2519363"/>
            <a:ext cx="1927225" cy="306388"/>
            <a:chOff x="2920" y="1488"/>
            <a:chExt cx="1214" cy="193"/>
          </a:xfrm>
        </p:grpSpPr>
        <p:sp>
          <p:nvSpPr>
            <p:cNvPr id="36915" name="Line 51"/>
            <p:cNvSpPr>
              <a:spLocks noChangeShapeType="1"/>
            </p:cNvSpPr>
            <p:nvPr/>
          </p:nvSpPr>
          <p:spPr bwMode="auto">
            <a:xfrm>
              <a:off x="2920" y="1566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16" name="Text Box 52"/>
            <p:cNvSpPr txBox="1">
              <a:spLocks noChangeArrowheads="1"/>
            </p:cNvSpPr>
            <p:nvPr/>
          </p:nvSpPr>
          <p:spPr bwMode="auto">
            <a:xfrm>
              <a:off x="3460" y="1488"/>
              <a:ext cx="21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CI</a:t>
              </a:r>
            </a:p>
          </p:txBody>
        </p:sp>
      </p:grp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1711325" y="2514600"/>
            <a:ext cx="2894013" cy="306388"/>
            <a:chOff x="1078" y="1501"/>
            <a:chExt cx="1823" cy="193"/>
          </a:xfrm>
        </p:grpSpPr>
        <p:sp>
          <p:nvSpPr>
            <p:cNvPr id="36918" name="Line 54"/>
            <p:cNvSpPr>
              <a:spLocks noChangeShapeType="1"/>
            </p:cNvSpPr>
            <p:nvPr/>
          </p:nvSpPr>
          <p:spPr bwMode="auto">
            <a:xfrm>
              <a:off x="1078" y="1579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19" name="Text Box 55"/>
            <p:cNvSpPr txBox="1">
              <a:spLocks noChangeArrowheads="1"/>
            </p:cNvSpPr>
            <p:nvPr/>
          </p:nvSpPr>
          <p:spPr bwMode="auto">
            <a:xfrm>
              <a:off x="1928" y="1501"/>
              <a:ext cx="24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CT</a:t>
              </a:r>
            </a:p>
          </p:txBody>
        </p:sp>
      </p:grpSp>
      <p:sp>
        <p:nvSpPr>
          <p:cNvPr id="36928" name="Rectangle 64"/>
          <p:cNvSpPr>
            <a:spLocks noChangeArrowheads="1"/>
          </p:cNvSpPr>
          <p:nvPr/>
        </p:nvSpPr>
        <p:spPr bwMode="auto">
          <a:xfrm>
            <a:off x="3875088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03</a:t>
            </a:r>
          </a:p>
        </p:txBody>
      </p:sp>
      <p:sp>
        <p:nvSpPr>
          <p:cNvPr id="36929" name="Rectangle 65"/>
          <p:cNvSpPr>
            <a:spLocks noChangeArrowheads="1"/>
          </p:cNvSpPr>
          <p:nvPr/>
        </p:nvSpPr>
        <p:spPr bwMode="auto">
          <a:xfrm>
            <a:off x="3255963" y="635000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DF</a:t>
            </a:r>
          </a:p>
        </p:txBody>
      </p:sp>
      <p:sp>
        <p:nvSpPr>
          <p:cNvPr id="36930" name="Rectangle 66"/>
          <p:cNvSpPr>
            <a:spLocks noChangeArrowheads="1"/>
          </p:cNvSpPr>
          <p:nvPr/>
        </p:nvSpPr>
        <p:spPr bwMode="auto">
          <a:xfrm>
            <a:off x="2635250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C2</a:t>
            </a:r>
          </a:p>
        </p:txBody>
      </p:sp>
      <p:sp>
        <p:nvSpPr>
          <p:cNvPr id="36931" name="Rectangle 67"/>
          <p:cNvSpPr>
            <a:spLocks noChangeArrowheads="1"/>
          </p:cNvSpPr>
          <p:nvPr/>
        </p:nvSpPr>
        <p:spPr bwMode="auto">
          <a:xfrm>
            <a:off x="2012950" y="6350000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11</a:t>
            </a:r>
          </a:p>
        </p:txBody>
      </p:sp>
      <p:sp>
        <p:nvSpPr>
          <p:cNvPr id="36932" name="Rectangle 68"/>
          <p:cNvSpPr>
            <a:spLocks noChangeArrowheads="1"/>
          </p:cNvSpPr>
          <p:nvPr/>
        </p:nvSpPr>
        <p:spPr bwMode="auto">
          <a:xfrm>
            <a:off x="1392238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6933" name="Rectangle 69"/>
          <p:cNvSpPr>
            <a:spLocks noChangeArrowheads="1"/>
          </p:cNvSpPr>
          <p:nvPr/>
        </p:nvSpPr>
        <p:spPr bwMode="auto">
          <a:xfrm>
            <a:off x="773113" y="635000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16</a:t>
            </a:r>
          </a:p>
        </p:txBody>
      </p:sp>
      <p:sp>
        <p:nvSpPr>
          <p:cNvPr id="36934" name="Rectangle 70"/>
          <p:cNvSpPr>
            <a:spLocks noChangeArrowheads="1"/>
          </p:cNvSpPr>
          <p:nvPr/>
        </p:nvSpPr>
        <p:spPr bwMode="auto">
          <a:xfrm>
            <a:off x="152400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6942" name="Rectangle 78"/>
          <p:cNvSpPr>
            <a:spLocks noChangeArrowheads="1"/>
          </p:cNvSpPr>
          <p:nvPr/>
        </p:nvSpPr>
        <p:spPr bwMode="auto">
          <a:xfrm>
            <a:off x="3875088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43" name="Rectangle 79"/>
          <p:cNvSpPr>
            <a:spLocks noChangeArrowheads="1"/>
          </p:cNvSpPr>
          <p:nvPr/>
        </p:nvSpPr>
        <p:spPr bwMode="auto">
          <a:xfrm>
            <a:off x="3255963" y="606901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44" name="Rectangle 80"/>
          <p:cNvSpPr>
            <a:spLocks noChangeArrowheads="1"/>
          </p:cNvSpPr>
          <p:nvPr/>
        </p:nvSpPr>
        <p:spPr bwMode="auto">
          <a:xfrm>
            <a:off x="2635250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45" name="Rectangle 81"/>
          <p:cNvSpPr>
            <a:spLocks noChangeArrowheads="1"/>
          </p:cNvSpPr>
          <p:nvPr/>
        </p:nvSpPr>
        <p:spPr bwMode="auto">
          <a:xfrm>
            <a:off x="2012950" y="6069013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46" name="Rectangle 82"/>
          <p:cNvSpPr>
            <a:spLocks noChangeArrowheads="1"/>
          </p:cNvSpPr>
          <p:nvPr/>
        </p:nvSpPr>
        <p:spPr bwMode="auto">
          <a:xfrm>
            <a:off x="1392238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6947" name="Rectangle 83"/>
          <p:cNvSpPr>
            <a:spLocks noChangeArrowheads="1"/>
          </p:cNvSpPr>
          <p:nvPr/>
        </p:nvSpPr>
        <p:spPr bwMode="auto">
          <a:xfrm>
            <a:off x="773113" y="606901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31</a:t>
            </a:r>
          </a:p>
        </p:txBody>
      </p:sp>
      <p:sp>
        <p:nvSpPr>
          <p:cNvPr id="36948" name="Rectangle 84"/>
          <p:cNvSpPr>
            <a:spLocks noChangeArrowheads="1"/>
          </p:cNvSpPr>
          <p:nvPr/>
        </p:nvSpPr>
        <p:spPr bwMode="auto">
          <a:xfrm>
            <a:off x="152400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6956" name="Rectangle 92"/>
          <p:cNvSpPr>
            <a:spLocks noChangeArrowheads="1"/>
          </p:cNvSpPr>
          <p:nvPr/>
        </p:nvSpPr>
        <p:spPr bwMode="auto">
          <a:xfrm>
            <a:off x="3875088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1D</a:t>
            </a:r>
          </a:p>
        </p:txBody>
      </p:sp>
      <p:sp>
        <p:nvSpPr>
          <p:cNvPr id="36957" name="Rectangle 93"/>
          <p:cNvSpPr>
            <a:spLocks noChangeArrowheads="1"/>
          </p:cNvSpPr>
          <p:nvPr/>
        </p:nvSpPr>
        <p:spPr bwMode="auto">
          <a:xfrm>
            <a:off x="3255963" y="578802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F0</a:t>
            </a:r>
          </a:p>
        </p:txBody>
      </p:sp>
      <p:sp>
        <p:nvSpPr>
          <p:cNvPr id="36958" name="Rectangle 94"/>
          <p:cNvSpPr>
            <a:spLocks noChangeArrowheads="1"/>
          </p:cNvSpPr>
          <p:nvPr/>
        </p:nvSpPr>
        <p:spPr bwMode="auto">
          <a:xfrm>
            <a:off x="2635250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72</a:t>
            </a:r>
          </a:p>
        </p:txBody>
      </p:sp>
      <p:sp>
        <p:nvSpPr>
          <p:cNvPr id="36959" name="Rectangle 95"/>
          <p:cNvSpPr>
            <a:spLocks noChangeArrowheads="1"/>
          </p:cNvSpPr>
          <p:nvPr/>
        </p:nvSpPr>
        <p:spPr bwMode="auto">
          <a:xfrm>
            <a:off x="2012950" y="5788025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36</a:t>
            </a:r>
          </a:p>
        </p:txBody>
      </p:sp>
      <p:sp>
        <p:nvSpPr>
          <p:cNvPr id="36960" name="Rectangle 96"/>
          <p:cNvSpPr>
            <a:spLocks noChangeArrowheads="1"/>
          </p:cNvSpPr>
          <p:nvPr/>
        </p:nvSpPr>
        <p:spPr bwMode="auto">
          <a:xfrm>
            <a:off x="1392238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6961" name="Rectangle 97"/>
          <p:cNvSpPr>
            <a:spLocks noChangeArrowheads="1"/>
          </p:cNvSpPr>
          <p:nvPr/>
        </p:nvSpPr>
        <p:spPr bwMode="auto">
          <a:xfrm>
            <a:off x="773113" y="578802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0D</a:t>
            </a:r>
          </a:p>
        </p:txBody>
      </p:sp>
      <p:sp>
        <p:nvSpPr>
          <p:cNvPr id="36962" name="Rectangle 98"/>
          <p:cNvSpPr>
            <a:spLocks noChangeArrowheads="1"/>
          </p:cNvSpPr>
          <p:nvPr/>
        </p:nvSpPr>
        <p:spPr bwMode="auto">
          <a:xfrm>
            <a:off x="152400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6970" name="Rectangle 106"/>
          <p:cNvSpPr>
            <a:spLocks noChangeArrowheads="1"/>
          </p:cNvSpPr>
          <p:nvPr/>
        </p:nvSpPr>
        <p:spPr bwMode="auto">
          <a:xfrm>
            <a:off x="3875088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09</a:t>
            </a:r>
          </a:p>
        </p:txBody>
      </p:sp>
      <p:sp>
        <p:nvSpPr>
          <p:cNvPr id="36971" name="Rectangle 107"/>
          <p:cNvSpPr>
            <a:spLocks noChangeArrowheads="1"/>
          </p:cNvSpPr>
          <p:nvPr/>
        </p:nvSpPr>
        <p:spPr bwMode="auto">
          <a:xfrm>
            <a:off x="3255963" y="5481638"/>
            <a:ext cx="619125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8F</a:t>
            </a:r>
          </a:p>
        </p:txBody>
      </p:sp>
      <p:sp>
        <p:nvSpPr>
          <p:cNvPr id="36972" name="Rectangle 108"/>
          <p:cNvSpPr>
            <a:spLocks noChangeArrowheads="1"/>
          </p:cNvSpPr>
          <p:nvPr/>
        </p:nvSpPr>
        <p:spPr bwMode="auto">
          <a:xfrm>
            <a:off x="2635250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6D</a:t>
            </a:r>
          </a:p>
        </p:txBody>
      </p:sp>
      <p:sp>
        <p:nvSpPr>
          <p:cNvPr id="36973" name="Rectangle 109"/>
          <p:cNvSpPr>
            <a:spLocks noChangeArrowheads="1"/>
          </p:cNvSpPr>
          <p:nvPr/>
        </p:nvSpPr>
        <p:spPr bwMode="auto">
          <a:xfrm>
            <a:off x="2012950" y="5481638"/>
            <a:ext cx="622300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43</a:t>
            </a:r>
          </a:p>
        </p:txBody>
      </p:sp>
      <p:sp>
        <p:nvSpPr>
          <p:cNvPr id="36974" name="Rectangle 110"/>
          <p:cNvSpPr>
            <a:spLocks noChangeArrowheads="1"/>
          </p:cNvSpPr>
          <p:nvPr/>
        </p:nvSpPr>
        <p:spPr bwMode="auto">
          <a:xfrm>
            <a:off x="1392238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6975" name="Rectangle 111"/>
          <p:cNvSpPr>
            <a:spLocks noChangeArrowheads="1"/>
          </p:cNvSpPr>
          <p:nvPr/>
        </p:nvSpPr>
        <p:spPr bwMode="auto">
          <a:xfrm>
            <a:off x="773113" y="5481638"/>
            <a:ext cx="619125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32</a:t>
            </a:r>
          </a:p>
        </p:txBody>
      </p:sp>
      <p:sp>
        <p:nvSpPr>
          <p:cNvPr id="36976" name="Rectangle 112"/>
          <p:cNvSpPr>
            <a:spLocks noChangeArrowheads="1"/>
          </p:cNvSpPr>
          <p:nvPr/>
        </p:nvSpPr>
        <p:spPr bwMode="auto">
          <a:xfrm>
            <a:off x="152400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6984" name="Rectangle 120"/>
          <p:cNvSpPr>
            <a:spLocks noChangeArrowheads="1"/>
          </p:cNvSpPr>
          <p:nvPr/>
        </p:nvSpPr>
        <p:spPr bwMode="auto">
          <a:xfrm>
            <a:off x="3875088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85" name="Rectangle 121"/>
          <p:cNvSpPr>
            <a:spLocks noChangeArrowheads="1"/>
          </p:cNvSpPr>
          <p:nvPr/>
        </p:nvSpPr>
        <p:spPr bwMode="auto">
          <a:xfrm>
            <a:off x="3255963" y="520065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86" name="Rectangle 122"/>
          <p:cNvSpPr>
            <a:spLocks noChangeArrowheads="1"/>
          </p:cNvSpPr>
          <p:nvPr/>
        </p:nvSpPr>
        <p:spPr bwMode="auto">
          <a:xfrm>
            <a:off x="2635250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87" name="Rectangle 123"/>
          <p:cNvSpPr>
            <a:spLocks noChangeArrowheads="1"/>
          </p:cNvSpPr>
          <p:nvPr/>
        </p:nvSpPr>
        <p:spPr bwMode="auto">
          <a:xfrm>
            <a:off x="2012950" y="5200650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88" name="Rectangle 124"/>
          <p:cNvSpPr>
            <a:spLocks noChangeArrowheads="1"/>
          </p:cNvSpPr>
          <p:nvPr/>
        </p:nvSpPr>
        <p:spPr bwMode="auto">
          <a:xfrm>
            <a:off x="1392238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6989" name="Rectangle 125"/>
          <p:cNvSpPr>
            <a:spLocks noChangeArrowheads="1"/>
          </p:cNvSpPr>
          <p:nvPr/>
        </p:nvSpPr>
        <p:spPr bwMode="auto">
          <a:xfrm>
            <a:off x="773113" y="520065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36</a:t>
            </a:r>
          </a:p>
        </p:txBody>
      </p:sp>
      <p:sp>
        <p:nvSpPr>
          <p:cNvPr id="36990" name="Rectangle 126"/>
          <p:cNvSpPr>
            <a:spLocks noChangeArrowheads="1"/>
          </p:cNvSpPr>
          <p:nvPr/>
        </p:nvSpPr>
        <p:spPr bwMode="auto">
          <a:xfrm>
            <a:off x="152400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6998" name="Rectangle 134"/>
          <p:cNvSpPr>
            <a:spLocks noChangeArrowheads="1"/>
          </p:cNvSpPr>
          <p:nvPr/>
        </p:nvSpPr>
        <p:spPr bwMode="auto">
          <a:xfrm>
            <a:off x="3875088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08</a:t>
            </a:r>
          </a:p>
        </p:txBody>
      </p:sp>
      <p:sp>
        <p:nvSpPr>
          <p:cNvPr id="36999" name="Rectangle 135"/>
          <p:cNvSpPr>
            <a:spLocks noChangeArrowheads="1"/>
          </p:cNvSpPr>
          <p:nvPr/>
        </p:nvSpPr>
        <p:spPr bwMode="auto">
          <a:xfrm>
            <a:off x="3255963" y="491966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04</a:t>
            </a:r>
          </a:p>
        </p:txBody>
      </p:sp>
      <p:sp>
        <p:nvSpPr>
          <p:cNvPr id="37000" name="Rectangle 136"/>
          <p:cNvSpPr>
            <a:spLocks noChangeArrowheads="1"/>
          </p:cNvSpPr>
          <p:nvPr/>
        </p:nvSpPr>
        <p:spPr bwMode="auto">
          <a:xfrm>
            <a:off x="2635250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02</a:t>
            </a:r>
          </a:p>
        </p:txBody>
      </p:sp>
      <p:sp>
        <p:nvSpPr>
          <p:cNvPr id="37001" name="Rectangle 137"/>
          <p:cNvSpPr>
            <a:spLocks noChangeArrowheads="1"/>
          </p:cNvSpPr>
          <p:nvPr/>
        </p:nvSpPr>
        <p:spPr bwMode="auto">
          <a:xfrm>
            <a:off x="2012950" y="4919663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00</a:t>
            </a:r>
          </a:p>
        </p:txBody>
      </p:sp>
      <p:sp>
        <p:nvSpPr>
          <p:cNvPr id="37002" name="Rectangle 138"/>
          <p:cNvSpPr>
            <a:spLocks noChangeArrowheads="1"/>
          </p:cNvSpPr>
          <p:nvPr/>
        </p:nvSpPr>
        <p:spPr bwMode="auto">
          <a:xfrm>
            <a:off x="1392238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7003" name="Rectangle 139"/>
          <p:cNvSpPr>
            <a:spLocks noChangeArrowheads="1"/>
          </p:cNvSpPr>
          <p:nvPr/>
        </p:nvSpPr>
        <p:spPr bwMode="auto">
          <a:xfrm>
            <a:off x="773113" y="491966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1B</a:t>
            </a:r>
          </a:p>
        </p:txBody>
      </p:sp>
      <p:sp>
        <p:nvSpPr>
          <p:cNvPr id="37004" name="Rectangle 140"/>
          <p:cNvSpPr>
            <a:spLocks noChangeArrowheads="1"/>
          </p:cNvSpPr>
          <p:nvPr/>
        </p:nvSpPr>
        <p:spPr bwMode="auto">
          <a:xfrm>
            <a:off x="152400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012" name="Rectangle 148"/>
          <p:cNvSpPr>
            <a:spLocks noChangeArrowheads="1"/>
          </p:cNvSpPr>
          <p:nvPr/>
        </p:nvSpPr>
        <p:spPr bwMode="auto">
          <a:xfrm>
            <a:off x="3875088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7013" name="Rectangle 149"/>
          <p:cNvSpPr>
            <a:spLocks noChangeArrowheads="1"/>
          </p:cNvSpPr>
          <p:nvPr/>
        </p:nvSpPr>
        <p:spPr bwMode="auto">
          <a:xfrm>
            <a:off x="3255963" y="463867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7014" name="Rectangle 150"/>
          <p:cNvSpPr>
            <a:spLocks noChangeArrowheads="1"/>
          </p:cNvSpPr>
          <p:nvPr/>
        </p:nvSpPr>
        <p:spPr bwMode="auto">
          <a:xfrm>
            <a:off x="2635250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7015" name="Rectangle 151"/>
          <p:cNvSpPr>
            <a:spLocks noChangeArrowheads="1"/>
          </p:cNvSpPr>
          <p:nvPr/>
        </p:nvSpPr>
        <p:spPr bwMode="auto">
          <a:xfrm>
            <a:off x="2012950" y="4638675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7016" name="Rectangle 152"/>
          <p:cNvSpPr>
            <a:spLocks noChangeArrowheads="1"/>
          </p:cNvSpPr>
          <p:nvPr/>
        </p:nvSpPr>
        <p:spPr bwMode="auto">
          <a:xfrm>
            <a:off x="1392238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7017" name="Rectangle 153"/>
          <p:cNvSpPr>
            <a:spLocks noChangeArrowheads="1"/>
          </p:cNvSpPr>
          <p:nvPr/>
        </p:nvSpPr>
        <p:spPr bwMode="auto">
          <a:xfrm>
            <a:off x="773113" y="463867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15</a:t>
            </a:r>
          </a:p>
        </p:txBody>
      </p:sp>
      <p:sp>
        <p:nvSpPr>
          <p:cNvPr id="37018" name="Rectangle 154"/>
          <p:cNvSpPr>
            <a:spLocks noChangeArrowheads="1"/>
          </p:cNvSpPr>
          <p:nvPr/>
        </p:nvSpPr>
        <p:spPr bwMode="auto">
          <a:xfrm>
            <a:off x="152400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026" name="Rectangle 162"/>
          <p:cNvSpPr>
            <a:spLocks noChangeArrowheads="1"/>
          </p:cNvSpPr>
          <p:nvPr/>
        </p:nvSpPr>
        <p:spPr bwMode="auto">
          <a:xfrm>
            <a:off x="3875088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11</a:t>
            </a:r>
          </a:p>
        </p:txBody>
      </p:sp>
      <p:sp>
        <p:nvSpPr>
          <p:cNvPr id="37027" name="Rectangle 163"/>
          <p:cNvSpPr>
            <a:spLocks noChangeArrowheads="1"/>
          </p:cNvSpPr>
          <p:nvPr/>
        </p:nvSpPr>
        <p:spPr bwMode="auto">
          <a:xfrm>
            <a:off x="3255963" y="4357688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23</a:t>
            </a:r>
          </a:p>
        </p:txBody>
      </p:sp>
      <p:sp>
        <p:nvSpPr>
          <p:cNvPr id="37028" name="Rectangle 164"/>
          <p:cNvSpPr>
            <a:spLocks noChangeArrowheads="1"/>
          </p:cNvSpPr>
          <p:nvPr/>
        </p:nvSpPr>
        <p:spPr bwMode="auto">
          <a:xfrm>
            <a:off x="2635250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11</a:t>
            </a:r>
          </a:p>
        </p:txBody>
      </p:sp>
      <p:sp>
        <p:nvSpPr>
          <p:cNvPr id="37029" name="Rectangle 165"/>
          <p:cNvSpPr>
            <a:spLocks noChangeArrowheads="1"/>
          </p:cNvSpPr>
          <p:nvPr/>
        </p:nvSpPr>
        <p:spPr bwMode="auto">
          <a:xfrm>
            <a:off x="2012950" y="4357688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99</a:t>
            </a:r>
          </a:p>
        </p:txBody>
      </p:sp>
      <p:sp>
        <p:nvSpPr>
          <p:cNvPr id="37030" name="Rectangle 166"/>
          <p:cNvSpPr>
            <a:spLocks noChangeArrowheads="1"/>
          </p:cNvSpPr>
          <p:nvPr/>
        </p:nvSpPr>
        <p:spPr bwMode="auto">
          <a:xfrm>
            <a:off x="1392238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7031" name="Rectangle 167"/>
          <p:cNvSpPr>
            <a:spLocks noChangeArrowheads="1"/>
          </p:cNvSpPr>
          <p:nvPr/>
        </p:nvSpPr>
        <p:spPr bwMode="auto">
          <a:xfrm>
            <a:off x="773113" y="4357688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19</a:t>
            </a:r>
          </a:p>
        </p:txBody>
      </p:sp>
      <p:sp>
        <p:nvSpPr>
          <p:cNvPr id="37032" name="Rectangle 168"/>
          <p:cNvSpPr>
            <a:spLocks noChangeArrowheads="1"/>
          </p:cNvSpPr>
          <p:nvPr/>
        </p:nvSpPr>
        <p:spPr bwMode="auto">
          <a:xfrm>
            <a:off x="152400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7040" name="Rectangle 176"/>
          <p:cNvSpPr>
            <a:spLocks noChangeArrowheads="1"/>
          </p:cNvSpPr>
          <p:nvPr/>
        </p:nvSpPr>
        <p:spPr bwMode="auto">
          <a:xfrm>
            <a:off x="3875088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B3</a:t>
            </a:r>
          </a:p>
        </p:txBody>
      </p:sp>
      <p:sp>
        <p:nvSpPr>
          <p:cNvPr id="37041" name="Rectangle 177"/>
          <p:cNvSpPr>
            <a:spLocks noChangeArrowheads="1"/>
          </p:cNvSpPr>
          <p:nvPr/>
        </p:nvSpPr>
        <p:spPr bwMode="auto">
          <a:xfrm>
            <a:off x="3255963" y="4076700"/>
            <a:ext cx="619125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B2</a:t>
            </a:r>
          </a:p>
        </p:txBody>
      </p:sp>
      <p:sp>
        <p:nvSpPr>
          <p:cNvPr id="37042" name="Rectangle 178"/>
          <p:cNvSpPr>
            <a:spLocks noChangeArrowheads="1"/>
          </p:cNvSpPr>
          <p:nvPr/>
        </p:nvSpPr>
        <p:spPr bwMode="auto">
          <a:xfrm>
            <a:off x="2635250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B1</a:t>
            </a:r>
          </a:p>
        </p:txBody>
      </p:sp>
      <p:sp>
        <p:nvSpPr>
          <p:cNvPr id="37043" name="Rectangle 179"/>
          <p:cNvSpPr>
            <a:spLocks noChangeArrowheads="1"/>
          </p:cNvSpPr>
          <p:nvPr/>
        </p:nvSpPr>
        <p:spPr bwMode="auto">
          <a:xfrm>
            <a:off x="2012950" y="4076700"/>
            <a:ext cx="622300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B0</a:t>
            </a:r>
          </a:p>
        </p:txBody>
      </p:sp>
      <p:sp>
        <p:nvSpPr>
          <p:cNvPr id="37044" name="Rectangle 180"/>
          <p:cNvSpPr>
            <a:spLocks noChangeArrowheads="1"/>
          </p:cNvSpPr>
          <p:nvPr/>
        </p:nvSpPr>
        <p:spPr bwMode="auto">
          <a:xfrm>
            <a:off x="1392238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7045" name="Rectangle 181"/>
          <p:cNvSpPr>
            <a:spLocks noChangeArrowheads="1"/>
          </p:cNvSpPr>
          <p:nvPr/>
        </p:nvSpPr>
        <p:spPr bwMode="auto">
          <a:xfrm>
            <a:off x="773113" y="4076700"/>
            <a:ext cx="619125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</a:p>
        </p:txBody>
      </p:sp>
      <p:sp>
        <p:nvSpPr>
          <p:cNvPr id="37046" name="Rectangle 182"/>
          <p:cNvSpPr>
            <a:spLocks noChangeArrowheads="1"/>
          </p:cNvSpPr>
          <p:nvPr/>
        </p:nvSpPr>
        <p:spPr bwMode="auto">
          <a:xfrm>
            <a:off x="152400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 err="1">
                <a:solidFill>
                  <a:srgbClr val="990000"/>
                </a:solidFill>
                <a:latin typeface="Calibri" pitchFamily="34" charset="0"/>
              </a:rPr>
              <a:t>Idx</a:t>
            </a:r>
            <a:endParaRPr lang="en-GB" sz="14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7" name="Line 183"/>
          <p:cNvSpPr>
            <a:spLocks noChangeShapeType="1"/>
          </p:cNvSpPr>
          <p:nvPr/>
        </p:nvSpPr>
        <p:spPr bwMode="auto">
          <a:xfrm>
            <a:off x="152400" y="4357688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37048" name="Line 184"/>
          <p:cNvSpPr>
            <a:spLocks noChangeShapeType="1"/>
          </p:cNvSpPr>
          <p:nvPr/>
        </p:nvSpPr>
        <p:spPr bwMode="auto">
          <a:xfrm>
            <a:off x="152400" y="4638675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49" name="Line 185"/>
          <p:cNvSpPr>
            <a:spLocks noChangeShapeType="1"/>
          </p:cNvSpPr>
          <p:nvPr/>
        </p:nvSpPr>
        <p:spPr bwMode="auto">
          <a:xfrm>
            <a:off x="152400" y="4919663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0" name="Line 186"/>
          <p:cNvSpPr>
            <a:spLocks noChangeShapeType="1"/>
          </p:cNvSpPr>
          <p:nvPr/>
        </p:nvSpPr>
        <p:spPr bwMode="auto">
          <a:xfrm>
            <a:off x="152400" y="5200650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1" name="Line 187"/>
          <p:cNvSpPr>
            <a:spLocks noChangeShapeType="1"/>
          </p:cNvSpPr>
          <p:nvPr/>
        </p:nvSpPr>
        <p:spPr bwMode="auto">
          <a:xfrm>
            <a:off x="152400" y="5484812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2" name="Line 188"/>
          <p:cNvSpPr>
            <a:spLocks noChangeShapeType="1"/>
          </p:cNvSpPr>
          <p:nvPr/>
        </p:nvSpPr>
        <p:spPr bwMode="auto">
          <a:xfrm>
            <a:off x="152400" y="5788025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3" name="Line 189"/>
          <p:cNvSpPr>
            <a:spLocks noChangeShapeType="1"/>
          </p:cNvSpPr>
          <p:nvPr/>
        </p:nvSpPr>
        <p:spPr bwMode="auto">
          <a:xfrm>
            <a:off x="152400" y="6069013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4" name="Line 190"/>
          <p:cNvSpPr>
            <a:spLocks noChangeShapeType="1"/>
          </p:cNvSpPr>
          <p:nvPr/>
        </p:nvSpPr>
        <p:spPr bwMode="auto">
          <a:xfrm>
            <a:off x="152400" y="6350000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5" name="Line 191"/>
          <p:cNvSpPr>
            <a:spLocks noChangeShapeType="1"/>
          </p:cNvSpPr>
          <p:nvPr/>
        </p:nvSpPr>
        <p:spPr bwMode="auto">
          <a:xfrm>
            <a:off x="773113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6" name="Line 192"/>
          <p:cNvSpPr>
            <a:spLocks noChangeShapeType="1"/>
          </p:cNvSpPr>
          <p:nvPr/>
        </p:nvSpPr>
        <p:spPr bwMode="auto">
          <a:xfrm>
            <a:off x="1392238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7" name="Line 193"/>
          <p:cNvSpPr>
            <a:spLocks noChangeShapeType="1"/>
          </p:cNvSpPr>
          <p:nvPr/>
        </p:nvSpPr>
        <p:spPr bwMode="auto">
          <a:xfrm>
            <a:off x="2012950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8" name="Line 194"/>
          <p:cNvSpPr>
            <a:spLocks noChangeShapeType="1"/>
          </p:cNvSpPr>
          <p:nvPr/>
        </p:nvSpPr>
        <p:spPr bwMode="auto">
          <a:xfrm>
            <a:off x="2635250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9" name="Line 195"/>
          <p:cNvSpPr>
            <a:spLocks noChangeShapeType="1"/>
          </p:cNvSpPr>
          <p:nvPr/>
        </p:nvSpPr>
        <p:spPr bwMode="auto">
          <a:xfrm>
            <a:off x="3255963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60" name="Line 196"/>
          <p:cNvSpPr>
            <a:spLocks noChangeShapeType="1"/>
          </p:cNvSpPr>
          <p:nvPr/>
        </p:nvSpPr>
        <p:spPr bwMode="auto">
          <a:xfrm>
            <a:off x="3875088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67" name="Line 203"/>
          <p:cNvSpPr>
            <a:spLocks noChangeShapeType="1"/>
          </p:cNvSpPr>
          <p:nvPr/>
        </p:nvSpPr>
        <p:spPr bwMode="auto">
          <a:xfrm>
            <a:off x="152400" y="4076700"/>
            <a:ext cx="1588" cy="25542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69" name="Line 205"/>
          <p:cNvSpPr>
            <a:spLocks noChangeShapeType="1"/>
          </p:cNvSpPr>
          <p:nvPr/>
        </p:nvSpPr>
        <p:spPr bwMode="auto">
          <a:xfrm>
            <a:off x="152400" y="4076700"/>
            <a:ext cx="4325112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37071" name="Line 207"/>
          <p:cNvSpPr>
            <a:spLocks noChangeShapeType="1"/>
          </p:cNvSpPr>
          <p:nvPr/>
        </p:nvSpPr>
        <p:spPr bwMode="auto">
          <a:xfrm>
            <a:off x="152400" y="6630988"/>
            <a:ext cx="4325112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9" name="Line 203"/>
          <p:cNvSpPr>
            <a:spLocks noChangeShapeType="1"/>
          </p:cNvSpPr>
          <p:nvPr/>
        </p:nvSpPr>
        <p:spPr bwMode="auto">
          <a:xfrm>
            <a:off x="4487333" y="4083579"/>
            <a:ext cx="1588" cy="25542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" name="Rectangle 57"/>
          <p:cNvSpPr>
            <a:spLocks noChangeArrowheads="1"/>
          </p:cNvSpPr>
          <p:nvPr/>
        </p:nvSpPr>
        <p:spPr bwMode="auto">
          <a:xfrm>
            <a:off x="8370888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11" name="Rectangle 58"/>
          <p:cNvSpPr>
            <a:spLocks noChangeArrowheads="1"/>
          </p:cNvSpPr>
          <p:nvPr/>
        </p:nvSpPr>
        <p:spPr bwMode="auto">
          <a:xfrm>
            <a:off x="7751763" y="635000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12" name="Rectangle 59"/>
          <p:cNvSpPr>
            <a:spLocks noChangeArrowheads="1"/>
          </p:cNvSpPr>
          <p:nvPr/>
        </p:nvSpPr>
        <p:spPr bwMode="auto">
          <a:xfrm>
            <a:off x="7131050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13" name="Rectangle 60"/>
          <p:cNvSpPr>
            <a:spLocks noChangeArrowheads="1"/>
          </p:cNvSpPr>
          <p:nvPr/>
        </p:nvSpPr>
        <p:spPr bwMode="auto">
          <a:xfrm>
            <a:off x="6508750" y="6350000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14" name="Rectangle 61"/>
          <p:cNvSpPr>
            <a:spLocks noChangeArrowheads="1"/>
          </p:cNvSpPr>
          <p:nvPr/>
        </p:nvSpPr>
        <p:spPr bwMode="auto">
          <a:xfrm>
            <a:off x="5888038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215" name="Rectangle 62"/>
          <p:cNvSpPr>
            <a:spLocks noChangeArrowheads="1"/>
          </p:cNvSpPr>
          <p:nvPr/>
        </p:nvSpPr>
        <p:spPr bwMode="auto">
          <a:xfrm>
            <a:off x="5268913" y="635000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14</a:t>
            </a:r>
          </a:p>
        </p:txBody>
      </p:sp>
      <p:sp>
        <p:nvSpPr>
          <p:cNvPr id="216" name="Rectangle 63"/>
          <p:cNvSpPr>
            <a:spLocks noChangeArrowheads="1"/>
          </p:cNvSpPr>
          <p:nvPr/>
        </p:nvSpPr>
        <p:spPr bwMode="auto">
          <a:xfrm>
            <a:off x="4648200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F</a:t>
            </a:r>
          </a:p>
        </p:txBody>
      </p:sp>
      <p:sp>
        <p:nvSpPr>
          <p:cNvPr id="217" name="Rectangle 71"/>
          <p:cNvSpPr>
            <a:spLocks noChangeArrowheads="1"/>
          </p:cNvSpPr>
          <p:nvPr/>
        </p:nvSpPr>
        <p:spPr bwMode="auto">
          <a:xfrm>
            <a:off x="8370888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D3</a:t>
            </a:r>
          </a:p>
        </p:txBody>
      </p:sp>
      <p:sp>
        <p:nvSpPr>
          <p:cNvPr id="218" name="Rectangle 72"/>
          <p:cNvSpPr>
            <a:spLocks noChangeArrowheads="1"/>
          </p:cNvSpPr>
          <p:nvPr/>
        </p:nvSpPr>
        <p:spPr bwMode="auto">
          <a:xfrm>
            <a:off x="7751763" y="606901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1B</a:t>
            </a:r>
          </a:p>
        </p:txBody>
      </p:sp>
      <p:sp>
        <p:nvSpPr>
          <p:cNvPr id="219" name="Rectangle 73"/>
          <p:cNvSpPr>
            <a:spLocks noChangeArrowheads="1"/>
          </p:cNvSpPr>
          <p:nvPr/>
        </p:nvSpPr>
        <p:spPr bwMode="auto">
          <a:xfrm>
            <a:off x="7131050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77</a:t>
            </a:r>
          </a:p>
        </p:txBody>
      </p:sp>
      <p:sp>
        <p:nvSpPr>
          <p:cNvPr id="220" name="Rectangle 74"/>
          <p:cNvSpPr>
            <a:spLocks noChangeArrowheads="1"/>
          </p:cNvSpPr>
          <p:nvPr/>
        </p:nvSpPr>
        <p:spPr bwMode="auto">
          <a:xfrm>
            <a:off x="6508750" y="6069013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83</a:t>
            </a:r>
          </a:p>
        </p:txBody>
      </p:sp>
      <p:sp>
        <p:nvSpPr>
          <p:cNvPr id="221" name="Rectangle 75"/>
          <p:cNvSpPr>
            <a:spLocks noChangeArrowheads="1"/>
          </p:cNvSpPr>
          <p:nvPr/>
        </p:nvSpPr>
        <p:spPr bwMode="auto">
          <a:xfrm>
            <a:off x="5888038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222" name="Rectangle 76"/>
          <p:cNvSpPr>
            <a:spLocks noChangeArrowheads="1"/>
          </p:cNvSpPr>
          <p:nvPr/>
        </p:nvSpPr>
        <p:spPr bwMode="auto">
          <a:xfrm>
            <a:off x="5268913" y="606901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13</a:t>
            </a:r>
          </a:p>
        </p:txBody>
      </p:sp>
      <p:sp>
        <p:nvSpPr>
          <p:cNvPr id="223" name="Rectangle 77"/>
          <p:cNvSpPr>
            <a:spLocks noChangeArrowheads="1"/>
          </p:cNvSpPr>
          <p:nvPr/>
        </p:nvSpPr>
        <p:spPr bwMode="auto">
          <a:xfrm>
            <a:off x="4648200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E</a:t>
            </a:r>
          </a:p>
        </p:txBody>
      </p:sp>
      <p:sp>
        <p:nvSpPr>
          <p:cNvPr id="224" name="Rectangle 85"/>
          <p:cNvSpPr>
            <a:spLocks noChangeArrowheads="1"/>
          </p:cNvSpPr>
          <p:nvPr/>
        </p:nvSpPr>
        <p:spPr bwMode="auto">
          <a:xfrm>
            <a:off x="8370888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15</a:t>
            </a:r>
          </a:p>
        </p:txBody>
      </p:sp>
      <p:sp>
        <p:nvSpPr>
          <p:cNvPr id="225" name="Rectangle 86"/>
          <p:cNvSpPr>
            <a:spLocks noChangeArrowheads="1"/>
          </p:cNvSpPr>
          <p:nvPr/>
        </p:nvSpPr>
        <p:spPr bwMode="auto">
          <a:xfrm>
            <a:off x="7751763" y="578802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34</a:t>
            </a:r>
          </a:p>
        </p:txBody>
      </p:sp>
      <p:sp>
        <p:nvSpPr>
          <p:cNvPr id="226" name="Rectangle 87"/>
          <p:cNvSpPr>
            <a:spLocks noChangeArrowheads="1"/>
          </p:cNvSpPr>
          <p:nvPr/>
        </p:nvSpPr>
        <p:spPr bwMode="auto">
          <a:xfrm>
            <a:off x="7131050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96</a:t>
            </a:r>
          </a:p>
        </p:txBody>
      </p:sp>
      <p:sp>
        <p:nvSpPr>
          <p:cNvPr id="227" name="Rectangle 88"/>
          <p:cNvSpPr>
            <a:spLocks noChangeArrowheads="1"/>
          </p:cNvSpPr>
          <p:nvPr/>
        </p:nvSpPr>
        <p:spPr bwMode="auto">
          <a:xfrm>
            <a:off x="6508750" y="5788025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04</a:t>
            </a:r>
          </a:p>
        </p:txBody>
      </p:sp>
      <p:sp>
        <p:nvSpPr>
          <p:cNvPr id="228" name="Rectangle 89"/>
          <p:cNvSpPr>
            <a:spLocks noChangeArrowheads="1"/>
          </p:cNvSpPr>
          <p:nvPr/>
        </p:nvSpPr>
        <p:spPr bwMode="auto">
          <a:xfrm>
            <a:off x="5888038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229" name="Rectangle 90"/>
          <p:cNvSpPr>
            <a:spLocks noChangeArrowheads="1"/>
          </p:cNvSpPr>
          <p:nvPr/>
        </p:nvSpPr>
        <p:spPr bwMode="auto">
          <a:xfrm>
            <a:off x="5268913" y="578802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16</a:t>
            </a:r>
          </a:p>
        </p:txBody>
      </p:sp>
      <p:sp>
        <p:nvSpPr>
          <p:cNvPr id="230" name="Rectangle 91"/>
          <p:cNvSpPr>
            <a:spLocks noChangeArrowheads="1"/>
          </p:cNvSpPr>
          <p:nvPr/>
        </p:nvSpPr>
        <p:spPr bwMode="auto">
          <a:xfrm>
            <a:off x="4648200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D</a:t>
            </a:r>
          </a:p>
        </p:txBody>
      </p:sp>
      <p:sp>
        <p:nvSpPr>
          <p:cNvPr id="231" name="Rectangle 99"/>
          <p:cNvSpPr>
            <a:spLocks noChangeArrowheads="1"/>
          </p:cNvSpPr>
          <p:nvPr/>
        </p:nvSpPr>
        <p:spPr bwMode="auto">
          <a:xfrm>
            <a:off x="8370888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2" name="Rectangle 100"/>
          <p:cNvSpPr>
            <a:spLocks noChangeArrowheads="1"/>
          </p:cNvSpPr>
          <p:nvPr/>
        </p:nvSpPr>
        <p:spPr bwMode="auto">
          <a:xfrm>
            <a:off x="7751763" y="5481638"/>
            <a:ext cx="619125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3" name="Rectangle 101"/>
          <p:cNvSpPr>
            <a:spLocks noChangeArrowheads="1"/>
          </p:cNvSpPr>
          <p:nvPr/>
        </p:nvSpPr>
        <p:spPr bwMode="auto">
          <a:xfrm>
            <a:off x="7131050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4" name="Rectangle 102"/>
          <p:cNvSpPr>
            <a:spLocks noChangeArrowheads="1"/>
          </p:cNvSpPr>
          <p:nvPr/>
        </p:nvSpPr>
        <p:spPr bwMode="auto">
          <a:xfrm>
            <a:off x="6508750" y="5481638"/>
            <a:ext cx="622300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5" name="Rectangle 103"/>
          <p:cNvSpPr>
            <a:spLocks noChangeArrowheads="1"/>
          </p:cNvSpPr>
          <p:nvPr/>
        </p:nvSpPr>
        <p:spPr bwMode="auto">
          <a:xfrm>
            <a:off x="5888038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236" name="Rectangle 104"/>
          <p:cNvSpPr>
            <a:spLocks noChangeArrowheads="1"/>
          </p:cNvSpPr>
          <p:nvPr/>
        </p:nvSpPr>
        <p:spPr bwMode="auto">
          <a:xfrm>
            <a:off x="5268913" y="5481638"/>
            <a:ext cx="619125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12</a:t>
            </a:r>
          </a:p>
        </p:txBody>
      </p:sp>
      <p:sp>
        <p:nvSpPr>
          <p:cNvPr id="237" name="Rectangle 105"/>
          <p:cNvSpPr>
            <a:spLocks noChangeArrowheads="1"/>
          </p:cNvSpPr>
          <p:nvPr/>
        </p:nvSpPr>
        <p:spPr bwMode="auto">
          <a:xfrm>
            <a:off x="4648200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C</a:t>
            </a:r>
          </a:p>
        </p:txBody>
      </p:sp>
      <p:sp>
        <p:nvSpPr>
          <p:cNvPr id="238" name="Rectangle 113"/>
          <p:cNvSpPr>
            <a:spLocks noChangeArrowheads="1"/>
          </p:cNvSpPr>
          <p:nvPr/>
        </p:nvSpPr>
        <p:spPr bwMode="auto">
          <a:xfrm>
            <a:off x="8370888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9" name="Rectangle 114"/>
          <p:cNvSpPr>
            <a:spLocks noChangeArrowheads="1"/>
          </p:cNvSpPr>
          <p:nvPr/>
        </p:nvSpPr>
        <p:spPr bwMode="auto">
          <a:xfrm>
            <a:off x="7751763" y="520065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40" name="Rectangle 115"/>
          <p:cNvSpPr>
            <a:spLocks noChangeArrowheads="1"/>
          </p:cNvSpPr>
          <p:nvPr/>
        </p:nvSpPr>
        <p:spPr bwMode="auto">
          <a:xfrm>
            <a:off x="7131050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41" name="Rectangle 116"/>
          <p:cNvSpPr>
            <a:spLocks noChangeArrowheads="1"/>
          </p:cNvSpPr>
          <p:nvPr/>
        </p:nvSpPr>
        <p:spPr bwMode="auto">
          <a:xfrm>
            <a:off x="6508750" y="5200650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42" name="Rectangle 117"/>
          <p:cNvSpPr>
            <a:spLocks noChangeArrowheads="1"/>
          </p:cNvSpPr>
          <p:nvPr/>
        </p:nvSpPr>
        <p:spPr bwMode="auto">
          <a:xfrm>
            <a:off x="5888038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243" name="Rectangle 118"/>
          <p:cNvSpPr>
            <a:spLocks noChangeArrowheads="1"/>
          </p:cNvSpPr>
          <p:nvPr/>
        </p:nvSpPr>
        <p:spPr bwMode="auto">
          <a:xfrm>
            <a:off x="5268913" y="520065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0B</a:t>
            </a:r>
          </a:p>
        </p:txBody>
      </p:sp>
      <p:sp>
        <p:nvSpPr>
          <p:cNvPr id="244" name="Rectangle 119"/>
          <p:cNvSpPr>
            <a:spLocks noChangeArrowheads="1"/>
          </p:cNvSpPr>
          <p:nvPr/>
        </p:nvSpPr>
        <p:spPr bwMode="auto">
          <a:xfrm>
            <a:off x="4648200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B</a:t>
            </a:r>
          </a:p>
        </p:txBody>
      </p:sp>
      <p:sp>
        <p:nvSpPr>
          <p:cNvPr id="245" name="Rectangle 127"/>
          <p:cNvSpPr>
            <a:spLocks noChangeArrowheads="1"/>
          </p:cNvSpPr>
          <p:nvPr/>
        </p:nvSpPr>
        <p:spPr bwMode="auto">
          <a:xfrm>
            <a:off x="8370888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3B</a:t>
            </a:r>
          </a:p>
        </p:txBody>
      </p:sp>
      <p:sp>
        <p:nvSpPr>
          <p:cNvPr id="246" name="Rectangle 128"/>
          <p:cNvSpPr>
            <a:spLocks noChangeArrowheads="1"/>
          </p:cNvSpPr>
          <p:nvPr/>
        </p:nvSpPr>
        <p:spPr bwMode="auto">
          <a:xfrm>
            <a:off x="7751763" y="491966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</a:t>
            </a:r>
          </a:p>
        </p:txBody>
      </p:sp>
      <p:sp>
        <p:nvSpPr>
          <p:cNvPr id="247" name="Rectangle 129"/>
          <p:cNvSpPr>
            <a:spLocks noChangeArrowheads="1"/>
          </p:cNvSpPr>
          <p:nvPr/>
        </p:nvSpPr>
        <p:spPr bwMode="auto">
          <a:xfrm>
            <a:off x="7131050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15</a:t>
            </a:r>
          </a:p>
        </p:txBody>
      </p:sp>
      <p:sp>
        <p:nvSpPr>
          <p:cNvPr id="248" name="Rectangle 130"/>
          <p:cNvSpPr>
            <a:spLocks noChangeArrowheads="1"/>
          </p:cNvSpPr>
          <p:nvPr/>
        </p:nvSpPr>
        <p:spPr bwMode="auto">
          <a:xfrm>
            <a:off x="6508750" y="4919663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93</a:t>
            </a:r>
          </a:p>
        </p:txBody>
      </p:sp>
      <p:sp>
        <p:nvSpPr>
          <p:cNvPr id="249" name="Rectangle 131"/>
          <p:cNvSpPr>
            <a:spLocks noChangeArrowheads="1"/>
          </p:cNvSpPr>
          <p:nvPr/>
        </p:nvSpPr>
        <p:spPr bwMode="auto">
          <a:xfrm>
            <a:off x="5888038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250" name="Rectangle 132"/>
          <p:cNvSpPr>
            <a:spLocks noChangeArrowheads="1"/>
          </p:cNvSpPr>
          <p:nvPr/>
        </p:nvSpPr>
        <p:spPr bwMode="auto">
          <a:xfrm>
            <a:off x="5268913" y="491966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2D</a:t>
            </a:r>
          </a:p>
        </p:txBody>
      </p:sp>
      <p:sp>
        <p:nvSpPr>
          <p:cNvPr id="251" name="Rectangle 133"/>
          <p:cNvSpPr>
            <a:spLocks noChangeArrowheads="1"/>
          </p:cNvSpPr>
          <p:nvPr/>
        </p:nvSpPr>
        <p:spPr bwMode="auto">
          <a:xfrm>
            <a:off x="4648200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252" name="Rectangle 141"/>
          <p:cNvSpPr>
            <a:spLocks noChangeArrowheads="1"/>
          </p:cNvSpPr>
          <p:nvPr/>
        </p:nvSpPr>
        <p:spPr bwMode="auto">
          <a:xfrm>
            <a:off x="8370888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53" name="Rectangle 142"/>
          <p:cNvSpPr>
            <a:spLocks noChangeArrowheads="1"/>
          </p:cNvSpPr>
          <p:nvPr/>
        </p:nvSpPr>
        <p:spPr bwMode="auto">
          <a:xfrm>
            <a:off x="7751763" y="463867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54" name="Rectangle 143"/>
          <p:cNvSpPr>
            <a:spLocks noChangeArrowheads="1"/>
          </p:cNvSpPr>
          <p:nvPr/>
        </p:nvSpPr>
        <p:spPr bwMode="auto">
          <a:xfrm>
            <a:off x="7131050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55" name="Rectangle 144"/>
          <p:cNvSpPr>
            <a:spLocks noChangeArrowheads="1"/>
          </p:cNvSpPr>
          <p:nvPr/>
        </p:nvSpPr>
        <p:spPr bwMode="auto">
          <a:xfrm>
            <a:off x="6508750" y="4638675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56" name="Rectangle 145"/>
          <p:cNvSpPr>
            <a:spLocks noChangeArrowheads="1"/>
          </p:cNvSpPr>
          <p:nvPr/>
        </p:nvSpPr>
        <p:spPr bwMode="auto">
          <a:xfrm>
            <a:off x="5888038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257" name="Rectangle 146"/>
          <p:cNvSpPr>
            <a:spLocks noChangeArrowheads="1"/>
          </p:cNvSpPr>
          <p:nvPr/>
        </p:nvSpPr>
        <p:spPr bwMode="auto">
          <a:xfrm>
            <a:off x="5268913" y="463867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2D</a:t>
            </a:r>
          </a:p>
        </p:txBody>
      </p:sp>
      <p:sp>
        <p:nvSpPr>
          <p:cNvPr id="258" name="Rectangle 147"/>
          <p:cNvSpPr>
            <a:spLocks noChangeArrowheads="1"/>
          </p:cNvSpPr>
          <p:nvPr/>
        </p:nvSpPr>
        <p:spPr bwMode="auto">
          <a:xfrm>
            <a:off x="4648200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259" name="Rectangle 155"/>
          <p:cNvSpPr>
            <a:spLocks noChangeArrowheads="1"/>
          </p:cNvSpPr>
          <p:nvPr/>
        </p:nvSpPr>
        <p:spPr bwMode="auto">
          <a:xfrm>
            <a:off x="8370888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89</a:t>
            </a:r>
          </a:p>
        </p:txBody>
      </p:sp>
      <p:sp>
        <p:nvSpPr>
          <p:cNvPr id="260" name="Rectangle 156"/>
          <p:cNvSpPr>
            <a:spLocks noChangeArrowheads="1"/>
          </p:cNvSpPr>
          <p:nvPr/>
        </p:nvSpPr>
        <p:spPr bwMode="auto">
          <a:xfrm>
            <a:off x="7751763" y="4357688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51</a:t>
            </a:r>
          </a:p>
        </p:txBody>
      </p:sp>
      <p:sp>
        <p:nvSpPr>
          <p:cNvPr id="261" name="Rectangle 157"/>
          <p:cNvSpPr>
            <a:spLocks noChangeArrowheads="1"/>
          </p:cNvSpPr>
          <p:nvPr/>
        </p:nvSpPr>
        <p:spPr bwMode="auto">
          <a:xfrm>
            <a:off x="7131050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00</a:t>
            </a:r>
          </a:p>
        </p:txBody>
      </p:sp>
      <p:sp>
        <p:nvSpPr>
          <p:cNvPr id="262" name="Rectangle 158"/>
          <p:cNvSpPr>
            <a:spLocks noChangeArrowheads="1"/>
          </p:cNvSpPr>
          <p:nvPr/>
        </p:nvSpPr>
        <p:spPr bwMode="auto">
          <a:xfrm>
            <a:off x="6508750" y="4357688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3A</a:t>
            </a:r>
          </a:p>
        </p:txBody>
      </p:sp>
      <p:sp>
        <p:nvSpPr>
          <p:cNvPr id="263" name="Rectangle 159"/>
          <p:cNvSpPr>
            <a:spLocks noChangeArrowheads="1"/>
          </p:cNvSpPr>
          <p:nvPr/>
        </p:nvSpPr>
        <p:spPr bwMode="auto">
          <a:xfrm>
            <a:off x="5888038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264" name="Rectangle 160"/>
          <p:cNvSpPr>
            <a:spLocks noChangeArrowheads="1"/>
          </p:cNvSpPr>
          <p:nvPr/>
        </p:nvSpPr>
        <p:spPr bwMode="auto">
          <a:xfrm>
            <a:off x="5268913" y="4357688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24</a:t>
            </a:r>
          </a:p>
        </p:txBody>
      </p:sp>
      <p:sp>
        <p:nvSpPr>
          <p:cNvPr id="265" name="Rectangle 161"/>
          <p:cNvSpPr>
            <a:spLocks noChangeArrowheads="1"/>
          </p:cNvSpPr>
          <p:nvPr/>
        </p:nvSpPr>
        <p:spPr bwMode="auto">
          <a:xfrm>
            <a:off x="4648200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266" name="Rectangle 169"/>
          <p:cNvSpPr>
            <a:spLocks noChangeArrowheads="1"/>
          </p:cNvSpPr>
          <p:nvPr/>
        </p:nvSpPr>
        <p:spPr bwMode="auto">
          <a:xfrm>
            <a:off x="8370888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B3</a:t>
            </a:r>
          </a:p>
        </p:txBody>
      </p:sp>
      <p:sp>
        <p:nvSpPr>
          <p:cNvPr id="267" name="Rectangle 170"/>
          <p:cNvSpPr>
            <a:spLocks noChangeArrowheads="1"/>
          </p:cNvSpPr>
          <p:nvPr/>
        </p:nvSpPr>
        <p:spPr bwMode="auto">
          <a:xfrm>
            <a:off x="7751763" y="4076700"/>
            <a:ext cx="619125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B2</a:t>
            </a:r>
          </a:p>
        </p:txBody>
      </p:sp>
      <p:sp>
        <p:nvSpPr>
          <p:cNvPr id="268" name="Rectangle 171"/>
          <p:cNvSpPr>
            <a:spLocks noChangeArrowheads="1"/>
          </p:cNvSpPr>
          <p:nvPr/>
        </p:nvSpPr>
        <p:spPr bwMode="auto">
          <a:xfrm>
            <a:off x="7131050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B1</a:t>
            </a:r>
          </a:p>
        </p:txBody>
      </p:sp>
      <p:sp>
        <p:nvSpPr>
          <p:cNvPr id="269" name="Rectangle 172"/>
          <p:cNvSpPr>
            <a:spLocks noChangeArrowheads="1"/>
          </p:cNvSpPr>
          <p:nvPr/>
        </p:nvSpPr>
        <p:spPr bwMode="auto">
          <a:xfrm>
            <a:off x="6508750" y="4076700"/>
            <a:ext cx="622300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B0</a:t>
            </a:r>
          </a:p>
        </p:txBody>
      </p:sp>
      <p:sp>
        <p:nvSpPr>
          <p:cNvPr id="270" name="Rectangle 173"/>
          <p:cNvSpPr>
            <a:spLocks noChangeArrowheads="1"/>
          </p:cNvSpPr>
          <p:nvPr/>
        </p:nvSpPr>
        <p:spPr bwMode="auto">
          <a:xfrm>
            <a:off x="5888038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271" name="Rectangle 174"/>
          <p:cNvSpPr>
            <a:spLocks noChangeArrowheads="1"/>
          </p:cNvSpPr>
          <p:nvPr/>
        </p:nvSpPr>
        <p:spPr bwMode="auto">
          <a:xfrm>
            <a:off x="5268913" y="4076700"/>
            <a:ext cx="619125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</a:p>
        </p:txBody>
      </p:sp>
      <p:sp>
        <p:nvSpPr>
          <p:cNvPr id="272" name="Rectangle 175"/>
          <p:cNvSpPr>
            <a:spLocks noChangeArrowheads="1"/>
          </p:cNvSpPr>
          <p:nvPr/>
        </p:nvSpPr>
        <p:spPr bwMode="auto">
          <a:xfrm>
            <a:off x="4648200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 err="1">
                <a:solidFill>
                  <a:srgbClr val="990000"/>
                </a:solidFill>
                <a:latin typeface="Calibri" pitchFamily="34" charset="0"/>
              </a:rPr>
              <a:t>Idx</a:t>
            </a:r>
            <a:endParaRPr lang="en-GB" sz="14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73" name="Line 183"/>
          <p:cNvSpPr>
            <a:spLocks noChangeShapeType="1"/>
          </p:cNvSpPr>
          <p:nvPr/>
        </p:nvSpPr>
        <p:spPr bwMode="auto">
          <a:xfrm>
            <a:off x="4666488" y="4357688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274" name="Line 184"/>
          <p:cNvSpPr>
            <a:spLocks noChangeShapeType="1"/>
          </p:cNvSpPr>
          <p:nvPr/>
        </p:nvSpPr>
        <p:spPr bwMode="auto">
          <a:xfrm>
            <a:off x="4666488" y="4638675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5" name="Line 185"/>
          <p:cNvSpPr>
            <a:spLocks noChangeShapeType="1"/>
          </p:cNvSpPr>
          <p:nvPr/>
        </p:nvSpPr>
        <p:spPr bwMode="auto">
          <a:xfrm>
            <a:off x="4666488" y="4919663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" name="Line 186"/>
          <p:cNvSpPr>
            <a:spLocks noChangeShapeType="1"/>
          </p:cNvSpPr>
          <p:nvPr/>
        </p:nvSpPr>
        <p:spPr bwMode="auto">
          <a:xfrm>
            <a:off x="4666488" y="5200650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7" name="Line 187"/>
          <p:cNvSpPr>
            <a:spLocks noChangeShapeType="1"/>
          </p:cNvSpPr>
          <p:nvPr/>
        </p:nvSpPr>
        <p:spPr bwMode="auto">
          <a:xfrm>
            <a:off x="4666488" y="5484812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8" name="Line 188"/>
          <p:cNvSpPr>
            <a:spLocks noChangeShapeType="1"/>
          </p:cNvSpPr>
          <p:nvPr/>
        </p:nvSpPr>
        <p:spPr bwMode="auto">
          <a:xfrm>
            <a:off x="4666488" y="5788025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" name="Line 189"/>
          <p:cNvSpPr>
            <a:spLocks noChangeShapeType="1"/>
          </p:cNvSpPr>
          <p:nvPr/>
        </p:nvSpPr>
        <p:spPr bwMode="auto">
          <a:xfrm>
            <a:off x="4666488" y="6069013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0" name="Line 190"/>
          <p:cNvSpPr>
            <a:spLocks noChangeShapeType="1"/>
          </p:cNvSpPr>
          <p:nvPr/>
        </p:nvSpPr>
        <p:spPr bwMode="auto">
          <a:xfrm>
            <a:off x="4666488" y="6350000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1" name="Line 197"/>
          <p:cNvSpPr>
            <a:spLocks noChangeShapeType="1"/>
          </p:cNvSpPr>
          <p:nvPr/>
        </p:nvSpPr>
        <p:spPr bwMode="auto">
          <a:xfrm>
            <a:off x="5268913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2" name="Line 198"/>
          <p:cNvSpPr>
            <a:spLocks noChangeShapeType="1"/>
          </p:cNvSpPr>
          <p:nvPr/>
        </p:nvSpPr>
        <p:spPr bwMode="auto">
          <a:xfrm>
            <a:off x="5888038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3" name="Line 199"/>
          <p:cNvSpPr>
            <a:spLocks noChangeShapeType="1"/>
          </p:cNvSpPr>
          <p:nvPr/>
        </p:nvSpPr>
        <p:spPr bwMode="auto">
          <a:xfrm>
            <a:off x="6508750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4" name="Line 200"/>
          <p:cNvSpPr>
            <a:spLocks noChangeShapeType="1"/>
          </p:cNvSpPr>
          <p:nvPr/>
        </p:nvSpPr>
        <p:spPr bwMode="auto">
          <a:xfrm>
            <a:off x="7131050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5" name="Line 201"/>
          <p:cNvSpPr>
            <a:spLocks noChangeShapeType="1"/>
          </p:cNvSpPr>
          <p:nvPr/>
        </p:nvSpPr>
        <p:spPr bwMode="auto">
          <a:xfrm>
            <a:off x="7751763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" name="Line 202"/>
          <p:cNvSpPr>
            <a:spLocks noChangeShapeType="1"/>
          </p:cNvSpPr>
          <p:nvPr/>
        </p:nvSpPr>
        <p:spPr bwMode="auto">
          <a:xfrm>
            <a:off x="8370888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7" name="Line 205"/>
          <p:cNvSpPr>
            <a:spLocks noChangeShapeType="1"/>
          </p:cNvSpPr>
          <p:nvPr/>
        </p:nvSpPr>
        <p:spPr bwMode="auto">
          <a:xfrm>
            <a:off x="4666488" y="4076700"/>
            <a:ext cx="4325112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288" name="Line 206"/>
          <p:cNvSpPr>
            <a:spLocks noChangeShapeType="1"/>
          </p:cNvSpPr>
          <p:nvPr/>
        </p:nvSpPr>
        <p:spPr bwMode="auto">
          <a:xfrm>
            <a:off x="8991601" y="4076700"/>
            <a:ext cx="1588" cy="25542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9" name="Line 207"/>
          <p:cNvSpPr>
            <a:spLocks noChangeShapeType="1"/>
          </p:cNvSpPr>
          <p:nvPr/>
        </p:nvSpPr>
        <p:spPr bwMode="auto">
          <a:xfrm>
            <a:off x="4666488" y="6630988"/>
            <a:ext cx="4325112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0" name="Line 206"/>
          <p:cNvSpPr>
            <a:spLocks noChangeShapeType="1"/>
          </p:cNvSpPr>
          <p:nvPr/>
        </p:nvSpPr>
        <p:spPr bwMode="auto">
          <a:xfrm>
            <a:off x="4648200" y="4083579"/>
            <a:ext cx="1588" cy="25542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716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7345363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Address Translation Example #1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7387" cy="5333999"/>
          </a:xfrm>
          <a:ln/>
        </p:spPr>
        <p:txBody>
          <a:bodyPr/>
          <a:lstStyle/>
          <a:p>
            <a:pPr marL="222250" indent="-222250">
              <a:lnSpc>
                <a:spcPct val="73000"/>
              </a:lnSpc>
              <a:buSzPct val="100000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Virtual Address: </a:t>
            </a:r>
            <a:r>
              <a:rPr lang="en-GB" dirty="0">
                <a:effectLst/>
                <a:latin typeface="Courier New" pitchFamily="49" charset="0"/>
              </a:rPr>
              <a:t>0x03D4</a:t>
            </a: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558800" lvl="1" indent="-220663">
              <a:lnSpc>
                <a:spcPct val="85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latin typeface="Courier New" pitchFamily="49" charset="0"/>
            </a:endParaRP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4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/>
              <a:t>VPN ___	TLBI ___	TLBT ____	          TLB Hit? __	Page Fault? __        PPN: ____</a:t>
            </a:r>
            <a:endParaRPr lang="en-GB" dirty="0">
              <a:effectLst/>
            </a:endParaRPr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Physical Address</a:t>
            </a:r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/>
              <a:t>	CO ___	CI___	CT ____	     Hit? __              Byte: ____</a:t>
            </a: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108902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10890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57638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15763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2063750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20637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2551112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25511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303847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30384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09" name="Rectangle 21"/>
          <p:cNvSpPr>
            <a:spLocks noChangeArrowheads="1"/>
          </p:cNvSpPr>
          <p:nvPr/>
        </p:nvSpPr>
        <p:spPr bwMode="auto">
          <a:xfrm>
            <a:off x="352583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Rectangle 22"/>
          <p:cNvSpPr>
            <a:spLocks noChangeArrowheads="1"/>
          </p:cNvSpPr>
          <p:nvPr/>
        </p:nvSpPr>
        <p:spPr bwMode="auto">
          <a:xfrm>
            <a:off x="35258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12" name="Rectangle 24"/>
          <p:cNvSpPr>
            <a:spLocks noChangeArrowheads="1"/>
          </p:cNvSpPr>
          <p:nvPr/>
        </p:nvSpPr>
        <p:spPr bwMode="auto">
          <a:xfrm>
            <a:off x="4013200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3" name="Rectangle 25"/>
          <p:cNvSpPr>
            <a:spLocks noChangeArrowheads="1"/>
          </p:cNvSpPr>
          <p:nvPr/>
        </p:nvSpPr>
        <p:spPr bwMode="auto">
          <a:xfrm>
            <a:off x="401320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15" name="Rectangle 27"/>
          <p:cNvSpPr>
            <a:spLocks noChangeArrowheads="1"/>
          </p:cNvSpPr>
          <p:nvPr/>
        </p:nvSpPr>
        <p:spPr bwMode="auto">
          <a:xfrm>
            <a:off x="4500562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450056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18" name="Rectangle 30"/>
          <p:cNvSpPr>
            <a:spLocks noChangeArrowheads="1"/>
          </p:cNvSpPr>
          <p:nvPr/>
        </p:nvSpPr>
        <p:spPr bwMode="auto">
          <a:xfrm>
            <a:off x="498792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9" name="Rectangle 31"/>
          <p:cNvSpPr>
            <a:spLocks noChangeArrowheads="1"/>
          </p:cNvSpPr>
          <p:nvPr/>
        </p:nvSpPr>
        <p:spPr bwMode="auto">
          <a:xfrm>
            <a:off x="49879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21" name="Rectangle 33"/>
          <p:cNvSpPr>
            <a:spLocks noChangeArrowheads="1"/>
          </p:cNvSpPr>
          <p:nvPr/>
        </p:nvSpPr>
        <p:spPr bwMode="auto">
          <a:xfrm>
            <a:off x="547528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2" name="Rectangle 34"/>
          <p:cNvSpPr>
            <a:spLocks noChangeArrowheads="1"/>
          </p:cNvSpPr>
          <p:nvPr/>
        </p:nvSpPr>
        <p:spPr bwMode="auto">
          <a:xfrm>
            <a:off x="54752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24" name="Rectangle 36"/>
          <p:cNvSpPr>
            <a:spLocks noChangeArrowheads="1"/>
          </p:cNvSpPr>
          <p:nvPr/>
        </p:nvSpPr>
        <p:spPr bwMode="auto">
          <a:xfrm>
            <a:off x="5962650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5" name="Rectangle 37"/>
          <p:cNvSpPr>
            <a:spLocks noChangeArrowheads="1"/>
          </p:cNvSpPr>
          <p:nvPr/>
        </p:nvSpPr>
        <p:spPr bwMode="auto">
          <a:xfrm>
            <a:off x="59626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27" name="Rectangle 39"/>
          <p:cNvSpPr>
            <a:spLocks noChangeArrowheads="1"/>
          </p:cNvSpPr>
          <p:nvPr/>
        </p:nvSpPr>
        <p:spPr bwMode="auto">
          <a:xfrm>
            <a:off x="6450012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8" name="Rectangle 40"/>
          <p:cNvSpPr>
            <a:spLocks noChangeArrowheads="1"/>
          </p:cNvSpPr>
          <p:nvPr/>
        </p:nvSpPr>
        <p:spPr bwMode="auto">
          <a:xfrm>
            <a:off x="64500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30" name="Rectangle 42"/>
          <p:cNvSpPr>
            <a:spLocks noChangeArrowheads="1"/>
          </p:cNvSpPr>
          <p:nvPr/>
        </p:nvSpPr>
        <p:spPr bwMode="auto">
          <a:xfrm>
            <a:off x="693737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1" name="Rectangle 43"/>
          <p:cNvSpPr>
            <a:spLocks noChangeArrowheads="1"/>
          </p:cNvSpPr>
          <p:nvPr/>
        </p:nvSpPr>
        <p:spPr bwMode="auto">
          <a:xfrm>
            <a:off x="69373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33" name="Rectangle 45"/>
          <p:cNvSpPr>
            <a:spLocks noChangeArrowheads="1"/>
          </p:cNvSpPr>
          <p:nvPr/>
        </p:nvSpPr>
        <p:spPr bwMode="auto">
          <a:xfrm>
            <a:off x="742473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4" name="Rectangle 46"/>
          <p:cNvSpPr>
            <a:spLocks noChangeArrowheads="1"/>
          </p:cNvSpPr>
          <p:nvPr/>
        </p:nvSpPr>
        <p:spPr bwMode="auto">
          <a:xfrm>
            <a:off x="74247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987924" y="2924149"/>
            <a:ext cx="2924175" cy="333375"/>
            <a:chOff x="3085" y="1661"/>
            <a:chExt cx="1842" cy="210"/>
          </a:xfrm>
        </p:grpSpPr>
        <p:sp>
          <p:nvSpPr>
            <p:cNvPr id="37936" name="Line 48"/>
            <p:cNvSpPr>
              <a:spLocks noChangeShapeType="1"/>
            </p:cNvSpPr>
            <p:nvPr/>
          </p:nvSpPr>
          <p:spPr bwMode="auto">
            <a:xfrm>
              <a:off x="3085" y="17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Text Box 49"/>
            <p:cNvSpPr txBox="1">
              <a:spLocks noChangeArrowheads="1"/>
            </p:cNvSpPr>
            <p:nvPr/>
          </p:nvSpPr>
          <p:spPr bwMode="auto"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1089025" y="2916211"/>
            <a:ext cx="3916362" cy="333375"/>
            <a:chOff x="629" y="1656"/>
            <a:chExt cx="2467" cy="210"/>
          </a:xfrm>
        </p:grpSpPr>
        <p:sp>
          <p:nvSpPr>
            <p:cNvPr id="37939" name="Line 51"/>
            <p:cNvSpPr>
              <a:spLocks noChangeShapeType="1"/>
            </p:cNvSpPr>
            <p:nvPr/>
          </p:nvSpPr>
          <p:spPr bwMode="auto">
            <a:xfrm>
              <a:off x="629" y="17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40" name="Text Box 52"/>
            <p:cNvSpPr txBox="1">
              <a:spLocks noChangeArrowheads="1"/>
            </p:cNvSpPr>
            <p:nvPr/>
          </p:nvSpPr>
          <p:spPr bwMode="auto"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VPN</a:t>
              </a:r>
            </a:p>
          </p:txBody>
        </p:sp>
      </p:grpSp>
      <p:sp>
        <p:nvSpPr>
          <p:cNvPr id="37942" name="Line 54"/>
          <p:cNvSpPr>
            <a:spLocks noChangeShapeType="1"/>
          </p:cNvSpPr>
          <p:nvPr/>
        </p:nvSpPr>
        <p:spPr bwMode="auto">
          <a:xfrm>
            <a:off x="4010025" y="2015040"/>
            <a:ext cx="992187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3" name="Text Box 55"/>
          <p:cNvSpPr txBox="1">
            <a:spLocks noChangeArrowheads="1"/>
          </p:cNvSpPr>
          <p:nvPr/>
        </p:nvSpPr>
        <p:spPr bwMode="auto">
          <a:xfrm>
            <a:off x="4233862" y="1891215"/>
            <a:ext cx="539750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TLBI</a:t>
            </a:r>
          </a:p>
        </p:txBody>
      </p:sp>
      <p:sp>
        <p:nvSpPr>
          <p:cNvPr id="37945" name="Line 57"/>
          <p:cNvSpPr>
            <a:spLocks noChangeShapeType="1"/>
          </p:cNvSpPr>
          <p:nvPr/>
        </p:nvSpPr>
        <p:spPr bwMode="auto">
          <a:xfrm>
            <a:off x="1089025" y="2011336"/>
            <a:ext cx="2927350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6" name="Text Box 58"/>
          <p:cNvSpPr txBox="1">
            <a:spLocks noChangeArrowheads="1"/>
          </p:cNvSpPr>
          <p:nvPr/>
        </p:nvSpPr>
        <p:spPr bwMode="auto">
          <a:xfrm>
            <a:off x="2332038" y="1887511"/>
            <a:ext cx="582613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TLBT</a:t>
            </a:r>
          </a:p>
        </p:txBody>
      </p:sp>
      <p:sp>
        <p:nvSpPr>
          <p:cNvPr id="37950" name="Rectangle 62"/>
          <p:cNvSpPr>
            <a:spLocks noChangeArrowheads="1"/>
          </p:cNvSpPr>
          <p:nvPr/>
        </p:nvSpPr>
        <p:spPr bwMode="auto">
          <a:xfrm>
            <a:off x="207168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1" name="Rectangle 63"/>
          <p:cNvSpPr>
            <a:spLocks noChangeArrowheads="1"/>
          </p:cNvSpPr>
          <p:nvPr/>
        </p:nvSpPr>
        <p:spPr bwMode="auto">
          <a:xfrm>
            <a:off x="20716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53" name="Rectangle 65"/>
          <p:cNvSpPr>
            <a:spLocks noChangeArrowheads="1"/>
          </p:cNvSpPr>
          <p:nvPr/>
        </p:nvSpPr>
        <p:spPr bwMode="auto">
          <a:xfrm>
            <a:off x="255905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4" name="Rectangle 66"/>
          <p:cNvSpPr>
            <a:spLocks noChangeArrowheads="1"/>
          </p:cNvSpPr>
          <p:nvPr/>
        </p:nvSpPr>
        <p:spPr bwMode="auto">
          <a:xfrm>
            <a:off x="25590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56" name="Rectangle 68"/>
          <p:cNvSpPr>
            <a:spLocks noChangeArrowheads="1"/>
          </p:cNvSpPr>
          <p:nvPr/>
        </p:nvSpPr>
        <p:spPr bwMode="auto">
          <a:xfrm>
            <a:off x="3046412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7" name="Rectangle 69"/>
          <p:cNvSpPr>
            <a:spLocks noChangeArrowheads="1"/>
          </p:cNvSpPr>
          <p:nvPr/>
        </p:nvSpPr>
        <p:spPr bwMode="auto">
          <a:xfrm>
            <a:off x="30464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59" name="Rectangle 71"/>
          <p:cNvSpPr>
            <a:spLocks noChangeArrowheads="1"/>
          </p:cNvSpPr>
          <p:nvPr/>
        </p:nvSpPr>
        <p:spPr bwMode="auto">
          <a:xfrm>
            <a:off x="3533775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0" name="Rectangle 72"/>
          <p:cNvSpPr>
            <a:spLocks noChangeArrowheads="1"/>
          </p:cNvSpPr>
          <p:nvPr/>
        </p:nvSpPr>
        <p:spPr bwMode="auto">
          <a:xfrm>
            <a:off x="35337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62" name="Rectangle 74"/>
          <p:cNvSpPr>
            <a:spLocks noChangeArrowheads="1"/>
          </p:cNvSpPr>
          <p:nvPr/>
        </p:nvSpPr>
        <p:spPr bwMode="auto">
          <a:xfrm>
            <a:off x="402113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3" name="Rectangle 75"/>
          <p:cNvSpPr>
            <a:spLocks noChangeArrowheads="1"/>
          </p:cNvSpPr>
          <p:nvPr/>
        </p:nvSpPr>
        <p:spPr bwMode="auto">
          <a:xfrm>
            <a:off x="402113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65" name="Rectangle 77"/>
          <p:cNvSpPr>
            <a:spLocks noChangeArrowheads="1"/>
          </p:cNvSpPr>
          <p:nvPr/>
        </p:nvSpPr>
        <p:spPr bwMode="auto">
          <a:xfrm>
            <a:off x="450850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6" name="Rectangle 78"/>
          <p:cNvSpPr>
            <a:spLocks noChangeArrowheads="1"/>
          </p:cNvSpPr>
          <p:nvPr/>
        </p:nvSpPr>
        <p:spPr bwMode="auto">
          <a:xfrm>
            <a:off x="450850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68" name="Rectangle 80"/>
          <p:cNvSpPr>
            <a:spLocks noChangeArrowheads="1"/>
          </p:cNvSpPr>
          <p:nvPr/>
        </p:nvSpPr>
        <p:spPr bwMode="auto">
          <a:xfrm>
            <a:off x="499586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9" name="Rectangle 81"/>
          <p:cNvSpPr>
            <a:spLocks noChangeArrowheads="1"/>
          </p:cNvSpPr>
          <p:nvPr/>
        </p:nvSpPr>
        <p:spPr bwMode="auto">
          <a:xfrm>
            <a:off x="499586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71" name="Rectangle 83"/>
          <p:cNvSpPr>
            <a:spLocks noChangeArrowheads="1"/>
          </p:cNvSpPr>
          <p:nvPr/>
        </p:nvSpPr>
        <p:spPr bwMode="auto">
          <a:xfrm>
            <a:off x="548322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2" name="Rectangle 84"/>
          <p:cNvSpPr>
            <a:spLocks noChangeArrowheads="1"/>
          </p:cNvSpPr>
          <p:nvPr/>
        </p:nvSpPr>
        <p:spPr bwMode="auto">
          <a:xfrm>
            <a:off x="548322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74" name="Rectangle 86"/>
          <p:cNvSpPr>
            <a:spLocks noChangeArrowheads="1"/>
          </p:cNvSpPr>
          <p:nvPr/>
        </p:nvSpPr>
        <p:spPr bwMode="auto">
          <a:xfrm>
            <a:off x="5970587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5" name="Rectangle 87"/>
          <p:cNvSpPr>
            <a:spLocks noChangeArrowheads="1"/>
          </p:cNvSpPr>
          <p:nvPr/>
        </p:nvSpPr>
        <p:spPr bwMode="auto">
          <a:xfrm>
            <a:off x="59705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77" name="Rectangle 89"/>
          <p:cNvSpPr>
            <a:spLocks noChangeArrowheads="1"/>
          </p:cNvSpPr>
          <p:nvPr/>
        </p:nvSpPr>
        <p:spPr bwMode="auto">
          <a:xfrm>
            <a:off x="6457950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8" name="Rectangle 90"/>
          <p:cNvSpPr>
            <a:spLocks noChangeArrowheads="1"/>
          </p:cNvSpPr>
          <p:nvPr/>
        </p:nvSpPr>
        <p:spPr bwMode="auto">
          <a:xfrm>
            <a:off x="64579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80" name="Rectangle 92"/>
          <p:cNvSpPr>
            <a:spLocks noChangeArrowheads="1"/>
          </p:cNvSpPr>
          <p:nvPr/>
        </p:nvSpPr>
        <p:spPr bwMode="auto">
          <a:xfrm>
            <a:off x="694531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1" name="Rectangle 93"/>
          <p:cNvSpPr>
            <a:spLocks noChangeArrowheads="1"/>
          </p:cNvSpPr>
          <p:nvPr/>
        </p:nvSpPr>
        <p:spPr bwMode="auto">
          <a:xfrm>
            <a:off x="69453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83" name="Rectangle 95"/>
          <p:cNvSpPr>
            <a:spLocks noChangeArrowheads="1"/>
          </p:cNvSpPr>
          <p:nvPr/>
        </p:nvSpPr>
        <p:spPr bwMode="auto">
          <a:xfrm>
            <a:off x="743267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4" name="Rectangle 96"/>
          <p:cNvSpPr>
            <a:spLocks noChangeArrowheads="1"/>
          </p:cNvSpPr>
          <p:nvPr/>
        </p:nvSpPr>
        <p:spPr bwMode="auto">
          <a:xfrm>
            <a:off x="74326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4" name="Group 97"/>
          <p:cNvGrpSpPr>
            <a:grpSpLocks/>
          </p:cNvGrpSpPr>
          <p:nvPr/>
        </p:nvGrpSpPr>
        <p:grpSpPr bwMode="auto">
          <a:xfrm>
            <a:off x="5004858" y="5564717"/>
            <a:ext cx="2924175" cy="333375"/>
            <a:chOff x="3101" y="3292"/>
            <a:chExt cx="1842" cy="210"/>
          </a:xfrm>
        </p:grpSpPr>
        <p:sp>
          <p:nvSpPr>
            <p:cNvPr id="37986" name="Line 98"/>
            <p:cNvSpPr>
              <a:spLocks noChangeShapeType="1"/>
            </p:cNvSpPr>
            <p:nvPr/>
          </p:nvSpPr>
          <p:spPr bwMode="auto">
            <a:xfrm>
              <a:off x="3101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87" name="Text Box 99"/>
            <p:cNvSpPr txBox="1">
              <a:spLocks noChangeArrowheads="1"/>
            </p:cNvSpPr>
            <p:nvPr/>
          </p:nvSpPr>
          <p:spPr bwMode="auto"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5" name="Group 100"/>
          <p:cNvGrpSpPr>
            <a:grpSpLocks/>
          </p:cNvGrpSpPr>
          <p:nvPr/>
        </p:nvGrpSpPr>
        <p:grpSpPr bwMode="auto">
          <a:xfrm>
            <a:off x="2092324" y="5556250"/>
            <a:ext cx="2924175" cy="333375"/>
            <a:chOff x="1277" y="3292"/>
            <a:chExt cx="1842" cy="210"/>
          </a:xfrm>
        </p:grpSpPr>
        <p:sp>
          <p:nvSpPr>
            <p:cNvPr id="37989" name="Line 101"/>
            <p:cNvSpPr>
              <a:spLocks noChangeShapeType="1"/>
            </p:cNvSpPr>
            <p:nvPr/>
          </p:nvSpPr>
          <p:spPr bwMode="auto">
            <a:xfrm>
              <a:off x="1277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0" name="Text Box 102"/>
            <p:cNvSpPr txBox="1">
              <a:spLocks noChangeArrowheads="1"/>
            </p:cNvSpPr>
            <p:nvPr/>
          </p:nvSpPr>
          <p:spPr bwMode="auto"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6" name="Group 103"/>
          <p:cNvGrpSpPr>
            <a:grpSpLocks/>
          </p:cNvGrpSpPr>
          <p:nvPr/>
        </p:nvGrpSpPr>
        <p:grpSpPr bwMode="auto">
          <a:xfrm>
            <a:off x="6925204" y="4516438"/>
            <a:ext cx="992188" cy="306388"/>
            <a:chOff x="4300" y="2637"/>
            <a:chExt cx="625" cy="193"/>
          </a:xfrm>
        </p:grpSpPr>
        <p:sp>
          <p:nvSpPr>
            <p:cNvPr id="37992" name="Line 104"/>
            <p:cNvSpPr>
              <a:spLocks noChangeShapeType="1"/>
            </p:cNvSpPr>
            <p:nvPr/>
          </p:nvSpPr>
          <p:spPr bwMode="auto">
            <a:xfrm>
              <a:off x="4300" y="2715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3" name="Text Box 105"/>
            <p:cNvSpPr txBox="1">
              <a:spLocks noChangeArrowheads="1"/>
            </p:cNvSpPr>
            <p:nvPr/>
          </p:nvSpPr>
          <p:spPr bwMode="auto"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CO</a:t>
              </a:r>
            </a:p>
          </p:txBody>
        </p:sp>
      </p:grpSp>
      <p:grpSp>
        <p:nvGrpSpPr>
          <p:cNvPr id="7" name="Group 106"/>
          <p:cNvGrpSpPr>
            <a:grpSpLocks/>
          </p:cNvGrpSpPr>
          <p:nvPr/>
        </p:nvGrpSpPr>
        <p:grpSpPr bwMode="auto">
          <a:xfrm>
            <a:off x="4987395" y="4512734"/>
            <a:ext cx="1927225" cy="306388"/>
            <a:chOff x="3090" y="2624"/>
            <a:chExt cx="1214" cy="193"/>
          </a:xfrm>
        </p:grpSpPr>
        <p:sp>
          <p:nvSpPr>
            <p:cNvPr id="37995" name="Line 107"/>
            <p:cNvSpPr>
              <a:spLocks noChangeShapeType="1"/>
            </p:cNvSpPr>
            <p:nvPr/>
          </p:nvSpPr>
          <p:spPr bwMode="auto">
            <a:xfrm>
              <a:off x="3090" y="2702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6" name="Text Box 108"/>
            <p:cNvSpPr txBox="1">
              <a:spLocks noChangeArrowheads="1"/>
            </p:cNvSpPr>
            <p:nvPr/>
          </p:nvSpPr>
          <p:spPr bwMode="auto"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CI</a:t>
              </a:r>
            </a:p>
          </p:txBody>
        </p:sp>
      </p:grpSp>
      <p:grpSp>
        <p:nvGrpSpPr>
          <p:cNvPr id="8" name="Group 109"/>
          <p:cNvGrpSpPr>
            <a:grpSpLocks/>
          </p:cNvGrpSpPr>
          <p:nvPr/>
        </p:nvGrpSpPr>
        <p:grpSpPr bwMode="auto">
          <a:xfrm>
            <a:off x="2071687" y="4516438"/>
            <a:ext cx="2894013" cy="306388"/>
            <a:chOff x="1248" y="2637"/>
            <a:chExt cx="1823" cy="193"/>
          </a:xfrm>
        </p:grpSpPr>
        <p:sp>
          <p:nvSpPr>
            <p:cNvPr id="37998" name="Line 110"/>
            <p:cNvSpPr>
              <a:spLocks noChangeShapeType="1"/>
            </p:cNvSpPr>
            <p:nvPr/>
          </p:nvSpPr>
          <p:spPr bwMode="auto">
            <a:xfrm>
              <a:off x="1248" y="2715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9" name="Text Box 111"/>
            <p:cNvSpPr txBox="1">
              <a:spLocks noChangeArrowheads="1"/>
            </p:cNvSpPr>
            <p:nvPr/>
          </p:nvSpPr>
          <p:spPr bwMode="auto"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CT</a:t>
              </a:r>
            </a:p>
          </p:txBody>
        </p:sp>
      </p:grpSp>
      <p:sp>
        <p:nvSpPr>
          <p:cNvPr id="38001" name="Text Box 113"/>
          <p:cNvSpPr txBox="1">
            <a:spLocks noChangeArrowheads="1"/>
          </p:cNvSpPr>
          <p:nvPr/>
        </p:nvSpPr>
        <p:spPr bwMode="auto">
          <a:xfrm>
            <a:off x="75580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2" name="Text Box 114"/>
          <p:cNvSpPr txBox="1">
            <a:spLocks noChangeArrowheads="1"/>
          </p:cNvSpPr>
          <p:nvPr/>
        </p:nvSpPr>
        <p:spPr bwMode="auto">
          <a:xfrm>
            <a:off x="7070725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3" name="Text Box 115"/>
          <p:cNvSpPr txBox="1">
            <a:spLocks noChangeArrowheads="1"/>
          </p:cNvSpPr>
          <p:nvPr/>
        </p:nvSpPr>
        <p:spPr bwMode="auto">
          <a:xfrm>
            <a:off x="6584950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04" name="Text Box 116"/>
          <p:cNvSpPr txBox="1">
            <a:spLocks noChangeArrowheads="1"/>
          </p:cNvSpPr>
          <p:nvPr/>
        </p:nvSpPr>
        <p:spPr bwMode="auto">
          <a:xfrm>
            <a:off x="6097587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5" name="Text Box 117"/>
          <p:cNvSpPr txBox="1">
            <a:spLocks noChangeArrowheads="1"/>
          </p:cNvSpPr>
          <p:nvPr/>
        </p:nvSpPr>
        <p:spPr bwMode="auto">
          <a:xfrm>
            <a:off x="5611812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06" name="Text Box 118"/>
          <p:cNvSpPr txBox="1">
            <a:spLocks noChangeArrowheads="1"/>
          </p:cNvSpPr>
          <p:nvPr/>
        </p:nvSpPr>
        <p:spPr bwMode="auto">
          <a:xfrm>
            <a:off x="5124450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7" name="Text Box 119"/>
          <p:cNvSpPr txBox="1">
            <a:spLocks noChangeArrowheads="1"/>
          </p:cNvSpPr>
          <p:nvPr/>
        </p:nvSpPr>
        <p:spPr bwMode="auto">
          <a:xfrm>
            <a:off x="4638675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08" name="Text Box 120"/>
          <p:cNvSpPr txBox="1">
            <a:spLocks noChangeArrowheads="1"/>
          </p:cNvSpPr>
          <p:nvPr/>
        </p:nvSpPr>
        <p:spPr bwMode="auto">
          <a:xfrm>
            <a:off x="415131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09" name="Text Box 121"/>
          <p:cNvSpPr txBox="1">
            <a:spLocks noChangeArrowheads="1"/>
          </p:cNvSpPr>
          <p:nvPr/>
        </p:nvSpPr>
        <p:spPr bwMode="auto">
          <a:xfrm>
            <a:off x="366553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10" name="Text Box 122"/>
          <p:cNvSpPr txBox="1">
            <a:spLocks noChangeArrowheads="1"/>
          </p:cNvSpPr>
          <p:nvPr/>
        </p:nvSpPr>
        <p:spPr bwMode="auto">
          <a:xfrm>
            <a:off x="3178175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11" name="Text Box 123"/>
          <p:cNvSpPr txBox="1">
            <a:spLocks noChangeArrowheads="1"/>
          </p:cNvSpPr>
          <p:nvPr/>
        </p:nvSpPr>
        <p:spPr bwMode="auto">
          <a:xfrm>
            <a:off x="2692400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2" name="Text Box 124"/>
          <p:cNvSpPr txBox="1">
            <a:spLocks noChangeArrowheads="1"/>
          </p:cNvSpPr>
          <p:nvPr/>
        </p:nvSpPr>
        <p:spPr bwMode="auto">
          <a:xfrm>
            <a:off x="220503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3" name="Text Box 125"/>
          <p:cNvSpPr txBox="1">
            <a:spLocks noChangeArrowheads="1"/>
          </p:cNvSpPr>
          <p:nvPr/>
        </p:nvSpPr>
        <p:spPr bwMode="auto">
          <a:xfrm>
            <a:off x="171926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4" name="Text Box 126"/>
          <p:cNvSpPr txBox="1">
            <a:spLocks noChangeArrowheads="1"/>
          </p:cNvSpPr>
          <p:nvPr/>
        </p:nvSpPr>
        <p:spPr bwMode="auto">
          <a:xfrm>
            <a:off x="12334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6" name="Text Box 128"/>
          <p:cNvSpPr txBox="1">
            <a:spLocks noChangeArrowheads="1"/>
          </p:cNvSpPr>
          <p:nvPr/>
        </p:nvSpPr>
        <p:spPr bwMode="auto">
          <a:xfrm>
            <a:off x="1143000" y="3437965"/>
            <a:ext cx="490538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0x0F</a:t>
            </a:r>
          </a:p>
        </p:txBody>
      </p:sp>
      <p:sp>
        <p:nvSpPr>
          <p:cNvPr id="38017" name="Text Box 129"/>
          <p:cNvSpPr txBox="1">
            <a:spLocks noChangeArrowheads="1"/>
          </p:cNvSpPr>
          <p:nvPr/>
        </p:nvSpPr>
        <p:spPr bwMode="auto">
          <a:xfrm>
            <a:off x="2489808" y="3437965"/>
            <a:ext cx="394599" cy="316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0x3</a:t>
            </a:r>
          </a:p>
        </p:txBody>
      </p:sp>
      <p:sp>
        <p:nvSpPr>
          <p:cNvPr id="38018" name="Text Box 130"/>
          <p:cNvSpPr txBox="1">
            <a:spLocks noChangeArrowheads="1"/>
          </p:cNvSpPr>
          <p:nvPr/>
        </p:nvSpPr>
        <p:spPr bwMode="auto">
          <a:xfrm>
            <a:off x="3454401" y="3437965"/>
            <a:ext cx="500063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0x03</a:t>
            </a:r>
          </a:p>
        </p:txBody>
      </p:sp>
      <p:sp>
        <p:nvSpPr>
          <p:cNvPr id="38019" name="Text Box 131"/>
          <p:cNvSpPr txBox="1">
            <a:spLocks noChangeArrowheads="1"/>
          </p:cNvSpPr>
          <p:nvPr/>
        </p:nvSpPr>
        <p:spPr bwMode="auto">
          <a:xfrm>
            <a:off x="5142732" y="3437939"/>
            <a:ext cx="19973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Y</a:t>
            </a:r>
          </a:p>
        </p:txBody>
      </p:sp>
      <p:sp>
        <p:nvSpPr>
          <p:cNvPr id="38021" name="Text Box 133"/>
          <p:cNvSpPr txBox="1">
            <a:spLocks noChangeArrowheads="1"/>
          </p:cNvSpPr>
          <p:nvPr/>
        </p:nvSpPr>
        <p:spPr bwMode="auto">
          <a:xfrm>
            <a:off x="6781800" y="3437965"/>
            <a:ext cx="227012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22" name="Text Box 134"/>
          <p:cNvSpPr txBox="1">
            <a:spLocks noChangeArrowheads="1"/>
          </p:cNvSpPr>
          <p:nvPr/>
        </p:nvSpPr>
        <p:spPr bwMode="auto">
          <a:xfrm>
            <a:off x="7746470" y="3437965"/>
            <a:ext cx="525462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0x0D</a:t>
            </a:r>
          </a:p>
        </p:txBody>
      </p:sp>
      <p:grpSp>
        <p:nvGrpSpPr>
          <p:cNvPr id="9" name="Group 135"/>
          <p:cNvGrpSpPr>
            <a:grpSpLocks/>
          </p:cNvGrpSpPr>
          <p:nvPr/>
        </p:nvGrpSpPr>
        <p:grpSpPr bwMode="auto">
          <a:xfrm>
            <a:off x="2215620" y="5173133"/>
            <a:ext cx="5576888" cy="339725"/>
            <a:chOff x="1344" y="3030"/>
            <a:chExt cx="3513" cy="214"/>
          </a:xfrm>
        </p:grpSpPr>
        <p:sp>
          <p:nvSpPr>
            <p:cNvPr id="38024" name="Text Box 136"/>
            <p:cNvSpPr txBox="1">
              <a:spLocks noChangeArrowheads="1"/>
            </p:cNvSpPr>
            <p:nvPr/>
          </p:nvSpPr>
          <p:spPr bwMode="auto">
            <a:xfrm>
              <a:off x="4725" y="3031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5" name="Text Box 137"/>
            <p:cNvSpPr txBox="1">
              <a:spLocks noChangeArrowheads="1"/>
            </p:cNvSpPr>
            <p:nvPr/>
          </p:nvSpPr>
          <p:spPr bwMode="auto">
            <a:xfrm>
              <a:off x="441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6" name="Text Box 138"/>
            <p:cNvSpPr txBox="1">
              <a:spLocks noChangeArrowheads="1"/>
            </p:cNvSpPr>
            <p:nvPr/>
          </p:nvSpPr>
          <p:spPr bwMode="auto">
            <a:xfrm>
              <a:off x="3802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7" name="Text Box 139"/>
            <p:cNvSpPr txBox="1">
              <a:spLocks noChangeArrowheads="1"/>
            </p:cNvSpPr>
            <p:nvPr/>
          </p:nvSpPr>
          <p:spPr bwMode="auto">
            <a:xfrm>
              <a:off x="288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8028" name="Text Box 140"/>
            <p:cNvSpPr txBox="1">
              <a:spLocks noChangeArrowheads="1"/>
            </p:cNvSpPr>
            <p:nvPr/>
          </p:nvSpPr>
          <p:spPr bwMode="auto">
            <a:xfrm>
              <a:off x="2573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9" name="Text Box 141"/>
            <p:cNvSpPr txBox="1">
              <a:spLocks noChangeArrowheads="1"/>
            </p:cNvSpPr>
            <p:nvPr/>
          </p:nvSpPr>
          <p:spPr bwMode="auto">
            <a:xfrm>
              <a:off x="226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8030" name="Text Box 142"/>
            <p:cNvSpPr txBox="1">
              <a:spLocks noChangeArrowheads="1"/>
            </p:cNvSpPr>
            <p:nvPr/>
          </p:nvSpPr>
          <p:spPr bwMode="auto">
            <a:xfrm>
              <a:off x="1651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31" name="Text Box 143"/>
            <p:cNvSpPr txBox="1">
              <a:spLocks noChangeArrowheads="1"/>
            </p:cNvSpPr>
            <p:nvPr/>
          </p:nvSpPr>
          <p:spPr bwMode="auto">
            <a:xfrm>
              <a:off x="411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8032" name="Text Box 144"/>
            <p:cNvSpPr txBox="1">
              <a:spLocks noChangeArrowheads="1"/>
            </p:cNvSpPr>
            <p:nvPr/>
          </p:nvSpPr>
          <p:spPr bwMode="auto">
            <a:xfrm>
              <a:off x="349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8033" name="Text Box 145"/>
            <p:cNvSpPr txBox="1">
              <a:spLocks noChangeArrowheads="1"/>
            </p:cNvSpPr>
            <p:nvPr/>
          </p:nvSpPr>
          <p:spPr bwMode="auto">
            <a:xfrm>
              <a:off x="3188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34" name="Text Box 146"/>
            <p:cNvSpPr txBox="1">
              <a:spLocks noChangeArrowheads="1"/>
            </p:cNvSpPr>
            <p:nvPr/>
          </p:nvSpPr>
          <p:spPr bwMode="auto">
            <a:xfrm>
              <a:off x="195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8035" name="Text Box 147"/>
            <p:cNvSpPr txBox="1">
              <a:spLocks noChangeArrowheads="1"/>
            </p:cNvSpPr>
            <p:nvPr/>
          </p:nvSpPr>
          <p:spPr bwMode="auto">
            <a:xfrm>
              <a:off x="1344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38037" name="Text Box 149"/>
          <p:cNvSpPr txBox="1">
            <a:spLocks noChangeArrowheads="1"/>
          </p:cNvSpPr>
          <p:nvPr/>
        </p:nvSpPr>
        <p:spPr bwMode="auto">
          <a:xfrm>
            <a:off x="1374773" y="5992801"/>
            <a:ext cx="196850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38" name="Text Box 150"/>
          <p:cNvSpPr txBox="1">
            <a:spLocks noChangeArrowheads="1"/>
          </p:cNvSpPr>
          <p:nvPr/>
        </p:nvSpPr>
        <p:spPr bwMode="auto">
          <a:xfrm>
            <a:off x="2271712" y="5992801"/>
            <a:ext cx="395288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0x5</a:t>
            </a:r>
          </a:p>
        </p:txBody>
      </p:sp>
      <p:sp>
        <p:nvSpPr>
          <p:cNvPr id="38039" name="Text Box 151"/>
          <p:cNvSpPr txBox="1">
            <a:spLocks noChangeArrowheads="1"/>
          </p:cNvSpPr>
          <p:nvPr/>
        </p:nvSpPr>
        <p:spPr bwMode="auto">
          <a:xfrm>
            <a:off x="3259139" y="5992801"/>
            <a:ext cx="525463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0x0D</a:t>
            </a:r>
          </a:p>
        </p:txBody>
      </p:sp>
      <p:sp>
        <p:nvSpPr>
          <p:cNvPr id="38041" name="Text Box 153"/>
          <p:cNvSpPr txBox="1">
            <a:spLocks noChangeArrowheads="1"/>
          </p:cNvSpPr>
          <p:nvPr/>
        </p:nvSpPr>
        <p:spPr bwMode="auto">
          <a:xfrm>
            <a:off x="4580467" y="5992801"/>
            <a:ext cx="200025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Y</a:t>
            </a:r>
          </a:p>
        </p:txBody>
      </p:sp>
      <p:sp>
        <p:nvSpPr>
          <p:cNvPr id="38042" name="Text Box 154"/>
          <p:cNvSpPr txBox="1">
            <a:spLocks noChangeArrowheads="1"/>
          </p:cNvSpPr>
          <p:nvPr/>
        </p:nvSpPr>
        <p:spPr bwMode="auto">
          <a:xfrm>
            <a:off x="5850466" y="5992801"/>
            <a:ext cx="500063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0x36</a:t>
            </a:r>
          </a:p>
        </p:txBody>
      </p:sp>
    </p:spTree>
    <p:extLst>
      <p:ext uri="{BB962C8B-B14F-4D97-AF65-F5344CB8AC3E}">
        <p14:creationId xmlns:p14="http://schemas.microsoft.com/office/powerpoint/2010/main" val="14635942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42" grpId="0" animBg="1"/>
      <p:bldP spid="37943" grpId="0" animBg="1"/>
      <p:bldP spid="37945" grpId="0" animBg="1"/>
      <p:bldP spid="37946" grpId="0" animBg="1"/>
      <p:bldP spid="37950" grpId="0" animBg="1"/>
      <p:bldP spid="37951" grpId="0"/>
      <p:bldP spid="37953" grpId="0" animBg="1"/>
      <p:bldP spid="37954" grpId="0"/>
      <p:bldP spid="37956" grpId="0" animBg="1"/>
      <p:bldP spid="37957" grpId="0"/>
      <p:bldP spid="37959" grpId="0" animBg="1"/>
      <p:bldP spid="37960" grpId="0"/>
      <p:bldP spid="37962" grpId="0" animBg="1"/>
      <p:bldP spid="37963" grpId="0"/>
      <p:bldP spid="37965" grpId="0" animBg="1"/>
      <p:bldP spid="37966" grpId="0"/>
      <p:bldP spid="37968" grpId="0" animBg="1"/>
      <p:bldP spid="37969" grpId="0"/>
      <p:bldP spid="37971" grpId="0" animBg="1"/>
      <p:bldP spid="37972" grpId="0"/>
      <p:bldP spid="37974" grpId="0" animBg="1"/>
      <p:bldP spid="37975" grpId="0"/>
      <p:bldP spid="37977" grpId="0" animBg="1"/>
      <p:bldP spid="37978" grpId="0"/>
      <p:bldP spid="37980" grpId="0" animBg="1"/>
      <p:bldP spid="37981" grpId="0"/>
      <p:bldP spid="37983" grpId="0" animBg="1"/>
      <p:bldP spid="37984" grpId="0"/>
      <p:bldP spid="38016" grpId="0"/>
      <p:bldP spid="38017" grpId="0"/>
      <p:bldP spid="38018" grpId="0"/>
      <p:bldP spid="38019" grpId="0"/>
      <p:bldP spid="38021" grpId="0"/>
      <p:bldP spid="38022" grpId="0"/>
      <p:bldP spid="38037" grpId="0"/>
      <p:bldP spid="38038" grpId="0"/>
      <p:bldP spid="38039" grpId="0"/>
      <p:bldP spid="38041" grpId="0"/>
      <p:bldP spid="3804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7345363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 Example #2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7387" cy="5333999"/>
          </a:xfrm>
          <a:ln/>
        </p:spPr>
        <p:txBody>
          <a:bodyPr/>
          <a:lstStyle/>
          <a:p>
            <a:pPr marL="222250" indent="-222250">
              <a:lnSpc>
                <a:spcPct val="73000"/>
              </a:lnSpc>
              <a:buSzPct val="100000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Virtual Address: </a:t>
            </a:r>
            <a:r>
              <a:rPr lang="en-GB" dirty="0">
                <a:latin typeface="Courier New" pitchFamily="49" charset="0"/>
              </a:rPr>
              <a:t>0x0020</a:t>
            </a: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558800" lvl="1" indent="-220663">
              <a:lnSpc>
                <a:spcPct val="85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latin typeface="Courier New" pitchFamily="49" charset="0"/>
            </a:endParaRP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4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/>
              <a:t>VPN ___	TLBI ___	TLBT ____	          TLB Hit? __	Page Fault? __        PPN: ____</a:t>
            </a:r>
            <a:endParaRPr lang="en-GB" dirty="0">
              <a:effectLst/>
            </a:endParaRPr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Physical Address</a:t>
            </a:r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/>
              <a:t>	CO___	CI___	CT ____	     Hit? __              Byte: ____</a:t>
            </a: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108902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10890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57638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15763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2063750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20637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2551112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25511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303847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30384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09" name="Rectangle 21"/>
          <p:cNvSpPr>
            <a:spLocks noChangeArrowheads="1"/>
          </p:cNvSpPr>
          <p:nvPr/>
        </p:nvSpPr>
        <p:spPr bwMode="auto">
          <a:xfrm>
            <a:off x="352583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Rectangle 22"/>
          <p:cNvSpPr>
            <a:spLocks noChangeArrowheads="1"/>
          </p:cNvSpPr>
          <p:nvPr/>
        </p:nvSpPr>
        <p:spPr bwMode="auto">
          <a:xfrm>
            <a:off x="35258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12" name="Rectangle 24"/>
          <p:cNvSpPr>
            <a:spLocks noChangeArrowheads="1"/>
          </p:cNvSpPr>
          <p:nvPr/>
        </p:nvSpPr>
        <p:spPr bwMode="auto">
          <a:xfrm>
            <a:off x="4013200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3" name="Rectangle 25"/>
          <p:cNvSpPr>
            <a:spLocks noChangeArrowheads="1"/>
          </p:cNvSpPr>
          <p:nvPr/>
        </p:nvSpPr>
        <p:spPr bwMode="auto">
          <a:xfrm>
            <a:off x="401320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15" name="Rectangle 27"/>
          <p:cNvSpPr>
            <a:spLocks noChangeArrowheads="1"/>
          </p:cNvSpPr>
          <p:nvPr/>
        </p:nvSpPr>
        <p:spPr bwMode="auto">
          <a:xfrm>
            <a:off x="4500562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450056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18" name="Rectangle 30"/>
          <p:cNvSpPr>
            <a:spLocks noChangeArrowheads="1"/>
          </p:cNvSpPr>
          <p:nvPr/>
        </p:nvSpPr>
        <p:spPr bwMode="auto">
          <a:xfrm>
            <a:off x="498792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9" name="Rectangle 31"/>
          <p:cNvSpPr>
            <a:spLocks noChangeArrowheads="1"/>
          </p:cNvSpPr>
          <p:nvPr/>
        </p:nvSpPr>
        <p:spPr bwMode="auto">
          <a:xfrm>
            <a:off x="49879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21" name="Rectangle 33"/>
          <p:cNvSpPr>
            <a:spLocks noChangeArrowheads="1"/>
          </p:cNvSpPr>
          <p:nvPr/>
        </p:nvSpPr>
        <p:spPr bwMode="auto">
          <a:xfrm>
            <a:off x="547528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2" name="Rectangle 34"/>
          <p:cNvSpPr>
            <a:spLocks noChangeArrowheads="1"/>
          </p:cNvSpPr>
          <p:nvPr/>
        </p:nvSpPr>
        <p:spPr bwMode="auto">
          <a:xfrm>
            <a:off x="54752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24" name="Rectangle 36"/>
          <p:cNvSpPr>
            <a:spLocks noChangeArrowheads="1"/>
          </p:cNvSpPr>
          <p:nvPr/>
        </p:nvSpPr>
        <p:spPr bwMode="auto">
          <a:xfrm>
            <a:off x="5962650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5" name="Rectangle 37"/>
          <p:cNvSpPr>
            <a:spLocks noChangeArrowheads="1"/>
          </p:cNvSpPr>
          <p:nvPr/>
        </p:nvSpPr>
        <p:spPr bwMode="auto">
          <a:xfrm>
            <a:off x="59626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27" name="Rectangle 39"/>
          <p:cNvSpPr>
            <a:spLocks noChangeArrowheads="1"/>
          </p:cNvSpPr>
          <p:nvPr/>
        </p:nvSpPr>
        <p:spPr bwMode="auto">
          <a:xfrm>
            <a:off x="6450012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8" name="Rectangle 40"/>
          <p:cNvSpPr>
            <a:spLocks noChangeArrowheads="1"/>
          </p:cNvSpPr>
          <p:nvPr/>
        </p:nvSpPr>
        <p:spPr bwMode="auto">
          <a:xfrm>
            <a:off x="64500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30" name="Rectangle 42"/>
          <p:cNvSpPr>
            <a:spLocks noChangeArrowheads="1"/>
          </p:cNvSpPr>
          <p:nvPr/>
        </p:nvSpPr>
        <p:spPr bwMode="auto">
          <a:xfrm>
            <a:off x="693737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1" name="Rectangle 43"/>
          <p:cNvSpPr>
            <a:spLocks noChangeArrowheads="1"/>
          </p:cNvSpPr>
          <p:nvPr/>
        </p:nvSpPr>
        <p:spPr bwMode="auto">
          <a:xfrm>
            <a:off x="69373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33" name="Rectangle 45"/>
          <p:cNvSpPr>
            <a:spLocks noChangeArrowheads="1"/>
          </p:cNvSpPr>
          <p:nvPr/>
        </p:nvSpPr>
        <p:spPr bwMode="auto">
          <a:xfrm>
            <a:off x="742473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4" name="Rectangle 46"/>
          <p:cNvSpPr>
            <a:spLocks noChangeArrowheads="1"/>
          </p:cNvSpPr>
          <p:nvPr/>
        </p:nvSpPr>
        <p:spPr bwMode="auto">
          <a:xfrm>
            <a:off x="74247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987924" y="2924149"/>
            <a:ext cx="2924175" cy="333375"/>
            <a:chOff x="3085" y="1661"/>
            <a:chExt cx="1842" cy="210"/>
          </a:xfrm>
        </p:grpSpPr>
        <p:sp>
          <p:nvSpPr>
            <p:cNvPr id="37936" name="Line 48"/>
            <p:cNvSpPr>
              <a:spLocks noChangeShapeType="1"/>
            </p:cNvSpPr>
            <p:nvPr/>
          </p:nvSpPr>
          <p:spPr bwMode="auto">
            <a:xfrm>
              <a:off x="3085" y="17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Text Box 49"/>
            <p:cNvSpPr txBox="1">
              <a:spLocks noChangeArrowheads="1"/>
            </p:cNvSpPr>
            <p:nvPr/>
          </p:nvSpPr>
          <p:spPr bwMode="auto"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1089025" y="2916211"/>
            <a:ext cx="3916362" cy="333375"/>
            <a:chOff x="629" y="1656"/>
            <a:chExt cx="2467" cy="210"/>
          </a:xfrm>
        </p:grpSpPr>
        <p:sp>
          <p:nvSpPr>
            <p:cNvPr id="37939" name="Line 51"/>
            <p:cNvSpPr>
              <a:spLocks noChangeShapeType="1"/>
            </p:cNvSpPr>
            <p:nvPr/>
          </p:nvSpPr>
          <p:spPr bwMode="auto">
            <a:xfrm>
              <a:off x="629" y="17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40" name="Text Box 52"/>
            <p:cNvSpPr txBox="1">
              <a:spLocks noChangeArrowheads="1"/>
            </p:cNvSpPr>
            <p:nvPr/>
          </p:nvSpPr>
          <p:spPr bwMode="auto"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VPN</a:t>
              </a:r>
            </a:p>
          </p:txBody>
        </p:sp>
      </p:grpSp>
      <p:sp>
        <p:nvSpPr>
          <p:cNvPr id="37942" name="Line 54"/>
          <p:cNvSpPr>
            <a:spLocks noChangeShapeType="1"/>
          </p:cNvSpPr>
          <p:nvPr/>
        </p:nvSpPr>
        <p:spPr bwMode="auto">
          <a:xfrm>
            <a:off x="4010025" y="2015040"/>
            <a:ext cx="992187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3" name="Text Box 55"/>
          <p:cNvSpPr txBox="1">
            <a:spLocks noChangeArrowheads="1"/>
          </p:cNvSpPr>
          <p:nvPr/>
        </p:nvSpPr>
        <p:spPr bwMode="auto">
          <a:xfrm>
            <a:off x="4233862" y="1891215"/>
            <a:ext cx="539750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TLBI</a:t>
            </a:r>
          </a:p>
        </p:txBody>
      </p:sp>
      <p:sp>
        <p:nvSpPr>
          <p:cNvPr id="37945" name="Line 57"/>
          <p:cNvSpPr>
            <a:spLocks noChangeShapeType="1"/>
          </p:cNvSpPr>
          <p:nvPr/>
        </p:nvSpPr>
        <p:spPr bwMode="auto">
          <a:xfrm>
            <a:off x="1089025" y="2011336"/>
            <a:ext cx="2927350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6" name="Text Box 58"/>
          <p:cNvSpPr txBox="1">
            <a:spLocks noChangeArrowheads="1"/>
          </p:cNvSpPr>
          <p:nvPr/>
        </p:nvSpPr>
        <p:spPr bwMode="auto">
          <a:xfrm>
            <a:off x="2332038" y="1887511"/>
            <a:ext cx="582613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TLBT</a:t>
            </a:r>
          </a:p>
        </p:txBody>
      </p:sp>
      <p:sp>
        <p:nvSpPr>
          <p:cNvPr id="37950" name="Rectangle 62"/>
          <p:cNvSpPr>
            <a:spLocks noChangeArrowheads="1"/>
          </p:cNvSpPr>
          <p:nvPr/>
        </p:nvSpPr>
        <p:spPr bwMode="auto">
          <a:xfrm>
            <a:off x="207168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1" name="Rectangle 63"/>
          <p:cNvSpPr>
            <a:spLocks noChangeArrowheads="1"/>
          </p:cNvSpPr>
          <p:nvPr/>
        </p:nvSpPr>
        <p:spPr bwMode="auto">
          <a:xfrm>
            <a:off x="20716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53" name="Rectangle 65"/>
          <p:cNvSpPr>
            <a:spLocks noChangeArrowheads="1"/>
          </p:cNvSpPr>
          <p:nvPr/>
        </p:nvSpPr>
        <p:spPr bwMode="auto">
          <a:xfrm>
            <a:off x="255905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4" name="Rectangle 66"/>
          <p:cNvSpPr>
            <a:spLocks noChangeArrowheads="1"/>
          </p:cNvSpPr>
          <p:nvPr/>
        </p:nvSpPr>
        <p:spPr bwMode="auto">
          <a:xfrm>
            <a:off x="25590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56" name="Rectangle 68"/>
          <p:cNvSpPr>
            <a:spLocks noChangeArrowheads="1"/>
          </p:cNvSpPr>
          <p:nvPr/>
        </p:nvSpPr>
        <p:spPr bwMode="auto">
          <a:xfrm>
            <a:off x="3046412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7" name="Rectangle 69"/>
          <p:cNvSpPr>
            <a:spLocks noChangeArrowheads="1"/>
          </p:cNvSpPr>
          <p:nvPr/>
        </p:nvSpPr>
        <p:spPr bwMode="auto">
          <a:xfrm>
            <a:off x="30464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59" name="Rectangle 71"/>
          <p:cNvSpPr>
            <a:spLocks noChangeArrowheads="1"/>
          </p:cNvSpPr>
          <p:nvPr/>
        </p:nvSpPr>
        <p:spPr bwMode="auto">
          <a:xfrm>
            <a:off x="3533775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0" name="Rectangle 72"/>
          <p:cNvSpPr>
            <a:spLocks noChangeArrowheads="1"/>
          </p:cNvSpPr>
          <p:nvPr/>
        </p:nvSpPr>
        <p:spPr bwMode="auto">
          <a:xfrm>
            <a:off x="35337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62" name="Rectangle 74"/>
          <p:cNvSpPr>
            <a:spLocks noChangeArrowheads="1"/>
          </p:cNvSpPr>
          <p:nvPr/>
        </p:nvSpPr>
        <p:spPr bwMode="auto">
          <a:xfrm>
            <a:off x="402113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3" name="Rectangle 75"/>
          <p:cNvSpPr>
            <a:spLocks noChangeArrowheads="1"/>
          </p:cNvSpPr>
          <p:nvPr/>
        </p:nvSpPr>
        <p:spPr bwMode="auto">
          <a:xfrm>
            <a:off x="402113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65" name="Rectangle 77"/>
          <p:cNvSpPr>
            <a:spLocks noChangeArrowheads="1"/>
          </p:cNvSpPr>
          <p:nvPr/>
        </p:nvSpPr>
        <p:spPr bwMode="auto">
          <a:xfrm>
            <a:off x="450850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6" name="Rectangle 78"/>
          <p:cNvSpPr>
            <a:spLocks noChangeArrowheads="1"/>
          </p:cNvSpPr>
          <p:nvPr/>
        </p:nvSpPr>
        <p:spPr bwMode="auto">
          <a:xfrm>
            <a:off x="450850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68" name="Rectangle 80"/>
          <p:cNvSpPr>
            <a:spLocks noChangeArrowheads="1"/>
          </p:cNvSpPr>
          <p:nvPr/>
        </p:nvSpPr>
        <p:spPr bwMode="auto">
          <a:xfrm>
            <a:off x="499586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9" name="Rectangle 81"/>
          <p:cNvSpPr>
            <a:spLocks noChangeArrowheads="1"/>
          </p:cNvSpPr>
          <p:nvPr/>
        </p:nvSpPr>
        <p:spPr bwMode="auto">
          <a:xfrm>
            <a:off x="499586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71" name="Rectangle 83"/>
          <p:cNvSpPr>
            <a:spLocks noChangeArrowheads="1"/>
          </p:cNvSpPr>
          <p:nvPr/>
        </p:nvSpPr>
        <p:spPr bwMode="auto">
          <a:xfrm>
            <a:off x="548322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2" name="Rectangle 84"/>
          <p:cNvSpPr>
            <a:spLocks noChangeArrowheads="1"/>
          </p:cNvSpPr>
          <p:nvPr/>
        </p:nvSpPr>
        <p:spPr bwMode="auto">
          <a:xfrm>
            <a:off x="548322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74" name="Rectangle 86"/>
          <p:cNvSpPr>
            <a:spLocks noChangeArrowheads="1"/>
          </p:cNvSpPr>
          <p:nvPr/>
        </p:nvSpPr>
        <p:spPr bwMode="auto">
          <a:xfrm>
            <a:off x="5970587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5" name="Rectangle 87"/>
          <p:cNvSpPr>
            <a:spLocks noChangeArrowheads="1"/>
          </p:cNvSpPr>
          <p:nvPr/>
        </p:nvSpPr>
        <p:spPr bwMode="auto">
          <a:xfrm>
            <a:off x="59705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77" name="Rectangle 89"/>
          <p:cNvSpPr>
            <a:spLocks noChangeArrowheads="1"/>
          </p:cNvSpPr>
          <p:nvPr/>
        </p:nvSpPr>
        <p:spPr bwMode="auto">
          <a:xfrm>
            <a:off x="6457950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8" name="Rectangle 90"/>
          <p:cNvSpPr>
            <a:spLocks noChangeArrowheads="1"/>
          </p:cNvSpPr>
          <p:nvPr/>
        </p:nvSpPr>
        <p:spPr bwMode="auto">
          <a:xfrm>
            <a:off x="64579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80" name="Rectangle 92"/>
          <p:cNvSpPr>
            <a:spLocks noChangeArrowheads="1"/>
          </p:cNvSpPr>
          <p:nvPr/>
        </p:nvSpPr>
        <p:spPr bwMode="auto">
          <a:xfrm>
            <a:off x="694531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1" name="Rectangle 93"/>
          <p:cNvSpPr>
            <a:spLocks noChangeArrowheads="1"/>
          </p:cNvSpPr>
          <p:nvPr/>
        </p:nvSpPr>
        <p:spPr bwMode="auto">
          <a:xfrm>
            <a:off x="69453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83" name="Rectangle 95"/>
          <p:cNvSpPr>
            <a:spLocks noChangeArrowheads="1"/>
          </p:cNvSpPr>
          <p:nvPr/>
        </p:nvSpPr>
        <p:spPr bwMode="auto">
          <a:xfrm>
            <a:off x="743267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4" name="Rectangle 96"/>
          <p:cNvSpPr>
            <a:spLocks noChangeArrowheads="1"/>
          </p:cNvSpPr>
          <p:nvPr/>
        </p:nvSpPr>
        <p:spPr bwMode="auto">
          <a:xfrm>
            <a:off x="74326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4" name="Group 97"/>
          <p:cNvGrpSpPr>
            <a:grpSpLocks/>
          </p:cNvGrpSpPr>
          <p:nvPr/>
        </p:nvGrpSpPr>
        <p:grpSpPr bwMode="auto">
          <a:xfrm>
            <a:off x="5004858" y="5564717"/>
            <a:ext cx="2924175" cy="333375"/>
            <a:chOff x="3101" y="3292"/>
            <a:chExt cx="1842" cy="210"/>
          </a:xfrm>
        </p:grpSpPr>
        <p:sp>
          <p:nvSpPr>
            <p:cNvPr id="37986" name="Line 98"/>
            <p:cNvSpPr>
              <a:spLocks noChangeShapeType="1"/>
            </p:cNvSpPr>
            <p:nvPr/>
          </p:nvSpPr>
          <p:spPr bwMode="auto">
            <a:xfrm>
              <a:off x="3101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87" name="Text Box 99"/>
            <p:cNvSpPr txBox="1">
              <a:spLocks noChangeArrowheads="1"/>
            </p:cNvSpPr>
            <p:nvPr/>
          </p:nvSpPr>
          <p:spPr bwMode="auto"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5" name="Group 100"/>
          <p:cNvGrpSpPr>
            <a:grpSpLocks/>
          </p:cNvGrpSpPr>
          <p:nvPr/>
        </p:nvGrpSpPr>
        <p:grpSpPr bwMode="auto">
          <a:xfrm>
            <a:off x="2092324" y="5556250"/>
            <a:ext cx="2924175" cy="333375"/>
            <a:chOff x="1277" y="3292"/>
            <a:chExt cx="1842" cy="210"/>
          </a:xfrm>
        </p:grpSpPr>
        <p:sp>
          <p:nvSpPr>
            <p:cNvPr id="37989" name="Line 101"/>
            <p:cNvSpPr>
              <a:spLocks noChangeShapeType="1"/>
            </p:cNvSpPr>
            <p:nvPr/>
          </p:nvSpPr>
          <p:spPr bwMode="auto">
            <a:xfrm>
              <a:off x="1277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0" name="Text Box 102"/>
            <p:cNvSpPr txBox="1">
              <a:spLocks noChangeArrowheads="1"/>
            </p:cNvSpPr>
            <p:nvPr/>
          </p:nvSpPr>
          <p:spPr bwMode="auto"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6" name="Group 103"/>
          <p:cNvGrpSpPr>
            <a:grpSpLocks/>
          </p:cNvGrpSpPr>
          <p:nvPr/>
        </p:nvGrpSpPr>
        <p:grpSpPr bwMode="auto">
          <a:xfrm>
            <a:off x="6925204" y="4516438"/>
            <a:ext cx="992188" cy="306388"/>
            <a:chOff x="4300" y="2637"/>
            <a:chExt cx="625" cy="193"/>
          </a:xfrm>
        </p:grpSpPr>
        <p:sp>
          <p:nvSpPr>
            <p:cNvPr id="37992" name="Line 104"/>
            <p:cNvSpPr>
              <a:spLocks noChangeShapeType="1"/>
            </p:cNvSpPr>
            <p:nvPr/>
          </p:nvSpPr>
          <p:spPr bwMode="auto">
            <a:xfrm>
              <a:off x="4300" y="2715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3" name="Text Box 105"/>
            <p:cNvSpPr txBox="1">
              <a:spLocks noChangeArrowheads="1"/>
            </p:cNvSpPr>
            <p:nvPr/>
          </p:nvSpPr>
          <p:spPr bwMode="auto"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CO</a:t>
              </a:r>
            </a:p>
          </p:txBody>
        </p:sp>
      </p:grpSp>
      <p:grpSp>
        <p:nvGrpSpPr>
          <p:cNvPr id="7" name="Group 106"/>
          <p:cNvGrpSpPr>
            <a:grpSpLocks/>
          </p:cNvGrpSpPr>
          <p:nvPr/>
        </p:nvGrpSpPr>
        <p:grpSpPr bwMode="auto">
          <a:xfrm>
            <a:off x="4987395" y="4512734"/>
            <a:ext cx="1927225" cy="306388"/>
            <a:chOff x="3090" y="2624"/>
            <a:chExt cx="1214" cy="193"/>
          </a:xfrm>
        </p:grpSpPr>
        <p:sp>
          <p:nvSpPr>
            <p:cNvPr id="37995" name="Line 107"/>
            <p:cNvSpPr>
              <a:spLocks noChangeShapeType="1"/>
            </p:cNvSpPr>
            <p:nvPr/>
          </p:nvSpPr>
          <p:spPr bwMode="auto">
            <a:xfrm>
              <a:off x="3090" y="2702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6" name="Text Box 108"/>
            <p:cNvSpPr txBox="1">
              <a:spLocks noChangeArrowheads="1"/>
            </p:cNvSpPr>
            <p:nvPr/>
          </p:nvSpPr>
          <p:spPr bwMode="auto"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CI</a:t>
              </a:r>
            </a:p>
          </p:txBody>
        </p:sp>
      </p:grpSp>
      <p:grpSp>
        <p:nvGrpSpPr>
          <p:cNvPr id="8" name="Group 109"/>
          <p:cNvGrpSpPr>
            <a:grpSpLocks/>
          </p:cNvGrpSpPr>
          <p:nvPr/>
        </p:nvGrpSpPr>
        <p:grpSpPr bwMode="auto">
          <a:xfrm>
            <a:off x="2071687" y="4516438"/>
            <a:ext cx="2894013" cy="306388"/>
            <a:chOff x="1248" y="2637"/>
            <a:chExt cx="1823" cy="193"/>
          </a:xfrm>
        </p:grpSpPr>
        <p:sp>
          <p:nvSpPr>
            <p:cNvPr id="37998" name="Line 110"/>
            <p:cNvSpPr>
              <a:spLocks noChangeShapeType="1"/>
            </p:cNvSpPr>
            <p:nvPr/>
          </p:nvSpPr>
          <p:spPr bwMode="auto">
            <a:xfrm>
              <a:off x="1248" y="2715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9" name="Text Box 111"/>
            <p:cNvSpPr txBox="1">
              <a:spLocks noChangeArrowheads="1"/>
            </p:cNvSpPr>
            <p:nvPr/>
          </p:nvSpPr>
          <p:spPr bwMode="auto"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CT</a:t>
              </a:r>
            </a:p>
          </p:txBody>
        </p:sp>
      </p:grpSp>
      <p:sp>
        <p:nvSpPr>
          <p:cNvPr id="38001" name="Text Box 113"/>
          <p:cNvSpPr txBox="1">
            <a:spLocks noChangeArrowheads="1"/>
          </p:cNvSpPr>
          <p:nvPr/>
        </p:nvSpPr>
        <p:spPr bwMode="auto">
          <a:xfrm>
            <a:off x="75580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2" name="Text Box 114"/>
          <p:cNvSpPr txBox="1">
            <a:spLocks noChangeArrowheads="1"/>
          </p:cNvSpPr>
          <p:nvPr/>
        </p:nvSpPr>
        <p:spPr bwMode="auto">
          <a:xfrm>
            <a:off x="7070725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3" name="Text Box 115"/>
          <p:cNvSpPr txBox="1">
            <a:spLocks noChangeArrowheads="1"/>
          </p:cNvSpPr>
          <p:nvPr/>
        </p:nvSpPr>
        <p:spPr bwMode="auto">
          <a:xfrm>
            <a:off x="6584950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4" name="Text Box 116"/>
          <p:cNvSpPr txBox="1">
            <a:spLocks noChangeArrowheads="1"/>
          </p:cNvSpPr>
          <p:nvPr/>
        </p:nvSpPr>
        <p:spPr bwMode="auto">
          <a:xfrm>
            <a:off x="6097587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5" name="Text Box 117"/>
          <p:cNvSpPr txBox="1">
            <a:spLocks noChangeArrowheads="1"/>
          </p:cNvSpPr>
          <p:nvPr/>
        </p:nvSpPr>
        <p:spPr bwMode="auto">
          <a:xfrm>
            <a:off x="5611812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6" name="Text Box 118"/>
          <p:cNvSpPr txBox="1">
            <a:spLocks noChangeArrowheads="1"/>
          </p:cNvSpPr>
          <p:nvPr/>
        </p:nvSpPr>
        <p:spPr bwMode="auto">
          <a:xfrm>
            <a:off x="5124450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1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7" name="Text Box 119"/>
          <p:cNvSpPr txBox="1">
            <a:spLocks noChangeArrowheads="1"/>
          </p:cNvSpPr>
          <p:nvPr/>
        </p:nvSpPr>
        <p:spPr bwMode="auto">
          <a:xfrm>
            <a:off x="4638675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8" name="Text Box 120"/>
          <p:cNvSpPr txBox="1">
            <a:spLocks noChangeArrowheads="1"/>
          </p:cNvSpPr>
          <p:nvPr/>
        </p:nvSpPr>
        <p:spPr bwMode="auto">
          <a:xfrm>
            <a:off x="4151312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9" name="Text Box 121"/>
          <p:cNvSpPr txBox="1">
            <a:spLocks noChangeArrowheads="1"/>
          </p:cNvSpPr>
          <p:nvPr/>
        </p:nvSpPr>
        <p:spPr bwMode="auto">
          <a:xfrm>
            <a:off x="3665537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0" name="Text Box 122"/>
          <p:cNvSpPr txBox="1">
            <a:spLocks noChangeArrowheads="1"/>
          </p:cNvSpPr>
          <p:nvPr/>
        </p:nvSpPr>
        <p:spPr bwMode="auto">
          <a:xfrm>
            <a:off x="3178175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1" name="Text Box 123"/>
          <p:cNvSpPr txBox="1">
            <a:spLocks noChangeArrowheads="1"/>
          </p:cNvSpPr>
          <p:nvPr/>
        </p:nvSpPr>
        <p:spPr bwMode="auto">
          <a:xfrm>
            <a:off x="2692400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2" name="Text Box 124"/>
          <p:cNvSpPr txBox="1">
            <a:spLocks noChangeArrowheads="1"/>
          </p:cNvSpPr>
          <p:nvPr/>
        </p:nvSpPr>
        <p:spPr bwMode="auto">
          <a:xfrm>
            <a:off x="220503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3" name="Text Box 125"/>
          <p:cNvSpPr txBox="1">
            <a:spLocks noChangeArrowheads="1"/>
          </p:cNvSpPr>
          <p:nvPr/>
        </p:nvSpPr>
        <p:spPr bwMode="auto">
          <a:xfrm>
            <a:off x="171926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4" name="Text Box 126"/>
          <p:cNvSpPr txBox="1">
            <a:spLocks noChangeArrowheads="1"/>
          </p:cNvSpPr>
          <p:nvPr/>
        </p:nvSpPr>
        <p:spPr bwMode="auto">
          <a:xfrm>
            <a:off x="12334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6" name="Text Box 128"/>
          <p:cNvSpPr txBox="1">
            <a:spLocks noChangeArrowheads="1"/>
          </p:cNvSpPr>
          <p:nvPr/>
        </p:nvSpPr>
        <p:spPr bwMode="auto">
          <a:xfrm>
            <a:off x="1143000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0x00</a:t>
            </a:r>
          </a:p>
        </p:txBody>
      </p:sp>
      <p:sp>
        <p:nvSpPr>
          <p:cNvPr id="38017" name="Text Box 129"/>
          <p:cNvSpPr txBox="1">
            <a:spLocks noChangeArrowheads="1"/>
          </p:cNvSpPr>
          <p:nvPr/>
        </p:nvSpPr>
        <p:spPr bwMode="auto">
          <a:xfrm>
            <a:off x="2588682" y="3437965"/>
            <a:ext cx="196529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8" name="Text Box 130"/>
          <p:cNvSpPr txBox="1">
            <a:spLocks noChangeArrowheads="1"/>
          </p:cNvSpPr>
          <p:nvPr/>
        </p:nvSpPr>
        <p:spPr bwMode="auto">
          <a:xfrm>
            <a:off x="3454401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0x00</a:t>
            </a:r>
          </a:p>
        </p:txBody>
      </p:sp>
      <p:sp>
        <p:nvSpPr>
          <p:cNvPr id="38019" name="Text Box 131"/>
          <p:cNvSpPr txBox="1">
            <a:spLocks noChangeArrowheads="1"/>
          </p:cNvSpPr>
          <p:nvPr/>
        </p:nvSpPr>
        <p:spPr bwMode="auto">
          <a:xfrm>
            <a:off x="5142732" y="3437939"/>
            <a:ext cx="22698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21" name="Text Box 133"/>
          <p:cNvSpPr txBox="1">
            <a:spLocks noChangeArrowheads="1"/>
          </p:cNvSpPr>
          <p:nvPr/>
        </p:nvSpPr>
        <p:spPr bwMode="auto">
          <a:xfrm>
            <a:off x="6781800" y="3437965"/>
            <a:ext cx="227012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22" name="Text Box 134"/>
          <p:cNvSpPr txBox="1">
            <a:spLocks noChangeArrowheads="1"/>
          </p:cNvSpPr>
          <p:nvPr/>
        </p:nvSpPr>
        <p:spPr bwMode="auto">
          <a:xfrm>
            <a:off x="7746470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0x28</a:t>
            </a:r>
          </a:p>
        </p:txBody>
      </p:sp>
      <p:grpSp>
        <p:nvGrpSpPr>
          <p:cNvPr id="9" name="Group 135"/>
          <p:cNvGrpSpPr>
            <a:grpSpLocks/>
          </p:cNvGrpSpPr>
          <p:nvPr/>
        </p:nvGrpSpPr>
        <p:grpSpPr bwMode="auto">
          <a:xfrm>
            <a:off x="2215620" y="5173133"/>
            <a:ext cx="5576888" cy="339725"/>
            <a:chOff x="1344" y="3030"/>
            <a:chExt cx="3513" cy="214"/>
          </a:xfrm>
        </p:grpSpPr>
        <p:sp>
          <p:nvSpPr>
            <p:cNvPr id="38024" name="Text Box 136"/>
            <p:cNvSpPr txBox="1">
              <a:spLocks noChangeArrowheads="1"/>
            </p:cNvSpPr>
            <p:nvPr/>
          </p:nvSpPr>
          <p:spPr bwMode="auto">
            <a:xfrm>
              <a:off x="4725" y="3031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5" name="Text Box 137"/>
            <p:cNvSpPr txBox="1">
              <a:spLocks noChangeArrowheads="1"/>
            </p:cNvSpPr>
            <p:nvPr/>
          </p:nvSpPr>
          <p:spPr bwMode="auto">
            <a:xfrm>
              <a:off x="441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6" name="Text Box 138"/>
            <p:cNvSpPr txBox="1">
              <a:spLocks noChangeArrowheads="1"/>
            </p:cNvSpPr>
            <p:nvPr/>
          </p:nvSpPr>
          <p:spPr bwMode="auto">
            <a:xfrm>
              <a:off x="3802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7" name="Text Box 139"/>
            <p:cNvSpPr txBox="1">
              <a:spLocks noChangeArrowheads="1"/>
            </p:cNvSpPr>
            <p:nvPr/>
          </p:nvSpPr>
          <p:spPr bwMode="auto">
            <a:xfrm>
              <a:off x="288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28" name="Text Box 140"/>
            <p:cNvSpPr txBox="1">
              <a:spLocks noChangeArrowheads="1"/>
            </p:cNvSpPr>
            <p:nvPr/>
          </p:nvSpPr>
          <p:spPr bwMode="auto">
            <a:xfrm>
              <a:off x="2573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9" name="Text Box 141"/>
            <p:cNvSpPr txBox="1">
              <a:spLocks noChangeArrowheads="1"/>
            </p:cNvSpPr>
            <p:nvPr/>
          </p:nvSpPr>
          <p:spPr bwMode="auto">
            <a:xfrm>
              <a:off x="226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0" name="Text Box 142"/>
            <p:cNvSpPr txBox="1">
              <a:spLocks noChangeArrowheads="1"/>
            </p:cNvSpPr>
            <p:nvPr/>
          </p:nvSpPr>
          <p:spPr bwMode="auto">
            <a:xfrm>
              <a:off x="1651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31" name="Text Box 143"/>
            <p:cNvSpPr txBox="1">
              <a:spLocks noChangeArrowheads="1"/>
            </p:cNvSpPr>
            <p:nvPr/>
          </p:nvSpPr>
          <p:spPr bwMode="auto">
            <a:xfrm>
              <a:off x="411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2" name="Text Box 144"/>
            <p:cNvSpPr txBox="1">
              <a:spLocks noChangeArrowheads="1"/>
            </p:cNvSpPr>
            <p:nvPr/>
          </p:nvSpPr>
          <p:spPr bwMode="auto">
            <a:xfrm>
              <a:off x="349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3" name="Text Box 145"/>
            <p:cNvSpPr txBox="1">
              <a:spLocks noChangeArrowheads="1"/>
            </p:cNvSpPr>
            <p:nvPr/>
          </p:nvSpPr>
          <p:spPr bwMode="auto">
            <a:xfrm>
              <a:off x="3188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4" name="Text Box 146"/>
            <p:cNvSpPr txBox="1">
              <a:spLocks noChangeArrowheads="1"/>
            </p:cNvSpPr>
            <p:nvPr/>
          </p:nvSpPr>
          <p:spPr bwMode="auto">
            <a:xfrm>
              <a:off x="195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8035" name="Text Box 147"/>
            <p:cNvSpPr txBox="1">
              <a:spLocks noChangeArrowheads="1"/>
            </p:cNvSpPr>
            <p:nvPr/>
          </p:nvSpPr>
          <p:spPr bwMode="auto">
            <a:xfrm>
              <a:off x="1344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</p:grpSp>
      <p:sp>
        <p:nvSpPr>
          <p:cNvPr id="38037" name="Text Box 149"/>
          <p:cNvSpPr txBox="1">
            <a:spLocks noChangeArrowheads="1"/>
          </p:cNvSpPr>
          <p:nvPr/>
        </p:nvSpPr>
        <p:spPr bwMode="auto">
          <a:xfrm>
            <a:off x="1352551" y="5992801"/>
            <a:ext cx="196850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38" name="Text Box 150"/>
          <p:cNvSpPr txBox="1">
            <a:spLocks noChangeArrowheads="1"/>
          </p:cNvSpPr>
          <p:nvPr/>
        </p:nvSpPr>
        <p:spPr bwMode="auto">
          <a:xfrm>
            <a:off x="2271712" y="5992801"/>
            <a:ext cx="395301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0x8</a:t>
            </a:r>
          </a:p>
        </p:txBody>
      </p:sp>
      <p:sp>
        <p:nvSpPr>
          <p:cNvPr id="38039" name="Text Box 151"/>
          <p:cNvSpPr txBox="1">
            <a:spLocks noChangeArrowheads="1"/>
          </p:cNvSpPr>
          <p:nvPr/>
        </p:nvSpPr>
        <p:spPr bwMode="auto">
          <a:xfrm>
            <a:off x="3259139" y="5992801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0x28</a:t>
            </a:r>
          </a:p>
        </p:txBody>
      </p:sp>
      <p:sp>
        <p:nvSpPr>
          <p:cNvPr id="38041" name="Text Box 153"/>
          <p:cNvSpPr txBox="1">
            <a:spLocks noChangeArrowheads="1"/>
          </p:cNvSpPr>
          <p:nvPr/>
        </p:nvSpPr>
        <p:spPr bwMode="auto">
          <a:xfrm>
            <a:off x="4580467" y="5992801"/>
            <a:ext cx="22698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42" name="Text Box 154"/>
          <p:cNvSpPr txBox="1">
            <a:spLocks noChangeArrowheads="1"/>
          </p:cNvSpPr>
          <p:nvPr/>
        </p:nvSpPr>
        <p:spPr bwMode="auto">
          <a:xfrm>
            <a:off x="5850466" y="5992801"/>
            <a:ext cx="54117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solidFill>
                  <a:srgbClr val="C00000"/>
                </a:solidFill>
                <a:latin typeface="Calibri" pitchFamily="34" charset="0"/>
              </a:rPr>
              <a:t>Mem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7546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50" grpId="0" animBg="1"/>
      <p:bldP spid="37951" grpId="0"/>
      <p:bldP spid="37953" grpId="0" animBg="1"/>
      <p:bldP spid="37954" grpId="0"/>
      <p:bldP spid="37956" grpId="0" animBg="1"/>
      <p:bldP spid="37957" grpId="0"/>
      <p:bldP spid="37959" grpId="0" animBg="1"/>
      <p:bldP spid="37960" grpId="0"/>
      <p:bldP spid="37962" grpId="0" animBg="1"/>
      <p:bldP spid="37963" grpId="0"/>
      <p:bldP spid="37965" grpId="0" animBg="1"/>
      <p:bldP spid="37966" grpId="0"/>
      <p:bldP spid="37968" grpId="0" animBg="1"/>
      <p:bldP spid="37969" grpId="0"/>
      <p:bldP spid="37971" grpId="0" animBg="1"/>
      <p:bldP spid="37972" grpId="0"/>
      <p:bldP spid="37974" grpId="0" animBg="1"/>
      <p:bldP spid="37975" grpId="0"/>
      <p:bldP spid="37977" grpId="0" animBg="1"/>
      <p:bldP spid="37978" grpId="0"/>
      <p:bldP spid="37980" grpId="0" animBg="1"/>
      <p:bldP spid="37981" grpId="0"/>
      <p:bldP spid="37983" grpId="0" animBg="1"/>
      <p:bldP spid="37984" grpId="0"/>
      <p:bldP spid="38016" grpId="0"/>
      <p:bldP spid="38017" grpId="0"/>
      <p:bldP spid="38018" grpId="0"/>
      <p:bldP spid="38019" grpId="0"/>
      <p:bldP spid="38021" grpId="0"/>
      <p:bldP spid="38022" grpId="0"/>
      <p:bldP spid="38037" grpId="0"/>
      <p:bldP spid="38038" grpId="0"/>
      <p:bldP spid="38039" grpId="0"/>
      <p:bldP spid="38041" grpId="0"/>
      <p:bldP spid="3804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7345363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 Example #3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7387" cy="5333999"/>
          </a:xfrm>
          <a:ln/>
        </p:spPr>
        <p:txBody>
          <a:bodyPr/>
          <a:lstStyle/>
          <a:p>
            <a:pPr marL="222250" indent="-222250">
              <a:lnSpc>
                <a:spcPct val="73000"/>
              </a:lnSpc>
              <a:buSzPct val="100000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Virtual Address: </a:t>
            </a:r>
            <a:r>
              <a:rPr lang="en-GB" dirty="0">
                <a:latin typeface="Courier New" pitchFamily="49" charset="0"/>
              </a:rPr>
              <a:t>0x0020</a:t>
            </a: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558800" lvl="1" indent="-220663">
              <a:lnSpc>
                <a:spcPct val="85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latin typeface="Courier New" pitchFamily="49" charset="0"/>
            </a:endParaRP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4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/>
              <a:t>VPN ___	TLBI ___	TLBT ____	          TLB Hit? __	Page Fault? __        PPN: ____</a:t>
            </a:r>
            <a:endParaRPr lang="en-GB" dirty="0">
              <a:effectLst/>
            </a:endParaRPr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Physical Address</a:t>
            </a:r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/>
              <a:t>	CO___	CI___	CT ____	     Hit? __              Byte: ____</a:t>
            </a: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108902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10890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57638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15763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2063750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20637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2551112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25511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303847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30384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09" name="Rectangle 21"/>
          <p:cNvSpPr>
            <a:spLocks noChangeArrowheads="1"/>
          </p:cNvSpPr>
          <p:nvPr/>
        </p:nvSpPr>
        <p:spPr bwMode="auto">
          <a:xfrm>
            <a:off x="352583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Rectangle 22"/>
          <p:cNvSpPr>
            <a:spLocks noChangeArrowheads="1"/>
          </p:cNvSpPr>
          <p:nvPr/>
        </p:nvSpPr>
        <p:spPr bwMode="auto">
          <a:xfrm>
            <a:off x="35258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12" name="Rectangle 24"/>
          <p:cNvSpPr>
            <a:spLocks noChangeArrowheads="1"/>
          </p:cNvSpPr>
          <p:nvPr/>
        </p:nvSpPr>
        <p:spPr bwMode="auto">
          <a:xfrm>
            <a:off x="4013200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3" name="Rectangle 25"/>
          <p:cNvSpPr>
            <a:spLocks noChangeArrowheads="1"/>
          </p:cNvSpPr>
          <p:nvPr/>
        </p:nvSpPr>
        <p:spPr bwMode="auto">
          <a:xfrm>
            <a:off x="401320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15" name="Rectangle 27"/>
          <p:cNvSpPr>
            <a:spLocks noChangeArrowheads="1"/>
          </p:cNvSpPr>
          <p:nvPr/>
        </p:nvSpPr>
        <p:spPr bwMode="auto">
          <a:xfrm>
            <a:off x="4500562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450056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18" name="Rectangle 30"/>
          <p:cNvSpPr>
            <a:spLocks noChangeArrowheads="1"/>
          </p:cNvSpPr>
          <p:nvPr/>
        </p:nvSpPr>
        <p:spPr bwMode="auto">
          <a:xfrm>
            <a:off x="498792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9" name="Rectangle 31"/>
          <p:cNvSpPr>
            <a:spLocks noChangeArrowheads="1"/>
          </p:cNvSpPr>
          <p:nvPr/>
        </p:nvSpPr>
        <p:spPr bwMode="auto">
          <a:xfrm>
            <a:off x="49879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21" name="Rectangle 33"/>
          <p:cNvSpPr>
            <a:spLocks noChangeArrowheads="1"/>
          </p:cNvSpPr>
          <p:nvPr/>
        </p:nvSpPr>
        <p:spPr bwMode="auto">
          <a:xfrm>
            <a:off x="547528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2" name="Rectangle 34"/>
          <p:cNvSpPr>
            <a:spLocks noChangeArrowheads="1"/>
          </p:cNvSpPr>
          <p:nvPr/>
        </p:nvSpPr>
        <p:spPr bwMode="auto">
          <a:xfrm>
            <a:off x="54752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24" name="Rectangle 36"/>
          <p:cNvSpPr>
            <a:spLocks noChangeArrowheads="1"/>
          </p:cNvSpPr>
          <p:nvPr/>
        </p:nvSpPr>
        <p:spPr bwMode="auto">
          <a:xfrm>
            <a:off x="5962650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5" name="Rectangle 37"/>
          <p:cNvSpPr>
            <a:spLocks noChangeArrowheads="1"/>
          </p:cNvSpPr>
          <p:nvPr/>
        </p:nvSpPr>
        <p:spPr bwMode="auto">
          <a:xfrm>
            <a:off x="59626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27" name="Rectangle 39"/>
          <p:cNvSpPr>
            <a:spLocks noChangeArrowheads="1"/>
          </p:cNvSpPr>
          <p:nvPr/>
        </p:nvSpPr>
        <p:spPr bwMode="auto">
          <a:xfrm>
            <a:off x="6450012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8" name="Rectangle 40"/>
          <p:cNvSpPr>
            <a:spLocks noChangeArrowheads="1"/>
          </p:cNvSpPr>
          <p:nvPr/>
        </p:nvSpPr>
        <p:spPr bwMode="auto">
          <a:xfrm>
            <a:off x="64500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30" name="Rectangle 42"/>
          <p:cNvSpPr>
            <a:spLocks noChangeArrowheads="1"/>
          </p:cNvSpPr>
          <p:nvPr/>
        </p:nvSpPr>
        <p:spPr bwMode="auto">
          <a:xfrm>
            <a:off x="693737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1" name="Rectangle 43"/>
          <p:cNvSpPr>
            <a:spLocks noChangeArrowheads="1"/>
          </p:cNvSpPr>
          <p:nvPr/>
        </p:nvSpPr>
        <p:spPr bwMode="auto">
          <a:xfrm>
            <a:off x="69373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33" name="Rectangle 45"/>
          <p:cNvSpPr>
            <a:spLocks noChangeArrowheads="1"/>
          </p:cNvSpPr>
          <p:nvPr/>
        </p:nvSpPr>
        <p:spPr bwMode="auto">
          <a:xfrm>
            <a:off x="742473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4" name="Rectangle 46"/>
          <p:cNvSpPr>
            <a:spLocks noChangeArrowheads="1"/>
          </p:cNvSpPr>
          <p:nvPr/>
        </p:nvSpPr>
        <p:spPr bwMode="auto">
          <a:xfrm>
            <a:off x="74247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987924" y="2924149"/>
            <a:ext cx="2924175" cy="333375"/>
            <a:chOff x="3085" y="1661"/>
            <a:chExt cx="1842" cy="210"/>
          </a:xfrm>
        </p:grpSpPr>
        <p:sp>
          <p:nvSpPr>
            <p:cNvPr id="37936" name="Line 48"/>
            <p:cNvSpPr>
              <a:spLocks noChangeShapeType="1"/>
            </p:cNvSpPr>
            <p:nvPr/>
          </p:nvSpPr>
          <p:spPr bwMode="auto">
            <a:xfrm>
              <a:off x="3085" y="17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Text Box 49"/>
            <p:cNvSpPr txBox="1">
              <a:spLocks noChangeArrowheads="1"/>
            </p:cNvSpPr>
            <p:nvPr/>
          </p:nvSpPr>
          <p:spPr bwMode="auto"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1089025" y="2916211"/>
            <a:ext cx="3916362" cy="333375"/>
            <a:chOff x="629" y="1656"/>
            <a:chExt cx="2467" cy="210"/>
          </a:xfrm>
        </p:grpSpPr>
        <p:sp>
          <p:nvSpPr>
            <p:cNvPr id="37939" name="Line 51"/>
            <p:cNvSpPr>
              <a:spLocks noChangeShapeType="1"/>
            </p:cNvSpPr>
            <p:nvPr/>
          </p:nvSpPr>
          <p:spPr bwMode="auto">
            <a:xfrm>
              <a:off x="629" y="17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40" name="Text Box 52"/>
            <p:cNvSpPr txBox="1">
              <a:spLocks noChangeArrowheads="1"/>
            </p:cNvSpPr>
            <p:nvPr/>
          </p:nvSpPr>
          <p:spPr bwMode="auto"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VPN</a:t>
              </a:r>
            </a:p>
          </p:txBody>
        </p:sp>
      </p:grpSp>
      <p:sp>
        <p:nvSpPr>
          <p:cNvPr id="37942" name="Line 54"/>
          <p:cNvSpPr>
            <a:spLocks noChangeShapeType="1"/>
          </p:cNvSpPr>
          <p:nvPr/>
        </p:nvSpPr>
        <p:spPr bwMode="auto">
          <a:xfrm>
            <a:off x="4010025" y="2015040"/>
            <a:ext cx="992187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3" name="Text Box 55"/>
          <p:cNvSpPr txBox="1">
            <a:spLocks noChangeArrowheads="1"/>
          </p:cNvSpPr>
          <p:nvPr/>
        </p:nvSpPr>
        <p:spPr bwMode="auto">
          <a:xfrm>
            <a:off x="4233862" y="1891215"/>
            <a:ext cx="539750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TLBI</a:t>
            </a:r>
          </a:p>
        </p:txBody>
      </p:sp>
      <p:sp>
        <p:nvSpPr>
          <p:cNvPr id="37945" name="Line 57"/>
          <p:cNvSpPr>
            <a:spLocks noChangeShapeType="1"/>
          </p:cNvSpPr>
          <p:nvPr/>
        </p:nvSpPr>
        <p:spPr bwMode="auto">
          <a:xfrm>
            <a:off x="1089025" y="2011336"/>
            <a:ext cx="2927350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6" name="Text Box 58"/>
          <p:cNvSpPr txBox="1">
            <a:spLocks noChangeArrowheads="1"/>
          </p:cNvSpPr>
          <p:nvPr/>
        </p:nvSpPr>
        <p:spPr bwMode="auto">
          <a:xfrm>
            <a:off x="2332038" y="1887511"/>
            <a:ext cx="582613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TLBT</a:t>
            </a:r>
          </a:p>
        </p:txBody>
      </p:sp>
      <p:sp>
        <p:nvSpPr>
          <p:cNvPr id="37950" name="Rectangle 62"/>
          <p:cNvSpPr>
            <a:spLocks noChangeArrowheads="1"/>
          </p:cNvSpPr>
          <p:nvPr/>
        </p:nvSpPr>
        <p:spPr bwMode="auto">
          <a:xfrm>
            <a:off x="207168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1" name="Rectangle 63"/>
          <p:cNvSpPr>
            <a:spLocks noChangeArrowheads="1"/>
          </p:cNvSpPr>
          <p:nvPr/>
        </p:nvSpPr>
        <p:spPr bwMode="auto">
          <a:xfrm>
            <a:off x="20716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53" name="Rectangle 65"/>
          <p:cNvSpPr>
            <a:spLocks noChangeArrowheads="1"/>
          </p:cNvSpPr>
          <p:nvPr/>
        </p:nvSpPr>
        <p:spPr bwMode="auto">
          <a:xfrm>
            <a:off x="255905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4" name="Rectangle 66"/>
          <p:cNvSpPr>
            <a:spLocks noChangeArrowheads="1"/>
          </p:cNvSpPr>
          <p:nvPr/>
        </p:nvSpPr>
        <p:spPr bwMode="auto">
          <a:xfrm>
            <a:off x="25590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56" name="Rectangle 68"/>
          <p:cNvSpPr>
            <a:spLocks noChangeArrowheads="1"/>
          </p:cNvSpPr>
          <p:nvPr/>
        </p:nvSpPr>
        <p:spPr bwMode="auto">
          <a:xfrm>
            <a:off x="3046412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7" name="Rectangle 69"/>
          <p:cNvSpPr>
            <a:spLocks noChangeArrowheads="1"/>
          </p:cNvSpPr>
          <p:nvPr/>
        </p:nvSpPr>
        <p:spPr bwMode="auto">
          <a:xfrm>
            <a:off x="30464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59" name="Rectangle 71"/>
          <p:cNvSpPr>
            <a:spLocks noChangeArrowheads="1"/>
          </p:cNvSpPr>
          <p:nvPr/>
        </p:nvSpPr>
        <p:spPr bwMode="auto">
          <a:xfrm>
            <a:off x="3533775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0" name="Rectangle 72"/>
          <p:cNvSpPr>
            <a:spLocks noChangeArrowheads="1"/>
          </p:cNvSpPr>
          <p:nvPr/>
        </p:nvSpPr>
        <p:spPr bwMode="auto">
          <a:xfrm>
            <a:off x="35337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62" name="Rectangle 74"/>
          <p:cNvSpPr>
            <a:spLocks noChangeArrowheads="1"/>
          </p:cNvSpPr>
          <p:nvPr/>
        </p:nvSpPr>
        <p:spPr bwMode="auto">
          <a:xfrm>
            <a:off x="402113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3" name="Rectangle 75"/>
          <p:cNvSpPr>
            <a:spLocks noChangeArrowheads="1"/>
          </p:cNvSpPr>
          <p:nvPr/>
        </p:nvSpPr>
        <p:spPr bwMode="auto">
          <a:xfrm>
            <a:off x="402113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65" name="Rectangle 77"/>
          <p:cNvSpPr>
            <a:spLocks noChangeArrowheads="1"/>
          </p:cNvSpPr>
          <p:nvPr/>
        </p:nvSpPr>
        <p:spPr bwMode="auto">
          <a:xfrm>
            <a:off x="450850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6" name="Rectangle 78"/>
          <p:cNvSpPr>
            <a:spLocks noChangeArrowheads="1"/>
          </p:cNvSpPr>
          <p:nvPr/>
        </p:nvSpPr>
        <p:spPr bwMode="auto">
          <a:xfrm>
            <a:off x="450850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68" name="Rectangle 80"/>
          <p:cNvSpPr>
            <a:spLocks noChangeArrowheads="1"/>
          </p:cNvSpPr>
          <p:nvPr/>
        </p:nvSpPr>
        <p:spPr bwMode="auto">
          <a:xfrm>
            <a:off x="499586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9" name="Rectangle 81"/>
          <p:cNvSpPr>
            <a:spLocks noChangeArrowheads="1"/>
          </p:cNvSpPr>
          <p:nvPr/>
        </p:nvSpPr>
        <p:spPr bwMode="auto">
          <a:xfrm>
            <a:off x="499586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71" name="Rectangle 83"/>
          <p:cNvSpPr>
            <a:spLocks noChangeArrowheads="1"/>
          </p:cNvSpPr>
          <p:nvPr/>
        </p:nvSpPr>
        <p:spPr bwMode="auto">
          <a:xfrm>
            <a:off x="548322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2" name="Rectangle 84"/>
          <p:cNvSpPr>
            <a:spLocks noChangeArrowheads="1"/>
          </p:cNvSpPr>
          <p:nvPr/>
        </p:nvSpPr>
        <p:spPr bwMode="auto">
          <a:xfrm>
            <a:off x="548322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74" name="Rectangle 86"/>
          <p:cNvSpPr>
            <a:spLocks noChangeArrowheads="1"/>
          </p:cNvSpPr>
          <p:nvPr/>
        </p:nvSpPr>
        <p:spPr bwMode="auto">
          <a:xfrm>
            <a:off x="5970587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5" name="Rectangle 87"/>
          <p:cNvSpPr>
            <a:spLocks noChangeArrowheads="1"/>
          </p:cNvSpPr>
          <p:nvPr/>
        </p:nvSpPr>
        <p:spPr bwMode="auto">
          <a:xfrm>
            <a:off x="59705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77" name="Rectangle 89"/>
          <p:cNvSpPr>
            <a:spLocks noChangeArrowheads="1"/>
          </p:cNvSpPr>
          <p:nvPr/>
        </p:nvSpPr>
        <p:spPr bwMode="auto">
          <a:xfrm>
            <a:off x="6457950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8" name="Rectangle 90"/>
          <p:cNvSpPr>
            <a:spLocks noChangeArrowheads="1"/>
          </p:cNvSpPr>
          <p:nvPr/>
        </p:nvSpPr>
        <p:spPr bwMode="auto">
          <a:xfrm>
            <a:off x="64579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80" name="Rectangle 92"/>
          <p:cNvSpPr>
            <a:spLocks noChangeArrowheads="1"/>
          </p:cNvSpPr>
          <p:nvPr/>
        </p:nvSpPr>
        <p:spPr bwMode="auto">
          <a:xfrm>
            <a:off x="694531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1" name="Rectangle 93"/>
          <p:cNvSpPr>
            <a:spLocks noChangeArrowheads="1"/>
          </p:cNvSpPr>
          <p:nvPr/>
        </p:nvSpPr>
        <p:spPr bwMode="auto">
          <a:xfrm>
            <a:off x="69453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83" name="Rectangle 95"/>
          <p:cNvSpPr>
            <a:spLocks noChangeArrowheads="1"/>
          </p:cNvSpPr>
          <p:nvPr/>
        </p:nvSpPr>
        <p:spPr bwMode="auto">
          <a:xfrm>
            <a:off x="743267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4" name="Rectangle 96"/>
          <p:cNvSpPr>
            <a:spLocks noChangeArrowheads="1"/>
          </p:cNvSpPr>
          <p:nvPr/>
        </p:nvSpPr>
        <p:spPr bwMode="auto">
          <a:xfrm>
            <a:off x="74326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4" name="Group 97"/>
          <p:cNvGrpSpPr>
            <a:grpSpLocks/>
          </p:cNvGrpSpPr>
          <p:nvPr/>
        </p:nvGrpSpPr>
        <p:grpSpPr bwMode="auto">
          <a:xfrm>
            <a:off x="5004858" y="5564717"/>
            <a:ext cx="2924175" cy="333375"/>
            <a:chOff x="3101" y="3292"/>
            <a:chExt cx="1842" cy="210"/>
          </a:xfrm>
        </p:grpSpPr>
        <p:sp>
          <p:nvSpPr>
            <p:cNvPr id="37986" name="Line 98"/>
            <p:cNvSpPr>
              <a:spLocks noChangeShapeType="1"/>
            </p:cNvSpPr>
            <p:nvPr/>
          </p:nvSpPr>
          <p:spPr bwMode="auto">
            <a:xfrm>
              <a:off x="3101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87" name="Text Box 99"/>
            <p:cNvSpPr txBox="1">
              <a:spLocks noChangeArrowheads="1"/>
            </p:cNvSpPr>
            <p:nvPr/>
          </p:nvSpPr>
          <p:spPr bwMode="auto"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5" name="Group 100"/>
          <p:cNvGrpSpPr>
            <a:grpSpLocks/>
          </p:cNvGrpSpPr>
          <p:nvPr/>
        </p:nvGrpSpPr>
        <p:grpSpPr bwMode="auto">
          <a:xfrm>
            <a:off x="2092324" y="5556250"/>
            <a:ext cx="2924175" cy="333375"/>
            <a:chOff x="1277" y="3292"/>
            <a:chExt cx="1842" cy="210"/>
          </a:xfrm>
        </p:grpSpPr>
        <p:sp>
          <p:nvSpPr>
            <p:cNvPr id="37989" name="Line 101"/>
            <p:cNvSpPr>
              <a:spLocks noChangeShapeType="1"/>
            </p:cNvSpPr>
            <p:nvPr/>
          </p:nvSpPr>
          <p:spPr bwMode="auto">
            <a:xfrm>
              <a:off x="1277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0" name="Text Box 102"/>
            <p:cNvSpPr txBox="1">
              <a:spLocks noChangeArrowheads="1"/>
            </p:cNvSpPr>
            <p:nvPr/>
          </p:nvSpPr>
          <p:spPr bwMode="auto"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6" name="Group 103"/>
          <p:cNvGrpSpPr>
            <a:grpSpLocks/>
          </p:cNvGrpSpPr>
          <p:nvPr/>
        </p:nvGrpSpPr>
        <p:grpSpPr bwMode="auto">
          <a:xfrm>
            <a:off x="6925204" y="4516438"/>
            <a:ext cx="992188" cy="306388"/>
            <a:chOff x="4300" y="2637"/>
            <a:chExt cx="625" cy="193"/>
          </a:xfrm>
        </p:grpSpPr>
        <p:sp>
          <p:nvSpPr>
            <p:cNvPr id="37992" name="Line 104"/>
            <p:cNvSpPr>
              <a:spLocks noChangeShapeType="1"/>
            </p:cNvSpPr>
            <p:nvPr/>
          </p:nvSpPr>
          <p:spPr bwMode="auto">
            <a:xfrm>
              <a:off x="4300" y="2715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3" name="Text Box 105"/>
            <p:cNvSpPr txBox="1">
              <a:spLocks noChangeArrowheads="1"/>
            </p:cNvSpPr>
            <p:nvPr/>
          </p:nvSpPr>
          <p:spPr bwMode="auto"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CO</a:t>
              </a:r>
            </a:p>
          </p:txBody>
        </p:sp>
      </p:grpSp>
      <p:grpSp>
        <p:nvGrpSpPr>
          <p:cNvPr id="7" name="Group 106"/>
          <p:cNvGrpSpPr>
            <a:grpSpLocks/>
          </p:cNvGrpSpPr>
          <p:nvPr/>
        </p:nvGrpSpPr>
        <p:grpSpPr bwMode="auto">
          <a:xfrm>
            <a:off x="4987395" y="4512734"/>
            <a:ext cx="1927225" cy="306388"/>
            <a:chOff x="3090" y="2624"/>
            <a:chExt cx="1214" cy="193"/>
          </a:xfrm>
        </p:grpSpPr>
        <p:sp>
          <p:nvSpPr>
            <p:cNvPr id="37995" name="Line 107"/>
            <p:cNvSpPr>
              <a:spLocks noChangeShapeType="1"/>
            </p:cNvSpPr>
            <p:nvPr/>
          </p:nvSpPr>
          <p:spPr bwMode="auto">
            <a:xfrm>
              <a:off x="3090" y="2702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6" name="Text Box 108"/>
            <p:cNvSpPr txBox="1">
              <a:spLocks noChangeArrowheads="1"/>
            </p:cNvSpPr>
            <p:nvPr/>
          </p:nvSpPr>
          <p:spPr bwMode="auto"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CI</a:t>
              </a:r>
            </a:p>
          </p:txBody>
        </p:sp>
      </p:grpSp>
      <p:grpSp>
        <p:nvGrpSpPr>
          <p:cNvPr id="8" name="Group 109"/>
          <p:cNvGrpSpPr>
            <a:grpSpLocks/>
          </p:cNvGrpSpPr>
          <p:nvPr/>
        </p:nvGrpSpPr>
        <p:grpSpPr bwMode="auto">
          <a:xfrm>
            <a:off x="2071687" y="4516438"/>
            <a:ext cx="2894013" cy="306388"/>
            <a:chOff x="1248" y="2637"/>
            <a:chExt cx="1823" cy="193"/>
          </a:xfrm>
        </p:grpSpPr>
        <p:sp>
          <p:nvSpPr>
            <p:cNvPr id="37998" name="Line 110"/>
            <p:cNvSpPr>
              <a:spLocks noChangeShapeType="1"/>
            </p:cNvSpPr>
            <p:nvPr/>
          </p:nvSpPr>
          <p:spPr bwMode="auto">
            <a:xfrm>
              <a:off x="1248" y="2715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9" name="Text Box 111"/>
            <p:cNvSpPr txBox="1">
              <a:spLocks noChangeArrowheads="1"/>
            </p:cNvSpPr>
            <p:nvPr/>
          </p:nvSpPr>
          <p:spPr bwMode="auto"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CT</a:t>
              </a:r>
            </a:p>
          </p:txBody>
        </p:sp>
      </p:grpSp>
      <p:sp>
        <p:nvSpPr>
          <p:cNvPr id="38001" name="Text Box 113"/>
          <p:cNvSpPr txBox="1">
            <a:spLocks noChangeArrowheads="1"/>
          </p:cNvSpPr>
          <p:nvPr/>
        </p:nvSpPr>
        <p:spPr bwMode="auto">
          <a:xfrm>
            <a:off x="75580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2" name="Text Box 114"/>
          <p:cNvSpPr txBox="1">
            <a:spLocks noChangeArrowheads="1"/>
          </p:cNvSpPr>
          <p:nvPr/>
        </p:nvSpPr>
        <p:spPr bwMode="auto">
          <a:xfrm>
            <a:off x="7070725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3" name="Text Box 115"/>
          <p:cNvSpPr txBox="1">
            <a:spLocks noChangeArrowheads="1"/>
          </p:cNvSpPr>
          <p:nvPr/>
        </p:nvSpPr>
        <p:spPr bwMode="auto">
          <a:xfrm>
            <a:off x="6584950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4" name="Text Box 116"/>
          <p:cNvSpPr txBox="1">
            <a:spLocks noChangeArrowheads="1"/>
          </p:cNvSpPr>
          <p:nvPr/>
        </p:nvSpPr>
        <p:spPr bwMode="auto">
          <a:xfrm>
            <a:off x="6097587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5" name="Text Box 117"/>
          <p:cNvSpPr txBox="1">
            <a:spLocks noChangeArrowheads="1"/>
          </p:cNvSpPr>
          <p:nvPr/>
        </p:nvSpPr>
        <p:spPr bwMode="auto">
          <a:xfrm>
            <a:off x="5611812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6" name="Text Box 118"/>
          <p:cNvSpPr txBox="1">
            <a:spLocks noChangeArrowheads="1"/>
          </p:cNvSpPr>
          <p:nvPr/>
        </p:nvSpPr>
        <p:spPr bwMode="auto">
          <a:xfrm>
            <a:off x="5124450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1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7" name="Text Box 119"/>
          <p:cNvSpPr txBox="1">
            <a:spLocks noChangeArrowheads="1"/>
          </p:cNvSpPr>
          <p:nvPr/>
        </p:nvSpPr>
        <p:spPr bwMode="auto">
          <a:xfrm>
            <a:off x="4638675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8" name="Text Box 120"/>
          <p:cNvSpPr txBox="1">
            <a:spLocks noChangeArrowheads="1"/>
          </p:cNvSpPr>
          <p:nvPr/>
        </p:nvSpPr>
        <p:spPr bwMode="auto">
          <a:xfrm>
            <a:off x="4151312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9" name="Text Box 121"/>
          <p:cNvSpPr txBox="1">
            <a:spLocks noChangeArrowheads="1"/>
          </p:cNvSpPr>
          <p:nvPr/>
        </p:nvSpPr>
        <p:spPr bwMode="auto">
          <a:xfrm>
            <a:off x="3665537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0" name="Text Box 122"/>
          <p:cNvSpPr txBox="1">
            <a:spLocks noChangeArrowheads="1"/>
          </p:cNvSpPr>
          <p:nvPr/>
        </p:nvSpPr>
        <p:spPr bwMode="auto">
          <a:xfrm>
            <a:off x="3178175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1" name="Text Box 123"/>
          <p:cNvSpPr txBox="1">
            <a:spLocks noChangeArrowheads="1"/>
          </p:cNvSpPr>
          <p:nvPr/>
        </p:nvSpPr>
        <p:spPr bwMode="auto">
          <a:xfrm>
            <a:off x="2692400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2" name="Text Box 124"/>
          <p:cNvSpPr txBox="1">
            <a:spLocks noChangeArrowheads="1"/>
          </p:cNvSpPr>
          <p:nvPr/>
        </p:nvSpPr>
        <p:spPr bwMode="auto">
          <a:xfrm>
            <a:off x="220503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3" name="Text Box 125"/>
          <p:cNvSpPr txBox="1">
            <a:spLocks noChangeArrowheads="1"/>
          </p:cNvSpPr>
          <p:nvPr/>
        </p:nvSpPr>
        <p:spPr bwMode="auto">
          <a:xfrm>
            <a:off x="171926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4" name="Text Box 126"/>
          <p:cNvSpPr txBox="1">
            <a:spLocks noChangeArrowheads="1"/>
          </p:cNvSpPr>
          <p:nvPr/>
        </p:nvSpPr>
        <p:spPr bwMode="auto">
          <a:xfrm>
            <a:off x="12334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6" name="Text Box 128"/>
          <p:cNvSpPr txBox="1">
            <a:spLocks noChangeArrowheads="1"/>
          </p:cNvSpPr>
          <p:nvPr/>
        </p:nvSpPr>
        <p:spPr bwMode="auto">
          <a:xfrm>
            <a:off x="1143000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0x00</a:t>
            </a:r>
          </a:p>
        </p:txBody>
      </p:sp>
      <p:sp>
        <p:nvSpPr>
          <p:cNvPr id="38017" name="Text Box 129"/>
          <p:cNvSpPr txBox="1">
            <a:spLocks noChangeArrowheads="1"/>
          </p:cNvSpPr>
          <p:nvPr/>
        </p:nvSpPr>
        <p:spPr bwMode="auto">
          <a:xfrm>
            <a:off x="2588682" y="3437965"/>
            <a:ext cx="196529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8" name="Text Box 130"/>
          <p:cNvSpPr txBox="1">
            <a:spLocks noChangeArrowheads="1"/>
          </p:cNvSpPr>
          <p:nvPr/>
        </p:nvSpPr>
        <p:spPr bwMode="auto">
          <a:xfrm>
            <a:off x="3454401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0x00</a:t>
            </a:r>
          </a:p>
        </p:txBody>
      </p:sp>
      <p:sp>
        <p:nvSpPr>
          <p:cNvPr id="38019" name="Text Box 131"/>
          <p:cNvSpPr txBox="1">
            <a:spLocks noChangeArrowheads="1"/>
          </p:cNvSpPr>
          <p:nvPr/>
        </p:nvSpPr>
        <p:spPr bwMode="auto">
          <a:xfrm>
            <a:off x="5142732" y="3437939"/>
            <a:ext cx="22698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21" name="Text Box 133"/>
          <p:cNvSpPr txBox="1">
            <a:spLocks noChangeArrowheads="1"/>
          </p:cNvSpPr>
          <p:nvPr/>
        </p:nvSpPr>
        <p:spPr bwMode="auto">
          <a:xfrm>
            <a:off x="6781800" y="3437965"/>
            <a:ext cx="227012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22" name="Text Box 134"/>
          <p:cNvSpPr txBox="1">
            <a:spLocks noChangeArrowheads="1"/>
          </p:cNvSpPr>
          <p:nvPr/>
        </p:nvSpPr>
        <p:spPr bwMode="auto">
          <a:xfrm>
            <a:off x="7746470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0x28</a:t>
            </a:r>
          </a:p>
        </p:txBody>
      </p:sp>
      <p:grpSp>
        <p:nvGrpSpPr>
          <p:cNvPr id="9" name="Group 135"/>
          <p:cNvGrpSpPr>
            <a:grpSpLocks/>
          </p:cNvGrpSpPr>
          <p:nvPr/>
        </p:nvGrpSpPr>
        <p:grpSpPr bwMode="auto">
          <a:xfrm>
            <a:off x="2215620" y="5173133"/>
            <a:ext cx="5576888" cy="339725"/>
            <a:chOff x="1344" y="3030"/>
            <a:chExt cx="3513" cy="214"/>
          </a:xfrm>
        </p:grpSpPr>
        <p:sp>
          <p:nvSpPr>
            <p:cNvPr id="38024" name="Text Box 136"/>
            <p:cNvSpPr txBox="1">
              <a:spLocks noChangeArrowheads="1"/>
            </p:cNvSpPr>
            <p:nvPr/>
          </p:nvSpPr>
          <p:spPr bwMode="auto">
            <a:xfrm>
              <a:off x="4725" y="3031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5" name="Text Box 137"/>
            <p:cNvSpPr txBox="1">
              <a:spLocks noChangeArrowheads="1"/>
            </p:cNvSpPr>
            <p:nvPr/>
          </p:nvSpPr>
          <p:spPr bwMode="auto">
            <a:xfrm>
              <a:off x="441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6" name="Text Box 138"/>
            <p:cNvSpPr txBox="1">
              <a:spLocks noChangeArrowheads="1"/>
            </p:cNvSpPr>
            <p:nvPr/>
          </p:nvSpPr>
          <p:spPr bwMode="auto">
            <a:xfrm>
              <a:off x="3802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7" name="Text Box 139"/>
            <p:cNvSpPr txBox="1">
              <a:spLocks noChangeArrowheads="1"/>
            </p:cNvSpPr>
            <p:nvPr/>
          </p:nvSpPr>
          <p:spPr bwMode="auto">
            <a:xfrm>
              <a:off x="288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28" name="Text Box 140"/>
            <p:cNvSpPr txBox="1">
              <a:spLocks noChangeArrowheads="1"/>
            </p:cNvSpPr>
            <p:nvPr/>
          </p:nvSpPr>
          <p:spPr bwMode="auto">
            <a:xfrm>
              <a:off x="2573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9" name="Text Box 141"/>
            <p:cNvSpPr txBox="1">
              <a:spLocks noChangeArrowheads="1"/>
            </p:cNvSpPr>
            <p:nvPr/>
          </p:nvSpPr>
          <p:spPr bwMode="auto">
            <a:xfrm>
              <a:off x="226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0" name="Text Box 142"/>
            <p:cNvSpPr txBox="1">
              <a:spLocks noChangeArrowheads="1"/>
            </p:cNvSpPr>
            <p:nvPr/>
          </p:nvSpPr>
          <p:spPr bwMode="auto">
            <a:xfrm>
              <a:off x="1651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31" name="Text Box 143"/>
            <p:cNvSpPr txBox="1">
              <a:spLocks noChangeArrowheads="1"/>
            </p:cNvSpPr>
            <p:nvPr/>
          </p:nvSpPr>
          <p:spPr bwMode="auto">
            <a:xfrm>
              <a:off x="411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2" name="Text Box 144"/>
            <p:cNvSpPr txBox="1">
              <a:spLocks noChangeArrowheads="1"/>
            </p:cNvSpPr>
            <p:nvPr/>
          </p:nvSpPr>
          <p:spPr bwMode="auto">
            <a:xfrm>
              <a:off x="349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3" name="Text Box 145"/>
            <p:cNvSpPr txBox="1">
              <a:spLocks noChangeArrowheads="1"/>
            </p:cNvSpPr>
            <p:nvPr/>
          </p:nvSpPr>
          <p:spPr bwMode="auto">
            <a:xfrm>
              <a:off x="3188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4" name="Text Box 146"/>
            <p:cNvSpPr txBox="1">
              <a:spLocks noChangeArrowheads="1"/>
            </p:cNvSpPr>
            <p:nvPr/>
          </p:nvSpPr>
          <p:spPr bwMode="auto">
            <a:xfrm>
              <a:off x="195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8035" name="Text Box 147"/>
            <p:cNvSpPr txBox="1">
              <a:spLocks noChangeArrowheads="1"/>
            </p:cNvSpPr>
            <p:nvPr/>
          </p:nvSpPr>
          <p:spPr bwMode="auto">
            <a:xfrm>
              <a:off x="1344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</p:grpSp>
      <p:sp>
        <p:nvSpPr>
          <p:cNvPr id="38037" name="Text Box 149"/>
          <p:cNvSpPr txBox="1">
            <a:spLocks noChangeArrowheads="1"/>
          </p:cNvSpPr>
          <p:nvPr/>
        </p:nvSpPr>
        <p:spPr bwMode="auto">
          <a:xfrm>
            <a:off x="1352551" y="5992801"/>
            <a:ext cx="196850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38" name="Text Box 150"/>
          <p:cNvSpPr txBox="1">
            <a:spLocks noChangeArrowheads="1"/>
          </p:cNvSpPr>
          <p:nvPr/>
        </p:nvSpPr>
        <p:spPr bwMode="auto">
          <a:xfrm>
            <a:off x="2271712" y="5992801"/>
            <a:ext cx="395301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0x8</a:t>
            </a:r>
          </a:p>
        </p:txBody>
      </p:sp>
      <p:sp>
        <p:nvSpPr>
          <p:cNvPr id="38039" name="Text Box 151"/>
          <p:cNvSpPr txBox="1">
            <a:spLocks noChangeArrowheads="1"/>
          </p:cNvSpPr>
          <p:nvPr/>
        </p:nvSpPr>
        <p:spPr bwMode="auto">
          <a:xfrm>
            <a:off x="3259139" y="5992801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0x28</a:t>
            </a:r>
          </a:p>
        </p:txBody>
      </p:sp>
      <p:sp>
        <p:nvSpPr>
          <p:cNvPr id="38041" name="Text Box 153"/>
          <p:cNvSpPr txBox="1">
            <a:spLocks noChangeArrowheads="1"/>
          </p:cNvSpPr>
          <p:nvPr/>
        </p:nvSpPr>
        <p:spPr bwMode="auto">
          <a:xfrm>
            <a:off x="4580467" y="5992801"/>
            <a:ext cx="22698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42" name="Text Box 154"/>
          <p:cNvSpPr txBox="1">
            <a:spLocks noChangeArrowheads="1"/>
          </p:cNvSpPr>
          <p:nvPr/>
        </p:nvSpPr>
        <p:spPr bwMode="auto">
          <a:xfrm>
            <a:off x="5850466" y="5992801"/>
            <a:ext cx="54117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solidFill>
                  <a:srgbClr val="C00000"/>
                </a:solidFill>
                <a:latin typeface="Calibri" pitchFamily="34" charset="0"/>
              </a:rPr>
              <a:t>Mem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4128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50" grpId="0" animBg="1"/>
      <p:bldP spid="37951" grpId="0"/>
      <p:bldP spid="37953" grpId="0" animBg="1"/>
      <p:bldP spid="37954" grpId="0"/>
      <p:bldP spid="37956" grpId="0" animBg="1"/>
      <p:bldP spid="37957" grpId="0"/>
      <p:bldP spid="37959" grpId="0" animBg="1"/>
      <p:bldP spid="37960" grpId="0"/>
      <p:bldP spid="37962" grpId="0" animBg="1"/>
      <p:bldP spid="37963" grpId="0"/>
      <p:bldP spid="37965" grpId="0" animBg="1"/>
      <p:bldP spid="37966" grpId="0"/>
      <p:bldP spid="37968" grpId="0" animBg="1"/>
      <p:bldP spid="37969" grpId="0"/>
      <p:bldP spid="37971" grpId="0" animBg="1"/>
      <p:bldP spid="37972" grpId="0"/>
      <p:bldP spid="37974" grpId="0" animBg="1"/>
      <p:bldP spid="37975" grpId="0"/>
      <p:bldP spid="37977" grpId="0" animBg="1"/>
      <p:bldP spid="37978" grpId="0"/>
      <p:bldP spid="37980" grpId="0" animBg="1"/>
      <p:bldP spid="37981" grpId="0"/>
      <p:bldP spid="37983" grpId="0" animBg="1"/>
      <p:bldP spid="37984" grpId="0"/>
      <p:bldP spid="38016" grpId="0"/>
      <p:bldP spid="38017" grpId="0"/>
      <p:bldP spid="38018" grpId="0"/>
      <p:bldP spid="38019" grpId="0"/>
      <p:bldP spid="38021" grpId="0"/>
      <p:bldP spid="38022" grpId="0"/>
      <p:bldP spid="38037" grpId="0"/>
      <p:bldP spid="38038" grpId="0"/>
      <p:bldP spid="38039" grpId="0"/>
      <p:bldP spid="38041" grpId="0"/>
      <p:bldP spid="3804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Simple memory system example</a:t>
            </a:r>
          </a:p>
          <a:p>
            <a:r>
              <a:rPr lang="en-US" dirty="0"/>
              <a:t>Case study: Core i7/Linux memory system</a:t>
            </a:r>
          </a:p>
          <a:p>
            <a:r>
              <a:rPr lang="en-US" dirty="0">
                <a:solidFill>
                  <a:srgbClr val="7F7F7F"/>
                </a:solidFill>
              </a:rPr>
              <a:t>Memory mapping</a:t>
            </a:r>
          </a:p>
        </p:txBody>
      </p:sp>
    </p:spTree>
    <p:extLst>
      <p:ext uri="{BB962C8B-B14F-4D97-AF65-F5344CB8AC3E}">
        <p14:creationId xmlns:p14="http://schemas.microsoft.com/office/powerpoint/2010/main" val="2028763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Core i7 Memory System</a:t>
            </a:r>
          </a:p>
        </p:txBody>
      </p:sp>
      <p:sp>
        <p:nvSpPr>
          <p:cNvPr id="43" name="Rectangle 406"/>
          <p:cNvSpPr>
            <a:spLocks noChangeArrowheads="1"/>
          </p:cNvSpPr>
          <p:nvPr/>
        </p:nvSpPr>
        <p:spPr bwMode="auto">
          <a:xfrm>
            <a:off x="512763" y="2600289"/>
            <a:ext cx="1481137" cy="470587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L1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d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-cache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32 KB, 8-way</a:t>
            </a:r>
          </a:p>
        </p:txBody>
      </p:sp>
      <p:sp>
        <p:nvSpPr>
          <p:cNvPr id="44" name="Rectangle 408"/>
          <p:cNvSpPr>
            <a:spLocks noChangeArrowheads="1"/>
          </p:cNvSpPr>
          <p:nvPr/>
        </p:nvSpPr>
        <p:spPr bwMode="auto">
          <a:xfrm>
            <a:off x="838200" y="3353229"/>
            <a:ext cx="2578100" cy="470587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L2 unified cache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256 KB, 8-way</a:t>
            </a:r>
          </a:p>
        </p:txBody>
      </p:sp>
      <p:sp>
        <p:nvSpPr>
          <p:cNvPr id="45" name="Line 409"/>
          <p:cNvSpPr>
            <a:spLocks noChangeShapeType="1"/>
          </p:cNvSpPr>
          <p:nvPr/>
        </p:nvSpPr>
        <p:spPr bwMode="auto">
          <a:xfrm>
            <a:off x="1257300" y="2302251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6" name="Line 410"/>
          <p:cNvSpPr>
            <a:spLocks noChangeShapeType="1"/>
          </p:cNvSpPr>
          <p:nvPr/>
        </p:nvSpPr>
        <p:spPr bwMode="auto">
          <a:xfrm>
            <a:off x="1244600" y="3070877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7" name="Line 411"/>
          <p:cNvSpPr>
            <a:spLocks noChangeShapeType="1"/>
          </p:cNvSpPr>
          <p:nvPr/>
        </p:nvSpPr>
        <p:spPr bwMode="auto">
          <a:xfrm>
            <a:off x="2938463" y="3070877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8" name="Rectangle 426"/>
          <p:cNvSpPr>
            <a:spLocks noChangeArrowheads="1"/>
          </p:cNvSpPr>
          <p:nvPr/>
        </p:nvSpPr>
        <p:spPr bwMode="auto">
          <a:xfrm>
            <a:off x="1008063" y="5059108"/>
            <a:ext cx="2166937" cy="755306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L3 unified cache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8 MB, 16-way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(shared by all cores)</a:t>
            </a:r>
          </a:p>
        </p:txBody>
      </p:sp>
      <p:sp>
        <p:nvSpPr>
          <p:cNvPr id="49" name="Rectangle 427"/>
          <p:cNvSpPr>
            <a:spLocks noChangeArrowheads="1"/>
          </p:cNvSpPr>
          <p:nvPr/>
        </p:nvSpPr>
        <p:spPr bwMode="auto">
          <a:xfrm>
            <a:off x="4533900" y="6227553"/>
            <a:ext cx="2781300" cy="554247"/>
          </a:xfrm>
          <a:prstGeom prst="rect">
            <a:avLst/>
          </a:prstGeom>
          <a:solidFill>
            <a:srgbClr val="E5E6F6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Main memory</a:t>
            </a:r>
          </a:p>
        </p:txBody>
      </p:sp>
      <p:sp>
        <p:nvSpPr>
          <p:cNvPr id="50" name="Line 432"/>
          <p:cNvSpPr>
            <a:spLocks noChangeShapeType="1"/>
          </p:cNvSpPr>
          <p:nvPr/>
        </p:nvSpPr>
        <p:spPr bwMode="auto">
          <a:xfrm>
            <a:off x="2938463" y="2317937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1" name="Rectangle 434"/>
          <p:cNvSpPr>
            <a:spLocks noChangeArrowheads="1"/>
          </p:cNvSpPr>
          <p:nvPr/>
        </p:nvSpPr>
        <p:spPr bwMode="auto">
          <a:xfrm>
            <a:off x="754063" y="1836892"/>
            <a:ext cx="1054100" cy="470587"/>
          </a:xfrm>
          <a:prstGeom prst="rect">
            <a:avLst/>
          </a:prstGeom>
          <a:solidFill>
            <a:srgbClr val="DBF2DA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Registers</a:t>
            </a:r>
          </a:p>
        </p:txBody>
      </p:sp>
      <p:sp>
        <p:nvSpPr>
          <p:cNvPr id="52" name="Rectangle 435"/>
          <p:cNvSpPr>
            <a:spLocks noChangeArrowheads="1"/>
          </p:cNvSpPr>
          <p:nvPr/>
        </p:nvSpPr>
        <p:spPr bwMode="auto">
          <a:xfrm>
            <a:off x="4064000" y="2600289"/>
            <a:ext cx="1824038" cy="470587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L1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d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-TLB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64 entries, 4-way</a:t>
            </a:r>
          </a:p>
        </p:txBody>
      </p:sp>
      <p:sp>
        <p:nvSpPr>
          <p:cNvPr id="53" name="Rectangle 436"/>
          <p:cNvSpPr>
            <a:spLocks noChangeArrowheads="1"/>
          </p:cNvSpPr>
          <p:nvPr/>
        </p:nvSpPr>
        <p:spPr bwMode="auto">
          <a:xfrm>
            <a:off x="6045200" y="2600289"/>
            <a:ext cx="1824038" cy="470587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L1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i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-TLB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128 entries, 4-way</a:t>
            </a:r>
          </a:p>
        </p:txBody>
      </p:sp>
      <p:sp>
        <p:nvSpPr>
          <p:cNvPr id="54" name="Rectangle 438"/>
          <p:cNvSpPr>
            <a:spLocks noChangeArrowheads="1"/>
          </p:cNvSpPr>
          <p:nvPr/>
        </p:nvSpPr>
        <p:spPr bwMode="auto">
          <a:xfrm>
            <a:off x="4394200" y="3363686"/>
            <a:ext cx="3157538" cy="470587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L2  unified TLB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512 entries, 4-way</a:t>
            </a:r>
          </a:p>
        </p:txBody>
      </p:sp>
      <p:sp>
        <p:nvSpPr>
          <p:cNvPr id="55" name="Line 439"/>
          <p:cNvSpPr>
            <a:spLocks noChangeShapeType="1"/>
          </p:cNvSpPr>
          <p:nvPr/>
        </p:nvSpPr>
        <p:spPr bwMode="auto">
          <a:xfrm>
            <a:off x="4983163" y="3076105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6" name="Line 440"/>
          <p:cNvSpPr>
            <a:spLocks noChangeShapeType="1"/>
          </p:cNvSpPr>
          <p:nvPr/>
        </p:nvSpPr>
        <p:spPr bwMode="auto">
          <a:xfrm>
            <a:off x="6964363" y="3081334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7" name="Rectangle 441"/>
          <p:cNvSpPr>
            <a:spLocks noChangeArrowheads="1"/>
          </p:cNvSpPr>
          <p:nvPr/>
        </p:nvSpPr>
        <p:spPr bwMode="auto">
          <a:xfrm>
            <a:off x="2201863" y="2610747"/>
            <a:ext cx="1481137" cy="470587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L1 i-cache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32 KB, 8-way</a:t>
            </a:r>
          </a:p>
        </p:txBody>
      </p:sp>
      <p:sp>
        <p:nvSpPr>
          <p:cNvPr id="58" name="Line 442"/>
          <p:cNvSpPr>
            <a:spLocks noChangeShapeType="1"/>
          </p:cNvSpPr>
          <p:nvPr/>
        </p:nvSpPr>
        <p:spPr bwMode="auto">
          <a:xfrm>
            <a:off x="4995863" y="2302251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9" name="Line 444"/>
          <p:cNvSpPr>
            <a:spLocks noChangeShapeType="1"/>
          </p:cNvSpPr>
          <p:nvPr/>
        </p:nvSpPr>
        <p:spPr bwMode="auto">
          <a:xfrm>
            <a:off x="6964363" y="2317937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0" name="Rectangle 445"/>
          <p:cNvSpPr>
            <a:spLocks noChangeArrowheads="1"/>
          </p:cNvSpPr>
          <p:nvPr/>
        </p:nvSpPr>
        <p:spPr bwMode="auto">
          <a:xfrm>
            <a:off x="4813300" y="1847350"/>
            <a:ext cx="2336800" cy="470587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MMU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(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addr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translation)</a:t>
            </a:r>
          </a:p>
        </p:txBody>
      </p:sp>
      <p:sp>
        <p:nvSpPr>
          <p:cNvPr id="61" name="Rectangle 450"/>
          <p:cNvSpPr>
            <a:spLocks noChangeArrowheads="1"/>
          </p:cNvSpPr>
          <p:nvPr/>
        </p:nvSpPr>
        <p:spPr bwMode="auto">
          <a:xfrm>
            <a:off x="2405063" y="1836892"/>
            <a:ext cx="1054100" cy="470587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Instruction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fetch</a:t>
            </a:r>
          </a:p>
        </p:txBody>
      </p:sp>
      <p:sp>
        <p:nvSpPr>
          <p:cNvPr id="62" name="Rectangle 452"/>
          <p:cNvSpPr>
            <a:spLocks noChangeArrowheads="1"/>
          </p:cNvSpPr>
          <p:nvPr/>
        </p:nvSpPr>
        <p:spPr bwMode="auto">
          <a:xfrm>
            <a:off x="368300" y="1763690"/>
            <a:ext cx="7607300" cy="311633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3" name="Text Box 458"/>
          <p:cNvSpPr txBox="1">
            <a:spLocks noChangeArrowheads="1"/>
          </p:cNvSpPr>
          <p:nvPr/>
        </p:nvSpPr>
        <p:spPr bwMode="auto">
          <a:xfrm>
            <a:off x="251289" y="1447800"/>
            <a:ext cx="119651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Core x4</a:t>
            </a:r>
          </a:p>
        </p:txBody>
      </p:sp>
      <p:sp>
        <p:nvSpPr>
          <p:cNvPr id="64" name="Rectangle 459"/>
          <p:cNvSpPr>
            <a:spLocks noChangeArrowheads="1"/>
          </p:cNvSpPr>
          <p:nvPr/>
        </p:nvSpPr>
        <p:spPr bwMode="auto">
          <a:xfrm>
            <a:off x="4216400" y="5059108"/>
            <a:ext cx="3441700" cy="755306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DDR3 Memory controller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3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x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64 bit @ 10.66 GB/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s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32 GB/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s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total (shared by all cores)</a:t>
            </a:r>
          </a:p>
        </p:txBody>
      </p:sp>
      <p:sp>
        <p:nvSpPr>
          <p:cNvPr id="65" name="Rectangle 460"/>
          <p:cNvSpPr>
            <a:spLocks noChangeArrowheads="1"/>
          </p:cNvSpPr>
          <p:nvPr/>
        </p:nvSpPr>
        <p:spPr bwMode="auto">
          <a:xfrm>
            <a:off x="139700" y="1470880"/>
            <a:ext cx="8064500" cy="454892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6" name="Text Box 461"/>
          <p:cNvSpPr txBox="1">
            <a:spLocks noChangeArrowheads="1"/>
          </p:cNvSpPr>
          <p:nvPr/>
        </p:nvSpPr>
        <p:spPr bwMode="auto">
          <a:xfrm>
            <a:off x="0" y="1143000"/>
            <a:ext cx="293740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Processor package</a:t>
            </a:r>
          </a:p>
        </p:txBody>
      </p:sp>
      <p:sp>
        <p:nvSpPr>
          <p:cNvPr id="67" name="Rectangle 462"/>
          <p:cNvSpPr>
            <a:spLocks noChangeArrowheads="1"/>
          </p:cNvSpPr>
          <p:nvPr/>
        </p:nvSpPr>
        <p:spPr bwMode="auto">
          <a:xfrm>
            <a:off x="5422900" y="4053881"/>
            <a:ext cx="2328863" cy="648365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QuickPath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interconnect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4 links @ 25.6 GB/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s</a:t>
            </a:r>
            <a:r>
              <a:rPr kumimoji="0" lang="en-US" sz="16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each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8" name="Line 464"/>
          <p:cNvSpPr>
            <a:spLocks noChangeShapeType="1"/>
          </p:cNvSpPr>
          <p:nvPr/>
        </p:nvSpPr>
        <p:spPr bwMode="auto">
          <a:xfrm>
            <a:off x="2074863" y="3813359"/>
            <a:ext cx="0" cy="12339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9" name="Line 474"/>
          <p:cNvSpPr>
            <a:spLocks noChangeShapeType="1"/>
          </p:cNvSpPr>
          <p:nvPr/>
        </p:nvSpPr>
        <p:spPr bwMode="auto">
          <a:xfrm flipH="1">
            <a:off x="5805488" y="5814414"/>
            <a:ext cx="7937" cy="433986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0" name="Line 475"/>
          <p:cNvSpPr>
            <a:spLocks noChangeShapeType="1"/>
          </p:cNvSpPr>
          <p:nvPr/>
        </p:nvSpPr>
        <p:spPr bwMode="auto">
          <a:xfrm>
            <a:off x="5965825" y="5814414"/>
            <a:ext cx="0" cy="433986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1" name="Line 476"/>
          <p:cNvSpPr>
            <a:spLocks noChangeShapeType="1"/>
          </p:cNvSpPr>
          <p:nvPr/>
        </p:nvSpPr>
        <p:spPr bwMode="auto">
          <a:xfrm>
            <a:off x="6118225" y="5806571"/>
            <a:ext cx="0" cy="44182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2" name="Line 479"/>
          <p:cNvSpPr>
            <a:spLocks noChangeShapeType="1"/>
          </p:cNvSpPr>
          <p:nvPr/>
        </p:nvSpPr>
        <p:spPr bwMode="auto">
          <a:xfrm>
            <a:off x="4957763" y="3834274"/>
            <a:ext cx="0" cy="122352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3" name="Text Box 497"/>
          <p:cNvSpPr txBox="1">
            <a:spLocks noChangeArrowheads="1"/>
          </p:cNvSpPr>
          <p:nvPr/>
        </p:nvSpPr>
        <p:spPr bwMode="auto">
          <a:xfrm>
            <a:off x="8331200" y="3886200"/>
            <a:ext cx="965200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To other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cores</a:t>
            </a:r>
          </a:p>
        </p:txBody>
      </p:sp>
      <p:grpSp>
        <p:nvGrpSpPr>
          <p:cNvPr id="74" name="Group 501"/>
          <p:cNvGrpSpPr>
            <a:grpSpLocks/>
          </p:cNvGrpSpPr>
          <p:nvPr/>
        </p:nvGrpSpPr>
        <p:grpSpPr bwMode="auto">
          <a:xfrm>
            <a:off x="7735888" y="4111397"/>
            <a:ext cx="595312" cy="501960"/>
            <a:chOff x="4785" y="2300"/>
            <a:chExt cx="343" cy="384"/>
          </a:xfrm>
        </p:grpSpPr>
        <p:sp>
          <p:nvSpPr>
            <p:cNvPr id="75" name="Line 480"/>
            <p:cNvSpPr>
              <a:spLocks noChangeShapeType="1"/>
            </p:cNvSpPr>
            <p:nvPr/>
          </p:nvSpPr>
          <p:spPr bwMode="auto">
            <a:xfrm rot="5400000">
              <a:off x="4953" y="2132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6" name="Line 495"/>
            <p:cNvSpPr>
              <a:spLocks noChangeShapeType="1"/>
            </p:cNvSpPr>
            <p:nvPr/>
          </p:nvSpPr>
          <p:spPr bwMode="auto">
            <a:xfrm rot="5400000">
              <a:off x="4953" y="2208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7" name="Line 496"/>
            <p:cNvSpPr>
              <a:spLocks noChangeShapeType="1"/>
            </p:cNvSpPr>
            <p:nvPr/>
          </p:nvSpPr>
          <p:spPr bwMode="auto">
            <a:xfrm rot="5400000">
              <a:off x="4953" y="2284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8" name="Line 498"/>
            <p:cNvSpPr>
              <a:spLocks noChangeShapeType="1"/>
            </p:cNvSpPr>
            <p:nvPr/>
          </p:nvSpPr>
          <p:spPr bwMode="auto">
            <a:xfrm rot="5400000">
              <a:off x="4961" y="2516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79" name="Text Box 499"/>
          <p:cNvSpPr txBox="1">
            <a:spLocks noChangeArrowheads="1"/>
          </p:cNvSpPr>
          <p:nvPr/>
        </p:nvSpPr>
        <p:spPr bwMode="auto">
          <a:xfrm>
            <a:off x="8361422" y="4418587"/>
            <a:ext cx="934977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To I/O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bridge</a:t>
            </a:r>
          </a:p>
        </p:txBody>
      </p:sp>
      <p:sp>
        <p:nvSpPr>
          <p:cNvPr id="80" name="Line 500"/>
          <p:cNvSpPr>
            <a:spLocks noChangeShapeType="1"/>
          </p:cNvSpPr>
          <p:nvPr/>
        </p:nvSpPr>
        <p:spPr bwMode="auto">
          <a:xfrm>
            <a:off x="6565900" y="4691788"/>
            <a:ext cx="0" cy="35555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1" name="Line 502"/>
          <p:cNvSpPr>
            <a:spLocks noChangeShapeType="1"/>
          </p:cNvSpPr>
          <p:nvPr/>
        </p:nvSpPr>
        <p:spPr bwMode="auto">
          <a:xfrm flipV="1">
            <a:off x="3175000" y="5381983"/>
            <a:ext cx="1041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57288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Symbols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7896225" cy="52673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Basic Parameters</a:t>
            </a:r>
          </a:p>
          <a:p>
            <a:pPr lvl="1"/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virtual address space</a:t>
            </a:r>
            <a:endParaRPr lang="en-US" baseline="30000" dirty="0"/>
          </a:p>
          <a:p>
            <a:pPr lvl="1"/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physical address space</a:t>
            </a:r>
            <a:endParaRPr lang="en-US" baseline="30000" dirty="0"/>
          </a:p>
          <a:p>
            <a:pPr lvl="1"/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  <a:endParaRPr lang="en-US" baseline="30000" dirty="0"/>
          </a:p>
          <a:p>
            <a:r>
              <a:rPr lang="en-US" dirty="0"/>
              <a:t>Components of the virtual address (VA)</a:t>
            </a:r>
          </a:p>
          <a:p>
            <a:pPr lvl="1"/>
            <a:r>
              <a:rPr lang="en-US" b="1" dirty="0"/>
              <a:t>TLBI</a:t>
            </a:r>
            <a:r>
              <a:rPr lang="en-US" dirty="0"/>
              <a:t>: TLB index</a:t>
            </a:r>
          </a:p>
          <a:p>
            <a:pPr lvl="1"/>
            <a:r>
              <a:rPr lang="en-US" b="1" dirty="0"/>
              <a:t>TLBT</a:t>
            </a:r>
            <a:r>
              <a:rPr lang="en-US" dirty="0"/>
              <a:t>: TLB tag</a:t>
            </a:r>
          </a:p>
          <a:p>
            <a:pPr lvl="1"/>
            <a:r>
              <a:rPr lang="en-US" b="1" dirty="0"/>
              <a:t>VPO</a:t>
            </a:r>
            <a:r>
              <a:rPr lang="en-US" dirty="0"/>
              <a:t>: Virtual page offset </a:t>
            </a:r>
          </a:p>
          <a:p>
            <a:pPr lvl="1"/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r>
              <a:rPr lang="en-US" dirty="0"/>
              <a:t>Components of the physical address (PA)</a:t>
            </a:r>
          </a:p>
          <a:p>
            <a:pPr lvl="1"/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/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lvl="1"/>
            <a:r>
              <a:rPr lang="en-US" b="1" dirty="0"/>
              <a:t>CO</a:t>
            </a:r>
            <a:r>
              <a:rPr lang="en-US" dirty="0"/>
              <a:t>: Byte offset within cache line</a:t>
            </a:r>
          </a:p>
          <a:p>
            <a:pPr lvl="1"/>
            <a:r>
              <a:rPr lang="en-US" b="1" dirty="0"/>
              <a:t>CI:</a:t>
            </a:r>
            <a:r>
              <a:rPr lang="en-US" dirty="0"/>
              <a:t> Cache index</a:t>
            </a:r>
          </a:p>
          <a:p>
            <a:pPr lvl="1"/>
            <a:r>
              <a:rPr lang="en-US" b="1" dirty="0"/>
              <a:t>CT</a:t>
            </a:r>
            <a:r>
              <a:rPr lang="en-US" dirty="0"/>
              <a:t>: Cache tag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085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228600"/>
            <a:ext cx="7936082" cy="762000"/>
          </a:xfrm>
        </p:spPr>
        <p:txBody>
          <a:bodyPr/>
          <a:lstStyle/>
          <a:p>
            <a:r>
              <a:rPr lang="en-US" dirty="0"/>
              <a:t>End-to-end Core i7 Address Translation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1177925" y="1066800"/>
            <a:ext cx="609600" cy="457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>
                <a:solidFill>
                  <a:schemeClr val="tx2"/>
                </a:solidFill>
                <a:latin typeface="+mn-lt"/>
              </a:rPr>
              <a:t>CPU</a:t>
            </a:r>
          </a:p>
        </p:txBody>
      </p:sp>
      <p:sp>
        <p:nvSpPr>
          <p:cNvPr id="5" name="Rectangle 380"/>
          <p:cNvSpPr>
            <a:spLocks noChangeArrowheads="1"/>
          </p:cNvSpPr>
          <p:nvPr/>
        </p:nvSpPr>
        <p:spPr bwMode="auto">
          <a:xfrm>
            <a:off x="568325" y="19812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VPN</a:t>
            </a:r>
          </a:p>
        </p:txBody>
      </p:sp>
      <p:sp>
        <p:nvSpPr>
          <p:cNvPr id="6" name="Rectangle 381"/>
          <p:cNvSpPr>
            <a:spLocks noChangeArrowheads="1"/>
          </p:cNvSpPr>
          <p:nvPr/>
        </p:nvSpPr>
        <p:spPr bwMode="auto">
          <a:xfrm>
            <a:off x="1635125" y="19812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VPO</a:t>
            </a:r>
          </a:p>
        </p:txBody>
      </p:sp>
      <p:sp>
        <p:nvSpPr>
          <p:cNvPr id="7" name="Text Box 382"/>
          <p:cNvSpPr txBox="1">
            <a:spLocks noChangeArrowheads="1"/>
          </p:cNvSpPr>
          <p:nvPr/>
        </p:nvSpPr>
        <p:spPr bwMode="auto">
          <a:xfrm>
            <a:off x="876300" y="1752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36</a:t>
            </a:r>
          </a:p>
        </p:txBody>
      </p:sp>
      <p:sp>
        <p:nvSpPr>
          <p:cNvPr id="8" name="Text Box 383"/>
          <p:cNvSpPr txBox="1">
            <a:spLocks noChangeArrowheads="1"/>
          </p:cNvSpPr>
          <p:nvPr/>
        </p:nvSpPr>
        <p:spPr bwMode="auto">
          <a:xfrm>
            <a:off x="1714500" y="1752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9" name="Line 384"/>
          <p:cNvSpPr>
            <a:spLocks noChangeShapeType="1"/>
          </p:cNvSpPr>
          <p:nvPr/>
        </p:nvSpPr>
        <p:spPr bwMode="auto">
          <a:xfrm>
            <a:off x="1406525" y="22860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" name="Rectangle 385"/>
          <p:cNvSpPr>
            <a:spLocks noChangeArrowheads="1"/>
          </p:cNvSpPr>
          <p:nvPr/>
        </p:nvSpPr>
        <p:spPr bwMode="auto">
          <a:xfrm>
            <a:off x="949325" y="26670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dirty="0">
                <a:solidFill>
                  <a:schemeClr val="tx2"/>
                </a:solidFill>
                <a:latin typeface="+mn-lt"/>
              </a:rPr>
              <a:t>TLBT</a:t>
            </a:r>
          </a:p>
        </p:txBody>
      </p:sp>
      <p:sp>
        <p:nvSpPr>
          <p:cNvPr id="11" name="Rectangle 386"/>
          <p:cNvSpPr>
            <a:spLocks noChangeArrowheads="1"/>
          </p:cNvSpPr>
          <p:nvPr/>
        </p:nvSpPr>
        <p:spPr bwMode="auto">
          <a:xfrm>
            <a:off x="1482725" y="26670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TLBI</a:t>
            </a:r>
          </a:p>
        </p:txBody>
      </p:sp>
      <p:sp>
        <p:nvSpPr>
          <p:cNvPr id="12" name="Text Box 387"/>
          <p:cNvSpPr txBox="1">
            <a:spLocks noChangeArrowheads="1"/>
          </p:cNvSpPr>
          <p:nvPr/>
        </p:nvSpPr>
        <p:spPr bwMode="auto">
          <a:xfrm>
            <a:off x="1635125" y="2438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4</a:t>
            </a:r>
          </a:p>
        </p:txBody>
      </p:sp>
      <p:sp>
        <p:nvSpPr>
          <p:cNvPr id="13" name="Text Box 388"/>
          <p:cNvSpPr txBox="1">
            <a:spLocks noChangeArrowheads="1"/>
          </p:cNvSpPr>
          <p:nvPr/>
        </p:nvSpPr>
        <p:spPr bwMode="auto">
          <a:xfrm>
            <a:off x="1025525" y="24384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32</a:t>
            </a:r>
          </a:p>
        </p:txBody>
      </p:sp>
      <p:sp>
        <p:nvSpPr>
          <p:cNvPr id="14" name="Rectangle 390"/>
          <p:cNvSpPr>
            <a:spLocks noChangeArrowheads="1"/>
          </p:cNvSpPr>
          <p:nvPr/>
        </p:nvSpPr>
        <p:spPr bwMode="auto">
          <a:xfrm>
            <a:off x="22447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5" name="Rectangle 391"/>
          <p:cNvSpPr>
            <a:spLocks noChangeArrowheads="1"/>
          </p:cNvSpPr>
          <p:nvPr/>
        </p:nvSpPr>
        <p:spPr bwMode="auto">
          <a:xfrm>
            <a:off x="27781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6" name="Rectangle 392"/>
          <p:cNvSpPr>
            <a:spLocks noChangeArrowheads="1"/>
          </p:cNvSpPr>
          <p:nvPr/>
        </p:nvSpPr>
        <p:spPr bwMode="auto">
          <a:xfrm>
            <a:off x="33115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7" name="Rectangle 393"/>
          <p:cNvSpPr>
            <a:spLocks noChangeArrowheads="1"/>
          </p:cNvSpPr>
          <p:nvPr/>
        </p:nvSpPr>
        <p:spPr bwMode="auto">
          <a:xfrm>
            <a:off x="38449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8" name="Rectangle 394"/>
          <p:cNvSpPr>
            <a:spLocks noChangeArrowheads="1"/>
          </p:cNvSpPr>
          <p:nvPr/>
        </p:nvSpPr>
        <p:spPr bwMode="auto">
          <a:xfrm>
            <a:off x="22447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9" name="Rectangle 395"/>
          <p:cNvSpPr>
            <a:spLocks noChangeArrowheads="1"/>
          </p:cNvSpPr>
          <p:nvPr/>
        </p:nvSpPr>
        <p:spPr bwMode="auto">
          <a:xfrm>
            <a:off x="27781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0" name="Rectangle 396"/>
          <p:cNvSpPr>
            <a:spLocks noChangeArrowheads="1"/>
          </p:cNvSpPr>
          <p:nvPr/>
        </p:nvSpPr>
        <p:spPr bwMode="auto">
          <a:xfrm>
            <a:off x="33115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1" name="Rectangle 397"/>
          <p:cNvSpPr>
            <a:spLocks noChangeArrowheads="1"/>
          </p:cNvSpPr>
          <p:nvPr/>
        </p:nvSpPr>
        <p:spPr bwMode="auto">
          <a:xfrm>
            <a:off x="38449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2" name="Rectangle 398"/>
          <p:cNvSpPr>
            <a:spLocks noChangeArrowheads="1"/>
          </p:cNvSpPr>
          <p:nvPr/>
        </p:nvSpPr>
        <p:spPr bwMode="auto">
          <a:xfrm>
            <a:off x="22447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3" name="Rectangle 399"/>
          <p:cNvSpPr>
            <a:spLocks noChangeArrowheads="1"/>
          </p:cNvSpPr>
          <p:nvPr/>
        </p:nvSpPr>
        <p:spPr bwMode="auto">
          <a:xfrm>
            <a:off x="27781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4" name="Rectangle 400"/>
          <p:cNvSpPr>
            <a:spLocks noChangeArrowheads="1"/>
          </p:cNvSpPr>
          <p:nvPr/>
        </p:nvSpPr>
        <p:spPr bwMode="auto">
          <a:xfrm>
            <a:off x="33115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5" name="Rectangle 401"/>
          <p:cNvSpPr>
            <a:spLocks noChangeArrowheads="1"/>
          </p:cNvSpPr>
          <p:nvPr/>
        </p:nvSpPr>
        <p:spPr bwMode="auto">
          <a:xfrm>
            <a:off x="38449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6" name="Rectangle 402"/>
          <p:cNvSpPr>
            <a:spLocks noChangeArrowheads="1"/>
          </p:cNvSpPr>
          <p:nvPr/>
        </p:nvSpPr>
        <p:spPr bwMode="auto">
          <a:xfrm>
            <a:off x="22447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7" name="Rectangle 403"/>
          <p:cNvSpPr>
            <a:spLocks noChangeArrowheads="1"/>
          </p:cNvSpPr>
          <p:nvPr/>
        </p:nvSpPr>
        <p:spPr bwMode="auto">
          <a:xfrm>
            <a:off x="27781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8" name="Rectangle 404"/>
          <p:cNvSpPr>
            <a:spLocks noChangeArrowheads="1"/>
          </p:cNvSpPr>
          <p:nvPr/>
        </p:nvSpPr>
        <p:spPr bwMode="auto">
          <a:xfrm>
            <a:off x="33115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9" name="Rectangle 405"/>
          <p:cNvSpPr>
            <a:spLocks noChangeArrowheads="1"/>
          </p:cNvSpPr>
          <p:nvPr/>
        </p:nvSpPr>
        <p:spPr bwMode="auto">
          <a:xfrm>
            <a:off x="38449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0" name="Text Box 406"/>
          <p:cNvSpPr txBox="1">
            <a:spLocks noChangeArrowheads="1"/>
          </p:cNvSpPr>
          <p:nvPr/>
        </p:nvSpPr>
        <p:spPr bwMode="auto">
          <a:xfrm>
            <a:off x="3214231" y="3863975"/>
            <a:ext cx="408444" cy="25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1" name="Line 407"/>
          <p:cNvSpPr>
            <a:spLocks noChangeShapeType="1"/>
          </p:cNvSpPr>
          <p:nvPr/>
        </p:nvSpPr>
        <p:spPr bwMode="auto">
          <a:xfrm>
            <a:off x="1787525" y="29718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2" name="Line 408"/>
          <p:cNvSpPr>
            <a:spLocks noChangeShapeType="1"/>
          </p:cNvSpPr>
          <p:nvPr/>
        </p:nvSpPr>
        <p:spPr bwMode="auto">
          <a:xfrm>
            <a:off x="1787525" y="35052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3" name="Line 409"/>
          <p:cNvSpPr>
            <a:spLocks noChangeShapeType="1"/>
          </p:cNvSpPr>
          <p:nvPr/>
        </p:nvSpPr>
        <p:spPr bwMode="auto">
          <a:xfrm>
            <a:off x="1787525" y="4191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4" name="Line 410"/>
          <p:cNvSpPr>
            <a:spLocks noChangeShapeType="1"/>
          </p:cNvSpPr>
          <p:nvPr/>
        </p:nvSpPr>
        <p:spPr bwMode="auto">
          <a:xfrm>
            <a:off x="1787525" y="36576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5" name="Line 411"/>
          <p:cNvSpPr>
            <a:spLocks noChangeShapeType="1"/>
          </p:cNvSpPr>
          <p:nvPr/>
        </p:nvSpPr>
        <p:spPr bwMode="auto">
          <a:xfrm>
            <a:off x="1787525" y="3810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6" name="Line 412"/>
          <p:cNvSpPr>
            <a:spLocks noChangeShapeType="1"/>
          </p:cNvSpPr>
          <p:nvPr/>
        </p:nvSpPr>
        <p:spPr bwMode="auto">
          <a:xfrm>
            <a:off x="1254125" y="29718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7" name="Line 413"/>
          <p:cNvSpPr>
            <a:spLocks noChangeShapeType="1"/>
          </p:cNvSpPr>
          <p:nvPr/>
        </p:nvSpPr>
        <p:spPr bwMode="auto">
          <a:xfrm>
            <a:off x="1254125" y="3124200"/>
            <a:ext cx="2895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8" name="Line 414"/>
          <p:cNvSpPr>
            <a:spLocks noChangeShapeType="1"/>
          </p:cNvSpPr>
          <p:nvPr/>
        </p:nvSpPr>
        <p:spPr bwMode="auto">
          <a:xfrm>
            <a:off x="25495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9" name="Line 415"/>
          <p:cNvSpPr>
            <a:spLocks noChangeShapeType="1"/>
          </p:cNvSpPr>
          <p:nvPr/>
        </p:nvSpPr>
        <p:spPr bwMode="auto">
          <a:xfrm>
            <a:off x="30829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0" name="Line 416"/>
          <p:cNvSpPr>
            <a:spLocks noChangeShapeType="1"/>
          </p:cNvSpPr>
          <p:nvPr/>
        </p:nvSpPr>
        <p:spPr bwMode="auto">
          <a:xfrm>
            <a:off x="36163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1" name="Line 417"/>
          <p:cNvSpPr>
            <a:spLocks noChangeShapeType="1"/>
          </p:cNvSpPr>
          <p:nvPr/>
        </p:nvSpPr>
        <p:spPr bwMode="auto">
          <a:xfrm>
            <a:off x="41497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2" name="Line 418"/>
          <p:cNvSpPr>
            <a:spLocks noChangeShapeType="1"/>
          </p:cNvSpPr>
          <p:nvPr/>
        </p:nvSpPr>
        <p:spPr bwMode="auto">
          <a:xfrm>
            <a:off x="720725" y="2286000"/>
            <a:ext cx="0" cy="2654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3" name="Line 419"/>
          <p:cNvSpPr>
            <a:spLocks noChangeShapeType="1"/>
          </p:cNvSpPr>
          <p:nvPr/>
        </p:nvSpPr>
        <p:spPr bwMode="auto">
          <a:xfrm>
            <a:off x="1482725" y="1524000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4" name="Text Box 420"/>
          <p:cNvSpPr txBox="1">
            <a:spLocks noChangeArrowheads="1"/>
          </p:cNvSpPr>
          <p:nvPr/>
        </p:nvSpPr>
        <p:spPr bwMode="auto">
          <a:xfrm>
            <a:off x="1712913" y="4311650"/>
            <a:ext cx="3078162" cy="31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L1 TLB (16 sets, 4 entries/set)</a:t>
            </a:r>
          </a:p>
        </p:txBody>
      </p:sp>
      <p:sp>
        <p:nvSpPr>
          <p:cNvPr id="45" name="Rectangle 421"/>
          <p:cNvSpPr>
            <a:spLocks noChangeArrowheads="1"/>
          </p:cNvSpPr>
          <p:nvPr/>
        </p:nvSpPr>
        <p:spPr bwMode="auto">
          <a:xfrm>
            <a:off x="5683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VPN1</a:t>
            </a:r>
          </a:p>
        </p:txBody>
      </p:sp>
      <p:sp>
        <p:nvSpPr>
          <p:cNvPr id="46" name="Rectangle 422"/>
          <p:cNvSpPr>
            <a:spLocks noChangeArrowheads="1"/>
          </p:cNvSpPr>
          <p:nvPr/>
        </p:nvSpPr>
        <p:spPr bwMode="auto">
          <a:xfrm>
            <a:off x="11017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VPN2</a:t>
            </a:r>
          </a:p>
        </p:txBody>
      </p:sp>
      <p:sp>
        <p:nvSpPr>
          <p:cNvPr id="47" name="Text Box 423"/>
          <p:cNvSpPr txBox="1">
            <a:spLocks noChangeArrowheads="1"/>
          </p:cNvSpPr>
          <p:nvPr/>
        </p:nvSpPr>
        <p:spPr bwMode="auto">
          <a:xfrm>
            <a:off x="1181100" y="4724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48" name="Text Box 424"/>
          <p:cNvSpPr txBox="1">
            <a:spLocks noChangeArrowheads="1"/>
          </p:cNvSpPr>
          <p:nvPr/>
        </p:nvSpPr>
        <p:spPr bwMode="auto">
          <a:xfrm>
            <a:off x="720725" y="4724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50" name="Rectangle 425"/>
          <p:cNvSpPr>
            <a:spLocks noChangeArrowheads="1"/>
          </p:cNvSpPr>
          <p:nvPr/>
        </p:nvSpPr>
        <p:spPr bwMode="auto">
          <a:xfrm>
            <a:off x="792163" y="5626100"/>
            <a:ext cx="315912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51" name="Rectangle 426"/>
          <p:cNvSpPr>
            <a:spLocks noChangeArrowheads="1"/>
          </p:cNvSpPr>
          <p:nvPr/>
        </p:nvSpPr>
        <p:spPr bwMode="auto">
          <a:xfrm>
            <a:off x="792163" y="5905500"/>
            <a:ext cx="315912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PTE</a:t>
            </a:r>
          </a:p>
        </p:txBody>
      </p:sp>
      <p:sp>
        <p:nvSpPr>
          <p:cNvPr id="52" name="Text Box 431"/>
          <p:cNvSpPr txBox="1">
            <a:spLocks noChangeArrowheads="1"/>
          </p:cNvSpPr>
          <p:nvPr/>
        </p:nvSpPr>
        <p:spPr bwMode="auto">
          <a:xfrm>
            <a:off x="0" y="5497513"/>
            <a:ext cx="536575" cy="31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dirty="0">
                <a:solidFill>
                  <a:schemeClr val="tx2"/>
                </a:solidFill>
                <a:latin typeface="+mn-lt"/>
              </a:rPr>
              <a:t>CR3</a:t>
            </a:r>
          </a:p>
        </p:txBody>
      </p:sp>
      <p:sp>
        <p:nvSpPr>
          <p:cNvPr id="53" name="Rectangle 436"/>
          <p:cNvSpPr>
            <a:spLocks noChangeArrowheads="1"/>
          </p:cNvSpPr>
          <p:nvPr/>
        </p:nvSpPr>
        <p:spPr bwMode="auto">
          <a:xfrm>
            <a:off x="4302125" y="5040313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PPN</a:t>
            </a:r>
          </a:p>
        </p:txBody>
      </p:sp>
      <p:sp>
        <p:nvSpPr>
          <p:cNvPr id="54" name="Rectangle 437"/>
          <p:cNvSpPr>
            <a:spLocks noChangeArrowheads="1"/>
          </p:cNvSpPr>
          <p:nvPr/>
        </p:nvSpPr>
        <p:spPr bwMode="auto">
          <a:xfrm>
            <a:off x="5368925" y="5040313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PPO</a:t>
            </a:r>
          </a:p>
        </p:txBody>
      </p:sp>
      <p:sp>
        <p:nvSpPr>
          <p:cNvPr id="55" name="Text Box 438"/>
          <p:cNvSpPr txBox="1">
            <a:spLocks noChangeArrowheads="1"/>
          </p:cNvSpPr>
          <p:nvPr/>
        </p:nvSpPr>
        <p:spPr bwMode="auto">
          <a:xfrm>
            <a:off x="4610100" y="4800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56" name="Text Box 439"/>
          <p:cNvSpPr txBox="1">
            <a:spLocks noChangeArrowheads="1"/>
          </p:cNvSpPr>
          <p:nvPr/>
        </p:nvSpPr>
        <p:spPr bwMode="auto">
          <a:xfrm>
            <a:off x="5486400" y="4800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57" name="Line 440"/>
          <p:cNvSpPr>
            <a:spLocks noChangeShapeType="1"/>
          </p:cNvSpPr>
          <p:nvPr/>
        </p:nvSpPr>
        <p:spPr bwMode="auto">
          <a:xfrm>
            <a:off x="4378325" y="3762375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58" name="Line 441"/>
          <p:cNvSpPr>
            <a:spLocks noChangeShapeType="1"/>
          </p:cNvSpPr>
          <p:nvPr/>
        </p:nvSpPr>
        <p:spPr bwMode="auto">
          <a:xfrm>
            <a:off x="4987925" y="3759200"/>
            <a:ext cx="0" cy="1270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59" name="Line 442"/>
          <p:cNvSpPr>
            <a:spLocks noChangeShapeType="1"/>
          </p:cNvSpPr>
          <p:nvPr/>
        </p:nvSpPr>
        <p:spPr bwMode="auto">
          <a:xfrm>
            <a:off x="3035300" y="6083300"/>
            <a:ext cx="1952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60" name="Line 443"/>
          <p:cNvSpPr>
            <a:spLocks noChangeShapeType="1"/>
          </p:cNvSpPr>
          <p:nvPr/>
        </p:nvSpPr>
        <p:spPr bwMode="auto">
          <a:xfrm flipH="1" flipV="1">
            <a:off x="4978400" y="5349875"/>
            <a:ext cx="952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61" name="Text Box 448"/>
          <p:cNvSpPr txBox="1">
            <a:spLocks noChangeArrowheads="1"/>
          </p:cNvSpPr>
          <p:nvPr/>
        </p:nvSpPr>
        <p:spPr bwMode="auto">
          <a:xfrm>
            <a:off x="1244600" y="6477000"/>
            <a:ext cx="1150053" cy="31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Page tables</a:t>
            </a:r>
          </a:p>
        </p:txBody>
      </p:sp>
      <p:sp>
        <p:nvSpPr>
          <p:cNvPr id="62" name="Text Box 449"/>
          <p:cNvSpPr txBox="1">
            <a:spLocks noChangeArrowheads="1"/>
          </p:cNvSpPr>
          <p:nvPr/>
        </p:nvSpPr>
        <p:spPr bwMode="auto">
          <a:xfrm>
            <a:off x="685800" y="3613150"/>
            <a:ext cx="605718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TLB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miss</a:t>
            </a:r>
          </a:p>
        </p:txBody>
      </p:sp>
      <p:sp>
        <p:nvSpPr>
          <p:cNvPr id="63" name="Text Box 450"/>
          <p:cNvSpPr txBox="1">
            <a:spLocks noChangeArrowheads="1"/>
          </p:cNvSpPr>
          <p:nvPr/>
        </p:nvSpPr>
        <p:spPr bwMode="auto">
          <a:xfrm>
            <a:off x="4514850" y="3175000"/>
            <a:ext cx="549212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TLB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hit</a:t>
            </a:r>
          </a:p>
        </p:txBody>
      </p:sp>
      <p:sp>
        <p:nvSpPr>
          <p:cNvPr id="64" name="Line 451"/>
          <p:cNvSpPr>
            <a:spLocks noChangeShapeType="1"/>
          </p:cNvSpPr>
          <p:nvPr/>
        </p:nvSpPr>
        <p:spPr bwMode="auto">
          <a:xfrm>
            <a:off x="2168525" y="2209800"/>
            <a:ext cx="3276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65" name="Line 452"/>
          <p:cNvSpPr>
            <a:spLocks noChangeShapeType="1"/>
          </p:cNvSpPr>
          <p:nvPr/>
        </p:nvSpPr>
        <p:spPr bwMode="auto">
          <a:xfrm>
            <a:off x="5445125" y="2209800"/>
            <a:ext cx="0" cy="281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66" name="Text Box 453"/>
          <p:cNvSpPr txBox="1">
            <a:spLocks noChangeArrowheads="1"/>
          </p:cNvSpPr>
          <p:nvPr/>
        </p:nvSpPr>
        <p:spPr bwMode="auto">
          <a:xfrm>
            <a:off x="5915025" y="5283200"/>
            <a:ext cx="865621" cy="90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Physical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address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(PA)</a:t>
            </a:r>
          </a:p>
        </p:txBody>
      </p:sp>
      <p:sp>
        <p:nvSpPr>
          <p:cNvPr id="67" name="Rectangle 454"/>
          <p:cNvSpPr>
            <a:spLocks noChangeArrowheads="1"/>
          </p:cNvSpPr>
          <p:nvPr/>
        </p:nvSpPr>
        <p:spPr bwMode="auto">
          <a:xfrm>
            <a:off x="5445125" y="12954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Result</a:t>
            </a:r>
          </a:p>
        </p:txBody>
      </p:sp>
      <p:sp>
        <p:nvSpPr>
          <p:cNvPr id="68" name="Text Box 455"/>
          <p:cNvSpPr txBox="1">
            <a:spLocks noChangeArrowheads="1"/>
          </p:cNvSpPr>
          <p:nvPr/>
        </p:nvSpPr>
        <p:spPr bwMode="auto">
          <a:xfrm>
            <a:off x="5810250" y="1066800"/>
            <a:ext cx="560850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32/64</a:t>
            </a:r>
          </a:p>
        </p:txBody>
      </p:sp>
      <p:sp>
        <p:nvSpPr>
          <p:cNvPr id="69" name="Rectangle 456"/>
          <p:cNvSpPr>
            <a:spLocks noChangeArrowheads="1"/>
          </p:cNvSpPr>
          <p:nvPr/>
        </p:nvSpPr>
        <p:spPr bwMode="auto">
          <a:xfrm>
            <a:off x="57499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0" name="Rectangle 457"/>
          <p:cNvSpPr>
            <a:spLocks noChangeArrowheads="1"/>
          </p:cNvSpPr>
          <p:nvPr/>
        </p:nvSpPr>
        <p:spPr bwMode="auto">
          <a:xfrm>
            <a:off x="62833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1" name="Rectangle 458"/>
          <p:cNvSpPr>
            <a:spLocks noChangeArrowheads="1"/>
          </p:cNvSpPr>
          <p:nvPr/>
        </p:nvSpPr>
        <p:spPr bwMode="auto">
          <a:xfrm>
            <a:off x="68167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2" name="Rectangle 459"/>
          <p:cNvSpPr>
            <a:spLocks noChangeArrowheads="1"/>
          </p:cNvSpPr>
          <p:nvPr/>
        </p:nvSpPr>
        <p:spPr bwMode="auto">
          <a:xfrm>
            <a:off x="73501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3" name="Rectangle 460"/>
          <p:cNvSpPr>
            <a:spLocks noChangeArrowheads="1"/>
          </p:cNvSpPr>
          <p:nvPr/>
        </p:nvSpPr>
        <p:spPr bwMode="auto">
          <a:xfrm>
            <a:off x="57499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4" name="Rectangle 461"/>
          <p:cNvSpPr>
            <a:spLocks noChangeArrowheads="1"/>
          </p:cNvSpPr>
          <p:nvPr/>
        </p:nvSpPr>
        <p:spPr bwMode="auto">
          <a:xfrm>
            <a:off x="62833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5" name="Rectangle 462"/>
          <p:cNvSpPr>
            <a:spLocks noChangeArrowheads="1"/>
          </p:cNvSpPr>
          <p:nvPr/>
        </p:nvSpPr>
        <p:spPr bwMode="auto">
          <a:xfrm>
            <a:off x="68167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6" name="Rectangle 463"/>
          <p:cNvSpPr>
            <a:spLocks noChangeArrowheads="1"/>
          </p:cNvSpPr>
          <p:nvPr/>
        </p:nvSpPr>
        <p:spPr bwMode="auto">
          <a:xfrm>
            <a:off x="73501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7" name="Rectangle 464"/>
          <p:cNvSpPr>
            <a:spLocks noChangeArrowheads="1"/>
          </p:cNvSpPr>
          <p:nvPr/>
        </p:nvSpPr>
        <p:spPr bwMode="auto">
          <a:xfrm>
            <a:off x="57499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8" name="Rectangle 465"/>
          <p:cNvSpPr>
            <a:spLocks noChangeArrowheads="1"/>
          </p:cNvSpPr>
          <p:nvPr/>
        </p:nvSpPr>
        <p:spPr bwMode="auto">
          <a:xfrm>
            <a:off x="62833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9" name="Rectangle 466"/>
          <p:cNvSpPr>
            <a:spLocks noChangeArrowheads="1"/>
          </p:cNvSpPr>
          <p:nvPr/>
        </p:nvSpPr>
        <p:spPr bwMode="auto">
          <a:xfrm>
            <a:off x="68167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0" name="Rectangle 467"/>
          <p:cNvSpPr>
            <a:spLocks noChangeArrowheads="1"/>
          </p:cNvSpPr>
          <p:nvPr/>
        </p:nvSpPr>
        <p:spPr bwMode="auto">
          <a:xfrm>
            <a:off x="73501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1" name="Rectangle 468"/>
          <p:cNvSpPr>
            <a:spLocks noChangeArrowheads="1"/>
          </p:cNvSpPr>
          <p:nvPr/>
        </p:nvSpPr>
        <p:spPr bwMode="auto">
          <a:xfrm>
            <a:off x="57499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2" name="Rectangle 469"/>
          <p:cNvSpPr>
            <a:spLocks noChangeArrowheads="1"/>
          </p:cNvSpPr>
          <p:nvPr/>
        </p:nvSpPr>
        <p:spPr bwMode="auto">
          <a:xfrm>
            <a:off x="62833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3" name="Rectangle 470"/>
          <p:cNvSpPr>
            <a:spLocks noChangeArrowheads="1"/>
          </p:cNvSpPr>
          <p:nvPr/>
        </p:nvSpPr>
        <p:spPr bwMode="auto">
          <a:xfrm>
            <a:off x="68167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4" name="Rectangle 471"/>
          <p:cNvSpPr>
            <a:spLocks noChangeArrowheads="1"/>
          </p:cNvSpPr>
          <p:nvPr/>
        </p:nvSpPr>
        <p:spPr bwMode="auto">
          <a:xfrm>
            <a:off x="73501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5" name="Text Box 472"/>
          <p:cNvSpPr txBox="1">
            <a:spLocks noChangeArrowheads="1"/>
          </p:cNvSpPr>
          <p:nvPr/>
        </p:nvSpPr>
        <p:spPr bwMode="auto">
          <a:xfrm>
            <a:off x="6719431" y="3863975"/>
            <a:ext cx="408444" cy="25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86" name="Line 473"/>
          <p:cNvSpPr>
            <a:spLocks noChangeShapeType="1"/>
          </p:cNvSpPr>
          <p:nvPr/>
        </p:nvSpPr>
        <p:spPr bwMode="auto">
          <a:xfrm>
            <a:off x="6130925" y="5181600"/>
            <a:ext cx="4572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87" name="Line 474"/>
          <p:cNvSpPr>
            <a:spLocks noChangeShapeType="1"/>
          </p:cNvSpPr>
          <p:nvPr/>
        </p:nvSpPr>
        <p:spPr bwMode="auto">
          <a:xfrm flipV="1">
            <a:off x="7121525" y="4648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88" name="Line 475"/>
          <p:cNvSpPr>
            <a:spLocks noChangeShapeType="1"/>
          </p:cNvSpPr>
          <p:nvPr/>
        </p:nvSpPr>
        <p:spPr bwMode="auto">
          <a:xfrm flipV="1">
            <a:off x="8493125" y="4648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89" name="Line 476"/>
          <p:cNvSpPr>
            <a:spLocks noChangeShapeType="1"/>
          </p:cNvSpPr>
          <p:nvPr/>
        </p:nvSpPr>
        <p:spPr bwMode="auto">
          <a:xfrm>
            <a:off x="5888038" y="4643438"/>
            <a:ext cx="2605087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0" name="Line 477"/>
          <p:cNvSpPr>
            <a:spLocks noChangeShapeType="1"/>
          </p:cNvSpPr>
          <p:nvPr/>
        </p:nvSpPr>
        <p:spPr bwMode="auto">
          <a:xfrm flipV="1">
            <a:off x="5889625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1" name="Line 478"/>
          <p:cNvSpPr>
            <a:spLocks noChangeShapeType="1"/>
          </p:cNvSpPr>
          <p:nvPr/>
        </p:nvSpPr>
        <p:spPr bwMode="auto">
          <a:xfrm flipV="1">
            <a:off x="6435725" y="4267200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2" name="Line 479"/>
          <p:cNvSpPr>
            <a:spLocks noChangeShapeType="1"/>
          </p:cNvSpPr>
          <p:nvPr/>
        </p:nvSpPr>
        <p:spPr bwMode="auto">
          <a:xfrm flipV="1">
            <a:off x="6959600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3" name="Line 480"/>
          <p:cNvSpPr>
            <a:spLocks noChangeShapeType="1"/>
          </p:cNvSpPr>
          <p:nvPr/>
        </p:nvSpPr>
        <p:spPr bwMode="auto">
          <a:xfrm flipV="1">
            <a:off x="7493000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4" name="Line 481"/>
          <p:cNvSpPr>
            <a:spLocks noChangeShapeType="1"/>
          </p:cNvSpPr>
          <p:nvPr/>
        </p:nvSpPr>
        <p:spPr bwMode="auto">
          <a:xfrm flipV="1">
            <a:off x="8188325" y="3505200"/>
            <a:ext cx="0" cy="1524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5" name="Line 482"/>
          <p:cNvSpPr>
            <a:spLocks noChangeShapeType="1"/>
          </p:cNvSpPr>
          <p:nvPr/>
        </p:nvSpPr>
        <p:spPr bwMode="auto">
          <a:xfrm flipH="1">
            <a:off x="7883525" y="35052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6" name="Line 483"/>
          <p:cNvSpPr>
            <a:spLocks noChangeShapeType="1"/>
          </p:cNvSpPr>
          <p:nvPr/>
        </p:nvSpPr>
        <p:spPr bwMode="auto">
          <a:xfrm flipH="1">
            <a:off x="7883525" y="36576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7" name="Line 484"/>
          <p:cNvSpPr>
            <a:spLocks noChangeShapeType="1"/>
          </p:cNvSpPr>
          <p:nvPr/>
        </p:nvSpPr>
        <p:spPr bwMode="auto">
          <a:xfrm flipH="1">
            <a:off x="7883525" y="3810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8" name="Line 485"/>
          <p:cNvSpPr>
            <a:spLocks noChangeShapeType="1"/>
          </p:cNvSpPr>
          <p:nvPr/>
        </p:nvSpPr>
        <p:spPr bwMode="auto">
          <a:xfrm flipH="1">
            <a:off x="7883525" y="4191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9" name="Line 429"/>
          <p:cNvSpPr>
            <a:spLocks noChangeShapeType="1"/>
          </p:cNvSpPr>
          <p:nvPr/>
        </p:nvSpPr>
        <p:spPr bwMode="auto">
          <a:xfrm>
            <a:off x="658813" y="5245100"/>
            <a:ext cx="0" cy="776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0" name="Line 430"/>
          <p:cNvSpPr>
            <a:spLocks noChangeShapeType="1"/>
          </p:cNvSpPr>
          <p:nvPr/>
        </p:nvSpPr>
        <p:spPr bwMode="auto">
          <a:xfrm flipV="1">
            <a:off x="658813" y="6021388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101" name="Oval 486"/>
          <p:cNvSpPr>
            <a:spLocks noChangeArrowheads="1"/>
          </p:cNvSpPr>
          <p:nvPr/>
        </p:nvSpPr>
        <p:spPr bwMode="auto">
          <a:xfrm>
            <a:off x="623888" y="52070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2" name="Oval 487"/>
          <p:cNvSpPr>
            <a:spLocks noChangeArrowheads="1"/>
          </p:cNvSpPr>
          <p:nvPr/>
        </p:nvSpPr>
        <p:spPr bwMode="auto">
          <a:xfrm>
            <a:off x="695325" y="22606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3" name="Oval 488"/>
          <p:cNvSpPr>
            <a:spLocks noChangeArrowheads="1"/>
          </p:cNvSpPr>
          <p:nvPr/>
        </p:nvSpPr>
        <p:spPr bwMode="auto">
          <a:xfrm>
            <a:off x="2130425" y="21590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4" name="Oval 489"/>
          <p:cNvSpPr>
            <a:spLocks noChangeArrowheads="1"/>
          </p:cNvSpPr>
          <p:nvPr/>
        </p:nvSpPr>
        <p:spPr bwMode="auto">
          <a:xfrm>
            <a:off x="1368425" y="22606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5" name="Line 491"/>
          <p:cNvSpPr>
            <a:spLocks noChangeShapeType="1"/>
          </p:cNvSpPr>
          <p:nvPr/>
        </p:nvSpPr>
        <p:spPr bwMode="auto">
          <a:xfrm flipH="1" flipV="1">
            <a:off x="6054725" y="1600200"/>
            <a:ext cx="0" cy="1828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6" name="Rectangle 492"/>
          <p:cNvSpPr>
            <a:spLocks noChangeArrowheads="1"/>
          </p:cNvSpPr>
          <p:nvPr/>
        </p:nvSpPr>
        <p:spPr bwMode="auto">
          <a:xfrm>
            <a:off x="6892925" y="50292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CT</a:t>
            </a:r>
          </a:p>
        </p:txBody>
      </p:sp>
      <p:sp>
        <p:nvSpPr>
          <p:cNvPr id="107" name="Rectangle 493"/>
          <p:cNvSpPr>
            <a:spLocks noChangeArrowheads="1"/>
          </p:cNvSpPr>
          <p:nvPr/>
        </p:nvSpPr>
        <p:spPr bwMode="auto">
          <a:xfrm>
            <a:off x="8264525" y="50292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CO</a:t>
            </a:r>
          </a:p>
        </p:txBody>
      </p:sp>
      <p:sp>
        <p:nvSpPr>
          <p:cNvPr id="108" name="Text Box 494"/>
          <p:cNvSpPr txBox="1">
            <a:spLocks noChangeArrowheads="1"/>
          </p:cNvSpPr>
          <p:nvPr/>
        </p:nvSpPr>
        <p:spPr bwMode="auto">
          <a:xfrm>
            <a:off x="7251700" y="4800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109" name="Text Box 495"/>
          <p:cNvSpPr txBox="1">
            <a:spLocks noChangeArrowheads="1"/>
          </p:cNvSpPr>
          <p:nvPr/>
        </p:nvSpPr>
        <p:spPr bwMode="auto">
          <a:xfrm>
            <a:off x="8289925" y="48006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6</a:t>
            </a:r>
          </a:p>
        </p:txBody>
      </p:sp>
      <p:sp>
        <p:nvSpPr>
          <p:cNvPr id="110" name="Rectangle 496"/>
          <p:cNvSpPr>
            <a:spLocks noChangeArrowheads="1"/>
          </p:cNvSpPr>
          <p:nvPr/>
        </p:nvSpPr>
        <p:spPr bwMode="auto">
          <a:xfrm>
            <a:off x="7959725" y="50292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CI</a:t>
            </a:r>
          </a:p>
        </p:txBody>
      </p:sp>
      <p:sp>
        <p:nvSpPr>
          <p:cNvPr id="111" name="Text Box 497"/>
          <p:cNvSpPr txBox="1">
            <a:spLocks noChangeArrowheads="1"/>
          </p:cNvSpPr>
          <p:nvPr/>
        </p:nvSpPr>
        <p:spPr bwMode="auto">
          <a:xfrm>
            <a:off x="7959725" y="48006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6</a:t>
            </a:r>
          </a:p>
        </p:txBody>
      </p:sp>
      <p:sp>
        <p:nvSpPr>
          <p:cNvPr id="112" name="Oval 498"/>
          <p:cNvSpPr>
            <a:spLocks noChangeArrowheads="1"/>
          </p:cNvSpPr>
          <p:nvPr/>
        </p:nvSpPr>
        <p:spPr bwMode="auto">
          <a:xfrm>
            <a:off x="70834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3" name="Oval 499"/>
          <p:cNvSpPr>
            <a:spLocks noChangeArrowheads="1"/>
          </p:cNvSpPr>
          <p:nvPr/>
        </p:nvSpPr>
        <p:spPr bwMode="auto">
          <a:xfrm>
            <a:off x="81375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4" name="Oval 500"/>
          <p:cNvSpPr>
            <a:spLocks noChangeArrowheads="1"/>
          </p:cNvSpPr>
          <p:nvPr/>
        </p:nvSpPr>
        <p:spPr bwMode="auto">
          <a:xfrm>
            <a:off x="84550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5" name="Line 501"/>
          <p:cNvSpPr>
            <a:spLocks noChangeShapeType="1"/>
          </p:cNvSpPr>
          <p:nvPr/>
        </p:nvSpPr>
        <p:spPr bwMode="auto">
          <a:xfrm>
            <a:off x="7883525" y="57150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6" name="Line 502"/>
          <p:cNvSpPr>
            <a:spLocks noChangeShapeType="1"/>
          </p:cNvSpPr>
          <p:nvPr/>
        </p:nvSpPr>
        <p:spPr bwMode="auto">
          <a:xfrm flipV="1">
            <a:off x="8874125" y="2590800"/>
            <a:ext cx="0" cy="312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7" name="Rectangle 503"/>
          <p:cNvSpPr>
            <a:spLocks noChangeArrowheads="1"/>
          </p:cNvSpPr>
          <p:nvPr/>
        </p:nvSpPr>
        <p:spPr bwMode="auto">
          <a:xfrm>
            <a:off x="7426325" y="1066800"/>
            <a:ext cx="1524000" cy="8382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L2, L3, and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main memory</a:t>
            </a:r>
            <a:endParaRPr lang="en-US" sz="16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18" name="Text Box 504"/>
          <p:cNvSpPr txBox="1">
            <a:spLocks noChangeArrowheads="1"/>
          </p:cNvSpPr>
          <p:nvPr/>
        </p:nvSpPr>
        <p:spPr bwMode="auto">
          <a:xfrm>
            <a:off x="5724525" y="2806700"/>
            <a:ext cx="2773363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L1 </a:t>
            </a:r>
            <a:r>
              <a:rPr lang="en-US" sz="1600" b="1" dirty="0" err="1">
                <a:solidFill>
                  <a:schemeClr val="tx2"/>
                </a:solidFill>
                <a:latin typeface="+mn-lt"/>
              </a:rPr>
              <a:t>d</a:t>
            </a:r>
            <a:r>
              <a:rPr lang="en-US" sz="1600" b="1" dirty="0">
                <a:solidFill>
                  <a:schemeClr val="tx2"/>
                </a:solidFill>
                <a:latin typeface="+mn-lt"/>
              </a:rPr>
              <a:t>-cache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(64 sets, 8 lines/set)</a:t>
            </a:r>
          </a:p>
        </p:txBody>
      </p:sp>
      <p:sp>
        <p:nvSpPr>
          <p:cNvPr id="119" name="Line 505"/>
          <p:cNvSpPr>
            <a:spLocks noChangeShapeType="1"/>
          </p:cNvSpPr>
          <p:nvPr/>
        </p:nvSpPr>
        <p:spPr bwMode="auto">
          <a:xfrm flipH="1">
            <a:off x="8264525" y="259080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0" name="Line 506"/>
          <p:cNvSpPr>
            <a:spLocks noChangeShapeType="1"/>
          </p:cNvSpPr>
          <p:nvPr/>
        </p:nvSpPr>
        <p:spPr bwMode="auto">
          <a:xfrm flipV="1">
            <a:off x="8264525" y="1905000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1" name="Line 507"/>
          <p:cNvSpPr>
            <a:spLocks noChangeShapeType="1"/>
          </p:cNvSpPr>
          <p:nvPr/>
        </p:nvSpPr>
        <p:spPr bwMode="auto">
          <a:xfrm flipH="1">
            <a:off x="6511925" y="1447800"/>
            <a:ext cx="914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2" name="Text Box 508"/>
          <p:cNvSpPr txBox="1">
            <a:spLocks noChangeArrowheads="1"/>
          </p:cNvSpPr>
          <p:nvPr/>
        </p:nvSpPr>
        <p:spPr bwMode="auto">
          <a:xfrm>
            <a:off x="6013450" y="2057400"/>
            <a:ext cx="461251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L1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hit</a:t>
            </a:r>
          </a:p>
        </p:txBody>
      </p:sp>
      <p:sp>
        <p:nvSpPr>
          <p:cNvPr id="123" name="Text Box 509"/>
          <p:cNvSpPr txBox="1">
            <a:spLocks noChangeArrowheads="1"/>
          </p:cNvSpPr>
          <p:nvPr/>
        </p:nvSpPr>
        <p:spPr bwMode="auto">
          <a:xfrm>
            <a:off x="8229600" y="1981200"/>
            <a:ext cx="605718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L1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miss</a:t>
            </a:r>
          </a:p>
        </p:txBody>
      </p:sp>
      <p:sp>
        <p:nvSpPr>
          <p:cNvPr id="124" name="Line 510"/>
          <p:cNvSpPr>
            <a:spLocks noChangeShapeType="1"/>
          </p:cNvSpPr>
          <p:nvPr/>
        </p:nvSpPr>
        <p:spPr bwMode="auto">
          <a:xfrm flipH="1">
            <a:off x="1787525" y="1447800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5" name="Line 511"/>
          <p:cNvSpPr>
            <a:spLocks noChangeShapeType="1"/>
          </p:cNvSpPr>
          <p:nvPr/>
        </p:nvSpPr>
        <p:spPr bwMode="auto">
          <a:xfrm flipV="1">
            <a:off x="7731125" y="54864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6" name="Line 512"/>
          <p:cNvSpPr>
            <a:spLocks noChangeShapeType="1"/>
          </p:cNvSpPr>
          <p:nvPr/>
        </p:nvSpPr>
        <p:spPr bwMode="auto">
          <a:xfrm>
            <a:off x="7883525" y="5486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7" name="Text Box 513"/>
          <p:cNvSpPr txBox="1">
            <a:spLocks noChangeArrowheads="1"/>
          </p:cNvSpPr>
          <p:nvPr/>
        </p:nvSpPr>
        <p:spPr bwMode="auto">
          <a:xfrm>
            <a:off x="1411288" y="1529348"/>
            <a:ext cx="188956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+mn-lt"/>
              </a:rPr>
              <a:t>Virtual address (VA)</a:t>
            </a:r>
          </a:p>
        </p:txBody>
      </p:sp>
      <p:sp>
        <p:nvSpPr>
          <p:cNvPr id="128" name="Rectangle 514"/>
          <p:cNvSpPr>
            <a:spLocks noChangeArrowheads="1"/>
          </p:cNvSpPr>
          <p:nvPr/>
        </p:nvSpPr>
        <p:spPr bwMode="auto">
          <a:xfrm>
            <a:off x="16351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VPN3</a:t>
            </a:r>
          </a:p>
        </p:txBody>
      </p:sp>
      <p:sp>
        <p:nvSpPr>
          <p:cNvPr id="129" name="Rectangle 515"/>
          <p:cNvSpPr>
            <a:spLocks noChangeArrowheads="1"/>
          </p:cNvSpPr>
          <p:nvPr/>
        </p:nvSpPr>
        <p:spPr bwMode="auto">
          <a:xfrm>
            <a:off x="21685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VPN4</a:t>
            </a:r>
          </a:p>
        </p:txBody>
      </p:sp>
      <p:sp>
        <p:nvSpPr>
          <p:cNvPr id="130" name="Text Box 516"/>
          <p:cNvSpPr txBox="1">
            <a:spLocks noChangeArrowheads="1"/>
          </p:cNvSpPr>
          <p:nvPr/>
        </p:nvSpPr>
        <p:spPr bwMode="auto">
          <a:xfrm>
            <a:off x="2247900" y="4724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131" name="Text Box 517"/>
          <p:cNvSpPr txBox="1">
            <a:spLocks noChangeArrowheads="1"/>
          </p:cNvSpPr>
          <p:nvPr/>
        </p:nvSpPr>
        <p:spPr bwMode="auto">
          <a:xfrm>
            <a:off x="1787525" y="4724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grpSp>
        <p:nvGrpSpPr>
          <p:cNvPr id="132" name="Group 641"/>
          <p:cNvGrpSpPr>
            <a:grpSpLocks/>
          </p:cNvGrpSpPr>
          <p:nvPr/>
        </p:nvGrpSpPr>
        <p:grpSpPr bwMode="auto">
          <a:xfrm>
            <a:off x="1106488" y="5632450"/>
            <a:ext cx="276225" cy="450850"/>
            <a:chOff x="739" y="2900"/>
            <a:chExt cx="174" cy="284"/>
          </a:xfrm>
        </p:grpSpPr>
        <p:sp>
          <p:nvSpPr>
            <p:cNvPr id="133" name="Line 433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34" name="Line 434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35" name="Line 523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</p:grpSp>
      <p:sp>
        <p:nvSpPr>
          <p:cNvPr id="136" name="Rectangle 525"/>
          <p:cNvSpPr>
            <a:spLocks noChangeArrowheads="1"/>
          </p:cNvSpPr>
          <p:nvPr/>
        </p:nvSpPr>
        <p:spPr bwMode="auto">
          <a:xfrm>
            <a:off x="1387475" y="5626100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37" name="Rectangle 526"/>
          <p:cNvSpPr>
            <a:spLocks noChangeArrowheads="1"/>
          </p:cNvSpPr>
          <p:nvPr/>
        </p:nvSpPr>
        <p:spPr bwMode="auto">
          <a:xfrm>
            <a:off x="1387475" y="5905500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PTE</a:t>
            </a:r>
          </a:p>
        </p:txBody>
      </p:sp>
      <p:sp>
        <p:nvSpPr>
          <p:cNvPr id="138" name="Line 542"/>
          <p:cNvSpPr>
            <a:spLocks noChangeShapeType="1"/>
          </p:cNvSpPr>
          <p:nvPr/>
        </p:nvSpPr>
        <p:spPr bwMode="auto">
          <a:xfrm>
            <a:off x="1249363" y="5254625"/>
            <a:ext cx="0" cy="784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39" name="Line 543"/>
          <p:cNvSpPr>
            <a:spLocks noChangeShapeType="1"/>
          </p:cNvSpPr>
          <p:nvPr/>
        </p:nvSpPr>
        <p:spPr bwMode="auto">
          <a:xfrm flipV="1">
            <a:off x="1249363" y="6030913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140" name="Oval 544"/>
          <p:cNvSpPr>
            <a:spLocks noChangeArrowheads="1"/>
          </p:cNvSpPr>
          <p:nvPr/>
        </p:nvSpPr>
        <p:spPr bwMode="auto">
          <a:xfrm>
            <a:off x="1214438" y="521652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1" name="Rectangle 610"/>
          <p:cNvSpPr>
            <a:spLocks noChangeArrowheads="1"/>
          </p:cNvSpPr>
          <p:nvPr/>
        </p:nvSpPr>
        <p:spPr bwMode="auto">
          <a:xfrm>
            <a:off x="2025650" y="5626100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2" name="Rectangle 611"/>
          <p:cNvSpPr>
            <a:spLocks noChangeArrowheads="1"/>
          </p:cNvSpPr>
          <p:nvPr/>
        </p:nvSpPr>
        <p:spPr bwMode="auto">
          <a:xfrm>
            <a:off x="2025650" y="5905500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PTE</a:t>
            </a:r>
          </a:p>
        </p:txBody>
      </p:sp>
      <p:sp>
        <p:nvSpPr>
          <p:cNvPr id="143" name="Line 612"/>
          <p:cNvSpPr>
            <a:spLocks noChangeShapeType="1"/>
          </p:cNvSpPr>
          <p:nvPr/>
        </p:nvSpPr>
        <p:spPr bwMode="auto">
          <a:xfrm flipH="1">
            <a:off x="1885950" y="5254625"/>
            <a:ext cx="1588" cy="790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4" name="Line 613"/>
          <p:cNvSpPr>
            <a:spLocks noChangeShapeType="1"/>
          </p:cNvSpPr>
          <p:nvPr/>
        </p:nvSpPr>
        <p:spPr bwMode="auto">
          <a:xfrm flipV="1">
            <a:off x="1887538" y="6035675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145" name="Oval 614"/>
          <p:cNvSpPr>
            <a:spLocks noChangeArrowheads="1"/>
          </p:cNvSpPr>
          <p:nvPr/>
        </p:nvSpPr>
        <p:spPr bwMode="auto">
          <a:xfrm>
            <a:off x="1852613" y="521652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6" name="Rectangle 619"/>
          <p:cNvSpPr>
            <a:spLocks noChangeArrowheads="1"/>
          </p:cNvSpPr>
          <p:nvPr/>
        </p:nvSpPr>
        <p:spPr bwMode="auto">
          <a:xfrm>
            <a:off x="2663825" y="5621338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7" name="Rectangle 620"/>
          <p:cNvSpPr>
            <a:spLocks noChangeArrowheads="1"/>
          </p:cNvSpPr>
          <p:nvPr/>
        </p:nvSpPr>
        <p:spPr bwMode="auto">
          <a:xfrm>
            <a:off x="2663825" y="5900738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PTE</a:t>
            </a:r>
          </a:p>
        </p:txBody>
      </p:sp>
      <p:sp>
        <p:nvSpPr>
          <p:cNvPr id="148" name="Line 621"/>
          <p:cNvSpPr>
            <a:spLocks noChangeShapeType="1"/>
          </p:cNvSpPr>
          <p:nvPr/>
        </p:nvSpPr>
        <p:spPr bwMode="auto">
          <a:xfrm>
            <a:off x="2525713" y="5249863"/>
            <a:ext cx="0" cy="788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9" name="Line 622"/>
          <p:cNvSpPr>
            <a:spLocks noChangeShapeType="1"/>
          </p:cNvSpPr>
          <p:nvPr/>
        </p:nvSpPr>
        <p:spPr bwMode="auto">
          <a:xfrm flipV="1">
            <a:off x="2525713" y="6035675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150" name="Oval 623"/>
          <p:cNvSpPr>
            <a:spLocks noChangeArrowheads="1"/>
          </p:cNvSpPr>
          <p:nvPr/>
        </p:nvSpPr>
        <p:spPr bwMode="auto">
          <a:xfrm>
            <a:off x="2490788" y="5211763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1" name="Line 626"/>
          <p:cNvSpPr>
            <a:spLocks noChangeShapeType="1"/>
          </p:cNvSpPr>
          <p:nvPr/>
        </p:nvSpPr>
        <p:spPr bwMode="auto">
          <a:xfrm>
            <a:off x="6016625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2" name="Line 627"/>
          <p:cNvSpPr>
            <a:spLocks noChangeShapeType="1"/>
          </p:cNvSpPr>
          <p:nvPr/>
        </p:nvSpPr>
        <p:spPr bwMode="auto">
          <a:xfrm>
            <a:off x="6540500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3" name="Line 628"/>
          <p:cNvSpPr>
            <a:spLocks noChangeShapeType="1"/>
          </p:cNvSpPr>
          <p:nvPr/>
        </p:nvSpPr>
        <p:spPr bwMode="auto">
          <a:xfrm>
            <a:off x="7064375" y="3429000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4" name="Line 629"/>
          <p:cNvSpPr>
            <a:spLocks noChangeShapeType="1"/>
          </p:cNvSpPr>
          <p:nvPr/>
        </p:nvSpPr>
        <p:spPr bwMode="auto">
          <a:xfrm>
            <a:off x="7616825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5" name="Line 631"/>
          <p:cNvSpPr>
            <a:spLocks noChangeShapeType="1"/>
          </p:cNvSpPr>
          <p:nvPr/>
        </p:nvSpPr>
        <p:spPr bwMode="auto">
          <a:xfrm>
            <a:off x="6019800" y="4114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6" name="Line 632"/>
          <p:cNvSpPr>
            <a:spLocks noChangeShapeType="1"/>
          </p:cNvSpPr>
          <p:nvPr/>
        </p:nvSpPr>
        <p:spPr bwMode="auto">
          <a:xfrm>
            <a:off x="6550025" y="4119563"/>
            <a:ext cx="0" cy="147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7" name="Line 633"/>
          <p:cNvSpPr>
            <a:spLocks noChangeShapeType="1"/>
          </p:cNvSpPr>
          <p:nvPr/>
        </p:nvSpPr>
        <p:spPr bwMode="auto">
          <a:xfrm>
            <a:off x="7086600" y="4117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8" name="Line 634"/>
          <p:cNvSpPr>
            <a:spLocks noChangeShapeType="1"/>
          </p:cNvSpPr>
          <p:nvPr/>
        </p:nvSpPr>
        <p:spPr bwMode="auto">
          <a:xfrm>
            <a:off x="7616825" y="4117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9" name="Line 635"/>
          <p:cNvSpPr>
            <a:spLocks noChangeShapeType="1"/>
          </p:cNvSpPr>
          <p:nvPr/>
        </p:nvSpPr>
        <p:spPr bwMode="auto">
          <a:xfrm flipV="1">
            <a:off x="6162675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60" name="Line 636"/>
          <p:cNvSpPr>
            <a:spLocks noChangeShapeType="1"/>
          </p:cNvSpPr>
          <p:nvPr/>
        </p:nvSpPr>
        <p:spPr bwMode="auto">
          <a:xfrm flipV="1">
            <a:off x="6683375" y="4268788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61" name="Line 637"/>
          <p:cNvSpPr>
            <a:spLocks noChangeShapeType="1"/>
          </p:cNvSpPr>
          <p:nvPr/>
        </p:nvSpPr>
        <p:spPr bwMode="auto">
          <a:xfrm flipV="1">
            <a:off x="7223125" y="426085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62" name="Line 638"/>
          <p:cNvSpPr>
            <a:spLocks noChangeShapeType="1"/>
          </p:cNvSpPr>
          <p:nvPr/>
        </p:nvSpPr>
        <p:spPr bwMode="auto">
          <a:xfrm flipV="1">
            <a:off x="7759700" y="4270375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63" name="Line 639"/>
          <p:cNvSpPr>
            <a:spLocks noChangeShapeType="1"/>
          </p:cNvSpPr>
          <p:nvPr/>
        </p:nvSpPr>
        <p:spPr bwMode="auto">
          <a:xfrm>
            <a:off x="536575" y="5626100"/>
            <a:ext cx="234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grpSp>
        <p:nvGrpSpPr>
          <p:cNvPr id="164" name="Group 642"/>
          <p:cNvGrpSpPr>
            <a:grpSpLocks/>
          </p:cNvGrpSpPr>
          <p:nvPr/>
        </p:nvGrpSpPr>
        <p:grpSpPr bwMode="auto">
          <a:xfrm>
            <a:off x="1754188" y="5627688"/>
            <a:ext cx="276225" cy="450850"/>
            <a:chOff x="739" y="2900"/>
            <a:chExt cx="174" cy="284"/>
          </a:xfrm>
        </p:grpSpPr>
        <p:sp>
          <p:nvSpPr>
            <p:cNvPr id="165" name="Line 643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66" name="Line 644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67" name="Line 645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</p:grpSp>
      <p:grpSp>
        <p:nvGrpSpPr>
          <p:cNvPr id="168" name="Group 646"/>
          <p:cNvGrpSpPr>
            <a:grpSpLocks/>
          </p:cNvGrpSpPr>
          <p:nvPr/>
        </p:nvGrpSpPr>
        <p:grpSpPr bwMode="auto">
          <a:xfrm>
            <a:off x="2392363" y="5627688"/>
            <a:ext cx="276225" cy="450850"/>
            <a:chOff x="739" y="2900"/>
            <a:chExt cx="174" cy="284"/>
          </a:xfrm>
        </p:grpSpPr>
        <p:sp>
          <p:nvSpPr>
            <p:cNvPr id="169" name="Line 647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70" name="Line 648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71" name="Line 649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764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93713"/>
            <a:ext cx="73485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Core i7 Level 1-3 Page Table Entries</a:t>
            </a: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828800" y="1524000"/>
            <a:ext cx="2667000" cy="3810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Page table physical base address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4495800" y="1524000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5486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G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5867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PS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6248400" y="1524000"/>
            <a:ext cx="3810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6629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A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7010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CD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7391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WT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7772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U/S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8153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R/W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8534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P=1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457200" y="2712466"/>
            <a:ext cx="6934200" cy="354637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Each entry references a 4K child page table. </a:t>
            </a:r>
            <a:r>
              <a:rPr lang="en-GB" sz="2000" dirty="0">
                <a:latin typeface="Calibri" pitchFamily="34" charset="0"/>
                <a:ea typeface="msgothic" charset="0"/>
                <a:cs typeface="msgothic" charset="0"/>
              </a:rPr>
              <a:t>Significant fields:</a:t>
            </a:r>
            <a:endParaRPr lang="en-GB" sz="2000" b="1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P: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Child page table present in physical memory (1) or not (0).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R/W: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Read-only or read-write access access permission for all reachable pages.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U/S: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user or supervisor (kernel) mode access permission for all reachable pages.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WT: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Write-through or write-back cache policy for the child page table. 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A: 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Reference bit (set by MMU on reads and writes, cleared by software).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PS: 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Page size either 4 KB or 4 MB (defined for Level 1 </a:t>
            </a:r>
            <a:r>
              <a:rPr lang="en-GB" sz="1600" b="0" dirty="0" err="1">
                <a:latin typeface="Calibri" pitchFamily="34" charset="0"/>
                <a:ea typeface="msgothic" charset="0"/>
                <a:cs typeface="msgothic" charset="0"/>
              </a:rPr>
              <a:t>PTEs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 only).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Page table physical base address: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40 most significant bits of physical page table address (forces page tables to be 4KB aligned)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XD: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 Disable or enable instruction fetches from all pages reachable from this PTE.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769124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51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189413" y="1299695"/>
            <a:ext cx="36522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12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4422775" y="1299695"/>
            <a:ext cx="36522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11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5256213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9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5562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8</a:t>
            </a:r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5943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7</a:t>
            </a: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62738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6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66929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5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7086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4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7467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3</a:t>
            </a: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7847013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2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8229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8610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838200" y="1524000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572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XD</a:t>
            </a: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457200" y="2133600"/>
            <a:ext cx="8093075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Available for OS (page table location on disk)</a:t>
            </a: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8550275" y="21336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P=0</a:t>
            </a:r>
          </a:p>
        </p:txBody>
      </p:sp>
      <p:sp>
        <p:nvSpPr>
          <p:cNvPr id="37" name="Text Box 29"/>
          <p:cNvSpPr txBox="1">
            <a:spLocks noChangeArrowheads="1"/>
          </p:cNvSpPr>
          <p:nvPr/>
        </p:nvSpPr>
        <p:spPr bwMode="auto">
          <a:xfrm>
            <a:off x="15240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52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7620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62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1" name="Text Box 29"/>
          <p:cNvSpPr txBox="1">
            <a:spLocks noChangeArrowheads="1"/>
          </p:cNvSpPr>
          <p:nvPr/>
        </p:nvSpPr>
        <p:spPr bwMode="auto">
          <a:xfrm>
            <a:off x="4572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63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065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93713"/>
            <a:ext cx="73485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Core i7 Level 4 Page Table Entries</a:t>
            </a: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828800" y="1524000"/>
            <a:ext cx="2667000" cy="3810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Page physical base address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4495800" y="1524000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5486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G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5867400" y="1524000"/>
            <a:ext cx="3810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6248400" y="1524000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D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6629400" y="1524000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A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7010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CD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7391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WT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7772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U/S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8153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R/W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8534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P=1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457200" y="2712466"/>
            <a:ext cx="6934200" cy="354637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Each entry references a 4K child page. Significant fields: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P: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Child page is present in memory (1) or not (0)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R/W: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Read-only or read-write access permission for child page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U/S: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User or supervisor mode access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WT: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Write-through or write-back cache policy for this page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A: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Reference bit (set by MMU on reads and writes, cleared by software) 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D: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Dirty bit (set by MMU on writes, cleared by software)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Page physical base address: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40 most significant bits of physical page address (forces pages to be 4KB aligned)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XD: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 Disable or enable instruction fetches from this page.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769124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51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189413" y="1299695"/>
            <a:ext cx="36522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12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4422775" y="1299695"/>
            <a:ext cx="36522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11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5256213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9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5562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8</a:t>
            </a:r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5943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7</a:t>
            </a: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62738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6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66929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5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7086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4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7467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3</a:t>
            </a: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7847013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2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8229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8610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838200" y="1524000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572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XD</a:t>
            </a: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457200" y="2133600"/>
            <a:ext cx="8093075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Available for OS (page </a:t>
            </a: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l</a:t>
            </a: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ocation on disk)</a:t>
            </a: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8550275" y="21336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P=0</a:t>
            </a:r>
          </a:p>
        </p:txBody>
      </p:sp>
      <p:sp>
        <p:nvSpPr>
          <p:cNvPr id="37" name="Text Box 29"/>
          <p:cNvSpPr txBox="1">
            <a:spLocks noChangeArrowheads="1"/>
          </p:cNvSpPr>
          <p:nvPr/>
        </p:nvSpPr>
        <p:spPr bwMode="auto">
          <a:xfrm>
            <a:off x="15240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52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7620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62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1" name="Text Box 29"/>
          <p:cNvSpPr txBox="1">
            <a:spLocks noChangeArrowheads="1"/>
          </p:cNvSpPr>
          <p:nvPr/>
        </p:nvSpPr>
        <p:spPr bwMode="auto">
          <a:xfrm>
            <a:off x="4572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63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2270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i7 Page Table Translation</a:t>
            </a:r>
          </a:p>
        </p:txBody>
      </p:sp>
      <p:sp>
        <p:nvSpPr>
          <p:cNvPr id="4" name="Text Box 381"/>
          <p:cNvSpPr txBox="1">
            <a:spLocks noChangeArrowheads="1"/>
          </p:cNvSpPr>
          <p:nvPr/>
        </p:nvSpPr>
        <p:spPr bwMode="auto">
          <a:xfrm>
            <a:off x="158750" y="2967038"/>
            <a:ext cx="469842" cy="287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CR3</a:t>
            </a:r>
          </a:p>
        </p:txBody>
      </p:sp>
      <p:sp>
        <p:nvSpPr>
          <p:cNvPr id="5" name="Text Box 387"/>
          <p:cNvSpPr txBox="1">
            <a:spLocks noChangeArrowheads="1"/>
          </p:cNvSpPr>
          <p:nvPr/>
        </p:nvSpPr>
        <p:spPr bwMode="auto">
          <a:xfrm>
            <a:off x="6407150" y="4224338"/>
            <a:ext cx="824431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Physical 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address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of page</a:t>
            </a:r>
          </a:p>
        </p:txBody>
      </p:sp>
      <p:sp>
        <p:nvSpPr>
          <p:cNvPr id="6" name="Text Box 388"/>
          <p:cNvSpPr txBox="1">
            <a:spLocks noChangeArrowheads="1"/>
          </p:cNvSpPr>
          <p:nvPr/>
        </p:nvSpPr>
        <p:spPr bwMode="auto">
          <a:xfrm>
            <a:off x="53975" y="3181350"/>
            <a:ext cx="824431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Physical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address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of L1 PT</a:t>
            </a:r>
          </a:p>
        </p:txBody>
      </p:sp>
      <p:sp>
        <p:nvSpPr>
          <p:cNvPr id="7" name="Text Box 394"/>
          <p:cNvSpPr txBox="1">
            <a:spLocks noChangeAspect="1" noChangeArrowheads="1"/>
          </p:cNvSpPr>
          <p:nvPr/>
        </p:nvSpPr>
        <p:spPr bwMode="auto">
          <a:xfrm>
            <a:off x="2901801" y="1295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8" name="Rectangle 395"/>
          <p:cNvSpPr>
            <a:spLocks noChangeAspect="1" noChangeArrowheads="1"/>
          </p:cNvSpPr>
          <p:nvPr/>
        </p:nvSpPr>
        <p:spPr bwMode="auto">
          <a:xfrm>
            <a:off x="6142038" y="1525588"/>
            <a:ext cx="1843087" cy="27305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VPO</a:t>
            </a:r>
          </a:p>
        </p:txBody>
      </p:sp>
      <p:sp>
        <p:nvSpPr>
          <p:cNvPr id="9" name="Text Box 396"/>
          <p:cNvSpPr txBox="1">
            <a:spLocks noChangeAspect="1" noChangeArrowheads="1"/>
          </p:cNvSpPr>
          <p:nvPr/>
        </p:nvSpPr>
        <p:spPr bwMode="auto">
          <a:xfrm>
            <a:off x="5454501" y="1304925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10" name="Text Box 397"/>
          <p:cNvSpPr txBox="1">
            <a:spLocks noChangeAspect="1" noChangeArrowheads="1"/>
          </p:cNvSpPr>
          <p:nvPr/>
        </p:nvSpPr>
        <p:spPr bwMode="auto">
          <a:xfrm>
            <a:off x="6878339" y="1304925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11" name="Text Box 399"/>
          <p:cNvSpPr txBox="1">
            <a:spLocks noChangeAspect="1" noChangeArrowheads="1"/>
          </p:cNvSpPr>
          <p:nvPr/>
        </p:nvSpPr>
        <p:spPr bwMode="auto">
          <a:xfrm>
            <a:off x="8053388" y="1306513"/>
            <a:ext cx="926535" cy="67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tx2"/>
                </a:solidFill>
                <a:latin typeface="+mn-lt"/>
              </a:rPr>
              <a:t>Virtual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tx2"/>
                </a:solidFill>
                <a:latin typeface="+mn-lt"/>
              </a:rPr>
              <a:t>address</a:t>
            </a:r>
          </a:p>
        </p:txBody>
      </p:sp>
      <p:sp>
        <p:nvSpPr>
          <p:cNvPr id="12" name="Line 403"/>
          <p:cNvSpPr>
            <a:spLocks noChangeShapeType="1"/>
          </p:cNvSpPr>
          <p:nvPr/>
        </p:nvSpPr>
        <p:spPr bwMode="auto">
          <a:xfrm>
            <a:off x="6102350" y="3944938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3" name="Line 404"/>
          <p:cNvSpPr>
            <a:spLocks noChangeShapeType="1"/>
          </p:cNvSpPr>
          <p:nvPr/>
        </p:nvSpPr>
        <p:spPr bwMode="auto">
          <a:xfrm>
            <a:off x="6407150" y="3944938"/>
            <a:ext cx="0" cy="1839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Line 406"/>
          <p:cNvSpPr>
            <a:spLocks noChangeShapeType="1"/>
          </p:cNvSpPr>
          <p:nvPr/>
        </p:nvSpPr>
        <p:spPr bwMode="auto">
          <a:xfrm>
            <a:off x="5113338" y="3970338"/>
            <a:ext cx="2651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5" name="Rectangle 382"/>
          <p:cNvSpPr>
            <a:spLocks noChangeArrowheads="1"/>
          </p:cNvSpPr>
          <p:nvPr/>
        </p:nvSpPr>
        <p:spPr bwMode="auto">
          <a:xfrm>
            <a:off x="5378450" y="3081338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6" name="Text Box 392"/>
          <p:cNvSpPr txBox="1">
            <a:spLocks noChangeArrowheads="1"/>
          </p:cNvSpPr>
          <p:nvPr/>
        </p:nvSpPr>
        <p:spPr bwMode="auto">
          <a:xfrm>
            <a:off x="5446713" y="2295525"/>
            <a:ext cx="608339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L4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Page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table</a:t>
            </a:r>
          </a:p>
        </p:txBody>
      </p:sp>
      <p:sp>
        <p:nvSpPr>
          <p:cNvPr id="17" name="Rectangle 405"/>
          <p:cNvSpPr>
            <a:spLocks noChangeArrowheads="1"/>
          </p:cNvSpPr>
          <p:nvPr/>
        </p:nvSpPr>
        <p:spPr bwMode="auto">
          <a:xfrm>
            <a:off x="5381625" y="3843338"/>
            <a:ext cx="758825" cy="2286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L4 PTE</a:t>
            </a:r>
          </a:p>
        </p:txBody>
      </p:sp>
      <p:sp>
        <p:nvSpPr>
          <p:cNvPr id="18" name="Line 407"/>
          <p:cNvSpPr>
            <a:spLocks noChangeShapeType="1"/>
          </p:cNvSpPr>
          <p:nvPr/>
        </p:nvSpPr>
        <p:spPr bwMode="auto">
          <a:xfrm>
            <a:off x="5113338" y="1798638"/>
            <a:ext cx="7937" cy="2168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9" name="Line 408"/>
          <p:cNvSpPr>
            <a:spLocks noChangeShapeType="1"/>
          </p:cNvSpPr>
          <p:nvPr/>
        </p:nvSpPr>
        <p:spPr bwMode="auto">
          <a:xfrm>
            <a:off x="7639050" y="1798638"/>
            <a:ext cx="0" cy="4437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0" name="Rectangle 409"/>
          <p:cNvSpPr>
            <a:spLocks noChangeAspect="1" noChangeArrowheads="1"/>
          </p:cNvSpPr>
          <p:nvPr/>
        </p:nvSpPr>
        <p:spPr bwMode="auto">
          <a:xfrm>
            <a:off x="1589088" y="6235700"/>
            <a:ext cx="4495800" cy="287338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PPN</a:t>
            </a:r>
          </a:p>
        </p:txBody>
      </p:sp>
      <p:sp>
        <p:nvSpPr>
          <p:cNvPr id="21" name="Rectangle 410"/>
          <p:cNvSpPr>
            <a:spLocks noChangeAspect="1" noChangeArrowheads="1"/>
          </p:cNvSpPr>
          <p:nvPr/>
        </p:nvSpPr>
        <p:spPr bwMode="auto">
          <a:xfrm>
            <a:off x="6084888" y="6235700"/>
            <a:ext cx="1874837" cy="287338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PPO</a:t>
            </a:r>
          </a:p>
        </p:txBody>
      </p:sp>
      <p:sp>
        <p:nvSpPr>
          <p:cNvPr id="22" name="Text Box 411"/>
          <p:cNvSpPr txBox="1">
            <a:spLocks noChangeAspect="1" noChangeArrowheads="1"/>
          </p:cNvSpPr>
          <p:nvPr/>
        </p:nvSpPr>
        <p:spPr bwMode="auto">
          <a:xfrm>
            <a:off x="3665239" y="602615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23" name="Text Box 412"/>
          <p:cNvSpPr txBox="1">
            <a:spLocks noChangeAspect="1" noChangeArrowheads="1"/>
          </p:cNvSpPr>
          <p:nvPr/>
        </p:nvSpPr>
        <p:spPr bwMode="auto">
          <a:xfrm>
            <a:off x="6852939" y="602615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24" name="Text Box 413"/>
          <p:cNvSpPr txBox="1">
            <a:spLocks noChangeAspect="1" noChangeArrowheads="1"/>
          </p:cNvSpPr>
          <p:nvPr/>
        </p:nvSpPr>
        <p:spPr bwMode="auto">
          <a:xfrm>
            <a:off x="8053388" y="6038850"/>
            <a:ext cx="947825" cy="67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tx2"/>
                </a:solidFill>
                <a:latin typeface="+mn-lt"/>
              </a:rPr>
              <a:t>Physical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tx2"/>
                </a:solidFill>
                <a:latin typeface="+mn-lt"/>
              </a:rPr>
              <a:t>address</a:t>
            </a:r>
          </a:p>
        </p:txBody>
      </p:sp>
      <p:sp>
        <p:nvSpPr>
          <p:cNvPr id="25" name="Line 414"/>
          <p:cNvSpPr>
            <a:spLocks noChangeShapeType="1"/>
          </p:cNvSpPr>
          <p:nvPr/>
        </p:nvSpPr>
        <p:spPr bwMode="auto">
          <a:xfrm flipH="1">
            <a:off x="4578350" y="5786438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6" name="Line 415"/>
          <p:cNvSpPr>
            <a:spLocks noChangeShapeType="1"/>
          </p:cNvSpPr>
          <p:nvPr/>
        </p:nvSpPr>
        <p:spPr bwMode="auto">
          <a:xfrm>
            <a:off x="4578350" y="5784850"/>
            <a:ext cx="0" cy="4333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7" name="Text Box 416"/>
          <p:cNvSpPr txBox="1">
            <a:spLocks noChangeArrowheads="1"/>
          </p:cNvSpPr>
          <p:nvPr/>
        </p:nvSpPr>
        <p:spPr bwMode="auto">
          <a:xfrm>
            <a:off x="7842250" y="3373438"/>
            <a:ext cx="1148438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Offset into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physical and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virtual page</a:t>
            </a:r>
          </a:p>
        </p:txBody>
      </p:sp>
      <p:sp>
        <p:nvSpPr>
          <p:cNvPr id="28" name="Rectangle 417"/>
          <p:cNvSpPr>
            <a:spLocks noChangeAspect="1" noChangeArrowheads="1"/>
          </p:cNvSpPr>
          <p:nvPr/>
        </p:nvSpPr>
        <p:spPr bwMode="auto">
          <a:xfrm>
            <a:off x="3586163" y="1519238"/>
            <a:ext cx="1277937" cy="280987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 3</a:t>
            </a:r>
          </a:p>
        </p:txBody>
      </p:sp>
      <p:sp>
        <p:nvSpPr>
          <p:cNvPr id="29" name="Rectangle 418"/>
          <p:cNvSpPr>
            <a:spLocks noChangeAspect="1" noChangeArrowheads="1"/>
          </p:cNvSpPr>
          <p:nvPr/>
        </p:nvSpPr>
        <p:spPr bwMode="auto">
          <a:xfrm>
            <a:off x="4864100" y="1525588"/>
            <a:ext cx="1277938" cy="27305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 4</a:t>
            </a:r>
          </a:p>
        </p:txBody>
      </p:sp>
      <p:sp>
        <p:nvSpPr>
          <p:cNvPr id="30" name="Rectangle 419"/>
          <p:cNvSpPr>
            <a:spLocks noChangeAspect="1" noChangeArrowheads="1"/>
          </p:cNvSpPr>
          <p:nvPr/>
        </p:nvSpPr>
        <p:spPr bwMode="auto">
          <a:xfrm>
            <a:off x="2314575" y="1519238"/>
            <a:ext cx="1277938" cy="280987"/>
          </a:xfrm>
          <a:prstGeom prst="rect">
            <a:avLst/>
          </a:prstGeom>
          <a:solidFill>
            <a:srgbClr val="DBF2DA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 2</a:t>
            </a:r>
          </a:p>
        </p:txBody>
      </p:sp>
      <p:sp>
        <p:nvSpPr>
          <p:cNvPr id="31" name="Rectangle 420"/>
          <p:cNvSpPr>
            <a:spLocks noChangeAspect="1" noChangeArrowheads="1"/>
          </p:cNvSpPr>
          <p:nvPr/>
        </p:nvSpPr>
        <p:spPr bwMode="auto">
          <a:xfrm>
            <a:off x="1036638" y="1517650"/>
            <a:ext cx="1277937" cy="280988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 1</a:t>
            </a:r>
          </a:p>
        </p:txBody>
      </p:sp>
      <p:sp>
        <p:nvSpPr>
          <p:cNvPr id="32" name="Line 430"/>
          <p:cNvSpPr>
            <a:spLocks noChangeShapeType="1"/>
          </p:cNvSpPr>
          <p:nvPr/>
        </p:nvSpPr>
        <p:spPr bwMode="auto">
          <a:xfrm>
            <a:off x="4841875" y="3967163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3" name="Line 431"/>
          <p:cNvSpPr>
            <a:spLocks noChangeShapeType="1"/>
          </p:cNvSpPr>
          <p:nvPr/>
        </p:nvSpPr>
        <p:spPr bwMode="auto">
          <a:xfrm>
            <a:off x="5021263" y="3086100"/>
            <a:ext cx="9525" cy="881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4" name="Line 432"/>
          <p:cNvSpPr>
            <a:spLocks noChangeShapeType="1"/>
          </p:cNvSpPr>
          <p:nvPr/>
        </p:nvSpPr>
        <p:spPr bwMode="auto">
          <a:xfrm>
            <a:off x="5030788" y="3086100"/>
            <a:ext cx="344487" cy="4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5" name="Rectangle 435"/>
          <p:cNvSpPr>
            <a:spLocks noChangeArrowheads="1"/>
          </p:cNvSpPr>
          <p:nvPr/>
        </p:nvSpPr>
        <p:spPr bwMode="auto">
          <a:xfrm>
            <a:off x="4102100" y="3090863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6" name="Text Box 437"/>
          <p:cNvSpPr txBox="1">
            <a:spLocks noChangeArrowheads="1"/>
          </p:cNvSpPr>
          <p:nvPr/>
        </p:nvSpPr>
        <p:spPr bwMode="auto">
          <a:xfrm>
            <a:off x="3916363" y="2295525"/>
            <a:ext cx="1148087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L3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Page middle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directory</a:t>
            </a:r>
          </a:p>
        </p:txBody>
      </p:sp>
      <p:sp>
        <p:nvSpPr>
          <p:cNvPr id="37" name="Rectangle 438"/>
          <p:cNvSpPr>
            <a:spLocks noChangeArrowheads="1"/>
          </p:cNvSpPr>
          <p:nvPr/>
        </p:nvSpPr>
        <p:spPr bwMode="auto">
          <a:xfrm>
            <a:off x="4105275" y="3852863"/>
            <a:ext cx="758825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L3 PTE</a:t>
            </a:r>
          </a:p>
        </p:txBody>
      </p:sp>
      <p:sp>
        <p:nvSpPr>
          <p:cNvPr id="38" name="Line 439"/>
          <p:cNvSpPr>
            <a:spLocks noChangeShapeType="1"/>
          </p:cNvSpPr>
          <p:nvPr/>
        </p:nvSpPr>
        <p:spPr bwMode="auto">
          <a:xfrm flipH="1">
            <a:off x="3833813" y="1808163"/>
            <a:ext cx="11112" cy="2159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9" name="Line 440"/>
          <p:cNvSpPr>
            <a:spLocks noChangeShapeType="1"/>
          </p:cNvSpPr>
          <p:nvPr/>
        </p:nvSpPr>
        <p:spPr bwMode="auto">
          <a:xfrm>
            <a:off x="3844925" y="3973513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0" name="Line 444"/>
          <p:cNvSpPr>
            <a:spLocks noChangeShapeType="1"/>
          </p:cNvSpPr>
          <p:nvPr/>
        </p:nvSpPr>
        <p:spPr bwMode="auto">
          <a:xfrm>
            <a:off x="3546475" y="3971925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1" name="Line 445"/>
          <p:cNvSpPr>
            <a:spLocks noChangeShapeType="1"/>
          </p:cNvSpPr>
          <p:nvPr/>
        </p:nvSpPr>
        <p:spPr bwMode="auto">
          <a:xfrm>
            <a:off x="3727450" y="3089275"/>
            <a:ext cx="0" cy="881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2" name="Rectangle 447"/>
          <p:cNvSpPr>
            <a:spLocks noChangeArrowheads="1"/>
          </p:cNvSpPr>
          <p:nvPr/>
        </p:nvSpPr>
        <p:spPr bwMode="auto">
          <a:xfrm>
            <a:off x="2806700" y="3090863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3" name="Text Box 449"/>
          <p:cNvSpPr txBox="1">
            <a:spLocks noChangeArrowheads="1"/>
          </p:cNvSpPr>
          <p:nvPr/>
        </p:nvSpPr>
        <p:spPr bwMode="auto">
          <a:xfrm>
            <a:off x="2654300" y="2295525"/>
            <a:ext cx="1073485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L2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Page upper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directory</a:t>
            </a:r>
          </a:p>
        </p:txBody>
      </p:sp>
      <p:sp>
        <p:nvSpPr>
          <p:cNvPr id="44" name="Rectangle 450"/>
          <p:cNvSpPr>
            <a:spLocks noChangeArrowheads="1"/>
          </p:cNvSpPr>
          <p:nvPr/>
        </p:nvSpPr>
        <p:spPr bwMode="auto">
          <a:xfrm>
            <a:off x="2809875" y="3852863"/>
            <a:ext cx="758825" cy="228600"/>
          </a:xfrm>
          <a:prstGeom prst="rect">
            <a:avLst/>
          </a:prstGeom>
          <a:solidFill>
            <a:srgbClr val="DBF2DA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L2 PTE</a:t>
            </a:r>
          </a:p>
        </p:txBody>
      </p:sp>
      <p:sp>
        <p:nvSpPr>
          <p:cNvPr id="45" name="Line 451"/>
          <p:cNvSpPr>
            <a:spLocks noChangeShapeType="1"/>
          </p:cNvSpPr>
          <p:nvPr/>
        </p:nvSpPr>
        <p:spPr bwMode="auto">
          <a:xfrm>
            <a:off x="2549525" y="1808163"/>
            <a:ext cx="0" cy="2147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6" name="Line 452"/>
          <p:cNvSpPr>
            <a:spLocks noChangeShapeType="1"/>
          </p:cNvSpPr>
          <p:nvPr/>
        </p:nvSpPr>
        <p:spPr bwMode="auto">
          <a:xfrm>
            <a:off x="2549525" y="3967163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7" name="Line 456"/>
          <p:cNvSpPr>
            <a:spLocks noChangeShapeType="1"/>
          </p:cNvSpPr>
          <p:nvPr/>
        </p:nvSpPr>
        <p:spPr bwMode="auto">
          <a:xfrm>
            <a:off x="2270125" y="3967163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8" name="Rectangle 459"/>
          <p:cNvSpPr>
            <a:spLocks noChangeArrowheads="1"/>
          </p:cNvSpPr>
          <p:nvPr/>
        </p:nvSpPr>
        <p:spPr bwMode="auto">
          <a:xfrm>
            <a:off x="1530350" y="3090863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9" name="Text Box 461"/>
          <p:cNvSpPr txBox="1">
            <a:spLocks noChangeArrowheads="1"/>
          </p:cNvSpPr>
          <p:nvPr/>
        </p:nvSpPr>
        <p:spPr bwMode="auto">
          <a:xfrm>
            <a:off x="1357313" y="2295525"/>
            <a:ext cx="1105044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L1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Page global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directory</a:t>
            </a:r>
            <a:endParaRPr lang="en-US" sz="14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0" name="Rectangle 462"/>
          <p:cNvSpPr>
            <a:spLocks noChangeArrowheads="1"/>
          </p:cNvSpPr>
          <p:nvPr/>
        </p:nvSpPr>
        <p:spPr bwMode="auto">
          <a:xfrm>
            <a:off x="1533525" y="3852863"/>
            <a:ext cx="758825" cy="2286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L1 PTE</a:t>
            </a:r>
          </a:p>
        </p:txBody>
      </p:sp>
      <p:sp>
        <p:nvSpPr>
          <p:cNvPr id="51" name="Line 463"/>
          <p:cNvSpPr>
            <a:spLocks noChangeShapeType="1"/>
          </p:cNvSpPr>
          <p:nvPr/>
        </p:nvSpPr>
        <p:spPr bwMode="auto">
          <a:xfrm flipH="1">
            <a:off x="1260475" y="1808163"/>
            <a:ext cx="12700" cy="2147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2" name="Line 464"/>
          <p:cNvSpPr>
            <a:spLocks noChangeShapeType="1"/>
          </p:cNvSpPr>
          <p:nvPr/>
        </p:nvSpPr>
        <p:spPr bwMode="auto">
          <a:xfrm>
            <a:off x="1273175" y="3960813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3" name="Text Box 465"/>
          <p:cNvSpPr txBox="1">
            <a:spLocks noChangeAspect="1" noChangeArrowheads="1"/>
          </p:cNvSpPr>
          <p:nvPr/>
        </p:nvSpPr>
        <p:spPr bwMode="auto">
          <a:xfrm>
            <a:off x="4159101" y="1295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54" name="Text Box 466"/>
          <p:cNvSpPr txBox="1">
            <a:spLocks noChangeAspect="1" noChangeArrowheads="1"/>
          </p:cNvSpPr>
          <p:nvPr/>
        </p:nvSpPr>
        <p:spPr bwMode="auto">
          <a:xfrm>
            <a:off x="1568301" y="1295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55" name="Line 467"/>
          <p:cNvSpPr>
            <a:spLocks noChangeShapeType="1"/>
          </p:cNvSpPr>
          <p:nvPr/>
        </p:nvSpPr>
        <p:spPr bwMode="auto">
          <a:xfrm flipV="1">
            <a:off x="695325" y="3106738"/>
            <a:ext cx="822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6" name="Text Box 471"/>
          <p:cNvSpPr txBox="1">
            <a:spLocks noChangeAspect="1" noChangeArrowheads="1"/>
          </p:cNvSpPr>
          <p:nvPr/>
        </p:nvSpPr>
        <p:spPr bwMode="auto">
          <a:xfrm>
            <a:off x="936326" y="2895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57" name="Text Box 473"/>
          <p:cNvSpPr txBox="1">
            <a:spLocks noChangeArrowheads="1"/>
          </p:cNvSpPr>
          <p:nvPr/>
        </p:nvSpPr>
        <p:spPr bwMode="auto">
          <a:xfrm>
            <a:off x="987425" y="2997200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58" name="Line 457"/>
          <p:cNvSpPr>
            <a:spLocks noChangeShapeType="1"/>
          </p:cNvSpPr>
          <p:nvPr/>
        </p:nvSpPr>
        <p:spPr bwMode="auto">
          <a:xfrm>
            <a:off x="2449513" y="3089275"/>
            <a:ext cx="0" cy="877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9" name="Line 458"/>
          <p:cNvSpPr>
            <a:spLocks noChangeShapeType="1"/>
          </p:cNvSpPr>
          <p:nvPr/>
        </p:nvSpPr>
        <p:spPr bwMode="auto">
          <a:xfrm>
            <a:off x="2459038" y="3090863"/>
            <a:ext cx="344487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0" name="Text Box 476"/>
          <p:cNvSpPr txBox="1">
            <a:spLocks noChangeAspect="1" noChangeArrowheads="1"/>
          </p:cNvSpPr>
          <p:nvPr/>
        </p:nvSpPr>
        <p:spPr bwMode="auto">
          <a:xfrm>
            <a:off x="2466676" y="2859088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61" name="Text Box 477"/>
          <p:cNvSpPr txBox="1">
            <a:spLocks noChangeArrowheads="1"/>
          </p:cNvSpPr>
          <p:nvPr/>
        </p:nvSpPr>
        <p:spPr bwMode="auto">
          <a:xfrm>
            <a:off x="2525713" y="2960688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62" name="Line 446"/>
          <p:cNvSpPr>
            <a:spLocks noChangeShapeType="1"/>
          </p:cNvSpPr>
          <p:nvPr/>
        </p:nvSpPr>
        <p:spPr bwMode="auto">
          <a:xfrm>
            <a:off x="3725863" y="3089275"/>
            <a:ext cx="392112" cy="1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3" name="Text Box 479"/>
          <p:cNvSpPr txBox="1">
            <a:spLocks noChangeAspect="1" noChangeArrowheads="1"/>
          </p:cNvSpPr>
          <p:nvPr/>
        </p:nvSpPr>
        <p:spPr bwMode="auto">
          <a:xfrm>
            <a:off x="3787476" y="2878138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64" name="Text Box 480"/>
          <p:cNvSpPr txBox="1">
            <a:spLocks noChangeArrowheads="1"/>
          </p:cNvSpPr>
          <p:nvPr/>
        </p:nvSpPr>
        <p:spPr bwMode="auto">
          <a:xfrm>
            <a:off x="3833813" y="2979738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65" name="Text Box 482"/>
          <p:cNvSpPr txBox="1">
            <a:spLocks noChangeAspect="1" noChangeArrowheads="1"/>
          </p:cNvSpPr>
          <p:nvPr/>
        </p:nvSpPr>
        <p:spPr bwMode="auto">
          <a:xfrm>
            <a:off x="5062239" y="2854325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66" name="Text Box 483"/>
          <p:cNvSpPr txBox="1">
            <a:spLocks noChangeArrowheads="1"/>
          </p:cNvSpPr>
          <p:nvPr/>
        </p:nvSpPr>
        <p:spPr bwMode="auto">
          <a:xfrm>
            <a:off x="5121275" y="2955925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67" name="Text Box 485"/>
          <p:cNvSpPr txBox="1">
            <a:spLocks noChangeAspect="1" noChangeArrowheads="1"/>
          </p:cNvSpPr>
          <p:nvPr/>
        </p:nvSpPr>
        <p:spPr bwMode="auto">
          <a:xfrm>
            <a:off x="5208289" y="5559425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68" name="Text Box 486"/>
          <p:cNvSpPr txBox="1">
            <a:spLocks noChangeArrowheads="1"/>
          </p:cNvSpPr>
          <p:nvPr/>
        </p:nvSpPr>
        <p:spPr bwMode="auto">
          <a:xfrm>
            <a:off x="5267325" y="5648325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69" name="Text Box 488"/>
          <p:cNvSpPr txBox="1">
            <a:spLocks noChangeAspect="1" noChangeArrowheads="1"/>
          </p:cNvSpPr>
          <p:nvPr/>
        </p:nvSpPr>
        <p:spPr bwMode="auto">
          <a:xfrm>
            <a:off x="7587951" y="3667125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70" name="Text Box 489"/>
          <p:cNvSpPr txBox="1">
            <a:spLocks noChangeArrowheads="1"/>
          </p:cNvSpPr>
          <p:nvPr/>
        </p:nvSpPr>
        <p:spPr bwMode="auto">
          <a:xfrm>
            <a:off x="7527925" y="3656013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79" name="Text Box 505"/>
          <p:cNvSpPr txBox="1">
            <a:spLocks noChangeArrowheads="1"/>
          </p:cNvSpPr>
          <p:nvPr/>
        </p:nvSpPr>
        <p:spPr bwMode="auto">
          <a:xfrm>
            <a:off x="1419225" y="4689475"/>
            <a:ext cx="1019175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 algn="ctr"/>
            <a:r>
              <a:rPr lang="en-US" sz="1400" i="1">
                <a:latin typeface="+mn-lt"/>
              </a:rPr>
              <a:t>512 GB </a:t>
            </a:r>
          </a:p>
          <a:p>
            <a:pPr marL="457200" indent="-457200" algn="ctr"/>
            <a:r>
              <a:rPr lang="en-US" sz="1400" i="1">
                <a:latin typeface="+mn-lt"/>
              </a:rPr>
              <a:t>region </a:t>
            </a:r>
          </a:p>
          <a:p>
            <a:pPr marL="457200" indent="-457200" algn="ctr"/>
            <a:r>
              <a:rPr lang="en-US" sz="1400" i="1">
                <a:latin typeface="+mn-lt"/>
              </a:rPr>
              <a:t>per entry</a:t>
            </a:r>
          </a:p>
        </p:txBody>
      </p:sp>
      <p:sp>
        <p:nvSpPr>
          <p:cNvPr id="80" name="Text Box 507"/>
          <p:cNvSpPr txBox="1">
            <a:spLocks noChangeArrowheads="1"/>
          </p:cNvSpPr>
          <p:nvPr/>
        </p:nvSpPr>
        <p:spPr bwMode="auto">
          <a:xfrm>
            <a:off x="2649538" y="4689475"/>
            <a:ext cx="1019175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 algn="ctr"/>
            <a:r>
              <a:rPr lang="en-US" sz="1400" i="1">
                <a:latin typeface="+mn-lt"/>
              </a:rPr>
              <a:t>1 GB </a:t>
            </a:r>
          </a:p>
          <a:p>
            <a:pPr marL="457200" indent="-457200" algn="ctr"/>
            <a:r>
              <a:rPr lang="en-US" sz="1400" i="1">
                <a:latin typeface="+mn-lt"/>
              </a:rPr>
              <a:t>region </a:t>
            </a:r>
          </a:p>
          <a:p>
            <a:pPr marL="457200" indent="-457200" algn="ctr"/>
            <a:r>
              <a:rPr lang="en-US" sz="1400" i="1">
                <a:latin typeface="+mn-lt"/>
              </a:rPr>
              <a:t>per entry</a:t>
            </a:r>
          </a:p>
        </p:txBody>
      </p:sp>
      <p:sp>
        <p:nvSpPr>
          <p:cNvPr id="81" name="Text Box 508"/>
          <p:cNvSpPr txBox="1">
            <a:spLocks noChangeArrowheads="1"/>
          </p:cNvSpPr>
          <p:nvPr/>
        </p:nvSpPr>
        <p:spPr bwMode="auto">
          <a:xfrm>
            <a:off x="3998913" y="4689475"/>
            <a:ext cx="1019175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 algn="ctr"/>
            <a:r>
              <a:rPr lang="en-US" sz="1400" i="1">
                <a:latin typeface="+mn-lt"/>
              </a:rPr>
              <a:t>2 MB </a:t>
            </a:r>
          </a:p>
          <a:p>
            <a:pPr marL="457200" indent="-457200" algn="ctr"/>
            <a:r>
              <a:rPr lang="en-US" sz="1400" i="1">
                <a:latin typeface="+mn-lt"/>
              </a:rPr>
              <a:t>region </a:t>
            </a:r>
          </a:p>
          <a:p>
            <a:pPr marL="457200" indent="-457200" algn="ctr"/>
            <a:r>
              <a:rPr lang="en-US" sz="1400" i="1">
                <a:latin typeface="+mn-lt"/>
              </a:rPr>
              <a:t>per entry</a:t>
            </a:r>
          </a:p>
        </p:txBody>
      </p:sp>
      <p:sp>
        <p:nvSpPr>
          <p:cNvPr id="82" name="Text Box 509"/>
          <p:cNvSpPr txBox="1">
            <a:spLocks noChangeArrowheads="1"/>
          </p:cNvSpPr>
          <p:nvPr/>
        </p:nvSpPr>
        <p:spPr bwMode="auto">
          <a:xfrm>
            <a:off x="5221288" y="4689475"/>
            <a:ext cx="1019175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 algn="ctr"/>
            <a:r>
              <a:rPr lang="en-US" sz="1400" i="1">
                <a:latin typeface="+mn-lt"/>
              </a:rPr>
              <a:t>4 KB</a:t>
            </a:r>
          </a:p>
          <a:p>
            <a:pPr marL="457200" indent="-457200" algn="ctr"/>
            <a:r>
              <a:rPr lang="en-US" sz="1400" i="1">
                <a:latin typeface="+mn-lt"/>
              </a:rPr>
              <a:t>region </a:t>
            </a:r>
          </a:p>
          <a:p>
            <a:pPr marL="457200" indent="-457200" algn="ctr"/>
            <a:r>
              <a:rPr lang="en-US" sz="1400" i="1">
                <a:latin typeface="+mn-lt"/>
              </a:rPr>
              <a:t>per entry</a:t>
            </a:r>
          </a:p>
        </p:txBody>
      </p:sp>
    </p:spTree>
    <p:extLst>
      <p:ext uri="{BB962C8B-B14F-4D97-AF65-F5344CB8AC3E}">
        <p14:creationId xmlns:p14="http://schemas.microsoft.com/office/powerpoint/2010/main" val="13889185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57200"/>
            <a:ext cx="7924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Cute Trick for Speeding Up L1 Access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4289425"/>
            <a:ext cx="8548687" cy="2339975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Observation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Bits that determine CI identical in virtual and physical address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index into cache while address translation taking place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Generally we hit in TLB, so PPN bits (CT bits) available next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“Virtually indexed, physically tagged”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Cache carefully sized to make this possible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76200" y="1958930"/>
            <a:ext cx="2500313" cy="898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Physical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address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(PA)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874735" y="1980406"/>
            <a:ext cx="1066800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CT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4246335" y="1980406"/>
            <a:ext cx="304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CO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3181123" y="1751806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40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4271735" y="1751806"/>
            <a:ext cx="273480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6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941535" y="1980406"/>
            <a:ext cx="304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CI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3941535" y="1751806"/>
            <a:ext cx="273480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6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1503135" y="3422868"/>
            <a:ext cx="1073378" cy="898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Virtual</a:t>
            </a:r>
            <a:r>
              <a:rPr lang="en-GB" sz="16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address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(VA)</a:t>
            </a: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2874735" y="3885406"/>
            <a:ext cx="1066800" cy="3048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VPN</a:t>
            </a:r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3941535" y="3885406"/>
            <a:ext cx="609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VPO</a:t>
            </a: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3177948" y="4266406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36</a:t>
            </a:r>
          </a:p>
        </p:txBody>
      </p: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3938360" y="4266406"/>
            <a:ext cx="609600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12</a:t>
            </a:r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3941535" y="2590006"/>
            <a:ext cx="609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PPO</a:t>
            </a:r>
          </a:p>
        </p:txBody>
      </p:sp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2874735" y="2590006"/>
            <a:ext cx="1066800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PPN</a:t>
            </a:r>
          </a:p>
        </p:txBody>
      </p:sp>
      <p:sp>
        <p:nvSpPr>
          <p:cNvPr id="26641" name="AutoShape 17"/>
          <p:cNvSpPr>
            <a:spLocks/>
          </p:cNvSpPr>
          <p:nvPr/>
        </p:nvSpPr>
        <p:spPr bwMode="auto">
          <a:xfrm>
            <a:off x="2569935" y="1980406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93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 flipV="1">
            <a:off x="3484335" y="3655218"/>
            <a:ext cx="1588" cy="231775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3" name="AutoShape 19"/>
          <p:cNvSpPr>
            <a:spLocks noChangeArrowheads="1"/>
          </p:cNvSpPr>
          <p:nvPr/>
        </p:nvSpPr>
        <p:spPr bwMode="auto">
          <a:xfrm>
            <a:off x="2798535" y="3123406"/>
            <a:ext cx="1143000" cy="609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19080">
            <a:noFill/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Addr</a:t>
            </a:r>
            <a:r>
              <a:rPr lang="en-GB" sz="16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ess</a:t>
            </a:r>
            <a:endParaRPr lang="en-GB" sz="1600" b="1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Translation</a:t>
            </a:r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 flipV="1">
            <a:off x="3484335" y="2893218"/>
            <a:ext cx="1588" cy="274320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5" name="Line 21"/>
          <p:cNvSpPr>
            <a:spLocks noChangeShapeType="1"/>
          </p:cNvSpPr>
          <p:nvPr/>
        </p:nvSpPr>
        <p:spPr bwMode="auto">
          <a:xfrm flipV="1">
            <a:off x="4246335" y="2893219"/>
            <a:ext cx="1588" cy="993775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4243160" y="3093244"/>
            <a:ext cx="733918" cy="5370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No</a:t>
            </a:r>
          </a:p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Change</a:t>
            </a:r>
          </a:p>
        </p:txBody>
      </p:sp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5236935" y="2590006"/>
            <a:ext cx="2667000" cy="1143000"/>
          </a:xfrm>
          <a:prstGeom prst="rect">
            <a:avLst/>
          </a:prstGeom>
          <a:solidFill>
            <a:srgbClr val="F6F5BD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52" name="Line 28"/>
          <p:cNvSpPr>
            <a:spLocks noChangeShapeType="1"/>
          </p:cNvSpPr>
          <p:nvPr/>
        </p:nvSpPr>
        <p:spPr bwMode="auto">
          <a:xfrm flipV="1">
            <a:off x="4551135" y="3047205"/>
            <a:ext cx="934753" cy="992187"/>
          </a:xfrm>
          <a:prstGeom prst="line">
            <a:avLst/>
          </a:prstGeom>
          <a:noFill/>
          <a:ln w="19080">
            <a:solidFill>
              <a:srgbClr val="000066"/>
            </a:solidFill>
            <a:prstDash val="sysDot"/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3" name="Rectangle 29"/>
          <p:cNvSpPr>
            <a:spLocks noChangeArrowheads="1"/>
          </p:cNvSpPr>
          <p:nvPr/>
        </p:nvSpPr>
        <p:spPr bwMode="auto">
          <a:xfrm>
            <a:off x="4835582" y="3606377"/>
            <a:ext cx="325153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CI</a:t>
            </a:r>
          </a:p>
        </p:txBody>
      </p:sp>
      <p:sp>
        <p:nvSpPr>
          <p:cNvPr id="26658" name="Freeform 34"/>
          <p:cNvSpPr>
            <a:spLocks/>
          </p:cNvSpPr>
          <p:nvPr/>
        </p:nvSpPr>
        <p:spPr bwMode="auto">
          <a:xfrm>
            <a:off x="3636734" y="1523206"/>
            <a:ext cx="1600201" cy="6096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192" y="0"/>
              </a:cxn>
              <a:cxn ang="0">
                <a:pos x="1200" y="0"/>
              </a:cxn>
            </a:cxnLst>
            <a:rect l="0" t="0" r="r" b="b"/>
            <a:pathLst>
              <a:path w="1200" h="240">
                <a:moveTo>
                  <a:pt x="0" y="240"/>
                </a:moveTo>
                <a:lnTo>
                  <a:pt x="192" y="0"/>
                </a:lnTo>
                <a:lnTo>
                  <a:pt x="1200" y="0"/>
                </a:lnTo>
              </a:path>
            </a:pathLst>
          </a:custGeom>
          <a:noFill/>
          <a:ln w="19080">
            <a:solidFill>
              <a:srgbClr val="000066"/>
            </a:solidFill>
            <a:prstDash val="sysDot"/>
            <a:round/>
            <a:headEnd type="oval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075135" y="382087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L1 Cache</a:t>
            </a:r>
          </a:p>
        </p:txBody>
      </p:sp>
      <p:sp>
        <p:nvSpPr>
          <p:cNvPr id="39" name="Rectangle 29"/>
          <p:cNvSpPr>
            <a:spLocks noChangeArrowheads="1"/>
          </p:cNvSpPr>
          <p:nvPr/>
        </p:nvSpPr>
        <p:spPr bwMode="auto">
          <a:xfrm>
            <a:off x="4388558" y="1244177"/>
            <a:ext cx="367281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CT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5485888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5770335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6019288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6303735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6573041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6857488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7106441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7390888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6654" name="Line 30"/>
          <p:cNvSpPr>
            <a:spLocks noChangeShapeType="1"/>
          </p:cNvSpPr>
          <p:nvPr/>
        </p:nvSpPr>
        <p:spPr bwMode="auto">
          <a:xfrm flipV="1">
            <a:off x="5921147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 flipV="1">
            <a:off x="6149747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30"/>
          <p:cNvSpPr>
            <a:spLocks noChangeShapeType="1"/>
          </p:cNvSpPr>
          <p:nvPr/>
        </p:nvSpPr>
        <p:spPr bwMode="auto">
          <a:xfrm flipV="1">
            <a:off x="6454547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30"/>
          <p:cNvSpPr>
            <a:spLocks noChangeShapeType="1"/>
          </p:cNvSpPr>
          <p:nvPr/>
        </p:nvSpPr>
        <p:spPr bwMode="auto">
          <a:xfrm flipV="1">
            <a:off x="5616347" y="1677194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30"/>
          <p:cNvSpPr>
            <a:spLocks noChangeShapeType="1"/>
          </p:cNvSpPr>
          <p:nvPr/>
        </p:nvSpPr>
        <p:spPr bwMode="auto">
          <a:xfrm flipV="1">
            <a:off x="7522935" y="1677194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30"/>
          <p:cNvSpPr>
            <a:spLocks noChangeShapeType="1"/>
          </p:cNvSpPr>
          <p:nvPr/>
        </p:nvSpPr>
        <p:spPr bwMode="auto">
          <a:xfrm flipV="1">
            <a:off x="6684735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 flipV="1">
            <a:off x="6989535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30"/>
          <p:cNvSpPr>
            <a:spLocks noChangeShapeType="1"/>
          </p:cNvSpPr>
          <p:nvPr/>
        </p:nvSpPr>
        <p:spPr bwMode="auto">
          <a:xfrm flipV="1">
            <a:off x="7218135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" name="AutoShape 19"/>
          <p:cNvSpPr>
            <a:spLocks noChangeArrowheads="1"/>
          </p:cNvSpPr>
          <p:nvPr/>
        </p:nvSpPr>
        <p:spPr bwMode="auto">
          <a:xfrm>
            <a:off x="5236935" y="1244178"/>
            <a:ext cx="2667000" cy="432222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19080">
            <a:noFill/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Tag Check</a:t>
            </a:r>
          </a:p>
        </p:txBody>
      </p:sp>
    </p:spTree>
    <p:extLst>
      <p:ext uri="{BB962C8B-B14F-4D97-AF65-F5344CB8AC3E}">
        <p14:creationId xmlns:p14="http://schemas.microsoft.com/office/powerpoint/2010/main" val="4063731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024982" cy="762000"/>
          </a:xfrm>
        </p:spPr>
        <p:txBody>
          <a:bodyPr/>
          <a:lstStyle/>
          <a:p>
            <a:r>
              <a:rPr lang="en-US" dirty="0"/>
              <a:t>Virtual Address Space of a Linux Process</a:t>
            </a:r>
          </a:p>
        </p:txBody>
      </p:sp>
      <p:sp>
        <p:nvSpPr>
          <p:cNvPr id="4" name="Rectangle 379"/>
          <p:cNvSpPr>
            <a:spLocks noChangeAspect="1" noChangeArrowheads="1"/>
          </p:cNvSpPr>
          <p:nvPr/>
        </p:nvSpPr>
        <p:spPr bwMode="auto">
          <a:xfrm>
            <a:off x="3482975" y="2976563"/>
            <a:ext cx="2174875" cy="523875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Kernel code and data</a:t>
            </a:r>
          </a:p>
        </p:txBody>
      </p:sp>
      <p:sp>
        <p:nvSpPr>
          <p:cNvPr id="5" name="Rectangle 380"/>
          <p:cNvSpPr>
            <a:spLocks noChangeAspect="1" noChangeArrowheads="1"/>
          </p:cNvSpPr>
          <p:nvPr/>
        </p:nvSpPr>
        <p:spPr bwMode="auto">
          <a:xfrm>
            <a:off x="3482975" y="4325938"/>
            <a:ext cx="2174875" cy="45561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Memory mapped region </a:t>
            </a:r>
          </a:p>
          <a:p>
            <a:r>
              <a:rPr lang="en-US" sz="1600" dirty="0">
                <a:latin typeface="+mn-lt"/>
              </a:rPr>
              <a:t>for shared libraries</a:t>
            </a:r>
          </a:p>
        </p:txBody>
      </p:sp>
      <p:sp>
        <p:nvSpPr>
          <p:cNvPr id="6" name="Rectangle 381"/>
          <p:cNvSpPr>
            <a:spLocks noChangeAspect="1" noChangeArrowheads="1"/>
          </p:cNvSpPr>
          <p:nvPr/>
        </p:nvSpPr>
        <p:spPr bwMode="auto">
          <a:xfrm>
            <a:off x="3482975" y="4778375"/>
            <a:ext cx="2174875" cy="4921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>
              <a:latin typeface="+mn-lt"/>
            </a:endParaRPr>
          </a:p>
        </p:txBody>
      </p:sp>
      <p:sp>
        <p:nvSpPr>
          <p:cNvPr id="7" name="Rectangle 382"/>
          <p:cNvSpPr>
            <a:spLocks noChangeAspect="1" noChangeArrowheads="1"/>
          </p:cNvSpPr>
          <p:nvPr/>
        </p:nvSpPr>
        <p:spPr bwMode="auto">
          <a:xfrm>
            <a:off x="3482975" y="5273675"/>
            <a:ext cx="2174875" cy="454025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Runtime heap (</a:t>
            </a:r>
            <a:r>
              <a:rPr lang="en-US" sz="1600" dirty="0" err="1">
                <a:latin typeface="+mn-lt"/>
              </a:rPr>
              <a:t>malloc</a:t>
            </a:r>
            <a:r>
              <a:rPr lang="en-US" sz="1600" dirty="0">
                <a:latin typeface="+mn-lt"/>
              </a:rPr>
              <a:t>)</a:t>
            </a:r>
          </a:p>
        </p:txBody>
      </p:sp>
      <p:sp>
        <p:nvSpPr>
          <p:cNvPr id="8" name="Rectangle 383"/>
          <p:cNvSpPr>
            <a:spLocks noChangeAspect="1" noChangeArrowheads="1"/>
          </p:cNvSpPr>
          <p:nvPr/>
        </p:nvSpPr>
        <p:spPr bwMode="auto">
          <a:xfrm>
            <a:off x="3482975" y="3708400"/>
            <a:ext cx="2174875" cy="6159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>
              <a:latin typeface="+mn-lt"/>
            </a:endParaRPr>
          </a:p>
        </p:txBody>
      </p:sp>
      <p:sp>
        <p:nvSpPr>
          <p:cNvPr id="9" name="Rectangle 384"/>
          <p:cNvSpPr>
            <a:spLocks noChangeAspect="1" noChangeArrowheads="1"/>
          </p:cNvSpPr>
          <p:nvPr/>
        </p:nvSpPr>
        <p:spPr bwMode="auto">
          <a:xfrm>
            <a:off x="3482975" y="6235700"/>
            <a:ext cx="2174875" cy="2698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Program text (.text)</a:t>
            </a:r>
          </a:p>
        </p:txBody>
      </p:sp>
      <p:sp>
        <p:nvSpPr>
          <p:cNvPr id="10" name="Rectangle 385"/>
          <p:cNvSpPr>
            <a:spLocks noChangeAspect="1" noChangeArrowheads="1"/>
          </p:cNvSpPr>
          <p:nvPr/>
        </p:nvSpPr>
        <p:spPr bwMode="auto">
          <a:xfrm>
            <a:off x="3482975" y="5976938"/>
            <a:ext cx="2174875" cy="269875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Initialized data (.data)</a:t>
            </a:r>
          </a:p>
        </p:txBody>
      </p:sp>
      <p:sp>
        <p:nvSpPr>
          <p:cNvPr id="11" name="Rectangle 386"/>
          <p:cNvSpPr>
            <a:spLocks noChangeAspect="1" noChangeArrowheads="1"/>
          </p:cNvSpPr>
          <p:nvPr/>
        </p:nvSpPr>
        <p:spPr bwMode="auto">
          <a:xfrm>
            <a:off x="3482975" y="5718175"/>
            <a:ext cx="2174875" cy="268288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Uninitialized data (.</a:t>
            </a:r>
            <a:r>
              <a:rPr lang="en-US" sz="1600" dirty="0" err="1">
                <a:latin typeface="+mn-lt"/>
              </a:rPr>
              <a:t>bss</a:t>
            </a:r>
            <a:r>
              <a:rPr lang="en-US" sz="1600" dirty="0">
                <a:latin typeface="+mn-lt"/>
              </a:rPr>
              <a:t>)</a:t>
            </a:r>
          </a:p>
        </p:txBody>
      </p:sp>
      <p:sp>
        <p:nvSpPr>
          <p:cNvPr id="12" name="Line 387"/>
          <p:cNvSpPr>
            <a:spLocks noChangeAspect="1" noChangeShapeType="1"/>
          </p:cNvSpPr>
          <p:nvPr/>
        </p:nvSpPr>
        <p:spPr bwMode="auto">
          <a:xfrm flipV="1">
            <a:off x="4508500" y="5026025"/>
            <a:ext cx="0" cy="239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Rectangle 388"/>
          <p:cNvSpPr>
            <a:spLocks noChangeAspect="1" noChangeArrowheads="1"/>
          </p:cNvSpPr>
          <p:nvPr/>
        </p:nvSpPr>
        <p:spPr bwMode="auto">
          <a:xfrm>
            <a:off x="3482975" y="3479800"/>
            <a:ext cx="2174875" cy="32488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User stack</a:t>
            </a:r>
          </a:p>
        </p:txBody>
      </p:sp>
      <p:sp>
        <p:nvSpPr>
          <p:cNvPr id="15" name="Line 390"/>
          <p:cNvSpPr>
            <a:spLocks noChangeAspect="1" noChangeShapeType="1"/>
          </p:cNvSpPr>
          <p:nvPr/>
        </p:nvSpPr>
        <p:spPr bwMode="auto">
          <a:xfrm>
            <a:off x="4529137" y="3805237"/>
            <a:ext cx="0" cy="239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6" name="Rectangle 391"/>
          <p:cNvSpPr>
            <a:spLocks noChangeAspect="1" noChangeArrowheads="1"/>
          </p:cNvSpPr>
          <p:nvPr/>
        </p:nvSpPr>
        <p:spPr bwMode="auto">
          <a:xfrm>
            <a:off x="3482975" y="6494463"/>
            <a:ext cx="2174875" cy="26987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>
              <a:latin typeface="+mn-lt"/>
            </a:endParaRPr>
          </a:p>
        </p:txBody>
      </p:sp>
      <p:sp>
        <p:nvSpPr>
          <p:cNvPr id="17" name="Text Box 392"/>
          <p:cNvSpPr txBox="1">
            <a:spLocks noChangeAspect="1" noChangeArrowheads="1"/>
          </p:cNvSpPr>
          <p:nvPr/>
        </p:nvSpPr>
        <p:spPr bwMode="auto">
          <a:xfrm>
            <a:off x="3276600" y="6659563"/>
            <a:ext cx="268287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latin typeface="+mn-lt"/>
              </a:rPr>
              <a:t>0</a:t>
            </a:r>
          </a:p>
        </p:txBody>
      </p:sp>
      <p:sp>
        <p:nvSpPr>
          <p:cNvPr id="18" name="Text Box 393"/>
          <p:cNvSpPr txBox="1">
            <a:spLocks noChangeAspect="1" noChangeArrowheads="1"/>
          </p:cNvSpPr>
          <p:nvPr/>
        </p:nvSpPr>
        <p:spPr bwMode="auto">
          <a:xfrm>
            <a:off x="2514600" y="3593068"/>
            <a:ext cx="73111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latin typeface="+mn-lt"/>
              </a:rPr>
              <a:t>%</a:t>
            </a:r>
            <a:r>
              <a:rPr lang="en-US" sz="1800" dirty="0" err="1">
                <a:latin typeface="Courier New"/>
                <a:cs typeface="Courier New"/>
              </a:rPr>
              <a:t>rsp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19" name="Line 394"/>
          <p:cNvSpPr>
            <a:spLocks noChangeAspect="1" noChangeShapeType="1"/>
          </p:cNvSpPr>
          <p:nvPr/>
        </p:nvSpPr>
        <p:spPr bwMode="auto">
          <a:xfrm>
            <a:off x="3224212" y="3808412"/>
            <a:ext cx="258763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0" name="Text Box 395"/>
          <p:cNvSpPr txBox="1">
            <a:spLocks noChangeAspect="1" noChangeArrowheads="1"/>
          </p:cNvSpPr>
          <p:nvPr/>
        </p:nvSpPr>
        <p:spPr bwMode="auto">
          <a:xfrm>
            <a:off x="5995987" y="4732814"/>
            <a:ext cx="1038578" cy="9233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i="1" dirty="0">
                <a:latin typeface="+mn-lt"/>
              </a:rPr>
              <a:t>Process</a:t>
            </a:r>
          </a:p>
          <a:p>
            <a:pPr algn="l"/>
            <a:r>
              <a:rPr lang="en-US" sz="1800" i="1" dirty="0">
                <a:latin typeface="+mn-lt"/>
              </a:rPr>
              <a:t>virtual</a:t>
            </a:r>
          </a:p>
          <a:p>
            <a:pPr algn="l"/>
            <a:r>
              <a:rPr lang="en-US" sz="1800" i="1" dirty="0">
                <a:latin typeface="+mn-lt"/>
              </a:rPr>
              <a:t>memory</a:t>
            </a:r>
          </a:p>
        </p:txBody>
      </p:sp>
      <p:sp>
        <p:nvSpPr>
          <p:cNvPr id="21" name="Text Box 397"/>
          <p:cNvSpPr txBox="1">
            <a:spLocks noChangeAspect="1" noChangeArrowheads="1"/>
          </p:cNvSpPr>
          <p:nvPr/>
        </p:nvSpPr>
        <p:spPr bwMode="auto">
          <a:xfrm>
            <a:off x="2667000" y="5035550"/>
            <a:ext cx="60023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brk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2" name="Line 398"/>
          <p:cNvSpPr>
            <a:spLocks noChangeAspect="1" noChangeShapeType="1"/>
          </p:cNvSpPr>
          <p:nvPr/>
        </p:nvSpPr>
        <p:spPr bwMode="auto">
          <a:xfrm>
            <a:off x="3209925" y="5262563"/>
            <a:ext cx="2587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3" name="Rectangle 400"/>
          <p:cNvSpPr>
            <a:spLocks noChangeAspect="1" noChangeArrowheads="1"/>
          </p:cNvSpPr>
          <p:nvPr/>
        </p:nvSpPr>
        <p:spPr bwMode="auto">
          <a:xfrm>
            <a:off x="3482975" y="2580214"/>
            <a:ext cx="2174875" cy="399524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Physical memory</a:t>
            </a:r>
          </a:p>
        </p:txBody>
      </p:sp>
      <p:sp>
        <p:nvSpPr>
          <p:cNvPr id="24" name="AutoShape 401"/>
          <p:cNvSpPr>
            <a:spLocks/>
          </p:cNvSpPr>
          <p:nvPr/>
        </p:nvSpPr>
        <p:spPr bwMode="auto">
          <a:xfrm flipH="1">
            <a:off x="3240086" y="2580213"/>
            <a:ext cx="150813" cy="878949"/>
          </a:xfrm>
          <a:prstGeom prst="rightBrace">
            <a:avLst>
              <a:gd name="adj1" fmla="val 5543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5" name="Text Box 402"/>
          <p:cNvSpPr txBox="1">
            <a:spLocks noChangeArrowheads="1"/>
          </p:cNvSpPr>
          <p:nvPr/>
        </p:nvSpPr>
        <p:spPr bwMode="auto">
          <a:xfrm>
            <a:off x="1676400" y="2705100"/>
            <a:ext cx="1589087" cy="59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r">
              <a:lnSpc>
                <a:spcPct val="90000"/>
              </a:lnSpc>
              <a:spcBef>
                <a:spcPct val="30000"/>
              </a:spcBef>
            </a:pPr>
            <a:r>
              <a:rPr lang="en-US" sz="1800" i="1" dirty="0">
                <a:solidFill>
                  <a:schemeClr val="tx2"/>
                </a:solidFill>
                <a:latin typeface="+mn-lt"/>
              </a:rPr>
              <a:t>Identical  for each process</a:t>
            </a:r>
          </a:p>
        </p:txBody>
      </p:sp>
      <p:sp>
        <p:nvSpPr>
          <p:cNvPr id="26" name="Rectangle 403"/>
          <p:cNvSpPr>
            <a:spLocks noChangeAspect="1" noChangeArrowheads="1"/>
          </p:cNvSpPr>
          <p:nvPr/>
        </p:nvSpPr>
        <p:spPr bwMode="auto">
          <a:xfrm>
            <a:off x="3481387" y="1256775"/>
            <a:ext cx="2171700" cy="1323439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Process-specific data</a:t>
            </a:r>
          </a:p>
          <a:p>
            <a:pPr algn="ctr"/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structs</a:t>
            </a:r>
            <a:r>
              <a:rPr lang="en-US" sz="1600" dirty="0">
                <a:latin typeface="+mn-lt"/>
              </a:rPr>
              <a:t>  (</a:t>
            </a:r>
            <a:r>
              <a:rPr lang="en-US" sz="1600" dirty="0" err="1">
                <a:latin typeface="+mn-lt"/>
              </a:rPr>
              <a:t>ptables</a:t>
            </a:r>
            <a:r>
              <a:rPr lang="en-US" sz="1600" dirty="0">
                <a:latin typeface="+mn-lt"/>
              </a:rPr>
              <a:t>,</a:t>
            </a:r>
          </a:p>
          <a:p>
            <a:pPr algn="ctr"/>
            <a:r>
              <a:rPr lang="en-US" sz="1600" dirty="0">
                <a:latin typeface="+mn-lt"/>
              </a:rPr>
              <a:t>task and mm </a:t>
            </a:r>
            <a:r>
              <a:rPr lang="en-US" sz="1600" dirty="0" err="1">
                <a:latin typeface="+mn-lt"/>
              </a:rPr>
              <a:t>structs</a:t>
            </a:r>
            <a:r>
              <a:rPr lang="en-US" sz="1600" dirty="0">
                <a:latin typeface="+mn-lt"/>
              </a:rPr>
              <a:t>, kernel stack)</a:t>
            </a:r>
          </a:p>
        </p:txBody>
      </p:sp>
      <p:sp>
        <p:nvSpPr>
          <p:cNvPr id="27" name="Text Box 405"/>
          <p:cNvSpPr txBox="1">
            <a:spLocks noChangeAspect="1" noChangeArrowheads="1"/>
          </p:cNvSpPr>
          <p:nvPr/>
        </p:nvSpPr>
        <p:spPr bwMode="auto">
          <a:xfrm>
            <a:off x="6034087" y="1987550"/>
            <a:ext cx="1038578" cy="9233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i="1" dirty="0">
                <a:latin typeface="+mn-lt"/>
              </a:rPr>
              <a:t>Kernel</a:t>
            </a:r>
          </a:p>
          <a:p>
            <a:pPr algn="l"/>
            <a:r>
              <a:rPr lang="en-US" sz="1800" i="1" dirty="0">
                <a:latin typeface="+mn-lt"/>
              </a:rPr>
              <a:t>virtual </a:t>
            </a:r>
          </a:p>
          <a:p>
            <a:pPr algn="l"/>
            <a:r>
              <a:rPr lang="en-US" sz="1800" i="1" dirty="0">
                <a:latin typeface="+mn-lt"/>
              </a:rPr>
              <a:t>memory</a:t>
            </a:r>
          </a:p>
        </p:txBody>
      </p:sp>
      <p:sp>
        <p:nvSpPr>
          <p:cNvPr id="28" name="AutoShape 421"/>
          <p:cNvSpPr>
            <a:spLocks/>
          </p:cNvSpPr>
          <p:nvPr/>
        </p:nvSpPr>
        <p:spPr bwMode="auto">
          <a:xfrm>
            <a:off x="5754687" y="3484563"/>
            <a:ext cx="190500" cy="3289300"/>
          </a:xfrm>
          <a:prstGeom prst="rightBrace">
            <a:avLst>
              <a:gd name="adj1" fmla="val 14388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9" name="AutoShape 422"/>
          <p:cNvSpPr>
            <a:spLocks/>
          </p:cNvSpPr>
          <p:nvPr/>
        </p:nvSpPr>
        <p:spPr bwMode="auto">
          <a:xfrm>
            <a:off x="5741987" y="1389063"/>
            <a:ext cx="215900" cy="2032000"/>
          </a:xfrm>
          <a:prstGeom prst="rightBrace">
            <a:avLst>
              <a:gd name="adj1" fmla="val 7843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0" name="Text Box 424"/>
          <p:cNvSpPr txBox="1">
            <a:spLocks noChangeArrowheads="1"/>
          </p:cNvSpPr>
          <p:nvPr/>
        </p:nvSpPr>
        <p:spPr bwMode="auto">
          <a:xfrm>
            <a:off x="2016465" y="6324600"/>
            <a:ext cx="1260135" cy="287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Courier New"/>
                <a:cs typeface="Courier New"/>
              </a:rPr>
              <a:t>0x00400000</a:t>
            </a:r>
          </a:p>
        </p:txBody>
      </p:sp>
      <p:sp>
        <p:nvSpPr>
          <p:cNvPr id="31" name="AutoShape 425"/>
          <p:cNvSpPr>
            <a:spLocks/>
          </p:cNvSpPr>
          <p:nvPr/>
        </p:nvSpPr>
        <p:spPr bwMode="auto">
          <a:xfrm flipH="1">
            <a:off x="3214687" y="1280228"/>
            <a:ext cx="176212" cy="1162935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2" name="Text Box 426"/>
          <p:cNvSpPr txBox="1">
            <a:spLocks noChangeArrowheads="1"/>
          </p:cNvSpPr>
          <p:nvPr/>
        </p:nvSpPr>
        <p:spPr bwMode="auto">
          <a:xfrm>
            <a:off x="1676400" y="1757363"/>
            <a:ext cx="1576387" cy="59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r">
              <a:lnSpc>
                <a:spcPct val="90000"/>
              </a:lnSpc>
              <a:spcBef>
                <a:spcPct val="30000"/>
              </a:spcBef>
            </a:pPr>
            <a:r>
              <a:rPr lang="en-US" sz="1800" i="1" dirty="0">
                <a:solidFill>
                  <a:schemeClr val="tx2"/>
                </a:solidFill>
                <a:latin typeface="+mn-lt"/>
              </a:rPr>
              <a:t>Different for each process</a:t>
            </a:r>
          </a:p>
        </p:txBody>
      </p:sp>
      <p:sp>
        <p:nvSpPr>
          <p:cNvPr id="33" name="Line 427"/>
          <p:cNvSpPr>
            <a:spLocks noChangeShapeType="1"/>
          </p:cNvSpPr>
          <p:nvPr/>
        </p:nvSpPr>
        <p:spPr bwMode="auto">
          <a:xfrm>
            <a:off x="3468687" y="3473450"/>
            <a:ext cx="218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4" name="Line 428"/>
          <p:cNvSpPr>
            <a:spLocks noChangeAspect="1" noChangeShapeType="1"/>
          </p:cNvSpPr>
          <p:nvPr/>
        </p:nvSpPr>
        <p:spPr bwMode="auto">
          <a:xfrm>
            <a:off x="3222625" y="6481763"/>
            <a:ext cx="2587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052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4015647" y="4648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4015647" y="2819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610600" cy="1096963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Linux Organizes VM as Collection of “Areas” 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79357" y="1443038"/>
            <a:ext cx="1536922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/>
                <a:cs typeface="Courier New"/>
              </a:rPr>
              <a:t>task_struct</a:t>
            </a:r>
            <a:endParaRPr lang="en-GB" sz="1600" b="1" dirty="0">
              <a:latin typeface="Courier New"/>
              <a:cs typeface="Courier New"/>
            </a:endParaRP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2105885" y="1600200"/>
            <a:ext cx="1290661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/>
                <a:cs typeface="Courier New"/>
              </a:rPr>
              <a:t>mm_struct</a:t>
            </a:r>
            <a:endParaRPr lang="en-GB" sz="1600" b="1" dirty="0">
              <a:latin typeface="Courier New"/>
              <a:cs typeface="Courier New"/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2186847" y="2006600"/>
            <a:ext cx="1066800" cy="157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2186847" y="1981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pgd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662847" y="1778000"/>
            <a:ext cx="762000" cy="18034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662847" y="1981200"/>
            <a:ext cx="7620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mm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2186847" y="2438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mmap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3707672" y="1295400"/>
            <a:ext cx="1906314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/>
                <a:cs typeface="Courier New"/>
              </a:rPr>
              <a:t>vm_area_struct</a:t>
            </a:r>
            <a:endParaRPr lang="en-GB" sz="1600" b="1" dirty="0">
              <a:latin typeface="Courier New"/>
              <a:cs typeface="Courier New"/>
            </a:endParaRPr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4015647" y="1701800"/>
            <a:ext cx="1066800" cy="134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4015647" y="1676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4015647" y="21336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4015647" y="1905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4015647" y="3530600"/>
            <a:ext cx="1066800" cy="134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Rectangle 21"/>
          <p:cNvSpPr>
            <a:spLocks noChangeArrowheads="1"/>
          </p:cNvSpPr>
          <p:nvPr/>
        </p:nvSpPr>
        <p:spPr bwMode="auto">
          <a:xfrm>
            <a:off x="4015647" y="3505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8" name="Rectangle 22"/>
          <p:cNvSpPr>
            <a:spLocks noChangeArrowheads="1"/>
          </p:cNvSpPr>
          <p:nvPr/>
        </p:nvSpPr>
        <p:spPr bwMode="auto">
          <a:xfrm>
            <a:off x="4015647" y="3962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9" name="Rectangle 23"/>
          <p:cNvSpPr>
            <a:spLocks noChangeArrowheads="1"/>
          </p:cNvSpPr>
          <p:nvPr/>
        </p:nvSpPr>
        <p:spPr bwMode="auto">
          <a:xfrm>
            <a:off x="4015647" y="37338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4015647" y="5359400"/>
            <a:ext cx="1066800" cy="111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Rectangle 25"/>
          <p:cNvSpPr>
            <a:spLocks noChangeArrowheads="1"/>
          </p:cNvSpPr>
          <p:nvPr/>
        </p:nvSpPr>
        <p:spPr bwMode="auto">
          <a:xfrm>
            <a:off x="4015647" y="5334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4015647" y="5791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4015647" y="6248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4015647" y="55626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5920647" y="1524000"/>
            <a:ext cx="1981200" cy="48006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6" name="Text Box 30"/>
          <p:cNvSpPr txBox="1">
            <a:spLocks noChangeArrowheads="1"/>
          </p:cNvSpPr>
          <p:nvPr/>
        </p:nvSpPr>
        <p:spPr bwMode="auto">
          <a:xfrm>
            <a:off x="5791200" y="1143000"/>
            <a:ext cx="2191448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rocess virtual memory</a:t>
            </a: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5920647" y="4572000"/>
            <a:ext cx="19812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</a:t>
            </a:r>
            <a:r>
              <a:rPr lang="en-GB" sz="1600" b="1" dirty="0">
                <a:latin typeface="Calibri" pitchFamily="34" charset="0"/>
              </a:rPr>
              <a:t>ext</a:t>
            </a:r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5920647" y="3810000"/>
            <a:ext cx="19812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D</a:t>
            </a:r>
            <a:r>
              <a:rPr lang="en-GB" sz="1600" b="1" dirty="0">
                <a:latin typeface="Calibri" pitchFamily="34" charset="0"/>
              </a:rPr>
              <a:t>ata</a:t>
            </a:r>
          </a:p>
        </p:txBody>
      </p:sp>
      <p:sp>
        <p:nvSpPr>
          <p:cNvPr id="29729" name="Rectangle 33"/>
          <p:cNvSpPr>
            <a:spLocks noChangeArrowheads="1"/>
          </p:cNvSpPr>
          <p:nvPr/>
        </p:nvSpPr>
        <p:spPr bwMode="auto">
          <a:xfrm>
            <a:off x="5920647" y="2514600"/>
            <a:ext cx="1981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hared libraries</a:t>
            </a:r>
          </a:p>
        </p:txBody>
      </p:sp>
      <p:sp>
        <p:nvSpPr>
          <p:cNvPr id="29730" name="Line 34"/>
          <p:cNvSpPr>
            <a:spLocks noChangeShapeType="1"/>
          </p:cNvSpPr>
          <p:nvPr/>
        </p:nvSpPr>
        <p:spPr bwMode="auto">
          <a:xfrm>
            <a:off x="5082447" y="1828800"/>
            <a:ext cx="838200" cy="685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1" name="Line 35"/>
          <p:cNvSpPr>
            <a:spLocks noChangeShapeType="1"/>
          </p:cNvSpPr>
          <p:nvPr/>
        </p:nvSpPr>
        <p:spPr bwMode="auto">
          <a:xfrm>
            <a:off x="5082447" y="2057400"/>
            <a:ext cx="838200" cy="990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2" name="Line 36"/>
          <p:cNvSpPr>
            <a:spLocks noChangeShapeType="1"/>
          </p:cNvSpPr>
          <p:nvPr/>
        </p:nvSpPr>
        <p:spPr bwMode="auto">
          <a:xfrm>
            <a:off x="5082447" y="3657600"/>
            <a:ext cx="838200" cy="152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3" name="Line 37"/>
          <p:cNvSpPr>
            <a:spLocks noChangeShapeType="1"/>
          </p:cNvSpPr>
          <p:nvPr/>
        </p:nvSpPr>
        <p:spPr bwMode="auto">
          <a:xfrm>
            <a:off x="5082447" y="3810000"/>
            <a:ext cx="838200" cy="762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4" name="Line 38"/>
          <p:cNvSpPr>
            <a:spLocks noChangeShapeType="1"/>
          </p:cNvSpPr>
          <p:nvPr/>
        </p:nvSpPr>
        <p:spPr bwMode="auto">
          <a:xfrm flipV="1">
            <a:off x="5082447" y="4572000"/>
            <a:ext cx="838200" cy="914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5" name="Line 39"/>
          <p:cNvSpPr>
            <a:spLocks noChangeShapeType="1"/>
          </p:cNvSpPr>
          <p:nvPr/>
        </p:nvSpPr>
        <p:spPr bwMode="auto">
          <a:xfrm>
            <a:off x="5082447" y="5715000"/>
            <a:ext cx="838200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 flipH="1">
            <a:off x="3785460" y="2971800"/>
            <a:ext cx="23177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7" name="Line 41"/>
          <p:cNvSpPr>
            <a:spLocks noChangeShapeType="1"/>
          </p:cNvSpPr>
          <p:nvPr/>
        </p:nvSpPr>
        <p:spPr bwMode="auto">
          <a:xfrm>
            <a:off x="3787047" y="2971800"/>
            <a:ext cx="1588" cy="533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8" name="Line 42"/>
          <p:cNvSpPr>
            <a:spLocks noChangeShapeType="1"/>
          </p:cNvSpPr>
          <p:nvPr/>
        </p:nvSpPr>
        <p:spPr bwMode="auto">
          <a:xfrm>
            <a:off x="3787047" y="3505200"/>
            <a:ext cx="228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9" name="Line 43"/>
          <p:cNvSpPr>
            <a:spLocks noChangeShapeType="1"/>
          </p:cNvSpPr>
          <p:nvPr/>
        </p:nvSpPr>
        <p:spPr bwMode="auto">
          <a:xfrm flipH="1">
            <a:off x="3785460" y="4724400"/>
            <a:ext cx="23177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40" name="Line 44"/>
          <p:cNvSpPr>
            <a:spLocks noChangeShapeType="1"/>
          </p:cNvSpPr>
          <p:nvPr/>
        </p:nvSpPr>
        <p:spPr bwMode="auto">
          <a:xfrm>
            <a:off x="3787047" y="4724400"/>
            <a:ext cx="1588" cy="609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41" name="Line 45"/>
          <p:cNvSpPr>
            <a:spLocks noChangeShapeType="1"/>
          </p:cNvSpPr>
          <p:nvPr/>
        </p:nvSpPr>
        <p:spPr bwMode="auto">
          <a:xfrm>
            <a:off x="3787047" y="5334000"/>
            <a:ext cx="228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42" name="Text Box 46"/>
          <p:cNvSpPr txBox="1">
            <a:spLocks noChangeArrowheads="1"/>
          </p:cNvSpPr>
          <p:nvPr/>
        </p:nvSpPr>
        <p:spPr bwMode="auto">
          <a:xfrm>
            <a:off x="7932010" y="6170613"/>
            <a:ext cx="281871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9746" name="Rectangle 50"/>
          <p:cNvSpPr>
            <a:spLocks noGrp="1" noChangeArrowheads="1"/>
          </p:cNvSpPr>
          <p:nvPr>
            <p:ph type="body" idx="1"/>
          </p:nvPr>
        </p:nvSpPr>
        <p:spPr>
          <a:xfrm>
            <a:off x="358774" y="3657600"/>
            <a:ext cx="3197225" cy="2894013"/>
          </a:xfrm>
          <a:ln/>
        </p:spPr>
        <p:txBody>
          <a:bodyPr/>
          <a:lstStyle/>
          <a:p>
            <a:pPr>
              <a:spcBef>
                <a:spcPts val="563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2200" dirty="0" err="1"/>
              <a:t>pgd</a:t>
            </a:r>
            <a:r>
              <a:rPr lang="en-GB" sz="2200" dirty="0"/>
              <a:t>: </a:t>
            </a:r>
          </a:p>
          <a:p>
            <a:pPr marL="576263" lvl="1" indent="-228600">
              <a:spcBef>
                <a:spcPts val="200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1600" dirty="0"/>
              <a:t>Page global directory address</a:t>
            </a:r>
          </a:p>
          <a:p>
            <a:pPr marL="576263" lvl="1" indent="-228600">
              <a:spcBef>
                <a:spcPts val="200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1600" dirty="0"/>
              <a:t>Points to L1 page table</a:t>
            </a:r>
          </a:p>
          <a:p>
            <a:pPr>
              <a:spcBef>
                <a:spcPts val="563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2200" dirty="0" err="1"/>
              <a:t>vm_prot</a:t>
            </a:r>
            <a:r>
              <a:rPr lang="en-GB" sz="2200" dirty="0"/>
              <a:t>:</a:t>
            </a:r>
          </a:p>
          <a:p>
            <a:pPr marL="576263" lvl="1" indent="-228600">
              <a:spcBef>
                <a:spcPts val="200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1600" dirty="0"/>
              <a:t>Read/write permissions for </a:t>
            </a:r>
            <a:br>
              <a:rPr lang="en-GB" sz="1600" dirty="0"/>
            </a:br>
            <a:r>
              <a:rPr lang="en-GB" sz="1600" dirty="0"/>
              <a:t>this area</a:t>
            </a:r>
          </a:p>
          <a:p>
            <a:pPr>
              <a:spcBef>
                <a:spcPts val="563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2200" dirty="0" err="1"/>
              <a:t>vm_flags</a:t>
            </a:r>
            <a:endParaRPr lang="en-GB" sz="2200" dirty="0"/>
          </a:p>
          <a:p>
            <a:pPr marL="576263" lvl="1" indent="-228600">
              <a:spcBef>
                <a:spcPts val="200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1600" dirty="0"/>
              <a:t>Pages </a:t>
            </a:r>
            <a:r>
              <a:rPr lang="en-GB" sz="1600" b="1" dirty="0"/>
              <a:t>shared</a:t>
            </a:r>
            <a:r>
              <a:rPr lang="en-GB" sz="1600" dirty="0"/>
              <a:t> with other processes or </a:t>
            </a:r>
            <a:r>
              <a:rPr lang="en-GB" sz="1600" b="1" dirty="0"/>
              <a:t>private</a:t>
            </a:r>
            <a:r>
              <a:rPr lang="en-GB" sz="1600" dirty="0"/>
              <a:t> to this process</a:t>
            </a:r>
          </a:p>
        </p:txBody>
      </p:sp>
      <p:sp>
        <p:nvSpPr>
          <p:cNvPr id="29747" name="Rectangle 51"/>
          <p:cNvSpPr>
            <a:spLocks noChangeArrowheads="1"/>
          </p:cNvSpPr>
          <p:nvPr/>
        </p:nvSpPr>
        <p:spPr bwMode="auto">
          <a:xfrm>
            <a:off x="4015647" y="2362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48" name="Rectangle 52"/>
          <p:cNvSpPr>
            <a:spLocks noChangeArrowheads="1"/>
          </p:cNvSpPr>
          <p:nvPr/>
        </p:nvSpPr>
        <p:spPr bwMode="auto">
          <a:xfrm>
            <a:off x="4015647" y="4191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49" name="Rectangle 53"/>
          <p:cNvSpPr>
            <a:spLocks noChangeArrowheads="1"/>
          </p:cNvSpPr>
          <p:nvPr/>
        </p:nvSpPr>
        <p:spPr bwMode="auto">
          <a:xfrm>
            <a:off x="4015647" y="60198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cxnSp>
        <p:nvCxnSpPr>
          <p:cNvPr id="63" name="Elbow Connector 62"/>
          <p:cNvCxnSpPr>
            <a:stCxn id="29707" idx="3"/>
          </p:cNvCxnSpPr>
          <p:nvPr/>
        </p:nvCxnSpPr>
        <p:spPr bwMode="auto">
          <a:xfrm flipV="1">
            <a:off x="3253647" y="1676400"/>
            <a:ext cx="758952" cy="8763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66" name="Straight Arrow Connector 65"/>
          <p:cNvCxnSpPr>
            <a:stCxn id="29706" idx="3"/>
          </p:cNvCxnSpPr>
          <p:nvPr/>
        </p:nvCxnSpPr>
        <p:spPr bwMode="auto">
          <a:xfrm flipV="1">
            <a:off x="1424847" y="1981200"/>
            <a:ext cx="762000" cy="1143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84501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12763" y="457200"/>
            <a:ext cx="70310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Linux Page Fault Handling 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4343400" y="2895600"/>
            <a:ext cx="838200" cy="534687"/>
            <a:chOff x="4343400" y="2895600"/>
            <a:chExt cx="838200" cy="534687"/>
          </a:xfrm>
        </p:grpSpPr>
        <p:sp>
          <p:nvSpPr>
            <p:cNvPr id="30764" name="Line 44"/>
            <p:cNvSpPr>
              <a:spLocks noChangeShapeType="1"/>
            </p:cNvSpPr>
            <p:nvPr/>
          </p:nvSpPr>
          <p:spPr bwMode="auto">
            <a:xfrm>
              <a:off x="4343400" y="3362325"/>
              <a:ext cx="838200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65" name="Text Box 45"/>
            <p:cNvSpPr txBox="1">
              <a:spLocks noChangeArrowheads="1"/>
            </p:cNvSpPr>
            <p:nvPr/>
          </p:nvSpPr>
          <p:spPr bwMode="auto">
            <a:xfrm>
              <a:off x="4479925" y="3124200"/>
              <a:ext cx="568103" cy="30608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read</a:t>
              </a:r>
            </a:p>
          </p:txBody>
        </p:sp>
        <p:sp>
          <p:nvSpPr>
            <p:cNvPr id="30766" name="Oval 46"/>
            <p:cNvSpPr>
              <a:spLocks noChangeArrowheads="1"/>
            </p:cNvSpPr>
            <p:nvPr/>
          </p:nvSpPr>
          <p:spPr bwMode="auto">
            <a:xfrm>
              <a:off x="4648200" y="2895600"/>
              <a:ext cx="304800" cy="3048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360">
              <a:noFill/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lnSpc>
                  <a:spcPct val="88000"/>
                </a:lnSpc>
                <a:spcBef>
                  <a:spcPts val="9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solidFill>
                    <a:schemeClr val="bg1"/>
                  </a:solidFill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343400" y="4880275"/>
            <a:ext cx="838200" cy="606125"/>
            <a:chOff x="4343400" y="4880275"/>
            <a:chExt cx="838200" cy="606125"/>
          </a:xfrm>
        </p:grpSpPr>
        <p:sp>
          <p:nvSpPr>
            <p:cNvPr id="30760" name="Line 40"/>
            <p:cNvSpPr>
              <a:spLocks noChangeShapeType="1"/>
            </p:cNvSpPr>
            <p:nvPr/>
          </p:nvSpPr>
          <p:spPr bwMode="auto">
            <a:xfrm>
              <a:off x="4343400" y="5413675"/>
              <a:ext cx="838200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Text Box 41"/>
            <p:cNvSpPr txBox="1">
              <a:spLocks noChangeArrowheads="1"/>
            </p:cNvSpPr>
            <p:nvPr/>
          </p:nvSpPr>
          <p:spPr bwMode="auto">
            <a:xfrm>
              <a:off x="4483100" y="5180313"/>
              <a:ext cx="628825" cy="30608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write</a:t>
              </a:r>
            </a:p>
          </p:txBody>
        </p:sp>
        <p:sp>
          <p:nvSpPr>
            <p:cNvPr id="30767" name="Oval 47"/>
            <p:cNvSpPr>
              <a:spLocks noChangeArrowheads="1"/>
            </p:cNvSpPr>
            <p:nvPr/>
          </p:nvSpPr>
          <p:spPr bwMode="auto">
            <a:xfrm>
              <a:off x="4648200" y="4880275"/>
              <a:ext cx="304800" cy="3048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360">
              <a:noFill/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lnSpc>
                  <a:spcPct val="88000"/>
                </a:lnSpc>
                <a:spcBef>
                  <a:spcPts val="9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chemeClr val="bg1"/>
                  </a:solidFill>
                  <a:latin typeface="Calibri" pitchFamily="34" charset="0"/>
                </a:rPr>
                <a:t>2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4343400" y="3737275"/>
            <a:ext cx="838200" cy="606125"/>
            <a:chOff x="4343400" y="3737275"/>
            <a:chExt cx="838200" cy="606125"/>
          </a:xfrm>
        </p:grpSpPr>
        <p:sp>
          <p:nvSpPr>
            <p:cNvPr id="30762" name="Line 42"/>
            <p:cNvSpPr>
              <a:spLocks noChangeShapeType="1"/>
            </p:cNvSpPr>
            <p:nvPr/>
          </p:nvSpPr>
          <p:spPr bwMode="auto">
            <a:xfrm>
              <a:off x="4343400" y="4275438"/>
              <a:ext cx="8382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63" name="Text Box 43"/>
            <p:cNvSpPr txBox="1">
              <a:spLocks noChangeArrowheads="1"/>
            </p:cNvSpPr>
            <p:nvPr/>
          </p:nvSpPr>
          <p:spPr bwMode="auto">
            <a:xfrm>
              <a:off x="4479925" y="4037313"/>
              <a:ext cx="568103" cy="30608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read</a:t>
              </a:r>
            </a:p>
          </p:txBody>
        </p:sp>
        <p:sp>
          <p:nvSpPr>
            <p:cNvPr id="30768" name="Oval 48"/>
            <p:cNvSpPr>
              <a:spLocks noChangeArrowheads="1"/>
            </p:cNvSpPr>
            <p:nvPr/>
          </p:nvSpPr>
          <p:spPr bwMode="auto">
            <a:xfrm>
              <a:off x="4648200" y="3737275"/>
              <a:ext cx="304800" cy="3048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360">
              <a:noFill/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lnSpc>
                  <a:spcPct val="88000"/>
                </a:lnSpc>
                <a:spcBef>
                  <a:spcPts val="9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chemeClr val="bg1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50" name="Rectangle 1"/>
          <p:cNvSpPr>
            <a:spLocks noChangeArrowheads="1"/>
          </p:cNvSpPr>
          <p:nvPr/>
        </p:nvSpPr>
        <p:spPr bwMode="auto">
          <a:xfrm>
            <a:off x="460375" y="4648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1" name="Rectangle 2"/>
          <p:cNvSpPr>
            <a:spLocks noChangeArrowheads="1"/>
          </p:cNvSpPr>
          <p:nvPr/>
        </p:nvSpPr>
        <p:spPr bwMode="auto">
          <a:xfrm>
            <a:off x="460375" y="2819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2" name="Text Box 12"/>
          <p:cNvSpPr txBox="1">
            <a:spLocks noChangeArrowheads="1"/>
          </p:cNvSpPr>
          <p:nvPr/>
        </p:nvSpPr>
        <p:spPr bwMode="auto">
          <a:xfrm>
            <a:off x="152400" y="1295400"/>
            <a:ext cx="1519582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vm_area_struct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3" name="Rectangle 13"/>
          <p:cNvSpPr>
            <a:spLocks noChangeArrowheads="1"/>
          </p:cNvSpPr>
          <p:nvPr/>
        </p:nvSpPr>
        <p:spPr bwMode="auto">
          <a:xfrm>
            <a:off x="460375" y="1701800"/>
            <a:ext cx="1066800" cy="134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460375" y="1676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5" name="Rectangle 15"/>
          <p:cNvSpPr>
            <a:spLocks noChangeArrowheads="1"/>
          </p:cNvSpPr>
          <p:nvPr/>
        </p:nvSpPr>
        <p:spPr bwMode="auto">
          <a:xfrm>
            <a:off x="460375" y="21336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6" name="Rectangle 16"/>
          <p:cNvSpPr>
            <a:spLocks noChangeArrowheads="1"/>
          </p:cNvSpPr>
          <p:nvPr/>
        </p:nvSpPr>
        <p:spPr bwMode="auto">
          <a:xfrm>
            <a:off x="460375" y="1905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7" name="Rectangle 20"/>
          <p:cNvSpPr>
            <a:spLocks noChangeArrowheads="1"/>
          </p:cNvSpPr>
          <p:nvPr/>
        </p:nvSpPr>
        <p:spPr bwMode="auto">
          <a:xfrm>
            <a:off x="460375" y="3530600"/>
            <a:ext cx="1066800" cy="134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Rectangle 21"/>
          <p:cNvSpPr>
            <a:spLocks noChangeArrowheads="1"/>
          </p:cNvSpPr>
          <p:nvPr/>
        </p:nvSpPr>
        <p:spPr bwMode="auto">
          <a:xfrm>
            <a:off x="460375" y="3505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60375" y="3962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0" name="Rectangle 23"/>
          <p:cNvSpPr>
            <a:spLocks noChangeArrowheads="1"/>
          </p:cNvSpPr>
          <p:nvPr/>
        </p:nvSpPr>
        <p:spPr bwMode="auto">
          <a:xfrm>
            <a:off x="460375" y="37338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460375" y="5359400"/>
            <a:ext cx="1066800" cy="111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Rectangle 25"/>
          <p:cNvSpPr>
            <a:spLocks noChangeArrowheads="1"/>
          </p:cNvSpPr>
          <p:nvPr/>
        </p:nvSpPr>
        <p:spPr bwMode="auto">
          <a:xfrm>
            <a:off x="460375" y="5334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3" name="Rectangle 26"/>
          <p:cNvSpPr>
            <a:spLocks noChangeArrowheads="1"/>
          </p:cNvSpPr>
          <p:nvPr/>
        </p:nvSpPr>
        <p:spPr bwMode="auto">
          <a:xfrm>
            <a:off x="460375" y="5791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4" name="Rectangle 27"/>
          <p:cNvSpPr>
            <a:spLocks noChangeArrowheads="1"/>
          </p:cNvSpPr>
          <p:nvPr/>
        </p:nvSpPr>
        <p:spPr bwMode="auto">
          <a:xfrm>
            <a:off x="460375" y="6248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5" name="Rectangle 28"/>
          <p:cNvSpPr>
            <a:spLocks noChangeArrowheads="1"/>
          </p:cNvSpPr>
          <p:nvPr/>
        </p:nvSpPr>
        <p:spPr bwMode="auto">
          <a:xfrm>
            <a:off x="460375" y="55626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6" name="Rectangle 29"/>
          <p:cNvSpPr>
            <a:spLocks noChangeArrowheads="1"/>
          </p:cNvSpPr>
          <p:nvPr/>
        </p:nvSpPr>
        <p:spPr bwMode="auto">
          <a:xfrm>
            <a:off x="2365375" y="1524000"/>
            <a:ext cx="1981200" cy="48006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2253077" y="1219200"/>
            <a:ext cx="2189845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rocess virtual memory</a:t>
            </a:r>
          </a:p>
        </p:txBody>
      </p:sp>
      <p:sp>
        <p:nvSpPr>
          <p:cNvPr id="68" name="Rectangle 31"/>
          <p:cNvSpPr>
            <a:spLocks noChangeArrowheads="1"/>
          </p:cNvSpPr>
          <p:nvPr/>
        </p:nvSpPr>
        <p:spPr bwMode="auto">
          <a:xfrm>
            <a:off x="2365375" y="4572000"/>
            <a:ext cx="19812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text</a:t>
            </a:r>
          </a:p>
        </p:txBody>
      </p:sp>
      <p:sp>
        <p:nvSpPr>
          <p:cNvPr id="69" name="Rectangle 32"/>
          <p:cNvSpPr>
            <a:spLocks noChangeArrowheads="1"/>
          </p:cNvSpPr>
          <p:nvPr/>
        </p:nvSpPr>
        <p:spPr bwMode="auto">
          <a:xfrm>
            <a:off x="2365375" y="3810000"/>
            <a:ext cx="19812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data</a:t>
            </a:r>
          </a:p>
        </p:txBody>
      </p:sp>
      <p:sp>
        <p:nvSpPr>
          <p:cNvPr id="70" name="Rectangle 33"/>
          <p:cNvSpPr>
            <a:spLocks noChangeArrowheads="1"/>
          </p:cNvSpPr>
          <p:nvPr/>
        </p:nvSpPr>
        <p:spPr bwMode="auto">
          <a:xfrm>
            <a:off x="2365375" y="2514600"/>
            <a:ext cx="1981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shared libraries</a:t>
            </a:r>
          </a:p>
        </p:txBody>
      </p:sp>
      <p:sp>
        <p:nvSpPr>
          <p:cNvPr id="71" name="Line 34"/>
          <p:cNvSpPr>
            <a:spLocks noChangeShapeType="1"/>
          </p:cNvSpPr>
          <p:nvPr/>
        </p:nvSpPr>
        <p:spPr bwMode="auto">
          <a:xfrm>
            <a:off x="1527175" y="1828800"/>
            <a:ext cx="838200" cy="685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" name="Line 35"/>
          <p:cNvSpPr>
            <a:spLocks noChangeShapeType="1"/>
          </p:cNvSpPr>
          <p:nvPr/>
        </p:nvSpPr>
        <p:spPr bwMode="auto">
          <a:xfrm>
            <a:off x="1527175" y="2057400"/>
            <a:ext cx="838200" cy="990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" name="Line 36"/>
          <p:cNvSpPr>
            <a:spLocks noChangeShapeType="1"/>
          </p:cNvSpPr>
          <p:nvPr/>
        </p:nvSpPr>
        <p:spPr bwMode="auto">
          <a:xfrm>
            <a:off x="1527175" y="3657600"/>
            <a:ext cx="838200" cy="152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" name="Line 37"/>
          <p:cNvSpPr>
            <a:spLocks noChangeShapeType="1"/>
          </p:cNvSpPr>
          <p:nvPr/>
        </p:nvSpPr>
        <p:spPr bwMode="auto">
          <a:xfrm>
            <a:off x="1527175" y="3810000"/>
            <a:ext cx="838200" cy="762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5" name="Line 38"/>
          <p:cNvSpPr>
            <a:spLocks noChangeShapeType="1"/>
          </p:cNvSpPr>
          <p:nvPr/>
        </p:nvSpPr>
        <p:spPr bwMode="auto">
          <a:xfrm flipV="1">
            <a:off x="1527175" y="4572000"/>
            <a:ext cx="838200" cy="914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6" name="Line 39"/>
          <p:cNvSpPr>
            <a:spLocks noChangeShapeType="1"/>
          </p:cNvSpPr>
          <p:nvPr/>
        </p:nvSpPr>
        <p:spPr bwMode="auto">
          <a:xfrm>
            <a:off x="1527175" y="5638800"/>
            <a:ext cx="838200" cy="76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" name="Line 40"/>
          <p:cNvSpPr>
            <a:spLocks noChangeShapeType="1"/>
          </p:cNvSpPr>
          <p:nvPr/>
        </p:nvSpPr>
        <p:spPr bwMode="auto">
          <a:xfrm flipH="1">
            <a:off x="230188" y="2971800"/>
            <a:ext cx="23177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Line 41"/>
          <p:cNvSpPr>
            <a:spLocks noChangeShapeType="1"/>
          </p:cNvSpPr>
          <p:nvPr/>
        </p:nvSpPr>
        <p:spPr bwMode="auto">
          <a:xfrm>
            <a:off x="231775" y="2971800"/>
            <a:ext cx="1588" cy="533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" name="Line 42"/>
          <p:cNvSpPr>
            <a:spLocks noChangeShapeType="1"/>
          </p:cNvSpPr>
          <p:nvPr/>
        </p:nvSpPr>
        <p:spPr bwMode="auto">
          <a:xfrm>
            <a:off x="231775" y="3505200"/>
            <a:ext cx="228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Line 43"/>
          <p:cNvSpPr>
            <a:spLocks noChangeShapeType="1"/>
          </p:cNvSpPr>
          <p:nvPr/>
        </p:nvSpPr>
        <p:spPr bwMode="auto">
          <a:xfrm flipH="1">
            <a:off x="230188" y="4724400"/>
            <a:ext cx="23177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" name="Line 44"/>
          <p:cNvSpPr>
            <a:spLocks noChangeShapeType="1"/>
          </p:cNvSpPr>
          <p:nvPr/>
        </p:nvSpPr>
        <p:spPr bwMode="auto">
          <a:xfrm>
            <a:off x="231775" y="4724400"/>
            <a:ext cx="1588" cy="609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" name="Line 45"/>
          <p:cNvSpPr>
            <a:spLocks noChangeShapeType="1"/>
          </p:cNvSpPr>
          <p:nvPr/>
        </p:nvSpPr>
        <p:spPr bwMode="auto">
          <a:xfrm>
            <a:off x="231775" y="5334000"/>
            <a:ext cx="228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3" name="Rectangle 51"/>
          <p:cNvSpPr>
            <a:spLocks noChangeArrowheads="1"/>
          </p:cNvSpPr>
          <p:nvPr/>
        </p:nvSpPr>
        <p:spPr bwMode="auto">
          <a:xfrm>
            <a:off x="460375" y="2362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84" name="Rectangle 52"/>
          <p:cNvSpPr>
            <a:spLocks noChangeArrowheads="1"/>
          </p:cNvSpPr>
          <p:nvPr/>
        </p:nvSpPr>
        <p:spPr bwMode="auto">
          <a:xfrm>
            <a:off x="460375" y="4191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85" name="Rectangle 53"/>
          <p:cNvSpPr>
            <a:spLocks noChangeArrowheads="1"/>
          </p:cNvSpPr>
          <p:nvPr/>
        </p:nvSpPr>
        <p:spPr bwMode="auto">
          <a:xfrm>
            <a:off x="460375" y="60198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528573" y="2971800"/>
            <a:ext cx="2993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990000"/>
                </a:solidFill>
              </a:rPr>
              <a:t>Segmentation fault:</a:t>
            </a:r>
            <a:endParaRPr lang="en-US" sz="1800" dirty="0">
              <a:solidFill>
                <a:srgbClr val="990000"/>
              </a:solidFill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accessing a non-existing page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28573" y="4050268"/>
            <a:ext cx="1910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990000"/>
                </a:solidFill>
                <a:latin typeface="Calibri" pitchFamily="34" charset="0"/>
              </a:rPr>
              <a:t>Normal page fault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28573" y="4876800"/>
            <a:ext cx="3386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990000"/>
                </a:solidFill>
                <a:latin typeface="Calibri" pitchFamily="34" charset="0"/>
              </a:rPr>
              <a:t>Protection exception:</a:t>
            </a:r>
          </a:p>
          <a:p>
            <a:r>
              <a:rPr lang="en-US" sz="1800" dirty="0">
                <a:latin typeface="Calibri" pitchFamily="34" charset="0"/>
              </a:rPr>
              <a:t>e.g., violating permission by writing to a read-only page (Linux reports as Segmentation fault)</a:t>
            </a:r>
          </a:p>
        </p:txBody>
      </p:sp>
    </p:spTree>
    <p:extLst>
      <p:ext uri="{BB962C8B-B14F-4D97-AF65-F5344CB8AC3E}">
        <p14:creationId xmlns:p14="http://schemas.microsoft.com/office/powerpoint/2010/main" val="14433088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Simple memory system example</a:t>
            </a:r>
          </a:p>
          <a:p>
            <a:r>
              <a:rPr lang="en-US" dirty="0">
                <a:solidFill>
                  <a:srgbClr val="7F7F7F"/>
                </a:solidFill>
              </a:rPr>
              <a:t>Case study: Core i7/Linux memory system</a:t>
            </a:r>
          </a:p>
          <a:p>
            <a:r>
              <a:rPr lang="en-US" dirty="0">
                <a:solidFill>
                  <a:srgbClr val="000000"/>
                </a:solidFill>
              </a:rPr>
              <a:t>Memory mapping</a:t>
            </a:r>
          </a:p>
        </p:txBody>
      </p:sp>
    </p:spTree>
    <p:extLst>
      <p:ext uri="{BB962C8B-B14F-4D97-AF65-F5344CB8AC3E}">
        <p14:creationId xmlns:p14="http://schemas.microsoft.com/office/powerpoint/2010/main" val="18673631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5763" y="493713"/>
            <a:ext cx="55578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Memory Mapping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7880" y="1220788"/>
            <a:ext cx="8527520" cy="522446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VM areas initialized by associating them with disk objects.</a:t>
            </a:r>
            <a:endParaRPr lang="en-GB" dirty="0">
              <a:effectLst/>
            </a:endParaRP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Process is known as </a:t>
            </a:r>
            <a:r>
              <a:rPr lang="en-GB" b="1" i="1" dirty="0">
                <a:solidFill>
                  <a:srgbClr val="990000"/>
                </a:solidFill>
              </a:rPr>
              <a:t>memory mapping</a:t>
            </a:r>
            <a:r>
              <a:rPr lang="en-GB" i="1" dirty="0">
                <a:solidFill>
                  <a:srgbClr val="990000"/>
                </a:solidFill>
              </a:rPr>
              <a:t>. 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Area can be </a:t>
            </a:r>
            <a:r>
              <a:rPr lang="en-GB" i="1" dirty="0"/>
              <a:t>backed by </a:t>
            </a:r>
            <a:r>
              <a:rPr lang="en-GB" dirty="0"/>
              <a:t>(i.e., get its initial values from) :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990000"/>
                </a:solidFill>
              </a:rPr>
              <a:t>Regular file</a:t>
            </a:r>
            <a:r>
              <a:rPr lang="en-GB" b="1" dirty="0"/>
              <a:t> </a:t>
            </a:r>
            <a:r>
              <a:rPr lang="en-GB" dirty="0"/>
              <a:t>on disk (e.g., an executable object file)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Initial page bytes come from a section of a file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990000"/>
                </a:solidFill>
              </a:rPr>
              <a:t>Anonymous file </a:t>
            </a:r>
            <a:r>
              <a:rPr lang="en-GB" dirty="0"/>
              <a:t>(e.g., nothing)</a:t>
            </a:r>
            <a:endParaRPr lang="en-GB" i="1" dirty="0"/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First fault will allocate a physical page full of 0's (</a:t>
            </a:r>
            <a:r>
              <a:rPr lang="en-GB" b="1" i="1" dirty="0">
                <a:solidFill>
                  <a:srgbClr val="990000"/>
                </a:solidFill>
              </a:rPr>
              <a:t>demand-zero page</a:t>
            </a:r>
            <a:r>
              <a:rPr lang="en-GB" dirty="0"/>
              <a:t>)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Once the page is written to (</a:t>
            </a:r>
            <a:r>
              <a:rPr lang="en-GB" b="1" i="1" dirty="0">
                <a:solidFill>
                  <a:srgbClr val="990000"/>
                </a:solidFill>
              </a:rPr>
              <a:t>dirtied</a:t>
            </a:r>
            <a:r>
              <a:rPr lang="en-GB" dirty="0"/>
              <a:t>), it is like any other page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Dirty pages are copied back and forth between memory and a special </a:t>
            </a:r>
            <a:r>
              <a:rPr lang="en-GB" i="1" dirty="0">
                <a:solidFill>
                  <a:srgbClr val="990000"/>
                </a:solidFill>
              </a:rPr>
              <a:t>swap file</a:t>
            </a:r>
            <a:r>
              <a:rPr lang="en-GB" dirty="0"/>
              <a:t>.</a:t>
            </a:r>
            <a:endParaRPr lang="en-GB" i="1" dirty="0">
              <a:solidFill>
                <a:srgbClr val="990000"/>
              </a:solidFill>
            </a:endParaRP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9658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Revisited: Shared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2097772"/>
            <a:ext cx="2651125" cy="4607828"/>
          </a:xfrm>
        </p:spPr>
        <p:txBody>
          <a:bodyPr/>
          <a:lstStyle/>
          <a:p>
            <a:r>
              <a:rPr lang="en-US" dirty="0"/>
              <a:t>Process 1  maps the shared object. 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55850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2174875" y="6059269"/>
            <a:ext cx="826330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Shared</a:t>
            </a:r>
          </a:p>
          <a:p>
            <a:pPr algn="ctr"/>
            <a:r>
              <a:rPr lang="en-US" sz="1800" dirty="0"/>
              <a:t>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55850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103438" y="2065119"/>
            <a:ext cx="95290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Physical</a:t>
            </a:r>
          </a:p>
          <a:p>
            <a:pPr algn="ctr"/>
            <a:r>
              <a:rPr lang="en-US" sz="1800"/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794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322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55850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79450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391"/>
          <p:cNvSpPr>
            <a:spLocks noChangeShapeType="1"/>
          </p:cNvSpPr>
          <p:nvPr/>
        </p:nvSpPr>
        <p:spPr bwMode="auto">
          <a:xfrm flipH="1" flipV="1">
            <a:off x="1060450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392"/>
          <p:cNvSpPr>
            <a:spLocks noChangeShapeType="1"/>
          </p:cNvSpPr>
          <p:nvPr/>
        </p:nvSpPr>
        <p:spPr bwMode="auto">
          <a:xfrm flipH="1" flipV="1">
            <a:off x="1060450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396"/>
          <p:cNvSpPr>
            <a:spLocks noChangeShapeType="1"/>
          </p:cNvSpPr>
          <p:nvPr/>
        </p:nvSpPr>
        <p:spPr bwMode="auto">
          <a:xfrm flipV="1">
            <a:off x="1060450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397"/>
          <p:cNvSpPr>
            <a:spLocks noChangeShapeType="1"/>
          </p:cNvSpPr>
          <p:nvPr/>
        </p:nvSpPr>
        <p:spPr bwMode="auto">
          <a:xfrm flipV="1">
            <a:off x="1060450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 Box 400"/>
          <p:cNvSpPr txBox="1">
            <a:spLocks noChangeArrowheads="1"/>
          </p:cNvSpPr>
          <p:nvPr/>
        </p:nvSpPr>
        <p:spPr bwMode="auto">
          <a:xfrm>
            <a:off x="152400" y="2079407"/>
            <a:ext cx="15440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Process 1</a:t>
            </a:r>
          </a:p>
          <a:p>
            <a:pPr algn="ctr"/>
            <a:r>
              <a:rPr lang="en-US" sz="1800" dirty="0"/>
              <a:t>virtual memory</a:t>
            </a:r>
          </a:p>
        </p:txBody>
      </p:sp>
      <p:sp>
        <p:nvSpPr>
          <p:cNvPr id="17" name="Text Box 401"/>
          <p:cNvSpPr txBox="1">
            <a:spLocks noChangeArrowheads="1"/>
          </p:cNvSpPr>
          <p:nvPr/>
        </p:nvSpPr>
        <p:spPr bwMode="auto">
          <a:xfrm>
            <a:off x="3505200" y="2065119"/>
            <a:ext cx="15440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Process 2</a:t>
            </a:r>
          </a:p>
          <a:p>
            <a:pPr algn="ctr"/>
            <a:r>
              <a:rPr lang="en-US" sz="1800"/>
              <a:t>virtual memory</a:t>
            </a:r>
          </a:p>
        </p:txBody>
      </p:sp>
    </p:spTree>
    <p:extLst>
      <p:ext uri="{BB962C8B-B14F-4D97-AF65-F5344CB8AC3E}">
        <p14:creationId xmlns:p14="http://schemas.microsoft.com/office/powerpoint/2010/main" val="744041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Revisited: Shared Objects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55850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2224078" y="6059269"/>
            <a:ext cx="826330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Shared</a:t>
            </a:r>
          </a:p>
          <a:p>
            <a:pPr algn="ctr"/>
            <a:r>
              <a:rPr lang="en-US" sz="1800" dirty="0"/>
              <a:t>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55850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103438" y="2065119"/>
            <a:ext cx="95290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Physical</a:t>
            </a:r>
          </a:p>
          <a:p>
            <a:pPr algn="ctr"/>
            <a:r>
              <a:rPr lang="en-US" sz="1800"/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794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322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55850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79450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32250" y="37741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60450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60450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36850" y="37741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36850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60450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60450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36850" y="28597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36850" y="33931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152400" y="2079407"/>
            <a:ext cx="15440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Process 1</a:t>
            </a:r>
          </a:p>
          <a:p>
            <a:pPr algn="ctr"/>
            <a:r>
              <a:rPr lang="en-US" sz="1800" dirty="0"/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505200" y="2065119"/>
            <a:ext cx="15440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Process 2</a:t>
            </a:r>
          </a:p>
          <a:p>
            <a:pPr algn="ctr"/>
            <a:r>
              <a:rPr lang="en-US" sz="1800"/>
              <a:t>virtual memory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6248400" y="2097772"/>
            <a:ext cx="2651125" cy="4607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Process 2 maps the shared object.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lang="en-US" kern="0" dirty="0">
                <a:latin typeface="Calibri" pitchFamily="34" charset="0"/>
              </a:rPr>
              <a:t>Notice how the virtual addresses can be different.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6883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1088322"/>
          </a:xfrm>
        </p:spPr>
        <p:txBody>
          <a:bodyPr/>
          <a:lstStyle/>
          <a:p>
            <a:r>
              <a:rPr lang="en-US" dirty="0"/>
              <a:t>Sharing Revisited: </a:t>
            </a:r>
            <a:br>
              <a:rPr lang="en-US" dirty="0"/>
            </a:br>
            <a:r>
              <a:rPr lang="en-US" dirty="0"/>
              <a:t>Private Copy-on-write (COW)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2097772"/>
            <a:ext cx="2895600" cy="4191000"/>
          </a:xfrm>
        </p:spPr>
        <p:txBody>
          <a:bodyPr/>
          <a:lstStyle/>
          <a:p>
            <a:r>
              <a:rPr lang="en-US" dirty="0"/>
              <a:t>Two processes mapping a </a:t>
            </a:r>
            <a:r>
              <a:rPr lang="en-US" i="1" dirty="0">
                <a:solidFill>
                  <a:srgbClr val="990000"/>
                </a:solidFill>
              </a:rPr>
              <a:t>private copy-on-write (COW)  </a:t>
            </a:r>
            <a:r>
              <a:rPr lang="en-US" dirty="0"/>
              <a:t>object. </a:t>
            </a:r>
          </a:p>
          <a:p>
            <a:r>
              <a:rPr lang="en-US" dirty="0"/>
              <a:t>Area flagged as private copy-on-write</a:t>
            </a:r>
          </a:p>
          <a:p>
            <a:r>
              <a:rPr lang="en-US" dirty="0" err="1"/>
              <a:t>PTEs</a:t>
            </a:r>
            <a:r>
              <a:rPr lang="en-US" dirty="0"/>
              <a:t> in private areas are flagged as read-only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69031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1575802" y="6059269"/>
            <a:ext cx="2035721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Private </a:t>
            </a:r>
          </a:p>
          <a:p>
            <a:pPr algn="ctr"/>
            <a:r>
              <a:rPr lang="en-US" sz="1800"/>
              <a:t>copy-on-write 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69031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109273" y="2065119"/>
            <a:ext cx="95290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Physical</a:t>
            </a:r>
          </a:p>
          <a:p>
            <a:pPr algn="ctr"/>
            <a:r>
              <a:rPr lang="en-US" sz="1800"/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926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454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69031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92631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45431" y="37741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73631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73631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50031" y="37741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50031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73631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73631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50031" y="28597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50031" y="33931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152400" y="2079407"/>
            <a:ext cx="15440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Process 1</a:t>
            </a:r>
          </a:p>
          <a:p>
            <a:pPr algn="ctr"/>
            <a:r>
              <a:rPr lang="en-US" sz="1800" dirty="0"/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505200" y="2065119"/>
            <a:ext cx="15440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Process 2</a:t>
            </a:r>
          </a:p>
          <a:p>
            <a:pPr algn="ctr"/>
            <a:r>
              <a:rPr lang="en-US" sz="1800"/>
              <a:t>virtual memory</a:t>
            </a:r>
          </a:p>
        </p:txBody>
      </p:sp>
      <p:sp>
        <p:nvSpPr>
          <p:cNvPr id="23" name="Text Box 410"/>
          <p:cNvSpPr txBox="1">
            <a:spLocks noChangeArrowheads="1"/>
          </p:cNvSpPr>
          <p:nvPr/>
        </p:nvSpPr>
        <p:spPr bwMode="auto">
          <a:xfrm>
            <a:off x="4724400" y="3581400"/>
            <a:ext cx="1443537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 Private</a:t>
            </a:r>
          </a:p>
          <a:p>
            <a:r>
              <a:rPr lang="en-US" sz="1800" dirty="0"/>
              <a:t>copy-on-write</a:t>
            </a:r>
          </a:p>
          <a:p>
            <a:r>
              <a:rPr lang="en-US" sz="1800" dirty="0"/>
              <a:t>area</a:t>
            </a:r>
          </a:p>
        </p:txBody>
      </p:sp>
      <p:sp>
        <p:nvSpPr>
          <p:cNvPr id="24" name="Right Brace 23"/>
          <p:cNvSpPr/>
          <p:nvPr/>
        </p:nvSpPr>
        <p:spPr bwMode="auto">
          <a:xfrm>
            <a:off x="4502631" y="3774172"/>
            <a:ext cx="145569" cy="53340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71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1164522"/>
          </a:xfrm>
        </p:spPr>
        <p:txBody>
          <a:bodyPr/>
          <a:lstStyle/>
          <a:p>
            <a:r>
              <a:rPr lang="en-US" dirty="0"/>
              <a:t>Sharing Revisited: </a:t>
            </a:r>
            <a:br>
              <a:rPr lang="en-US" dirty="0"/>
            </a:br>
            <a:r>
              <a:rPr lang="en-US" dirty="0"/>
              <a:t>Private Copy-on-write (COW)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1232" y="2057400"/>
            <a:ext cx="2872768" cy="4505325"/>
          </a:xfrm>
        </p:spPr>
        <p:txBody>
          <a:bodyPr/>
          <a:lstStyle/>
          <a:p>
            <a:r>
              <a:rPr lang="en-US" dirty="0"/>
              <a:t>Instruction writing to private page triggers protection fault. </a:t>
            </a:r>
          </a:p>
          <a:p>
            <a:r>
              <a:rPr lang="en-US" dirty="0"/>
              <a:t>Handler creates new R/W page. </a:t>
            </a:r>
          </a:p>
          <a:p>
            <a:r>
              <a:rPr lang="en-US" dirty="0"/>
              <a:t>Instruction restarts upon handler return. </a:t>
            </a:r>
          </a:p>
          <a:p>
            <a:r>
              <a:rPr lang="en-US" dirty="0"/>
              <a:t>Copying deferred as long as possible!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69031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1594852" y="6059269"/>
            <a:ext cx="2035721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Private  </a:t>
            </a:r>
          </a:p>
          <a:p>
            <a:pPr algn="ctr"/>
            <a:r>
              <a:rPr lang="en-US" sz="1800"/>
              <a:t>copy-on-write 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69031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109273" y="2065119"/>
            <a:ext cx="95290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Physical</a:t>
            </a:r>
          </a:p>
          <a:p>
            <a:pPr algn="ctr"/>
            <a:r>
              <a:rPr lang="en-US" sz="1800"/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926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454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69031" y="289152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92631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45431" y="380592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73631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73631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50031" y="3805922"/>
            <a:ext cx="1301750" cy="1720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50031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73631" y="2891522"/>
            <a:ext cx="1301750" cy="425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73631" y="3424922"/>
            <a:ext cx="1301750" cy="425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56381" y="2891522"/>
            <a:ext cx="1289050" cy="8826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56381" y="327252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152400" y="2079407"/>
            <a:ext cx="15440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Process 1</a:t>
            </a:r>
          </a:p>
          <a:p>
            <a:pPr algn="ctr"/>
            <a:r>
              <a:rPr lang="en-US" sz="1800" dirty="0"/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505200" y="2065119"/>
            <a:ext cx="15440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/>
              <a:t>Process 2</a:t>
            </a:r>
          </a:p>
          <a:p>
            <a:pPr algn="ctr"/>
            <a:r>
              <a:rPr lang="en-US" sz="1800"/>
              <a:t>virtual memory</a:t>
            </a:r>
          </a:p>
        </p:txBody>
      </p:sp>
      <p:sp>
        <p:nvSpPr>
          <p:cNvPr id="23" name="AutoShape 403"/>
          <p:cNvSpPr>
            <a:spLocks noChangeArrowheads="1"/>
          </p:cNvSpPr>
          <p:nvPr/>
        </p:nvSpPr>
        <p:spPr bwMode="auto">
          <a:xfrm>
            <a:off x="2826231" y="3272522"/>
            <a:ext cx="304800" cy="914400"/>
          </a:xfrm>
          <a:prstGeom prst="curvedLeftArrow">
            <a:avLst>
              <a:gd name="adj1" fmla="val 60000"/>
              <a:gd name="adj2" fmla="val 120000"/>
              <a:gd name="adj3" fmla="val 33333"/>
            </a:avLst>
          </a:prstGeom>
          <a:solidFill>
            <a:srgbClr val="990000"/>
          </a:solidFill>
          <a:ln w="12700">
            <a:solidFill>
              <a:srgbClr val="D5F1CF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4" name="Text Box 404"/>
          <p:cNvSpPr txBox="1">
            <a:spLocks noChangeArrowheads="1"/>
          </p:cNvSpPr>
          <p:nvPr/>
        </p:nvSpPr>
        <p:spPr bwMode="auto">
          <a:xfrm>
            <a:off x="2835228" y="3103553"/>
            <a:ext cx="117422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/>
              <a:t>Copy-on-write</a:t>
            </a:r>
          </a:p>
        </p:txBody>
      </p:sp>
      <p:sp>
        <p:nvSpPr>
          <p:cNvPr id="25" name="Rectangle 405" descr="Wide upward diagonal"/>
          <p:cNvSpPr>
            <a:spLocks noChangeArrowheads="1"/>
          </p:cNvSpPr>
          <p:nvPr/>
        </p:nvSpPr>
        <p:spPr bwMode="auto">
          <a:xfrm>
            <a:off x="2375381" y="3272522"/>
            <a:ext cx="381000" cy="152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6" name="Rectangle 406" descr="Wide upward diagonal"/>
          <p:cNvSpPr>
            <a:spLocks noChangeArrowheads="1"/>
          </p:cNvSpPr>
          <p:nvPr/>
        </p:nvSpPr>
        <p:spPr bwMode="auto">
          <a:xfrm>
            <a:off x="4051781" y="4186922"/>
            <a:ext cx="381000" cy="152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7" name="Rectangle 407" descr="Wide upward diagonal"/>
          <p:cNvSpPr>
            <a:spLocks noChangeArrowheads="1"/>
          </p:cNvSpPr>
          <p:nvPr/>
        </p:nvSpPr>
        <p:spPr bwMode="auto">
          <a:xfrm>
            <a:off x="2375381" y="3958322"/>
            <a:ext cx="381000" cy="152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8" name="Line 408"/>
          <p:cNvSpPr>
            <a:spLocks noChangeShapeType="1"/>
          </p:cNvSpPr>
          <p:nvPr/>
        </p:nvSpPr>
        <p:spPr bwMode="auto">
          <a:xfrm flipH="1" flipV="1">
            <a:off x="2756381" y="3958322"/>
            <a:ext cx="12954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29" name="Line 409"/>
          <p:cNvSpPr>
            <a:spLocks noChangeShapeType="1"/>
          </p:cNvSpPr>
          <p:nvPr/>
        </p:nvSpPr>
        <p:spPr bwMode="auto">
          <a:xfrm flipH="1" flipV="1">
            <a:off x="2756381" y="4110722"/>
            <a:ext cx="12954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  <p:sp>
        <p:nvSpPr>
          <p:cNvPr id="30" name="Text Box 410"/>
          <p:cNvSpPr txBox="1">
            <a:spLocks noChangeArrowheads="1"/>
          </p:cNvSpPr>
          <p:nvPr/>
        </p:nvSpPr>
        <p:spPr bwMode="auto">
          <a:xfrm>
            <a:off x="4712054" y="3833207"/>
            <a:ext cx="1559178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Write to private</a:t>
            </a:r>
          </a:p>
          <a:p>
            <a:pPr algn="ctr"/>
            <a:r>
              <a:rPr lang="en-US" sz="1800" dirty="0"/>
              <a:t>copy-on-write</a:t>
            </a:r>
          </a:p>
          <a:p>
            <a:pPr algn="ctr"/>
            <a:r>
              <a:rPr lang="en-US" sz="1800" dirty="0"/>
              <a:t>page</a:t>
            </a:r>
          </a:p>
        </p:txBody>
      </p:sp>
      <p:sp>
        <p:nvSpPr>
          <p:cNvPr id="31" name="Line 411"/>
          <p:cNvSpPr>
            <a:spLocks noChangeShapeType="1"/>
          </p:cNvSpPr>
          <p:nvPr/>
        </p:nvSpPr>
        <p:spPr bwMode="auto">
          <a:xfrm flipH="1">
            <a:off x="4432781" y="4263122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34698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latin typeface="Courier New"/>
                <a:cs typeface="Courier New"/>
              </a:rPr>
              <a:t>fork</a:t>
            </a:r>
            <a:r>
              <a:rPr lang="en-GB" dirty="0"/>
              <a:t> Function Revisited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518525" cy="4972050"/>
          </a:xfrm>
        </p:spPr>
        <p:txBody>
          <a:bodyPr/>
          <a:lstStyle/>
          <a:p>
            <a:r>
              <a:rPr lang="en-GB" dirty="0"/>
              <a:t>VM and memory mapping explain how </a:t>
            </a:r>
            <a:r>
              <a:rPr lang="en-GB" dirty="0">
                <a:latin typeface="Courier New"/>
                <a:cs typeface="Courier New"/>
              </a:rPr>
              <a:t>fork</a:t>
            </a:r>
            <a:r>
              <a:rPr lang="en-GB" dirty="0"/>
              <a:t> provides private address space for each process. 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To create virtual address for new new process</a:t>
            </a:r>
          </a:p>
          <a:p>
            <a:pPr lvl="1"/>
            <a:r>
              <a:rPr lang="en-GB" dirty="0"/>
              <a:t>Create exact copies of current </a:t>
            </a:r>
            <a:r>
              <a:rPr lang="en-GB" dirty="0" err="1">
                <a:latin typeface="Courier New"/>
                <a:cs typeface="Courier New"/>
              </a:rPr>
              <a:t>mm_struct</a:t>
            </a:r>
            <a:r>
              <a:rPr lang="en-GB" dirty="0"/>
              <a:t>, </a:t>
            </a:r>
            <a:r>
              <a:rPr lang="en-GB" dirty="0" err="1">
                <a:latin typeface="Courier New"/>
                <a:cs typeface="Courier New"/>
              </a:rPr>
              <a:t>vm_area_struct</a:t>
            </a:r>
            <a:r>
              <a:rPr lang="en-GB" dirty="0"/>
              <a:t>, and page tables. </a:t>
            </a:r>
          </a:p>
          <a:p>
            <a:pPr lvl="1"/>
            <a:r>
              <a:rPr lang="en-GB" dirty="0"/>
              <a:t>Flag each page in both processes as read-only</a:t>
            </a:r>
          </a:p>
          <a:p>
            <a:pPr lvl="1"/>
            <a:r>
              <a:rPr lang="en-GB" dirty="0"/>
              <a:t>Flag each </a:t>
            </a:r>
            <a:r>
              <a:rPr lang="en-GB" dirty="0" err="1">
                <a:latin typeface="Courier New"/>
                <a:cs typeface="Courier New"/>
              </a:rPr>
              <a:t>vm_area_struct</a:t>
            </a:r>
            <a:r>
              <a:rPr lang="en-GB" dirty="0">
                <a:latin typeface="Courier New"/>
                <a:cs typeface="Courier New"/>
              </a:rPr>
              <a:t> </a:t>
            </a:r>
            <a:r>
              <a:rPr lang="en-GB" dirty="0">
                <a:latin typeface="+mn-lt"/>
                <a:cs typeface="Courier New"/>
              </a:rPr>
              <a:t>i</a:t>
            </a:r>
            <a:r>
              <a:rPr lang="en-GB" dirty="0">
                <a:latin typeface="+mn-lt"/>
              </a:rPr>
              <a:t>n</a:t>
            </a:r>
            <a:r>
              <a:rPr lang="en-GB" dirty="0"/>
              <a:t> both processes as private COW</a:t>
            </a:r>
          </a:p>
          <a:p>
            <a:pPr lvl="1"/>
            <a:endParaRPr lang="en-GB" dirty="0"/>
          </a:p>
          <a:p>
            <a:r>
              <a:rPr lang="en-GB" dirty="0"/>
              <a:t>On return, each process has exact copy of virtual memory</a:t>
            </a:r>
          </a:p>
          <a:p>
            <a:endParaRPr lang="en-GB" dirty="0"/>
          </a:p>
          <a:p>
            <a:r>
              <a:rPr lang="en-GB" dirty="0"/>
              <a:t>Subsequent writes create new pages using COW mechanism.</a:t>
            </a:r>
          </a:p>
        </p:txBody>
      </p:sp>
    </p:spTree>
    <p:extLst>
      <p:ext uri="{BB962C8B-B14F-4D97-AF65-F5344CB8AC3E}">
        <p14:creationId xmlns:p14="http://schemas.microsoft.com/office/powerpoint/2010/main" val="3934340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>
                <a:latin typeface="Courier New"/>
                <a:cs typeface="Courier New"/>
              </a:rPr>
              <a:t>execve</a:t>
            </a:r>
            <a:r>
              <a:rPr lang="en-GB" dirty="0"/>
              <a:t> Function Revisited</a:t>
            </a:r>
          </a:p>
        </p:txBody>
      </p:sp>
      <p:sp>
        <p:nvSpPr>
          <p:cNvPr id="34845" name="Rectangle 29"/>
          <p:cNvSpPr>
            <a:spLocks noGrp="1" noChangeArrowheads="1"/>
          </p:cNvSpPr>
          <p:nvPr>
            <p:ph type="body" idx="1"/>
          </p:nvPr>
        </p:nvSpPr>
        <p:spPr>
          <a:xfrm>
            <a:off x="5534024" y="1362074"/>
            <a:ext cx="3609975" cy="5495926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To load and run a new program </a:t>
            </a:r>
            <a:r>
              <a:rPr lang="en-GB" dirty="0" err="1">
                <a:latin typeface="Courier New"/>
                <a:cs typeface="Courier New"/>
              </a:rPr>
              <a:t>a.out</a:t>
            </a:r>
            <a:r>
              <a:rPr lang="en-GB" dirty="0"/>
              <a:t> in the current process using </a:t>
            </a:r>
            <a:r>
              <a:rPr lang="en-GB" dirty="0" err="1">
                <a:latin typeface="Courier New"/>
                <a:cs typeface="Courier New"/>
              </a:rPr>
              <a:t>execve</a:t>
            </a:r>
            <a:r>
              <a:rPr lang="en-GB" dirty="0"/>
              <a:t>:</a:t>
            </a:r>
          </a:p>
          <a:p>
            <a:endParaRPr lang="en-GB" dirty="0"/>
          </a:p>
          <a:p>
            <a:r>
              <a:rPr lang="en-GB" dirty="0">
                <a:latin typeface="+mn-lt"/>
                <a:cs typeface="Courier New"/>
              </a:rPr>
              <a:t>Free</a:t>
            </a:r>
            <a:r>
              <a:rPr lang="en-GB" dirty="0">
                <a:latin typeface="Courier New"/>
                <a:cs typeface="Courier New"/>
              </a:rPr>
              <a:t> </a:t>
            </a:r>
            <a:r>
              <a:rPr lang="en-GB" dirty="0" err="1">
                <a:latin typeface="Courier New"/>
                <a:cs typeface="Courier New"/>
              </a:rPr>
              <a:t>vm_area_struct</a:t>
            </a:r>
            <a:r>
              <a:rPr lang="en-GB" dirty="0" err="1"/>
              <a:t>’s</a:t>
            </a:r>
            <a:r>
              <a:rPr lang="en-GB" dirty="0"/>
              <a:t> and page tables for old areas</a:t>
            </a:r>
          </a:p>
          <a:p>
            <a:endParaRPr lang="en-GB" dirty="0"/>
          </a:p>
          <a:p>
            <a:r>
              <a:rPr lang="en-GB" dirty="0"/>
              <a:t>Create </a:t>
            </a:r>
            <a:r>
              <a:rPr lang="en-GB" dirty="0" err="1">
                <a:latin typeface="Courier New"/>
                <a:cs typeface="Courier New"/>
              </a:rPr>
              <a:t>vm_area_struct</a:t>
            </a:r>
            <a:r>
              <a:rPr lang="en-GB" dirty="0" err="1"/>
              <a:t>’s</a:t>
            </a:r>
            <a:r>
              <a:rPr lang="en-GB" dirty="0"/>
              <a:t> and page tables for new areas</a:t>
            </a:r>
          </a:p>
          <a:p>
            <a:pPr lvl="1"/>
            <a:r>
              <a:rPr lang="en-GB" dirty="0"/>
              <a:t>Programs and initialized data backed by object files.</a:t>
            </a:r>
          </a:p>
          <a:p>
            <a:pPr lvl="1"/>
            <a:r>
              <a:rPr lang="en-GB" dirty="0">
                <a:latin typeface="Courier New"/>
                <a:cs typeface="Courier New"/>
              </a:rPr>
              <a:t>.</a:t>
            </a:r>
            <a:r>
              <a:rPr lang="en-GB" dirty="0" err="1">
                <a:latin typeface="Courier New"/>
                <a:cs typeface="Courier New"/>
              </a:rPr>
              <a:t>bss</a:t>
            </a:r>
            <a:r>
              <a:rPr lang="en-GB" dirty="0">
                <a:latin typeface="Courier New"/>
                <a:cs typeface="Courier New"/>
              </a:rPr>
              <a:t>  </a:t>
            </a:r>
            <a:r>
              <a:rPr lang="en-GB" dirty="0"/>
              <a:t>and stack backed by anonymous files . </a:t>
            </a:r>
          </a:p>
          <a:p>
            <a:endParaRPr lang="en-GB" dirty="0"/>
          </a:p>
          <a:p>
            <a:r>
              <a:rPr lang="en-GB" dirty="0"/>
              <a:t>Set PC to entry point in </a:t>
            </a:r>
            <a:r>
              <a:rPr lang="en-GB" dirty="0">
                <a:latin typeface="Courier New"/>
                <a:cs typeface="Courier New"/>
              </a:rPr>
              <a:t>.text</a:t>
            </a:r>
          </a:p>
          <a:p>
            <a:pPr lvl="1"/>
            <a:r>
              <a:rPr lang="en-GB" dirty="0"/>
              <a:t>Linux will fault in code and data pages as needed.</a:t>
            </a:r>
          </a:p>
        </p:txBody>
      </p:sp>
      <p:sp>
        <p:nvSpPr>
          <p:cNvPr id="48" name="Rectangle 380"/>
          <p:cNvSpPr>
            <a:spLocks noChangeAspect="1" noChangeArrowheads="1"/>
          </p:cNvSpPr>
          <p:nvPr/>
        </p:nvSpPr>
        <p:spPr bwMode="auto">
          <a:xfrm>
            <a:off x="1514475" y="2627312"/>
            <a:ext cx="2174875" cy="6381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/>
              <a:t>Memory mapped region </a:t>
            </a:r>
          </a:p>
          <a:p>
            <a:pPr algn="ctr"/>
            <a:r>
              <a:rPr lang="en-US" sz="1400"/>
              <a:t>for shared libraries</a:t>
            </a:r>
          </a:p>
        </p:txBody>
      </p:sp>
      <p:sp>
        <p:nvSpPr>
          <p:cNvPr id="49" name="Rectangle 381"/>
          <p:cNvSpPr>
            <a:spLocks noChangeAspect="1" noChangeArrowheads="1"/>
          </p:cNvSpPr>
          <p:nvPr/>
        </p:nvSpPr>
        <p:spPr bwMode="auto">
          <a:xfrm>
            <a:off x="1514475" y="3262312"/>
            <a:ext cx="2174875" cy="68897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/>
          </a:p>
        </p:txBody>
      </p:sp>
      <p:sp>
        <p:nvSpPr>
          <p:cNvPr id="50" name="Rectangle 382"/>
          <p:cNvSpPr>
            <a:spLocks noChangeAspect="1" noChangeArrowheads="1"/>
          </p:cNvSpPr>
          <p:nvPr/>
        </p:nvSpPr>
        <p:spPr bwMode="auto">
          <a:xfrm>
            <a:off x="1514475" y="3956050"/>
            <a:ext cx="2174875" cy="636587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Runtime heap (via </a:t>
            </a:r>
            <a:r>
              <a:rPr lang="en-US" sz="1400" dirty="0" err="1"/>
              <a:t>malloc</a:t>
            </a:r>
            <a:r>
              <a:rPr lang="en-US" sz="1400" dirty="0"/>
              <a:t>)</a:t>
            </a:r>
          </a:p>
        </p:txBody>
      </p:sp>
      <p:sp>
        <p:nvSpPr>
          <p:cNvPr id="51" name="Rectangle 383"/>
          <p:cNvSpPr>
            <a:spLocks noChangeAspect="1" noChangeArrowheads="1"/>
          </p:cNvSpPr>
          <p:nvPr/>
        </p:nvSpPr>
        <p:spPr bwMode="auto">
          <a:xfrm>
            <a:off x="1514475" y="1770062"/>
            <a:ext cx="2174875" cy="8636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/>
          </a:p>
        </p:txBody>
      </p:sp>
      <p:sp>
        <p:nvSpPr>
          <p:cNvPr id="52" name="Rectangle 384"/>
          <p:cNvSpPr>
            <a:spLocks noChangeAspect="1" noChangeArrowheads="1"/>
          </p:cNvSpPr>
          <p:nvPr/>
        </p:nvSpPr>
        <p:spPr bwMode="auto">
          <a:xfrm>
            <a:off x="1514475" y="5305425"/>
            <a:ext cx="2174875" cy="379412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/>
              <a:t>Program text (.text)</a:t>
            </a:r>
          </a:p>
        </p:txBody>
      </p:sp>
      <p:sp>
        <p:nvSpPr>
          <p:cNvPr id="53" name="Rectangle 385"/>
          <p:cNvSpPr>
            <a:spLocks noChangeAspect="1" noChangeArrowheads="1"/>
          </p:cNvSpPr>
          <p:nvPr/>
        </p:nvSpPr>
        <p:spPr bwMode="auto">
          <a:xfrm>
            <a:off x="1514475" y="4943475"/>
            <a:ext cx="2174875" cy="3778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/>
              <a:t>Initialized data (.data)</a:t>
            </a:r>
          </a:p>
        </p:txBody>
      </p:sp>
      <p:sp>
        <p:nvSpPr>
          <p:cNvPr id="54" name="Rectangle 386"/>
          <p:cNvSpPr>
            <a:spLocks noChangeAspect="1" noChangeArrowheads="1"/>
          </p:cNvSpPr>
          <p:nvPr/>
        </p:nvSpPr>
        <p:spPr bwMode="auto">
          <a:xfrm>
            <a:off x="1514475" y="4579937"/>
            <a:ext cx="2174875" cy="376238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/>
              <a:t>Uninitialized data (.bss)</a:t>
            </a:r>
          </a:p>
        </p:txBody>
      </p:sp>
      <p:sp>
        <p:nvSpPr>
          <p:cNvPr id="55" name="Line 387"/>
          <p:cNvSpPr>
            <a:spLocks noChangeAspect="1" noChangeShapeType="1"/>
          </p:cNvSpPr>
          <p:nvPr/>
        </p:nvSpPr>
        <p:spPr bwMode="auto">
          <a:xfrm flipV="1">
            <a:off x="2540000" y="3633787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6" name="Rectangle 388"/>
          <p:cNvSpPr>
            <a:spLocks noChangeAspect="1" noChangeArrowheads="1"/>
          </p:cNvSpPr>
          <p:nvPr/>
        </p:nvSpPr>
        <p:spPr bwMode="auto">
          <a:xfrm>
            <a:off x="1514475" y="1452562"/>
            <a:ext cx="2174875" cy="320675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User stack</a:t>
            </a:r>
          </a:p>
        </p:txBody>
      </p:sp>
      <p:sp>
        <p:nvSpPr>
          <p:cNvPr id="57" name="Line 389"/>
          <p:cNvSpPr>
            <a:spLocks noChangeAspect="1" noChangeShapeType="1"/>
          </p:cNvSpPr>
          <p:nvPr/>
        </p:nvSpPr>
        <p:spPr bwMode="auto">
          <a:xfrm flipV="1">
            <a:off x="2551113" y="2297112"/>
            <a:ext cx="0" cy="334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8" name="Line 390"/>
          <p:cNvSpPr>
            <a:spLocks noChangeAspect="1" noChangeShapeType="1"/>
          </p:cNvSpPr>
          <p:nvPr/>
        </p:nvSpPr>
        <p:spPr bwMode="auto">
          <a:xfrm>
            <a:off x="2560638" y="1773237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9" name="Rectangle 391"/>
          <p:cNvSpPr>
            <a:spLocks noChangeAspect="1" noChangeArrowheads="1"/>
          </p:cNvSpPr>
          <p:nvPr/>
        </p:nvSpPr>
        <p:spPr bwMode="auto">
          <a:xfrm>
            <a:off x="1514475" y="5668962"/>
            <a:ext cx="2174875" cy="3778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/>
          </a:p>
        </p:txBody>
      </p:sp>
      <p:sp>
        <p:nvSpPr>
          <p:cNvPr id="60" name="Text Box 392"/>
          <p:cNvSpPr txBox="1">
            <a:spLocks noChangeAspect="1" noChangeArrowheads="1"/>
          </p:cNvSpPr>
          <p:nvPr/>
        </p:nvSpPr>
        <p:spPr bwMode="auto">
          <a:xfrm>
            <a:off x="1316115" y="5867400"/>
            <a:ext cx="266544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0</a:t>
            </a:r>
          </a:p>
        </p:txBody>
      </p:sp>
      <p:sp>
        <p:nvSpPr>
          <p:cNvPr id="61" name="AutoShape 411"/>
          <p:cNvSpPr>
            <a:spLocks/>
          </p:cNvSpPr>
          <p:nvPr/>
        </p:nvSpPr>
        <p:spPr bwMode="auto">
          <a:xfrm>
            <a:off x="3746500" y="1439862"/>
            <a:ext cx="76200" cy="304800"/>
          </a:xfrm>
          <a:prstGeom prst="rightBrace">
            <a:avLst>
              <a:gd name="adj1" fmla="val 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62" name="AutoShape 412"/>
          <p:cNvSpPr>
            <a:spLocks/>
          </p:cNvSpPr>
          <p:nvPr/>
        </p:nvSpPr>
        <p:spPr bwMode="auto">
          <a:xfrm>
            <a:off x="3746500" y="2659062"/>
            <a:ext cx="76200" cy="609600"/>
          </a:xfrm>
          <a:prstGeom prst="rightBrace">
            <a:avLst>
              <a:gd name="adj1" fmla="val 66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63" name="AutoShape 415"/>
          <p:cNvSpPr>
            <a:spLocks/>
          </p:cNvSpPr>
          <p:nvPr/>
        </p:nvSpPr>
        <p:spPr bwMode="auto">
          <a:xfrm>
            <a:off x="3746500" y="3967162"/>
            <a:ext cx="74613" cy="584200"/>
          </a:xfrm>
          <a:prstGeom prst="rightBrace">
            <a:avLst>
              <a:gd name="adj1" fmla="val 6524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64" name="AutoShape 416"/>
          <p:cNvSpPr>
            <a:spLocks/>
          </p:cNvSpPr>
          <p:nvPr/>
        </p:nvSpPr>
        <p:spPr bwMode="auto">
          <a:xfrm>
            <a:off x="3746500" y="4576762"/>
            <a:ext cx="76200" cy="355600"/>
          </a:xfrm>
          <a:prstGeom prst="rightBrace">
            <a:avLst>
              <a:gd name="adj1" fmla="val 3888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65" name="AutoShape 417"/>
          <p:cNvSpPr>
            <a:spLocks/>
          </p:cNvSpPr>
          <p:nvPr/>
        </p:nvSpPr>
        <p:spPr bwMode="auto">
          <a:xfrm>
            <a:off x="3746500" y="4983162"/>
            <a:ext cx="76200" cy="647700"/>
          </a:xfrm>
          <a:prstGeom prst="rightBrace">
            <a:avLst>
              <a:gd name="adj1" fmla="val 70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66" name="Text Box 420"/>
          <p:cNvSpPr txBox="1">
            <a:spLocks noChangeArrowheads="1"/>
          </p:cNvSpPr>
          <p:nvPr/>
        </p:nvSpPr>
        <p:spPr bwMode="auto">
          <a:xfrm>
            <a:off x="3822700" y="1439862"/>
            <a:ext cx="1878013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/>
              <a:t>Private, demand-zero</a:t>
            </a:r>
          </a:p>
        </p:txBody>
      </p:sp>
      <p:sp>
        <p:nvSpPr>
          <p:cNvPr id="67" name="Text Box 423"/>
          <p:cNvSpPr txBox="1">
            <a:spLocks noChangeArrowheads="1"/>
          </p:cNvSpPr>
          <p:nvPr/>
        </p:nvSpPr>
        <p:spPr bwMode="auto">
          <a:xfrm>
            <a:off x="211180" y="2430462"/>
            <a:ext cx="649203" cy="287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b="1">
                <a:solidFill>
                  <a:schemeClr val="tx2"/>
                </a:solidFill>
              </a:rPr>
              <a:t>libc.so</a:t>
            </a:r>
          </a:p>
        </p:txBody>
      </p:sp>
      <p:sp>
        <p:nvSpPr>
          <p:cNvPr id="68" name="Rectangle 424"/>
          <p:cNvSpPr>
            <a:spLocks noChangeArrowheads="1"/>
          </p:cNvSpPr>
          <p:nvPr/>
        </p:nvSpPr>
        <p:spPr bwMode="auto">
          <a:xfrm>
            <a:off x="88900" y="2735262"/>
            <a:ext cx="914400" cy="228600"/>
          </a:xfrm>
          <a:prstGeom prst="rect">
            <a:avLst/>
          </a:prstGeom>
          <a:solidFill>
            <a:srgbClr val="D5F1C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</a:rPr>
              <a:t>.data</a:t>
            </a:r>
          </a:p>
        </p:txBody>
      </p:sp>
      <p:sp>
        <p:nvSpPr>
          <p:cNvPr id="69" name="Rectangle 425"/>
          <p:cNvSpPr>
            <a:spLocks noChangeArrowheads="1"/>
          </p:cNvSpPr>
          <p:nvPr/>
        </p:nvSpPr>
        <p:spPr bwMode="auto">
          <a:xfrm>
            <a:off x="88900" y="2963862"/>
            <a:ext cx="914400" cy="228600"/>
          </a:xfrm>
          <a:prstGeom prst="rect">
            <a:avLst/>
          </a:prstGeom>
          <a:solidFill>
            <a:srgbClr val="D5F1C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</a:rPr>
              <a:t>.text</a:t>
            </a:r>
          </a:p>
        </p:txBody>
      </p:sp>
      <p:sp>
        <p:nvSpPr>
          <p:cNvPr id="70" name="Line 428"/>
          <p:cNvSpPr>
            <a:spLocks noChangeShapeType="1"/>
          </p:cNvSpPr>
          <p:nvPr/>
        </p:nvSpPr>
        <p:spPr bwMode="auto">
          <a:xfrm>
            <a:off x="1003300" y="28114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71" name="Line 429"/>
          <p:cNvSpPr>
            <a:spLocks noChangeShapeType="1"/>
          </p:cNvSpPr>
          <p:nvPr/>
        </p:nvSpPr>
        <p:spPr bwMode="auto">
          <a:xfrm>
            <a:off x="1003300" y="31162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72" name="Text Box 430"/>
          <p:cNvSpPr txBox="1">
            <a:spLocks noChangeArrowheads="1"/>
          </p:cNvSpPr>
          <p:nvPr/>
        </p:nvSpPr>
        <p:spPr bwMode="auto">
          <a:xfrm>
            <a:off x="3822700" y="2811462"/>
            <a:ext cx="1711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/>
              <a:t>Shared, file-backed</a:t>
            </a:r>
          </a:p>
        </p:txBody>
      </p:sp>
      <p:sp>
        <p:nvSpPr>
          <p:cNvPr id="73" name="Text Box 431"/>
          <p:cNvSpPr txBox="1">
            <a:spLocks noChangeArrowheads="1"/>
          </p:cNvSpPr>
          <p:nvPr/>
        </p:nvSpPr>
        <p:spPr bwMode="auto">
          <a:xfrm>
            <a:off x="3822700" y="4106862"/>
            <a:ext cx="1878013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/>
              <a:t>Private, demand-zero</a:t>
            </a:r>
          </a:p>
        </p:txBody>
      </p:sp>
      <p:sp>
        <p:nvSpPr>
          <p:cNvPr id="74" name="Text Box 432"/>
          <p:cNvSpPr txBox="1">
            <a:spLocks noChangeArrowheads="1"/>
          </p:cNvSpPr>
          <p:nvPr/>
        </p:nvSpPr>
        <p:spPr bwMode="auto">
          <a:xfrm>
            <a:off x="3822700" y="4564062"/>
            <a:ext cx="1878013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/>
              <a:t>Private, demand-zero</a:t>
            </a:r>
          </a:p>
        </p:txBody>
      </p:sp>
      <p:sp>
        <p:nvSpPr>
          <p:cNvPr id="75" name="Text Box 434"/>
          <p:cNvSpPr txBox="1">
            <a:spLocks noChangeArrowheads="1"/>
          </p:cNvSpPr>
          <p:nvPr/>
        </p:nvSpPr>
        <p:spPr bwMode="auto">
          <a:xfrm>
            <a:off x="3822700" y="5173662"/>
            <a:ext cx="16922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/>
              <a:t>Private, file-backed</a:t>
            </a:r>
          </a:p>
        </p:txBody>
      </p:sp>
      <p:sp>
        <p:nvSpPr>
          <p:cNvPr id="76" name="Text Box 435"/>
          <p:cNvSpPr txBox="1">
            <a:spLocks noChangeArrowheads="1"/>
          </p:cNvSpPr>
          <p:nvPr/>
        </p:nvSpPr>
        <p:spPr bwMode="auto">
          <a:xfrm>
            <a:off x="275700" y="4792662"/>
            <a:ext cx="534450" cy="287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b="1">
                <a:solidFill>
                  <a:schemeClr val="tx2"/>
                </a:solidFill>
              </a:rPr>
              <a:t>a.out</a:t>
            </a:r>
          </a:p>
        </p:txBody>
      </p:sp>
      <p:sp>
        <p:nvSpPr>
          <p:cNvPr id="77" name="Rectangle 436"/>
          <p:cNvSpPr>
            <a:spLocks noChangeArrowheads="1"/>
          </p:cNvSpPr>
          <p:nvPr/>
        </p:nvSpPr>
        <p:spPr bwMode="auto">
          <a:xfrm>
            <a:off x="88900" y="5097462"/>
            <a:ext cx="914400" cy="2286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</a:rPr>
              <a:t>.data</a:t>
            </a:r>
          </a:p>
        </p:txBody>
      </p:sp>
      <p:sp>
        <p:nvSpPr>
          <p:cNvPr id="78" name="Rectangle 437"/>
          <p:cNvSpPr>
            <a:spLocks noChangeArrowheads="1"/>
          </p:cNvSpPr>
          <p:nvPr/>
        </p:nvSpPr>
        <p:spPr bwMode="auto">
          <a:xfrm>
            <a:off x="88900" y="5326062"/>
            <a:ext cx="914400" cy="228600"/>
          </a:xfrm>
          <a:prstGeom prst="rect">
            <a:avLst/>
          </a:prstGeom>
          <a:solidFill>
            <a:srgbClr val="F1C7C7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</a:rPr>
              <a:t>.text</a:t>
            </a:r>
          </a:p>
        </p:txBody>
      </p:sp>
      <p:sp>
        <p:nvSpPr>
          <p:cNvPr id="79" name="Line 438"/>
          <p:cNvSpPr>
            <a:spLocks noChangeShapeType="1"/>
          </p:cNvSpPr>
          <p:nvPr/>
        </p:nvSpPr>
        <p:spPr bwMode="auto">
          <a:xfrm>
            <a:off x="1003300" y="51736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80" name="Line 439"/>
          <p:cNvSpPr>
            <a:spLocks noChangeShapeType="1"/>
          </p:cNvSpPr>
          <p:nvPr/>
        </p:nvSpPr>
        <p:spPr bwMode="auto">
          <a:xfrm>
            <a:off x="1003300" y="54784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683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3497" y="434447"/>
            <a:ext cx="72596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User-Level Memory Mapping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3" y="1220788"/>
            <a:ext cx="8459787" cy="5637212"/>
          </a:xfrm>
          <a:ln/>
        </p:spPr>
        <p:txBody>
          <a:bodyPr/>
          <a:lstStyle/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void *</a:t>
            </a:r>
            <a:r>
              <a:rPr lang="en-GB" sz="1800" dirty="0" err="1">
                <a:effectLst/>
                <a:latin typeface="Courier New" pitchFamily="49" charset="0"/>
              </a:rPr>
              <a:t>mmap</a:t>
            </a:r>
            <a:r>
              <a:rPr lang="en-GB" sz="1800" dirty="0">
                <a:effectLst/>
                <a:latin typeface="Courier New" pitchFamily="49" charset="0"/>
              </a:rPr>
              <a:t>(void *start,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len</a:t>
            </a:r>
            <a:r>
              <a:rPr lang="en-GB" sz="1800" dirty="0">
                <a:effectLst/>
                <a:latin typeface="Courier New" pitchFamily="49" charset="0"/>
              </a:rPr>
              <a:t>,</a:t>
            </a:r>
          </a:p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          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prot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flags,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fd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offset</a:t>
            </a:r>
            <a:r>
              <a:rPr lang="en-GB" sz="2000" dirty="0">
                <a:effectLst/>
              </a:rPr>
              <a:t>)</a:t>
            </a:r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 </a:t>
            </a:r>
            <a:r>
              <a:rPr lang="en-GB" b="1" dirty="0" err="1">
                <a:latin typeface="Courier New" pitchFamily="49" charset="0"/>
              </a:rPr>
              <a:t>len</a:t>
            </a:r>
            <a:r>
              <a:rPr lang="en-GB" dirty="0"/>
              <a:t> bytes starting at offset </a:t>
            </a:r>
            <a:r>
              <a:rPr lang="en-GB" b="1" dirty="0" err="1">
                <a:latin typeface="Courier New" pitchFamily="49" charset="0"/>
              </a:rPr>
              <a:t>offset</a:t>
            </a:r>
            <a:r>
              <a:rPr lang="en-GB" dirty="0">
                <a:latin typeface="Courier New" pitchFamily="49" charset="0"/>
              </a:rPr>
              <a:t> </a:t>
            </a:r>
            <a:r>
              <a:rPr lang="en-GB" dirty="0"/>
              <a:t>of the file specified by file description </a:t>
            </a:r>
            <a:r>
              <a:rPr lang="en-GB" b="1" dirty="0" err="1">
                <a:latin typeface="Courier New" pitchFamily="49" charset="0"/>
              </a:rPr>
              <a:t>fd</a:t>
            </a:r>
            <a:r>
              <a:rPr lang="en-GB" dirty="0"/>
              <a:t>, preferably at address </a:t>
            </a: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/>
              <a:t> 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>
                <a:latin typeface="Courier New" pitchFamily="49" charset="0"/>
              </a:rPr>
              <a:t>:</a:t>
            </a:r>
            <a:r>
              <a:rPr lang="en-GB" dirty="0"/>
              <a:t> may be 0 for “pick an address”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 err="1">
                <a:latin typeface="Courier New" pitchFamily="49" charset="0"/>
              </a:rPr>
              <a:t>prot</a:t>
            </a:r>
            <a:r>
              <a:rPr lang="en-GB" dirty="0"/>
              <a:t>: PROT_READ, PROT_WRITE, ...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>
                <a:latin typeface="Courier New" pitchFamily="49" charset="0"/>
              </a:rPr>
              <a:t>flags</a:t>
            </a:r>
            <a:r>
              <a:rPr lang="en-GB" dirty="0"/>
              <a:t>: MAP_ANON, MAP_PRIVATE, MAP_SHARED, ...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Return a pointer to start of mapped area (may not be </a:t>
            </a: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35212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93713"/>
            <a:ext cx="72596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User-Level Memory Mapping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0201" y="1220789"/>
            <a:ext cx="8307387" cy="836612"/>
          </a:xfrm>
          <a:ln/>
        </p:spPr>
        <p:txBody>
          <a:bodyPr/>
          <a:lstStyle/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void *</a:t>
            </a:r>
            <a:r>
              <a:rPr lang="en-GB" sz="1800" dirty="0" err="1">
                <a:effectLst/>
                <a:latin typeface="Courier New" pitchFamily="49" charset="0"/>
              </a:rPr>
              <a:t>mmap</a:t>
            </a:r>
            <a:r>
              <a:rPr lang="en-GB" sz="1800" dirty="0">
                <a:effectLst/>
                <a:latin typeface="Courier New" pitchFamily="49" charset="0"/>
              </a:rPr>
              <a:t>(void *start,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len</a:t>
            </a:r>
            <a:r>
              <a:rPr lang="en-GB" sz="1800" dirty="0">
                <a:effectLst/>
                <a:latin typeface="Courier New" pitchFamily="49" charset="0"/>
              </a:rPr>
              <a:t>,</a:t>
            </a:r>
          </a:p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          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prot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flags,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fd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offset</a:t>
            </a:r>
            <a:r>
              <a:rPr lang="en-GB" sz="2000" dirty="0">
                <a:effectLst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057400" y="2362200"/>
            <a:ext cx="9906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3733800"/>
            <a:ext cx="990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638800" y="1981200"/>
            <a:ext cx="990600" cy="403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638800" y="2590800"/>
            <a:ext cx="990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 flipV="1">
            <a:off x="3048000" y="2590800"/>
            <a:ext cx="2590800" cy="1143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3048000" y="3733800"/>
            <a:ext cx="2590800" cy="1143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AutoShape 51"/>
          <p:cNvSpPr>
            <a:spLocks/>
          </p:cNvSpPr>
          <p:nvPr/>
        </p:nvSpPr>
        <p:spPr bwMode="auto">
          <a:xfrm>
            <a:off x="6705600" y="2590800"/>
            <a:ext cx="228600" cy="11430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934200" y="2963336"/>
            <a:ext cx="13773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>
                <a:latin typeface="Courier New" pitchFamily="49" charset="0"/>
              </a:rPr>
              <a:t>len</a:t>
            </a:r>
            <a:r>
              <a:rPr lang="en-GB" sz="2000" dirty="0">
                <a:latin typeface="Courier New" pitchFamily="49" charset="0"/>
              </a:rPr>
              <a:t> </a:t>
            </a:r>
            <a:r>
              <a:rPr lang="en-GB" sz="2000" dirty="0">
                <a:latin typeface="+mn-lt"/>
              </a:rPr>
              <a:t>bytes</a:t>
            </a:r>
            <a:endParaRPr lang="en-US" sz="2000" dirty="0">
              <a:latin typeface="+mn-lt"/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 rot="10800000">
            <a:off x="6629400" y="3733800"/>
            <a:ext cx="609600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7239000" y="3536889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urier New" pitchFamily="49" charset="0"/>
              </a:rPr>
              <a:t>start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6781800" y="3857936"/>
            <a:ext cx="1863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(or address 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chosen by kernel)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4468" y="6031468"/>
            <a:ext cx="2672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virtual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753" y="6019800"/>
            <a:ext cx="2387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Disk file specified by </a:t>
            </a:r>
          </a:p>
          <a:p>
            <a:pPr algn="ctr"/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file descriptor </a:t>
            </a:r>
            <a:r>
              <a:rPr lang="en-US" sz="2000" dirty="0" err="1">
                <a:latin typeface="Courier New" pitchFamily="49" charset="0"/>
              </a:rPr>
              <a:t>fd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20" name="AutoShape 51"/>
          <p:cNvSpPr>
            <a:spLocks/>
          </p:cNvSpPr>
          <p:nvPr/>
        </p:nvSpPr>
        <p:spPr bwMode="auto">
          <a:xfrm flipH="1">
            <a:off x="1752600" y="3733800"/>
            <a:ext cx="228600" cy="11430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8366" y="4104157"/>
            <a:ext cx="13773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>
                <a:latin typeface="Courier New" pitchFamily="49" charset="0"/>
              </a:rPr>
              <a:t>len</a:t>
            </a:r>
            <a:r>
              <a:rPr lang="en-GB" sz="2000" dirty="0">
                <a:latin typeface="Courier New" pitchFamily="49" charset="0"/>
              </a:rPr>
              <a:t> </a:t>
            </a:r>
            <a:r>
              <a:rPr lang="en-GB" sz="2000" dirty="0">
                <a:latin typeface="+mn-lt"/>
              </a:rPr>
              <a:t>bytes</a:t>
            </a:r>
            <a:endParaRPr lang="en-US" sz="2000" dirty="0">
              <a:latin typeface="+mn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52400" y="4676745"/>
            <a:ext cx="11079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urier New" pitchFamily="49" charset="0"/>
              </a:rPr>
              <a:t>offset</a:t>
            </a:r>
            <a:endParaRPr lang="en-US" sz="2000" dirty="0"/>
          </a:p>
        </p:txBody>
      </p:sp>
      <p:cxnSp>
        <p:nvCxnSpPr>
          <p:cNvPr id="24" name="Straight Arrow Connector 23"/>
          <p:cNvCxnSpPr>
            <a:stCxn id="22" idx="3"/>
          </p:cNvCxnSpPr>
          <p:nvPr/>
        </p:nvCxnSpPr>
        <p:spPr bwMode="auto">
          <a:xfrm>
            <a:off x="1260396" y="4876800"/>
            <a:ext cx="797004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262468" y="5003799"/>
            <a:ext cx="84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(bytes)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0004" y="5819001"/>
            <a:ext cx="292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latin typeface="Courier New"/>
                <a:cs typeface="Courier New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1542" y="5791200"/>
            <a:ext cx="292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latin typeface="Courier New"/>
                <a:cs typeface="Courier New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68355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1963"/>
            <a:ext cx="9144000" cy="604837"/>
          </a:xfrm>
          <a:ln/>
        </p:spPr>
        <p:txBody>
          <a:bodyPr/>
          <a:lstStyle/>
          <a:p>
            <a:pPr>
              <a:lnSpc>
                <a:spcPct val="82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+mn-lt"/>
              </a:rPr>
              <a:t>Example: Using </a:t>
            </a:r>
            <a:r>
              <a:rPr lang="en-GB" dirty="0" err="1">
                <a:latin typeface="Courier New"/>
                <a:cs typeface="Courier New"/>
              </a:rPr>
              <a:t>mmap</a:t>
            </a:r>
            <a:r>
              <a:rPr lang="en-GB" dirty="0">
                <a:latin typeface="+mn-lt"/>
              </a:rPr>
              <a:t> to Copy Files</a:t>
            </a:r>
            <a:endParaRPr lang="en-GB" dirty="0">
              <a:latin typeface="Courier New"/>
              <a:cs typeface="Courier New"/>
            </a:endParaRP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4419600" y="2436812"/>
            <a:ext cx="4572000" cy="4116388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/>
          <a:lstStyle/>
          <a:p>
            <a:r>
              <a:rPr lang="en-US" sz="1400" dirty="0">
                <a:solidFill>
                  <a:srgbClr val="CB2418"/>
                </a:solidFill>
                <a:latin typeface="Menlo-Regular"/>
              </a:rPr>
              <a:t>/* </a:t>
            </a:r>
            <a:r>
              <a:rPr lang="en-US" sz="1400" dirty="0" err="1">
                <a:solidFill>
                  <a:srgbClr val="CB2418"/>
                </a:solidFill>
                <a:latin typeface="Menlo-Regular"/>
              </a:rPr>
              <a:t>mmapcopy</a:t>
            </a:r>
            <a:r>
              <a:rPr lang="en-US" sz="1400" dirty="0">
                <a:solidFill>
                  <a:srgbClr val="CB2418"/>
                </a:solidFill>
                <a:latin typeface="Menlo-Regular"/>
              </a:rPr>
              <a:t> driver */</a:t>
            </a:r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Menlo-Regular"/>
              </a:rPr>
              <a:t>argc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400" dirty="0">
                <a:solidFill>
                  <a:srgbClr val="2D961E"/>
                </a:solidFill>
                <a:latin typeface="Menlo-Regular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**</a:t>
            </a:r>
            <a:r>
              <a:rPr lang="en-US" sz="1400" dirty="0" err="1">
                <a:solidFill>
                  <a:srgbClr val="C1651C"/>
                </a:solidFill>
                <a:latin typeface="Menlo-Regular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400" dirty="0" err="1">
                <a:solidFill>
                  <a:srgbClr val="C200FF"/>
                </a:solidFill>
                <a:latin typeface="Menlo-Regular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>
                <a:solidFill>
                  <a:srgbClr val="2D961E"/>
                </a:solidFill>
                <a:latin typeface="Menlo-Regular"/>
              </a:rPr>
              <a:t>stat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Menlo-Regular"/>
              </a:rPr>
              <a:t>stat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l-NL" sz="1400" dirty="0">
                <a:solidFill>
                  <a:srgbClr val="2D961E"/>
                </a:solidFill>
                <a:latin typeface="Menlo-Regular"/>
              </a:rPr>
              <a:t>int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nl-NL" sz="1400" dirty="0" err="1">
                <a:solidFill>
                  <a:srgbClr val="C1651C"/>
                </a:solidFill>
                <a:latin typeface="Menlo-Regular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endParaRPr lang="nl-NL" sz="1400" dirty="0">
              <a:solidFill>
                <a:srgbClr val="000000"/>
              </a:solidFill>
              <a:latin typeface="Menlo-Regular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l-NL" sz="1400" dirty="0">
                <a:solidFill>
                  <a:srgbClr val="CB2418"/>
                </a:solidFill>
                <a:latin typeface="Menlo-Regular"/>
              </a:rPr>
              <a:t>/* Check </a:t>
            </a:r>
            <a:r>
              <a:rPr lang="nl-NL" sz="1400" dirty="0" err="1">
                <a:solidFill>
                  <a:srgbClr val="CB2418"/>
                </a:solidFill>
                <a:latin typeface="Menlo-Regular"/>
              </a:rPr>
              <a:t>for</a:t>
            </a:r>
            <a:r>
              <a:rPr lang="nl-NL" sz="1400" dirty="0">
                <a:solidFill>
                  <a:srgbClr val="CB2418"/>
                </a:solidFill>
                <a:latin typeface="Menlo-Regular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Menlo-Regular"/>
              </a:rPr>
              <a:t>required</a:t>
            </a:r>
            <a:r>
              <a:rPr lang="nl-NL" sz="1400" dirty="0">
                <a:solidFill>
                  <a:srgbClr val="CB2418"/>
                </a:solidFill>
                <a:latin typeface="Menlo-Regular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Menlo-Regular"/>
              </a:rPr>
              <a:t>cmd</a:t>
            </a:r>
            <a:r>
              <a:rPr lang="nl-NL" sz="1400" dirty="0">
                <a:solidFill>
                  <a:srgbClr val="CB2418"/>
                </a:solidFill>
                <a:latin typeface="Menlo-Regular"/>
              </a:rPr>
              <a:t> line </a:t>
            </a:r>
            <a:r>
              <a:rPr lang="nl-NL" sz="1400" dirty="0" err="1">
                <a:solidFill>
                  <a:srgbClr val="CB2418"/>
                </a:solidFill>
                <a:latin typeface="Menlo-Regular"/>
              </a:rPr>
              <a:t>arg</a:t>
            </a:r>
            <a:r>
              <a:rPr lang="nl-NL" sz="1400" dirty="0">
                <a:solidFill>
                  <a:srgbClr val="CB2418"/>
                </a:solidFill>
                <a:latin typeface="Menlo-Regular"/>
              </a:rPr>
              <a:t> */</a:t>
            </a:r>
            <a:endParaRPr lang="nl-NL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argc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!= 2) {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Menlo-Regular"/>
              </a:rPr>
              <a:t>"usage: %s &lt;filename&gt;\n"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       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[0]);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exit(0);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400" dirty="0">
                <a:solidFill>
                  <a:srgbClr val="CB2418"/>
                </a:solidFill>
                <a:latin typeface="Menlo-Regular"/>
              </a:rPr>
              <a:t>/* Copy input file to </a:t>
            </a:r>
            <a:r>
              <a:rPr lang="en-US" sz="1400" dirty="0" err="1">
                <a:solidFill>
                  <a:srgbClr val="CB2418"/>
                </a:solidFill>
                <a:latin typeface="Menlo-Regular"/>
              </a:rPr>
              <a:t>stdout</a:t>
            </a:r>
            <a:r>
              <a:rPr lang="en-US" sz="1400" dirty="0">
                <a:solidFill>
                  <a:srgbClr val="CB2418"/>
                </a:solidFill>
                <a:latin typeface="Menlo-Regular"/>
              </a:rPr>
              <a:t> */</a:t>
            </a:r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 = Open(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argv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[1], O_RDONLY, 0);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Fstat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, &amp;stat);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mmapcopy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stat.st_size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exit(0);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}</a:t>
            </a:r>
            <a:endParaRPr lang="en-GB" sz="1400" dirty="0">
              <a:latin typeface="Courier New" pitchFamily="49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96875" y="1362075"/>
            <a:ext cx="78962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96875" y="1362075"/>
            <a:ext cx="859472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lang="en-GB" kern="0" dirty="0">
                <a:latin typeface="Calibri" pitchFamily="34" charset="0"/>
              </a:rPr>
              <a:t>Copying a file to </a:t>
            </a:r>
            <a:r>
              <a:rPr lang="en-GB" kern="0" dirty="0" err="1">
                <a:latin typeface="Courier New"/>
                <a:cs typeface="Courier New"/>
              </a:rPr>
              <a:t>stdout</a:t>
            </a:r>
            <a:r>
              <a:rPr lang="en-GB" kern="0" dirty="0">
                <a:latin typeface="Calibri" pitchFamily="34" charset="0"/>
              </a:rPr>
              <a:t> without transferring data to user space 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23318" y="2436812"/>
            <a:ext cx="3991482" cy="4116388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/>
          <a:lstStyle/>
          <a:p>
            <a:r>
              <a:rPr lang="en-US" sz="1400" dirty="0">
                <a:solidFill>
                  <a:srgbClr val="926492"/>
                </a:solidFill>
                <a:latin typeface="Menlo-Regular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>
                <a:solidFill>
                  <a:srgbClr val="9D206F"/>
                </a:solidFill>
                <a:latin typeface="Menlo-Regular"/>
              </a:rPr>
              <a:t>"</a:t>
            </a:r>
            <a:r>
              <a:rPr lang="en-US" sz="1400" dirty="0" err="1">
                <a:solidFill>
                  <a:srgbClr val="9D206F"/>
                </a:solidFill>
                <a:latin typeface="Menlo-Regular"/>
              </a:rPr>
              <a:t>csapp.h</a:t>
            </a:r>
            <a:r>
              <a:rPr lang="en-US" sz="1400" dirty="0">
                <a:solidFill>
                  <a:srgbClr val="9D206F"/>
                </a:solidFill>
                <a:latin typeface="Menlo-Regular"/>
              </a:rPr>
              <a:t>"</a:t>
            </a:r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 err="1">
                <a:solidFill>
                  <a:srgbClr val="4A00FF"/>
                </a:solidFill>
                <a:latin typeface="Menlo-Regular"/>
              </a:rPr>
              <a:t>mmapcopy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Menlo-Regular"/>
              </a:rPr>
              <a:t>fd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4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Menlo-Regular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400" dirty="0">
                <a:solidFill>
                  <a:srgbClr val="CB2418"/>
                </a:solidFill>
                <a:latin typeface="Menlo-Regular"/>
              </a:rPr>
              <a:t>/* </a:t>
            </a:r>
            <a:r>
              <a:rPr lang="en-US" sz="1400" dirty="0" err="1">
                <a:solidFill>
                  <a:srgbClr val="CB2418"/>
                </a:solidFill>
                <a:latin typeface="Menlo-Regular"/>
              </a:rPr>
              <a:t>Ptr</a:t>
            </a:r>
            <a:r>
              <a:rPr lang="en-US" sz="1400" dirty="0">
                <a:solidFill>
                  <a:srgbClr val="CB2418"/>
                </a:solidFill>
                <a:latin typeface="Menlo-Regular"/>
              </a:rPr>
              <a:t> to memory mapped area */</a:t>
            </a:r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da-DK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400" dirty="0" err="1">
                <a:solidFill>
                  <a:srgbClr val="2D961E"/>
                </a:solidFill>
                <a:latin typeface="Menlo-Regular"/>
              </a:rPr>
              <a:t>char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da-DK" sz="1400" dirty="0" err="1">
                <a:solidFill>
                  <a:srgbClr val="C1651C"/>
                </a:solidFill>
                <a:latin typeface="Menlo-Regular"/>
              </a:rPr>
              <a:t>bufp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endParaRPr lang="da-DK" sz="1400" dirty="0">
              <a:solidFill>
                <a:srgbClr val="000000"/>
              </a:solidFill>
              <a:latin typeface="Menlo-Regular"/>
            </a:endParaRPr>
          </a:p>
          <a:p>
            <a:r>
              <a:rPr lang="da-DK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bufp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 =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Mmap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4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size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, </a:t>
            </a:r>
          </a:p>
          <a:p>
            <a:r>
              <a:rPr lang="da-DK" sz="1400" dirty="0">
                <a:solidFill>
                  <a:srgbClr val="000000"/>
                </a:solidFill>
                <a:latin typeface="Menlo-Regular"/>
              </a:rPr>
              <a:t>                PROT_READ,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            MAP_PRIVATE, 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, 0);</a:t>
            </a:r>
          </a:p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    Write(1, </a:t>
            </a:r>
            <a:r>
              <a:rPr lang="de-DE" sz="1400" dirty="0" err="1">
                <a:solidFill>
                  <a:srgbClr val="000000"/>
                </a:solidFill>
                <a:latin typeface="Menlo-Regular"/>
              </a:rPr>
              <a:t>bufp</a:t>
            </a:r>
            <a:r>
              <a:rPr lang="de-DE" sz="14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de-DE" sz="1400" dirty="0" err="1">
                <a:solidFill>
                  <a:srgbClr val="000000"/>
                </a:solidFill>
                <a:latin typeface="Menlo-Regular"/>
              </a:rPr>
              <a:t>size</a:t>
            </a:r>
            <a:r>
              <a:rPr lang="de-DE" sz="14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is-IS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is-IS" sz="14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is-IS" sz="14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is-IS" sz="14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67000" y="6172200"/>
            <a:ext cx="1410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mmapcopy.c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1426" y="6183868"/>
            <a:ext cx="1410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mmapcopy.c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9323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 sz="1600" dirty="0" smtClean="0">
            <a:latin typeface="+mn-lt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18500</TotalTime>
  <Words>5888</Words>
  <Application>Microsoft Macintosh PowerPoint</Application>
  <PresentationFormat>On-screen Show (4:3)</PresentationFormat>
  <Paragraphs>2112</Paragraphs>
  <Slides>71</Slides>
  <Notes>53</Notes>
  <HiddenSlides>13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0" baseType="lpstr">
      <vt:lpstr>Arial</vt:lpstr>
      <vt:lpstr>Arial Narrow</vt:lpstr>
      <vt:lpstr>Calibri</vt:lpstr>
      <vt:lpstr>Courier New</vt:lpstr>
      <vt:lpstr>Menlo-Regular</vt:lpstr>
      <vt:lpstr>Times New Roman</vt:lpstr>
      <vt:lpstr>Wingdings</vt:lpstr>
      <vt:lpstr>Wingdings 2</vt:lpstr>
      <vt:lpstr>template2007</vt:lpstr>
      <vt:lpstr>Virtual Memory: Concepts  CENG331  - Computer Organization </vt:lpstr>
      <vt:lpstr>Today  </vt:lpstr>
      <vt:lpstr>A System Using Physical Addressing</vt:lpstr>
      <vt:lpstr>A System Using Virtual Addressing</vt:lpstr>
      <vt:lpstr>Address Spaces</vt:lpstr>
      <vt:lpstr>Why Virtual Memory (VM)?</vt:lpstr>
      <vt:lpstr>Today  </vt:lpstr>
      <vt:lpstr>VM as a Tool for Caching</vt:lpstr>
      <vt:lpstr>DRAM Cache Organization</vt:lpstr>
      <vt:lpstr>Enabling Data Structure: Page Table</vt:lpstr>
      <vt:lpstr>Page Hit</vt:lpstr>
      <vt:lpstr>Page Fault</vt:lpstr>
      <vt:lpstr>Handling Page Fault</vt:lpstr>
      <vt:lpstr>Handling Page Fault</vt:lpstr>
      <vt:lpstr>Handling Page Fault</vt:lpstr>
      <vt:lpstr>Handling Page Fault</vt:lpstr>
      <vt:lpstr>Allocating Pages</vt:lpstr>
      <vt:lpstr>Locality to the Rescue Again!</vt:lpstr>
      <vt:lpstr>Today  </vt:lpstr>
      <vt:lpstr>VM as a Tool for Memory Management</vt:lpstr>
      <vt:lpstr>VM as a Tool for Memory Management</vt:lpstr>
      <vt:lpstr>Simplifying Linking and Loading</vt:lpstr>
      <vt:lpstr>Today  </vt:lpstr>
      <vt:lpstr>VM as a Tool for Memory Protection</vt:lpstr>
      <vt:lpstr>Today  </vt:lpstr>
      <vt:lpstr>VM Address Translation</vt:lpstr>
      <vt:lpstr>Summary of Address Translation Symbols</vt:lpstr>
      <vt:lpstr>Address Translation With a Page Table</vt:lpstr>
      <vt:lpstr>Address Translation: Page Hit</vt:lpstr>
      <vt:lpstr>Address Translation: Page Fault</vt:lpstr>
      <vt:lpstr>Integrating VM and Cache</vt:lpstr>
      <vt:lpstr>Speeding up Translation with a TLB</vt:lpstr>
      <vt:lpstr>Accessing the TLB</vt:lpstr>
      <vt:lpstr>TLB Hit</vt:lpstr>
      <vt:lpstr>TLB Miss</vt:lpstr>
      <vt:lpstr>Multi-Level Page Tables</vt:lpstr>
      <vt:lpstr>A Two-Level Page Table Hierarchy</vt:lpstr>
      <vt:lpstr>Translating with a k-level Page Table</vt:lpstr>
      <vt:lpstr>Summary</vt:lpstr>
      <vt:lpstr>Virtual Memory: Systems  CENG331  - Computer Organization </vt:lpstr>
      <vt:lpstr>Today  </vt:lpstr>
      <vt:lpstr>Review of Symbols</vt:lpstr>
      <vt:lpstr>Simple Memory System Example</vt:lpstr>
      <vt:lpstr>1. Simple Memory System TLB</vt:lpstr>
      <vt:lpstr>2. Simple Memory System Page Table</vt:lpstr>
      <vt:lpstr>3. Simple Memory System Cache</vt:lpstr>
      <vt:lpstr>Address Translation Example #1</vt:lpstr>
      <vt:lpstr>Address Translation Example #2</vt:lpstr>
      <vt:lpstr>Address Translation Example #3</vt:lpstr>
      <vt:lpstr>Today  </vt:lpstr>
      <vt:lpstr>Intel Core i7 Memory System</vt:lpstr>
      <vt:lpstr>Review of Symbols</vt:lpstr>
      <vt:lpstr>End-to-end Core i7 Address Translation</vt:lpstr>
      <vt:lpstr>Core i7 Level 1-3 Page Table Entries</vt:lpstr>
      <vt:lpstr>Core i7 Level 4 Page Table Entries</vt:lpstr>
      <vt:lpstr>Core i7 Page Table Translation</vt:lpstr>
      <vt:lpstr>Cute Trick for Speeding Up L1 Access</vt:lpstr>
      <vt:lpstr>Virtual Address Space of a Linux Process</vt:lpstr>
      <vt:lpstr>Linux Organizes VM as Collection of “Areas” </vt:lpstr>
      <vt:lpstr>Linux Page Fault Handling </vt:lpstr>
      <vt:lpstr>Today  </vt:lpstr>
      <vt:lpstr>Memory Mapping</vt:lpstr>
      <vt:lpstr>Sharing Revisited: Shared Objects</vt:lpstr>
      <vt:lpstr>Sharing Revisited: Shared Objects</vt:lpstr>
      <vt:lpstr>Sharing Revisited:  Private Copy-on-write (COW) Objects</vt:lpstr>
      <vt:lpstr>Sharing Revisited:  Private Copy-on-write (COW) Objects</vt:lpstr>
      <vt:lpstr>The fork Function Revisited</vt:lpstr>
      <vt:lpstr>The execve Function Revisited</vt:lpstr>
      <vt:lpstr>User-Level Memory Mapping</vt:lpstr>
      <vt:lpstr>User-Level Memory Mapping</vt:lpstr>
      <vt:lpstr>Example: Using mmap to Copy Files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Erol Sahin</cp:lastModifiedBy>
  <cp:revision>563</cp:revision>
  <cp:lastPrinted>2015-12-28T08:26:15Z</cp:lastPrinted>
  <dcterms:created xsi:type="dcterms:W3CDTF">2011-01-05T23:17:11Z</dcterms:created>
  <dcterms:modified xsi:type="dcterms:W3CDTF">2023-01-03T08:14:33Z</dcterms:modified>
</cp:coreProperties>
</file>