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1" r:id="rId3"/>
    <p:sldMasterId id="2147483732" r:id="rId4"/>
  </p:sldMasterIdLst>
  <p:notesMasterIdLst>
    <p:notesMasterId r:id="rId66"/>
  </p:notesMasterIdLst>
  <p:handoutMasterIdLst>
    <p:handoutMasterId r:id="rId67"/>
  </p:handoutMasterIdLst>
  <p:sldIdLst>
    <p:sldId id="29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315" r:id="rId16"/>
    <p:sldId id="299" r:id="rId17"/>
    <p:sldId id="269" r:id="rId18"/>
    <p:sldId id="316" r:id="rId19"/>
    <p:sldId id="270" r:id="rId20"/>
    <p:sldId id="271" r:id="rId21"/>
    <p:sldId id="272" r:id="rId22"/>
    <p:sldId id="273" r:id="rId23"/>
    <p:sldId id="274" r:id="rId24"/>
    <p:sldId id="317" r:id="rId25"/>
    <p:sldId id="318" r:id="rId26"/>
    <p:sldId id="319" r:id="rId27"/>
    <p:sldId id="320" r:id="rId28"/>
    <p:sldId id="321" r:id="rId29"/>
    <p:sldId id="275" r:id="rId30"/>
    <p:sldId id="276" r:id="rId31"/>
    <p:sldId id="278" r:id="rId32"/>
    <p:sldId id="279" r:id="rId33"/>
    <p:sldId id="280" r:id="rId34"/>
    <p:sldId id="284" r:id="rId35"/>
    <p:sldId id="285" r:id="rId36"/>
    <p:sldId id="288" r:id="rId37"/>
    <p:sldId id="289" r:id="rId38"/>
    <p:sldId id="308" r:id="rId39"/>
    <p:sldId id="309" r:id="rId40"/>
    <p:sldId id="310" r:id="rId41"/>
    <p:sldId id="311" r:id="rId42"/>
    <p:sldId id="290" r:id="rId43"/>
    <p:sldId id="292" r:id="rId44"/>
    <p:sldId id="293" r:id="rId45"/>
    <p:sldId id="305" r:id="rId46"/>
    <p:sldId id="1038" r:id="rId47"/>
    <p:sldId id="1039" r:id="rId48"/>
    <p:sldId id="1040" r:id="rId49"/>
    <p:sldId id="313" r:id="rId50"/>
    <p:sldId id="1041" r:id="rId51"/>
    <p:sldId id="306" r:id="rId52"/>
    <p:sldId id="307" r:id="rId53"/>
    <p:sldId id="300" r:id="rId54"/>
    <p:sldId id="301" r:id="rId55"/>
    <p:sldId id="302" r:id="rId56"/>
    <p:sldId id="303" r:id="rId57"/>
    <p:sldId id="304" r:id="rId58"/>
    <p:sldId id="1034" r:id="rId59"/>
    <p:sldId id="322" r:id="rId60"/>
    <p:sldId id="1036" r:id="rId61"/>
    <p:sldId id="1037" r:id="rId62"/>
    <p:sldId id="1033" r:id="rId63"/>
    <p:sldId id="1042" r:id="rId64"/>
    <p:sldId id="1043" r:id="rId65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648">
          <p15:clr>
            <a:srgbClr val="A4A3A4"/>
          </p15:clr>
        </p15:guide>
        <p15:guide id="2" pos="27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37"/>
    <p:restoredTop sz="92887" autoAdjust="0"/>
  </p:normalViewPr>
  <p:slideViewPr>
    <p:cSldViewPr>
      <p:cViewPr varScale="1">
        <p:scale>
          <a:sx n="196" d="100"/>
          <a:sy n="196" d="100"/>
        </p:scale>
        <p:origin x="2440" y="176"/>
      </p:cViewPr>
      <p:guideLst>
        <p:guide orient="horz" pos="3648"/>
        <p:guide pos="278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C02A0-2CB8-F64C-87A7-A5563D28AA9B}" type="datetimeFigureOut">
              <a:rPr lang="en-US" smtClean="0"/>
              <a:pPr/>
              <a:t>10/21/22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85E4B-77DA-1E4C-9EDA-713D746B90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2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4" name="Rectangle 2"/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18722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425"/>
              </a:spcBef>
            </a:pPr>
            <a:r>
              <a:rPr lang="en-US">
                <a:solidFill>
                  <a:srgbClr val="000000"/>
                </a:solidFill>
                <a:latin typeface="Times New Roman" charset="0"/>
                <a:cs typeface="Times New Roman" charset="0"/>
                <a:sym typeface="Times New Roman" charset="0"/>
              </a:rPr>
              <a:t>Latex source for equation: </a:t>
            </a:r>
            <a:r>
              <a:rPr lang="en-US">
                <a:latin typeface="Monaco" charset="0"/>
                <a:ea typeface="Monaco" charset="0"/>
                <a:cs typeface="Monaco" charset="0"/>
                <a:sym typeface="Monaco" charset="0"/>
              </a:rPr>
              <a:t>\sum_{k=-j}^i b_k \times 2^k</a:t>
            </a:r>
          </a:p>
        </p:txBody>
      </p:sp>
    </p:spTree>
    <p:extLst>
      <p:ext uri="{BB962C8B-B14F-4D97-AF65-F5344CB8AC3E}">
        <p14:creationId xmlns:p14="http://schemas.microsoft.com/office/powerpoint/2010/main" val="1259851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19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5200" cy="3581400"/>
          </a:xfrm>
          <a:ln/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5637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0078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2981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1846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98538"/>
            <a:ext cx="2057400" cy="5127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98538"/>
            <a:ext cx="6019800" cy="5127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5872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5872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8538"/>
            <a:ext cx="7772400" cy="288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1pPr>
      <a:lvl2pPr marL="457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2pPr>
      <a:lvl3pPr marL="914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3pPr>
      <a:lvl4pPr marL="1371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4pPr>
      <a:lvl5pPr marL="18288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5pPr>
      <a:lvl6pPr marL="22860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6pPr>
      <a:lvl7pPr marL="2743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7pPr>
      <a:lvl8pPr marL="3200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8pPr>
      <a:lvl9pPr marL="3657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4099" name="Rectangle 3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342900" indent="-3429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600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20574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nu.org/s/libc/manual/html_node/Floating-Point-Parameters.html#Floating-Point-Parameters" TargetMode="External"/><Relationship Id="rId2" Type="http://schemas.openxmlformats.org/officeDocument/2006/relationships/hyperlink" Target="http://www.gnu.org/s/libc/manual/html_node/Rounding-Functions.html" TargetMode="Externa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8194" name="Rectangle 2"/>
          <p:cNvSpPr>
            <a:spLocks/>
          </p:cNvSpPr>
          <p:nvPr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1752600"/>
            <a:ext cx="7772400" cy="1820862"/>
          </a:xfrm>
        </p:spPr>
        <p:txBody>
          <a:bodyPr/>
          <a:lstStyle/>
          <a:p>
            <a:pPr marL="0" indent="0"/>
            <a:r>
              <a:rPr lang="en-US" b="1" dirty="0">
                <a:latin typeface="+mn-lt"/>
              </a:rPr>
              <a:t>Floating Point</a:t>
            </a:r>
            <a:br>
              <a:rPr lang="en-US" dirty="0"/>
            </a:br>
            <a:br>
              <a:rPr lang="en-US" dirty="0"/>
            </a:br>
            <a:endParaRPr lang="en-US" sz="2000" b="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024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Floating Point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Background: Fractional binary numbers</a:t>
            </a:r>
          </a:p>
          <a:p>
            <a:r>
              <a:rPr lang="en-US"/>
              <a:t>IEEE floating point standard: Definition</a:t>
            </a:r>
          </a:p>
          <a:p>
            <a:r>
              <a:rPr lang="en-US"/>
              <a:t>Example and properties</a:t>
            </a:r>
          </a:p>
          <a:p>
            <a:r>
              <a:rPr lang="en-US"/>
              <a:t>Rounding, addition, multiplication</a:t>
            </a:r>
          </a:p>
          <a:p>
            <a:r>
              <a:rPr lang="en-US"/>
              <a:t>Floating point in C</a:t>
            </a:r>
          </a:p>
          <a:p>
            <a:r>
              <a:rPr lang="en-US"/>
              <a:t>Summary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126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Fractional binary numbers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What is 1011.101</a:t>
            </a:r>
            <a:r>
              <a:rPr lang="en-US" baseline="-25000" dirty="0"/>
              <a:t>2</a:t>
            </a:r>
            <a:r>
              <a:rPr lang="en-US" dirty="0"/>
              <a:t>?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9" name="Group 1"/>
          <p:cNvGraphicFramePr>
            <a:graphicFrameLocks noGrp="1"/>
          </p:cNvGraphicFramePr>
          <p:nvPr/>
        </p:nvGraphicFramePr>
        <p:xfrm>
          <a:off x="4114800" y="1079500"/>
          <a:ext cx="584200" cy="2129801"/>
        </p:xfrm>
        <a:graphic>
          <a:graphicData uri="http://schemas.openxmlformats.org/drawingml/2006/table">
            <a:tbl>
              <a:tblPr/>
              <a:tblGrid>
                <a:gridCol w="58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32000" dirty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3200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i-1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4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" charset="0"/>
                        <a:ea typeface="ヒラギノ角ゴ ProN W3" charset="0"/>
                        <a:cs typeface="ヒラギノ角ゴ ProN W3" charset="0"/>
                        <a:sym typeface="Calibri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315" name="Group 27"/>
          <p:cNvGraphicFramePr>
            <a:graphicFrameLocks noGrp="1"/>
          </p:cNvGraphicFramePr>
          <p:nvPr/>
        </p:nvGraphicFramePr>
        <p:xfrm>
          <a:off x="3581400" y="3733800"/>
          <a:ext cx="660400" cy="1727200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1/2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1/4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1/8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" charset="0"/>
                        <a:ea typeface="ヒラギノ角ゴ ProN W3" charset="0"/>
                        <a:cs typeface="ヒラギノ角ゴ ProN W3" charset="0"/>
                        <a:sym typeface="Calibri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3200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-j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37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005844"/>
              </p:ext>
            </p:extLst>
          </p:nvPr>
        </p:nvGraphicFramePr>
        <p:xfrm>
          <a:off x="901700" y="3187700"/>
          <a:ext cx="6527800" cy="5461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i-1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•••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-3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•••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-j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383" name="Rectangle 95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2384" name="Rectangle 96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385" name="Rectangle 97"/>
          <p:cNvSpPr>
            <a:spLocks/>
          </p:cNvSpPr>
          <p:nvPr/>
        </p:nvSpPr>
        <p:spPr bwMode="auto">
          <a:xfrm rot="10800000">
            <a:off x="6205538" y="4057650"/>
            <a:ext cx="561975" cy="533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Times" pitchFamily="18" charset="0"/>
                <a:ea typeface="Times" pitchFamily="18" charset="0"/>
                <a:cs typeface="Times" pitchFamily="18" charset="0"/>
                <a:sym typeface="Times" pitchFamily="18" charset="0"/>
              </a:rPr>
              <a:t>• • •</a:t>
            </a:r>
          </a:p>
        </p:txBody>
      </p:sp>
      <p:sp>
        <p:nvSpPr>
          <p:cNvPr id="12386" name="Rectangle 98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6870700" cy="1558925"/>
          </a:xfrm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Fractional Binary Numbers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12387" name="Rectangle 99"/>
          <p:cNvSpPr>
            <a:spLocks noGrp="1" noChangeArrowheads="1"/>
          </p:cNvSpPr>
          <p:nvPr>
            <p:ph type="body" idx="1"/>
          </p:nvPr>
        </p:nvSpPr>
        <p:spPr>
          <a:xfrm>
            <a:off x="442913" y="5008563"/>
            <a:ext cx="8472487" cy="1849437"/>
          </a:xfrm>
          <a:ln/>
        </p:spPr>
        <p:txBody>
          <a:bodyPr/>
          <a:lstStyle/>
          <a:p>
            <a:pPr marL="215900" indent="-215900">
              <a:spcBef>
                <a:spcPct val="0"/>
              </a:spcBef>
            </a:pPr>
            <a:r>
              <a:rPr lang="en-US">
                <a:ea typeface="Calibri" charset="0"/>
                <a:cs typeface="Calibri" charset="0"/>
              </a:rPr>
              <a:t>Representation</a:t>
            </a:r>
            <a:endParaRPr lang="en-US"/>
          </a:p>
          <a:p>
            <a:pPr lvl="1"/>
            <a:r>
              <a:rPr lang="en-US"/>
              <a:t>Bits to right of “binary point” represent fractional powers of 2</a:t>
            </a:r>
          </a:p>
          <a:p>
            <a:pPr lvl="1"/>
            <a:r>
              <a:rPr lang="en-US"/>
              <a:t>Represents rational number:</a:t>
            </a:r>
          </a:p>
        </p:txBody>
      </p:sp>
      <p:sp>
        <p:nvSpPr>
          <p:cNvPr id="12388" name="Freeform 100"/>
          <p:cNvSpPr>
            <a:spLocks/>
          </p:cNvSpPr>
          <p:nvPr/>
        </p:nvSpPr>
        <p:spPr bwMode="auto">
          <a:xfrm>
            <a:off x="4040188" y="3017838"/>
            <a:ext cx="165100" cy="1016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3600"/>
          </a:p>
        </p:txBody>
      </p:sp>
      <p:sp>
        <p:nvSpPr>
          <p:cNvPr id="12389" name="Freeform 101"/>
          <p:cNvSpPr>
            <a:spLocks/>
          </p:cNvSpPr>
          <p:nvPr/>
        </p:nvSpPr>
        <p:spPr bwMode="auto">
          <a:xfrm>
            <a:off x="3505200" y="2586038"/>
            <a:ext cx="698500" cy="5334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0" name="Freeform 102"/>
          <p:cNvSpPr>
            <a:spLocks/>
          </p:cNvSpPr>
          <p:nvPr/>
        </p:nvSpPr>
        <p:spPr bwMode="auto">
          <a:xfrm>
            <a:off x="2955925" y="2344738"/>
            <a:ext cx="1244600" cy="7747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1" name="Freeform 103"/>
          <p:cNvSpPr>
            <a:spLocks/>
          </p:cNvSpPr>
          <p:nvPr/>
        </p:nvSpPr>
        <p:spPr bwMode="auto">
          <a:xfrm>
            <a:off x="1778000" y="1671638"/>
            <a:ext cx="2425700" cy="14478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2" name="Freeform 104"/>
          <p:cNvSpPr>
            <a:spLocks/>
          </p:cNvSpPr>
          <p:nvPr/>
        </p:nvSpPr>
        <p:spPr bwMode="auto">
          <a:xfrm>
            <a:off x="1028700" y="1316038"/>
            <a:ext cx="3175000" cy="18034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3" name="Rectangle 105"/>
          <p:cNvSpPr>
            <a:spLocks/>
          </p:cNvSpPr>
          <p:nvPr/>
        </p:nvSpPr>
        <p:spPr bwMode="auto">
          <a:xfrm>
            <a:off x="2111375" y="2420938"/>
            <a:ext cx="560388" cy="533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Times" pitchFamily="18" charset="0"/>
                <a:ea typeface="Times" pitchFamily="18" charset="0"/>
                <a:cs typeface="Times" pitchFamily="18" charset="0"/>
                <a:sym typeface="Times" pitchFamily="18" charset="0"/>
              </a:rPr>
              <a:t>• • •</a:t>
            </a:r>
          </a:p>
        </p:txBody>
      </p:sp>
      <p:sp>
        <p:nvSpPr>
          <p:cNvPr id="12394" name="Freeform 106"/>
          <p:cNvSpPr>
            <a:spLocks/>
          </p:cNvSpPr>
          <p:nvPr/>
        </p:nvSpPr>
        <p:spPr bwMode="auto">
          <a:xfrm rot="10800000">
            <a:off x="4298950" y="3778250"/>
            <a:ext cx="342900" cy="1016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5" name="Freeform 107"/>
          <p:cNvSpPr>
            <a:spLocks/>
          </p:cNvSpPr>
          <p:nvPr/>
        </p:nvSpPr>
        <p:spPr bwMode="auto">
          <a:xfrm rot="10800000">
            <a:off x="4286250" y="3778250"/>
            <a:ext cx="977900" cy="3937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6" name="Freeform 108"/>
          <p:cNvSpPr>
            <a:spLocks/>
          </p:cNvSpPr>
          <p:nvPr/>
        </p:nvSpPr>
        <p:spPr bwMode="auto">
          <a:xfrm rot="10800000">
            <a:off x="4284663" y="3790950"/>
            <a:ext cx="1574800" cy="7747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7" name="Freeform 109"/>
          <p:cNvSpPr>
            <a:spLocks/>
          </p:cNvSpPr>
          <p:nvPr/>
        </p:nvSpPr>
        <p:spPr bwMode="auto">
          <a:xfrm rot="10800000">
            <a:off x="4275138" y="3752850"/>
            <a:ext cx="2717800" cy="13716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8" name="Oval 110"/>
          <p:cNvSpPr>
            <a:spLocks/>
          </p:cNvSpPr>
          <p:nvPr/>
        </p:nvSpPr>
        <p:spPr bwMode="auto">
          <a:xfrm>
            <a:off x="4341751" y="3629726"/>
            <a:ext cx="165100" cy="165100"/>
          </a:xfrm>
          <a:prstGeom prst="ellipse">
            <a:avLst/>
          </a:prstGeom>
          <a:solidFill>
            <a:srgbClr val="0000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12399" name="Picture 1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40300" y="5810250"/>
            <a:ext cx="1320800" cy="78105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536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Fractional Binary Numbers: Examples</a:t>
            </a:r>
          </a:p>
        </p:txBody>
      </p:sp>
      <p:sp>
        <p:nvSpPr>
          <p:cNvPr id="15367" name="Rectangle 7"/>
          <p:cNvSpPr>
            <a:spLocks/>
          </p:cNvSpPr>
          <p:nvPr/>
        </p:nvSpPr>
        <p:spPr bwMode="auto">
          <a:xfrm>
            <a:off x="381000" y="1397000"/>
            <a:ext cx="8382000" cy="5232400"/>
          </a:xfrm>
          <a:prstGeom prst="rect">
            <a:avLst/>
          </a:prstGeom>
          <a:noFill/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254000" indent="-254000" algn="l">
              <a:spcBef>
                <a:spcPts val="575"/>
              </a:spcBef>
              <a:buClr>
                <a:srgbClr val="990000"/>
              </a:buClr>
              <a:buSzPct val="60000"/>
              <a:buFont typeface="Wingdings 2" charset="2"/>
              <a:buChar char="¢"/>
              <a:tabLst>
                <a:tab pos="2398713" algn="l"/>
              </a:tabLst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Value	Representation</a:t>
            </a:r>
          </a:p>
          <a:p>
            <a:pPr marL="254000" indent="-254000" algn="l">
              <a:spcBef>
                <a:spcPts val="600"/>
              </a:spcBef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5 3/4</a:t>
            </a: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101.11</a:t>
            </a:r>
            <a:r>
              <a:rPr lang="en-US" sz="2000" b="1" baseline="-6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sz="2000" b="1" dirty="0">
              <a:solidFill>
                <a:schemeClr val="tx1"/>
              </a:solidFill>
              <a:latin typeface="Courier New"/>
              <a:ea typeface="Calibri" charset="0"/>
              <a:cs typeface="Courier New"/>
              <a:sym typeface="Calibri" charset="0"/>
            </a:endParaRPr>
          </a:p>
          <a:p>
            <a:pPr marL="254000" indent="-254000" algn="l">
              <a:spcBef>
                <a:spcPts val="600"/>
              </a:spcBef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	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2 7/8</a:t>
            </a: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b="1" dirty="0">
                <a:solidFill>
                  <a:schemeClr val="bg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10.111</a:t>
            </a:r>
            <a:r>
              <a:rPr lang="en-US" sz="2000" b="1" baseline="-6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sz="2000" b="1" dirty="0">
              <a:solidFill>
                <a:schemeClr val="tx1"/>
              </a:solidFill>
              <a:latin typeface="Courier New"/>
              <a:ea typeface="Calibri" charset="0"/>
              <a:cs typeface="Courier New"/>
              <a:sym typeface="Calibri" charset="0"/>
            </a:endParaRPr>
          </a:p>
          <a:p>
            <a:pPr marL="254000" indent="-254000" algn="l">
              <a:spcBef>
                <a:spcPts val="600"/>
              </a:spcBef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	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1 7/16</a:t>
            </a: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b="1" dirty="0">
                <a:solidFill>
                  <a:schemeClr val="bg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00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1.0111</a:t>
            </a:r>
            <a:r>
              <a:rPr lang="en-US" sz="2000" b="1" baseline="-6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sz="2000" b="1" dirty="0">
              <a:solidFill>
                <a:schemeClr val="tx1"/>
              </a:solidFill>
              <a:latin typeface="Courier New"/>
              <a:ea typeface="Calibri" charset="0"/>
              <a:cs typeface="Courier New"/>
              <a:sym typeface="Calibri" charset="0"/>
            </a:endParaRPr>
          </a:p>
          <a:p>
            <a:pPr marL="254000" indent="-254000" algn="l">
              <a:spcBef>
                <a:spcPts val="4100"/>
              </a:spcBef>
              <a:buClr>
                <a:srgbClr val="990000"/>
              </a:buClr>
              <a:buSzPct val="60000"/>
              <a:buFont typeface="Wingdings 2" charset="2"/>
              <a:buChar char="¢"/>
              <a:tabLst>
                <a:tab pos="2398713" algn="l"/>
              </a:tabLst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Observations</a:t>
            </a:r>
          </a:p>
          <a:p>
            <a:pPr marL="711200" lvl="1" indent="-254000" algn="l">
              <a:spcBef>
                <a:spcPts val="475"/>
              </a:spcBef>
              <a:buClr>
                <a:srgbClr val="990000"/>
              </a:buClr>
              <a:buSzPct val="11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Divide by 2 by shifting right (unsigned)</a:t>
            </a:r>
          </a:p>
          <a:p>
            <a:pPr marL="711200" lvl="1" indent="-254000" algn="l">
              <a:spcBef>
                <a:spcPts val="475"/>
              </a:spcBef>
              <a:buClr>
                <a:srgbClr val="990000"/>
              </a:buClr>
              <a:buSzPct val="11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Multiply by 2 by shifting left</a:t>
            </a:r>
          </a:p>
          <a:p>
            <a:pPr marL="711200" lvl="1" indent="-254000" algn="l">
              <a:spcBef>
                <a:spcPts val="475"/>
              </a:spcBef>
              <a:buClr>
                <a:srgbClr val="990000"/>
              </a:buClr>
              <a:buSzPct val="11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Numbers of form 0.111111…</a:t>
            </a:r>
            <a:r>
              <a:rPr lang="en-US" sz="2000" baseline="-6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2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are just below 1.0</a:t>
            </a:r>
          </a:p>
          <a:p>
            <a:pPr marL="977900" lvl="2" indent="-203200" algn="l">
              <a:spcBef>
                <a:spcPts val="475"/>
              </a:spcBef>
              <a:buClr>
                <a:srgbClr val="000000"/>
              </a:buClr>
              <a:buSzPct val="8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1/2 + 1/4 + 1/8 + … + 1/2</a:t>
            </a:r>
            <a:r>
              <a:rPr lang="en-US" sz="2000" baseline="3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Zapf Dingbats" charset="0"/>
                <a:cs typeface="Zapf Dingbats" charset="0"/>
                <a:sym typeface="Calibri" charset="0"/>
              </a:rPr>
              <a:t> + … ➙ 1.0</a:t>
            </a:r>
          </a:p>
          <a:p>
            <a:pPr marL="977900" lvl="2" indent="-203200" algn="l">
              <a:spcBef>
                <a:spcPts val="475"/>
              </a:spcBef>
              <a:buClr>
                <a:srgbClr val="000000"/>
              </a:buClr>
              <a:buSzPct val="8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charset="0"/>
                <a:ea typeface="Zapf Dingbats" charset="0"/>
                <a:cs typeface="Zapf Dingbats" charset="0"/>
                <a:sym typeface="Calibri" charset="0"/>
              </a:rPr>
              <a:t>Use notation 1.0 – ε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638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Representable Numbers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828800" algn="l"/>
              </a:tabLst>
            </a:pPr>
            <a:r>
              <a:rPr lang="en-US" dirty="0"/>
              <a:t>Limitation #1</a:t>
            </a:r>
          </a:p>
          <a:p>
            <a:pPr marL="552450" lvl="1">
              <a:tabLst>
                <a:tab pos="1828800" algn="l"/>
              </a:tabLst>
            </a:pPr>
            <a:r>
              <a:rPr lang="en-US" dirty="0"/>
              <a:t>Can only exactly represent numbers of the form x/2</a:t>
            </a:r>
            <a:r>
              <a:rPr lang="en-US" baseline="32000" dirty="0"/>
              <a:t>k</a:t>
            </a:r>
            <a:endParaRPr lang="en-US" dirty="0"/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Other rational numbers have repeating bit representations</a:t>
            </a:r>
          </a:p>
          <a:p>
            <a:pPr lvl="4">
              <a:tabLst>
                <a:tab pos="1828800" algn="l"/>
              </a:tabLst>
            </a:pPr>
            <a:endParaRPr lang="en-US" sz="200" dirty="0"/>
          </a:p>
          <a:p>
            <a:pPr lvl="1">
              <a:tabLst>
                <a:tab pos="1828800" algn="l"/>
              </a:tabLst>
            </a:pPr>
            <a:r>
              <a:rPr lang="en-US" dirty="0"/>
              <a:t>Value	Representation</a:t>
            </a:r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1/3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0.0101010101[01]…</a:t>
            </a:r>
            <a:r>
              <a:rPr lang="en-US" b="1" baseline="-6000" dirty="0"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1/5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0.001100110011[0011]…</a:t>
            </a:r>
            <a:r>
              <a:rPr lang="en-US" b="1" baseline="-6000" dirty="0"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1/10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0.0001100110011[0011]…</a:t>
            </a:r>
            <a:r>
              <a:rPr lang="en-US" b="1" baseline="-6000" dirty="0"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b="1" baseline="-6000" dirty="0">
              <a:latin typeface="Courier New"/>
              <a:cs typeface="Courier New"/>
              <a:sym typeface="Monaco" charset="0"/>
            </a:endParaRPr>
          </a:p>
          <a:p>
            <a:pPr>
              <a:tabLst>
                <a:tab pos="1828800" algn="l"/>
              </a:tabLst>
            </a:pPr>
            <a:endParaRPr lang="en-US" dirty="0"/>
          </a:p>
          <a:p>
            <a:pPr>
              <a:tabLst>
                <a:tab pos="1828800" algn="l"/>
              </a:tabLst>
            </a:pPr>
            <a:r>
              <a:rPr lang="en-US" dirty="0"/>
              <a:t>Limitation #2</a:t>
            </a:r>
          </a:p>
          <a:p>
            <a:pPr marL="552450" lvl="1">
              <a:tabLst>
                <a:tab pos="1828800" algn="l"/>
              </a:tabLst>
            </a:pPr>
            <a:r>
              <a:rPr lang="en-US" dirty="0"/>
              <a:t>Just one setting of binary point within the </a:t>
            </a:r>
            <a:r>
              <a:rPr lang="en-US" i="1" dirty="0"/>
              <a:t>w </a:t>
            </a:r>
            <a:r>
              <a:rPr lang="en-US" dirty="0"/>
              <a:t>bits</a:t>
            </a:r>
            <a:endParaRPr lang="en-US" dirty="0">
              <a:latin typeface="Monaco" charset="0"/>
              <a:sym typeface="Monaco" charset="0"/>
            </a:endParaRPr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Limited range of numbers (very small values?  very large?)</a:t>
            </a:r>
            <a:endParaRPr lang="en-US" dirty="0">
              <a:latin typeface="Monaco" charset="0"/>
              <a:sym typeface="Monaco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74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Today: Floating Point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>
                <a:solidFill>
                  <a:srgbClr val="B3B3B3"/>
                </a:solidFill>
              </a:rPr>
              <a:t>Background: Fractional binary numbers</a:t>
            </a:r>
          </a:p>
          <a:p>
            <a:r>
              <a:rPr lang="en-US"/>
              <a:t>IEEE floating point standard: Definition</a:t>
            </a:r>
          </a:p>
          <a:p>
            <a:r>
              <a:rPr lang="en-US">
                <a:solidFill>
                  <a:srgbClr val="B3B3B3"/>
                </a:solidFill>
              </a:rPr>
              <a:t>Example and properties</a:t>
            </a:r>
          </a:p>
          <a:p>
            <a:r>
              <a:rPr lang="en-US">
                <a:solidFill>
                  <a:srgbClr val="B3B3B3"/>
                </a:solidFill>
              </a:rPr>
              <a:t>Rounding, addition, multiplication</a:t>
            </a:r>
          </a:p>
          <a:p>
            <a:r>
              <a:rPr lang="en-US">
                <a:solidFill>
                  <a:srgbClr val="B3B3B3"/>
                </a:solidFill>
              </a:rPr>
              <a:t>Floating point in C</a:t>
            </a:r>
          </a:p>
          <a:p>
            <a:r>
              <a:rPr lang="en-US">
                <a:solidFill>
                  <a:srgbClr val="B3B3B3"/>
                </a:solidFill>
              </a:rPr>
              <a:t>Summary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843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IEEE Floating Point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IEEE Standard 754</a:t>
            </a:r>
          </a:p>
          <a:p>
            <a:pPr marL="552450" lvl="1"/>
            <a:r>
              <a:rPr lang="en-US" dirty="0"/>
              <a:t>Established in 1985 as uniform standard for floating point arithmetic</a:t>
            </a:r>
          </a:p>
          <a:p>
            <a:pPr marL="838200" lvl="2"/>
            <a:r>
              <a:rPr lang="en-US" dirty="0"/>
              <a:t>Before that, many idiosyncratic formats</a:t>
            </a:r>
          </a:p>
          <a:p>
            <a:pPr marL="552450" lvl="1"/>
            <a:r>
              <a:rPr lang="en-US" dirty="0"/>
              <a:t>Supported by all major CPUs</a:t>
            </a:r>
          </a:p>
          <a:p>
            <a:endParaRPr lang="en-US" dirty="0"/>
          </a:p>
          <a:p>
            <a:r>
              <a:rPr lang="en-US" dirty="0"/>
              <a:t>Driven by numerical concerns</a:t>
            </a:r>
          </a:p>
          <a:p>
            <a:pPr marL="552450" lvl="1"/>
            <a:r>
              <a:rPr lang="en-US" dirty="0"/>
              <a:t>Nice standards for rounding, overflow, underflow</a:t>
            </a:r>
          </a:p>
          <a:p>
            <a:pPr marL="552450" lvl="1"/>
            <a:r>
              <a:rPr lang="en-US" dirty="0"/>
              <a:t>Hard to make fast in hardware</a:t>
            </a:r>
          </a:p>
          <a:p>
            <a:pPr marL="838200" lvl="2"/>
            <a:r>
              <a:rPr lang="en-US" dirty="0"/>
              <a:t>Numerical analysts predominated over hardware designers in defining standard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945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Numerical Form: </a:t>
            </a:r>
            <a:br>
              <a:rPr lang="en-US" dirty="0"/>
            </a:br>
            <a:r>
              <a:rPr lang="en-US" dirty="0"/>
              <a:t>			(–1)</a:t>
            </a:r>
            <a:r>
              <a:rPr lang="en-US" baseline="32000" dirty="0"/>
              <a:t>s</a:t>
            </a:r>
            <a:r>
              <a:rPr lang="en-US" dirty="0"/>
              <a:t>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 2</a:t>
            </a:r>
            <a:r>
              <a:rPr lang="en-US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dirty="0"/>
          </a:p>
          <a:p>
            <a:pPr marL="552450" lvl="1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Sign bit</a:t>
            </a:r>
            <a:r>
              <a:rPr lang="en-US" dirty="0"/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r>
              <a:rPr lang="en-US" dirty="0"/>
              <a:t> determines whether number is negative or positive</a:t>
            </a:r>
          </a:p>
          <a:p>
            <a:pPr marL="552450" lvl="1"/>
            <a:r>
              <a:rPr lang="en-US" dirty="0" err="1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Significand</a:t>
            </a:r>
            <a:r>
              <a:rPr lang="en-US" dirty="0"/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 normally a fractional value in range [1.0,2.0).</a:t>
            </a:r>
          </a:p>
          <a:p>
            <a:pPr marL="552450" lvl="1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Exponent</a:t>
            </a:r>
            <a:r>
              <a:rPr lang="en-US" dirty="0"/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weights value by power of two</a:t>
            </a:r>
          </a:p>
          <a:p>
            <a:endParaRPr lang="en-US" dirty="0"/>
          </a:p>
          <a:p>
            <a:r>
              <a:rPr lang="en-US" dirty="0"/>
              <a:t>Encoding</a:t>
            </a:r>
          </a:p>
          <a:p>
            <a:pPr marL="552450" lvl="1"/>
            <a:r>
              <a:rPr lang="en-US" dirty="0"/>
              <a:t>MSB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s</a:t>
            </a:r>
            <a:r>
              <a:rPr lang="en-US" dirty="0"/>
              <a:t> is sign bit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endParaRPr lang="en-US" dirty="0"/>
          </a:p>
          <a:p>
            <a:pPr marL="552450" lvl="1"/>
            <a:r>
              <a:rPr lang="en-US" dirty="0" err="1">
                <a:latin typeface="+mn-lt"/>
                <a:ea typeface="Monaco" charset="0"/>
                <a:cs typeface="Monaco" charset="0"/>
                <a:sym typeface="Monaco" charset="0"/>
              </a:rPr>
              <a:t>exp</a:t>
            </a:r>
            <a:r>
              <a:rPr lang="en-US" dirty="0">
                <a:latin typeface="+mn-lt"/>
              </a:rPr>
              <a:t> </a:t>
            </a:r>
            <a:r>
              <a:rPr lang="en-US" dirty="0"/>
              <a:t>field encodes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(but is not equal to E)</a:t>
            </a:r>
          </a:p>
          <a:p>
            <a:pPr marL="552450" lvl="1"/>
            <a:r>
              <a:rPr lang="en-US" dirty="0" err="1">
                <a:latin typeface="+mn-lt"/>
                <a:ea typeface="Monaco" charset="0"/>
                <a:cs typeface="Monaco" charset="0"/>
                <a:sym typeface="Monaco" charset="0"/>
              </a:rPr>
              <a:t>frac</a:t>
            </a:r>
            <a:r>
              <a:rPr lang="en-US" dirty="0"/>
              <a:t> field encodes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(but is not equal to M)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Floating Point Representation</a:t>
            </a:r>
          </a:p>
        </p:txBody>
      </p:sp>
      <p:graphicFrame>
        <p:nvGraphicFramePr>
          <p:cNvPr id="1946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737174"/>
              </p:ext>
            </p:extLst>
          </p:nvPr>
        </p:nvGraphicFramePr>
        <p:xfrm>
          <a:off x="711200" y="5689600"/>
          <a:ext cx="7366000" cy="508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048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Precision options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Single precision: 32 bits</a:t>
            </a:r>
          </a:p>
          <a:p>
            <a:pPr>
              <a:spcBef>
                <a:spcPts val="10000"/>
              </a:spcBef>
            </a:pPr>
            <a:r>
              <a:rPr lang="en-US" dirty="0"/>
              <a:t>Double precision: 64 bits</a:t>
            </a:r>
          </a:p>
          <a:p>
            <a:pPr>
              <a:spcBef>
                <a:spcPts val="10000"/>
              </a:spcBef>
            </a:pPr>
            <a:r>
              <a:rPr lang="en-US" dirty="0"/>
              <a:t>Extended precision: 80 bits (Intel only)</a:t>
            </a:r>
          </a:p>
        </p:txBody>
      </p:sp>
      <p:graphicFrame>
        <p:nvGraphicFramePr>
          <p:cNvPr id="2048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177565"/>
              </p:ext>
            </p:extLst>
          </p:nvPr>
        </p:nvGraphicFramePr>
        <p:xfrm>
          <a:off x="876300" y="1993900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8-bits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23-bits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509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649278"/>
              </p:ext>
            </p:extLst>
          </p:nvPr>
        </p:nvGraphicFramePr>
        <p:xfrm>
          <a:off x="876300" y="3746500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11-bits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52-bits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533" name="Group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691200"/>
              </p:ext>
            </p:extLst>
          </p:nvPr>
        </p:nvGraphicFramePr>
        <p:xfrm>
          <a:off x="876300" y="5499100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15-bits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Calibri"/>
                          <a:sym typeface="Monaco" charset="0"/>
                        </a:rPr>
                        <a:t>63 or 64-bits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150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“Normalized” Values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When: exp ≠ 000…0 and exp ≠ 111…1</a:t>
            </a:r>
          </a:p>
          <a:p>
            <a:endParaRPr lang="en-US" dirty="0"/>
          </a:p>
          <a:p>
            <a:r>
              <a:rPr lang="en-US" dirty="0"/>
              <a:t>Exponent coded as a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biased</a:t>
            </a:r>
            <a:r>
              <a:rPr lang="en-US" dirty="0"/>
              <a:t> value: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 = 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dirty="0"/>
              <a:t> –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dirty="0"/>
          </a:p>
          <a:p>
            <a:pPr marL="552450" lvl="1"/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Exp</a:t>
            </a:r>
            <a:r>
              <a:rPr lang="en-US" dirty="0"/>
              <a:t>: unsigned value of </a:t>
            </a:r>
            <a:r>
              <a:rPr lang="en-US" dirty="0" err="1">
                <a:latin typeface="Calibri"/>
                <a:ea typeface="Monaco" charset="0"/>
                <a:cs typeface="Calibri"/>
                <a:sym typeface="Monaco" charset="0"/>
              </a:rPr>
              <a:t>exp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 field</a:t>
            </a:r>
            <a:r>
              <a:rPr lang="en-US" dirty="0">
                <a:latin typeface="Calibri"/>
                <a:cs typeface="Calibri"/>
              </a:rPr>
              <a:t> </a:t>
            </a:r>
          </a:p>
          <a:p>
            <a:pPr marL="552450" lvl="1"/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Bias</a:t>
            </a:r>
            <a:r>
              <a:rPr lang="en-US" dirty="0"/>
              <a:t> = 2</a:t>
            </a:r>
            <a:r>
              <a:rPr lang="en-US" baseline="32000" dirty="0"/>
              <a:t>k-1</a:t>
            </a:r>
            <a:r>
              <a:rPr lang="en-US" dirty="0"/>
              <a:t> - 1, where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k</a:t>
            </a:r>
            <a:r>
              <a:rPr lang="en-US" dirty="0"/>
              <a:t> is number of exponent bits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Significand coded with implied leading 1: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 =  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1.xxx…x</a:t>
            </a:r>
            <a:r>
              <a:rPr lang="en-US" baseline="-6000" dirty="0">
                <a:latin typeface="Calibri"/>
                <a:ea typeface="Monaco" charset="0"/>
                <a:cs typeface="Calibri"/>
                <a:sym typeface="Monaco" charset="0"/>
              </a:rPr>
              <a:t>2</a:t>
            </a:r>
            <a:endParaRPr lang="en-US" dirty="0">
              <a:latin typeface="Calibri"/>
              <a:cs typeface="Calibri"/>
            </a:endParaRPr>
          </a:p>
          <a:p>
            <a:pPr marL="552450" lvl="1"/>
            <a:r>
              <a:rPr lang="en-US" dirty="0">
                <a:latin typeface="Calibri"/>
                <a:cs typeface="Calibri"/>
              </a:rPr>
              <a:t> 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xxx…x</a:t>
            </a:r>
            <a:r>
              <a:rPr lang="en-US" dirty="0">
                <a:latin typeface="Calibri"/>
                <a:cs typeface="Calibri"/>
              </a:rPr>
              <a:t>: bits of 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frac field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8000" y="533400"/>
            <a:ext cx="1944162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150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“Normalized” Values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When: exp ≠ 000…0 and exp ≠ 111…1</a:t>
            </a:r>
          </a:p>
          <a:p>
            <a:endParaRPr lang="en-US" dirty="0"/>
          </a:p>
          <a:p>
            <a:r>
              <a:rPr lang="en-US" dirty="0"/>
              <a:t>Exponent coded as a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biased</a:t>
            </a:r>
            <a:r>
              <a:rPr lang="en-US" dirty="0"/>
              <a:t> value: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 = 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dirty="0"/>
              <a:t> –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dirty="0"/>
          </a:p>
          <a:p>
            <a:pPr marL="552450" lvl="1"/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Exp</a:t>
            </a:r>
            <a:r>
              <a:rPr lang="en-US" dirty="0"/>
              <a:t>: unsigned value of </a:t>
            </a:r>
            <a:r>
              <a:rPr lang="en-US" dirty="0" err="1">
                <a:latin typeface="Calibri"/>
                <a:ea typeface="Monaco" charset="0"/>
                <a:cs typeface="Calibri"/>
                <a:sym typeface="Monaco" charset="0"/>
              </a:rPr>
              <a:t>exp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 field</a:t>
            </a:r>
            <a:r>
              <a:rPr lang="en-US" dirty="0">
                <a:latin typeface="Calibri"/>
                <a:cs typeface="Calibri"/>
              </a:rPr>
              <a:t> </a:t>
            </a:r>
          </a:p>
          <a:p>
            <a:pPr marL="552450" lvl="1"/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Bias</a:t>
            </a:r>
            <a:r>
              <a:rPr lang="en-US" dirty="0"/>
              <a:t> = 2</a:t>
            </a:r>
            <a:r>
              <a:rPr lang="en-US" baseline="32000" dirty="0"/>
              <a:t>k-1</a:t>
            </a:r>
            <a:r>
              <a:rPr lang="en-US" dirty="0"/>
              <a:t> - 1, where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k</a:t>
            </a:r>
            <a:r>
              <a:rPr lang="en-US" dirty="0"/>
              <a:t> is number of exponent bits</a:t>
            </a:r>
          </a:p>
          <a:p>
            <a:pPr marL="838200" lvl="2"/>
            <a:r>
              <a:rPr lang="en-US" dirty="0"/>
              <a:t>Single precision: 127 (Exp: 1…254, E: -126…127)</a:t>
            </a:r>
          </a:p>
          <a:p>
            <a:pPr marL="838200" lvl="2"/>
            <a:r>
              <a:rPr lang="en-US" dirty="0"/>
              <a:t>Double precision: 1023 (Exp: 1…2046, E: -1022…1023)</a:t>
            </a:r>
          </a:p>
          <a:p>
            <a:endParaRPr lang="en-US" dirty="0"/>
          </a:p>
          <a:p>
            <a:r>
              <a:rPr lang="en-US" dirty="0" err="1"/>
              <a:t>Significand</a:t>
            </a:r>
            <a:r>
              <a:rPr lang="en-US" dirty="0"/>
              <a:t> coded with implied leading 1: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 =  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1.xxx…x</a:t>
            </a:r>
            <a:r>
              <a:rPr lang="en-US" baseline="-6000" dirty="0">
                <a:latin typeface="Calibri"/>
                <a:ea typeface="Monaco" charset="0"/>
                <a:cs typeface="Calibri"/>
                <a:sym typeface="Monaco" charset="0"/>
              </a:rPr>
              <a:t>2</a:t>
            </a:r>
            <a:endParaRPr lang="en-US" dirty="0">
              <a:latin typeface="Calibri"/>
              <a:cs typeface="Calibri"/>
            </a:endParaRPr>
          </a:p>
          <a:p>
            <a:pPr marL="552450" lvl="1"/>
            <a:r>
              <a:rPr lang="en-US" dirty="0">
                <a:latin typeface="Calibri"/>
                <a:cs typeface="Calibri"/>
              </a:rPr>
              <a:t> 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xxx…x</a:t>
            </a:r>
            <a:r>
              <a:rPr lang="en-US" dirty="0">
                <a:latin typeface="Calibri"/>
                <a:cs typeface="Calibri"/>
              </a:rPr>
              <a:t>: bits of </a:t>
            </a:r>
            <a:r>
              <a:rPr lang="en-US" dirty="0" err="1">
                <a:latin typeface="Calibri"/>
                <a:ea typeface="Monaco" charset="0"/>
                <a:cs typeface="Calibri"/>
                <a:sym typeface="Monaco" charset="0"/>
              </a:rPr>
              <a:t>frac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 field</a:t>
            </a:r>
            <a:endParaRPr lang="en-US" dirty="0">
              <a:latin typeface="Calibri"/>
              <a:cs typeface="Calibri"/>
            </a:endParaRPr>
          </a:p>
          <a:p>
            <a:pPr marL="552450" lvl="1"/>
            <a:r>
              <a:rPr lang="en-US" dirty="0">
                <a:latin typeface="Calibri"/>
                <a:cs typeface="Calibri"/>
              </a:rPr>
              <a:t>Minimum when </a:t>
            </a:r>
            <a:r>
              <a:rPr lang="en-US" dirty="0" err="1">
                <a:latin typeface="Calibri"/>
                <a:ea typeface="Monaco" charset="0"/>
                <a:cs typeface="Calibri"/>
                <a:sym typeface="Monaco" charset="0"/>
              </a:rPr>
              <a:t>frac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=000…0</a:t>
            </a:r>
            <a:r>
              <a:rPr lang="en-US" dirty="0">
                <a:latin typeface="Calibri"/>
                <a:cs typeface="Calibri"/>
              </a:rPr>
              <a:t> (</a:t>
            </a:r>
            <a:r>
              <a:rPr lang="en-US" dirty="0">
                <a:latin typeface="Calibri"/>
                <a:ea typeface="Calibri Italic" charset="0"/>
                <a:cs typeface="Calibri"/>
                <a:sym typeface="Calibri Italic" charset="0"/>
              </a:rPr>
              <a:t>M</a:t>
            </a:r>
            <a:r>
              <a:rPr lang="en-US" dirty="0">
                <a:latin typeface="Calibri"/>
                <a:cs typeface="Calibri"/>
              </a:rPr>
              <a:t> = 1.0)</a:t>
            </a:r>
          </a:p>
          <a:p>
            <a:pPr marL="552450" lvl="1"/>
            <a:r>
              <a:rPr lang="en-US" dirty="0">
                <a:latin typeface="Calibri"/>
                <a:cs typeface="Calibri"/>
              </a:rPr>
              <a:t>Maximum when </a:t>
            </a:r>
            <a:r>
              <a:rPr lang="en-US" dirty="0" err="1">
                <a:latin typeface="Calibri"/>
                <a:ea typeface="Monaco" charset="0"/>
                <a:cs typeface="Calibri"/>
                <a:sym typeface="Monaco" charset="0"/>
              </a:rPr>
              <a:t>frac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=111…1</a:t>
            </a:r>
            <a:r>
              <a:rPr lang="en-US" dirty="0">
                <a:latin typeface="Calibri"/>
                <a:cs typeface="Calibri"/>
              </a:rPr>
              <a:t> (</a:t>
            </a:r>
            <a:r>
              <a:rPr lang="en-US" dirty="0">
                <a:latin typeface="Calibri"/>
                <a:ea typeface="Calibri Italic" charset="0"/>
                <a:cs typeface="Calibri"/>
                <a:sym typeface="Calibri Italic" charset="0"/>
              </a:rPr>
              <a:t>M</a:t>
            </a:r>
            <a:r>
              <a:rPr lang="en-US" dirty="0">
                <a:latin typeface="Calibri"/>
                <a:cs typeface="Calibri"/>
              </a:rPr>
              <a:t> = 2.0 – ε)</a:t>
            </a:r>
          </a:p>
          <a:p>
            <a:pPr marL="552450" lvl="1"/>
            <a:r>
              <a:rPr lang="en-US" dirty="0"/>
              <a:t>Get extra leading bit for “free”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858000" y="533400"/>
            <a:ext cx="1944162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738949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93270" y="5816600"/>
            <a:ext cx="355600" cy="355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151965" y="5816600"/>
            <a:ext cx="1779495" cy="355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048000" y="5816600"/>
            <a:ext cx="5066555" cy="355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448733" y="552978"/>
            <a:ext cx="7366000" cy="573088"/>
          </a:xfrm>
        </p:spPr>
        <p:txBody>
          <a:bodyPr/>
          <a:lstStyle/>
          <a:p>
            <a:r>
              <a:rPr lang="en-US" dirty="0"/>
              <a:t>Normalized Encoding Example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55000" cy="5029200"/>
          </a:xfrm>
        </p:spPr>
        <p:txBody>
          <a:bodyPr/>
          <a:lstStyle/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/>
              <a:t>Value: </a:t>
            </a:r>
            <a:r>
              <a:rPr lang="en-US" sz="1800" dirty="0">
                <a:latin typeface="Courier New"/>
                <a:cs typeface="Courier New"/>
              </a:rPr>
              <a:t>float F = 15213.0;</a:t>
            </a:r>
          </a:p>
          <a:p>
            <a:pPr marL="560388" lvl="1" indent="-222250" defTabSz="895350">
              <a:lnSpc>
                <a:spcPct val="90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dirty="0"/>
              <a:t>15213</a:t>
            </a:r>
            <a:r>
              <a:rPr lang="en-US" sz="1800" b="0" baseline="-25000" dirty="0"/>
              <a:t>10</a:t>
            </a:r>
            <a:r>
              <a:rPr lang="en-US" sz="1800" b="0" dirty="0"/>
              <a:t>  = 11101101101101</a:t>
            </a:r>
            <a:r>
              <a:rPr lang="en-US" sz="1800" b="0" baseline="-25000" dirty="0"/>
              <a:t>2  </a:t>
            </a:r>
            <a:r>
              <a:rPr lang="en-US" sz="1800" b="0" dirty="0"/>
              <a:t> </a:t>
            </a:r>
          </a:p>
          <a:p>
            <a:pPr marL="560388" lvl="1" indent="-222250" defTabSz="895350">
              <a:lnSpc>
                <a:spcPct val="90000"/>
              </a:lnSpc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dirty="0"/>
              <a:t>                     </a:t>
            </a:r>
            <a:r>
              <a:rPr lang="en-US" sz="1800" b="0" dirty="0"/>
              <a:t>= 1.1101101101101</a:t>
            </a:r>
            <a:r>
              <a:rPr lang="en-US" sz="1800" b="0" baseline="-25000" dirty="0"/>
              <a:t>2</a:t>
            </a:r>
            <a:r>
              <a:rPr lang="en-US" sz="1800" b="0" dirty="0"/>
              <a:t> x 2</a:t>
            </a:r>
            <a:r>
              <a:rPr lang="en-US" sz="1800" b="0" baseline="30000" dirty="0"/>
              <a:t>13</a:t>
            </a:r>
            <a:endParaRPr lang="en-US" sz="1800" b="0" dirty="0"/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2000" dirty="0"/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 err="1"/>
              <a:t>Significand</a:t>
            </a:r>
            <a:endParaRPr lang="en-US" sz="2000" dirty="0"/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M</a:t>
            </a:r>
            <a:r>
              <a:rPr lang="en-US" sz="1800" dirty="0"/>
              <a:t> 	= 	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1.</a:t>
            </a:r>
            <a:r>
              <a:rPr lang="en-US" sz="1800" b="1" u="sng" dirty="0">
                <a:latin typeface="Courier New" pitchFamily="49" charset="0"/>
                <a:cs typeface="Courier New" pitchFamily="49" charset="0"/>
              </a:rPr>
              <a:t>1101101101101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2</a:t>
            </a: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1" dirty="0" err="1">
                <a:latin typeface="Courier New" pitchFamily="49" charset="0"/>
              </a:rPr>
              <a:t>frac</a:t>
            </a:r>
            <a:r>
              <a:rPr lang="en-US" sz="1800" b="1" dirty="0">
                <a:latin typeface="Courier New" pitchFamily="49" charset="0"/>
              </a:rPr>
              <a:t>	= 	  </a:t>
            </a:r>
            <a:r>
              <a:rPr lang="en-US" sz="1800" b="1" u="sng" dirty="0">
                <a:latin typeface="Courier New" pitchFamily="49" charset="0"/>
              </a:rPr>
              <a:t>1101101101101</a:t>
            </a:r>
            <a:r>
              <a:rPr lang="en-US" sz="1800" b="1" dirty="0">
                <a:latin typeface="Courier New" pitchFamily="49" charset="0"/>
              </a:rPr>
              <a:t>0000000000</a:t>
            </a:r>
            <a:r>
              <a:rPr lang="en-US" sz="1800" b="1" baseline="-25000" dirty="0">
                <a:latin typeface="Courier New" pitchFamily="49" charset="0"/>
              </a:rPr>
              <a:t>2</a:t>
            </a:r>
            <a:endParaRPr lang="en-US" sz="1800" b="1" dirty="0"/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2000" dirty="0"/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/>
              <a:t>Exponent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E	</a:t>
            </a:r>
            <a:r>
              <a:rPr lang="en-US" sz="1800" dirty="0"/>
              <a:t> 	= 	13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Bias</a:t>
            </a:r>
            <a:r>
              <a:rPr lang="en-US" sz="1800" dirty="0"/>
              <a:t> 	= 	127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Exp</a:t>
            </a:r>
            <a:r>
              <a:rPr lang="en-US" sz="1800" dirty="0"/>
              <a:t> 	= 	140 	=	</a:t>
            </a:r>
            <a:r>
              <a:rPr lang="en-US" sz="1800" b="1" dirty="0">
                <a:latin typeface="Courier New" pitchFamily="49" charset="0"/>
              </a:rPr>
              <a:t>10001100</a:t>
            </a:r>
            <a:r>
              <a:rPr lang="en-US" sz="1800" b="1" baseline="-25000" dirty="0">
                <a:latin typeface="Courier New" pitchFamily="49" charset="0"/>
              </a:rPr>
              <a:t>2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1800" b="1" baseline="-25000" dirty="0">
              <a:latin typeface="Courier New" pitchFamily="49" charset="0"/>
            </a:endParaRPr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/>
              <a:t>Result:</a:t>
            </a:r>
            <a:br>
              <a:rPr lang="en-US" sz="2000" dirty="0"/>
            </a:br>
            <a:br>
              <a:rPr lang="en-US" sz="2000" dirty="0"/>
            </a:br>
            <a:r>
              <a:rPr lang="en-US" sz="2800" dirty="0">
                <a:latin typeface="Courier New" pitchFamily="49" charset="0"/>
              </a:rPr>
              <a:t>0 10001100 11011011011010000000000 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685625" y="6172200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3971" y="6172200"/>
            <a:ext cx="738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exp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8452" y="6172200"/>
            <a:ext cx="923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frac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8000" y="540603"/>
            <a:ext cx="2132765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400" dirty="0"/>
              <a:t>  =  </a:t>
            </a:r>
            <a:r>
              <a:rPr lang="en-US" sz="2400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4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35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Denormalized</a:t>
            </a:r>
            <a:r>
              <a:rPr lang="en-US" dirty="0"/>
              <a:t> Values</a:t>
            </a: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Condition: 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exp = 000…0</a:t>
            </a:r>
            <a:endParaRPr lang="en-US" dirty="0">
              <a:latin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Exponent value: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= 1 – Bias (instead of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= 0 –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r>
              <a:rPr lang="en-US" dirty="0"/>
              <a:t>)</a:t>
            </a:r>
          </a:p>
          <a:p>
            <a:r>
              <a:rPr lang="en-US" dirty="0" err="1"/>
              <a:t>Significand</a:t>
            </a:r>
            <a:r>
              <a:rPr lang="en-US" dirty="0"/>
              <a:t> coded with implied leading 0: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= 0.xxx…x</a:t>
            </a:r>
            <a:r>
              <a:rPr lang="en-US" baseline="-6000" dirty="0"/>
              <a:t>2</a:t>
            </a:r>
            <a:endParaRPr lang="en-US" dirty="0"/>
          </a:p>
          <a:p>
            <a:pPr marL="552450" lvl="1"/>
            <a:r>
              <a:rPr lang="en-US" sz="1800" dirty="0">
                <a:latin typeface="Courier New Bold" charset="0"/>
                <a:cs typeface="Courier New Bold" charset="0"/>
                <a:sym typeface="Courier New Bold" charset="0"/>
              </a:rPr>
              <a:t>xxx…x</a:t>
            </a:r>
            <a:r>
              <a:rPr lang="en-US" dirty="0"/>
              <a:t>: bits of </a:t>
            </a:r>
            <a:r>
              <a:rPr lang="en-US" sz="1800" dirty="0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938851" y="540603"/>
            <a:ext cx="1971062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400" dirty="0"/>
              <a:t>  = 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1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35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Denormalized</a:t>
            </a:r>
            <a:r>
              <a:rPr lang="en-US" dirty="0"/>
              <a:t> Values</a:t>
            </a: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Condition: 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exp = 000…0</a:t>
            </a:r>
            <a:endParaRPr lang="en-US" dirty="0">
              <a:latin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Exponent value: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= 1 – Bias (instead of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= 0 –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r>
              <a:rPr lang="en-US" dirty="0"/>
              <a:t>)</a:t>
            </a:r>
          </a:p>
          <a:p>
            <a:r>
              <a:rPr lang="en-US" dirty="0" err="1"/>
              <a:t>Significand</a:t>
            </a:r>
            <a:r>
              <a:rPr lang="en-US" dirty="0"/>
              <a:t> coded with implied leading 0: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= 0.xxx…x</a:t>
            </a:r>
            <a:r>
              <a:rPr lang="en-US" baseline="-6000" dirty="0"/>
              <a:t>2</a:t>
            </a:r>
            <a:endParaRPr lang="en-US" dirty="0"/>
          </a:p>
          <a:p>
            <a:pPr marL="552450" lvl="1"/>
            <a:r>
              <a:rPr lang="en-US" sz="1800" dirty="0">
                <a:latin typeface="Courier New Bold" charset="0"/>
                <a:cs typeface="Courier New Bold" charset="0"/>
                <a:sym typeface="Courier New Bold" charset="0"/>
              </a:rPr>
              <a:t>xxx…</a:t>
            </a:r>
            <a:r>
              <a:rPr lang="en-US" sz="1800" dirty="0" err="1">
                <a:latin typeface="Courier New Bold" charset="0"/>
                <a:cs typeface="Courier New Bold" charset="0"/>
                <a:sym typeface="Courier New Bold" charset="0"/>
              </a:rPr>
              <a:t>x</a:t>
            </a:r>
            <a:r>
              <a:rPr lang="en-US" dirty="0"/>
              <a:t>: bits of </a:t>
            </a:r>
            <a:r>
              <a:rPr lang="en-US" sz="1800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endParaRPr lang="en-US" dirty="0"/>
          </a:p>
          <a:p>
            <a:r>
              <a:rPr lang="en-US" dirty="0"/>
              <a:t>Cases</a:t>
            </a:r>
          </a:p>
          <a:p>
            <a:pPr marL="552450" lvl="1"/>
            <a:r>
              <a:rPr lang="en-US" dirty="0"/>
              <a:t>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dirty="0"/>
              <a:t> =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r>
              <a:rPr lang="en-US" dirty="0"/>
              <a:t>,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=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endParaRPr lang="en-US" b="1" dirty="0">
              <a:latin typeface="Courier New"/>
              <a:cs typeface="Courier New"/>
            </a:endParaRPr>
          </a:p>
          <a:p>
            <a:pPr marL="838200" lvl="2"/>
            <a:r>
              <a:rPr lang="en-US" dirty="0"/>
              <a:t>Represents zero value</a:t>
            </a:r>
          </a:p>
          <a:p>
            <a:pPr marL="838200" lvl="2"/>
            <a:r>
              <a:rPr lang="en-US" dirty="0"/>
              <a:t>Note distinct values: +0 and –0 (why?)</a:t>
            </a:r>
          </a:p>
          <a:p>
            <a:pPr marL="552450" lvl="1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dirty="0"/>
              <a:t> =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r>
              <a:rPr lang="en-US" dirty="0"/>
              <a:t>,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≠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endParaRPr lang="en-US" b="1" dirty="0">
              <a:latin typeface="Courier New"/>
              <a:cs typeface="Courier New"/>
            </a:endParaRPr>
          </a:p>
          <a:p>
            <a:pPr marL="838200" lvl="2"/>
            <a:r>
              <a:rPr lang="en-US" dirty="0"/>
              <a:t>Numbers closest to 0.0</a:t>
            </a:r>
          </a:p>
          <a:p>
            <a:pPr marL="838200" lvl="2"/>
            <a:r>
              <a:rPr lang="en-US" dirty="0" err="1"/>
              <a:t>Equispaced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938851" y="540603"/>
            <a:ext cx="1971062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400" dirty="0"/>
              <a:t>  = 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1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0797937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457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Special Values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Condition: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dirty="0"/>
              <a:t> = 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111…1</a:t>
            </a:r>
            <a:endParaRPr lang="en-US" b="1" dirty="0">
              <a:latin typeface="Courier New"/>
              <a:cs typeface="Courier New"/>
            </a:endParaRPr>
          </a:p>
          <a:p>
            <a:endParaRPr lang="en-US" dirty="0"/>
          </a:p>
          <a:p>
            <a:r>
              <a:rPr lang="en-US" dirty="0"/>
              <a:t>Case: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dirty="0"/>
              <a:t> = 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111…1</a:t>
            </a:r>
            <a:r>
              <a:rPr lang="en-US" dirty="0"/>
              <a:t>,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= 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endParaRPr lang="en-US" b="1" dirty="0">
              <a:latin typeface="Courier New"/>
              <a:cs typeface="Courier New"/>
            </a:endParaRPr>
          </a:p>
          <a:p>
            <a:pPr marL="552450" lvl="1"/>
            <a:r>
              <a:rPr lang="en-US" dirty="0"/>
              <a:t>Represents value       (infinity)</a:t>
            </a:r>
          </a:p>
          <a:p>
            <a:pPr marL="552450" lvl="1"/>
            <a:r>
              <a:rPr lang="en-US" dirty="0"/>
              <a:t>Operation that overflows</a:t>
            </a:r>
          </a:p>
          <a:p>
            <a:pPr marL="552450" lvl="1"/>
            <a:r>
              <a:rPr lang="en-US" dirty="0"/>
              <a:t>Both positive and negative</a:t>
            </a:r>
          </a:p>
          <a:p>
            <a:pPr marL="552450" lvl="1"/>
            <a:r>
              <a:rPr lang="en-US" dirty="0"/>
              <a:t>E.g., 1.0/0.0 = −1.0/−0.0 = +       ,  1.0/−0.0 = −</a:t>
            </a:r>
          </a:p>
          <a:p>
            <a:endParaRPr lang="en-US" dirty="0"/>
          </a:p>
          <a:p>
            <a:r>
              <a:rPr lang="en-US" dirty="0"/>
              <a:t>Case: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dirty="0"/>
              <a:t> = 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111…1</a:t>
            </a:r>
            <a:r>
              <a:rPr lang="en-US" dirty="0"/>
              <a:t>,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≠ 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endParaRPr lang="en-US" b="1" dirty="0">
              <a:latin typeface="Courier New"/>
              <a:cs typeface="Courier New"/>
            </a:endParaRPr>
          </a:p>
          <a:p>
            <a:pPr marL="552450" lvl="1"/>
            <a:r>
              <a:rPr lang="en-US" dirty="0"/>
              <a:t>Not-a-Number (</a:t>
            </a:r>
            <a:r>
              <a:rPr lang="en-US" dirty="0" err="1"/>
              <a:t>NaN</a:t>
            </a:r>
            <a:r>
              <a:rPr lang="en-US" dirty="0"/>
              <a:t>)</a:t>
            </a:r>
          </a:p>
          <a:p>
            <a:pPr marL="552450" lvl="1"/>
            <a:r>
              <a:rPr lang="en-US" dirty="0"/>
              <a:t>Represents case when no numeric value can be determined</a:t>
            </a:r>
          </a:p>
          <a:p>
            <a:pPr marL="552450" lvl="1"/>
            <a:r>
              <a:rPr lang="en-US" dirty="0">
                <a:ea typeface="Apple Symbols" charset="0"/>
                <a:cs typeface="Apple Symbols" charset="0"/>
              </a:rPr>
              <a:t>E.g., </a:t>
            </a:r>
            <a:r>
              <a:rPr lang="en-US" dirty="0" err="1">
                <a:ea typeface="Apple Symbols" charset="0"/>
                <a:cs typeface="Apple Symbols" charset="0"/>
              </a:rPr>
              <a:t>sqrt</a:t>
            </a:r>
            <a:r>
              <a:rPr lang="en-US" dirty="0">
                <a:ea typeface="Apple Symbols" charset="0"/>
                <a:cs typeface="Apple Symbols" charset="0"/>
              </a:rPr>
              <a:t>(–1),        −        ,         </a:t>
            </a:r>
            <a:r>
              <a:rPr lang="en-US" dirty="0">
                <a:ea typeface="Apple Symbols" charset="0"/>
                <a:cs typeface="Apple Symbols" charset="0"/>
                <a:sym typeface="Symbol"/>
              </a:rPr>
              <a:t> </a:t>
            </a:r>
            <a:r>
              <a:rPr lang="en-US" dirty="0">
                <a:ea typeface="Apple Symbols" charset="0"/>
                <a:cs typeface="Apple Symbols" charset="0"/>
              </a:rPr>
              <a:t>0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743199"/>
            <a:ext cx="381000" cy="3333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3857625"/>
            <a:ext cx="381000" cy="3333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3857625"/>
            <a:ext cx="381000" cy="3333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133" y="5838825"/>
            <a:ext cx="381000" cy="3333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5838825"/>
            <a:ext cx="381000" cy="3333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5838825"/>
            <a:ext cx="381000" cy="3333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5838825"/>
            <a:ext cx="272304" cy="2571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560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083550" cy="1095375"/>
          </a:xfrm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Visualization: Floating Point Encodings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838200" y="2960688"/>
            <a:ext cx="7315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>
            <a:off x="8382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8153400" y="3417888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81534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8" name="Line 8"/>
          <p:cNvSpPr>
            <a:spLocks noChangeShapeType="1"/>
          </p:cNvSpPr>
          <p:nvPr/>
        </p:nvSpPr>
        <p:spPr bwMode="auto">
          <a:xfrm>
            <a:off x="42672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8153400" y="3570288"/>
            <a:ext cx="533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8686800" y="3417888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304800" y="3484563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304800" y="3636963"/>
            <a:ext cx="533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>
            <a:off x="838200" y="3484563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4" name="Rectangle 14"/>
          <p:cNvSpPr>
            <a:spLocks/>
          </p:cNvSpPr>
          <p:nvPr/>
        </p:nvSpPr>
        <p:spPr bwMode="auto">
          <a:xfrm>
            <a:off x="7772400" y="2451100"/>
            <a:ext cx="192360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+</a:t>
            </a:r>
            <a:endParaRPr lang="en-US" sz="1800" dirty="0">
              <a:solidFill>
                <a:schemeClr val="tx1"/>
              </a:solidFill>
              <a:latin typeface="+mn-lt"/>
              <a:ea typeface="Symbol" pitchFamily="18" charset="2"/>
              <a:cs typeface="Symbol" pitchFamily="18" charset="2"/>
              <a:sym typeface="Symbol" pitchFamily="18" charset="2"/>
            </a:endParaRPr>
          </a:p>
        </p:txBody>
      </p:sp>
      <p:sp>
        <p:nvSpPr>
          <p:cNvPr id="25615" name="Rectangle 15"/>
          <p:cNvSpPr>
            <a:spLocks/>
          </p:cNvSpPr>
          <p:nvPr/>
        </p:nvSpPr>
        <p:spPr bwMode="auto">
          <a:xfrm>
            <a:off x="715963" y="2427288"/>
            <a:ext cx="192360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−</a:t>
            </a:r>
            <a:endParaRPr lang="en-US" sz="1800" dirty="0">
              <a:solidFill>
                <a:schemeClr val="tx1"/>
              </a:solidFill>
              <a:latin typeface="+mn-lt"/>
              <a:ea typeface="Symbol" pitchFamily="18" charset="2"/>
              <a:cs typeface="Symbol" pitchFamily="18" charset="2"/>
              <a:sym typeface="Symbol" pitchFamily="18" charset="2"/>
            </a:endParaRPr>
          </a:p>
        </p:txBody>
      </p:sp>
      <p:sp>
        <p:nvSpPr>
          <p:cNvPr id="25616" name="Rectangle 16"/>
          <p:cNvSpPr>
            <a:spLocks/>
          </p:cNvSpPr>
          <p:nvPr/>
        </p:nvSpPr>
        <p:spPr bwMode="auto">
          <a:xfrm>
            <a:off x="3886200" y="3405188"/>
            <a:ext cx="26449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+mn-lt"/>
                <a:ea typeface="Symbol" pitchFamily="18" charset="2"/>
                <a:cs typeface="Symbol" pitchFamily="18" charset="2"/>
                <a:sym typeface="Symbol"/>
              </a:rPr>
              <a:t>-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0</a:t>
            </a:r>
          </a:p>
        </p:txBody>
      </p:sp>
      <p:sp>
        <p:nvSpPr>
          <p:cNvPr id="25617" name="Line 17"/>
          <p:cNvSpPr>
            <a:spLocks noChangeShapeType="1"/>
          </p:cNvSpPr>
          <p:nvPr/>
        </p:nvSpPr>
        <p:spPr bwMode="auto">
          <a:xfrm>
            <a:off x="58674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8" name="Rectangle 18"/>
          <p:cNvSpPr>
            <a:spLocks/>
          </p:cNvSpPr>
          <p:nvPr/>
        </p:nvSpPr>
        <p:spPr bwMode="auto">
          <a:xfrm>
            <a:off x="4737100" y="2579688"/>
            <a:ext cx="1032334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+Denorm</a:t>
            </a:r>
          </a:p>
        </p:txBody>
      </p:sp>
      <p:sp>
        <p:nvSpPr>
          <p:cNvPr id="25619" name="Rectangle 19"/>
          <p:cNvSpPr>
            <a:spLocks/>
          </p:cNvSpPr>
          <p:nvPr/>
        </p:nvSpPr>
        <p:spPr bwMode="auto">
          <a:xfrm>
            <a:off x="6096000" y="2579688"/>
            <a:ext cx="1378583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+Normalized</a:t>
            </a:r>
          </a:p>
        </p:txBody>
      </p:sp>
      <p:sp>
        <p:nvSpPr>
          <p:cNvPr id="25620" name="Rectangle 20"/>
          <p:cNvSpPr>
            <a:spLocks/>
          </p:cNvSpPr>
          <p:nvPr/>
        </p:nvSpPr>
        <p:spPr bwMode="auto">
          <a:xfrm>
            <a:off x="3048000" y="2593975"/>
            <a:ext cx="1032334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−</a:t>
            </a:r>
            <a:r>
              <a:rPr lang="en-US" sz="1800" dirty="0" err="1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Denorm</a:t>
            </a:r>
            <a:endParaRPr lang="en-US" sz="1800" dirty="0">
              <a:solidFill>
                <a:schemeClr val="tx1"/>
              </a:solidFill>
              <a:latin typeface="+mn-lt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25621" name="Line 21"/>
          <p:cNvSpPr>
            <a:spLocks noChangeShapeType="1"/>
          </p:cNvSpPr>
          <p:nvPr/>
        </p:nvSpPr>
        <p:spPr bwMode="auto">
          <a:xfrm>
            <a:off x="30480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2" name="Rectangle 22"/>
          <p:cNvSpPr>
            <a:spLocks/>
          </p:cNvSpPr>
          <p:nvPr/>
        </p:nvSpPr>
        <p:spPr bwMode="auto">
          <a:xfrm>
            <a:off x="1403350" y="2579688"/>
            <a:ext cx="1378583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−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Normalized</a:t>
            </a:r>
          </a:p>
        </p:txBody>
      </p:sp>
      <p:sp>
        <p:nvSpPr>
          <p:cNvPr id="25623" name="Line 23"/>
          <p:cNvSpPr>
            <a:spLocks noChangeShapeType="1"/>
          </p:cNvSpPr>
          <p:nvPr/>
        </p:nvSpPr>
        <p:spPr bwMode="auto">
          <a:xfrm>
            <a:off x="47244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4" name="Line 24"/>
          <p:cNvSpPr>
            <a:spLocks noChangeShapeType="1"/>
          </p:cNvSpPr>
          <p:nvPr/>
        </p:nvSpPr>
        <p:spPr bwMode="auto">
          <a:xfrm>
            <a:off x="44958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5" name="Line 25"/>
          <p:cNvSpPr>
            <a:spLocks noChangeShapeType="1"/>
          </p:cNvSpPr>
          <p:nvPr/>
        </p:nvSpPr>
        <p:spPr bwMode="auto">
          <a:xfrm>
            <a:off x="79248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6" name="Line 26"/>
          <p:cNvSpPr>
            <a:spLocks noChangeShapeType="1"/>
          </p:cNvSpPr>
          <p:nvPr/>
        </p:nvSpPr>
        <p:spPr bwMode="auto">
          <a:xfrm>
            <a:off x="11430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7" name="Line 27"/>
          <p:cNvSpPr>
            <a:spLocks noChangeShapeType="1"/>
          </p:cNvSpPr>
          <p:nvPr/>
        </p:nvSpPr>
        <p:spPr bwMode="auto">
          <a:xfrm rot="10800000" flipH="1">
            <a:off x="4191000" y="3027363"/>
            <a:ext cx="22860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8" name="Line 28"/>
          <p:cNvSpPr>
            <a:spLocks noChangeShapeType="1"/>
          </p:cNvSpPr>
          <p:nvPr/>
        </p:nvSpPr>
        <p:spPr bwMode="auto">
          <a:xfrm rot="10800000">
            <a:off x="4572000" y="3027363"/>
            <a:ext cx="22860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9" name="Rectangle 29"/>
          <p:cNvSpPr>
            <a:spLocks/>
          </p:cNvSpPr>
          <p:nvPr/>
        </p:nvSpPr>
        <p:spPr bwMode="auto">
          <a:xfrm>
            <a:off x="4572000" y="3408363"/>
            <a:ext cx="339837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+0</a:t>
            </a:r>
          </a:p>
        </p:txBody>
      </p:sp>
      <p:sp>
        <p:nvSpPr>
          <p:cNvPr id="25630" name="Rectangle 30"/>
          <p:cNvSpPr>
            <a:spLocks/>
          </p:cNvSpPr>
          <p:nvPr/>
        </p:nvSpPr>
        <p:spPr bwMode="auto">
          <a:xfrm>
            <a:off x="320675" y="3255963"/>
            <a:ext cx="53860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NaN</a:t>
            </a:r>
          </a:p>
        </p:txBody>
      </p:sp>
      <p:sp>
        <p:nvSpPr>
          <p:cNvPr id="25631" name="Rectangle 31"/>
          <p:cNvSpPr>
            <a:spLocks/>
          </p:cNvSpPr>
          <p:nvPr/>
        </p:nvSpPr>
        <p:spPr bwMode="auto">
          <a:xfrm>
            <a:off x="8161338" y="3179763"/>
            <a:ext cx="53860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NaN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438400"/>
            <a:ext cx="381000" cy="33337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134" y="2471668"/>
            <a:ext cx="381000" cy="3333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662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Today: Floating Point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215900" indent="-215900">
              <a:spcBef>
                <a:spcPct val="0"/>
              </a:spcBef>
            </a:pPr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Background: Fractional binary numbers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IEEE floating point standard: Definition</a:t>
            </a:r>
            <a:endParaRPr lang="en-US"/>
          </a:p>
          <a:p>
            <a:pPr marL="215900" indent="-215900"/>
            <a:r>
              <a:rPr lang="en-US">
                <a:ea typeface="Calibri" charset="0"/>
                <a:cs typeface="Calibri" charset="0"/>
              </a:rPr>
              <a:t>Example and properties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Rounding, addition, multiplication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Floating point in C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Sum</a:t>
            </a:r>
            <a:r>
              <a:rPr lang="en-US">
                <a:solidFill>
                  <a:srgbClr val="B3B3B3"/>
                </a:solidFill>
                <a:ea typeface="Calibri" charset="0"/>
                <a:cs typeface="Calibri" charset="0"/>
              </a:rPr>
              <a:t>m</a:t>
            </a:r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ary</a:t>
            </a:r>
            <a:endParaRPr lang="en-US">
              <a:solidFill>
                <a:srgbClr val="A5A5A5"/>
              </a:solidFill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765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Tiny Floating Point Example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2755900"/>
            <a:ext cx="8382000" cy="4076700"/>
          </a:xfrm>
          <a:ln/>
        </p:spPr>
        <p:txBody>
          <a:bodyPr/>
          <a:lstStyle/>
          <a:p>
            <a:r>
              <a:rPr lang="en-US"/>
              <a:t>8-bit Floating Point Representation</a:t>
            </a:r>
          </a:p>
          <a:p>
            <a:pPr marL="552450" lvl="1"/>
            <a:r>
              <a:rPr lang="en-US"/>
              <a:t>the sign bit is in the most significant bit</a:t>
            </a:r>
          </a:p>
          <a:p>
            <a:pPr marL="552450" lvl="1"/>
            <a:r>
              <a:rPr lang="en-US"/>
              <a:t>the next four bits are the exponent, with a bias of 7</a:t>
            </a:r>
          </a:p>
          <a:p>
            <a:pPr marL="552450" lvl="1"/>
            <a:r>
              <a:rPr lang="en-US"/>
              <a:t>the last three bits are the </a:t>
            </a:r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endParaRPr lang="en-US"/>
          </a:p>
          <a:p>
            <a:endParaRPr lang="en-US"/>
          </a:p>
          <a:p>
            <a:r>
              <a:rPr lang="en-US"/>
              <a:t>Same general form as IEEE Format</a:t>
            </a:r>
          </a:p>
          <a:p>
            <a:pPr marL="552450" lvl="1"/>
            <a:r>
              <a:rPr lang="en-US"/>
              <a:t>normalized, denormalized</a:t>
            </a:r>
          </a:p>
          <a:p>
            <a:pPr marL="552450" lvl="1"/>
            <a:r>
              <a:rPr lang="en-US"/>
              <a:t>representation of 0, NaN, infinity</a:t>
            </a:r>
          </a:p>
        </p:txBody>
      </p:sp>
      <p:graphicFrame>
        <p:nvGraphicFramePr>
          <p:cNvPr id="2765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753814"/>
              </p:ext>
            </p:extLst>
          </p:nvPr>
        </p:nvGraphicFramePr>
        <p:xfrm>
          <a:off x="1955800" y="15748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4-bits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86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8675" name="Rectangle 3"/>
          <p:cNvSpPr>
            <a:spLocks/>
          </p:cNvSpPr>
          <p:nvPr/>
        </p:nvSpPr>
        <p:spPr bwMode="auto">
          <a:xfrm>
            <a:off x="0" y="6019800"/>
            <a:ext cx="8928100" cy="381000"/>
          </a:xfrm>
          <a:prstGeom prst="rect">
            <a:avLst/>
          </a:prstGeom>
          <a:solidFill>
            <a:srgbClr val="EFBFBF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6" name="Rectangle 4"/>
          <p:cNvSpPr>
            <a:spLocks/>
          </p:cNvSpPr>
          <p:nvPr/>
        </p:nvSpPr>
        <p:spPr bwMode="auto">
          <a:xfrm>
            <a:off x="76200" y="3066365"/>
            <a:ext cx="8928100" cy="2953435"/>
          </a:xfrm>
          <a:prstGeom prst="rect">
            <a:avLst/>
          </a:prstGeom>
          <a:solidFill>
            <a:srgbClr val="F6F5BD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7" name="Rectangle 5"/>
          <p:cNvSpPr>
            <a:spLocks/>
          </p:cNvSpPr>
          <p:nvPr/>
        </p:nvSpPr>
        <p:spPr bwMode="auto">
          <a:xfrm>
            <a:off x="1524000" y="990600"/>
            <a:ext cx="4648200" cy="5562600"/>
          </a:xfrm>
          <a:prstGeom prst="rect">
            <a:avLst/>
          </a:prstGeom>
          <a:noFill/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exp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frac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Calibri Bold" charset="0"/>
                <a:cs typeface="Courier New" pitchFamily="49" charset="0"/>
                <a:sym typeface="Calibri Bold" charset="0"/>
              </a:rPr>
              <a:t>Value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spcBef>
                <a:spcPts val="1200"/>
              </a:spcBef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000	-6	0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001	-6	1/8*1/64 = 1/512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010	-6	2/8*1/64 = 2/512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110	-6	6/8*1/64 = 6/512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111	-6	7/8*1/64 = 7/512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0001 000	-6	8/8*1/64 = 8/512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0001 001  	-6	9/8*1/64 = 9/512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0110 110	-1	14/8*1/2 = 14/16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0110 111	-1	15/8*1/2 = 15/16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000	0	8/8*1    = 1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001	0	9/8*1    = 9/8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010	0	10/8*1   = 10/8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1110 110	7	14/8*128 = 224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1110 111	7	15/8*128 = 240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1111 000	n/a	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inf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382000" cy="927100"/>
          </a:xfrm>
          <a:ln/>
        </p:spPr>
        <p:txBody>
          <a:bodyPr/>
          <a:lstStyle/>
          <a:p>
            <a:pPr marL="119063" indent="-119063"/>
            <a:r>
              <a:rPr lang="en-US"/>
              <a:t>Dynamic Range (Positive Only)</a:t>
            </a:r>
          </a:p>
        </p:txBody>
      </p:sp>
      <p:sp>
        <p:nvSpPr>
          <p:cNvPr id="28680" name="Rectangle 8"/>
          <p:cNvSpPr>
            <a:spLocks/>
          </p:cNvSpPr>
          <p:nvPr/>
        </p:nvSpPr>
        <p:spPr bwMode="auto">
          <a:xfrm>
            <a:off x="6858000" y="1743075"/>
            <a:ext cx="1292662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zero</a:t>
            </a:r>
          </a:p>
        </p:txBody>
      </p:sp>
      <p:sp>
        <p:nvSpPr>
          <p:cNvPr id="28681" name="Rectangle 9"/>
          <p:cNvSpPr>
            <a:spLocks/>
          </p:cNvSpPr>
          <p:nvPr/>
        </p:nvSpPr>
        <p:spPr bwMode="auto">
          <a:xfrm>
            <a:off x="6858000" y="2743200"/>
            <a:ext cx="1368452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 dirty="0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largest </a:t>
            </a:r>
            <a:r>
              <a:rPr lang="en-US" sz="1600" b="1" dirty="0" err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denorm</a:t>
            </a:r>
            <a:endParaRPr lang="en-US" sz="1600" b="1" dirty="0">
              <a:solidFill>
                <a:schemeClr val="bg1"/>
              </a:solidFill>
              <a:latin typeface="+mn-lt"/>
              <a:ea typeface="Calibri Bold" charset="0"/>
              <a:cs typeface="Courier New" pitchFamily="49" charset="0"/>
              <a:sym typeface="Calibri Bold" charset="0"/>
            </a:endParaRPr>
          </a:p>
        </p:txBody>
      </p:sp>
      <p:sp>
        <p:nvSpPr>
          <p:cNvPr id="28682" name="Rectangle 10"/>
          <p:cNvSpPr>
            <a:spLocks/>
          </p:cNvSpPr>
          <p:nvPr/>
        </p:nvSpPr>
        <p:spPr bwMode="auto">
          <a:xfrm>
            <a:off x="6858000" y="2971800"/>
            <a:ext cx="1286506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smallest norm</a:t>
            </a:r>
          </a:p>
        </p:txBody>
      </p:sp>
      <p:sp>
        <p:nvSpPr>
          <p:cNvPr id="28683" name="Rectangle 11"/>
          <p:cNvSpPr>
            <a:spLocks/>
          </p:cNvSpPr>
          <p:nvPr/>
        </p:nvSpPr>
        <p:spPr bwMode="auto">
          <a:xfrm>
            <a:off x="6858000" y="4038600"/>
            <a:ext cx="1606337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1 below</a:t>
            </a:r>
          </a:p>
        </p:txBody>
      </p:sp>
      <p:sp>
        <p:nvSpPr>
          <p:cNvPr id="28684" name="Rectangle 12"/>
          <p:cNvSpPr>
            <a:spLocks/>
          </p:cNvSpPr>
          <p:nvPr/>
        </p:nvSpPr>
        <p:spPr bwMode="auto">
          <a:xfrm>
            <a:off x="6858000" y="4572000"/>
            <a:ext cx="1601016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1 above</a:t>
            </a:r>
          </a:p>
        </p:txBody>
      </p:sp>
      <p:sp>
        <p:nvSpPr>
          <p:cNvPr id="28685" name="Rectangle 13"/>
          <p:cNvSpPr>
            <a:spLocks/>
          </p:cNvSpPr>
          <p:nvPr/>
        </p:nvSpPr>
        <p:spPr bwMode="auto">
          <a:xfrm>
            <a:off x="6858000" y="5715000"/>
            <a:ext cx="1155253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largest norm</a:t>
            </a:r>
          </a:p>
        </p:txBody>
      </p:sp>
      <p:sp>
        <p:nvSpPr>
          <p:cNvPr id="28686" name="Rectangle 14"/>
          <p:cNvSpPr>
            <a:spLocks/>
          </p:cNvSpPr>
          <p:nvPr/>
        </p:nvSpPr>
        <p:spPr bwMode="auto">
          <a:xfrm>
            <a:off x="60325" y="1981200"/>
            <a:ext cx="1421864" cy="5693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Denormalized</a:t>
            </a:r>
            <a:endParaRPr lang="en-US" sz="1600" b="1">
              <a:solidFill>
                <a:schemeClr val="tx1"/>
              </a:solidFill>
              <a:latin typeface="+mn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numbers</a:t>
            </a:r>
          </a:p>
        </p:txBody>
      </p:sp>
      <p:sp>
        <p:nvSpPr>
          <p:cNvPr id="28687" name="Rectangle 15"/>
          <p:cNvSpPr>
            <a:spLocks/>
          </p:cNvSpPr>
          <p:nvPr/>
        </p:nvSpPr>
        <p:spPr bwMode="auto">
          <a:xfrm>
            <a:off x="73025" y="4343400"/>
            <a:ext cx="1183016" cy="5693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Normalized</a:t>
            </a:r>
            <a:endParaRPr lang="en-US" sz="1600" b="1">
              <a:solidFill>
                <a:schemeClr val="tx1"/>
              </a:solidFill>
              <a:latin typeface="+mn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numbers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7000" y="540603"/>
            <a:ext cx="2419463" cy="1200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n: E = </a:t>
            </a:r>
            <a:r>
              <a:rPr lang="en-US" sz="2400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 – Bias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d: E</a:t>
            </a:r>
            <a:r>
              <a:rPr lang="en-US" sz="2400" dirty="0"/>
              <a:t> =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1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86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8675" name="Rectangle 3"/>
          <p:cNvSpPr>
            <a:spLocks/>
          </p:cNvSpPr>
          <p:nvPr/>
        </p:nvSpPr>
        <p:spPr bwMode="auto">
          <a:xfrm>
            <a:off x="0" y="6019800"/>
            <a:ext cx="8928100" cy="381000"/>
          </a:xfrm>
          <a:prstGeom prst="rect">
            <a:avLst/>
          </a:prstGeom>
          <a:solidFill>
            <a:srgbClr val="EFBFBF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6" name="Rectangle 4"/>
          <p:cNvSpPr>
            <a:spLocks/>
          </p:cNvSpPr>
          <p:nvPr/>
        </p:nvSpPr>
        <p:spPr bwMode="auto">
          <a:xfrm>
            <a:off x="76200" y="3066365"/>
            <a:ext cx="8928100" cy="2953435"/>
          </a:xfrm>
          <a:prstGeom prst="rect">
            <a:avLst/>
          </a:prstGeom>
          <a:solidFill>
            <a:srgbClr val="F6F5BD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7" name="Rectangle 5"/>
          <p:cNvSpPr>
            <a:spLocks/>
          </p:cNvSpPr>
          <p:nvPr/>
        </p:nvSpPr>
        <p:spPr bwMode="auto">
          <a:xfrm>
            <a:off x="1524000" y="990600"/>
            <a:ext cx="4648200" cy="5562600"/>
          </a:xfrm>
          <a:prstGeom prst="rect">
            <a:avLst/>
          </a:prstGeom>
          <a:noFill/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exp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frac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Calibri Bold" charset="0"/>
                <a:cs typeface="Courier New" pitchFamily="49" charset="0"/>
                <a:sym typeface="Calibri Bold" charset="0"/>
              </a:rPr>
              <a:t>Value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spcBef>
                <a:spcPts val="1200"/>
              </a:spcBef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000	-6	0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001	-6	1/8*1/64 = 1/512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010	-6	2/8*1/64 = 2/512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110	-6	6/8*1/64 = 6/512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111	-6	7/8*1/64 = 7/512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0001 000	-6	8/8*1/64 = 8/512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0001 001  	-6	9/8*1/64 = 9/512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0110 110	-1	14/8*1/2 = 14/16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0110 111	-1	15/8*1/2 = 15/16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000	0	8/8*1    = 1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001	0	9/8*1    = 9/8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010	0	10/8*1   = 10/8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1110 110	7	14/8*128 = 224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1110 111	7	15/8*128 = 240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1111 000	n/a	</a:t>
            </a:r>
            <a:r>
              <a:rPr lang="en-US" sz="16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inf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382000" cy="927100"/>
          </a:xfrm>
          <a:ln/>
        </p:spPr>
        <p:txBody>
          <a:bodyPr/>
          <a:lstStyle/>
          <a:p>
            <a:pPr marL="119063" indent="-119063"/>
            <a:r>
              <a:rPr lang="en-US"/>
              <a:t>Dynamic Range (Positive Only)</a:t>
            </a:r>
          </a:p>
        </p:txBody>
      </p:sp>
      <p:sp>
        <p:nvSpPr>
          <p:cNvPr id="28680" name="Rectangle 8"/>
          <p:cNvSpPr>
            <a:spLocks/>
          </p:cNvSpPr>
          <p:nvPr/>
        </p:nvSpPr>
        <p:spPr bwMode="auto">
          <a:xfrm>
            <a:off x="6858000" y="1743075"/>
            <a:ext cx="1514838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zero</a:t>
            </a:r>
          </a:p>
        </p:txBody>
      </p:sp>
      <p:sp>
        <p:nvSpPr>
          <p:cNvPr id="28681" name="Rectangle 9"/>
          <p:cNvSpPr>
            <a:spLocks/>
          </p:cNvSpPr>
          <p:nvPr/>
        </p:nvSpPr>
        <p:spPr bwMode="auto">
          <a:xfrm>
            <a:off x="6858000" y="2743200"/>
            <a:ext cx="1368452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 dirty="0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largest </a:t>
            </a:r>
            <a:r>
              <a:rPr lang="en-US" sz="1600" b="1" dirty="0" err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denorm</a:t>
            </a:r>
            <a:endParaRPr lang="en-US" sz="1600" b="1" dirty="0">
              <a:solidFill>
                <a:schemeClr val="bg1"/>
              </a:solidFill>
              <a:latin typeface="+mn-lt"/>
              <a:ea typeface="Calibri Bold" charset="0"/>
              <a:cs typeface="Courier New" pitchFamily="49" charset="0"/>
              <a:sym typeface="Calibri Bold" charset="0"/>
            </a:endParaRPr>
          </a:p>
        </p:txBody>
      </p:sp>
      <p:sp>
        <p:nvSpPr>
          <p:cNvPr id="28682" name="Rectangle 10"/>
          <p:cNvSpPr>
            <a:spLocks/>
          </p:cNvSpPr>
          <p:nvPr/>
        </p:nvSpPr>
        <p:spPr bwMode="auto">
          <a:xfrm>
            <a:off x="6858000" y="2971800"/>
            <a:ext cx="1286506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smallest norm</a:t>
            </a:r>
          </a:p>
        </p:txBody>
      </p:sp>
      <p:sp>
        <p:nvSpPr>
          <p:cNvPr id="28683" name="Rectangle 11"/>
          <p:cNvSpPr>
            <a:spLocks/>
          </p:cNvSpPr>
          <p:nvPr/>
        </p:nvSpPr>
        <p:spPr bwMode="auto">
          <a:xfrm>
            <a:off x="6858000" y="4038600"/>
            <a:ext cx="1606337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1 below</a:t>
            </a:r>
          </a:p>
        </p:txBody>
      </p:sp>
      <p:sp>
        <p:nvSpPr>
          <p:cNvPr id="28684" name="Rectangle 12"/>
          <p:cNvSpPr>
            <a:spLocks/>
          </p:cNvSpPr>
          <p:nvPr/>
        </p:nvSpPr>
        <p:spPr bwMode="auto">
          <a:xfrm>
            <a:off x="6858000" y="4572000"/>
            <a:ext cx="1601016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1 above</a:t>
            </a:r>
          </a:p>
        </p:txBody>
      </p:sp>
      <p:sp>
        <p:nvSpPr>
          <p:cNvPr id="28685" name="Rectangle 13"/>
          <p:cNvSpPr>
            <a:spLocks/>
          </p:cNvSpPr>
          <p:nvPr/>
        </p:nvSpPr>
        <p:spPr bwMode="auto">
          <a:xfrm>
            <a:off x="6858000" y="5715000"/>
            <a:ext cx="1155253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largest norm</a:t>
            </a:r>
          </a:p>
        </p:txBody>
      </p:sp>
      <p:sp>
        <p:nvSpPr>
          <p:cNvPr id="28686" name="Rectangle 14"/>
          <p:cNvSpPr>
            <a:spLocks/>
          </p:cNvSpPr>
          <p:nvPr/>
        </p:nvSpPr>
        <p:spPr bwMode="auto">
          <a:xfrm>
            <a:off x="60325" y="1981200"/>
            <a:ext cx="1421864" cy="5693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Denormalized</a:t>
            </a:r>
            <a:endParaRPr lang="en-US" sz="1600" b="1">
              <a:solidFill>
                <a:schemeClr val="tx1"/>
              </a:solidFill>
              <a:latin typeface="+mn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numbers</a:t>
            </a:r>
          </a:p>
        </p:txBody>
      </p:sp>
      <p:sp>
        <p:nvSpPr>
          <p:cNvPr id="28687" name="Rectangle 15"/>
          <p:cNvSpPr>
            <a:spLocks/>
          </p:cNvSpPr>
          <p:nvPr/>
        </p:nvSpPr>
        <p:spPr bwMode="auto">
          <a:xfrm>
            <a:off x="73025" y="4343400"/>
            <a:ext cx="1054199" cy="5693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Normalized</a:t>
            </a:r>
            <a:endParaRPr lang="en-US" sz="1600" b="1">
              <a:solidFill>
                <a:schemeClr val="bg1"/>
              </a:solidFill>
              <a:latin typeface="+mn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numbers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7000" y="540603"/>
            <a:ext cx="2419463" cy="1200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n: E = </a:t>
            </a:r>
            <a:r>
              <a:rPr lang="en-US" sz="2400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 – Bias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d: E</a:t>
            </a:r>
            <a:r>
              <a:rPr lang="en-US" sz="2400" dirty="0"/>
              <a:t> =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1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966934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86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8675" name="Rectangle 3"/>
          <p:cNvSpPr>
            <a:spLocks/>
          </p:cNvSpPr>
          <p:nvPr/>
        </p:nvSpPr>
        <p:spPr bwMode="auto">
          <a:xfrm>
            <a:off x="0" y="6019800"/>
            <a:ext cx="8928100" cy="381000"/>
          </a:xfrm>
          <a:prstGeom prst="rect">
            <a:avLst/>
          </a:prstGeom>
          <a:solidFill>
            <a:srgbClr val="EFBFBF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6" name="Rectangle 4"/>
          <p:cNvSpPr>
            <a:spLocks/>
          </p:cNvSpPr>
          <p:nvPr/>
        </p:nvSpPr>
        <p:spPr bwMode="auto">
          <a:xfrm>
            <a:off x="76200" y="3066365"/>
            <a:ext cx="8928100" cy="2953435"/>
          </a:xfrm>
          <a:prstGeom prst="rect">
            <a:avLst/>
          </a:prstGeom>
          <a:solidFill>
            <a:srgbClr val="F6F5BD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7" name="Rectangle 5"/>
          <p:cNvSpPr>
            <a:spLocks/>
          </p:cNvSpPr>
          <p:nvPr/>
        </p:nvSpPr>
        <p:spPr bwMode="auto">
          <a:xfrm>
            <a:off x="1524000" y="990600"/>
            <a:ext cx="4648200" cy="5562600"/>
          </a:xfrm>
          <a:prstGeom prst="rect">
            <a:avLst/>
          </a:prstGeom>
          <a:noFill/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exp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frac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Calibri Bold" charset="0"/>
                <a:cs typeface="Courier New" pitchFamily="49" charset="0"/>
                <a:sym typeface="Calibri Bold" charset="0"/>
              </a:rPr>
              <a:t>Value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spcBef>
                <a:spcPts val="1200"/>
              </a:spcBef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000	-6	0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001	-6	1/8*1/64 = 1/512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010	-6	2/8*1/64 = 2/512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110	-6	6/8*1/64 = 6/512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111	-6	7/8*1/64 = 7/512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0001 000	-6	8/8*1/64 = 8/512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0001 001  	-6	9/8*1/64 = 9/512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0110 110	-1	14/8*1/2 = 14/16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0110 111	-1	15/8*1/2 = 15/16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000	0	8/8*1    = 1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001	0	9/8*1    = 9/8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010	0	10/8*1   = 10/8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1110 110	7	14/8*128 = 224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1110 111	7	15/8*128 = 240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1111 000	n/a	</a:t>
            </a:r>
            <a:r>
              <a:rPr lang="en-US" sz="16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inf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382000" cy="927100"/>
          </a:xfrm>
          <a:ln/>
        </p:spPr>
        <p:txBody>
          <a:bodyPr/>
          <a:lstStyle/>
          <a:p>
            <a:pPr marL="119063" indent="-119063"/>
            <a:r>
              <a:rPr lang="en-US"/>
              <a:t>Dynamic Range (Positive Only)</a:t>
            </a:r>
          </a:p>
        </p:txBody>
      </p:sp>
      <p:sp>
        <p:nvSpPr>
          <p:cNvPr id="28680" name="Rectangle 8"/>
          <p:cNvSpPr>
            <a:spLocks/>
          </p:cNvSpPr>
          <p:nvPr/>
        </p:nvSpPr>
        <p:spPr bwMode="auto">
          <a:xfrm>
            <a:off x="6858000" y="1743075"/>
            <a:ext cx="1514838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zero</a:t>
            </a:r>
          </a:p>
        </p:txBody>
      </p:sp>
      <p:sp>
        <p:nvSpPr>
          <p:cNvPr id="28681" name="Rectangle 9"/>
          <p:cNvSpPr>
            <a:spLocks/>
          </p:cNvSpPr>
          <p:nvPr/>
        </p:nvSpPr>
        <p:spPr bwMode="auto">
          <a:xfrm>
            <a:off x="6858000" y="2743200"/>
            <a:ext cx="1559722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largest </a:t>
            </a:r>
            <a:r>
              <a:rPr lang="en-US" sz="1600" b="1" dirty="0" err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denorm</a:t>
            </a:r>
            <a:endParaRPr lang="en-US" sz="1600" b="1" dirty="0">
              <a:solidFill>
                <a:schemeClr val="tx1"/>
              </a:solidFill>
              <a:latin typeface="+mn-lt"/>
              <a:ea typeface="Calibri Bold" charset="0"/>
              <a:cs typeface="Courier New" pitchFamily="49" charset="0"/>
              <a:sym typeface="Calibri Bold" charset="0"/>
            </a:endParaRPr>
          </a:p>
        </p:txBody>
      </p:sp>
      <p:sp>
        <p:nvSpPr>
          <p:cNvPr id="28682" name="Rectangle 10"/>
          <p:cNvSpPr>
            <a:spLocks/>
          </p:cNvSpPr>
          <p:nvPr/>
        </p:nvSpPr>
        <p:spPr bwMode="auto">
          <a:xfrm>
            <a:off x="6858000" y="2971800"/>
            <a:ext cx="1469954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 dirty="0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smallest norm</a:t>
            </a:r>
          </a:p>
        </p:txBody>
      </p:sp>
      <p:sp>
        <p:nvSpPr>
          <p:cNvPr id="28683" name="Rectangle 11"/>
          <p:cNvSpPr>
            <a:spLocks/>
          </p:cNvSpPr>
          <p:nvPr/>
        </p:nvSpPr>
        <p:spPr bwMode="auto">
          <a:xfrm>
            <a:off x="6858000" y="4038600"/>
            <a:ext cx="1606337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 dirty="0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1 below</a:t>
            </a:r>
          </a:p>
        </p:txBody>
      </p:sp>
      <p:sp>
        <p:nvSpPr>
          <p:cNvPr id="28684" name="Rectangle 12"/>
          <p:cNvSpPr>
            <a:spLocks/>
          </p:cNvSpPr>
          <p:nvPr/>
        </p:nvSpPr>
        <p:spPr bwMode="auto">
          <a:xfrm>
            <a:off x="6858000" y="4572000"/>
            <a:ext cx="1601016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1 above</a:t>
            </a:r>
          </a:p>
        </p:txBody>
      </p:sp>
      <p:sp>
        <p:nvSpPr>
          <p:cNvPr id="28685" name="Rectangle 13"/>
          <p:cNvSpPr>
            <a:spLocks/>
          </p:cNvSpPr>
          <p:nvPr/>
        </p:nvSpPr>
        <p:spPr bwMode="auto">
          <a:xfrm>
            <a:off x="6858000" y="5715000"/>
            <a:ext cx="1155253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largest norm</a:t>
            </a:r>
          </a:p>
        </p:txBody>
      </p:sp>
      <p:sp>
        <p:nvSpPr>
          <p:cNvPr id="28686" name="Rectangle 14"/>
          <p:cNvSpPr>
            <a:spLocks/>
          </p:cNvSpPr>
          <p:nvPr/>
        </p:nvSpPr>
        <p:spPr bwMode="auto">
          <a:xfrm>
            <a:off x="60325" y="1981200"/>
            <a:ext cx="1421864" cy="5693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Denormalized</a:t>
            </a:r>
            <a:endParaRPr lang="en-US" sz="1600" b="1">
              <a:solidFill>
                <a:schemeClr val="tx1"/>
              </a:solidFill>
              <a:latin typeface="+mn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numbers</a:t>
            </a:r>
          </a:p>
        </p:txBody>
      </p:sp>
      <p:sp>
        <p:nvSpPr>
          <p:cNvPr id="28687" name="Rectangle 15"/>
          <p:cNvSpPr>
            <a:spLocks/>
          </p:cNvSpPr>
          <p:nvPr/>
        </p:nvSpPr>
        <p:spPr bwMode="auto">
          <a:xfrm>
            <a:off x="73025" y="4343400"/>
            <a:ext cx="1054199" cy="5693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 dirty="0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Normalized</a:t>
            </a:r>
            <a:endParaRPr lang="en-US" sz="1600" b="1" dirty="0">
              <a:solidFill>
                <a:schemeClr val="bg1"/>
              </a:solidFill>
              <a:latin typeface="+mn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600" b="1" dirty="0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numbers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7000" y="540603"/>
            <a:ext cx="2419463" cy="1200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n: E = </a:t>
            </a:r>
            <a:r>
              <a:rPr lang="en-US" sz="2400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 – Bias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d: E</a:t>
            </a:r>
            <a:r>
              <a:rPr lang="en-US" sz="2400" dirty="0"/>
              <a:t> =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1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510913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86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8675" name="Rectangle 3"/>
          <p:cNvSpPr>
            <a:spLocks/>
          </p:cNvSpPr>
          <p:nvPr/>
        </p:nvSpPr>
        <p:spPr bwMode="auto">
          <a:xfrm>
            <a:off x="0" y="6019800"/>
            <a:ext cx="8928100" cy="381000"/>
          </a:xfrm>
          <a:prstGeom prst="rect">
            <a:avLst/>
          </a:prstGeom>
          <a:solidFill>
            <a:srgbClr val="EFBFBF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6" name="Rectangle 4"/>
          <p:cNvSpPr>
            <a:spLocks/>
          </p:cNvSpPr>
          <p:nvPr/>
        </p:nvSpPr>
        <p:spPr bwMode="auto">
          <a:xfrm>
            <a:off x="76200" y="3066365"/>
            <a:ext cx="8928100" cy="2953435"/>
          </a:xfrm>
          <a:prstGeom prst="rect">
            <a:avLst/>
          </a:prstGeom>
          <a:solidFill>
            <a:srgbClr val="F6F5BD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7" name="Rectangle 5"/>
          <p:cNvSpPr>
            <a:spLocks/>
          </p:cNvSpPr>
          <p:nvPr/>
        </p:nvSpPr>
        <p:spPr bwMode="auto">
          <a:xfrm>
            <a:off x="1524000" y="990600"/>
            <a:ext cx="4648200" cy="5562600"/>
          </a:xfrm>
          <a:prstGeom prst="rect">
            <a:avLst/>
          </a:prstGeom>
          <a:noFill/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exp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frac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Calibri Bold" charset="0"/>
                <a:cs typeface="Courier New" pitchFamily="49" charset="0"/>
                <a:sym typeface="Calibri Bold" charset="0"/>
              </a:rPr>
              <a:t>Value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spcBef>
                <a:spcPts val="1200"/>
              </a:spcBef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000	-6	0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001	-6	1/8*1/64 = 1/512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010	-6	2/8*1/64 = 2/512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110	-6	6/8*1/64 = 6/512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111	-6	7/8*1/64 = 7/512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0001 000	-6	8/8*1/64 = 8/512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0001 001  	-6	9/8*1/64 = 9/512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0110 110	-1	14/8*1/2 = 14/16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0110 111	-1	15/8*1/2 = 15/16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000	0	8/8*1    = 1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001	0	9/8*1    = 9/8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010	0	10/8*1   = 10/8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1110 110	7	14/8*128 = 224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1110 111	7	15/8*128 = 240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1111 000	n/a	</a:t>
            </a:r>
            <a:r>
              <a:rPr lang="en-US" sz="16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inf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382000" cy="927100"/>
          </a:xfrm>
          <a:ln/>
        </p:spPr>
        <p:txBody>
          <a:bodyPr/>
          <a:lstStyle/>
          <a:p>
            <a:pPr marL="119063" indent="-119063"/>
            <a:r>
              <a:rPr lang="en-US"/>
              <a:t>Dynamic Range (Positive Only)</a:t>
            </a:r>
          </a:p>
        </p:txBody>
      </p:sp>
      <p:sp>
        <p:nvSpPr>
          <p:cNvPr id="28680" name="Rectangle 8"/>
          <p:cNvSpPr>
            <a:spLocks/>
          </p:cNvSpPr>
          <p:nvPr/>
        </p:nvSpPr>
        <p:spPr bwMode="auto">
          <a:xfrm>
            <a:off x="6858000" y="1743075"/>
            <a:ext cx="1292662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zero</a:t>
            </a:r>
          </a:p>
        </p:txBody>
      </p:sp>
      <p:sp>
        <p:nvSpPr>
          <p:cNvPr id="28681" name="Rectangle 9"/>
          <p:cNvSpPr>
            <a:spLocks/>
          </p:cNvSpPr>
          <p:nvPr/>
        </p:nvSpPr>
        <p:spPr bwMode="auto">
          <a:xfrm>
            <a:off x="6858000" y="2743200"/>
            <a:ext cx="1559722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largest </a:t>
            </a:r>
            <a:r>
              <a:rPr lang="en-US" sz="1600" b="1" dirty="0" err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denorm</a:t>
            </a:r>
            <a:endParaRPr lang="en-US" sz="1600" b="1" dirty="0">
              <a:solidFill>
                <a:schemeClr val="tx1"/>
              </a:solidFill>
              <a:latin typeface="+mn-lt"/>
              <a:ea typeface="Calibri Bold" charset="0"/>
              <a:cs typeface="Courier New" pitchFamily="49" charset="0"/>
              <a:sym typeface="Calibri Bold" charset="0"/>
            </a:endParaRPr>
          </a:p>
        </p:txBody>
      </p:sp>
      <p:sp>
        <p:nvSpPr>
          <p:cNvPr id="28682" name="Rectangle 10"/>
          <p:cNvSpPr>
            <a:spLocks/>
          </p:cNvSpPr>
          <p:nvPr/>
        </p:nvSpPr>
        <p:spPr bwMode="auto">
          <a:xfrm>
            <a:off x="6858000" y="2971800"/>
            <a:ext cx="1469954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smallest norm</a:t>
            </a:r>
          </a:p>
        </p:txBody>
      </p:sp>
      <p:sp>
        <p:nvSpPr>
          <p:cNvPr id="28683" name="Rectangle 11"/>
          <p:cNvSpPr>
            <a:spLocks/>
          </p:cNvSpPr>
          <p:nvPr/>
        </p:nvSpPr>
        <p:spPr bwMode="auto">
          <a:xfrm>
            <a:off x="6858000" y="4038600"/>
            <a:ext cx="1846659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1 below</a:t>
            </a:r>
          </a:p>
        </p:txBody>
      </p:sp>
      <p:sp>
        <p:nvSpPr>
          <p:cNvPr id="28684" name="Rectangle 12"/>
          <p:cNvSpPr>
            <a:spLocks/>
          </p:cNvSpPr>
          <p:nvPr/>
        </p:nvSpPr>
        <p:spPr bwMode="auto">
          <a:xfrm>
            <a:off x="6858000" y="4572000"/>
            <a:ext cx="1601016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1 above</a:t>
            </a:r>
          </a:p>
        </p:txBody>
      </p:sp>
      <p:sp>
        <p:nvSpPr>
          <p:cNvPr id="28685" name="Rectangle 13"/>
          <p:cNvSpPr>
            <a:spLocks/>
          </p:cNvSpPr>
          <p:nvPr/>
        </p:nvSpPr>
        <p:spPr bwMode="auto">
          <a:xfrm>
            <a:off x="6858000" y="5715000"/>
            <a:ext cx="1155253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largest norm</a:t>
            </a:r>
          </a:p>
        </p:txBody>
      </p:sp>
      <p:sp>
        <p:nvSpPr>
          <p:cNvPr id="28686" name="Rectangle 14"/>
          <p:cNvSpPr>
            <a:spLocks/>
          </p:cNvSpPr>
          <p:nvPr/>
        </p:nvSpPr>
        <p:spPr bwMode="auto">
          <a:xfrm>
            <a:off x="60325" y="1981200"/>
            <a:ext cx="1262590" cy="5693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Denormalized</a:t>
            </a:r>
            <a:endParaRPr lang="en-US" sz="1600" b="1">
              <a:solidFill>
                <a:schemeClr val="bg1"/>
              </a:solidFill>
              <a:latin typeface="+mn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numbers</a:t>
            </a:r>
          </a:p>
        </p:txBody>
      </p:sp>
      <p:sp>
        <p:nvSpPr>
          <p:cNvPr id="28687" name="Rectangle 15"/>
          <p:cNvSpPr>
            <a:spLocks/>
          </p:cNvSpPr>
          <p:nvPr/>
        </p:nvSpPr>
        <p:spPr bwMode="auto">
          <a:xfrm>
            <a:off x="73025" y="4343400"/>
            <a:ext cx="1054199" cy="5693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Normalized</a:t>
            </a:r>
            <a:endParaRPr lang="en-US" sz="1600" b="1">
              <a:solidFill>
                <a:schemeClr val="bg1"/>
              </a:solidFill>
              <a:latin typeface="+mn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numbers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7000" y="540603"/>
            <a:ext cx="2419463" cy="1200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n: E = </a:t>
            </a:r>
            <a:r>
              <a:rPr lang="en-US" sz="2400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 – Bias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d: E</a:t>
            </a:r>
            <a:r>
              <a:rPr lang="en-US" sz="2400" dirty="0"/>
              <a:t> =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1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68068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86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8675" name="Rectangle 3"/>
          <p:cNvSpPr>
            <a:spLocks/>
          </p:cNvSpPr>
          <p:nvPr/>
        </p:nvSpPr>
        <p:spPr bwMode="auto">
          <a:xfrm>
            <a:off x="0" y="6019800"/>
            <a:ext cx="8928100" cy="381000"/>
          </a:xfrm>
          <a:prstGeom prst="rect">
            <a:avLst/>
          </a:prstGeom>
          <a:solidFill>
            <a:srgbClr val="EFBFBF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6" name="Rectangle 4"/>
          <p:cNvSpPr>
            <a:spLocks/>
          </p:cNvSpPr>
          <p:nvPr/>
        </p:nvSpPr>
        <p:spPr bwMode="auto">
          <a:xfrm>
            <a:off x="76200" y="3066365"/>
            <a:ext cx="8928100" cy="2953435"/>
          </a:xfrm>
          <a:prstGeom prst="rect">
            <a:avLst/>
          </a:prstGeom>
          <a:solidFill>
            <a:srgbClr val="F6F5BD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7" name="Rectangle 5"/>
          <p:cNvSpPr>
            <a:spLocks/>
          </p:cNvSpPr>
          <p:nvPr/>
        </p:nvSpPr>
        <p:spPr bwMode="auto">
          <a:xfrm>
            <a:off x="1524000" y="990600"/>
            <a:ext cx="4648200" cy="5562600"/>
          </a:xfrm>
          <a:prstGeom prst="rect">
            <a:avLst/>
          </a:prstGeom>
          <a:noFill/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exp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frac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Calibri Bold" charset="0"/>
                <a:cs typeface="Courier New" pitchFamily="49" charset="0"/>
                <a:sym typeface="Calibri Bold" charset="0"/>
              </a:rPr>
              <a:t>Value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spcBef>
                <a:spcPts val="1200"/>
              </a:spcBef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000	-6	0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001	-6	1/8*1/64 = 1/512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010	-6	2/8*1/64 = 2/512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110	-6	6/8*1/64 = 6/512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111	-6	7/8*1/64 = 7/512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0001 000	-6	8/8*1/64 = 8/512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0001 001  	-6	9/8*1/64 = 9/512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0110 110	-1	14/8*1/2 = 14/16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0110 111	-1	15/8*1/2 = 15/16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000	0	8/8*1    = 1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001	0	9/8*1    = 9/8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010	0	10/8*1   = 10/8</a:t>
            </a:r>
            <a:endParaRPr lang="en-US" sz="1600" b="1" dirty="0">
              <a:solidFill>
                <a:schemeClr val="bg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1110 110	7	14/8*128 = 224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1110 111	7	15/8*128 = 240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1111 000	n/a	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inf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382000" cy="927100"/>
          </a:xfrm>
          <a:ln/>
        </p:spPr>
        <p:txBody>
          <a:bodyPr/>
          <a:lstStyle/>
          <a:p>
            <a:pPr marL="119063" indent="-119063"/>
            <a:r>
              <a:rPr lang="en-US"/>
              <a:t>Dynamic Range (Positive Only)</a:t>
            </a:r>
          </a:p>
        </p:txBody>
      </p:sp>
      <p:sp>
        <p:nvSpPr>
          <p:cNvPr id="28680" name="Rectangle 8"/>
          <p:cNvSpPr>
            <a:spLocks/>
          </p:cNvSpPr>
          <p:nvPr/>
        </p:nvSpPr>
        <p:spPr bwMode="auto">
          <a:xfrm>
            <a:off x="6858000" y="1743075"/>
            <a:ext cx="1292662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zero</a:t>
            </a:r>
          </a:p>
        </p:txBody>
      </p:sp>
      <p:sp>
        <p:nvSpPr>
          <p:cNvPr id="28681" name="Rectangle 9"/>
          <p:cNvSpPr>
            <a:spLocks/>
          </p:cNvSpPr>
          <p:nvPr/>
        </p:nvSpPr>
        <p:spPr bwMode="auto">
          <a:xfrm>
            <a:off x="6858000" y="2743200"/>
            <a:ext cx="1368452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largest </a:t>
            </a:r>
            <a:r>
              <a:rPr lang="en-US" sz="1600" b="1" dirty="0" err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denorm</a:t>
            </a:r>
            <a:endParaRPr lang="en-US" sz="1600" b="1" dirty="0">
              <a:solidFill>
                <a:schemeClr val="bg1"/>
              </a:solidFill>
              <a:latin typeface="+mn-lt"/>
              <a:ea typeface="Calibri Bold" charset="0"/>
              <a:cs typeface="Courier New" pitchFamily="49" charset="0"/>
              <a:sym typeface="Calibri Bold" charset="0"/>
            </a:endParaRPr>
          </a:p>
        </p:txBody>
      </p:sp>
      <p:sp>
        <p:nvSpPr>
          <p:cNvPr id="28682" name="Rectangle 10"/>
          <p:cNvSpPr>
            <a:spLocks/>
          </p:cNvSpPr>
          <p:nvPr/>
        </p:nvSpPr>
        <p:spPr bwMode="auto">
          <a:xfrm>
            <a:off x="6858000" y="2971800"/>
            <a:ext cx="1286506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smallest norm</a:t>
            </a:r>
          </a:p>
        </p:txBody>
      </p:sp>
      <p:sp>
        <p:nvSpPr>
          <p:cNvPr id="28683" name="Rectangle 11"/>
          <p:cNvSpPr>
            <a:spLocks/>
          </p:cNvSpPr>
          <p:nvPr/>
        </p:nvSpPr>
        <p:spPr bwMode="auto">
          <a:xfrm>
            <a:off x="6858000" y="4038600"/>
            <a:ext cx="1606337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1 below</a:t>
            </a:r>
          </a:p>
        </p:txBody>
      </p:sp>
      <p:sp>
        <p:nvSpPr>
          <p:cNvPr id="28684" name="Rectangle 12"/>
          <p:cNvSpPr>
            <a:spLocks/>
          </p:cNvSpPr>
          <p:nvPr/>
        </p:nvSpPr>
        <p:spPr bwMode="auto">
          <a:xfrm>
            <a:off x="6858000" y="4572000"/>
            <a:ext cx="1601016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1 above</a:t>
            </a:r>
          </a:p>
        </p:txBody>
      </p:sp>
      <p:sp>
        <p:nvSpPr>
          <p:cNvPr id="28685" name="Rectangle 13"/>
          <p:cNvSpPr>
            <a:spLocks/>
          </p:cNvSpPr>
          <p:nvPr/>
        </p:nvSpPr>
        <p:spPr bwMode="auto">
          <a:xfrm>
            <a:off x="6858000" y="5715000"/>
            <a:ext cx="1320874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largest norm</a:t>
            </a:r>
          </a:p>
        </p:txBody>
      </p:sp>
      <p:sp>
        <p:nvSpPr>
          <p:cNvPr id="28686" name="Rectangle 14"/>
          <p:cNvSpPr>
            <a:spLocks/>
          </p:cNvSpPr>
          <p:nvPr/>
        </p:nvSpPr>
        <p:spPr bwMode="auto">
          <a:xfrm>
            <a:off x="60325" y="1981200"/>
            <a:ext cx="1262590" cy="5693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Denormalized</a:t>
            </a:r>
            <a:endParaRPr lang="en-US" sz="1600" b="1">
              <a:solidFill>
                <a:schemeClr val="bg1"/>
              </a:solidFill>
              <a:latin typeface="+mn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numbers</a:t>
            </a:r>
          </a:p>
        </p:txBody>
      </p:sp>
      <p:sp>
        <p:nvSpPr>
          <p:cNvPr id="28687" name="Rectangle 15"/>
          <p:cNvSpPr>
            <a:spLocks/>
          </p:cNvSpPr>
          <p:nvPr/>
        </p:nvSpPr>
        <p:spPr bwMode="auto">
          <a:xfrm>
            <a:off x="73025" y="4343400"/>
            <a:ext cx="1054199" cy="5693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Normalized</a:t>
            </a:r>
            <a:endParaRPr lang="en-US" sz="1600" b="1">
              <a:solidFill>
                <a:schemeClr val="bg1"/>
              </a:solidFill>
              <a:latin typeface="+mn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600" b="1">
                <a:solidFill>
                  <a:schemeClr val="bg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numbers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7000" y="540603"/>
            <a:ext cx="2419463" cy="1200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n: E = </a:t>
            </a:r>
            <a:r>
              <a:rPr lang="en-US" sz="2400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 – Bias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d: E</a:t>
            </a:r>
            <a:r>
              <a:rPr lang="en-US" sz="2400" dirty="0"/>
              <a:t> =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1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0357170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86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8675" name="Rectangle 3"/>
          <p:cNvSpPr>
            <a:spLocks/>
          </p:cNvSpPr>
          <p:nvPr/>
        </p:nvSpPr>
        <p:spPr bwMode="auto">
          <a:xfrm>
            <a:off x="0" y="6019800"/>
            <a:ext cx="8928100" cy="381000"/>
          </a:xfrm>
          <a:prstGeom prst="rect">
            <a:avLst/>
          </a:prstGeom>
          <a:solidFill>
            <a:srgbClr val="EFBFBF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6" name="Rectangle 4"/>
          <p:cNvSpPr>
            <a:spLocks/>
          </p:cNvSpPr>
          <p:nvPr/>
        </p:nvSpPr>
        <p:spPr bwMode="auto">
          <a:xfrm>
            <a:off x="76200" y="3066365"/>
            <a:ext cx="8928100" cy="2953435"/>
          </a:xfrm>
          <a:prstGeom prst="rect">
            <a:avLst/>
          </a:prstGeom>
          <a:solidFill>
            <a:srgbClr val="F6F5BD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7" name="Rectangle 5"/>
          <p:cNvSpPr>
            <a:spLocks/>
          </p:cNvSpPr>
          <p:nvPr/>
        </p:nvSpPr>
        <p:spPr bwMode="auto">
          <a:xfrm>
            <a:off x="1524000" y="990600"/>
            <a:ext cx="4648200" cy="5562600"/>
          </a:xfrm>
          <a:prstGeom prst="rect">
            <a:avLst/>
          </a:prstGeom>
          <a:noFill/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exp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frac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Calibri Bold" charset="0"/>
                <a:cs typeface="Courier New" pitchFamily="49" charset="0"/>
                <a:sym typeface="Calibri Bold" charset="0"/>
              </a:rPr>
              <a:t>Value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spcBef>
                <a:spcPts val="1200"/>
              </a:spcBef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000	-6	0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001	-6	1/8*1/64 = 1/512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010	-6	2/8*1/64 = 2/512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110	-6	6/8*1/64 = 6/512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111	-6	7/8*1/64 = 7/512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0001 000	-6	8/8*1/64 = 8/512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0001 001  	-6	9/8*1/64 = 9/512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0110 110	-1	14/8*1/2 = 14/16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0110 111	-1	15/8*1/2 = 15/16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000	0	8/8*1    = 1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001	0	9/8*1    = 9/8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010	0	10/8*1   = 10/8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1110 110	7	14/8*128 = 224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1110 111	7	15/8*128 = 240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1111 000	n/a	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inf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382000" cy="927100"/>
          </a:xfrm>
          <a:ln/>
        </p:spPr>
        <p:txBody>
          <a:bodyPr/>
          <a:lstStyle/>
          <a:p>
            <a:pPr marL="119063" indent="-119063"/>
            <a:r>
              <a:rPr lang="en-US"/>
              <a:t>Dynamic Range (Positive Only)</a:t>
            </a:r>
          </a:p>
        </p:txBody>
      </p:sp>
      <p:sp>
        <p:nvSpPr>
          <p:cNvPr id="28680" name="Rectangle 8"/>
          <p:cNvSpPr>
            <a:spLocks/>
          </p:cNvSpPr>
          <p:nvPr/>
        </p:nvSpPr>
        <p:spPr bwMode="auto">
          <a:xfrm>
            <a:off x="6858000" y="1743075"/>
            <a:ext cx="1514838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zero</a:t>
            </a:r>
          </a:p>
        </p:txBody>
      </p:sp>
      <p:sp>
        <p:nvSpPr>
          <p:cNvPr id="28681" name="Rectangle 9"/>
          <p:cNvSpPr>
            <a:spLocks/>
          </p:cNvSpPr>
          <p:nvPr/>
        </p:nvSpPr>
        <p:spPr bwMode="auto">
          <a:xfrm>
            <a:off x="6858000" y="2743200"/>
            <a:ext cx="1559722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largest </a:t>
            </a:r>
            <a:r>
              <a:rPr lang="en-US" sz="1600" b="1" dirty="0" err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denorm</a:t>
            </a:r>
            <a:endParaRPr lang="en-US" sz="1600" b="1" dirty="0">
              <a:solidFill>
                <a:schemeClr val="tx1"/>
              </a:solidFill>
              <a:latin typeface="+mn-lt"/>
              <a:ea typeface="Calibri Bold" charset="0"/>
              <a:cs typeface="Courier New" pitchFamily="49" charset="0"/>
              <a:sym typeface="Calibri Bold" charset="0"/>
            </a:endParaRPr>
          </a:p>
        </p:txBody>
      </p:sp>
      <p:sp>
        <p:nvSpPr>
          <p:cNvPr id="28682" name="Rectangle 10"/>
          <p:cNvSpPr>
            <a:spLocks/>
          </p:cNvSpPr>
          <p:nvPr/>
        </p:nvSpPr>
        <p:spPr bwMode="auto">
          <a:xfrm>
            <a:off x="6858000" y="2971800"/>
            <a:ext cx="1469954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smallest norm</a:t>
            </a:r>
          </a:p>
        </p:txBody>
      </p:sp>
      <p:sp>
        <p:nvSpPr>
          <p:cNvPr id="28683" name="Rectangle 11"/>
          <p:cNvSpPr>
            <a:spLocks/>
          </p:cNvSpPr>
          <p:nvPr/>
        </p:nvSpPr>
        <p:spPr bwMode="auto">
          <a:xfrm>
            <a:off x="6858000" y="4038600"/>
            <a:ext cx="1846659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1 below</a:t>
            </a:r>
          </a:p>
        </p:txBody>
      </p:sp>
      <p:sp>
        <p:nvSpPr>
          <p:cNvPr id="28684" name="Rectangle 12"/>
          <p:cNvSpPr>
            <a:spLocks/>
          </p:cNvSpPr>
          <p:nvPr/>
        </p:nvSpPr>
        <p:spPr bwMode="auto">
          <a:xfrm>
            <a:off x="6858000" y="4572000"/>
            <a:ext cx="1856277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1 above</a:t>
            </a:r>
          </a:p>
        </p:txBody>
      </p:sp>
      <p:sp>
        <p:nvSpPr>
          <p:cNvPr id="28685" name="Rectangle 13"/>
          <p:cNvSpPr>
            <a:spLocks/>
          </p:cNvSpPr>
          <p:nvPr/>
        </p:nvSpPr>
        <p:spPr bwMode="auto">
          <a:xfrm>
            <a:off x="6858000" y="5715000"/>
            <a:ext cx="1320874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largest norm</a:t>
            </a:r>
          </a:p>
        </p:txBody>
      </p:sp>
      <p:sp>
        <p:nvSpPr>
          <p:cNvPr id="28686" name="Rectangle 14"/>
          <p:cNvSpPr>
            <a:spLocks/>
          </p:cNvSpPr>
          <p:nvPr/>
        </p:nvSpPr>
        <p:spPr bwMode="auto">
          <a:xfrm>
            <a:off x="60325" y="1981200"/>
            <a:ext cx="1421864" cy="5693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Denormalized</a:t>
            </a:r>
            <a:endParaRPr lang="en-US" sz="1600" b="1">
              <a:solidFill>
                <a:schemeClr val="tx1"/>
              </a:solidFill>
              <a:latin typeface="+mn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numbers</a:t>
            </a:r>
          </a:p>
        </p:txBody>
      </p:sp>
      <p:sp>
        <p:nvSpPr>
          <p:cNvPr id="28687" name="Rectangle 15"/>
          <p:cNvSpPr>
            <a:spLocks/>
          </p:cNvSpPr>
          <p:nvPr/>
        </p:nvSpPr>
        <p:spPr bwMode="auto">
          <a:xfrm>
            <a:off x="73025" y="4343400"/>
            <a:ext cx="1183016" cy="5693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Normalized</a:t>
            </a:r>
            <a:endParaRPr lang="en-US" sz="1600" b="1">
              <a:solidFill>
                <a:schemeClr val="tx1"/>
              </a:solidFill>
              <a:latin typeface="+mn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numbers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7000" y="540603"/>
            <a:ext cx="2419463" cy="1200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n: E = </a:t>
            </a:r>
            <a:r>
              <a:rPr lang="en-US" sz="2400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 – Bias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d: E</a:t>
            </a:r>
            <a:r>
              <a:rPr lang="en-US" sz="2400" dirty="0"/>
              <a:t> =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1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1229355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30" name="Object 1024"/>
          <p:cNvGraphicFramePr>
            <a:graphicFrameLocks noChangeAspect="1"/>
          </p:cNvGraphicFramePr>
          <p:nvPr/>
        </p:nvGraphicFramePr>
        <p:xfrm>
          <a:off x="381000" y="4419600"/>
          <a:ext cx="8326438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848600" imgH="952500" progId="Excel.Sheet.8">
                  <p:embed/>
                </p:oleObj>
              </mc:Choice>
              <mc:Fallback>
                <p:oleObj name="Worksheet" r:id="rId2" imgW="7848600" imgH="952500" progId="Excel.Sheet.8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419600"/>
                        <a:ext cx="8326438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8" name="Rectangle 2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9699" name="Rectangle 3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Distribution of Values</a:t>
            </a:r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6-bit IEEE-like format</a:t>
            </a:r>
          </a:p>
          <a:p>
            <a:pPr marL="552450" lvl="1"/>
            <a:r>
              <a:rPr lang="en-US" dirty="0"/>
              <a:t>e = 3 exponent bits</a:t>
            </a:r>
          </a:p>
          <a:p>
            <a:pPr marL="552450" lvl="1"/>
            <a:r>
              <a:rPr lang="en-US" dirty="0"/>
              <a:t>f = 2 fraction bits</a:t>
            </a:r>
          </a:p>
          <a:p>
            <a:pPr marL="552450" lvl="1"/>
            <a:r>
              <a:rPr lang="en-US" dirty="0"/>
              <a:t>Bias is 2</a:t>
            </a:r>
            <a:r>
              <a:rPr lang="en-US" baseline="30000" dirty="0"/>
              <a:t>3-1</a:t>
            </a:r>
            <a:r>
              <a:rPr lang="en-US" dirty="0"/>
              <a:t>-1 = 3</a:t>
            </a:r>
          </a:p>
          <a:p>
            <a:pPr marL="552450" lvl="1"/>
            <a:endParaRPr lang="en-US" dirty="0"/>
          </a:p>
          <a:p>
            <a:r>
              <a:rPr lang="en-US" dirty="0"/>
              <a:t>Notice how the distribution gets denser toward zero. </a:t>
            </a:r>
          </a:p>
        </p:txBody>
      </p:sp>
      <p:sp>
        <p:nvSpPr>
          <p:cNvPr id="29703" name="Rectangle 7"/>
          <p:cNvSpPr>
            <a:spLocks/>
          </p:cNvSpPr>
          <p:nvPr/>
        </p:nvSpPr>
        <p:spPr bwMode="auto">
          <a:xfrm>
            <a:off x="5486400" y="3810000"/>
            <a:ext cx="1082349" cy="369332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8 values</a:t>
            </a:r>
          </a:p>
        </p:txBody>
      </p:sp>
      <p:graphicFrame>
        <p:nvGraphicFramePr>
          <p:cNvPr id="2970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26717"/>
              </p:ext>
            </p:extLst>
          </p:nvPr>
        </p:nvGraphicFramePr>
        <p:xfrm>
          <a:off x="4191000" y="20320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2-bits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6" name="Straight Arrow Connector 35"/>
          <p:cNvCxnSpPr>
            <a:stCxn id="29703" idx="1"/>
          </p:cNvCxnSpPr>
          <p:nvPr/>
        </p:nvCxnSpPr>
        <p:spPr bwMode="auto">
          <a:xfrm rot="10800000" flipV="1">
            <a:off x="4572000" y="3994666"/>
            <a:ext cx="914400" cy="42493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072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Distribution of Values (close-up view)</a:t>
            </a:r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/>
              <a:t>6-bit IEEE-like format</a:t>
            </a:r>
          </a:p>
          <a:p>
            <a:pPr marL="552450" lvl="1"/>
            <a:r>
              <a:rPr lang="en-US"/>
              <a:t>e = 3 exponent bits</a:t>
            </a:r>
          </a:p>
          <a:p>
            <a:pPr marL="552450" lvl="1"/>
            <a:r>
              <a:rPr lang="en-US"/>
              <a:t>f = 2 fraction bits</a:t>
            </a:r>
          </a:p>
          <a:p>
            <a:pPr marL="552450" lvl="1"/>
            <a:r>
              <a:rPr lang="en-US"/>
              <a:t>Bias is 3</a:t>
            </a:r>
          </a:p>
        </p:txBody>
      </p:sp>
      <p:graphicFrame>
        <p:nvGraphicFramePr>
          <p:cNvPr id="30726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558112"/>
              </p:ext>
            </p:extLst>
          </p:nvPr>
        </p:nvGraphicFramePr>
        <p:xfrm>
          <a:off x="4191000" y="20320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2-bits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751" name="Object 1024"/>
          <p:cNvGraphicFramePr>
            <a:graphicFrameLocks noChangeAspect="1"/>
          </p:cNvGraphicFramePr>
          <p:nvPr/>
        </p:nvGraphicFramePr>
        <p:xfrm>
          <a:off x="404813" y="3924300"/>
          <a:ext cx="8335962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848600" imgH="965200" progId="Excel.Sheet.8">
                  <p:embed/>
                </p:oleObj>
              </mc:Choice>
              <mc:Fallback>
                <p:oleObj name="Worksheet" r:id="rId2" imgW="7848600" imgH="965200" progId="Excel.Sheet.8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3" y="3924300"/>
                        <a:ext cx="8335962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277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Special Properties of </a:t>
            </a:r>
            <a:r>
              <a:rPr lang="en-US"/>
              <a:t>the IEEE Encoding</a:t>
            </a:r>
            <a:endParaRPr lang="en-US" dirty="0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FP Zero Same as Integer Zero</a:t>
            </a:r>
          </a:p>
          <a:p>
            <a:pPr marL="552450" lvl="1"/>
            <a:r>
              <a:rPr lang="en-US" dirty="0"/>
              <a:t>All bits = 0</a:t>
            </a:r>
          </a:p>
          <a:p>
            <a:endParaRPr lang="en-US" dirty="0"/>
          </a:p>
          <a:p>
            <a:r>
              <a:rPr lang="en-US" dirty="0"/>
              <a:t>Can (Almost) Use Unsigned Integer Comparison</a:t>
            </a:r>
          </a:p>
          <a:p>
            <a:pPr marL="552450" lvl="1"/>
            <a:r>
              <a:rPr lang="en-US" dirty="0"/>
              <a:t>Must first compare sign bits</a:t>
            </a:r>
          </a:p>
          <a:p>
            <a:pPr marL="552450" lvl="1"/>
            <a:r>
              <a:rPr lang="en-US" dirty="0"/>
              <a:t>Must consider −0 = 0</a:t>
            </a:r>
          </a:p>
          <a:p>
            <a:pPr marL="552450" lvl="1"/>
            <a:r>
              <a:rPr lang="en-US" dirty="0" err="1"/>
              <a:t>NaNs</a:t>
            </a:r>
            <a:r>
              <a:rPr lang="en-US" dirty="0"/>
              <a:t> problematic</a:t>
            </a:r>
          </a:p>
          <a:p>
            <a:pPr marL="838200" lvl="2"/>
            <a:r>
              <a:rPr lang="en-US" dirty="0"/>
              <a:t>Will be greater than any other values</a:t>
            </a:r>
          </a:p>
          <a:p>
            <a:pPr marL="838200" lvl="2"/>
            <a:r>
              <a:rPr lang="en-US" dirty="0"/>
              <a:t>What should comparison yield?</a:t>
            </a:r>
          </a:p>
          <a:p>
            <a:pPr marL="552450" lvl="1"/>
            <a:r>
              <a:rPr lang="en-US" dirty="0"/>
              <a:t> Otherwise OK</a:t>
            </a:r>
          </a:p>
          <a:p>
            <a:pPr marL="838200" lvl="2"/>
            <a:r>
              <a:rPr lang="en-US" dirty="0" err="1"/>
              <a:t>Denorm</a:t>
            </a:r>
            <a:r>
              <a:rPr lang="en-US" dirty="0"/>
              <a:t> vs. normalized</a:t>
            </a:r>
          </a:p>
          <a:p>
            <a:pPr marL="838200" lvl="2"/>
            <a:r>
              <a:rPr lang="en-US" dirty="0"/>
              <a:t>Normalized vs. infinity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37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Today: Floating Point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>
                <a:solidFill>
                  <a:srgbClr val="B3B3B3"/>
                </a:solidFill>
              </a:rPr>
              <a:t>Background: Fractional binary numbers</a:t>
            </a:r>
          </a:p>
          <a:p>
            <a:r>
              <a:rPr lang="en-US">
                <a:solidFill>
                  <a:srgbClr val="B3B3B3"/>
                </a:solidFill>
              </a:rPr>
              <a:t>IEEE floating point standard: Definition</a:t>
            </a:r>
          </a:p>
          <a:p>
            <a:r>
              <a:rPr lang="en-US">
                <a:solidFill>
                  <a:srgbClr val="B3B3B3"/>
                </a:solidFill>
              </a:rPr>
              <a:t>Example and properties</a:t>
            </a:r>
          </a:p>
          <a:p>
            <a:r>
              <a:rPr lang="en-US"/>
              <a:t>Rounding, addition, multiplication</a:t>
            </a:r>
          </a:p>
          <a:p>
            <a:r>
              <a:rPr lang="en-US">
                <a:solidFill>
                  <a:srgbClr val="B3B3B3"/>
                </a:solidFill>
              </a:rPr>
              <a:t>Floating point in C</a:t>
            </a:r>
          </a:p>
          <a:p>
            <a:r>
              <a:rPr lang="en-US">
                <a:solidFill>
                  <a:srgbClr val="B3B3B3"/>
                </a:solidFill>
              </a:rPr>
              <a:t>Summary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481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Floating Point Operations: Basic Idea</a:t>
            </a:r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x +</a:t>
            </a:r>
            <a:r>
              <a:rPr lang="en-US" baseline="-6000" dirty="0">
                <a:latin typeface="Courier New Bold" charset="0"/>
                <a:cs typeface="Courier New Bold" charset="0"/>
                <a:sym typeface="Courier New Bold" charset="0"/>
              </a:rPr>
              <a:t>f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y = Round(x + y)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endParaRPr lang="en-US" dirty="0">
              <a:latin typeface="Courier New Bold" charset="0"/>
              <a:sym typeface="Courier New Bold" charset="0"/>
            </a:endParaRPr>
          </a:p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X  </a:t>
            </a:r>
            <a:r>
              <a:rPr lang="en-US" baseline="-6000" dirty="0">
                <a:latin typeface="Courier New Bold" charset="0"/>
                <a:cs typeface="Courier New Bold" charset="0"/>
                <a:sym typeface="Courier New Bold" charset="0"/>
              </a:rPr>
              <a:t>f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y = Round(x  y)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endParaRPr lang="en-US" dirty="0"/>
          </a:p>
          <a:p>
            <a:r>
              <a:rPr lang="en-US" dirty="0"/>
              <a:t>Basic idea</a:t>
            </a:r>
          </a:p>
          <a:p>
            <a:pPr marL="552450" lvl="1"/>
            <a:r>
              <a:rPr lang="en-US" dirty="0"/>
              <a:t>First </a:t>
            </a:r>
            <a:r>
              <a:rPr lang="en-US" dirty="0">
                <a:solidFill>
                  <a:srgbClr val="980002"/>
                </a:solidFill>
              </a:rPr>
              <a:t>compute exact result</a:t>
            </a:r>
            <a:endParaRPr lang="en-US" dirty="0"/>
          </a:p>
          <a:p>
            <a:pPr marL="552450" lvl="1"/>
            <a:r>
              <a:rPr lang="en-US" dirty="0"/>
              <a:t>Make it fit into desired precision</a:t>
            </a:r>
          </a:p>
          <a:p>
            <a:pPr marL="838200" lvl="2"/>
            <a:r>
              <a:rPr lang="en-US" dirty="0"/>
              <a:t>Possibly overflow if exponent too large</a:t>
            </a:r>
          </a:p>
          <a:p>
            <a:pPr marL="838200" lvl="2"/>
            <a:r>
              <a:rPr lang="en-US" dirty="0"/>
              <a:t>Possibly </a:t>
            </a:r>
            <a:r>
              <a:rPr lang="en-US" dirty="0">
                <a:solidFill>
                  <a:srgbClr val="980002"/>
                </a:solidFill>
              </a:rPr>
              <a:t>round to fit into</a:t>
            </a:r>
            <a:r>
              <a:rPr lang="en-US" dirty="0"/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362200"/>
            <a:ext cx="268941" cy="254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362200"/>
            <a:ext cx="268941" cy="254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891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FP Multiplication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solidFill>
                  <a:srgbClr val="980002"/>
                </a:solidFill>
              </a:rPr>
              <a:t>(–1)</a:t>
            </a:r>
            <a:r>
              <a:rPr lang="en-US" baseline="32000" dirty="0">
                <a:solidFill>
                  <a:srgbClr val="980002"/>
                </a:solidFill>
              </a:rPr>
              <a:t>s1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M1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E1</a:t>
            </a:r>
            <a:r>
              <a:rPr lang="en-US" dirty="0">
                <a:solidFill>
                  <a:srgbClr val="980002"/>
                </a:solidFill>
              </a:rPr>
              <a:t>   x   (–1)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s2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M2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E2</a:t>
            </a:r>
            <a:endParaRPr lang="en-US" dirty="0">
              <a:solidFill>
                <a:srgbClr val="980002"/>
              </a:solidFill>
            </a:endParaRPr>
          </a:p>
          <a:p>
            <a:r>
              <a:rPr lang="en-US" dirty="0"/>
              <a:t>Exact Result: </a:t>
            </a:r>
            <a:r>
              <a:rPr lang="en-US" dirty="0">
                <a:solidFill>
                  <a:srgbClr val="980002"/>
                </a:solidFill>
              </a:rPr>
              <a:t>(–1)</a:t>
            </a:r>
            <a:r>
              <a:rPr lang="en-US" baseline="32000" dirty="0">
                <a:solidFill>
                  <a:srgbClr val="980002"/>
                </a:solidFill>
              </a:rPr>
              <a:t>s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dirty="0"/>
          </a:p>
          <a:p>
            <a:pPr marL="552450" lvl="1"/>
            <a:r>
              <a:rPr lang="en-US" dirty="0"/>
              <a:t>Sign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</a:t>
            </a:r>
            <a:r>
              <a:rPr lang="en-US" dirty="0"/>
              <a:t>: 		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s1</a:t>
            </a:r>
            <a:r>
              <a:rPr lang="en-US" dirty="0"/>
              <a:t> ^ 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s2</a:t>
            </a:r>
            <a:endParaRPr lang="en-US" dirty="0"/>
          </a:p>
          <a:p>
            <a:pPr marL="552450" lvl="1"/>
            <a:r>
              <a:rPr lang="en-US" dirty="0" err="1"/>
              <a:t>Significand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: 	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M1</a:t>
            </a:r>
            <a:r>
              <a:rPr lang="en-US" dirty="0"/>
              <a:t> x  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M2</a:t>
            </a:r>
            <a:endParaRPr lang="en-US" dirty="0"/>
          </a:p>
          <a:p>
            <a:pPr marL="552450" lvl="1"/>
            <a:r>
              <a:rPr lang="en-US" dirty="0"/>
              <a:t>Exponent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dirty="0"/>
              <a:t>: 	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E1</a:t>
            </a:r>
            <a:r>
              <a:rPr lang="en-US" dirty="0"/>
              <a:t> + 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E2</a:t>
            </a:r>
            <a:endParaRPr lang="en-US" dirty="0"/>
          </a:p>
          <a:p>
            <a:endParaRPr lang="en-US" dirty="0"/>
          </a:p>
          <a:p>
            <a:r>
              <a:rPr lang="en-US" dirty="0"/>
              <a:t>Fixing</a:t>
            </a:r>
          </a:p>
          <a:p>
            <a:pPr marL="552450" lvl="1"/>
            <a:r>
              <a:rPr lang="en-US" dirty="0"/>
              <a:t>If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≥ 2, shift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right, increment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endParaRPr lang="en-US" dirty="0"/>
          </a:p>
          <a:p>
            <a:pPr marL="552450" lvl="1"/>
            <a:r>
              <a:rPr lang="en-US" dirty="0"/>
              <a:t>If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dirty="0"/>
              <a:t> out of range, overflow </a:t>
            </a:r>
          </a:p>
          <a:p>
            <a:pPr marL="552450" lvl="1"/>
            <a:r>
              <a:rPr lang="en-US" dirty="0"/>
              <a:t>Round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to fit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precision</a:t>
            </a:r>
          </a:p>
          <a:p>
            <a:endParaRPr lang="en-US" dirty="0"/>
          </a:p>
          <a:p>
            <a:r>
              <a:rPr lang="en-US" dirty="0"/>
              <a:t>Implementation</a:t>
            </a:r>
          </a:p>
          <a:p>
            <a:pPr marL="552450" lvl="1"/>
            <a:r>
              <a:rPr lang="en-US" dirty="0"/>
              <a:t>Biggest chore is multiplying </a:t>
            </a:r>
            <a:r>
              <a:rPr lang="en-US" dirty="0" err="1"/>
              <a:t>significands</a:t>
            </a:r>
            <a:endParaRPr lang="en-US" dirty="0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993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Floating Point Addition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2049463" algn="l"/>
              </a:tabLst>
            </a:pPr>
            <a:r>
              <a:rPr lang="en-US">
                <a:solidFill>
                  <a:srgbClr val="980002"/>
                </a:solidFill>
              </a:rPr>
              <a:t>(–1)</a:t>
            </a:r>
            <a:r>
              <a:rPr lang="en-US" baseline="3200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s1</a:t>
            </a:r>
            <a:r>
              <a:rPr lang="en-US">
                <a:solidFill>
                  <a:srgbClr val="980002"/>
                </a:solidFill>
              </a:rPr>
              <a:t> </a:t>
            </a:r>
            <a:r>
              <a:rPr lang="en-US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M1</a:t>
            </a:r>
            <a:r>
              <a:rPr lang="en-US">
                <a:solidFill>
                  <a:srgbClr val="980002"/>
                </a:solidFill>
              </a:rPr>
              <a:t>  2</a:t>
            </a:r>
            <a:r>
              <a:rPr lang="en-US" baseline="3200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E1</a:t>
            </a:r>
            <a:r>
              <a:rPr lang="en-US">
                <a:solidFill>
                  <a:srgbClr val="980002"/>
                </a:solidFill>
              </a:rPr>
              <a:t>   +   (-1)</a:t>
            </a:r>
            <a:r>
              <a:rPr lang="en-US" baseline="3200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s2</a:t>
            </a:r>
            <a:r>
              <a:rPr lang="en-US">
                <a:solidFill>
                  <a:srgbClr val="980002"/>
                </a:solidFill>
              </a:rPr>
              <a:t> </a:t>
            </a:r>
            <a:r>
              <a:rPr lang="en-US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M2</a:t>
            </a:r>
            <a:r>
              <a:rPr lang="en-US">
                <a:solidFill>
                  <a:srgbClr val="980002"/>
                </a:solidFill>
              </a:rPr>
              <a:t>  2</a:t>
            </a:r>
            <a:r>
              <a:rPr lang="en-US" baseline="3200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E2</a:t>
            </a:r>
            <a:endParaRPr lang="en-US">
              <a:solidFill>
                <a:srgbClr val="980002"/>
              </a:solidFill>
            </a:endParaRPr>
          </a:p>
          <a:p>
            <a:pPr marL="317500" lvl="1" indent="0">
              <a:tabLst>
                <a:tab pos="2049463" algn="l"/>
              </a:tabLst>
            </a:pPr>
            <a:r>
              <a:rPr lang="en-US"/>
              <a:t>Assume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E1</a:t>
            </a:r>
            <a:r>
              <a:rPr lang="en-US"/>
              <a:t> &gt;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E2</a:t>
            </a:r>
            <a:endParaRPr lang="en-US"/>
          </a:p>
          <a:p>
            <a:pPr>
              <a:tabLst>
                <a:tab pos="2049463" algn="l"/>
              </a:tabLst>
            </a:pPr>
            <a:endParaRPr lang="en-US"/>
          </a:p>
          <a:p>
            <a:pPr>
              <a:tabLst>
                <a:tab pos="2049463" algn="l"/>
              </a:tabLst>
            </a:pPr>
            <a:r>
              <a:rPr lang="en-US"/>
              <a:t>Exact Result: </a:t>
            </a:r>
            <a:r>
              <a:rPr lang="en-US">
                <a:solidFill>
                  <a:srgbClr val="980002"/>
                </a:solidFill>
              </a:rPr>
              <a:t>(–1)</a:t>
            </a:r>
            <a:r>
              <a:rPr lang="en-US" baseline="3200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r>
              <a:rPr lang="en-US">
                <a:solidFill>
                  <a:srgbClr val="980002"/>
                </a:solidFill>
              </a:rPr>
              <a:t> </a:t>
            </a:r>
            <a:r>
              <a:rPr lang="en-US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>
                <a:solidFill>
                  <a:srgbClr val="980002"/>
                </a:solidFill>
              </a:rPr>
              <a:t>  2</a:t>
            </a:r>
            <a:r>
              <a:rPr lang="en-US" baseline="3200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/>
          </a:p>
          <a:p>
            <a:pPr marL="317500" lvl="1" indent="0">
              <a:tabLst>
                <a:tab pos="2049463" algn="l"/>
              </a:tabLst>
            </a:pPr>
            <a:r>
              <a:rPr lang="en-US"/>
              <a:t>Sign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</a:t>
            </a:r>
            <a:r>
              <a:rPr lang="en-US"/>
              <a:t>, significand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/>
              <a:t>: </a:t>
            </a:r>
          </a:p>
          <a:p>
            <a:pPr marL="838200" lvl="2">
              <a:tabLst>
                <a:tab pos="2049463" algn="l"/>
              </a:tabLst>
            </a:pPr>
            <a:r>
              <a:rPr lang="en-US"/>
              <a:t>Result of signed align &amp; add</a:t>
            </a:r>
          </a:p>
          <a:p>
            <a:pPr marL="317500" lvl="1" indent="0">
              <a:tabLst>
                <a:tab pos="2049463" algn="l"/>
              </a:tabLst>
            </a:pPr>
            <a:r>
              <a:rPr lang="en-US"/>
              <a:t>Exponent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/>
              <a:t>: 	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E1</a:t>
            </a:r>
            <a:endParaRPr lang="en-US"/>
          </a:p>
          <a:p>
            <a:pPr>
              <a:tabLst>
                <a:tab pos="2049463" algn="l"/>
              </a:tabLst>
            </a:pPr>
            <a:endParaRPr lang="en-US"/>
          </a:p>
          <a:p>
            <a:pPr>
              <a:tabLst>
                <a:tab pos="2049463" algn="l"/>
              </a:tabLst>
            </a:pPr>
            <a:r>
              <a:rPr lang="en-US"/>
              <a:t>Fixing</a:t>
            </a:r>
          </a:p>
          <a:p>
            <a:pPr marL="317500" lvl="1" indent="0">
              <a:tabLst>
                <a:tab pos="2049463" algn="l"/>
              </a:tabLst>
            </a:pPr>
            <a:r>
              <a:rPr lang="en-US"/>
              <a:t>If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/>
              <a:t> ≥ 2, shift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/>
              <a:t> right, increment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/>
              <a:t> </a:t>
            </a:r>
          </a:p>
          <a:p>
            <a:pPr marL="317500" lvl="1" indent="0">
              <a:tabLst>
                <a:tab pos="2049463" algn="l"/>
              </a:tabLst>
            </a:pPr>
            <a:r>
              <a:rPr lang="en-US"/>
              <a:t>if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/>
              <a:t> &lt; 1, shift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/>
              <a:t> left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k</a:t>
            </a:r>
            <a:r>
              <a:rPr lang="en-US"/>
              <a:t> positions, decrement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/>
              <a:t> by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k</a:t>
            </a:r>
            <a:endParaRPr lang="en-US"/>
          </a:p>
          <a:p>
            <a:pPr marL="317500" lvl="1" indent="0">
              <a:tabLst>
                <a:tab pos="2049463" algn="l"/>
              </a:tabLst>
            </a:pPr>
            <a:r>
              <a:rPr lang="en-US"/>
              <a:t>Overflow if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/>
              <a:t> out of range</a:t>
            </a:r>
          </a:p>
          <a:p>
            <a:pPr marL="317500" lvl="1" indent="0">
              <a:tabLst>
                <a:tab pos="2049463" algn="l"/>
              </a:tabLst>
            </a:pPr>
            <a:r>
              <a:rPr lang="en-US"/>
              <a:t>Round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/>
              <a:t> to fit </a:t>
            </a:r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/>
              <a:t> precision</a:t>
            </a:r>
          </a:p>
        </p:txBody>
      </p:sp>
      <p:sp>
        <p:nvSpPr>
          <p:cNvPr id="39941" name="Rectangle 5"/>
          <p:cNvSpPr>
            <a:spLocks/>
          </p:cNvSpPr>
          <p:nvPr/>
        </p:nvSpPr>
        <p:spPr bwMode="auto">
          <a:xfrm>
            <a:off x="5067300" y="2540000"/>
            <a:ext cx="1790700" cy="4191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(–1)</a:t>
            </a:r>
            <a:r>
              <a:rPr lang="en-US" sz="2000" baseline="3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s1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M1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</a:p>
        </p:txBody>
      </p:sp>
      <p:sp>
        <p:nvSpPr>
          <p:cNvPr id="39942" name="Rectangle 6"/>
          <p:cNvSpPr>
            <a:spLocks/>
          </p:cNvSpPr>
          <p:nvPr/>
        </p:nvSpPr>
        <p:spPr bwMode="auto">
          <a:xfrm>
            <a:off x="6645275" y="3086100"/>
            <a:ext cx="2222500" cy="4191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(–1)</a:t>
            </a:r>
            <a:r>
              <a:rPr lang="en-US" sz="2000" baseline="3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s2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M2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</a:p>
        </p:txBody>
      </p:sp>
      <p:sp>
        <p:nvSpPr>
          <p:cNvPr id="39943" name="Line 7"/>
          <p:cNvSpPr>
            <a:spLocks noChangeShapeType="1"/>
          </p:cNvSpPr>
          <p:nvPr/>
        </p:nvSpPr>
        <p:spPr bwMode="auto">
          <a:xfrm>
            <a:off x="6858000" y="2222500"/>
            <a:ext cx="0" cy="2540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4" name="Line 8"/>
          <p:cNvSpPr>
            <a:spLocks noChangeShapeType="1"/>
          </p:cNvSpPr>
          <p:nvPr/>
        </p:nvSpPr>
        <p:spPr bwMode="auto">
          <a:xfrm>
            <a:off x="8851900" y="2222500"/>
            <a:ext cx="0" cy="2540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5" name="Line 9"/>
          <p:cNvSpPr>
            <a:spLocks noChangeShapeType="1"/>
          </p:cNvSpPr>
          <p:nvPr/>
        </p:nvSpPr>
        <p:spPr bwMode="auto">
          <a:xfrm>
            <a:off x="6870700" y="2349500"/>
            <a:ext cx="1968500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6" name="Rectangle 10"/>
          <p:cNvSpPr>
            <a:spLocks/>
          </p:cNvSpPr>
          <p:nvPr/>
        </p:nvSpPr>
        <p:spPr bwMode="auto">
          <a:xfrm>
            <a:off x="7567613" y="2119313"/>
            <a:ext cx="771045" cy="307777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Arial Narrow Bold Italic" charset="0"/>
                <a:ea typeface="Arial Narrow Bold Italic" charset="0"/>
                <a:cs typeface="Arial Narrow Bold Italic" charset="0"/>
                <a:sym typeface="Arial Narrow Bold Italic" charset="0"/>
              </a:rPr>
              <a:t>E1</a:t>
            </a:r>
            <a:r>
              <a:rPr lang="en-US" sz="2000">
                <a:solidFill>
                  <a:schemeClr val="tx1"/>
                </a:solidFill>
                <a:latin typeface="Arial Narrow Bold" charset="0"/>
                <a:ea typeface="Arial Narrow Bold" charset="0"/>
                <a:cs typeface="Arial Narrow Bold" charset="0"/>
                <a:sym typeface="Arial Narrow Bold" charset="0"/>
              </a:rPr>
              <a:t>–</a:t>
            </a:r>
            <a:r>
              <a:rPr lang="en-US" sz="2000">
                <a:solidFill>
                  <a:schemeClr val="tx1"/>
                </a:solidFill>
                <a:latin typeface="Arial Narrow Bold Italic" charset="0"/>
                <a:ea typeface="Arial Narrow Bold Italic" charset="0"/>
                <a:cs typeface="Arial Narrow Bold Italic" charset="0"/>
                <a:sym typeface="Arial Narrow Bold Italic" charset="0"/>
              </a:rPr>
              <a:t>E2</a:t>
            </a:r>
          </a:p>
        </p:txBody>
      </p:sp>
      <p:sp>
        <p:nvSpPr>
          <p:cNvPr id="39947" name="Rectangle 11"/>
          <p:cNvSpPr>
            <a:spLocks/>
          </p:cNvSpPr>
          <p:nvPr/>
        </p:nvSpPr>
        <p:spPr bwMode="auto">
          <a:xfrm>
            <a:off x="4697413" y="2949575"/>
            <a:ext cx="254877" cy="615553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4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+</a:t>
            </a:r>
          </a:p>
        </p:txBody>
      </p:sp>
      <p:sp>
        <p:nvSpPr>
          <p:cNvPr id="39948" name="Line 12"/>
          <p:cNvSpPr>
            <a:spLocks noChangeShapeType="1"/>
          </p:cNvSpPr>
          <p:nvPr/>
        </p:nvSpPr>
        <p:spPr bwMode="auto">
          <a:xfrm>
            <a:off x="4826000" y="3683000"/>
            <a:ext cx="4089400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9" name="Rectangle 13"/>
          <p:cNvSpPr>
            <a:spLocks/>
          </p:cNvSpPr>
          <p:nvPr/>
        </p:nvSpPr>
        <p:spPr bwMode="auto">
          <a:xfrm>
            <a:off x="5067300" y="3835400"/>
            <a:ext cx="3784600" cy="4191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(–1)</a:t>
            </a:r>
            <a:r>
              <a:rPr lang="en-US" sz="2000" baseline="3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257800" y="1524000"/>
            <a:ext cx="3443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Get binary points lined up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30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Today: Floating Point</a:t>
            </a:r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>
                <a:solidFill>
                  <a:srgbClr val="B3B3B3"/>
                </a:solidFill>
              </a:rPr>
              <a:t>Background: Fractional binary numbers</a:t>
            </a:r>
          </a:p>
          <a:p>
            <a:r>
              <a:rPr lang="en-US">
                <a:solidFill>
                  <a:srgbClr val="B3B3B3"/>
                </a:solidFill>
              </a:rPr>
              <a:t>IEEE floating point standard: Definition</a:t>
            </a:r>
          </a:p>
          <a:p>
            <a:r>
              <a:rPr lang="en-US">
                <a:solidFill>
                  <a:srgbClr val="B3B3B3"/>
                </a:solidFill>
              </a:rPr>
              <a:t>Example and properties</a:t>
            </a:r>
          </a:p>
          <a:p>
            <a:r>
              <a:rPr lang="en-US">
                <a:solidFill>
                  <a:srgbClr val="B3B3B3"/>
                </a:solidFill>
              </a:rPr>
              <a:t>Rounding, addition, multiplication</a:t>
            </a:r>
          </a:p>
          <a:p>
            <a:r>
              <a:rPr lang="en-US"/>
              <a:t>Floating point in C</a:t>
            </a:r>
          </a:p>
          <a:p>
            <a:r>
              <a:rPr lang="en-US">
                <a:solidFill>
                  <a:srgbClr val="B3B3B3"/>
                </a:solidFill>
              </a:rPr>
              <a:t>Summary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403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Floating Point in C</a:t>
            </a:r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C Guarantees Two Levels</a:t>
            </a:r>
          </a:p>
          <a:p>
            <a:pPr marL="317500" lvl="1" indent="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r>
              <a:rPr lang="en-US" dirty="0"/>
              <a:t>	single precision</a:t>
            </a:r>
          </a:p>
          <a:p>
            <a:pPr marL="317500" lvl="1" indent="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r>
              <a:rPr lang="en-US" dirty="0"/>
              <a:t>	double precision</a:t>
            </a:r>
          </a:p>
          <a:p>
            <a:pPr>
              <a:spcBef>
                <a:spcPts val="1600"/>
              </a:spcBef>
            </a:pPr>
            <a:r>
              <a:rPr lang="en-US" dirty="0"/>
              <a:t>Conversions/Casting</a:t>
            </a:r>
          </a:p>
          <a:p>
            <a:pPr marL="317500" lvl="1" indent="0"/>
            <a:r>
              <a:rPr lang="en-US" dirty="0"/>
              <a:t> Casting between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/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r>
              <a:rPr lang="en-US" dirty="0"/>
              <a:t>, and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r>
              <a:rPr lang="en-US" dirty="0"/>
              <a:t> changes bit representation</a:t>
            </a:r>
          </a:p>
          <a:p>
            <a:pPr marL="317500" lvl="1" indent="0"/>
            <a:r>
              <a:rPr lang="en-US" dirty="0"/>
              <a:t>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r>
              <a:rPr lang="en-US" dirty="0"/>
              <a:t>/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r>
              <a:rPr lang="en-US" dirty="0"/>
              <a:t> →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endParaRPr lang="en-US" dirty="0"/>
          </a:p>
          <a:p>
            <a:pPr marL="838200" lvl="2"/>
            <a:r>
              <a:rPr lang="en-US" dirty="0"/>
              <a:t>Truncates fractional part</a:t>
            </a:r>
          </a:p>
          <a:p>
            <a:pPr marL="838200" lvl="2"/>
            <a:r>
              <a:rPr lang="en-US" dirty="0"/>
              <a:t>Like rounding toward zero</a:t>
            </a:r>
          </a:p>
          <a:p>
            <a:pPr marL="838200" lvl="2"/>
            <a:r>
              <a:rPr lang="en-US" dirty="0"/>
              <a:t>Not defined when out of range or </a:t>
            </a:r>
            <a:r>
              <a:rPr lang="en-US" dirty="0" err="1"/>
              <a:t>NaN</a:t>
            </a:r>
            <a:r>
              <a:rPr lang="en-US" dirty="0"/>
              <a:t>: Generally sets to </a:t>
            </a:r>
            <a:r>
              <a:rPr lang="en-US" dirty="0" err="1"/>
              <a:t>TMin</a:t>
            </a:r>
            <a:endParaRPr lang="en-US" dirty="0"/>
          </a:p>
          <a:p>
            <a:pPr marL="317500" lvl="1" indent="0"/>
            <a:r>
              <a:rPr lang="en-US" dirty="0"/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/>
              <a:t> →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endParaRPr lang="en-US" dirty="0"/>
          </a:p>
          <a:p>
            <a:pPr marL="838200" lvl="2"/>
            <a:r>
              <a:rPr lang="en-US" dirty="0"/>
              <a:t>Exact conversion, as long as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/>
              <a:t> has ≤ 53 bit word size</a:t>
            </a:r>
          </a:p>
          <a:p>
            <a:pPr marL="317500" lvl="1" indent="0"/>
            <a:r>
              <a:rPr lang="en-US" dirty="0"/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/>
              <a:t> →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endParaRPr lang="en-US" dirty="0"/>
          </a:p>
          <a:p>
            <a:pPr marL="838200" lvl="2"/>
            <a:r>
              <a:rPr lang="en-US" dirty="0"/>
              <a:t>Will round according to rounding mode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17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382000" cy="622300"/>
          </a:xfrm>
          <a:ln/>
        </p:spPr>
        <p:txBody>
          <a:bodyPr/>
          <a:lstStyle/>
          <a:p>
            <a:pPr marL="119063" indent="-119063"/>
            <a:r>
              <a:rPr lang="en-US"/>
              <a:t>Interesting Numbers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965200"/>
            <a:ext cx="8382000" cy="5867400"/>
          </a:xfrm>
          <a:ln/>
        </p:spPr>
        <p:txBody>
          <a:bodyPr/>
          <a:lstStyle/>
          <a:p>
            <a:pPr>
              <a:buNone/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i="1" dirty="0"/>
              <a:t>Description	exp	</a:t>
            </a:r>
            <a:r>
              <a:rPr lang="en-US" sz="2000" i="1" dirty="0" err="1"/>
              <a:t>frac</a:t>
            </a:r>
            <a:r>
              <a:rPr lang="en-US" sz="2000" i="1" dirty="0"/>
              <a:t>	Numeric Value</a:t>
            </a:r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Zero	00…00	00…00	0.0</a:t>
            </a:r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Smallest Pos. </a:t>
            </a:r>
            <a:r>
              <a:rPr lang="en-US" sz="2000" dirty="0" err="1"/>
              <a:t>Denorm</a:t>
            </a:r>
            <a:r>
              <a:rPr lang="en-US" sz="2000" dirty="0"/>
              <a:t>.	00…00	00…01	2</a:t>
            </a:r>
            <a:r>
              <a:rPr lang="en-US" sz="2000" baseline="32000" dirty="0"/>
              <a:t>– {23,52}</a:t>
            </a:r>
            <a:r>
              <a:rPr lang="en-US" sz="2000" dirty="0"/>
              <a:t> x 2</a:t>
            </a:r>
            <a:r>
              <a:rPr lang="en-US" sz="2000" baseline="32000" dirty="0"/>
              <a:t>– {126,1022}</a:t>
            </a:r>
            <a:endParaRPr lang="en-US" sz="20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Single ≈ 1.4 x 10</a:t>
            </a:r>
            <a:r>
              <a:rPr lang="en-US" sz="1800" baseline="32000" dirty="0"/>
              <a:t>–45</a:t>
            </a:r>
            <a:endParaRPr lang="en-US" sz="18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Double ≈ 4.9 x 10</a:t>
            </a:r>
            <a:r>
              <a:rPr lang="en-US" sz="1800" baseline="32000" dirty="0"/>
              <a:t>–324</a:t>
            </a:r>
            <a:endParaRPr lang="en-US" sz="1800" dirty="0"/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Largest </a:t>
            </a:r>
            <a:r>
              <a:rPr lang="en-US" sz="2000" dirty="0" err="1"/>
              <a:t>Denormalized</a:t>
            </a:r>
            <a:r>
              <a:rPr lang="en-US" sz="2000" dirty="0"/>
              <a:t>	00…00	11…11	(1.0 – ε) x 2</a:t>
            </a:r>
            <a:r>
              <a:rPr lang="en-US" sz="2000" baseline="32000" dirty="0"/>
              <a:t>– {126,1022}</a:t>
            </a:r>
            <a:endParaRPr lang="en-US" sz="20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Single ≈ 1.18 x 10</a:t>
            </a:r>
            <a:r>
              <a:rPr lang="en-US" sz="1800" baseline="32000" dirty="0"/>
              <a:t>–38</a:t>
            </a:r>
            <a:endParaRPr lang="en-US" sz="18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Double ≈ 2.2 x 10</a:t>
            </a:r>
            <a:r>
              <a:rPr lang="en-US" sz="1800" baseline="32000" dirty="0"/>
              <a:t>–308</a:t>
            </a:r>
            <a:endParaRPr lang="en-US" sz="1800" dirty="0"/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Smallest Pos. Normalized	00…01	00…00	1.0 x 2</a:t>
            </a:r>
            <a:r>
              <a:rPr lang="en-US" sz="2000" baseline="32000" dirty="0"/>
              <a:t>– {126,1022}</a:t>
            </a:r>
            <a:endParaRPr lang="en-US" sz="20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Just larger than largest </a:t>
            </a:r>
            <a:r>
              <a:rPr lang="en-US" sz="1800" dirty="0" err="1"/>
              <a:t>denormalized</a:t>
            </a:r>
            <a:endParaRPr lang="en-US" sz="1800" dirty="0"/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One	01…11	00…00	1.0</a:t>
            </a:r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 Largest Normalized	11…10	11…11	(2.0 – ε) x 2</a:t>
            </a:r>
            <a:r>
              <a:rPr lang="en-US" sz="2000" baseline="32000" dirty="0"/>
              <a:t>{127,1023}</a:t>
            </a:r>
            <a:endParaRPr lang="en-US" sz="20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Single ≈ 3.4 x 10</a:t>
            </a:r>
            <a:r>
              <a:rPr lang="en-US" sz="1800" baseline="32000" dirty="0"/>
              <a:t>38</a:t>
            </a:r>
            <a:endParaRPr lang="en-US" sz="18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Double ≈ 1.8 x 10</a:t>
            </a:r>
            <a:r>
              <a:rPr lang="en-US" sz="1800" baseline="32000" dirty="0"/>
              <a:t>308</a:t>
            </a:r>
          </a:p>
        </p:txBody>
      </p:sp>
      <p:sp>
        <p:nvSpPr>
          <p:cNvPr id="31749" name="Rectangle 5"/>
          <p:cNvSpPr>
            <a:spLocks/>
          </p:cNvSpPr>
          <p:nvPr/>
        </p:nvSpPr>
        <p:spPr bwMode="auto">
          <a:xfrm>
            <a:off x="5753100" y="414338"/>
            <a:ext cx="2819400" cy="4572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{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single,double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1442164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096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Mathematical Properties of FP Add</a:t>
            </a:r>
          </a:p>
        </p:txBody>
      </p:sp>
      <p:sp>
        <p:nvSpPr>
          <p:cNvPr id="40968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to those of </a:t>
            </a:r>
            <a:r>
              <a:rPr lang="en-US" dirty="0" err="1"/>
              <a:t>Abelian</a:t>
            </a:r>
            <a:r>
              <a:rPr lang="en-US" dirty="0"/>
              <a:t> Group</a:t>
            </a:r>
          </a:p>
          <a:p>
            <a:pPr lvl="1"/>
            <a:r>
              <a:rPr lang="en-US" dirty="0"/>
              <a:t>Closed under addition?			</a:t>
            </a:r>
          </a:p>
          <a:p>
            <a:pPr lvl="2"/>
            <a:r>
              <a:rPr lang="en-US" dirty="0"/>
              <a:t>But may generate infinity or </a:t>
            </a:r>
            <a:r>
              <a:rPr lang="en-US" dirty="0" err="1"/>
              <a:t>NaN</a:t>
            </a:r>
            <a:endParaRPr lang="en-US" dirty="0"/>
          </a:p>
          <a:p>
            <a:pPr lvl="1"/>
            <a:r>
              <a:rPr lang="en-US" dirty="0"/>
              <a:t>Commutative? </a:t>
            </a:r>
          </a:p>
          <a:p>
            <a:pPr lvl="1"/>
            <a:r>
              <a:rPr lang="en-US" dirty="0"/>
              <a:t>Associative?</a:t>
            </a:r>
          </a:p>
          <a:p>
            <a:pPr lvl="2"/>
            <a:r>
              <a:rPr lang="en-US" dirty="0"/>
              <a:t>Overflow and inexactness of rounding</a:t>
            </a:r>
          </a:p>
          <a:p>
            <a:pPr lvl="2"/>
            <a:r>
              <a:rPr lang="en-US" dirty="0">
                <a:latin typeface="Courier New"/>
                <a:cs typeface="Courier New"/>
              </a:rPr>
              <a:t>(3.14+1e10)-1e10 = 0, 3.14+(1e10-1e10) = 3.14</a:t>
            </a:r>
          </a:p>
          <a:p>
            <a:pPr lvl="1"/>
            <a:r>
              <a:rPr lang="en-US" dirty="0"/>
              <a:t>0 is additive identity? </a:t>
            </a:r>
          </a:p>
          <a:p>
            <a:pPr lvl="1"/>
            <a:r>
              <a:rPr lang="en-US" dirty="0"/>
              <a:t>Every element has additive inverse?</a:t>
            </a:r>
          </a:p>
          <a:p>
            <a:pPr lvl="2"/>
            <a:r>
              <a:rPr lang="en-US" dirty="0"/>
              <a:t>Yes, except for infinities &amp; </a:t>
            </a:r>
            <a:r>
              <a:rPr lang="en-US" dirty="0" err="1"/>
              <a:t>NaNs</a:t>
            </a:r>
            <a:endParaRPr lang="en-US" dirty="0"/>
          </a:p>
          <a:p>
            <a:r>
              <a:rPr lang="en-US" dirty="0"/>
              <a:t>Monotonicity</a:t>
            </a:r>
          </a:p>
          <a:p>
            <a:pPr lvl="1"/>
            <a:r>
              <a:rPr lang="en-US" dirty="0">
                <a:sym typeface="Calibri Italic" charset="0"/>
              </a:rPr>
              <a:t>a</a:t>
            </a:r>
            <a:r>
              <a:rPr lang="en-US" dirty="0"/>
              <a:t> ≥ </a:t>
            </a:r>
            <a:r>
              <a:rPr lang="en-US" dirty="0">
                <a:sym typeface="Calibri Italic" charset="0"/>
              </a:rPr>
              <a:t>b</a:t>
            </a:r>
            <a:r>
              <a:rPr lang="en-US" dirty="0"/>
              <a:t> ⇒ </a:t>
            </a:r>
            <a:r>
              <a:rPr lang="en-US" dirty="0" err="1">
                <a:sym typeface="Calibri Italic" charset="0"/>
              </a:rPr>
              <a:t>a</a:t>
            </a:r>
            <a:r>
              <a:rPr lang="en-US" dirty="0" err="1"/>
              <a:t>+</a:t>
            </a:r>
            <a:r>
              <a:rPr lang="en-US" dirty="0" err="1">
                <a:sym typeface="Calibri Italic" charset="0"/>
              </a:rPr>
              <a:t>c</a:t>
            </a:r>
            <a:r>
              <a:rPr lang="en-US" dirty="0"/>
              <a:t> ≥ </a:t>
            </a:r>
            <a:r>
              <a:rPr lang="en-US" dirty="0" err="1">
                <a:sym typeface="Calibri Italic" charset="0"/>
              </a:rPr>
              <a:t>b</a:t>
            </a:r>
            <a:r>
              <a:rPr lang="en-US" dirty="0" err="1"/>
              <a:t>+</a:t>
            </a:r>
            <a:r>
              <a:rPr lang="en-US" dirty="0" err="1">
                <a:sym typeface="Calibri Italic" charset="0"/>
              </a:rPr>
              <a:t>c</a:t>
            </a:r>
            <a:r>
              <a:rPr lang="en-US" dirty="0"/>
              <a:t>?</a:t>
            </a:r>
          </a:p>
          <a:p>
            <a:pPr lvl="2"/>
            <a:r>
              <a:rPr lang="en-US" dirty="0"/>
              <a:t>Except for infinities &amp; </a:t>
            </a:r>
            <a:r>
              <a:rPr lang="en-US" dirty="0" err="1"/>
              <a:t>NaNs</a:t>
            </a:r>
            <a:endParaRPr lang="en-US" dirty="0"/>
          </a:p>
        </p:txBody>
      </p:sp>
      <p:sp>
        <p:nvSpPr>
          <p:cNvPr id="40969" name="Rectangle 9"/>
          <p:cNvSpPr>
            <a:spLocks/>
          </p:cNvSpPr>
          <p:nvPr/>
        </p:nvSpPr>
        <p:spPr bwMode="auto">
          <a:xfrm>
            <a:off x="5465763" y="1790700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0970" name="Rectangle 10"/>
          <p:cNvSpPr>
            <a:spLocks/>
          </p:cNvSpPr>
          <p:nvPr/>
        </p:nvSpPr>
        <p:spPr bwMode="auto">
          <a:xfrm>
            <a:off x="5468938" y="2514600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0971" name="Rectangle 11"/>
          <p:cNvSpPr>
            <a:spLocks/>
          </p:cNvSpPr>
          <p:nvPr/>
        </p:nvSpPr>
        <p:spPr bwMode="auto">
          <a:xfrm>
            <a:off x="5486400" y="4343400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0972" name="Rectangle 12"/>
          <p:cNvSpPr>
            <a:spLocks/>
          </p:cNvSpPr>
          <p:nvPr/>
        </p:nvSpPr>
        <p:spPr bwMode="auto">
          <a:xfrm>
            <a:off x="5465763" y="2882900"/>
            <a:ext cx="44926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No</a:t>
            </a:r>
          </a:p>
        </p:txBody>
      </p:sp>
      <p:sp>
        <p:nvSpPr>
          <p:cNvPr id="40973" name="Rectangle 13"/>
          <p:cNvSpPr>
            <a:spLocks/>
          </p:cNvSpPr>
          <p:nvPr/>
        </p:nvSpPr>
        <p:spPr bwMode="auto">
          <a:xfrm>
            <a:off x="5486400" y="4724400"/>
            <a:ext cx="9763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Almost</a:t>
            </a:r>
          </a:p>
        </p:txBody>
      </p:sp>
      <p:sp>
        <p:nvSpPr>
          <p:cNvPr id="40974" name="Rectangle 14"/>
          <p:cNvSpPr>
            <a:spLocks/>
          </p:cNvSpPr>
          <p:nvPr/>
        </p:nvSpPr>
        <p:spPr bwMode="auto">
          <a:xfrm>
            <a:off x="5486400" y="5562600"/>
            <a:ext cx="9763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Almost</a:t>
            </a:r>
          </a:p>
        </p:txBody>
      </p:sp>
    </p:spTree>
    <p:extLst>
      <p:ext uri="{BB962C8B-B14F-4D97-AF65-F5344CB8AC3E}">
        <p14:creationId xmlns:p14="http://schemas.microsoft.com/office/powerpoint/2010/main" val="289840718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198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Mathematical Properties of FP Mult</a:t>
            </a:r>
          </a:p>
        </p:txBody>
      </p:sp>
      <p:sp>
        <p:nvSpPr>
          <p:cNvPr id="41992" name="Rectangle 8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Compare to Commutative Ring</a:t>
            </a:r>
          </a:p>
          <a:p>
            <a:pPr marL="552450" lvl="1"/>
            <a:r>
              <a:rPr lang="en-US" dirty="0"/>
              <a:t>Closed under multiplication?</a:t>
            </a:r>
          </a:p>
          <a:p>
            <a:pPr marL="838200" lvl="2"/>
            <a:r>
              <a:rPr lang="en-US" dirty="0"/>
              <a:t>But may generate infinity or </a:t>
            </a:r>
            <a:r>
              <a:rPr lang="en-US" dirty="0" err="1"/>
              <a:t>NaN</a:t>
            </a:r>
            <a:endParaRPr lang="en-US" dirty="0"/>
          </a:p>
          <a:p>
            <a:pPr marL="552450" lvl="1"/>
            <a:r>
              <a:rPr lang="en-US" dirty="0"/>
              <a:t>Multiplication Commutative?</a:t>
            </a:r>
          </a:p>
          <a:p>
            <a:pPr marL="552450" lvl="1"/>
            <a:r>
              <a:rPr lang="en-US" dirty="0"/>
              <a:t>Multiplication is Associative?</a:t>
            </a:r>
          </a:p>
          <a:p>
            <a:pPr marL="838200" lvl="2"/>
            <a:r>
              <a:rPr lang="en-US" dirty="0"/>
              <a:t>Possibility of overflow, inexactness of rounding</a:t>
            </a:r>
          </a:p>
          <a:p>
            <a:pPr marL="838200" lvl="2"/>
            <a:r>
              <a:rPr lang="en-US" dirty="0"/>
              <a:t>Ex: </a:t>
            </a:r>
            <a:r>
              <a:rPr lang="en-US" dirty="0">
                <a:latin typeface="Courier New"/>
              </a:rPr>
              <a:t>(1e20*1e20)*1e-20</a:t>
            </a:r>
            <a:r>
              <a:rPr lang="en-US" dirty="0"/>
              <a:t>= </a:t>
            </a:r>
            <a:r>
              <a:rPr lang="en-US" dirty="0" err="1">
                <a:latin typeface="Courier New"/>
                <a:cs typeface="Courier New"/>
              </a:rPr>
              <a:t>inf</a:t>
            </a:r>
            <a:r>
              <a:rPr lang="en-US" dirty="0"/>
              <a:t>, </a:t>
            </a:r>
            <a:r>
              <a:rPr lang="en-US" dirty="0">
                <a:latin typeface="Courier New"/>
                <a:cs typeface="Courier New"/>
              </a:rPr>
              <a:t>1e20*(1e20*1e-20)</a:t>
            </a:r>
            <a:r>
              <a:rPr lang="en-US" dirty="0"/>
              <a:t>= </a:t>
            </a:r>
            <a:r>
              <a:rPr lang="en-US" dirty="0">
                <a:latin typeface="Courier New"/>
                <a:cs typeface="Courier New"/>
              </a:rPr>
              <a:t>1e20</a:t>
            </a:r>
          </a:p>
          <a:p>
            <a:pPr marL="552450" lvl="1"/>
            <a:r>
              <a:rPr lang="en-US" dirty="0"/>
              <a:t>1 is multiplicative identity?</a:t>
            </a:r>
          </a:p>
          <a:p>
            <a:pPr marL="552450" lvl="1"/>
            <a:r>
              <a:rPr lang="en-US" dirty="0"/>
              <a:t>Multiplication distributes over addition?</a:t>
            </a:r>
          </a:p>
          <a:p>
            <a:pPr marL="838200" lvl="2"/>
            <a:r>
              <a:rPr lang="en-US" dirty="0"/>
              <a:t>Possibility of overflow, inexactness of rounding</a:t>
            </a:r>
          </a:p>
          <a:p>
            <a:pPr marL="838200" lvl="2"/>
            <a:r>
              <a:rPr lang="en-US" dirty="0">
                <a:latin typeface="Courier New"/>
                <a:cs typeface="Courier New"/>
              </a:rPr>
              <a:t>1e20*(1e20-1e20)</a:t>
            </a:r>
            <a:r>
              <a:rPr lang="en-US" dirty="0"/>
              <a:t>= </a:t>
            </a:r>
            <a:r>
              <a:rPr lang="en-US" dirty="0">
                <a:latin typeface="Courier New"/>
                <a:cs typeface="Courier New"/>
              </a:rPr>
              <a:t>0.0</a:t>
            </a:r>
            <a:r>
              <a:rPr lang="en-US" dirty="0"/>
              <a:t>,  </a:t>
            </a:r>
            <a:r>
              <a:rPr lang="en-US" dirty="0">
                <a:latin typeface="Courier New"/>
                <a:cs typeface="Courier New"/>
              </a:rPr>
              <a:t>1e20*1e20 – 1e20*1e20 </a:t>
            </a:r>
            <a:r>
              <a:rPr lang="en-US" dirty="0"/>
              <a:t>= </a:t>
            </a:r>
            <a:r>
              <a:rPr lang="en-US" dirty="0" err="1">
                <a:latin typeface="Courier New"/>
                <a:cs typeface="Courier New"/>
              </a:rPr>
              <a:t>NaN</a:t>
            </a:r>
            <a:endParaRPr lang="en-US" dirty="0">
              <a:latin typeface="Courier New"/>
              <a:cs typeface="Courier New"/>
            </a:endParaRPr>
          </a:p>
          <a:p>
            <a:pPr marL="431800" indent="-342900"/>
            <a:r>
              <a:rPr lang="en-US" dirty="0"/>
              <a:t>Monotonicity</a:t>
            </a:r>
          </a:p>
          <a:p>
            <a:pPr marL="552450" lvl="1"/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a</a:t>
            </a:r>
            <a:r>
              <a:rPr lang="en-US" dirty="0"/>
              <a:t> ≥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b</a:t>
            </a:r>
            <a:r>
              <a:rPr lang="en-US" dirty="0"/>
              <a:t>  &amp;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c</a:t>
            </a:r>
            <a:r>
              <a:rPr lang="en-US" dirty="0"/>
              <a:t> ≥ 0  ⇒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a</a:t>
            </a:r>
            <a:r>
              <a:rPr lang="en-US" dirty="0"/>
              <a:t> *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c</a:t>
            </a:r>
            <a:r>
              <a:rPr lang="en-US" dirty="0"/>
              <a:t> ≥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b</a:t>
            </a:r>
            <a:r>
              <a:rPr lang="en-US" dirty="0"/>
              <a:t> *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c</a:t>
            </a:r>
            <a:r>
              <a:rPr lang="en-US" dirty="0"/>
              <a:t>?</a:t>
            </a:r>
          </a:p>
          <a:p>
            <a:pPr marL="838200" lvl="2"/>
            <a:r>
              <a:rPr lang="en-US" dirty="0"/>
              <a:t>Except for infinities &amp; </a:t>
            </a:r>
            <a:r>
              <a:rPr lang="en-US" dirty="0" err="1"/>
              <a:t>NaNs</a:t>
            </a:r>
            <a:endParaRPr lang="en-US" dirty="0"/>
          </a:p>
        </p:txBody>
      </p:sp>
      <p:sp>
        <p:nvSpPr>
          <p:cNvPr id="41993" name="Rectangle 9"/>
          <p:cNvSpPr>
            <a:spLocks/>
          </p:cNvSpPr>
          <p:nvPr/>
        </p:nvSpPr>
        <p:spPr bwMode="auto">
          <a:xfrm>
            <a:off x="6303963" y="1790700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1994" name="Rectangle 10"/>
          <p:cNvSpPr>
            <a:spLocks/>
          </p:cNvSpPr>
          <p:nvPr/>
        </p:nvSpPr>
        <p:spPr bwMode="auto">
          <a:xfrm>
            <a:off x="6303963" y="2522538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1995" name="Rectangle 11"/>
          <p:cNvSpPr>
            <a:spLocks/>
          </p:cNvSpPr>
          <p:nvPr/>
        </p:nvSpPr>
        <p:spPr bwMode="auto">
          <a:xfrm>
            <a:off x="6303963" y="2895600"/>
            <a:ext cx="44926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No</a:t>
            </a:r>
          </a:p>
        </p:txBody>
      </p:sp>
      <p:sp>
        <p:nvSpPr>
          <p:cNvPr id="41996" name="Rectangle 12"/>
          <p:cNvSpPr>
            <a:spLocks/>
          </p:cNvSpPr>
          <p:nvPr/>
        </p:nvSpPr>
        <p:spPr bwMode="auto">
          <a:xfrm>
            <a:off x="6303963" y="3975100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1997" name="Rectangle 13"/>
          <p:cNvSpPr>
            <a:spLocks/>
          </p:cNvSpPr>
          <p:nvPr/>
        </p:nvSpPr>
        <p:spPr bwMode="auto">
          <a:xfrm>
            <a:off x="6303963" y="4343400"/>
            <a:ext cx="44926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No</a:t>
            </a:r>
          </a:p>
        </p:txBody>
      </p:sp>
      <p:sp>
        <p:nvSpPr>
          <p:cNvPr id="41998" name="Rectangle 14"/>
          <p:cNvSpPr>
            <a:spLocks/>
          </p:cNvSpPr>
          <p:nvPr/>
        </p:nvSpPr>
        <p:spPr bwMode="auto">
          <a:xfrm>
            <a:off x="6324600" y="5791200"/>
            <a:ext cx="9763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Almost</a:t>
            </a:r>
          </a:p>
        </p:txBody>
      </p:sp>
    </p:spTree>
    <p:extLst>
      <p:ext uri="{BB962C8B-B14F-4D97-AF65-F5344CB8AC3E}">
        <p14:creationId xmlns:p14="http://schemas.microsoft.com/office/powerpoint/2010/main" val="860036030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Ariane 5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4052887" cy="5224462"/>
          </a:xfrm>
        </p:spPr>
        <p:txBody>
          <a:bodyPr/>
          <a:lstStyle/>
          <a:p>
            <a:pPr lvl="1"/>
            <a:r>
              <a:rPr lang="en-US"/>
              <a:t>Exploded 37 seconds after liftoff</a:t>
            </a:r>
          </a:p>
          <a:p>
            <a:pPr lvl="1"/>
            <a:r>
              <a:rPr lang="en-US"/>
              <a:t>Cargo worth $500 million</a:t>
            </a:r>
          </a:p>
          <a:p>
            <a:r>
              <a:rPr lang="en-US"/>
              <a:t>Why</a:t>
            </a:r>
          </a:p>
          <a:p>
            <a:pPr lvl="1"/>
            <a:r>
              <a:rPr lang="en-US"/>
              <a:t>Computed horizontal velocity as floating point number</a:t>
            </a:r>
          </a:p>
          <a:p>
            <a:pPr lvl="1"/>
            <a:r>
              <a:rPr lang="en-US"/>
              <a:t>Converted to 16-bit integer</a:t>
            </a:r>
          </a:p>
          <a:p>
            <a:pPr lvl="1"/>
            <a:r>
              <a:rPr lang="en-US"/>
              <a:t>Worked OK for Ariane 4</a:t>
            </a:r>
          </a:p>
          <a:p>
            <a:pPr lvl="1"/>
            <a:r>
              <a:rPr lang="en-US"/>
              <a:t>Overflowed for Ariane 5</a:t>
            </a:r>
          </a:p>
          <a:p>
            <a:pPr lvl="2"/>
            <a:r>
              <a:rPr lang="en-US"/>
              <a:t>Used same software</a:t>
            </a:r>
          </a:p>
          <a:p>
            <a:pPr lvl="1"/>
            <a:endParaRPr lang="en-US"/>
          </a:p>
        </p:txBody>
      </p:sp>
      <p:pic>
        <p:nvPicPr>
          <p:cNvPr id="125956" name="Picture 4" descr="ariane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905000"/>
            <a:ext cx="4160838" cy="4114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9706427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505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Floating Point Puzzles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8382000" cy="1270000"/>
          </a:xfrm>
          <a:ln/>
        </p:spPr>
        <p:txBody>
          <a:bodyPr/>
          <a:lstStyle/>
          <a:p>
            <a:r>
              <a:rPr lang="en-US" dirty="0"/>
              <a:t>For each of the following C expressions, either:</a:t>
            </a:r>
          </a:p>
          <a:p>
            <a:pPr marL="552450" lvl="1"/>
            <a:r>
              <a:rPr lang="en-US" dirty="0"/>
              <a:t>Argue that it is true for all argument values</a:t>
            </a:r>
          </a:p>
          <a:p>
            <a:pPr marL="552450" lvl="1"/>
            <a:r>
              <a:rPr lang="en-US" dirty="0"/>
              <a:t>Explain why not true</a:t>
            </a:r>
          </a:p>
        </p:txBody>
      </p:sp>
      <p:sp>
        <p:nvSpPr>
          <p:cNvPr id="45061" name="Rectangle 5"/>
          <p:cNvSpPr>
            <a:spLocks/>
          </p:cNvSpPr>
          <p:nvPr/>
        </p:nvSpPr>
        <p:spPr bwMode="auto">
          <a:xfrm>
            <a:off x="3736975" y="2446338"/>
            <a:ext cx="4889500" cy="40767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x == (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)(float) x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x == (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)(double) x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 == (float)(double) f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 == (double)(float) d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 == -(-f);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2/3 == 2/3.0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 &lt; 0.0	 ⇒ 	((d*2) &lt; 0.0)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 &gt; f	 ⇒ 	-f &gt; -d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 * d &gt;= 0.0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d+f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)-d == f</a:t>
            </a:r>
          </a:p>
        </p:txBody>
      </p:sp>
      <p:sp>
        <p:nvSpPr>
          <p:cNvPr id="45062" name="Rectangle 6"/>
          <p:cNvSpPr>
            <a:spLocks/>
          </p:cNvSpPr>
          <p:nvPr/>
        </p:nvSpPr>
        <p:spPr bwMode="auto">
          <a:xfrm>
            <a:off x="522288" y="3271838"/>
            <a:ext cx="2628900" cy="1155700"/>
          </a:xfrm>
          <a:prstGeom prst="rect">
            <a:avLst/>
          </a:prstGeom>
          <a:solidFill>
            <a:srgbClr val="D6D6F4"/>
          </a:solidFill>
          <a:ln w="25400" cap="flat">
            <a:solidFill>
              <a:srgbClr val="ADADEA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x = …;</a:t>
            </a:r>
            <a:endParaRPr lang="en-US" sz="24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float f = …;</a:t>
            </a:r>
            <a:endParaRPr lang="en-US" sz="24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double d = …;</a:t>
            </a:r>
          </a:p>
        </p:txBody>
      </p:sp>
      <p:sp>
        <p:nvSpPr>
          <p:cNvPr id="45063" name="Rectangle 7"/>
          <p:cNvSpPr>
            <a:spLocks/>
          </p:cNvSpPr>
          <p:nvPr/>
        </p:nvSpPr>
        <p:spPr bwMode="auto">
          <a:xfrm>
            <a:off x="457200" y="4581525"/>
            <a:ext cx="1704975" cy="698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Assume neither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d</a:t>
            </a:r>
            <a:r>
              <a:rPr lang="en-US" sz="2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nor </a:t>
            </a: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f</a:t>
            </a:r>
            <a:r>
              <a:rPr lang="en-US" sz="2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is NaN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710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Summary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/>
              <a:t>IEEE Floating Point has clear mathematical  properties</a:t>
            </a:r>
          </a:p>
          <a:p>
            <a:r>
              <a:rPr lang="en-US"/>
              <a:t>Represents numbers of form M x 2</a:t>
            </a:r>
            <a:r>
              <a:rPr lang="en-US" baseline="32000"/>
              <a:t>E</a:t>
            </a:r>
            <a:endParaRPr lang="en-US"/>
          </a:p>
          <a:p>
            <a:r>
              <a:rPr lang="en-US"/>
              <a:t>One can reason about operations independent of implementation</a:t>
            </a:r>
          </a:p>
          <a:p>
            <a:pPr marL="552450" lvl="1"/>
            <a:r>
              <a:rPr lang="en-US"/>
              <a:t>As if computed with perfect precision and then rounded</a:t>
            </a:r>
          </a:p>
          <a:p>
            <a:r>
              <a:rPr lang="en-US"/>
              <a:t>Not the same as real arithmetic</a:t>
            </a:r>
          </a:p>
          <a:p>
            <a:pPr marL="552450" lvl="1"/>
            <a:r>
              <a:rPr lang="en-US"/>
              <a:t>Violates associativity/distributivity</a:t>
            </a:r>
          </a:p>
          <a:p>
            <a:pPr marL="552450" lvl="1"/>
            <a:r>
              <a:rPr lang="en-US"/>
              <a:t>Makes life difficult for compilers &amp; serious numerical applications programmers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813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Additional Slides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584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Rounding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Rounding Modes (illustrate with $ rounding)</a:t>
            </a:r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endParaRPr lang="en-US" dirty="0"/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	$1.40	$1.60	$1.50	$2.50	–$1.50</a:t>
            </a:r>
          </a:p>
          <a:p>
            <a:pPr marL="552450" lvl="1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Towards zero	$1	$2	$1	$2	–$1</a:t>
            </a:r>
          </a:p>
          <a:p>
            <a:pPr marL="552450" lvl="1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Round down (−</a:t>
            </a:r>
            <a:r>
              <a:rPr lang="en-US" dirty="0">
                <a:sym typeface="Symbol"/>
              </a:rPr>
              <a:t></a:t>
            </a:r>
            <a:r>
              <a:rPr lang="en-US" dirty="0"/>
              <a:t>)	$1	$2	$1	$2	–$2</a:t>
            </a:r>
          </a:p>
          <a:p>
            <a:pPr marL="552450" lvl="1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Round up (+</a:t>
            </a:r>
            <a:r>
              <a:rPr lang="en-US" dirty="0">
                <a:sym typeface="Symbol"/>
              </a:rPr>
              <a:t></a:t>
            </a:r>
            <a:r>
              <a:rPr lang="en-US" dirty="0"/>
              <a:t>) 	$1	$2	$2	$3	–$1</a:t>
            </a:r>
          </a:p>
          <a:p>
            <a:pPr marL="552450" lvl="1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Nearest Even (default)	$1	$2	$2	$2	–$2</a:t>
            </a:r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endParaRPr lang="en-US" dirty="0"/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Rounding mode changes </a:t>
            </a:r>
            <a:r>
              <a:rPr lang="en-US" dirty="0">
                <a:solidFill>
                  <a:srgbClr val="FF0000"/>
                </a:solidFill>
              </a:rPr>
              <a:t>only the rounding of midway values </a:t>
            </a:r>
            <a:r>
              <a:rPr lang="en-US" dirty="0"/>
              <a:t>such as 1.5, 0.5, or -2.5. </a:t>
            </a:r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Rounding of other values such as 1.4, 2.51, or -3.49 is not affected! </a:t>
            </a:r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579025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584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Rounding: Towards Zero</a:t>
            </a:r>
          </a:p>
        </p:txBody>
      </p:sp>
      <p:grpSp>
        <p:nvGrpSpPr>
          <p:cNvPr id="36757" name="Group 36756"/>
          <p:cNvGrpSpPr/>
          <p:nvPr/>
        </p:nvGrpSpPr>
        <p:grpSpPr>
          <a:xfrm>
            <a:off x="628659" y="2538984"/>
            <a:ext cx="8153400" cy="813816"/>
            <a:chOff x="609600" y="3723132"/>
            <a:chExt cx="8153400" cy="813816"/>
          </a:xfrm>
        </p:grpSpPr>
        <p:cxnSp>
          <p:nvCxnSpPr>
            <p:cNvPr id="362" name="Straight Arrow Connector 361"/>
            <p:cNvCxnSpPr/>
            <p:nvPr/>
          </p:nvCxnSpPr>
          <p:spPr bwMode="auto">
            <a:xfrm flipV="1">
              <a:off x="609600" y="3820668"/>
              <a:ext cx="8153400" cy="9144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363" name="Straight Connector 362"/>
            <p:cNvCxnSpPr/>
            <p:nvPr/>
          </p:nvCxnSpPr>
          <p:spPr bwMode="auto">
            <a:xfrm>
              <a:off x="51816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4" name="Straight Connector 363"/>
            <p:cNvCxnSpPr/>
            <p:nvPr/>
          </p:nvCxnSpPr>
          <p:spPr bwMode="auto">
            <a:xfrm>
              <a:off x="21336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5" name="Straight Connector 364"/>
            <p:cNvCxnSpPr/>
            <p:nvPr/>
          </p:nvCxnSpPr>
          <p:spPr bwMode="auto">
            <a:xfrm>
              <a:off x="27432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6" name="Straight Connector 365"/>
            <p:cNvCxnSpPr/>
            <p:nvPr/>
          </p:nvCxnSpPr>
          <p:spPr bwMode="auto">
            <a:xfrm>
              <a:off x="33528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7" name="Straight Connector 366"/>
            <p:cNvCxnSpPr/>
            <p:nvPr/>
          </p:nvCxnSpPr>
          <p:spPr bwMode="auto">
            <a:xfrm>
              <a:off x="39624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8" name="Straight Connector 367"/>
            <p:cNvCxnSpPr/>
            <p:nvPr/>
          </p:nvCxnSpPr>
          <p:spPr bwMode="auto">
            <a:xfrm>
              <a:off x="45720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9" name="Straight Connector 368"/>
            <p:cNvCxnSpPr/>
            <p:nvPr/>
          </p:nvCxnSpPr>
          <p:spPr bwMode="auto">
            <a:xfrm>
              <a:off x="9144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70" name="Straight Connector 369"/>
            <p:cNvCxnSpPr/>
            <p:nvPr/>
          </p:nvCxnSpPr>
          <p:spPr bwMode="auto">
            <a:xfrm>
              <a:off x="15240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71" name="Straight Connector 370"/>
            <p:cNvCxnSpPr/>
            <p:nvPr/>
          </p:nvCxnSpPr>
          <p:spPr bwMode="auto">
            <a:xfrm>
              <a:off x="21336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72" name="Straight Connector 371"/>
            <p:cNvCxnSpPr/>
            <p:nvPr/>
          </p:nvCxnSpPr>
          <p:spPr bwMode="auto">
            <a:xfrm>
              <a:off x="76200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73" name="Straight Connector 372"/>
            <p:cNvCxnSpPr/>
            <p:nvPr/>
          </p:nvCxnSpPr>
          <p:spPr bwMode="auto">
            <a:xfrm>
              <a:off x="82296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90" name="Straight Connector 389"/>
            <p:cNvCxnSpPr/>
            <p:nvPr/>
          </p:nvCxnSpPr>
          <p:spPr bwMode="auto">
            <a:xfrm>
              <a:off x="5791199" y="374649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91" name="Straight Connector 390"/>
            <p:cNvCxnSpPr/>
            <p:nvPr/>
          </p:nvCxnSpPr>
          <p:spPr bwMode="auto">
            <a:xfrm>
              <a:off x="6400799" y="374649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92" name="Straight Connector 391"/>
            <p:cNvCxnSpPr/>
            <p:nvPr/>
          </p:nvCxnSpPr>
          <p:spPr bwMode="auto">
            <a:xfrm>
              <a:off x="7010399" y="374649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93" name="Straight Connector 392"/>
            <p:cNvCxnSpPr/>
            <p:nvPr/>
          </p:nvCxnSpPr>
          <p:spPr bwMode="auto">
            <a:xfrm>
              <a:off x="7010399" y="374649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sp>
          <p:nvSpPr>
            <p:cNvPr id="394" name="Oval 393"/>
            <p:cNvSpPr/>
            <p:nvPr/>
          </p:nvSpPr>
          <p:spPr bwMode="auto">
            <a:xfrm>
              <a:off x="6294120" y="3723132"/>
              <a:ext cx="182880" cy="18288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95" name="Straight Arrow Connector 394"/>
            <p:cNvCxnSpPr/>
            <p:nvPr/>
          </p:nvCxnSpPr>
          <p:spPr bwMode="auto">
            <a:xfrm flipH="1">
              <a:off x="4554342" y="3829496"/>
              <a:ext cx="627258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388" name="Oval 387"/>
            <p:cNvSpPr/>
            <p:nvPr/>
          </p:nvSpPr>
          <p:spPr bwMode="auto">
            <a:xfrm>
              <a:off x="5105400" y="3733800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386" name="Oval 385"/>
            <p:cNvSpPr/>
            <p:nvPr/>
          </p:nvSpPr>
          <p:spPr bwMode="auto">
            <a:xfrm>
              <a:off x="7527306" y="3733800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87" name="Straight Arrow Connector 386"/>
            <p:cNvCxnSpPr/>
            <p:nvPr/>
          </p:nvCxnSpPr>
          <p:spPr bwMode="auto">
            <a:xfrm flipH="1">
              <a:off x="7007892" y="3814572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384" name="Oval 383"/>
            <p:cNvSpPr/>
            <p:nvPr/>
          </p:nvSpPr>
          <p:spPr bwMode="auto">
            <a:xfrm flipH="1">
              <a:off x="2636520" y="3733800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85" name="Straight Arrow Connector 384"/>
            <p:cNvCxnSpPr/>
            <p:nvPr/>
          </p:nvCxnSpPr>
          <p:spPr bwMode="auto">
            <a:xfrm>
              <a:off x="4038600" y="3820668"/>
              <a:ext cx="524528" cy="1524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382" name="Oval 381"/>
            <p:cNvSpPr/>
            <p:nvPr/>
          </p:nvSpPr>
          <p:spPr bwMode="auto">
            <a:xfrm flipH="1">
              <a:off x="3886200" y="3733800"/>
              <a:ext cx="182880" cy="18288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83" name="Straight Arrow Connector 382"/>
            <p:cNvCxnSpPr>
              <a:cxnSpLocks/>
            </p:cNvCxnSpPr>
            <p:nvPr/>
          </p:nvCxnSpPr>
          <p:spPr bwMode="auto">
            <a:xfrm flipH="1" flipV="1">
              <a:off x="2824719" y="3843451"/>
              <a:ext cx="509022" cy="553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grpSp>
          <p:nvGrpSpPr>
            <p:cNvPr id="379" name="Group 378"/>
            <p:cNvGrpSpPr/>
            <p:nvPr/>
          </p:nvGrpSpPr>
          <p:grpSpPr>
            <a:xfrm flipH="1">
              <a:off x="1417320" y="3733800"/>
              <a:ext cx="716918" cy="182880"/>
              <a:chOff x="4489060" y="6065520"/>
              <a:chExt cx="716918" cy="182880"/>
            </a:xfrm>
          </p:grpSpPr>
          <p:sp>
            <p:nvSpPr>
              <p:cNvPr id="380" name="Oval 379"/>
              <p:cNvSpPr/>
              <p:nvPr/>
            </p:nvSpPr>
            <p:spPr bwMode="auto">
              <a:xfrm>
                <a:off x="5023098" y="6065520"/>
                <a:ext cx="182880" cy="182880"/>
              </a:xfrm>
              <a:prstGeom prst="ellipse">
                <a:avLst/>
              </a:prstGeom>
              <a:solidFill>
                <a:srgbClr val="FF0000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lg" len="lg"/>
                <a:tailEnd type="none" w="lg" len="lg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tr-TR" sz="4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endParaRPr>
              </a:p>
            </p:txBody>
          </p:sp>
          <p:cxnSp>
            <p:nvCxnSpPr>
              <p:cNvPr id="381" name="Straight Arrow Connector 380"/>
              <p:cNvCxnSpPr>
                <a:cxnSpLocks/>
              </p:cNvCxnSpPr>
              <p:nvPr/>
            </p:nvCxnSpPr>
            <p:spPr bwMode="auto">
              <a:xfrm flipH="1">
                <a:off x="4489060" y="6169959"/>
                <a:ext cx="527298" cy="12909"/>
              </a:xfrm>
              <a:prstGeom prst="straightConnector1">
                <a:avLst/>
              </a:prstGeom>
              <a:solidFill>
                <a:schemeClr val="accent1"/>
              </a:solidFill>
              <a:ln w="34925" cap="flat" cmpd="sng" algn="ctr">
                <a:solidFill>
                  <a:srgbClr val="FF0000"/>
                </a:solidFill>
                <a:prstDash val="solid"/>
                <a:round/>
                <a:headEnd type="none" w="lg" len="lg"/>
                <a:tailEnd type="triangle" w="lg" len="lg"/>
              </a:ln>
              <a:effectLst/>
            </p:spPr>
          </p:cxnSp>
        </p:grpSp>
        <p:cxnSp>
          <p:nvCxnSpPr>
            <p:cNvPr id="1332" name="Straight Arrow Connector 1331"/>
            <p:cNvCxnSpPr>
              <a:cxnSpLocks/>
            </p:cNvCxnSpPr>
            <p:nvPr/>
          </p:nvCxnSpPr>
          <p:spPr bwMode="auto">
            <a:xfrm flipH="1">
              <a:off x="5772141" y="3822690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334" name="Straight Arrow Connector 1333"/>
            <p:cNvCxnSpPr/>
            <p:nvPr/>
          </p:nvCxnSpPr>
          <p:spPr bwMode="auto">
            <a:xfrm flipV="1">
              <a:off x="609600" y="4440936"/>
              <a:ext cx="8153400" cy="9144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1335" name="Straight Connector 1334"/>
            <p:cNvCxnSpPr/>
            <p:nvPr/>
          </p:nvCxnSpPr>
          <p:spPr bwMode="auto">
            <a:xfrm>
              <a:off x="51816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36" name="Straight Connector 1335"/>
            <p:cNvCxnSpPr/>
            <p:nvPr/>
          </p:nvCxnSpPr>
          <p:spPr bwMode="auto">
            <a:xfrm>
              <a:off x="21336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37" name="Straight Connector 1336"/>
            <p:cNvCxnSpPr/>
            <p:nvPr/>
          </p:nvCxnSpPr>
          <p:spPr bwMode="auto">
            <a:xfrm>
              <a:off x="27432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38" name="Straight Connector 1337"/>
            <p:cNvCxnSpPr/>
            <p:nvPr/>
          </p:nvCxnSpPr>
          <p:spPr bwMode="auto">
            <a:xfrm>
              <a:off x="33528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39" name="Straight Connector 1338"/>
            <p:cNvCxnSpPr/>
            <p:nvPr/>
          </p:nvCxnSpPr>
          <p:spPr bwMode="auto">
            <a:xfrm>
              <a:off x="39624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0" name="Straight Connector 1339"/>
            <p:cNvCxnSpPr/>
            <p:nvPr/>
          </p:nvCxnSpPr>
          <p:spPr bwMode="auto">
            <a:xfrm>
              <a:off x="45720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1" name="Straight Connector 1340"/>
            <p:cNvCxnSpPr/>
            <p:nvPr/>
          </p:nvCxnSpPr>
          <p:spPr bwMode="auto">
            <a:xfrm>
              <a:off x="9144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2" name="Straight Connector 1341"/>
            <p:cNvCxnSpPr/>
            <p:nvPr/>
          </p:nvCxnSpPr>
          <p:spPr bwMode="auto">
            <a:xfrm>
              <a:off x="15240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3" name="Straight Connector 1342"/>
            <p:cNvCxnSpPr/>
            <p:nvPr/>
          </p:nvCxnSpPr>
          <p:spPr bwMode="auto">
            <a:xfrm>
              <a:off x="21336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4" name="Straight Connector 1343"/>
            <p:cNvCxnSpPr/>
            <p:nvPr/>
          </p:nvCxnSpPr>
          <p:spPr bwMode="auto">
            <a:xfrm>
              <a:off x="76200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5" name="Straight Connector 1344"/>
            <p:cNvCxnSpPr/>
            <p:nvPr/>
          </p:nvCxnSpPr>
          <p:spPr bwMode="auto">
            <a:xfrm>
              <a:off x="82296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6" name="Straight Connector 1345"/>
            <p:cNvCxnSpPr/>
            <p:nvPr/>
          </p:nvCxnSpPr>
          <p:spPr bwMode="auto">
            <a:xfrm>
              <a:off x="5791199" y="436675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7" name="Straight Connector 1346"/>
            <p:cNvCxnSpPr/>
            <p:nvPr/>
          </p:nvCxnSpPr>
          <p:spPr bwMode="auto">
            <a:xfrm>
              <a:off x="6400799" y="436675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8" name="Straight Connector 1347"/>
            <p:cNvCxnSpPr/>
            <p:nvPr/>
          </p:nvCxnSpPr>
          <p:spPr bwMode="auto">
            <a:xfrm>
              <a:off x="7010399" y="436675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9" name="Straight Connector 1348"/>
            <p:cNvCxnSpPr/>
            <p:nvPr/>
          </p:nvCxnSpPr>
          <p:spPr bwMode="auto">
            <a:xfrm>
              <a:off x="7010399" y="436675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sp>
          <p:nvSpPr>
            <p:cNvPr id="1350" name="Oval 1349"/>
            <p:cNvSpPr/>
            <p:nvPr/>
          </p:nvSpPr>
          <p:spPr bwMode="auto">
            <a:xfrm>
              <a:off x="7527044" y="4343400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51" name="Straight Arrow Connector 1350"/>
            <p:cNvCxnSpPr>
              <a:cxnSpLocks/>
              <a:stCxn id="1352" idx="6"/>
            </p:cNvCxnSpPr>
            <p:nvPr/>
          </p:nvCxnSpPr>
          <p:spPr bwMode="auto">
            <a:xfrm>
              <a:off x="6483925" y="4445508"/>
              <a:ext cx="525074" cy="4256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352" name="Oval 1351"/>
            <p:cNvSpPr/>
            <p:nvPr/>
          </p:nvSpPr>
          <p:spPr bwMode="auto">
            <a:xfrm>
              <a:off x="6301045" y="4354068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1355" name="Oval 1354"/>
            <p:cNvSpPr/>
            <p:nvPr/>
          </p:nvSpPr>
          <p:spPr bwMode="auto">
            <a:xfrm flipH="1">
              <a:off x="3869575" y="4354068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56" name="Straight Arrow Connector 1355"/>
            <p:cNvCxnSpPr/>
            <p:nvPr/>
          </p:nvCxnSpPr>
          <p:spPr bwMode="auto">
            <a:xfrm>
              <a:off x="5234245" y="4440936"/>
              <a:ext cx="524528" cy="1524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357" name="Oval 1356"/>
            <p:cNvSpPr/>
            <p:nvPr/>
          </p:nvSpPr>
          <p:spPr bwMode="auto">
            <a:xfrm flipH="1">
              <a:off x="5081845" y="4354068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58" name="Straight Arrow Connector 1357"/>
            <p:cNvCxnSpPr/>
            <p:nvPr/>
          </p:nvCxnSpPr>
          <p:spPr bwMode="auto">
            <a:xfrm flipV="1">
              <a:off x="3346175" y="4450080"/>
              <a:ext cx="509022" cy="457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sp>
          <p:nvSpPr>
            <p:cNvPr id="1360" name="Oval 1359"/>
            <p:cNvSpPr/>
            <p:nvPr/>
          </p:nvSpPr>
          <p:spPr bwMode="auto">
            <a:xfrm flipH="1">
              <a:off x="2650375" y="4354068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61" name="Straight Arrow Connector 1360"/>
            <p:cNvCxnSpPr>
              <a:cxnSpLocks/>
            </p:cNvCxnSpPr>
            <p:nvPr/>
          </p:nvCxnSpPr>
          <p:spPr bwMode="auto">
            <a:xfrm flipH="1">
              <a:off x="2114541" y="4445508"/>
              <a:ext cx="527298" cy="10668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362" name="Straight Arrow Connector 1361"/>
            <p:cNvCxnSpPr/>
            <p:nvPr/>
          </p:nvCxnSpPr>
          <p:spPr bwMode="auto">
            <a:xfrm>
              <a:off x="7709924" y="4442958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363" name="Oval 1362"/>
            <p:cNvSpPr/>
            <p:nvPr/>
          </p:nvSpPr>
          <p:spPr bwMode="auto">
            <a:xfrm flipH="1">
              <a:off x="1417320" y="4343400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64" name="Straight Arrow Connector 1363"/>
            <p:cNvCxnSpPr/>
            <p:nvPr/>
          </p:nvCxnSpPr>
          <p:spPr bwMode="auto">
            <a:xfrm flipV="1">
              <a:off x="893920" y="4439412"/>
              <a:ext cx="509022" cy="457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sp>
          <p:nvSpPr>
            <p:cNvPr id="1367" name="TextBox 1366"/>
            <p:cNvSpPr txBox="1"/>
            <p:nvPr/>
          </p:nvSpPr>
          <p:spPr>
            <a:xfrm>
              <a:off x="4397840" y="38817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0</a:t>
              </a:r>
            </a:p>
          </p:txBody>
        </p:sp>
        <p:sp>
          <p:nvSpPr>
            <p:cNvPr id="1368" name="TextBox 1367"/>
            <p:cNvSpPr txBox="1"/>
            <p:nvPr/>
          </p:nvSpPr>
          <p:spPr>
            <a:xfrm>
              <a:off x="5670013" y="3881735"/>
              <a:ext cx="26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1</a:t>
              </a:r>
            </a:p>
          </p:txBody>
        </p:sp>
        <p:sp>
          <p:nvSpPr>
            <p:cNvPr id="1369" name="TextBox 1368"/>
            <p:cNvSpPr txBox="1"/>
            <p:nvPr/>
          </p:nvSpPr>
          <p:spPr>
            <a:xfrm>
              <a:off x="6880689" y="3881735"/>
              <a:ext cx="26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2</a:t>
              </a:r>
            </a:p>
          </p:txBody>
        </p:sp>
        <p:sp>
          <p:nvSpPr>
            <p:cNvPr id="1370" name="TextBox 1369"/>
            <p:cNvSpPr txBox="1"/>
            <p:nvPr/>
          </p:nvSpPr>
          <p:spPr>
            <a:xfrm>
              <a:off x="3141077" y="3881735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-1</a:t>
              </a:r>
            </a:p>
          </p:txBody>
        </p:sp>
        <p:sp>
          <p:nvSpPr>
            <p:cNvPr id="1371" name="TextBox 1370"/>
            <p:cNvSpPr txBox="1"/>
            <p:nvPr/>
          </p:nvSpPr>
          <p:spPr>
            <a:xfrm>
              <a:off x="1840033" y="3881735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-2</a:t>
              </a:r>
            </a:p>
          </p:txBody>
        </p:sp>
        <p:sp>
          <p:nvSpPr>
            <p:cNvPr id="1372" name="TextBox 1371"/>
            <p:cNvSpPr txBox="1"/>
            <p:nvPr/>
          </p:nvSpPr>
          <p:spPr>
            <a:xfrm>
              <a:off x="685800" y="3881735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-3</a:t>
              </a:r>
            </a:p>
          </p:txBody>
        </p:sp>
        <p:sp>
          <p:nvSpPr>
            <p:cNvPr id="1373" name="TextBox 1372"/>
            <p:cNvSpPr txBox="1"/>
            <p:nvPr/>
          </p:nvSpPr>
          <p:spPr>
            <a:xfrm>
              <a:off x="8011654" y="38817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3</a:t>
              </a:r>
            </a:p>
          </p:txBody>
        </p:sp>
      </p:grpSp>
      <p:sp>
        <p:nvSpPr>
          <p:cNvPr id="235" name="TextBox 234"/>
          <p:cNvSpPr txBox="1"/>
          <p:nvPr/>
        </p:nvSpPr>
        <p:spPr>
          <a:xfrm>
            <a:off x="1191829" y="2039219"/>
            <a:ext cx="671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FF0000"/>
                </a:solidFill>
                <a:latin typeface="+mn-lt"/>
              </a:rPr>
              <a:t>-2.5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452220" y="2039074"/>
            <a:ext cx="671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0070C0"/>
                </a:solidFill>
                <a:latin typeface="+mn-lt"/>
              </a:rPr>
              <a:t>-1.5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671421" y="2039074"/>
            <a:ext cx="671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FF0000"/>
                </a:solidFill>
                <a:latin typeface="+mn-lt"/>
              </a:rPr>
              <a:t>-0.5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908999" y="2039074"/>
            <a:ext cx="577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0070C0"/>
                </a:solidFill>
                <a:latin typeface="+mn-lt"/>
              </a:rPr>
              <a:t>0.5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128198" y="2039074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FF0000"/>
                </a:solidFill>
                <a:latin typeface="+mn-lt"/>
              </a:rPr>
              <a:t>1.5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47398" y="2039074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0070C0"/>
                </a:solidFill>
                <a:latin typeface="+mn-lt"/>
              </a:rPr>
              <a:t>2.5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D82257-D7EE-E3A4-95E9-00E19EEDDDB7}"/>
              </a:ext>
            </a:extLst>
          </p:cNvPr>
          <p:cNvSpPr/>
          <p:nvPr/>
        </p:nvSpPr>
        <p:spPr>
          <a:xfrm>
            <a:off x="704859" y="4206071"/>
            <a:ext cx="8185642" cy="1695026"/>
          </a:xfrm>
          <a:prstGeom prst="rect">
            <a:avLst/>
          </a:prstGeom>
        </p:spPr>
        <p:txBody>
          <a:bodyPr wrap="square">
            <a:normAutofit fontScale="85000" lnSpcReduction="20000"/>
          </a:bodyPr>
          <a:lstStyle/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Each value is rounded to the closest number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Midway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values are rounded to the closest number towards the ZERO direction 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This mode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 reduces the variance of the data and changes mean </a:t>
            </a:r>
            <a:r>
              <a:rPr lang="en-US" sz="2400" dirty="0">
                <a:latin typeface="+mn-lt"/>
              </a:rPr>
              <a:t>of the numbers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latin typeface="+mn-lt"/>
              </a:rPr>
              <a:t> </a:t>
            </a:r>
          </a:p>
          <a:p>
            <a:pPr marL="342900" indent="-342900" algn="l">
              <a:buFont typeface="Arial" charset="0"/>
              <a:buChar char="•"/>
            </a:pPr>
            <a:endParaRPr lang="tr-TR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7519003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584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Rounding: Round down (−</a:t>
            </a:r>
            <a:r>
              <a:rPr lang="en-US" dirty="0">
                <a:sym typeface="Symbol"/>
              </a:rPr>
              <a:t></a:t>
            </a:r>
            <a:r>
              <a:rPr lang="en-US" dirty="0"/>
              <a:t>)</a:t>
            </a:r>
          </a:p>
        </p:txBody>
      </p:sp>
      <p:grpSp>
        <p:nvGrpSpPr>
          <p:cNvPr id="36757" name="Group 36756"/>
          <p:cNvGrpSpPr/>
          <p:nvPr/>
        </p:nvGrpSpPr>
        <p:grpSpPr>
          <a:xfrm>
            <a:off x="628659" y="2538984"/>
            <a:ext cx="8153400" cy="813816"/>
            <a:chOff x="609600" y="3723132"/>
            <a:chExt cx="8153400" cy="813816"/>
          </a:xfrm>
        </p:grpSpPr>
        <p:cxnSp>
          <p:nvCxnSpPr>
            <p:cNvPr id="362" name="Straight Arrow Connector 361"/>
            <p:cNvCxnSpPr/>
            <p:nvPr/>
          </p:nvCxnSpPr>
          <p:spPr bwMode="auto">
            <a:xfrm flipV="1">
              <a:off x="609600" y="3820668"/>
              <a:ext cx="8153400" cy="9144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363" name="Straight Connector 362"/>
            <p:cNvCxnSpPr/>
            <p:nvPr/>
          </p:nvCxnSpPr>
          <p:spPr bwMode="auto">
            <a:xfrm>
              <a:off x="51816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4" name="Straight Connector 363"/>
            <p:cNvCxnSpPr/>
            <p:nvPr/>
          </p:nvCxnSpPr>
          <p:spPr bwMode="auto">
            <a:xfrm>
              <a:off x="21336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5" name="Straight Connector 364"/>
            <p:cNvCxnSpPr/>
            <p:nvPr/>
          </p:nvCxnSpPr>
          <p:spPr bwMode="auto">
            <a:xfrm>
              <a:off x="27432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6" name="Straight Connector 365"/>
            <p:cNvCxnSpPr/>
            <p:nvPr/>
          </p:nvCxnSpPr>
          <p:spPr bwMode="auto">
            <a:xfrm>
              <a:off x="33528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7" name="Straight Connector 366"/>
            <p:cNvCxnSpPr/>
            <p:nvPr/>
          </p:nvCxnSpPr>
          <p:spPr bwMode="auto">
            <a:xfrm>
              <a:off x="39624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8" name="Straight Connector 367"/>
            <p:cNvCxnSpPr/>
            <p:nvPr/>
          </p:nvCxnSpPr>
          <p:spPr bwMode="auto">
            <a:xfrm>
              <a:off x="45720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9" name="Straight Connector 368"/>
            <p:cNvCxnSpPr/>
            <p:nvPr/>
          </p:nvCxnSpPr>
          <p:spPr bwMode="auto">
            <a:xfrm>
              <a:off x="9144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70" name="Straight Connector 369"/>
            <p:cNvCxnSpPr/>
            <p:nvPr/>
          </p:nvCxnSpPr>
          <p:spPr bwMode="auto">
            <a:xfrm>
              <a:off x="15240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71" name="Straight Connector 370"/>
            <p:cNvCxnSpPr/>
            <p:nvPr/>
          </p:nvCxnSpPr>
          <p:spPr bwMode="auto">
            <a:xfrm>
              <a:off x="21336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72" name="Straight Connector 371"/>
            <p:cNvCxnSpPr/>
            <p:nvPr/>
          </p:nvCxnSpPr>
          <p:spPr bwMode="auto">
            <a:xfrm>
              <a:off x="76200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73" name="Straight Connector 372"/>
            <p:cNvCxnSpPr/>
            <p:nvPr/>
          </p:nvCxnSpPr>
          <p:spPr bwMode="auto">
            <a:xfrm>
              <a:off x="82296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90" name="Straight Connector 389"/>
            <p:cNvCxnSpPr/>
            <p:nvPr/>
          </p:nvCxnSpPr>
          <p:spPr bwMode="auto">
            <a:xfrm>
              <a:off x="5791199" y="374649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91" name="Straight Connector 390"/>
            <p:cNvCxnSpPr/>
            <p:nvPr/>
          </p:nvCxnSpPr>
          <p:spPr bwMode="auto">
            <a:xfrm>
              <a:off x="6400799" y="374649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92" name="Straight Connector 391"/>
            <p:cNvCxnSpPr/>
            <p:nvPr/>
          </p:nvCxnSpPr>
          <p:spPr bwMode="auto">
            <a:xfrm>
              <a:off x="7010399" y="374649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93" name="Straight Connector 392"/>
            <p:cNvCxnSpPr/>
            <p:nvPr/>
          </p:nvCxnSpPr>
          <p:spPr bwMode="auto">
            <a:xfrm>
              <a:off x="7010399" y="374649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sp>
          <p:nvSpPr>
            <p:cNvPr id="394" name="Oval 393"/>
            <p:cNvSpPr/>
            <p:nvPr/>
          </p:nvSpPr>
          <p:spPr bwMode="auto">
            <a:xfrm>
              <a:off x="6294120" y="3723132"/>
              <a:ext cx="182880" cy="18288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95" name="Straight Arrow Connector 394"/>
            <p:cNvCxnSpPr/>
            <p:nvPr/>
          </p:nvCxnSpPr>
          <p:spPr bwMode="auto">
            <a:xfrm flipH="1">
              <a:off x="4554342" y="3829496"/>
              <a:ext cx="627258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388" name="Oval 387"/>
            <p:cNvSpPr/>
            <p:nvPr/>
          </p:nvSpPr>
          <p:spPr bwMode="auto">
            <a:xfrm>
              <a:off x="5105400" y="3733800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386" name="Oval 385"/>
            <p:cNvSpPr/>
            <p:nvPr/>
          </p:nvSpPr>
          <p:spPr bwMode="auto">
            <a:xfrm>
              <a:off x="7527306" y="3733800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87" name="Straight Arrow Connector 386"/>
            <p:cNvCxnSpPr/>
            <p:nvPr/>
          </p:nvCxnSpPr>
          <p:spPr bwMode="auto">
            <a:xfrm flipH="1">
              <a:off x="7007892" y="3814572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384" name="Oval 383"/>
            <p:cNvSpPr/>
            <p:nvPr/>
          </p:nvSpPr>
          <p:spPr bwMode="auto">
            <a:xfrm flipH="1">
              <a:off x="2636520" y="3733800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85" name="Straight Arrow Connector 384"/>
            <p:cNvCxnSpPr>
              <a:cxnSpLocks/>
            </p:cNvCxnSpPr>
            <p:nvPr/>
          </p:nvCxnSpPr>
          <p:spPr bwMode="auto">
            <a:xfrm flipH="1">
              <a:off x="3333741" y="3820668"/>
              <a:ext cx="524528" cy="1524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382" name="Oval 381"/>
            <p:cNvSpPr/>
            <p:nvPr/>
          </p:nvSpPr>
          <p:spPr bwMode="auto">
            <a:xfrm flipH="1">
              <a:off x="3886200" y="3733800"/>
              <a:ext cx="182880" cy="18288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83" name="Straight Arrow Connector 382"/>
            <p:cNvCxnSpPr>
              <a:cxnSpLocks/>
            </p:cNvCxnSpPr>
            <p:nvPr/>
          </p:nvCxnSpPr>
          <p:spPr bwMode="auto">
            <a:xfrm flipV="1">
              <a:off x="2113120" y="3843451"/>
              <a:ext cx="509022" cy="553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grpSp>
          <p:nvGrpSpPr>
            <p:cNvPr id="379" name="Group 378"/>
            <p:cNvGrpSpPr/>
            <p:nvPr/>
          </p:nvGrpSpPr>
          <p:grpSpPr>
            <a:xfrm flipH="1">
              <a:off x="895341" y="3733800"/>
              <a:ext cx="704859" cy="182880"/>
              <a:chOff x="5023098" y="6065520"/>
              <a:chExt cx="704859" cy="182880"/>
            </a:xfrm>
          </p:grpSpPr>
          <p:sp>
            <p:nvSpPr>
              <p:cNvPr id="380" name="Oval 379"/>
              <p:cNvSpPr/>
              <p:nvPr/>
            </p:nvSpPr>
            <p:spPr bwMode="auto">
              <a:xfrm>
                <a:off x="5023098" y="6065520"/>
                <a:ext cx="182880" cy="182880"/>
              </a:xfrm>
              <a:prstGeom prst="ellipse">
                <a:avLst/>
              </a:prstGeom>
              <a:solidFill>
                <a:srgbClr val="FF0000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lg" len="lg"/>
                <a:tailEnd type="none" w="lg" len="lg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tr-TR" sz="4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endParaRPr>
              </a:p>
            </p:txBody>
          </p:sp>
          <p:cxnSp>
            <p:nvCxnSpPr>
              <p:cNvPr id="381" name="Straight Arrow Connector 380"/>
              <p:cNvCxnSpPr>
                <a:cxnSpLocks/>
              </p:cNvCxnSpPr>
              <p:nvPr/>
            </p:nvCxnSpPr>
            <p:spPr bwMode="auto">
              <a:xfrm>
                <a:off x="5200659" y="6169959"/>
                <a:ext cx="527298" cy="12909"/>
              </a:xfrm>
              <a:prstGeom prst="straightConnector1">
                <a:avLst/>
              </a:prstGeom>
              <a:solidFill>
                <a:schemeClr val="accent1"/>
              </a:solidFill>
              <a:ln w="34925" cap="flat" cmpd="sng" algn="ctr">
                <a:solidFill>
                  <a:srgbClr val="FF0000"/>
                </a:solidFill>
                <a:prstDash val="solid"/>
                <a:round/>
                <a:headEnd type="none" w="lg" len="lg"/>
                <a:tailEnd type="triangle" w="lg" len="lg"/>
              </a:ln>
              <a:effectLst/>
            </p:spPr>
          </p:cxnSp>
        </p:grpSp>
        <p:cxnSp>
          <p:nvCxnSpPr>
            <p:cNvPr id="1332" name="Straight Arrow Connector 1331"/>
            <p:cNvCxnSpPr>
              <a:cxnSpLocks/>
            </p:cNvCxnSpPr>
            <p:nvPr/>
          </p:nvCxnSpPr>
          <p:spPr bwMode="auto">
            <a:xfrm flipH="1">
              <a:off x="5772141" y="3822690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334" name="Straight Arrow Connector 1333"/>
            <p:cNvCxnSpPr/>
            <p:nvPr/>
          </p:nvCxnSpPr>
          <p:spPr bwMode="auto">
            <a:xfrm flipV="1">
              <a:off x="609600" y="4440936"/>
              <a:ext cx="8153400" cy="9144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1335" name="Straight Connector 1334"/>
            <p:cNvCxnSpPr/>
            <p:nvPr/>
          </p:nvCxnSpPr>
          <p:spPr bwMode="auto">
            <a:xfrm>
              <a:off x="51816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36" name="Straight Connector 1335"/>
            <p:cNvCxnSpPr/>
            <p:nvPr/>
          </p:nvCxnSpPr>
          <p:spPr bwMode="auto">
            <a:xfrm>
              <a:off x="21336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37" name="Straight Connector 1336"/>
            <p:cNvCxnSpPr/>
            <p:nvPr/>
          </p:nvCxnSpPr>
          <p:spPr bwMode="auto">
            <a:xfrm>
              <a:off x="27432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38" name="Straight Connector 1337"/>
            <p:cNvCxnSpPr/>
            <p:nvPr/>
          </p:nvCxnSpPr>
          <p:spPr bwMode="auto">
            <a:xfrm>
              <a:off x="33528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39" name="Straight Connector 1338"/>
            <p:cNvCxnSpPr/>
            <p:nvPr/>
          </p:nvCxnSpPr>
          <p:spPr bwMode="auto">
            <a:xfrm>
              <a:off x="39624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0" name="Straight Connector 1339"/>
            <p:cNvCxnSpPr/>
            <p:nvPr/>
          </p:nvCxnSpPr>
          <p:spPr bwMode="auto">
            <a:xfrm>
              <a:off x="45720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1" name="Straight Connector 1340"/>
            <p:cNvCxnSpPr/>
            <p:nvPr/>
          </p:nvCxnSpPr>
          <p:spPr bwMode="auto">
            <a:xfrm>
              <a:off x="9144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2" name="Straight Connector 1341"/>
            <p:cNvCxnSpPr/>
            <p:nvPr/>
          </p:nvCxnSpPr>
          <p:spPr bwMode="auto">
            <a:xfrm>
              <a:off x="15240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3" name="Straight Connector 1342"/>
            <p:cNvCxnSpPr/>
            <p:nvPr/>
          </p:nvCxnSpPr>
          <p:spPr bwMode="auto">
            <a:xfrm>
              <a:off x="21336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4" name="Straight Connector 1343"/>
            <p:cNvCxnSpPr/>
            <p:nvPr/>
          </p:nvCxnSpPr>
          <p:spPr bwMode="auto">
            <a:xfrm>
              <a:off x="76200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5" name="Straight Connector 1344"/>
            <p:cNvCxnSpPr/>
            <p:nvPr/>
          </p:nvCxnSpPr>
          <p:spPr bwMode="auto">
            <a:xfrm>
              <a:off x="82296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6" name="Straight Connector 1345"/>
            <p:cNvCxnSpPr/>
            <p:nvPr/>
          </p:nvCxnSpPr>
          <p:spPr bwMode="auto">
            <a:xfrm>
              <a:off x="5791199" y="436675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7" name="Straight Connector 1346"/>
            <p:cNvCxnSpPr/>
            <p:nvPr/>
          </p:nvCxnSpPr>
          <p:spPr bwMode="auto">
            <a:xfrm>
              <a:off x="6400799" y="436675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8" name="Straight Connector 1347"/>
            <p:cNvCxnSpPr/>
            <p:nvPr/>
          </p:nvCxnSpPr>
          <p:spPr bwMode="auto">
            <a:xfrm>
              <a:off x="7010399" y="436675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9" name="Straight Connector 1348"/>
            <p:cNvCxnSpPr/>
            <p:nvPr/>
          </p:nvCxnSpPr>
          <p:spPr bwMode="auto">
            <a:xfrm>
              <a:off x="7010399" y="436675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sp>
          <p:nvSpPr>
            <p:cNvPr id="1350" name="Oval 1349"/>
            <p:cNvSpPr/>
            <p:nvPr/>
          </p:nvSpPr>
          <p:spPr bwMode="auto">
            <a:xfrm>
              <a:off x="7527044" y="4343400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51" name="Straight Arrow Connector 1350"/>
            <p:cNvCxnSpPr>
              <a:cxnSpLocks/>
            </p:cNvCxnSpPr>
            <p:nvPr/>
          </p:nvCxnSpPr>
          <p:spPr bwMode="auto">
            <a:xfrm>
              <a:off x="6437208" y="4449764"/>
              <a:ext cx="627258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352" name="Oval 1351"/>
            <p:cNvSpPr/>
            <p:nvPr/>
          </p:nvSpPr>
          <p:spPr bwMode="auto">
            <a:xfrm>
              <a:off x="6301045" y="4354068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1355" name="Oval 1354"/>
            <p:cNvSpPr/>
            <p:nvPr/>
          </p:nvSpPr>
          <p:spPr bwMode="auto">
            <a:xfrm flipH="1">
              <a:off x="3869575" y="4354068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56" name="Straight Arrow Connector 1355"/>
            <p:cNvCxnSpPr/>
            <p:nvPr/>
          </p:nvCxnSpPr>
          <p:spPr bwMode="auto">
            <a:xfrm>
              <a:off x="5234245" y="4440936"/>
              <a:ext cx="524528" cy="1524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357" name="Oval 1356"/>
            <p:cNvSpPr/>
            <p:nvPr/>
          </p:nvSpPr>
          <p:spPr bwMode="auto">
            <a:xfrm flipH="1">
              <a:off x="5081845" y="4354068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58" name="Straight Arrow Connector 1357"/>
            <p:cNvCxnSpPr>
              <a:cxnSpLocks/>
            </p:cNvCxnSpPr>
            <p:nvPr/>
          </p:nvCxnSpPr>
          <p:spPr bwMode="auto">
            <a:xfrm flipH="1" flipV="1">
              <a:off x="4033396" y="4450080"/>
              <a:ext cx="509022" cy="457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sp>
          <p:nvSpPr>
            <p:cNvPr id="1360" name="Oval 1359"/>
            <p:cNvSpPr/>
            <p:nvPr/>
          </p:nvSpPr>
          <p:spPr bwMode="auto">
            <a:xfrm flipH="1">
              <a:off x="2650375" y="4354068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61" name="Straight Arrow Connector 1360"/>
            <p:cNvCxnSpPr/>
            <p:nvPr/>
          </p:nvCxnSpPr>
          <p:spPr bwMode="auto">
            <a:xfrm>
              <a:off x="2833255" y="4445508"/>
              <a:ext cx="527298" cy="10668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362" name="Straight Arrow Connector 1361"/>
            <p:cNvCxnSpPr/>
            <p:nvPr/>
          </p:nvCxnSpPr>
          <p:spPr bwMode="auto">
            <a:xfrm>
              <a:off x="7709924" y="4442958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363" name="Oval 1362"/>
            <p:cNvSpPr/>
            <p:nvPr/>
          </p:nvSpPr>
          <p:spPr bwMode="auto">
            <a:xfrm flipH="1">
              <a:off x="1417320" y="4343400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64" name="Straight Arrow Connector 1363"/>
            <p:cNvCxnSpPr>
              <a:cxnSpLocks/>
            </p:cNvCxnSpPr>
            <p:nvPr/>
          </p:nvCxnSpPr>
          <p:spPr bwMode="auto">
            <a:xfrm flipH="1" flipV="1">
              <a:off x="1581141" y="4439412"/>
              <a:ext cx="509022" cy="457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sp>
          <p:nvSpPr>
            <p:cNvPr id="1367" name="TextBox 1366"/>
            <p:cNvSpPr txBox="1"/>
            <p:nvPr/>
          </p:nvSpPr>
          <p:spPr>
            <a:xfrm>
              <a:off x="4397840" y="38817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0</a:t>
              </a:r>
            </a:p>
          </p:txBody>
        </p:sp>
        <p:sp>
          <p:nvSpPr>
            <p:cNvPr id="1368" name="TextBox 1367"/>
            <p:cNvSpPr txBox="1"/>
            <p:nvPr/>
          </p:nvSpPr>
          <p:spPr>
            <a:xfrm>
              <a:off x="5670013" y="3881735"/>
              <a:ext cx="26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1</a:t>
              </a:r>
            </a:p>
          </p:txBody>
        </p:sp>
        <p:sp>
          <p:nvSpPr>
            <p:cNvPr id="1369" name="TextBox 1368"/>
            <p:cNvSpPr txBox="1"/>
            <p:nvPr/>
          </p:nvSpPr>
          <p:spPr>
            <a:xfrm>
              <a:off x="6880689" y="3881735"/>
              <a:ext cx="26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2</a:t>
              </a:r>
            </a:p>
          </p:txBody>
        </p:sp>
        <p:sp>
          <p:nvSpPr>
            <p:cNvPr id="1370" name="TextBox 1369"/>
            <p:cNvSpPr txBox="1"/>
            <p:nvPr/>
          </p:nvSpPr>
          <p:spPr>
            <a:xfrm>
              <a:off x="3141077" y="3881735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-1</a:t>
              </a:r>
            </a:p>
          </p:txBody>
        </p:sp>
        <p:sp>
          <p:nvSpPr>
            <p:cNvPr id="1371" name="TextBox 1370"/>
            <p:cNvSpPr txBox="1"/>
            <p:nvPr/>
          </p:nvSpPr>
          <p:spPr>
            <a:xfrm>
              <a:off x="1840033" y="3881735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-2</a:t>
              </a:r>
            </a:p>
          </p:txBody>
        </p:sp>
        <p:sp>
          <p:nvSpPr>
            <p:cNvPr id="1372" name="TextBox 1371"/>
            <p:cNvSpPr txBox="1"/>
            <p:nvPr/>
          </p:nvSpPr>
          <p:spPr>
            <a:xfrm>
              <a:off x="685800" y="3881735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-3</a:t>
              </a:r>
            </a:p>
          </p:txBody>
        </p:sp>
        <p:sp>
          <p:nvSpPr>
            <p:cNvPr id="1373" name="TextBox 1372"/>
            <p:cNvSpPr txBox="1"/>
            <p:nvPr/>
          </p:nvSpPr>
          <p:spPr>
            <a:xfrm>
              <a:off x="8011654" y="38817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3</a:t>
              </a:r>
            </a:p>
          </p:txBody>
        </p:sp>
      </p:grpSp>
      <p:sp>
        <p:nvSpPr>
          <p:cNvPr id="235" name="TextBox 234"/>
          <p:cNvSpPr txBox="1"/>
          <p:nvPr/>
        </p:nvSpPr>
        <p:spPr>
          <a:xfrm>
            <a:off x="1191829" y="2039219"/>
            <a:ext cx="671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FF0000"/>
                </a:solidFill>
                <a:latin typeface="+mn-lt"/>
              </a:rPr>
              <a:t>-2.5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452220" y="2039074"/>
            <a:ext cx="671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0070C0"/>
                </a:solidFill>
                <a:latin typeface="+mn-lt"/>
              </a:rPr>
              <a:t>-1.5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671421" y="2039074"/>
            <a:ext cx="671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FF0000"/>
                </a:solidFill>
                <a:latin typeface="+mn-lt"/>
              </a:rPr>
              <a:t>-0.5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908999" y="2039074"/>
            <a:ext cx="577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0070C0"/>
                </a:solidFill>
                <a:latin typeface="+mn-lt"/>
              </a:rPr>
              <a:t>0.5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128198" y="2039074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FF0000"/>
                </a:solidFill>
                <a:latin typeface="+mn-lt"/>
              </a:rPr>
              <a:t>1.5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47398" y="2039074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0070C0"/>
                </a:solidFill>
                <a:latin typeface="+mn-lt"/>
              </a:rPr>
              <a:t>2.5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D82257-D7EE-E3A4-95E9-00E19EEDDDB7}"/>
              </a:ext>
            </a:extLst>
          </p:cNvPr>
          <p:cNvSpPr/>
          <p:nvPr/>
        </p:nvSpPr>
        <p:spPr>
          <a:xfrm>
            <a:off x="704859" y="4206071"/>
            <a:ext cx="8185642" cy="1695026"/>
          </a:xfrm>
          <a:prstGeom prst="rect">
            <a:avLst/>
          </a:prstGeom>
        </p:spPr>
        <p:txBody>
          <a:bodyPr wrap="square">
            <a:normAutofit fontScale="85000" lnSpcReduction="20000"/>
          </a:bodyPr>
          <a:lstStyle/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Each value is rounded to the closest number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Midway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values are rounded to the closest number towards −INFINITY direction 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This mode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 does not affect the variance of the data and but decreases the mean </a:t>
            </a:r>
            <a:r>
              <a:rPr lang="en-US" sz="2400" dirty="0">
                <a:latin typeface="+mn-lt"/>
              </a:rPr>
              <a:t>of the numbers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latin typeface="+mn-lt"/>
              </a:rPr>
              <a:t> </a:t>
            </a:r>
          </a:p>
          <a:p>
            <a:pPr marL="342900" indent="-342900" algn="l">
              <a:buFont typeface="Arial" charset="0"/>
              <a:buChar char="•"/>
            </a:pPr>
            <a:endParaRPr lang="tr-TR" sz="2400" dirty="0">
              <a:latin typeface="+mn-lt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6A57A71-A674-CBFE-D316-CEAE37DCD359}"/>
              </a:ext>
            </a:extLst>
          </p:cNvPr>
          <p:cNvCxnSpPr/>
          <p:nvPr/>
        </p:nvCxnSpPr>
        <p:spPr bwMode="auto">
          <a:xfrm flipH="1">
            <a:off x="8259875" y="3250692"/>
            <a:ext cx="527036" cy="0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rgbClr val="0070C0"/>
            </a:solidFill>
            <a:prstDash val="solid"/>
            <a:round/>
            <a:headEnd type="none" w="lg" len="lg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784637340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584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Rounding: Round up (+</a:t>
            </a:r>
            <a:r>
              <a:rPr lang="en-US" dirty="0">
                <a:sym typeface="Symbol"/>
              </a:rPr>
              <a:t></a:t>
            </a:r>
            <a:r>
              <a:rPr lang="en-US" dirty="0"/>
              <a:t>)</a:t>
            </a:r>
          </a:p>
        </p:txBody>
      </p:sp>
      <p:grpSp>
        <p:nvGrpSpPr>
          <p:cNvPr id="36757" name="Group 36756"/>
          <p:cNvGrpSpPr/>
          <p:nvPr/>
        </p:nvGrpSpPr>
        <p:grpSpPr>
          <a:xfrm>
            <a:off x="628659" y="2538984"/>
            <a:ext cx="8153400" cy="813816"/>
            <a:chOff x="609600" y="3723132"/>
            <a:chExt cx="8153400" cy="813816"/>
          </a:xfrm>
        </p:grpSpPr>
        <p:cxnSp>
          <p:nvCxnSpPr>
            <p:cNvPr id="362" name="Straight Arrow Connector 361"/>
            <p:cNvCxnSpPr/>
            <p:nvPr/>
          </p:nvCxnSpPr>
          <p:spPr bwMode="auto">
            <a:xfrm flipV="1">
              <a:off x="609600" y="3820668"/>
              <a:ext cx="8153400" cy="9144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363" name="Straight Connector 362"/>
            <p:cNvCxnSpPr/>
            <p:nvPr/>
          </p:nvCxnSpPr>
          <p:spPr bwMode="auto">
            <a:xfrm>
              <a:off x="51816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4" name="Straight Connector 363"/>
            <p:cNvCxnSpPr/>
            <p:nvPr/>
          </p:nvCxnSpPr>
          <p:spPr bwMode="auto">
            <a:xfrm>
              <a:off x="21336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5" name="Straight Connector 364"/>
            <p:cNvCxnSpPr/>
            <p:nvPr/>
          </p:nvCxnSpPr>
          <p:spPr bwMode="auto">
            <a:xfrm>
              <a:off x="27432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6" name="Straight Connector 365"/>
            <p:cNvCxnSpPr/>
            <p:nvPr/>
          </p:nvCxnSpPr>
          <p:spPr bwMode="auto">
            <a:xfrm>
              <a:off x="33528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7" name="Straight Connector 366"/>
            <p:cNvCxnSpPr/>
            <p:nvPr/>
          </p:nvCxnSpPr>
          <p:spPr bwMode="auto">
            <a:xfrm>
              <a:off x="39624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8" name="Straight Connector 367"/>
            <p:cNvCxnSpPr/>
            <p:nvPr/>
          </p:nvCxnSpPr>
          <p:spPr bwMode="auto">
            <a:xfrm>
              <a:off x="45720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9" name="Straight Connector 368"/>
            <p:cNvCxnSpPr/>
            <p:nvPr/>
          </p:nvCxnSpPr>
          <p:spPr bwMode="auto">
            <a:xfrm>
              <a:off x="9144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70" name="Straight Connector 369"/>
            <p:cNvCxnSpPr/>
            <p:nvPr/>
          </p:nvCxnSpPr>
          <p:spPr bwMode="auto">
            <a:xfrm>
              <a:off x="15240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71" name="Straight Connector 370"/>
            <p:cNvCxnSpPr/>
            <p:nvPr/>
          </p:nvCxnSpPr>
          <p:spPr bwMode="auto">
            <a:xfrm>
              <a:off x="21336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72" name="Straight Connector 371"/>
            <p:cNvCxnSpPr/>
            <p:nvPr/>
          </p:nvCxnSpPr>
          <p:spPr bwMode="auto">
            <a:xfrm>
              <a:off x="76200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73" name="Straight Connector 372"/>
            <p:cNvCxnSpPr/>
            <p:nvPr/>
          </p:nvCxnSpPr>
          <p:spPr bwMode="auto">
            <a:xfrm>
              <a:off x="82296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90" name="Straight Connector 389"/>
            <p:cNvCxnSpPr/>
            <p:nvPr/>
          </p:nvCxnSpPr>
          <p:spPr bwMode="auto">
            <a:xfrm>
              <a:off x="5791199" y="374649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91" name="Straight Connector 390"/>
            <p:cNvCxnSpPr/>
            <p:nvPr/>
          </p:nvCxnSpPr>
          <p:spPr bwMode="auto">
            <a:xfrm>
              <a:off x="6400799" y="374649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92" name="Straight Connector 391"/>
            <p:cNvCxnSpPr/>
            <p:nvPr/>
          </p:nvCxnSpPr>
          <p:spPr bwMode="auto">
            <a:xfrm>
              <a:off x="7010399" y="374649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93" name="Straight Connector 392"/>
            <p:cNvCxnSpPr/>
            <p:nvPr/>
          </p:nvCxnSpPr>
          <p:spPr bwMode="auto">
            <a:xfrm>
              <a:off x="7010399" y="374649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sp>
          <p:nvSpPr>
            <p:cNvPr id="394" name="Oval 393"/>
            <p:cNvSpPr/>
            <p:nvPr/>
          </p:nvSpPr>
          <p:spPr bwMode="auto">
            <a:xfrm>
              <a:off x="6294120" y="3723132"/>
              <a:ext cx="182880" cy="18288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95" name="Straight Arrow Connector 394"/>
            <p:cNvCxnSpPr>
              <a:cxnSpLocks/>
            </p:cNvCxnSpPr>
            <p:nvPr/>
          </p:nvCxnSpPr>
          <p:spPr bwMode="auto">
            <a:xfrm>
              <a:off x="5240142" y="3829496"/>
              <a:ext cx="627258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388" name="Oval 387"/>
            <p:cNvSpPr/>
            <p:nvPr/>
          </p:nvSpPr>
          <p:spPr bwMode="auto">
            <a:xfrm>
              <a:off x="5105400" y="3733800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386" name="Oval 385"/>
            <p:cNvSpPr/>
            <p:nvPr/>
          </p:nvSpPr>
          <p:spPr bwMode="auto">
            <a:xfrm>
              <a:off x="7527306" y="3733800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87" name="Straight Arrow Connector 386"/>
            <p:cNvCxnSpPr>
              <a:cxnSpLocks/>
            </p:cNvCxnSpPr>
            <p:nvPr/>
          </p:nvCxnSpPr>
          <p:spPr bwMode="auto">
            <a:xfrm>
              <a:off x="7693692" y="3814572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384" name="Oval 383"/>
            <p:cNvSpPr/>
            <p:nvPr/>
          </p:nvSpPr>
          <p:spPr bwMode="auto">
            <a:xfrm flipH="1">
              <a:off x="2636520" y="3733800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85" name="Straight Arrow Connector 384"/>
            <p:cNvCxnSpPr>
              <a:cxnSpLocks/>
            </p:cNvCxnSpPr>
            <p:nvPr/>
          </p:nvCxnSpPr>
          <p:spPr bwMode="auto">
            <a:xfrm>
              <a:off x="4019541" y="3820668"/>
              <a:ext cx="524528" cy="1524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382" name="Oval 381"/>
            <p:cNvSpPr/>
            <p:nvPr/>
          </p:nvSpPr>
          <p:spPr bwMode="auto">
            <a:xfrm flipH="1">
              <a:off x="3886200" y="3733800"/>
              <a:ext cx="182880" cy="18288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83" name="Straight Arrow Connector 382"/>
            <p:cNvCxnSpPr>
              <a:cxnSpLocks/>
            </p:cNvCxnSpPr>
            <p:nvPr/>
          </p:nvCxnSpPr>
          <p:spPr bwMode="auto">
            <a:xfrm flipH="1" flipV="1">
              <a:off x="2798920" y="3843451"/>
              <a:ext cx="509022" cy="553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grpSp>
          <p:nvGrpSpPr>
            <p:cNvPr id="379" name="Group 378"/>
            <p:cNvGrpSpPr/>
            <p:nvPr/>
          </p:nvGrpSpPr>
          <p:grpSpPr>
            <a:xfrm flipH="1">
              <a:off x="1417320" y="3733800"/>
              <a:ext cx="691119" cy="182880"/>
              <a:chOff x="4514859" y="6065520"/>
              <a:chExt cx="691119" cy="182880"/>
            </a:xfrm>
          </p:grpSpPr>
          <p:sp>
            <p:nvSpPr>
              <p:cNvPr id="380" name="Oval 379"/>
              <p:cNvSpPr/>
              <p:nvPr/>
            </p:nvSpPr>
            <p:spPr bwMode="auto">
              <a:xfrm>
                <a:off x="5023098" y="6065520"/>
                <a:ext cx="182880" cy="182880"/>
              </a:xfrm>
              <a:prstGeom prst="ellipse">
                <a:avLst/>
              </a:prstGeom>
              <a:solidFill>
                <a:srgbClr val="FF0000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lg" len="lg"/>
                <a:tailEnd type="none" w="lg" len="lg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tr-TR" sz="4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endParaRPr>
              </a:p>
            </p:txBody>
          </p:sp>
          <p:cxnSp>
            <p:nvCxnSpPr>
              <p:cNvPr id="381" name="Straight Arrow Connector 380"/>
              <p:cNvCxnSpPr>
                <a:cxnSpLocks/>
              </p:cNvCxnSpPr>
              <p:nvPr/>
            </p:nvCxnSpPr>
            <p:spPr bwMode="auto">
              <a:xfrm flipH="1">
                <a:off x="4514859" y="6169959"/>
                <a:ext cx="527298" cy="12909"/>
              </a:xfrm>
              <a:prstGeom prst="straightConnector1">
                <a:avLst/>
              </a:prstGeom>
              <a:solidFill>
                <a:schemeClr val="accent1"/>
              </a:solidFill>
              <a:ln w="34925" cap="flat" cmpd="sng" algn="ctr">
                <a:solidFill>
                  <a:srgbClr val="FF0000"/>
                </a:solidFill>
                <a:prstDash val="solid"/>
                <a:round/>
                <a:headEnd type="none" w="lg" len="lg"/>
                <a:tailEnd type="triangle" w="lg" len="lg"/>
              </a:ln>
              <a:effectLst/>
            </p:spPr>
          </p:cxnSp>
        </p:grpSp>
        <p:cxnSp>
          <p:nvCxnSpPr>
            <p:cNvPr id="1332" name="Straight Arrow Connector 1331"/>
            <p:cNvCxnSpPr>
              <a:cxnSpLocks/>
            </p:cNvCxnSpPr>
            <p:nvPr/>
          </p:nvCxnSpPr>
          <p:spPr bwMode="auto">
            <a:xfrm>
              <a:off x="6457941" y="3822690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334" name="Straight Arrow Connector 1333"/>
            <p:cNvCxnSpPr/>
            <p:nvPr/>
          </p:nvCxnSpPr>
          <p:spPr bwMode="auto">
            <a:xfrm flipV="1">
              <a:off x="609600" y="4440936"/>
              <a:ext cx="8153400" cy="9144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1335" name="Straight Connector 1334"/>
            <p:cNvCxnSpPr/>
            <p:nvPr/>
          </p:nvCxnSpPr>
          <p:spPr bwMode="auto">
            <a:xfrm>
              <a:off x="51816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36" name="Straight Connector 1335"/>
            <p:cNvCxnSpPr/>
            <p:nvPr/>
          </p:nvCxnSpPr>
          <p:spPr bwMode="auto">
            <a:xfrm>
              <a:off x="21336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37" name="Straight Connector 1336"/>
            <p:cNvCxnSpPr/>
            <p:nvPr/>
          </p:nvCxnSpPr>
          <p:spPr bwMode="auto">
            <a:xfrm>
              <a:off x="27432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38" name="Straight Connector 1337"/>
            <p:cNvCxnSpPr/>
            <p:nvPr/>
          </p:nvCxnSpPr>
          <p:spPr bwMode="auto">
            <a:xfrm>
              <a:off x="33528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39" name="Straight Connector 1338"/>
            <p:cNvCxnSpPr/>
            <p:nvPr/>
          </p:nvCxnSpPr>
          <p:spPr bwMode="auto">
            <a:xfrm>
              <a:off x="39624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0" name="Straight Connector 1339"/>
            <p:cNvCxnSpPr/>
            <p:nvPr/>
          </p:nvCxnSpPr>
          <p:spPr bwMode="auto">
            <a:xfrm>
              <a:off x="45720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1" name="Straight Connector 1340"/>
            <p:cNvCxnSpPr/>
            <p:nvPr/>
          </p:nvCxnSpPr>
          <p:spPr bwMode="auto">
            <a:xfrm>
              <a:off x="9144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2" name="Straight Connector 1341"/>
            <p:cNvCxnSpPr/>
            <p:nvPr/>
          </p:nvCxnSpPr>
          <p:spPr bwMode="auto">
            <a:xfrm>
              <a:off x="15240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3" name="Straight Connector 1342"/>
            <p:cNvCxnSpPr/>
            <p:nvPr/>
          </p:nvCxnSpPr>
          <p:spPr bwMode="auto">
            <a:xfrm>
              <a:off x="21336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4" name="Straight Connector 1343"/>
            <p:cNvCxnSpPr/>
            <p:nvPr/>
          </p:nvCxnSpPr>
          <p:spPr bwMode="auto">
            <a:xfrm>
              <a:off x="76200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5" name="Straight Connector 1344"/>
            <p:cNvCxnSpPr/>
            <p:nvPr/>
          </p:nvCxnSpPr>
          <p:spPr bwMode="auto">
            <a:xfrm>
              <a:off x="82296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6" name="Straight Connector 1345"/>
            <p:cNvCxnSpPr/>
            <p:nvPr/>
          </p:nvCxnSpPr>
          <p:spPr bwMode="auto">
            <a:xfrm>
              <a:off x="5791199" y="436675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7" name="Straight Connector 1346"/>
            <p:cNvCxnSpPr/>
            <p:nvPr/>
          </p:nvCxnSpPr>
          <p:spPr bwMode="auto">
            <a:xfrm>
              <a:off x="6400799" y="436675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8" name="Straight Connector 1347"/>
            <p:cNvCxnSpPr/>
            <p:nvPr/>
          </p:nvCxnSpPr>
          <p:spPr bwMode="auto">
            <a:xfrm>
              <a:off x="7010399" y="436675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9" name="Straight Connector 1348"/>
            <p:cNvCxnSpPr/>
            <p:nvPr/>
          </p:nvCxnSpPr>
          <p:spPr bwMode="auto">
            <a:xfrm>
              <a:off x="7010399" y="436675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sp>
          <p:nvSpPr>
            <p:cNvPr id="1350" name="Oval 1349"/>
            <p:cNvSpPr/>
            <p:nvPr/>
          </p:nvSpPr>
          <p:spPr bwMode="auto">
            <a:xfrm>
              <a:off x="7527044" y="4343400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51" name="Straight Arrow Connector 1350"/>
            <p:cNvCxnSpPr>
              <a:cxnSpLocks/>
            </p:cNvCxnSpPr>
            <p:nvPr/>
          </p:nvCxnSpPr>
          <p:spPr bwMode="auto">
            <a:xfrm flipH="1">
              <a:off x="5751408" y="4449764"/>
              <a:ext cx="627258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352" name="Oval 1351"/>
            <p:cNvSpPr/>
            <p:nvPr/>
          </p:nvSpPr>
          <p:spPr bwMode="auto">
            <a:xfrm>
              <a:off x="6301045" y="4354068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1355" name="Oval 1354"/>
            <p:cNvSpPr/>
            <p:nvPr/>
          </p:nvSpPr>
          <p:spPr bwMode="auto">
            <a:xfrm flipH="1">
              <a:off x="3869575" y="4354068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56" name="Straight Arrow Connector 1355"/>
            <p:cNvCxnSpPr>
              <a:cxnSpLocks/>
            </p:cNvCxnSpPr>
            <p:nvPr/>
          </p:nvCxnSpPr>
          <p:spPr bwMode="auto">
            <a:xfrm flipH="1">
              <a:off x="4548445" y="4440936"/>
              <a:ext cx="524528" cy="1524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357" name="Oval 1356"/>
            <p:cNvSpPr/>
            <p:nvPr/>
          </p:nvSpPr>
          <p:spPr bwMode="auto">
            <a:xfrm flipH="1">
              <a:off x="5081845" y="4354068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58" name="Straight Arrow Connector 1357"/>
            <p:cNvCxnSpPr>
              <a:cxnSpLocks/>
            </p:cNvCxnSpPr>
            <p:nvPr/>
          </p:nvCxnSpPr>
          <p:spPr bwMode="auto">
            <a:xfrm flipV="1">
              <a:off x="3347596" y="4450080"/>
              <a:ext cx="509022" cy="457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sp>
          <p:nvSpPr>
            <p:cNvPr id="1360" name="Oval 1359"/>
            <p:cNvSpPr/>
            <p:nvPr/>
          </p:nvSpPr>
          <p:spPr bwMode="auto">
            <a:xfrm flipH="1">
              <a:off x="2650375" y="4354068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61" name="Straight Arrow Connector 1360"/>
            <p:cNvCxnSpPr>
              <a:cxnSpLocks/>
            </p:cNvCxnSpPr>
            <p:nvPr/>
          </p:nvCxnSpPr>
          <p:spPr bwMode="auto">
            <a:xfrm flipH="1">
              <a:off x="2147455" y="4445508"/>
              <a:ext cx="527298" cy="10668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362" name="Straight Arrow Connector 1361"/>
            <p:cNvCxnSpPr>
              <a:cxnSpLocks/>
            </p:cNvCxnSpPr>
            <p:nvPr/>
          </p:nvCxnSpPr>
          <p:spPr bwMode="auto">
            <a:xfrm flipH="1">
              <a:off x="7024124" y="4442958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363" name="Oval 1362"/>
            <p:cNvSpPr/>
            <p:nvPr/>
          </p:nvSpPr>
          <p:spPr bwMode="auto">
            <a:xfrm flipH="1">
              <a:off x="1417320" y="4343400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64" name="Straight Arrow Connector 1363"/>
            <p:cNvCxnSpPr>
              <a:cxnSpLocks/>
            </p:cNvCxnSpPr>
            <p:nvPr/>
          </p:nvCxnSpPr>
          <p:spPr bwMode="auto">
            <a:xfrm flipV="1">
              <a:off x="895341" y="4439412"/>
              <a:ext cx="509022" cy="457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sp>
          <p:nvSpPr>
            <p:cNvPr id="1367" name="TextBox 1366"/>
            <p:cNvSpPr txBox="1"/>
            <p:nvPr/>
          </p:nvSpPr>
          <p:spPr>
            <a:xfrm>
              <a:off x="4397840" y="38817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0</a:t>
              </a:r>
            </a:p>
          </p:txBody>
        </p:sp>
        <p:sp>
          <p:nvSpPr>
            <p:cNvPr id="1368" name="TextBox 1367"/>
            <p:cNvSpPr txBox="1"/>
            <p:nvPr/>
          </p:nvSpPr>
          <p:spPr>
            <a:xfrm>
              <a:off x="5670013" y="3881735"/>
              <a:ext cx="26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1</a:t>
              </a:r>
            </a:p>
          </p:txBody>
        </p:sp>
        <p:sp>
          <p:nvSpPr>
            <p:cNvPr id="1369" name="TextBox 1368"/>
            <p:cNvSpPr txBox="1"/>
            <p:nvPr/>
          </p:nvSpPr>
          <p:spPr>
            <a:xfrm>
              <a:off x="6880689" y="3881735"/>
              <a:ext cx="26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2</a:t>
              </a:r>
            </a:p>
          </p:txBody>
        </p:sp>
        <p:sp>
          <p:nvSpPr>
            <p:cNvPr id="1370" name="TextBox 1369"/>
            <p:cNvSpPr txBox="1"/>
            <p:nvPr/>
          </p:nvSpPr>
          <p:spPr>
            <a:xfrm>
              <a:off x="3141077" y="3881735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-1</a:t>
              </a:r>
            </a:p>
          </p:txBody>
        </p:sp>
        <p:sp>
          <p:nvSpPr>
            <p:cNvPr id="1371" name="TextBox 1370"/>
            <p:cNvSpPr txBox="1"/>
            <p:nvPr/>
          </p:nvSpPr>
          <p:spPr>
            <a:xfrm>
              <a:off x="1840033" y="3881735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-2</a:t>
              </a:r>
            </a:p>
          </p:txBody>
        </p:sp>
        <p:sp>
          <p:nvSpPr>
            <p:cNvPr id="1372" name="TextBox 1371"/>
            <p:cNvSpPr txBox="1"/>
            <p:nvPr/>
          </p:nvSpPr>
          <p:spPr>
            <a:xfrm>
              <a:off x="685800" y="3881735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-3</a:t>
              </a:r>
            </a:p>
          </p:txBody>
        </p:sp>
        <p:sp>
          <p:nvSpPr>
            <p:cNvPr id="1373" name="TextBox 1372"/>
            <p:cNvSpPr txBox="1"/>
            <p:nvPr/>
          </p:nvSpPr>
          <p:spPr>
            <a:xfrm>
              <a:off x="8011654" y="38817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3</a:t>
              </a:r>
            </a:p>
          </p:txBody>
        </p:sp>
      </p:grpSp>
      <p:sp>
        <p:nvSpPr>
          <p:cNvPr id="235" name="TextBox 234"/>
          <p:cNvSpPr txBox="1"/>
          <p:nvPr/>
        </p:nvSpPr>
        <p:spPr>
          <a:xfrm>
            <a:off x="1191829" y="2039219"/>
            <a:ext cx="671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FF0000"/>
                </a:solidFill>
                <a:latin typeface="+mn-lt"/>
              </a:rPr>
              <a:t>-2.5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452220" y="2039074"/>
            <a:ext cx="671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0070C0"/>
                </a:solidFill>
                <a:latin typeface="+mn-lt"/>
              </a:rPr>
              <a:t>-1.5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671421" y="2039074"/>
            <a:ext cx="671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FF0000"/>
                </a:solidFill>
                <a:latin typeface="+mn-lt"/>
              </a:rPr>
              <a:t>-0.5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908999" y="2039074"/>
            <a:ext cx="577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0070C0"/>
                </a:solidFill>
                <a:latin typeface="+mn-lt"/>
              </a:rPr>
              <a:t>0.5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128198" y="2039074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FF0000"/>
                </a:solidFill>
                <a:latin typeface="+mn-lt"/>
              </a:rPr>
              <a:t>1.5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47398" y="2039074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0070C0"/>
                </a:solidFill>
                <a:latin typeface="+mn-lt"/>
              </a:rPr>
              <a:t>2.5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D82257-D7EE-E3A4-95E9-00E19EEDDDB7}"/>
              </a:ext>
            </a:extLst>
          </p:cNvPr>
          <p:cNvSpPr/>
          <p:nvPr/>
        </p:nvSpPr>
        <p:spPr>
          <a:xfrm>
            <a:off x="704859" y="4206071"/>
            <a:ext cx="8185642" cy="1695026"/>
          </a:xfrm>
          <a:prstGeom prst="rect">
            <a:avLst/>
          </a:prstGeom>
        </p:spPr>
        <p:txBody>
          <a:bodyPr wrap="square">
            <a:normAutofit fontScale="85000" lnSpcReduction="20000"/>
          </a:bodyPr>
          <a:lstStyle/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Each value is rounded to the closest number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Midway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values are rounded to the closest number towards +INFINITY direction 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This mode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 does not affect the variance of the data and but increases the mean </a:t>
            </a:r>
            <a:r>
              <a:rPr lang="en-US" sz="2400" dirty="0">
                <a:latin typeface="+mn-lt"/>
              </a:rPr>
              <a:t>of the numbers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latin typeface="+mn-lt"/>
              </a:rPr>
              <a:t> </a:t>
            </a:r>
          </a:p>
          <a:p>
            <a:pPr marL="342900" indent="-342900" algn="l">
              <a:buFont typeface="Arial" charset="0"/>
              <a:buChar char="•"/>
            </a:pPr>
            <a:endParaRPr lang="tr-TR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503276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584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Rounding: Nearest Even</a:t>
            </a:r>
          </a:p>
        </p:txBody>
      </p:sp>
      <p:grpSp>
        <p:nvGrpSpPr>
          <p:cNvPr id="36757" name="Group 36756"/>
          <p:cNvGrpSpPr/>
          <p:nvPr/>
        </p:nvGrpSpPr>
        <p:grpSpPr>
          <a:xfrm>
            <a:off x="628659" y="2538984"/>
            <a:ext cx="8153400" cy="813816"/>
            <a:chOff x="609600" y="3723132"/>
            <a:chExt cx="8153400" cy="813816"/>
          </a:xfrm>
        </p:grpSpPr>
        <p:cxnSp>
          <p:nvCxnSpPr>
            <p:cNvPr id="362" name="Straight Arrow Connector 361"/>
            <p:cNvCxnSpPr/>
            <p:nvPr/>
          </p:nvCxnSpPr>
          <p:spPr bwMode="auto">
            <a:xfrm flipV="1">
              <a:off x="609600" y="3820668"/>
              <a:ext cx="8153400" cy="9144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363" name="Straight Connector 362"/>
            <p:cNvCxnSpPr/>
            <p:nvPr/>
          </p:nvCxnSpPr>
          <p:spPr bwMode="auto">
            <a:xfrm>
              <a:off x="51816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4" name="Straight Connector 363"/>
            <p:cNvCxnSpPr/>
            <p:nvPr/>
          </p:nvCxnSpPr>
          <p:spPr bwMode="auto">
            <a:xfrm>
              <a:off x="21336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5" name="Straight Connector 364"/>
            <p:cNvCxnSpPr/>
            <p:nvPr/>
          </p:nvCxnSpPr>
          <p:spPr bwMode="auto">
            <a:xfrm>
              <a:off x="27432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6" name="Straight Connector 365"/>
            <p:cNvCxnSpPr/>
            <p:nvPr/>
          </p:nvCxnSpPr>
          <p:spPr bwMode="auto">
            <a:xfrm>
              <a:off x="33528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7" name="Straight Connector 366"/>
            <p:cNvCxnSpPr/>
            <p:nvPr/>
          </p:nvCxnSpPr>
          <p:spPr bwMode="auto">
            <a:xfrm>
              <a:off x="39624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8" name="Straight Connector 367"/>
            <p:cNvCxnSpPr/>
            <p:nvPr/>
          </p:nvCxnSpPr>
          <p:spPr bwMode="auto">
            <a:xfrm>
              <a:off x="45720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69" name="Straight Connector 368"/>
            <p:cNvCxnSpPr/>
            <p:nvPr/>
          </p:nvCxnSpPr>
          <p:spPr bwMode="auto">
            <a:xfrm>
              <a:off x="9144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70" name="Straight Connector 369"/>
            <p:cNvCxnSpPr/>
            <p:nvPr/>
          </p:nvCxnSpPr>
          <p:spPr bwMode="auto">
            <a:xfrm>
              <a:off x="15240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71" name="Straight Connector 370"/>
            <p:cNvCxnSpPr/>
            <p:nvPr/>
          </p:nvCxnSpPr>
          <p:spPr bwMode="auto">
            <a:xfrm>
              <a:off x="21336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72" name="Straight Connector 371"/>
            <p:cNvCxnSpPr/>
            <p:nvPr/>
          </p:nvCxnSpPr>
          <p:spPr bwMode="auto">
            <a:xfrm>
              <a:off x="76200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73" name="Straight Connector 372"/>
            <p:cNvCxnSpPr/>
            <p:nvPr/>
          </p:nvCxnSpPr>
          <p:spPr bwMode="auto">
            <a:xfrm>
              <a:off x="8229600" y="374904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90" name="Straight Connector 389"/>
            <p:cNvCxnSpPr/>
            <p:nvPr/>
          </p:nvCxnSpPr>
          <p:spPr bwMode="auto">
            <a:xfrm>
              <a:off x="5791199" y="374649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91" name="Straight Connector 390"/>
            <p:cNvCxnSpPr/>
            <p:nvPr/>
          </p:nvCxnSpPr>
          <p:spPr bwMode="auto">
            <a:xfrm>
              <a:off x="6400799" y="374649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92" name="Straight Connector 391"/>
            <p:cNvCxnSpPr/>
            <p:nvPr/>
          </p:nvCxnSpPr>
          <p:spPr bwMode="auto">
            <a:xfrm>
              <a:off x="7010399" y="374649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93" name="Straight Connector 392"/>
            <p:cNvCxnSpPr/>
            <p:nvPr/>
          </p:nvCxnSpPr>
          <p:spPr bwMode="auto">
            <a:xfrm>
              <a:off x="7010399" y="3746490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sp>
          <p:nvSpPr>
            <p:cNvPr id="394" name="Oval 393"/>
            <p:cNvSpPr/>
            <p:nvPr/>
          </p:nvSpPr>
          <p:spPr bwMode="auto">
            <a:xfrm>
              <a:off x="6294120" y="3723132"/>
              <a:ext cx="182880" cy="18288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95" name="Straight Arrow Connector 394"/>
            <p:cNvCxnSpPr/>
            <p:nvPr/>
          </p:nvCxnSpPr>
          <p:spPr bwMode="auto">
            <a:xfrm flipH="1">
              <a:off x="4554342" y="3829496"/>
              <a:ext cx="627258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388" name="Oval 387"/>
            <p:cNvSpPr/>
            <p:nvPr/>
          </p:nvSpPr>
          <p:spPr bwMode="auto">
            <a:xfrm>
              <a:off x="5105400" y="3733800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386" name="Oval 385"/>
            <p:cNvSpPr/>
            <p:nvPr/>
          </p:nvSpPr>
          <p:spPr bwMode="auto">
            <a:xfrm>
              <a:off x="7527306" y="3733800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87" name="Straight Arrow Connector 386"/>
            <p:cNvCxnSpPr/>
            <p:nvPr/>
          </p:nvCxnSpPr>
          <p:spPr bwMode="auto">
            <a:xfrm flipH="1">
              <a:off x="7007892" y="3814572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384" name="Oval 383"/>
            <p:cNvSpPr/>
            <p:nvPr/>
          </p:nvSpPr>
          <p:spPr bwMode="auto">
            <a:xfrm flipH="1">
              <a:off x="2636520" y="3733800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85" name="Straight Arrow Connector 384"/>
            <p:cNvCxnSpPr/>
            <p:nvPr/>
          </p:nvCxnSpPr>
          <p:spPr bwMode="auto">
            <a:xfrm>
              <a:off x="4038600" y="3820668"/>
              <a:ext cx="524528" cy="1524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382" name="Oval 381"/>
            <p:cNvSpPr/>
            <p:nvPr/>
          </p:nvSpPr>
          <p:spPr bwMode="auto">
            <a:xfrm flipH="1">
              <a:off x="3886200" y="3733800"/>
              <a:ext cx="182880" cy="18288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83" name="Straight Arrow Connector 382"/>
            <p:cNvCxnSpPr>
              <a:endCxn id="384" idx="6"/>
            </p:cNvCxnSpPr>
            <p:nvPr/>
          </p:nvCxnSpPr>
          <p:spPr bwMode="auto">
            <a:xfrm flipV="1">
              <a:off x="2113120" y="3829812"/>
              <a:ext cx="509022" cy="457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grpSp>
          <p:nvGrpSpPr>
            <p:cNvPr id="379" name="Group 378"/>
            <p:cNvGrpSpPr/>
            <p:nvPr/>
          </p:nvGrpSpPr>
          <p:grpSpPr>
            <a:xfrm flipH="1">
              <a:off x="1417320" y="3733800"/>
              <a:ext cx="710178" cy="182880"/>
              <a:chOff x="4495800" y="6065520"/>
              <a:chExt cx="710178" cy="182880"/>
            </a:xfrm>
          </p:grpSpPr>
          <p:sp>
            <p:nvSpPr>
              <p:cNvPr id="380" name="Oval 379"/>
              <p:cNvSpPr/>
              <p:nvPr/>
            </p:nvSpPr>
            <p:spPr bwMode="auto">
              <a:xfrm>
                <a:off x="5023098" y="6065520"/>
                <a:ext cx="182880" cy="182880"/>
              </a:xfrm>
              <a:prstGeom prst="ellipse">
                <a:avLst/>
              </a:prstGeom>
              <a:solidFill>
                <a:srgbClr val="FF0000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lg" len="lg"/>
                <a:tailEnd type="none" w="lg" len="lg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tr-TR" sz="4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endParaRPr>
              </a:p>
            </p:txBody>
          </p:sp>
          <p:cxnSp>
            <p:nvCxnSpPr>
              <p:cNvPr id="381" name="Straight Arrow Connector 380"/>
              <p:cNvCxnSpPr>
                <a:stCxn id="380" idx="2"/>
              </p:cNvCxnSpPr>
              <p:nvPr/>
            </p:nvCxnSpPr>
            <p:spPr bwMode="auto">
              <a:xfrm flipH="1">
                <a:off x="4495800" y="6156960"/>
                <a:ext cx="527298" cy="10668"/>
              </a:xfrm>
              <a:prstGeom prst="straightConnector1">
                <a:avLst/>
              </a:prstGeom>
              <a:solidFill>
                <a:schemeClr val="accent1"/>
              </a:solidFill>
              <a:ln w="34925" cap="flat" cmpd="sng" algn="ctr">
                <a:solidFill>
                  <a:srgbClr val="FF0000"/>
                </a:solidFill>
                <a:prstDash val="solid"/>
                <a:round/>
                <a:headEnd type="none" w="lg" len="lg"/>
                <a:tailEnd type="triangle" w="lg" len="lg"/>
              </a:ln>
              <a:effectLst/>
            </p:spPr>
          </p:cxnSp>
        </p:grpSp>
        <p:cxnSp>
          <p:nvCxnSpPr>
            <p:cNvPr id="1332" name="Straight Arrow Connector 1331"/>
            <p:cNvCxnSpPr/>
            <p:nvPr/>
          </p:nvCxnSpPr>
          <p:spPr bwMode="auto">
            <a:xfrm>
              <a:off x="6477000" y="3822690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334" name="Straight Arrow Connector 1333"/>
            <p:cNvCxnSpPr/>
            <p:nvPr/>
          </p:nvCxnSpPr>
          <p:spPr bwMode="auto">
            <a:xfrm flipV="1">
              <a:off x="609600" y="4440936"/>
              <a:ext cx="8153400" cy="9144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1335" name="Straight Connector 1334"/>
            <p:cNvCxnSpPr/>
            <p:nvPr/>
          </p:nvCxnSpPr>
          <p:spPr bwMode="auto">
            <a:xfrm>
              <a:off x="51816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36" name="Straight Connector 1335"/>
            <p:cNvCxnSpPr/>
            <p:nvPr/>
          </p:nvCxnSpPr>
          <p:spPr bwMode="auto">
            <a:xfrm>
              <a:off x="21336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37" name="Straight Connector 1336"/>
            <p:cNvCxnSpPr/>
            <p:nvPr/>
          </p:nvCxnSpPr>
          <p:spPr bwMode="auto">
            <a:xfrm>
              <a:off x="27432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38" name="Straight Connector 1337"/>
            <p:cNvCxnSpPr/>
            <p:nvPr/>
          </p:nvCxnSpPr>
          <p:spPr bwMode="auto">
            <a:xfrm>
              <a:off x="33528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39" name="Straight Connector 1338"/>
            <p:cNvCxnSpPr/>
            <p:nvPr/>
          </p:nvCxnSpPr>
          <p:spPr bwMode="auto">
            <a:xfrm>
              <a:off x="39624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0" name="Straight Connector 1339"/>
            <p:cNvCxnSpPr/>
            <p:nvPr/>
          </p:nvCxnSpPr>
          <p:spPr bwMode="auto">
            <a:xfrm>
              <a:off x="45720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1" name="Straight Connector 1340"/>
            <p:cNvCxnSpPr/>
            <p:nvPr/>
          </p:nvCxnSpPr>
          <p:spPr bwMode="auto">
            <a:xfrm>
              <a:off x="9144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2" name="Straight Connector 1341"/>
            <p:cNvCxnSpPr/>
            <p:nvPr/>
          </p:nvCxnSpPr>
          <p:spPr bwMode="auto">
            <a:xfrm>
              <a:off x="15240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3" name="Straight Connector 1342"/>
            <p:cNvCxnSpPr/>
            <p:nvPr/>
          </p:nvCxnSpPr>
          <p:spPr bwMode="auto">
            <a:xfrm>
              <a:off x="21336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4" name="Straight Connector 1343"/>
            <p:cNvCxnSpPr/>
            <p:nvPr/>
          </p:nvCxnSpPr>
          <p:spPr bwMode="auto">
            <a:xfrm>
              <a:off x="76200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5" name="Straight Connector 1344"/>
            <p:cNvCxnSpPr/>
            <p:nvPr/>
          </p:nvCxnSpPr>
          <p:spPr bwMode="auto">
            <a:xfrm>
              <a:off x="8229600" y="436930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6" name="Straight Connector 1345"/>
            <p:cNvCxnSpPr/>
            <p:nvPr/>
          </p:nvCxnSpPr>
          <p:spPr bwMode="auto">
            <a:xfrm>
              <a:off x="5791199" y="436675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7" name="Straight Connector 1346"/>
            <p:cNvCxnSpPr/>
            <p:nvPr/>
          </p:nvCxnSpPr>
          <p:spPr bwMode="auto">
            <a:xfrm>
              <a:off x="6400799" y="436675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8" name="Straight Connector 1347"/>
            <p:cNvCxnSpPr/>
            <p:nvPr/>
          </p:nvCxnSpPr>
          <p:spPr bwMode="auto">
            <a:xfrm>
              <a:off x="7010399" y="436675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49" name="Straight Connector 1348"/>
            <p:cNvCxnSpPr/>
            <p:nvPr/>
          </p:nvCxnSpPr>
          <p:spPr bwMode="auto">
            <a:xfrm>
              <a:off x="7010399" y="4366758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sp>
          <p:nvSpPr>
            <p:cNvPr id="1350" name="Oval 1349"/>
            <p:cNvSpPr/>
            <p:nvPr/>
          </p:nvSpPr>
          <p:spPr bwMode="auto">
            <a:xfrm>
              <a:off x="7527044" y="4343400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51" name="Straight Arrow Connector 1350"/>
            <p:cNvCxnSpPr/>
            <p:nvPr/>
          </p:nvCxnSpPr>
          <p:spPr bwMode="auto">
            <a:xfrm flipH="1">
              <a:off x="5749987" y="4449764"/>
              <a:ext cx="627258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352" name="Oval 1351"/>
            <p:cNvSpPr/>
            <p:nvPr/>
          </p:nvSpPr>
          <p:spPr bwMode="auto">
            <a:xfrm>
              <a:off x="6301045" y="4354068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1355" name="Oval 1354"/>
            <p:cNvSpPr/>
            <p:nvPr/>
          </p:nvSpPr>
          <p:spPr bwMode="auto">
            <a:xfrm flipH="1">
              <a:off x="3869575" y="4354068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56" name="Straight Arrow Connector 1355"/>
            <p:cNvCxnSpPr/>
            <p:nvPr/>
          </p:nvCxnSpPr>
          <p:spPr bwMode="auto">
            <a:xfrm>
              <a:off x="5234245" y="4440936"/>
              <a:ext cx="524528" cy="1524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357" name="Oval 1356"/>
            <p:cNvSpPr/>
            <p:nvPr/>
          </p:nvSpPr>
          <p:spPr bwMode="auto">
            <a:xfrm flipH="1">
              <a:off x="5081845" y="4354068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58" name="Straight Arrow Connector 1357"/>
            <p:cNvCxnSpPr/>
            <p:nvPr/>
          </p:nvCxnSpPr>
          <p:spPr bwMode="auto">
            <a:xfrm flipV="1">
              <a:off x="3346175" y="4450080"/>
              <a:ext cx="509022" cy="457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sp>
          <p:nvSpPr>
            <p:cNvPr id="1360" name="Oval 1359"/>
            <p:cNvSpPr/>
            <p:nvPr/>
          </p:nvSpPr>
          <p:spPr bwMode="auto">
            <a:xfrm flipH="1">
              <a:off x="2650375" y="4354068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61" name="Straight Arrow Connector 1360"/>
            <p:cNvCxnSpPr/>
            <p:nvPr/>
          </p:nvCxnSpPr>
          <p:spPr bwMode="auto">
            <a:xfrm>
              <a:off x="2833255" y="4445508"/>
              <a:ext cx="527298" cy="10668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362" name="Straight Arrow Connector 1361"/>
            <p:cNvCxnSpPr/>
            <p:nvPr/>
          </p:nvCxnSpPr>
          <p:spPr bwMode="auto">
            <a:xfrm>
              <a:off x="7709924" y="4442958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363" name="Oval 1362"/>
            <p:cNvSpPr/>
            <p:nvPr/>
          </p:nvSpPr>
          <p:spPr bwMode="auto">
            <a:xfrm flipH="1">
              <a:off x="1417320" y="4343400"/>
              <a:ext cx="182880" cy="182880"/>
            </a:xfrm>
            <a:prstGeom prst="ellips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364" name="Straight Arrow Connector 1363"/>
            <p:cNvCxnSpPr/>
            <p:nvPr/>
          </p:nvCxnSpPr>
          <p:spPr bwMode="auto">
            <a:xfrm flipV="1">
              <a:off x="893920" y="4439412"/>
              <a:ext cx="509022" cy="457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sp>
          <p:nvSpPr>
            <p:cNvPr id="1367" name="TextBox 1366"/>
            <p:cNvSpPr txBox="1"/>
            <p:nvPr/>
          </p:nvSpPr>
          <p:spPr>
            <a:xfrm>
              <a:off x="4397840" y="38817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0</a:t>
              </a:r>
            </a:p>
          </p:txBody>
        </p:sp>
        <p:sp>
          <p:nvSpPr>
            <p:cNvPr id="1368" name="TextBox 1367"/>
            <p:cNvSpPr txBox="1"/>
            <p:nvPr/>
          </p:nvSpPr>
          <p:spPr>
            <a:xfrm>
              <a:off x="5670013" y="3881735"/>
              <a:ext cx="26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1</a:t>
              </a:r>
            </a:p>
          </p:txBody>
        </p:sp>
        <p:sp>
          <p:nvSpPr>
            <p:cNvPr id="1369" name="TextBox 1368"/>
            <p:cNvSpPr txBox="1"/>
            <p:nvPr/>
          </p:nvSpPr>
          <p:spPr>
            <a:xfrm>
              <a:off x="6880689" y="3881735"/>
              <a:ext cx="26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2</a:t>
              </a:r>
            </a:p>
          </p:txBody>
        </p:sp>
        <p:sp>
          <p:nvSpPr>
            <p:cNvPr id="1370" name="TextBox 1369"/>
            <p:cNvSpPr txBox="1"/>
            <p:nvPr/>
          </p:nvSpPr>
          <p:spPr>
            <a:xfrm>
              <a:off x="3141077" y="3881735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-1</a:t>
              </a:r>
            </a:p>
          </p:txBody>
        </p:sp>
        <p:sp>
          <p:nvSpPr>
            <p:cNvPr id="1371" name="TextBox 1370"/>
            <p:cNvSpPr txBox="1"/>
            <p:nvPr/>
          </p:nvSpPr>
          <p:spPr>
            <a:xfrm>
              <a:off x="1840033" y="3881735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-2</a:t>
              </a:r>
            </a:p>
          </p:txBody>
        </p:sp>
        <p:sp>
          <p:nvSpPr>
            <p:cNvPr id="1372" name="TextBox 1371"/>
            <p:cNvSpPr txBox="1"/>
            <p:nvPr/>
          </p:nvSpPr>
          <p:spPr>
            <a:xfrm>
              <a:off x="685800" y="3881735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-3</a:t>
              </a:r>
            </a:p>
          </p:txBody>
        </p:sp>
        <p:sp>
          <p:nvSpPr>
            <p:cNvPr id="1373" name="TextBox 1372"/>
            <p:cNvSpPr txBox="1"/>
            <p:nvPr/>
          </p:nvSpPr>
          <p:spPr>
            <a:xfrm>
              <a:off x="8011654" y="38817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3</a:t>
              </a:r>
            </a:p>
          </p:txBody>
        </p:sp>
      </p:grpSp>
      <p:sp>
        <p:nvSpPr>
          <p:cNvPr id="235" name="TextBox 234"/>
          <p:cNvSpPr txBox="1"/>
          <p:nvPr/>
        </p:nvSpPr>
        <p:spPr>
          <a:xfrm>
            <a:off x="1191829" y="2039219"/>
            <a:ext cx="671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FF0000"/>
                </a:solidFill>
                <a:latin typeface="+mn-lt"/>
              </a:rPr>
              <a:t>-2.5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452220" y="2039074"/>
            <a:ext cx="671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0070C0"/>
                </a:solidFill>
                <a:latin typeface="+mn-lt"/>
              </a:rPr>
              <a:t>-1.5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671421" y="2039074"/>
            <a:ext cx="671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FF0000"/>
                </a:solidFill>
                <a:latin typeface="+mn-lt"/>
              </a:rPr>
              <a:t>-0.5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908999" y="2039074"/>
            <a:ext cx="577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0070C0"/>
                </a:solidFill>
                <a:latin typeface="+mn-lt"/>
              </a:rPr>
              <a:t>0.5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128198" y="2039074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FF0000"/>
                </a:solidFill>
                <a:latin typeface="+mn-lt"/>
              </a:rPr>
              <a:t>1.5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47398" y="2039074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0070C0"/>
                </a:solidFill>
                <a:latin typeface="+mn-lt"/>
              </a:rPr>
              <a:t>2.5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F96412-8B24-0786-BC8D-E2901E3B26FE}"/>
              </a:ext>
            </a:extLst>
          </p:cNvPr>
          <p:cNvSpPr/>
          <p:nvPr/>
        </p:nvSpPr>
        <p:spPr>
          <a:xfrm>
            <a:off x="479179" y="3972052"/>
            <a:ext cx="8185642" cy="1695026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Each value is rounded to the closest number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Midway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values are rounded to the closest EVEN number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This mode does not change </a:t>
            </a:r>
            <a:r>
              <a:rPr lang="en-US" sz="2400" dirty="0">
                <a:latin typeface="+mn-lt"/>
              </a:rPr>
              <a:t>the statistical properties (such as mean and variance) of the numbers,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latin typeface="+mn-lt"/>
              </a:rPr>
              <a:t>Default rounding mode</a:t>
            </a:r>
          </a:p>
          <a:p>
            <a:pPr marL="342900" indent="-342900" algn="l">
              <a:buFont typeface="Arial" charset="0"/>
              <a:buChar char="•"/>
            </a:pPr>
            <a:endParaRPr lang="tr-TR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6191201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67EEF-4DD5-3A59-87F0-ECDCB517F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168481"/>
            <a:ext cx="8382000" cy="1143000"/>
          </a:xfrm>
        </p:spPr>
        <p:txBody>
          <a:bodyPr/>
          <a:lstStyle/>
          <a:p>
            <a:r>
              <a:rPr lang="en-US" dirty="0"/>
              <a:t>4 modes of rounding – for midway values</a:t>
            </a:r>
            <a:endParaRPr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9FCE034-3841-83FB-5EFA-0828EC2A4C27}"/>
              </a:ext>
            </a:extLst>
          </p:cNvPr>
          <p:cNvGrpSpPr/>
          <p:nvPr/>
        </p:nvGrpSpPr>
        <p:grpSpPr>
          <a:xfrm>
            <a:off x="628659" y="1024563"/>
            <a:ext cx="8153400" cy="1120178"/>
            <a:chOff x="628659" y="2039074"/>
            <a:chExt cx="8153400" cy="112017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89CCB8B-4095-E858-1908-6931D26F4601}"/>
                </a:ext>
              </a:extLst>
            </p:cNvPr>
            <p:cNvCxnSpPr/>
            <p:nvPr/>
          </p:nvCxnSpPr>
          <p:spPr bwMode="auto">
            <a:xfrm flipV="1">
              <a:off x="628659" y="2636520"/>
              <a:ext cx="8153400" cy="9144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305E845-13A9-B579-4434-19FA98E0F4CA}"/>
                </a:ext>
              </a:extLst>
            </p:cNvPr>
            <p:cNvCxnSpPr/>
            <p:nvPr/>
          </p:nvCxnSpPr>
          <p:spPr bwMode="auto">
            <a:xfrm>
              <a:off x="5200659" y="2564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3045737-7639-A394-22A6-0FB58D9248C3}"/>
                </a:ext>
              </a:extLst>
            </p:cNvPr>
            <p:cNvCxnSpPr/>
            <p:nvPr/>
          </p:nvCxnSpPr>
          <p:spPr bwMode="auto">
            <a:xfrm>
              <a:off x="2152659" y="2564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BB1C39-BECB-42FD-F1C9-8E56C064046F}"/>
                </a:ext>
              </a:extLst>
            </p:cNvPr>
            <p:cNvCxnSpPr/>
            <p:nvPr/>
          </p:nvCxnSpPr>
          <p:spPr bwMode="auto">
            <a:xfrm>
              <a:off x="2762259" y="2564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584D487-F4AD-8BE0-D3A5-795F74178F31}"/>
                </a:ext>
              </a:extLst>
            </p:cNvPr>
            <p:cNvCxnSpPr/>
            <p:nvPr/>
          </p:nvCxnSpPr>
          <p:spPr bwMode="auto">
            <a:xfrm>
              <a:off x="3371859" y="2564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BCB7883-98FA-8166-6479-5754837869F1}"/>
                </a:ext>
              </a:extLst>
            </p:cNvPr>
            <p:cNvCxnSpPr/>
            <p:nvPr/>
          </p:nvCxnSpPr>
          <p:spPr bwMode="auto">
            <a:xfrm>
              <a:off x="3981459" y="2564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65272BC-C7C3-A3E5-068C-07B49E0E1736}"/>
                </a:ext>
              </a:extLst>
            </p:cNvPr>
            <p:cNvCxnSpPr/>
            <p:nvPr/>
          </p:nvCxnSpPr>
          <p:spPr bwMode="auto">
            <a:xfrm>
              <a:off x="4591059" y="2564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687E5C5-6FFC-D684-B4ED-341377AC1C30}"/>
                </a:ext>
              </a:extLst>
            </p:cNvPr>
            <p:cNvCxnSpPr/>
            <p:nvPr/>
          </p:nvCxnSpPr>
          <p:spPr bwMode="auto">
            <a:xfrm>
              <a:off x="933459" y="2564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8FB33F-47CF-1E44-ADC2-D4A3DFF7F854}"/>
                </a:ext>
              </a:extLst>
            </p:cNvPr>
            <p:cNvCxnSpPr/>
            <p:nvPr/>
          </p:nvCxnSpPr>
          <p:spPr bwMode="auto">
            <a:xfrm>
              <a:off x="1543059" y="2564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447C841-269C-3153-D369-CB3931E57EC5}"/>
                </a:ext>
              </a:extLst>
            </p:cNvPr>
            <p:cNvCxnSpPr/>
            <p:nvPr/>
          </p:nvCxnSpPr>
          <p:spPr bwMode="auto">
            <a:xfrm>
              <a:off x="2152659" y="2564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A52FA50-2DE9-7F5A-9B47-879B7E93F579}"/>
                </a:ext>
              </a:extLst>
            </p:cNvPr>
            <p:cNvCxnSpPr/>
            <p:nvPr/>
          </p:nvCxnSpPr>
          <p:spPr bwMode="auto">
            <a:xfrm>
              <a:off x="7639059" y="2564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7B418C-B65F-790A-840D-378184388F9C}"/>
                </a:ext>
              </a:extLst>
            </p:cNvPr>
            <p:cNvCxnSpPr/>
            <p:nvPr/>
          </p:nvCxnSpPr>
          <p:spPr bwMode="auto">
            <a:xfrm>
              <a:off x="8248659" y="2564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47381AF-B3A9-17E5-E623-3F192AEF2339}"/>
                </a:ext>
              </a:extLst>
            </p:cNvPr>
            <p:cNvCxnSpPr/>
            <p:nvPr/>
          </p:nvCxnSpPr>
          <p:spPr bwMode="auto">
            <a:xfrm>
              <a:off x="5810258" y="256234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9D3FFF7-61BC-7933-8BEE-00412A2A83DB}"/>
                </a:ext>
              </a:extLst>
            </p:cNvPr>
            <p:cNvCxnSpPr/>
            <p:nvPr/>
          </p:nvCxnSpPr>
          <p:spPr bwMode="auto">
            <a:xfrm>
              <a:off x="6419858" y="256234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CBEDCB5-4675-4C39-B251-C2DC46FF1AB7}"/>
                </a:ext>
              </a:extLst>
            </p:cNvPr>
            <p:cNvCxnSpPr/>
            <p:nvPr/>
          </p:nvCxnSpPr>
          <p:spPr bwMode="auto">
            <a:xfrm>
              <a:off x="7029458" y="256234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A470242-50E6-2191-D293-38280EDD5A3E}"/>
                </a:ext>
              </a:extLst>
            </p:cNvPr>
            <p:cNvCxnSpPr/>
            <p:nvPr/>
          </p:nvCxnSpPr>
          <p:spPr bwMode="auto">
            <a:xfrm>
              <a:off x="7029458" y="256234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70858C3-FF65-3079-DC17-E0E7382D82BC}"/>
                </a:ext>
              </a:extLst>
            </p:cNvPr>
            <p:cNvSpPr/>
            <p:nvPr/>
          </p:nvSpPr>
          <p:spPr bwMode="auto">
            <a:xfrm>
              <a:off x="6313179" y="2538984"/>
              <a:ext cx="182880" cy="18288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F1DCB41-706A-01C5-26B7-5C35645F86EE}"/>
                </a:ext>
              </a:extLst>
            </p:cNvPr>
            <p:cNvCxnSpPr/>
            <p:nvPr/>
          </p:nvCxnSpPr>
          <p:spPr bwMode="auto">
            <a:xfrm flipH="1">
              <a:off x="4573401" y="2645348"/>
              <a:ext cx="627258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FCFF390-AB0E-8963-8CCA-AC5D348F0F58}"/>
                </a:ext>
              </a:extLst>
            </p:cNvPr>
            <p:cNvSpPr/>
            <p:nvPr/>
          </p:nvSpPr>
          <p:spPr bwMode="auto">
            <a:xfrm>
              <a:off x="5124459" y="2549652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50490E9-E9A1-0571-6150-112821571C47}"/>
                </a:ext>
              </a:extLst>
            </p:cNvPr>
            <p:cNvSpPr/>
            <p:nvPr/>
          </p:nvSpPr>
          <p:spPr bwMode="auto">
            <a:xfrm>
              <a:off x="7546365" y="2549652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A54EF96-D882-32D7-9F7F-EFEA92AECEEE}"/>
                </a:ext>
              </a:extLst>
            </p:cNvPr>
            <p:cNvCxnSpPr/>
            <p:nvPr/>
          </p:nvCxnSpPr>
          <p:spPr bwMode="auto">
            <a:xfrm flipH="1">
              <a:off x="7026951" y="2630424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4ECDC1-EC25-C946-A358-BC044099C454}"/>
                </a:ext>
              </a:extLst>
            </p:cNvPr>
            <p:cNvSpPr/>
            <p:nvPr/>
          </p:nvSpPr>
          <p:spPr bwMode="auto">
            <a:xfrm flipH="1">
              <a:off x="2655579" y="2549652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A1FA139-677F-6A33-FC78-38889AD0BE11}"/>
                </a:ext>
              </a:extLst>
            </p:cNvPr>
            <p:cNvCxnSpPr/>
            <p:nvPr/>
          </p:nvCxnSpPr>
          <p:spPr bwMode="auto">
            <a:xfrm>
              <a:off x="4057659" y="2636520"/>
              <a:ext cx="524528" cy="1524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CF32146-B75A-11B2-01F1-B9720E3CC612}"/>
                </a:ext>
              </a:extLst>
            </p:cNvPr>
            <p:cNvSpPr/>
            <p:nvPr/>
          </p:nvSpPr>
          <p:spPr bwMode="auto">
            <a:xfrm flipH="1">
              <a:off x="3905259" y="2549652"/>
              <a:ext cx="182880" cy="18288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01DB790-9136-1954-64F6-FE29E4BA250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2843778" y="2659303"/>
              <a:ext cx="509022" cy="553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0FD5E7C-7E37-B51A-2C14-2791FD9BFF40}"/>
                </a:ext>
              </a:extLst>
            </p:cNvPr>
            <p:cNvGrpSpPr/>
            <p:nvPr/>
          </p:nvGrpSpPr>
          <p:grpSpPr>
            <a:xfrm flipH="1">
              <a:off x="1436379" y="2549652"/>
              <a:ext cx="716918" cy="182880"/>
              <a:chOff x="4489060" y="6065520"/>
              <a:chExt cx="716918" cy="18288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AC5A2F7D-B7D1-B023-F7CA-6D62397CED8B}"/>
                  </a:ext>
                </a:extLst>
              </p:cNvPr>
              <p:cNvSpPr/>
              <p:nvPr/>
            </p:nvSpPr>
            <p:spPr bwMode="auto">
              <a:xfrm>
                <a:off x="5023098" y="6065520"/>
                <a:ext cx="182880" cy="182880"/>
              </a:xfrm>
              <a:prstGeom prst="ellipse">
                <a:avLst/>
              </a:prstGeom>
              <a:solidFill>
                <a:srgbClr val="FF0000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lg" len="lg"/>
                <a:tailEnd type="none" w="lg" len="lg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tr-TR" sz="4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endParaRPr>
              </a:p>
            </p:txBody>
          </p: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7FD1DF5E-2712-17FB-C977-F8D1CC6C049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489060" y="6169959"/>
                <a:ext cx="527298" cy="12909"/>
              </a:xfrm>
              <a:prstGeom prst="straightConnector1">
                <a:avLst/>
              </a:prstGeom>
              <a:solidFill>
                <a:schemeClr val="accent1"/>
              </a:solidFill>
              <a:ln w="34925" cap="flat" cmpd="sng" algn="ctr">
                <a:solidFill>
                  <a:srgbClr val="FF0000"/>
                </a:solidFill>
                <a:prstDash val="solid"/>
                <a:round/>
                <a:headEnd type="none" w="lg" len="lg"/>
                <a:tailEnd type="triangle" w="lg" len="lg"/>
              </a:ln>
              <a:effectLst/>
            </p:spPr>
          </p:cxnSp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880FA25-CB36-8516-F0A0-DA92FABB8FA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791200" y="2638542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3D20381-CA60-F476-F828-2A9E9CC50EBB}"/>
                </a:ext>
              </a:extLst>
            </p:cNvPr>
            <p:cNvSpPr txBox="1"/>
            <p:nvPr/>
          </p:nvSpPr>
          <p:spPr>
            <a:xfrm>
              <a:off x="4416899" y="2697587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557C131-EFA5-CB88-7B1C-A22E8A0EDEB0}"/>
                </a:ext>
              </a:extLst>
            </p:cNvPr>
            <p:cNvSpPr txBox="1"/>
            <p:nvPr/>
          </p:nvSpPr>
          <p:spPr>
            <a:xfrm>
              <a:off x="5689072" y="2697587"/>
              <a:ext cx="26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1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417EA71-DC71-0F5D-FA03-3A1B3B987B14}"/>
                </a:ext>
              </a:extLst>
            </p:cNvPr>
            <p:cNvSpPr txBox="1"/>
            <p:nvPr/>
          </p:nvSpPr>
          <p:spPr>
            <a:xfrm>
              <a:off x="6899748" y="2697587"/>
              <a:ext cx="26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2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C66C598-04F8-B809-DEE9-EB1EE7AD0EE8}"/>
                </a:ext>
              </a:extLst>
            </p:cNvPr>
            <p:cNvSpPr txBox="1"/>
            <p:nvPr/>
          </p:nvSpPr>
          <p:spPr>
            <a:xfrm>
              <a:off x="3160136" y="2697587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-1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A79A096-83BF-5931-8372-99D0FAE7F121}"/>
                </a:ext>
              </a:extLst>
            </p:cNvPr>
            <p:cNvSpPr txBox="1"/>
            <p:nvPr/>
          </p:nvSpPr>
          <p:spPr>
            <a:xfrm>
              <a:off x="1859092" y="2697587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-2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B1482D-4DCD-C0DD-7F5E-F1484889B817}"/>
                </a:ext>
              </a:extLst>
            </p:cNvPr>
            <p:cNvSpPr txBox="1"/>
            <p:nvPr/>
          </p:nvSpPr>
          <p:spPr>
            <a:xfrm>
              <a:off x="704859" y="2697587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-3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E3BD112-D228-2EE2-A545-F9AB614A6FA3}"/>
                </a:ext>
              </a:extLst>
            </p:cNvPr>
            <p:cNvSpPr txBox="1"/>
            <p:nvPr/>
          </p:nvSpPr>
          <p:spPr>
            <a:xfrm>
              <a:off x="8030713" y="2697587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3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E0050DE-3CCD-180C-8979-6EE09FDCE5C1}"/>
                </a:ext>
              </a:extLst>
            </p:cNvPr>
            <p:cNvSpPr txBox="1"/>
            <p:nvPr/>
          </p:nvSpPr>
          <p:spPr>
            <a:xfrm>
              <a:off x="1191829" y="2039219"/>
              <a:ext cx="6719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FF0000"/>
                  </a:solidFill>
                  <a:latin typeface="+mn-lt"/>
                </a:rPr>
                <a:t>-2.5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305B6D9-8385-C9C0-A85E-DC894B0E3FB9}"/>
                </a:ext>
              </a:extLst>
            </p:cNvPr>
            <p:cNvSpPr txBox="1"/>
            <p:nvPr/>
          </p:nvSpPr>
          <p:spPr>
            <a:xfrm>
              <a:off x="2452220" y="2039074"/>
              <a:ext cx="6719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0070C0"/>
                  </a:solidFill>
                  <a:latin typeface="+mn-lt"/>
                </a:rPr>
                <a:t>-1.5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330CB79-4F66-F3BB-6C5F-3457D69C54D4}"/>
                </a:ext>
              </a:extLst>
            </p:cNvPr>
            <p:cNvSpPr txBox="1"/>
            <p:nvPr/>
          </p:nvSpPr>
          <p:spPr>
            <a:xfrm>
              <a:off x="3671421" y="2039074"/>
              <a:ext cx="6719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FF0000"/>
                  </a:solidFill>
                  <a:latin typeface="+mn-lt"/>
                </a:rPr>
                <a:t>-0.5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DD4CDD6-E1F1-021F-3C77-8191C09D200A}"/>
                </a:ext>
              </a:extLst>
            </p:cNvPr>
            <p:cNvSpPr txBox="1"/>
            <p:nvPr/>
          </p:nvSpPr>
          <p:spPr>
            <a:xfrm>
              <a:off x="4908999" y="2039074"/>
              <a:ext cx="577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0070C0"/>
                  </a:solidFill>
                  <a:latin typeface="+mn-lt"/>
                </a:rPr>
                <a:t>0.5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60C3BD7-354A-18ED-D2BA-B0C7016BBD8D}"/>
                </a:ext>
              </a:extLst>
            </p:cNvPr>
            <p:cNvSpPr txBox="1"/>
            <p:nvPr/>
          </p:nvSpPr>
          <p:spPr>
            <a:xfrm>
              <a:off x="6128198" y="2039074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FF0000"/>
                  </a:solidFill>
                  <a:latin typeface="+mn-lt"/>
                </a:rPr>
                <a:t>1.5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7DF83F6-AB64-A4FA-48C6-9CD7999A86E3}"/>
                </a:ext>
              </a:extLst>
            </p:cNvPr>
            <p:cNvSpPr txBox="1"/>
            <p:nvPr/>
          </p:nvSpPr>
          <p:spPr>
            <a:xfrm>
              <a:off x="7347398" y="2039074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0070C0"/>
                  </a:solidFill>
                  <a:latin typeface="+mn-lt"/>
                </a:rPr>
                <a:t>2.5</a:t>
              </a: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C0701961-5B0C-5AEB-FD2C-A3765FF61723}"/>
              </a:ext>
            </a:extLst>
          </p:cNvPr>
          <p:cNvSpPr txBox="1"/>
          <p:nvPr/>
        </p:nvSpPr>
        <p:spPr>
          <a:xfrm>
            <a:off x="2284794" y="762000"/>
            <a:ext cx="45817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Towards zero</a:t>
            </a:r>
            <a:endParaRPr sz="2400" dirty="0"/>
          </a:p>
        </p:txBody>
      </p: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5B0EF263-A639-56D7-B737-5C6114FFCFA6}"/>
              </a:ext>
            </a:extLst>
          </p:cNvPr>
          <p:cNvGrpSpPr/>
          <p:nvPr/>
        </p:nvGrpSpPr>
        <p:grpSpPr>
          <a:xfrm>
            <a:off x="628659" y="2402678"/>
            <a:ext cx="8153400" cy="1120178"/>
            <a:chOff x="628659" y="3563074"/>
            <a:chExt cx="8153400" cy="1120178"/>
          </a:xfrm>
        </p:grpSpPr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476A2C8F-0E9D-E5CE-69DA-9CC3A18ED772}"/>
                </a:ext>
              </a:extLst>
            </p:cNvPr>
            <p:cNvCxnSpPr/>
            <p:nvPr/>
          </p:nvCxnSpPr>
          <p:spPr bwMode="auto">
            <a:xfrm flipV="1">
              <a:off x="628659" y="4160520"/>
              <a:ext cx="8153400" cy="9144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40CD321E-1A19-40DC-5E65-94EAD03F64DD}"/>
                </a:ext>
              </a:extLst>
            </p:cNvPr>
            <p:cNvCxnSpPr/>
            <p:nvPr/>
          </p:nvCxnSpPr>
          <p:spPr bwMode="auto">
            <a:xfrm>
              <a:off x="5200659" y="4088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C5B6B733-A37E-FA92-AD8A-7C89028BAF98}"/>
                </a:ext>
              </a:extLst>
            </p:cNvPr>
            <p:cNvCxnSpPr/>
            <p:nvPr/>
          </p:nvCxnSpPr>
          <p:spPr bwMode="auto">
            <a:xfrm>
              <a:off x="2152659" y="4088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7EBAE464-44C4-BCC9-D990-908A39246DB7}"/>
                </a:ext>
              </a:extLst>
            </p:cNvPr>
            <p:cNvCxnSpPr/>
            <p:nvPr/>
          </p:nvCxnSpPr>
          <p:spPr bwMode="auto">
            <a:xfrm>
              <a:off x="2762259" y="4088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F6F75409-8BB5-3539-9398-E461ADD5B468}"/>
                </a:ext>
              </a:extLst>
            </p:cNvPr>
            <p:cNvCxnSpPr/>
            <p:nvPr/>
          </p:nvCxnSpPr>
          <p:spPr bwMode="auto">
            <a:xfrm>
              <a:off x="3371859" y="4088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28A7C523-D70C-816B-E324-AFE3B01876F8}"/>
                </a:ext>
              </a:extLst>
            </p:cNvPr>
            <p:cNvCxnSpPr/>
            <p:nvPr/>
          </p:nvCxnSpPr>
          <p:spPr bwMode="auto">
            <a:xfrm>
              <a:off x="3981459" y="4088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89379B28-9B88-9987-10DB-61939E7C7F4F}"/>
                </a:ext>
              </a:extLst>
            </p:cNvPr>
            <p:cNvCxnSpPr/>
            <p:nvPr/>
          </p:nvCxnSpPr>
          <p:spPr bwMode="auto">
            <a:xfrm>
              <a:off x="4591059" y="4088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F2682356-CC0F-857C-2F27-AE471ED38384}"/>
                </a:ext>
              </a:extLst>
            </p:cNvPr>
            <p:cNvCxnSpPr/>
            <p:nvPr/>
          </p:nvCxnSpPr>
          <p:spPr bwMode="auto">
            <a:xfrm>
              <a:off x="933459" y="4088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6F0FE352-790B-A9C4-E04B-95FF15160B65}"/>
                </a:ext>
              </a:extLst>
            </p:cNvPr>
            <p:cNvCxnSpPr/>
            <p:nvPr/>
          </p:nvCxnSpPr>
          <p:spPr bwMode="auto">
            <a:xfrm>
              <a:off x="1543059" y="4088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9961741-C6C2-353A-86BD-F97CA512B718}"/>
                </a:ext>
              </a:extLst>
            </p:cNvPr>
            <p:cNvCxnSpPr/>
            <p:nvPr/>
          </p:nvCxnSpPr>
          <p:spPr bwMode="auto">
            <a:xfrm>
              <a:off x="2152659" y="4088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05606720-3725-012C-B4AE-06A2B521B02E}"/>
                </a:ext>
              </a:extLst>
            </p:cNvPr>
            <p:cNvCxnSpPr/>
            <p:nvPr/>
          </p:nvCxnSpPr>
          <p:spPr bwMode="auto">
            <a:xfrm>
              <a:off x="7639059" y="4088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BE08994D-7A70-4CEC-E171-B92A3E8EB6B3}"/>
                </a:ext>
              </a:extLst>
            </p:cNvPr>
            <p:cNvCxnSpPr/>
            <p:nvPr/>
          </p:nvCxnSpPr>
          <p:spPr bwMode="auto">
            <a:xfrm>
              <a:off x="8248659" y="40888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75C4F01A-350A-38C6-9E34-0D76A696FF35}"/>
                </a:ext>
              </a:extLst>
            </p:cNvPr>
            <p:cNvCxnSpPr/>
            <p:nvPr/>
          </p:nvCxnSpPr>
          <p:spPr bwMode="auto">
            <a:xfrm>
              <a:off x="5810258" y="408634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986CEEF7-2ECF-618B-368F-F6AAEAB47E77}"/>
                </a:ext>
              </a:extLst>
            </p:cNvPr>
            <p:cNvCxnSpPr/>
            <p:nvPr/>
          </p:nvCxnSpPr>
          <p:spPr bwMode="auto">
            <a:xfrm>
              <a:off x="6419858" y="408634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1F0F8CCB-5E69-17B8-72B5-53BDB83F70D2}"/>
                </a:ext>
              </a:extLst>
            </p:cNvPr>
            <p:cNvCxnSpPr/>
            <p:nvPr/>
          </p:nvCxnSpPr>
          <p:spPr bwMode="auto">
            <a:xfrm>
              <a:off x="7029458" y="408634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BB442C8B-4127-75A8-2CD3-37FA36814652}"/>
                </a:ext>
              </a:extLst>
            </p:cNvPr>
            <p:cNvCxnSpPr/>
            <p:nvPr/>
          </p:nvCxnSpPr>
          <p:spPr bwMode="auto">
            <a:xfrm>
              <a:off x="7029458" y="408634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05B2C111-7372-4C6D-B054-03438396531C}"/>
                </a:ext>
              </a:extLst>
            </p:cNvPr>
            <p:cNvSpPr/>
            <p:nvPr/>
          </p:nvSpPr>
          <p:spPr bwMode="auto">
            <a:xfrm>
              <a:off x="6313179" y="4062984"/>
              <a:ext cx="182880" cy="18288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808B5551-F738-1ED5-CCBB-7D911EFE618B}"/>
                </a:ext>
              </a:extLst>
            </p:cNvPr>
            <p:cNvCxnSpPr/>
            <p:nvPr/>
          </p:nvCxnSpPr>
          <p:spPr bwMode="auto">
            <a:xfrm flipH="1">
              <a:off x="4573401" y="4169348"/>
              <a:ext cx="627258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BE016594-9AD8-489C-9461-2460B42DFF12}"/>
                </a:ext>
              </a:extLst>
            </p:cNvPr>
            <p:cNvSpPr/>
            <p:nvPr/>
          </p:nvSpPr>
          <p:spPr bwMode="auto">
            <a:xfrm>
              <a:off x="5124459" y="4073652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6426DA2D-E0D5-7304-2659-BED0C3099B20}"/>
                </a:ext>
              </a:extLst>
            </p:cNvPr>
            <p:cNvSpPr/>
            <p:nvPr/>
          </p:nvSpPr>
          <p:spPr bwMode="auto">
            <a:xfrm>
              <a:off x="7546365" y="4073652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F55DF1A0-7F47-8354-DC5E-1194285767BA}"/>
                </a:ext>
              </a:extLst>
            </p:cNvPr>
            <p:cNvCxnSpPr/>
            <p:nvPr/>
          </p:nvCxnSpPr>
          <p:spPr bwMode="auto">
            <a:xfrm flipH="1">
              <a:off x="7026951" y="4154424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F0A41EC5-A853-0717-CC54-BF68157EE682}"/>
                </a:ext>
              </a:extLst>
            </p:cNvPr>
            <p:cNvSpPr/>
            <p:nvPr/>
          </p:nvSpPr>
          <p:spPr bwMode="auto">
            <a:xfrm flipH="1">
              <a:off x="2655579" y="4073652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908DF965-9D26-DD4F-C347-72CBA99A73D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52800" y="4160520"/>
              <a:ext cx="524528" cy="1524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4C6C1F67-B232-C8AA-8D44-4F8EA0EFA813}"/>
                </a:ext>
              </a:extLst>
            </p:cNvPr>
            <p:cNvSpPr/>
            <p:nvPr/>
          </p:nvSpPr>
          <p:spPr bwMode="auto">
            <a:xfrm flipH="1">
              <a:off x="3905259" y="4073652"/>
              <a:ext cx="182880" cy="18288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99253B50-E1F5-4AAE-A2AD-B3D8177C20C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132179" y="4183303"/>
              <a:ext cx="509022" cy="553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EA3EA8BB-8A2D-F22A-B6BB-31B6CC2965F1}"/>
                </a:ext>
              </a:extLst>
            </p:cNvPr>
            <p:cNvGrpSpPr/>
            <p:nvPr/>
          </p:nvGrpSpPr>
          <p:grpSpPr>
            <a:xfrm flipH="1">
              <a:off x="914400" y="4073652"/>
              <a:ext cx="704859" cy="182880"/>
              <a:chOff x="5023098" y="6065520"/>
              <a:chExt cx="704859" cy="182880"/>
            </a:xfrm>
          </p:grpSpPr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2B7CDE6E-74B3-4D4F-0237-0A7582B77588}"/>
                  </a:ext>
                </a:extLst>
              </p:cNvPr>
              <p:cNvSpPr/>
              <p:nvPr/>
            </p:nvSpPr>
            <p:spPr bwMode="auto">
              <a:xfrm>
                <a:off x="5023098" y="6065520"/>
                <a:ext cx="182880" cy="182880"/>
              </a:xfrm>
              <a:prstGeom prst="ellipse">
                <a:avLst/>
              </a:prstGeom>
              <a:solidFill>
                <a:srgbClr val="FF0000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lg" len="lg"/>
                <a:tailEnd type="none" w="lg" len="lg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tr-TR" sz="4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endParaRPr>
              </a:p>
            </p:txBody>
          </p:sp>
          <p:cxnSp>
            <p:nvCxnSpPr>
              <p:cNvPr id="214" name="Straight Arrow Connector 213">
                <a:extLst>
                  <a:ext uri="{FF2B5EF4-FFF2-40B4-BE49-F238E27FC236}">
                    <a16:creationId xmlns:a16="http://schemas.microsoft.com/office/drawing/2014/main" id="{1C685E1D-10F8-CA72-9E80-FCADB677737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200659" y="6169959"/>
                <a:ext cx="527298" cy="12909"/>
              </a:xfrm>
              <a:prstGeom prst="straightConnector1">
                <a:avLst/>
              </a:prstGeom>
              <a:solidFill>
                <a:schemeClr val="accent1"/>
              </a:solidFill>
              <a:ln w="34925" cap="flat" cmpd="sng" algn="ctr">
                <a:solidFill>
                  <a:srgbClr val="FF0000"/>
                </a:solidFill>
                <a:prstDash val="solid"/>
                <a:round/>
                <a:headEnd type="none" w="lg" len="lg"/>
                <a:tailEnd type="triangle" w="lg" len="lg"/>
              </a:ln>
              <a:effectLst/>
            </p:spPr>
          </p:cxnSp>
        </p:grp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850DDC0C-F5C9-D694-1A5F-1FAF7B8DFD6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791200" y="4162542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80B86A26-333C-66F3-0212-D6DC90321BE1}"/>
                </a:ext>
              </a:extLst>
            </p:cNvPr>
            <p:cNvSpPr txBox="1"/>
            <p:nvPr/>
          </p:nvSpPr>
          <p:spPr>
            <a:xfrm>
              <a:off x="4416899" y="4221587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0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B76FB842-8921-2459-4D27-98BEEF2FA7F0}"/>
                </a:ext>
              </a:extLst>
            </p:cNvPr>
            <p:cNvSpPr txBox="1"/>
            <p:nvPr/>
          </p:nvSpPr>
          <p:spPr>
            <a:xfrm>
              <a:off x="5689072" y="4221587"/>
              <a:ext cx="26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1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CC03B73F-1722-0659-2F2C-A2CF6B8E3AC8}"/>
                </a:ext>
              </a:extLst>
            </p:cNvPr>
            <p:cNvSpPr txBox="1"/>
            <p:nvPr/>
          </p:nvSpPr>
          <p:spPr>
            <a:xfrm>
              <a:off x="6899748" y="4221587"/>
              <a:ext cx="26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2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37FDB94E-50A7-BB2A-7C0E-2BB026A3ECC7}"/>
                </a:ext>
              </a:extLst>
            </p:cNvPr>
            <p:cNvSpPr txBox="1"/>
            <p:nvPr/>
          </p:nvSpPr>
          <p:spPr>
            <a:xfrm>
              <a:off x="3160136" y="4221587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-1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EB33A9DB-2CF9-57C4-D5B2-6369EBCDF4FA}"/>
                </a:ext>
              </a:extLst>
            </p:cNvPr>
            <p:cNvSpPr txBox="1"/>
            <p:nvPr/>
          </p:nvSpPr>
          <p:spPr>
            <a:xfrm>
              <a:off x="1859092" y="4221587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-2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68A4398F-E1BD-25F2-4942-6C5D3415E15B}"/>
                </a:ext>
              </a:extLst>
            </p:cNvPr>
            <p:cNvSpPr txBox="1"/>
            <p:nvPr/>
          </p:nvSpPr>
          <p:spPr>
            <a:xfrm>
              <a:off x="704859" y="4221587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-3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E6FA1CC3-CA5E-927F-E184-AA9791EA1B87}"/>
                </a:ext>
              </a:extLst>
            </p:cNvPr>
            <p:cNvSpPr txBox="1"/>
            <p:nvPr/>
          </p:nvSpPr>
          <p:spPr>
            <a:xfrm>
              <a:off x="8030713" y="4221587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3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4062A10-9B2F-B293-6FC1-BF1A25EC30BF}"/>
                </a:ext>
              </a:extLst>
            </p:cNvPr>
            <p:cNvSpPr txBox="1"/>
            <p:nvPr/>
          </p:nvSpPr>
          <p:spPr>
            <a:xfrm>
              <a:off x="1191829" y="3563219"/>
              <a:ext cx="6719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FF0000"/>
                  </a:solidFill>
                  <a:latin typeface="+mn-lt"/>
                </a:rPr>
                <a:t>-2.5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F6DAD81C-62C4-62B4-1AE5-F2256CE1A58C}"/>
                </a:ext>
              </a:extLst>
            </p:cNvPr>
            <p:cNvSpPr txBox="1"/>
            <p:nvPr/>
          </p:nvSpPr>
          <p:spPr>
            <a:xfrm>
              <a:off x="2452220" y="3563074"/>
              <a:ext cx="6719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0070C0"/>
                  </a:solidFill>
                  <a:latin typeface="+mn-lt"/>
                </a:rPr>
                <a:t>-1.5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269235EA-2F29-0495-0341-3B1C13AE5CCF}"/>
                </a:ext>
              </a:extLst>
            </p:cNvPr>
            <p:cNvSpPr txBox="1"/>
            <p:nvPr/>
          </p:nvSpPr>
          <p:spPr>
            <a:xfrm>
              <a:off x="3671421" y="3563074"/>
              <a:ext cx="6719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FF0000"/>
                  </a:solidFill>
                  <a:latin typeface="+mn-lt"/>
                </a:rPr>
                <a:t>-0.5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03904DA2-2612-4ACE-7093-D5363020632C}"/>
                </a:ext>
              </a:extLst>
            </p:cNvPr>
            <p:cNvSpPr txBox="1"/>
            <p:nvPr/>
          </p:nvSpPr>
          <p:spPr>
            <a:xfrm>
              <a:off x="4908999" y="3563074"/>
              <a:ext cx="577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0070C0"/>
                  </a:solidFill>
                  <a:latin typeface="+mn-lt"/>
                </a:rPr>
                <a:t>0.5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B1D8661E-1E50-EF58-55F6-73AFEE18C960}"/>
                </a:ext>
              </a:extLst>
            </p:cNvPr>
            <p:cNvSpPr txBox="1"/>
            <p:nvPr/>
          </p:nvSpPr>
          <p:spPr>
            <a:xfrm>
              <a:off x="6128198" y="3563074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FF0000"/>
                  </a:solidFill>
                  <a:latin typeface="+mn-lt"/>
                </a:rPr>
                <a:t>1.5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0360BE8C-391B-C1E6-B3DC-AD8CF97B34B8}"/>
                </a:ext>
              </a:extLst>
            </p:cNvPr>
            <p:cNvSpPr txBox="1"/>
            <p:nvPr/>
          </p:nvSpPr>
          <p:spPr>
            <a:xfrm>
              <a:off x="7347398" y="3563074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0070C0"/>
                  </a:solidFill>
                  <a:latin typeface="+mn-lt"/>
                </a:rPr>
                <a:t>2.5</a:t>
              </a:r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5D2C5D90-12C2-4C6E-237B-9F9DB6D0FD3E}"/>
              </a:ext>
            </a:extLst>
          </p:cNvPr>
          <p:cNvSpPr txBox="1"/>
          <p:nvPr/>
        </p:nvSpPr>
        <p:spPr>
          <a:xfrm>
            <a:off x="2281137" y="2133600"/>
            <a:ext cx="45817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Round down (−</a:t>
            </a:r>
            <a:r>
              <a:rPr lang="en-US" sz="2400" dirty="0">
                <a:sym typeface="Symbol"/>
              </a:rPr>
              <a:t></a:t>
            </a:r>
            <a:r>
              <a:rPr lang="en-US" sz="2400" dirty="0"/>
              <a:t>)</a:t>
            </a:r>
            <a:endParaRPr sz="2400" dirty="0"/>
          </a:p>
        </p:txBody>
      </p: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751EFD3E-980F-27C2-101A-F26D80570321}"/>
              </a:ext>
            </a:extLst>
          </p:cNvPr>
          <p:cNvGrpSpPr/>
          <p:nvPr/>
        </p:nvGrpSpPr>
        <p:grpSpPr>
          <a:xfrm>
            <a:off x="628659" y="3874389"/>
            <a:ext cx="8153400" cy="1120178"/>
            <a:chOff x="628659" y="4401274"/>
            <a:chExt cx="8153400" cy="1120178"/>
          </a:xfrm>
        </p:grpSpPr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BF24D4AE-E58E-0F7E-4DB5-71F274EB117C}"/>
                </a:ext>
              </a:extLst>
            </p:cNvPr>
            <p:cNvCxnSpPr/>
            <p:nvPr/>
          </p:nvCxnSpPr>
          <p:spPr bwMode="auto">
            <a:xfrm flipV="1">
              <a:off x="628659" y="4998720"/>
              <a:ext cx="8153400" cy="9144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429716E6-3C68-A737-6DB5-1031BBC74045}"/>
                </a:ext>
              </a:extLst>
            </p:cNvPr>
            <p:cNvCxnSpPr/>
            <p:nvPr/>
          </p:nvCxnSpPr>
          <p:spPr bwMode="auto">
            <a:xfrm>
              <a:off x="5200659" y="49270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BF312DCD-3C31-3C87-5445-6A6772B2A639}"/>
                </a:ext>
              </a:extLst>
            </p:cNvPr>
            <p:cNvCxnSpPr/>
            <p:nvPr/>
          </p:nvCxnSpPr>
          <p:spPr bwMode="auto">
            <a:xfrm>
              <a:off x="2152659" y="49270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18BAE6AA-A584-482D-F1C9-6B3762EE9122}"/>
                </a:ext>
              </a:extLst>
            </p:cNvPr>
            <p:cNvCxnSpPr/>
            <p:nvPr/>
          </p:nvCxnSpPr>
          <p:spPr bwMode="auto">
            <a:xfrm>
              <a:off x="2762259" y="49270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7CB9D051-2965-79FF-4398-B531A7F038D3}"/>
                </a:ext>
              </a:extLst>
            </p:cNvPr>
            <p:cNvCxnSpPr/>
            <p:nvPr/>
          </p:nvCxnSpPr>
          <p:spPr bwMode="auto">
            <a:xfrm>
              <a:off x="3371859" y="49270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EB34A594-3AED-8714-C479-5630F93FA746}"/>
                </a:ext>
              </a:extLst>
            </p:cNvPr>
            <p:cNvCxnSpPr/>
            <p:nvPr/>
          </p:nvCxnSpPr>
          <p:spPr bwMode="auto">
            <a:xfrm>
              <a:off x="3981459" y="49270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D2B92233-880D-491D-EA8C-8EC8F751CAD9}"/>
                </a:ext>
              </a:extLst>
            </p:cNvPr>
            <p:cNvCxnSpPr/>
            <p:nvPr/>
          </p:nvCxnSpPr>
          <p:spPr bwMode="auto">
            <a:xfrm>
              <a:off x="4591059" y="49270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FA221C87-8051-C546-4368-8C5455D98C46}"/>
                </a:ext>
              </a:extLst>
            </p:cNvPr>
            <p:cNvCxnSpPr/>
            <p:nvPr/>
          </p:nvCxnSpPr>
          <p:spPr bwMode="auto">
            <a:xfrm>
              <a:off x="933459" y="49270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AF83ACA8-555F-DD49-1501-FC4A95CFB2F4}"/>
                </a:ext>
              </a:extLst>
            </p:cNvPr>
            <p:cNvCxnSpPr/>
            <p:nvPr/>
          </p:nvCxnSpPr>
          <p:spPr bwMode="auto">
            <a:xfrm>
              <a:off x="1543059" y="49270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6CC654A0-D5A9-D5F4-D3A8-7E1942200F4C}"/>
                </a:ext>
              </a:extLst>
            </p:cNvPr>
            <p:cNvCxnSpPr/>
            <p:nvPr/>
          </p:nvCxnSpPr>
          <p:spPr bwMode="auto">
            <a:xfrm>
              <a:off x="2152659" y="49270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C59C1BCD-CFB4-9082-74DD-BAB680638203}"/>
                </a:ext>
              </a:extLst>
            </p:cNvPr>
            <p:cNvCxnSpPr/>
            <p:nvPr/>
          </p:nvCxnSpPr>
          <p:spPr bwMode="auto">
            <a:xfrm>
              <a:off x="7639059" y="49270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EA89D319-9FF0-8535-0337-17E9C08420E9}"/>
                </a:ext>
              </a:extLst>
            </p:cNvPr>
            <p:cNvCxnSpPr/>
            <p:nvPr/>
          </p:nvCxnSpPr>
          <p:spPr bwMode="auto">
            <a:xfrm>
              <a:off x="8248659" y="49270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F670F901-7409-6288-72A6-AF0498A3114D}"/>
                </a:ext>
              </a:extLst>
            </p:cNvPr>
            <p:cNvCxnSpPr/>
            <p:nvPr/>
          </p:nvCxnSpPr>
          <p:spPr bwMode="auto">
            <a:xfrm>
              <a:off x="5810258" y="492454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8573814-79DA-BA11-1059-DDC0117B1103}"/>
                </a:ext>
              </a:extLst>
            </p:cNvPr>
            <p:cNvCxnSpPr/>
            <p:nvPr/>
          </p:nvCxnSpPr>
          <p:spPr bwMode="auto">
            <a:xfrm>
              <a:off x="6419858" y="492454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C205AAAD-0220-1752-B628-874EFF158D8F}"/>
                </a:ext>
              </a:extLst>
            </p:cNvPr>
            <p:cNvCxnSpPr/>
            <p:nvPr/>
          </p:nvCxnSpPr>
          <p:spPr bwMode="auto">
            <a:xfrm>
              <a:off x="7029458" y="492454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D2215771-6D7A-E08F-4BE8-45BCA7CC51E1}"/>
                </a:ext>
              </a:extLst>
            </p:cNvPr>
            <p:cNvCxnSpPr/>
            <p:nvPr/>
          </p:nvCxnSpPr>
          <p:spPr bwMode="auto">
            <a:xfrm>
              <a:off x="7029458" y="492454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57324A85-36B7-F59A-866C-87C2A8F0C7A2}"/>
                </a:ext>
              </a:extLst>
            </p:cNvPr>
            <p:cNvSpPr/>
            <p:nvPr/>
          </p:nvSpPr>
          <p:spPr bwMode="auto">
            <a:xfrm>
              <a:off x="6313179" y="4901184"/>
              <a:ext cx="182880" cy="18288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243" name="Straight Arrow Connector 242">
              <a:extLst>
                <a:ext uri="{FF2B5EF4-FFF2-40B4-BE49-F238E27FC236}">
                  <a16:creationId xmlns:a16="http://schemas.microsoft.com/office/drawing/2014/main" id="{063A4566-6010-45C3-C0FC-21DDB3045F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59201" y="5007548"/>
              <a:ext cx="627258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B27C67A9-37AE-2B60-E151-BF72FCD19F22}"/>
                </a:ext>
              </a:extLst>
            </p:cNvPr>
            <p:cNvSpPr/>
            <p:nvPr/>
          </p:nvSpPr>
          <p:spPr bwMode="auto">
            <a:xfrm>
              <a:off x="5124459" y="4911852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906F3E47-0F3A-900B-A932-32D0E72E37F0}"/>
                </a:ext>
              </a:extLst>
            </p:cNvPr>
            <p:cNvSpPr/>
            <p:nvPr/>
          </p:nvSpPr>
          <p:spPr bwMode="auto">
            <a:xfrm>
              <a:off x="7546365" y="4911852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246" name="Straight Arrow Connector 245">
              <a:extLst>
                <a:ext uri="{FF2B5EF4-FFF2-40B4-BE49-F238E27FC236}">
                  <a16:creationId xmlns:a16="http://schemas.microsoft.com/office/drawing/2014/main" id="{7F2567F8-9604-08A4-708A-DB1A05ED6D4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712751" y="4992624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D1B8D161-D275-E049-2532-CEA2D6D88A1A}"/>
                </a:ext>
              </a:extLst>
            </p:cNvPr>
            <p:cNvSpPr/>
            <p:nvPr/>
          </p:nvSpPr>
          <p:spPr bwMode="auto">
            <a:xfrm flipH="1">
              <a:off x="2655579" y="4911852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248" name="Straight Arrow Connector 247">
              <a:extLst>
                <a:ext uri="{FF2B5EF4-FFF2-40B4-BE49-F238E27FC236}">
                  <a16:creationId xmlns:a16="http://schemas.microsoft.com/office/drawing/2014/main" id="{0BA406A8-3321-5644-42DB-F980985BB08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38600" y="4998720"/>
              <a:ext cx="524528" cy="1524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FE5BC504-63CD-0338-A033-5900704B79C8}"/>
                </a:ext>
              </a:extLst>
            </p:cNvPr>
            <p:cNvSpPr/>
            <p:nvPr/>
          </p:nvSpPr>
          <p:spPr bwMode="auto">
            <a:xfrm flipH="1">
              <a:off x="3905259" y="4911852"/>
              <a:ext cx="182880" cy="18288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250" name="Straight Arrow Connector 249">
              <a:extLst>
                <a:ext uri="{FF2B5EF4-FFF2-40B4-BE49-F238E27FC236}">
                  <a16:creationId xmlns:a16="http://schemas.microsoft.com/office/drawing/2014/main" id="{B4792294-ADD5-8148-9D7C-9ABF30CBBDB9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2817979" y="5021503"/>
              <a:ext cx="509022" cy="553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DB9FA90E-38B5-CC85-58B8-3B42E5745C0A}"/>
                </a:ext>
              </a:extLst>
            </p:cNvPr>
            <p:cNvGrpSpPr/>
            <p:nvPr/>
          </p:nvGrpSpPr>
          <p:grpSpPr>
            <a:xfrm flipH="1">
              <a:off x="1436379" y="4911852"/>
              <a:ext cx="691119" cy="182880"/>
              <a:chOff x="4514859" y="6065520"/>
              <a:chExt cx="691119" cy="182880"/>
            </a:xfrm>
          </p:grpSpPr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6AADA66D-9381-0237-AB9F-30A4CD516906}"/>
                  </a:ext>
                </a:extLst>
              </p:cNvPr>
              <p:cNvSpPr/>
              <p:nvPr/>
            </p:nvSpPr>
            <p:spPr bwMode="auto">
              <a:xfrm>
                <a:off x="5023098" y="6065520"/>
                <a:ext cx="182880" cy="182880"/>
              </a:xfrm>
              <a:prstGeom prst="ellipse">
                <a:avLst/>
              </a:prstGeom>
              <a:solidFill>
                <a:srgbClr val="FF0000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lg" len="lg"/>
                <a:tailEnd type="none" w="lg" len="lg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tr-TR" sz="4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endParaRPr>
              </a:p>
            </p:txBody>
          </p:sp>
          <p:cxnSp>
            <p:nvCxnSpPr>
              <p:cNvPr id="289" name="Straight Arrow Connector 288">
                <a:extLst>
                  <a:ext uri="{FF2B5EF4-FFF2-40B4-BE49-F238E27FC236}">
                    <a16:creationId xmlns:a16="http://schemas.microsoft.com/office/drawing/2014/main" id="{56B76A18-3F8D-7118-0E1C-D328F5078A5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514859" y="6169959"/>
                <a:ext cx="527298" cy="12909"/>
              </a:xfrm>
              <a:prstGeom prst="straightConnector1">
                <a:avLst/>
              </a:prstGeom>
              <a:solidFill>
                <a:schemeClr val="accent1"/>
              </a:solidFill>
              <a:ln w="34925" cap="flat" cmpd="sng" algn="ctr">
                <a:solidFill>
                  <a:srgbClr val="FF0000"/>
                </a:solidFill>
                <a:prstDash val="solid"/>
                <a:round/>
                <a:headEnd type="none" w="lg" len="lg"/>
                <a:tailEnd type="triangle" w="lg" len="lg"/>
              </a:ln>
              <a:effectLst/>
            </p:spPr>
          </p:cxnSp>
        </p:grpSp>
        <p:cxnSp>
          <p:nvCxnSpPr>
            <p:cNvPr id="252" name="Straight Arrow Connector 251">
              <a:extLst>
                <a:ext uri="{FF2B5EF4-FFF2-40B4-BE49-F238E27FC236}">
                  <a16:creationId xmlns:a16="http://schemas.microsoft.com/office/drawing/2014/main" id="{B929C765-0D7B-60E9-C773-14F11A492AE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77000" y="5000742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05907F8E-A359-51C8-E643-FACD955A79B0}"/>
                </a:ext>
              </a:extLst>
            </p:cNvPr>
            <p:cNvSpPr txBox="1"/>
            <p:nvPr/>
          </p:nvSpPr>
          <p:spPr>
            <a:xfrm>
              <a:off x="4416899" y="5059787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0</a:t>
              </a: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E3F01BA7-5F1A-BAD7-FB1B-DA6673C4361B}"/>
                </a:ext>
              </a:extLst>
            </p:cNvPr>
            <p:cNvSpPr txBox="1"/>
            <p:nvPr/>
          </p:nvSpPr>
          <p:spPr>
            <a:xfrm>
              <a:off x="5689072" y="5059787"/>
              <a:ext cx="26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1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87210C73-FE25-33D9-8410-81CFA39D9817}"/>
                </a:ext>
              </a:extLst>
            </p:cNvPr>
            <p:cNvSpPr txBox="1"/>
            <p:nvPr/>
          </p:nvSpPr>
          <p:spPr>
            <a:xfrm>
              <a:off x="6899748" y="5059787"/>
              <a:ext cx="26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2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2EEB49E7-8945-D4A0-C3EC-822E2BCE7779}"/>
                </a:ext>
              </a:extLst>
            </p:cNvPr>
            <p:cNvSpPr txBox="1"/>
            <p:nvPr/>
          </p:nvSpPr>
          <p:spPr>
            <a:xfrm>
              <a:off x="3160136" y="5059787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-1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2A4668F5-A9A8-A199-4927-E2D8B54AE34B}"/>
                </a:ext>
              </a:extLst>
            </p:cNvPr>
            <p:cNvSpPr txBox="1"/>
            <p:nvPr/>
          </p:nvSpPr>
          <p:spPr>
            <a:xfrm>
              <a:off x="1859092" y="5059787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-2</a:t>
              </a: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D6151B22-94E1-451E-5195-110B1F63DB8A}"/>
                </a:ext>
              </a:extLst>
            </p:cNvPr>
            <p:cNvSpPr txBox="1"/>
            <p:nvPr/>
          </p:nvSpPr>
          <p:spPr>
            <a:xfrm>
              <a:off x="704859" y="5059787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-3</a:t>
              </a: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62B63309-ED64-0D05-647C-C82C5ABE7090}"/>
                </a:ext>
              </a:extLst>
            </p:cNvPr>
            <p:cNvSpPr txBox="1"/>
            <p:nvPr/>
          </p:nvSpPr>
          <p:spPr>
            <a:xfrm>
              <a:off x="8030713" y="5059787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3</a:t>
              </a: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7934709A-589B-36DF-7ED2-883B090B6CC4}"/>
                </a:ext>
              </a:extLst>
            </p:cNvPr>
            <p:cNvSpPr txBox="1"/>
            <p:nvPr/>
          </p:nvSpPr>
          <p:spPr>
            <a:xfrm>
              <a:off x="1191829" y="4401419"/>
              <a:ext cx="6719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FF0000"/>
                  </a:solidFill>
                  <a:latin typeface="+mn-lt"/>
                </a:rPr>
                <a:t>-2.5</a:t>
              </a: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DFDDB9D2-A868-655A-148D-ADFA6DF3B9E3}"/>
                </a:ext>
              </a:extLst>
            </p:cNvPr>
            <p:cNvSpPr txBox="1"/>
            <p:nvPr/>
          </p:nvSpPr>
          <p:spPr>
            <a:xfrm>
              <a:off x="2452220" y="4401274"/>
              <a:ext cx="6719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0070C0"/>
                  </a:solidFill>
                  <a:latin typeface="+mn-lt"/>
                </a:rPr>
                <a:t>-1.5</a:t>
              </a: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4DD56793-93A0-1A28-9CB4-C2527DF98A9E}"/>
                </a:ext>
              </a:extLst>
            </p:cNvPr>
            <p:cNvSpPr txBox="1"/>
            <p:nvPr/>
          </p:nvSpPr>
          <p:spPr>
            <a:xfrm>
              <a:off x="3671421" y="4401274"/>
              <a:ext cx="6719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FF0000"/>
                  </a:solidFill>
                  <a:latin typeface="+mn-lt"/>
                </a:rPr>
                <a:t>-0.5</a:t>
              </a: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41B79299-14E1-5CB6-557B-074A551917A7}"/>
                </a:ext>
              </a:extLst>
            </p:cNvPr>
            <p:cNvSpPr txBox="1"/>
            <p:nvPr/>
          </p:nvSpPr>
          <p:spPr>
            <a:xfrm>
              <a:off x="4908999" y="4401274"/>
              <a:ext cx="577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0070C0"/>
                  </a:solidFill>
                  <a:latin typeface="+mn-lt"/>
                </a:rPr>
                <a:t>0.5</a:t>
              </a: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A3E28B04-E016-9B76-7E74-E8662B05AD42}"/>
                </a:ext>
              </a:extLst>
            </p:cNvPr>
            <p:cNvSpPr txBox="1"/>
            <p:nvPr/>
          </p:nvSpPr>
          <p:spPr>
            <a:xfrm>
              <a:off x="6128198" y="4401274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FF0000"/>
                  </a:solidFill>
                  <a:latin typeface="+mn-lt"/>
                </a:rPr>
                <a:t>1.5</a:t>
              </a: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CC1AE4F7-039E-3337-DEFD-D25545576512}"/>
                </a:ext>
              </a:extLst>
            </p:cNvPr>
            <p:cNvSpPr txBox="1"/>
            <p:nvPr/>
          </p:nvSpPr>
          <p:spPr>
            <a:xfrm>
              <a:off x="7347398" y="4401274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0070C0"/>
                  </a:solidFill>
                  <a:latin typeface="+mn-lt"/>
                </a:rPr>
                <a:t>2.5</a:t>
              </a:r>
            </a:p>
          </p:txBody>
        </p:sp>
      </p:grpSp>
      <p:sp>
        <p:nvSpPr>
          <p:cNvPr id="297" name="TextBox 296">
            <a:extLst>
              <a:ext uri="{FF2B5EF4-FFF2-40B4-BE49-F238E27FC236}">
                <a16:creationId xmlns:a16="http://schemas.microsoft.com/office/drawing/2014/main" id="{A1BCF60C-0668-189E-18F7-2A2C92A1A596}"/>
              </a:ext>
            </a:extLst>
          </p:cNvPr>
          <p:cNvSpPr txBox="1"/>
          <p:nvPr/>
        </p:nvSpPr>
        <p:spPr>
          <a:xfrm>
            <a:off x="2422310" y="3537086"/>
            <a:ext cx="45817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Round up (+</a:t>
            </a:r>
            <a:r>
              <a:rPr lang="en-US" sz="2400" dirty="0">
                <a:sym typeface="Symbol"/>
              </a:rPr>
              <a:t></a:t>
            </a:r>
            <a:r>
              <a:rPr lang="en-US" sz="2400" dirty="0"/>
              <a:t>)</a:t>
            </a:r>
            <a:endParaRPr sz="2400" dirty="0"/>
          </a:p>
        </p:txBody>
      </p: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FB870574-67B5-9C5D-3022-04754EDA4FE8}"/>
              </a:ext>
            </a:extLst>
          </p:cNvPr>
          <p:cNvGrpSpPr/>
          <p:nvPr/>
        </p:nvGrpSpPr>
        <p:grpSpPr>
          <a:xfrm>
            <a:off x="628659" y="4914652"/>
            <a:ext cx="8153400" cy="1445000"/>
            <a:chOff x="628659" y="4914652"/>
            <a:chExt cx="8153400" cy="1445000"/>
          </a:xfrm>
        </p:grpSpPr>
        <p:cxnSp>
          <p:nvCxnSpPr>
            <p:cNvPr id="299" name="Straight Arrow Connector 298">
              <a:extLst>
                <a:ext uri="{FF2B5EF4-FFF2-40B4-BE49-F238E27FC236}">
                  <a16:creationId xmlns:a16="http://schemas.microsoft.com/office/drawing/2014/main" id="{EB96AA23-3B21-1416-E71D-A7BB88C50305}"/>
                </a:ext>
              </a:extLst>
            </p:cNvPr>
            <p:cNvCxnSpPr/>
            <p:nvPr/>
          </p:nvCxnSpPr>
          <p:spPr bwMode="auto">
            <a:xfrm flipV="1">
              <a:off x="628659" y="5836920"/>
              <a:ext cx="8153400" cy="9144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41DCB823-D37B-EB21-2077-B4C2E23F835A}"/>
                </a:ext>
              </a:extLst>
            </p:cNvPr>
            <p:cNvCxnSpPr/>
            <p:nvPr/>
          </p:nvCxnSpPr>
          <p:spPr bwMode="auto">
            <a:xfrm>
              <a:off x="5200659" y="57652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154B5EA1-42AF-4BF4-DC95-1F7A5364BA2A}"/>
                </a:ext>
              </a:extLst>
            </p:cNvPr>
            <p:cNvCxnSpPr/>
            <p:nvPr/>
          </p:nvCxnSpPr>
          <p:spPr bwMode="auto">
            <a:xfrm>
              <a:off x="2152659" y="57652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7AD1A9D-A755-7503-6725-C1BE83FD7EA1}"/>
                </a:ext>
              </a:extLst>
            </p:cNvPr>
            <p:cNvCxnSpPr/>
            <p:nvPr/>
          </p:nvCxnSpPr>
          <p:spPr bwMode="auto">
            <a:xfrm>
              <a:off x="2762259" y="57652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8B54BFE6-B379-0868-07D9-F1632CA30765}"/>
                </a:ext>
              </a:extLst>
            </p:cNvPr>
            <p:cNvCxnSpPr/>
            <p:nvPr/>
          </p:nvCxnSpPr>
          <p:spPr bwMode="auto">
            <a:xfrm>
              <a:off x="3371859" y="57652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86C52EA3-6C89-DA51-17F8-CCBA80B4E540}"/>
                </a:ext>
              </a:extLst>
            </p:cNvPr>
            <p:cNvCxnSpPr/>
            <p:nvPr/>
          </p:nvCxnSpPr>
          <p:spPr bwMode="auto">
            <a:xfrm>
              <a:off x="3981459" y="57652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F7C55409-DB56-E47B-8055-E135A97EB8A4}"/>
                </a:ext>
              </a:extLst>
            </p:cNvPr>
            <p:cNvCxnSpPr/>
            <p:nvPr/>
          </p:nvCxnSpPr>
          <p:spPr bwMode="auto">
            <a:xfrm>
              <a:off x="4591059" y="57652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54DC20AE-6264-D671-D3F8-9B5903C8DFD7}"/>
                </a:ext>
              </a:extLst>
            </p:cNvPr>
            <p:cNvCxnSpPr/>
            <p:nvPr/>
          </p:nvCxnSpPr>
          <p:spPr bwMode="auto">
            <a:xfrm>
              <a:off x="933459" y="57652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4F11BBFE-DD88-08A0-CE79-6504CFC1B6BB}"/>
                </a:ext>
              </a:extLst>
            </p:cNvPr>
            <p:cNvCxnSpPr/>
            <p:nvPr/>
          </p:nvCxnSpPr>
          <p:spPr bwMode="auto">
            <a:xfrm>
              <a:off x="1543059" y="57652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9F9B353-518C-9457-F369-07333DC6F99B}"/>
                </a:ext>
              </a:extLst>
            </p:cNvPr>
            <p:cNvCxnSpPr/>
            <p:nvPr/>
          </p:nvCxnSpPr>
          <p:spPr bwMode="auto">
            <a:xfrm>
              <a:off x="2152659" y="57652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EAE79C39-06B2-DCD5-147A-986A7A629972}"/>
                </a:ext>
              </a:extLst>
            </p:cNvPr>
            <p:cNvCxnSpPr/>
            <p:nvPr/>
          </p:nvCxnSpPr>
          <p:spPr bwMode="auto">
            <a:xfrm>
              <a:off x="7639059" y="57652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8EBDACB-7700-A9B4-1222-74BC00AB2092}"/>
                </a:ext>
              </a:extLst>
            </p:cNvPr>
            <p:cNvCxnSpPr/>
            <p:nvPr/>
          </p:nvCxnSpPr>
          <p:spPr bwMode="auto">
            <a:xfrm>
              <a:off x="8248659" y="576529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527C361A-6B59-F03F-3DB3-F5896F8CD736}"/>
                </a:ext>
              </a:extLst>
            </p:cNvPr>
            <p:cNvCxnSpPr/>
            <p:nvPr/>
          </p:nvCxnSpPr>
          <p:spPr bwMode="auto">
            <a:xfrm>
              <a:off x="5810258" y="576274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2CA7A493-AEE6-790F-9D0B-063975B0E4E5}"/>
                </a:ext>
              </a:extLst>
            </p:cNvPr>
            <p:cNvCxnSpPr/>
            <p:nvPr/>
          </p:nvCxnSpPr>
          <p:spPr bwMode="auto">
            <a:xfrm>
              <a:off x="6419858" y="576274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6726F918-9B02-919F-B0BE-AEFA52727086}"/>
                </a:ext>
              </a:extLst>
            </p:cNvPr>
            <p:cNvCxnSpPr/>
            <p:nvPr/>
          </p:nvCxnSpPr>
          <p:spPr bwMode="auto">
            <a:xfrm>
              <a:off x="7029458" y="576274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75873AE-A830-1114-97CE-F5112B32A4D0}"/>
                </a:ext>
              </a:extLst>
            </p:cNvPr>
            <p:cNvCxnSpPr/>
            <p:nvPr/>
          </p:nvCxnSpPr>
          <p:spPr bwMode="auto">
            <a:xfrm>
              <a:off x="7029458" y="5762742"/>
              <a:ext cx="0" cy="152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4A8FE6C8-18B2-AB74-B0D2-464658210279}"/>
                </a:ext>
              </a:extLst>
            </p:cNvPr>
            <p:cNvSpPr/>
            <p:nvPr/>
          </p:nvSpPr>
          <p:spPr bwMode="auto">
            <a:xfrm>
              <a:off x="6313179" y="5739384"/>
              <a:ext cx="182880" cy="18288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16" name="Straight Arrow Connector 315">
              <a:extLst>
                <a:ext uri="{FF2B5EF4-FFF2-40B4-BE49-F238E27FC236}">
                  <a16:creationId xmlns:a16="http://schemas.microsoft.com/office/drawing/2014/main" id="{31CF3618-68BF-4D21-191C-D59B827B14A9}"/>
                </a:ext>
              </a:extLst>
            </p:cNvPr>
            <p:cNvCxnSpPr/>
            <p:nvPr/>
          </p:nvCxnSpPr>
          <p:spPr bwMode="auto">
            <a:xfrm flipH="1">
              <a:off x="4573401" y="5845748"/>
              <a:ext cx="627258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037F8DB1-061D-7A19-6839-D6542D162FB6}"/>
                </a:ext>
              </a:extLst>
            </p:cNvPr>
            <p:cNvSpPr/>
            <p:nvPr/>
          </p:nvSpPr>
          <p:spPr bwMode="auto">
            <a:xfrm>
              <a:off x="5124459" y="5750052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6B1FA77D-0A83-EDEC-4B23-1843C21E7F25}"/>
                </a:ext>
              </a:extLst>
            </p:cNvPr>
            <p:cNvSpPr/>
            <p:nvPr/>
          </p:nvSpPr>
          <p:spPr bwMode="auto">
            <a:xfrm>
              <a:off x="7546365" y="5750052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E02D37AA-BEDE-A3AE-EF3F-E1934046FE96}"/>
                </a:ext>
              </a:extLst>
            </p:cNvPr>
            <p:cNvCxnSpPr/>
            <p:nvPr/>
          </p:nvCxnSpPr>
          <p:spPr bwMode="auto">
            <a:xfrm flipH="1">
              <a:off x="7026951" y="5830824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37D02A92-96B6-5BDC-979C-9BB4ADF9FEF3}"/>
                </a:ext>
              </a:extLst>
            </p:cNvPr>
            <p:cNvSpPr/>
            <p:nvPr/>
          </p:nvSpPr>
          <p:spPr bwMode="auto">
            <a:xfrm flipH="1">
              <a:off x="2655579" y="5750052"/>
              <a:ext cx="182880" cy="182880"/>
            </a:xfrm>
            <a:prstGeom prst="ellipse">
              <a:avLst/>
            </a:prstGeom>
            <a:solidFill>
              <a:srgbClr val="0070C0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21" name="Straight Arrow Connector 320">
              <a:extLst>
                <a:ext uri="{FF2B5EF4-FFF2-40B4-BE49-F238E27FC236}">
                  <a16:creationId xmlns:a16="http://schemas.microsoft.com/office/drawing/2014/main" id="{073B8B0A-1AD9-2F27-59CB-E538210A7783}"/>
                </a:ext>
              </a:extLst>
            </p:cNvPr>
            <p:cNvCxnSpPr/>
            <p:nvPr/>
          </p:nvCxnSpPr>
          <p:spPr bwMode="auto">
            <a:xfrm>
              <a:off x="4057659" y="5836920"/>
              <a:ext cx="524528" cy="1524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21AA8BD0-82DA-9A76-4CD1-09C0EE526510}"/>
                </a:ext>
              </a:extLst>
            </p:cNvPr>
            <p:cNvSpPr/>
            <p:nvPr/>
          </p:nvSpPr>
          <p:spPr bwMode="auto">
            <a:xfrm flipH="1">
              <a:off x="3905259" y="5750052"/>
              <a:ext cx="182880" cy="18288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cxnSp>
          <p:nvCxnSpPr>
            <p:cNvPr id="323" name="Straight Arrow Connector 322">
              <a:extLst>
                <a:ext uri="{FF2B5EF4-FFF2-40B4-BE49-F238E27FC236}">
                  <a16:creationId xmlns:a16="http://schemas.microsoft.com/office/drawing/2014/main" id="{EA471140-B06F-73ED-097A-4B4CA11B9FE0}"/>
                </a:ext>
              </a:extLst>
            </p:cNvPr>
            <p:cNvCxnSpPr>
              <a:endCxn id="320" idx="6"/>
            </p:cNvCxnSpPr>
            <p:nvPr/>
          </p:nvCxnSpPr>
          <p:spPr bwMode="auto">
            <a:xfrm flipV="1">
              <a:off x="2132179" y="5846064"/>
              <a:ext cx="509022" cy="457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0070C0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103E9F6E-F4F0-ACA8-526C-FEAC8C8E8AAB}"/>
                </a:ext>
              </a:extLst>
            </p:cNvPr>
            <p:cNvGrpSpPr/>
            <p:nvPr/>
          </p:nvGrpSpPr>
          <p:grpSpPr>
            <a:xfrm flipH="1">
              <a:off x="1436379" y="5750052"/>
              <a:ext cx="710178" cy="182880"/>
              <a:chOff x="4495800" y="6065520"/>
              <a:chExt cx="710178" cy="182880"/>
            </a:xfrm>
          </p:grpSpPr>
          <p:sp>
            <p:nvSpPr>
              <p:cNvPr id="361" name="Oval 360">
                <a:extLst>
                  <a:ext uri="{FF2B5EF4-FFF2-40B4-BE49-F238E27FC236}">
                    <a16:creationId xmlns:a16="http://schemas.microsoft.com/office/drawing/2014/main" id="{4EBEDA60-8111-F5F0-71F7-C860602FB2CD}"/>
                  </a:ext>
                </a:extLst>
              </p:cNvPr>
              <p:cNvSpPr/>
              <p:nvPr/>
            </p:nvSpPr>
            <p:spPr bwMode="auto">
              <a:xfrm>
                <a:off x="5023098" y="6065520"/>
                <a:ext cx="182880" cy="182880"/>
              </a:xfrm>
              <a:prstGeom prst="ellipse">
                <a:avLst/>
              </a:prstGeom>
              <a:solidFill>
                <a:srgbClr val="FF0000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lg" len="lg"/>
                <a:tailEnd type="none" w="lg" len="lg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tr-TR" sz="4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endParaRPr>
              </a:p>
            </p:txBody>
          </p:sp>
          <p:cxnSp>
            <p:nvCxnSpPr>
              <p:cNvPr id="362" name="Straight Arrow Connector 361">
                <a:extLst>
                  <a:ext uri="{FF2B5EF4-FFF2-40B4-BE49-F238E27FC236}">
                    <a16:creationId xmlns:a16="http://schemas.microsoft.com/office/drawing/2014/main" id="{1E794E78-C95A-5DE0-F1AC-4D2EC69FA244}"/>
                  </a:ext>
                </a:extLst>
              </p:cNvPr>
              <p:cNvCxnSpPr>
                <a:stCxn id="361" idx="2"/>
              </p:cNvCxnSpPr>
              <p:nvPr/>
            </p:nvCxnSpPr>
            <p:spPr bwMode="auto">
              <a:xfrm flipH="1">
                <a:off x="4495800" y="6156960"/>
                <a:ext cx="527298" cy="10668"/>
              </a:xfrm>
              <a:prstGeom prst="straightConnector1">
                <a:avLst/>
              </a:prstGeom>
              <a:solidFill>
                <a:schemeClr val="accent1"/>
              </a:solidFill>
              <a:ln w="34925" cap="flat" cmpd="sng" algn="ctr">
                <a:solidFill>
                  <a:srgbClr val="FF0000"/>
                </a:solidFill>
                <a:prstDash val="solid"/>
                <a:round/>
                <a:headEnd type="none" w="lg" len="lg"/>
                <a:tailEnd type="triangle" w="lg" len="lg"/>
              </a:ln>
              <a:effectLst/>
            </p:spPr>
          </p:cxnSp>
        </p:grpSp>
        <p:cxnSp>
          <p:nvCxnSpPr>
            <p:cNvPr id="325" name="Straight Arrow Connector 324">
              <a:extLst>
                <a:ext uri="{FF2B5EF4-FFF2-40B4-BE49-F238E27FC236}">
                  <a16:creationId xmlns:a16="http://schemas.microsoft.com/office/drawing/2014/main" id="{9154DAA6-6B16-1615-7DF8-29750ADBC51E}"/>
                </a:ext>
              </a:extLst>
            </p:cNvPr>
            <p:cNvCxnSpPr/>
            <p:nvPr/>
          </p:nvCxnSpPr>
          <p:spPr bwMode="auto">
            <a:xfrm>
              <a:off x="6496059" y="5838942"/>
              <a:ext cx="527036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62ED8A62-E73A-B2B6-5326-84D309EEC2DB}"/>
                </a:ext>
              </a:extLst>
            </p:cNvPr>
            <p:cNvSpPr txBox="1"/>
            <p:nvPr/>
          </p:nvSpPr>
          <p:spPr>
            <a:xfrm>
              <a:off x="4416899" y="5897987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0</a:t>
              </a: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6F7C839D-255A-077A-9E33-B2530DD0BCFC}"/>
                </a:ext>
              </a:extLst>
            </p:cNvPr>
            <p:cNvSpPr txBox="1"/>
            <p:nvPr/>
          </p:nvSpPr>
          <p:spPr>
            <a:xfrm>
              <a:off x="5689072" y="5897987"/>
              <a:ext cx="26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1</a:t>
              </a:r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734F3780-AF3F-6555-0ECA-F54381017828}"/>
                </a:ext>
              </a:extLst>
            </p:cNvPr>
            <p:cNvSpPr txBox="1"/>
            <p:nvPr/>
          </p:nvSpPr>
          <p:spPr>
            <a:xfrm>
              <a:off x="6899748" y="5897987"/>
              <a:ext cx="26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2</a:t>
              </a: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84F86912-D888-528C-BB7A-73CB918E1CC9}"/>
                </a:ext>
              </a:extLst>
            </p:cNvPr>
            <p:cNvSpPr txBox="1"/>
            <p:nvPr/>
          </p:nvSpPr>
          <p:spPr>
            <a:xfrm>
              <a:off x="3160136" y="5897987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-1</a:t>
              </a: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526E0A4E-78FF-A963-D5E8-AAA77EC00ADD}"/>
                </a:ext>
              </a:extLst>
            </p:cNvPr>
            <p:cNvSpPr txBox="1"/>
            <p:nvPr/>
          </p:nvSpPr>
          <p:spPr>
            <a:xfrm>
              <a:off x="1859092" y="5897987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-2</a:t>
              </a: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6377BA6F-9419-98BB-A96E-0AFF06C747C4}"/>
                </a:ext>
              </a:extLst>
            </p:cNvPr>
            <p:cNvSpPr txBox="1"/>
            <p:nvPr/>
          </p:nvSpPr>
          <p:spPr>
            <a:xfrm>
              <a:off x="704859" y="5897987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-3</a:t>
              </a: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A51DA7CE-9D6D-6237-F7D3-AED37C84CC3E}"/>
                </a:ext>
              </a:extLst>
            </p:cNvPr>
            <p:cNvSpPr txBox="1"/>
            <p:nvPr/>
          </p:nvSpPr>
          <p:spPr>
            <a:xfrm>
              <a:off x="8030713" y="5897987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latin typeface="+mn-lt"/>
                </a:rPr>
                <a:t>3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41F485A4-B6B8-5A3B-7D5B-8FDD075EF8A4}"/>
                </a:ext>
              </a:extLst>
            </p:cNvPr>
            <p:cNvSpPr txBox="1"/>
            <p:nvPr/>
          </p:nvSpPr>
          <p:spPr>
            <a:xfrm>
              <a:off x="1191829" y="5239619"/>
              <a:ext cx="6719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FF0000"/>
                  </a:solidFill>
                  <a:latin typeface="+mn-lt"/>
                </a:rPr>
                <a:t>-2.5</a:t>
              </a:r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9299DBDF-1040-F6EA-FDBC-6D7CFFD880A8}"/>
                </a:ext>
              </a:extLst>
            </p:cNvPr>
            <p:cNvSpPr txBox="1"/>
            <p:nvPr/>
          </p:nvSpPr>
          <p:spPr>
            <a:xfrm>
              <a:off x="2452220" y="5239474"/>
              <a:ext cx="6719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0070C0"/>
                  </a:solidFill>
                  <a:latin typeface="+mn-lt"/>
                </a:rPr>
                <a:t>-1.5</a:t>
              </a:r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21395851-A158-7E07-0128-806F71964964}"/>
                </a:ext>
              </a:extLst>
            </p:cNvPr>
            <p:cNvSpPr txBox="1"/>
            <p:nvPr/>
          </p:nvSpPr>
          <p:spPr>
            <a:xfrm>
              <a:off x="3671421" y="5239474"/>
              <a:ext cx="6719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FF0000"/>
                  </a:solidFill>
                  <a:latin typeface="+mn-lt"/>
                </a:rPr>
                <a:t>-0.5</a:t>
              </a: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001D1B49-8F48-A7AC-3FC0-6DFB4EB8F5DD}"/>
                </a:ext>
              </a:extLst>
            </p:cNvPr>
            <p:cNvSpPr txBox="1"/>
            <p:nvPr/>
          </p:nvSpPr>
          <p:spPr>
            <a:xfrm>
              <a:off x="4908999" y="5239474"/>
              <a:ext cx="577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0070C0"/>
                  </a:solidFill>
                  <a:latin typeface="+mn-lt"/>
                </a:rPr>
                <a:t>0.5</a:t>
              </a:r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06DCB34B-11AB-7BE0-2A51-76B48228414B}"/>
                </a:ext>
              </a:extLst>
            </p:cNvPr>
            <p:cNvSpPr txBox="1"/>
            <p:nvPr/>
          </p:nvSpPr>
          <p:spPr>
            <a:xfrm>
              <a:off x="6128198" y="5239474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FF0000"/>
                  </a:solidFill>
                  <a:latin typeface="+mn-lt"/>
                </a:rPr>
                <a:t>1.5</a:t>
              </a:r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8E144D39-EE80-5CC9-555C-8A7F0FBD1761}"/>
                </a:ext>
              </a:extLst>
            </p:cNvPr>
            <p:cNvSpPr txBox="1"/>
            <p:nvPr/>
          </p:nvSpPr>
          <p:spPr>
            <a:xfrm>
              <a:off x="7347398" y="5239474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0070C0"/>
                  </a:solidFill>
                  <a:latin typeface="+mn-lt"/>
                </a:rPr>
                <a:t>2.5</a:t>
              </a: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723C9C4C-FECE-CC2F-641C-E668E9ADCA33}"/>
                </a:ext>
              </a:extLst>
            </p:cNvPr>
            <p:cNvSpPr txBox="1"/>
            <p:nvPr/>
          </p:nvSpPr>
          <p:spPr>
            <a:xfrm>
              <a:off x="2414496" y="4914652"/>
              <a:ext cx="458172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Nearest even (default)</a:t>
              </a:r>
              <a:endParaRPr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36550278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686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Closer Look at Round-To-Even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435600"/>
          </a:xfrm>
          <a:ln/>
        </p:spPr>
        <p:txBody>
          <a:bodyPr/>
          <a:lstStyle/>
          <a:p>
            <a:r>
              <a:rPr lang="en-US" dirty="0"/>
              <a:t>Default Rounding Mode</a:t>
            </a:r>
          </a:p>
          <a:p>
            <a:pPr marL="552450" lvl="1"/>
            <a:r>
              <a:rPr lang="en-US" dirty="0"/>
              <a:t>Hard to get any other kind without dropping into assembly</a:t>
            </a:r>
          </a:p>
          <a:p>
            <a:pPr marL="552450" lvl="1"/>
            <a:r>
              <a:rPr lang="en-US" dirty="0"/>
              <a:t>All others are statistically biased</a:t>
            </a:r>
          </a:p>
          <a:p>
            <a:pPr marL="838200" lvl="2"/>
            <a:r>
              <a:rPr lang="en-US" dirty="0"/>
              <a:t>Sum of set of positive numbers will consistently be over- or under- estimated</a:t>
            </a:r>
          </a:p>
          <a:p>
            <a:endParaRPr lang="en-US" dirty="0"/>
          </a:p>
          <a:p>
            <a:r>
              <a:rPr lang="en-US" dirty="0"/>
              <a:t>Applying to Other Decimal Places / Bit Positions</a:t>
            </a:r>
          </a:p>
          <a:p>
            <a:pPr marL="552450" lvl="1"/>
            <a:r>
              <a:rPr lang="en-US" dirty="0"/>
              <a:t>When exactly halfway between two possible values</a:t>
            </a:r>
          </a:p>
          <a:p>
            <a:pPr marL="838200" lvl="2"/>
            <a:r>
              <a:rPr lang="en-US" dirty="0"/>
              <a:t>Round so that least significant digit is even</a:t>
            </a:r>
          </a:p>
          <a:p>
            <a:pPr marL="552450" lvl="1"/>
            <a:r>
              <a:rPr lang="en-US" dirty="0"/>
              <a:t>E.g., round to nearest hundredth</a:t>
            </a:r>
          </a:p>
          <a:p>
            <a:pPr marL="838200" lvl="2">
              <a:buNone/>
            </a:pPr>
            <a:r>
              <a:rPr lang="en-US" dirty="0"/>
              <a:t>	7.8949999	7.89	(Less than half way)</a:t>
            </a:r>
          </a:p>
          <a:p>
            <a:pPr marL="838200" lvl="2">
              <a:buNone/>
            </a:pPr>
            <a:r>
              <a:rPr lang="en-US" dirty="0"/>
              <a:t>	7.8950001	7.90	(Greater than half way)</a:t>
            </a:r>
          </a:p>
          <a:p>
            <a:pPr marL="838200" lvl="2">
              <a:buNone/>
            </a:pPr>
            <a:r>
              <a:rPr lang="en-US" dirty="0"/>
              <a:t>	7.8950000	7.90	(Half way—round up)</a:t>
            </a:r>
          </a:p>
          <a:p>
            <a:pPr marL="838200" lvl="2">
              <a:buNone/>
            </a:pPr>
            <a:r>
              <a:rPr lang="en-US" dirty="0"/>
              <a:t>	7.8850000	7.88	(Half way—round down)</a:t>
            </a:r>
          </a:p>
        </p:txBody>
      </p:sp>
    </p:spTree>
    <p:extLst>
      <p:ext uri="{BB962C8B-B14F-4D97-AF65-F5344CB8AC3E}">
        <p14:creationId xmlns:p14="http://schemas.microsoft.com/office/powerpoint/2010/main" val="1441765735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78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Rounding Binary Numbers</a:t>
            </a:r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Binary Fractional Numbers</a:t>
            </a:r>
          </a:p>
          <a:p>
            <a:pPr marL="552450" lvl="1"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“Even” when least significant bit is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endParaRPr lang="en-US" b="1" dirty="0">
              <a:latin typeface="Courier New"/>
              <a:cs typeface="Courier New"/>
            </a:endParaRPr>
          </a:p>
          <a:p>
            <a:pPr marL="552450" lvl="1"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“Half way” when bits to right of rounding position =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100…</a:t>
            </a:r>
            <a:r>
              <a:rPr lang="en-US" sz="1800" b="1" baseline="-6000" dirty="0"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b="1" dirty="0">
              <a:latin typeface="Courier New"/>
              <a:cs typeface="Courier New"/>
            </a:endParaRPr>
          </a:p>
          <a:p>
            <a:pPr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endParaRPr lang="en-US" dirty="0"/>
          </a:p>
          <a:p>
            <a:pPr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Examples</a:t>
            </a:r>
          </a:p>
          <a:p>
            <a:pPr marL="552450" lvl="1"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Round to nearest 1/4 (2 bits right of binary point)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Value	Binary	Rounded	Action	Rounded Value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2 3/32	10.00</a:t>
            </a:r>
            <a:r>
              <a:rPr lang="en-US" dirty="0">
                <a:solidFill>
                  <a:srgbClr val="980002"/>
                </a:solidFill>
              </a:rPr>
              <a:t>011</a:t>
            </a:r>
            <a:r>
              <a:rPr lang="en-US" baseline="-6000" dirty="0"/>
              <a:t>2</a:t>
            </a:r>
            <a:r>
              <a:rPr lang="en-US" dirty="0"/>
              <a:t>	10.00</a:t>
            </a:r>
            <a:r>
              <a:rPr lang="en-US" baseline="-6000" dirty="0"/>
              <a:t>2</a:t>
            </a:r>
            <a:r>
              <a:rPr lang="en-US" dirty="0"/>
              <a:t>	(&lt;1/2—down)	2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2 3/16	10.00</a:t>
            </a:r>
            <a:r>
              <a:rPr lang="en-US" dirty="0">
                <a:solidFill>
                  <a:srgbClr val="980002"/>
                </a:solidFill>
              </a:rPr>
              <a:t>110</a:t>
            </a:r>
            <a:r>
              <a:rPr lang="en-US" baseline="-6000" dirty="0"/>
              <a:t>2</a:t>
            </a:r>
            <a:r>
              <a:rPr lang="en-US" dirty="0"/>
              <a:t>	10.01</a:t>
            </a:r>
            <a:r>
              <a:rPr lang="en-US" baseline="-6000" dirty="0"/>
              <a:t>2</a:t>
            </a:r>
            <a:r>
              <a:rPr lang="en-US" dirty="0"/>
              <a:t>	(&gt;1/2—up)	2 1/4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2 7/8	10.11</a:t>
            </a:r>
            <a:r>
              <a:rPr lang="en-US" dirty="0">
                <a:solidFill>
                  <a:srgbClr val="980002"/>
                </a:solidFill>
              </a:rPr>
              <a:t>100</a:t>
            </a:r>
            <a:r>
              <a:rPr lang="en-US" baseline="-6000" dirty="0"/>
              <a:t>2</a:t>
            </a:r>
            <a:r>
              <a:rPr lang="en-US" dirty="0"/>
              <a:t>	11.00</a:t>
            </a:r>
            <a:r>
              <a:rPr lang="en-US" baseline="-6000" dirty="0"/>
              <a:t>2</a:t>
            </a:r>
            <a:r>
              <a:rPr lang="en-US" dirty="0"/>
              <a:t>	(  1/2—up)	3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2 5/8	10.10</a:t>
            </a:r>
            <a:r>
              <a:rPr lang="en-US" dirty="0">
                <a:solidFill>
                  <a:srgbClr val="980002"/>
                </a:solidFill>
              </a:rPr>
              <a:t>100</a:t>
            </a:r>
            <a:r>
              <a:rPr lang="en-US" baseline="-6000" dirty="0"/>
              <a:t>2</a:t>
            </a:r>
            <a:r>
              <a:rPr lang="en-US" dirty="0"/>
              <a:t>	10.10</a:t>
            </a:r>
            <a:r>
              <a:rPr lang="en-US" baseline="-6000" dirty="0"/>
              <a:t>2</a:t>
            </a:r>
            <a:r>
              <a:rPr lang="en-US" dirty="0"/>
              <a:t>	(  1/2—down)	2 1/2</a:t>
            </a:r>
          </a:p>
        </p:txBody>
      </p:sp>
    </p:spTree>
    <p:extLst>
      <p:ext uri="{BB962C8B-B14F-4D97-AF65-F5344CB8AC3E}">
        <p14:creationId xmlns:p14="http://schemas.microsoft.com/office/powerpoint/2010/main" val="1698719044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91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Creating Floating Point Number</a:t>
            </a:r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828800" algn="l"/>
              </a:tabLst>
            </a:pPr>
            <a:r>
              <a:rPr lang="en-US" dirty="0"/>
              <a:t>Steps</a:t>
            </a:r>
          </a:p>
          <a:p>
            <a:pPr marL="552450" lvl="1">
              <a:tabLst>
                <a:tab pos="1828800" algn="l"/>
              </a:tabLst>
            </a:pPr>
            <a:r>
              <a:rPr lang="en-US" dirty="0"/>
              <a:t>Normalize to have leading 1</a:t>
            </a:r>
          </a:p>
          <a:p>
            <a:pPr marL="552450" lvl="1">
              <a:tabLst>
                <a:tab pos="1828800" algn="l"/>
              </a:tabLst>
            </a:pPr>
            <a:r>
              <a:rPr lang="en-US" dirty="0"/>
              <a:t>Round to fit within fraction</a:t>
            </a:r>
          </a:p>
          <a:p>
            <a:pPr marL="552450" lvl="1">
              <a:tabLst>
                <a:tab pos="1828800" algn="l"/>
              </a:tabLst>
            </a:pPr>
            <a:r>
              <a:rPr lang="en-US" dirty="0" err="1"/>
              <a:t>Postnormalize</a:t>
            </a:r>
            <a:r>
              <a:rPr lang="en-US" dirty="0"/>
              <a:t> to deal with effects of rounding</a:t>
            </a:r>
          </a:p>
          <a:p>
            <a:pPr>
              <a:tabLst>
                <a:tab pos="1828800" algn="l"/>
              </a:tabLst>
            </a:pPr>
            <a:endParaRPr lang="en-US" dirty="0"/>
          </a:p>
          <a:p>
            <a:pPr>
              <a:tabLst>
                <a:tab pos="1828800" algn="l"/>
              </a:tabLst>
            </a:pPr>
            <a:r>
              <a:rPr lang="en-US" dirty="0"/>
              <a:t>Case Study</a:t>
            </a:r>
          </a:p>
          <a:p>
            <a:pPr marL="552450" lvl="1">
              <a:tabLst>
                <a:tab pos="1828800" algn="l"/>
              </a:tabLst>
            </a:pPr>
            <a:r>
              <a:rPr lang="en-US" dirty="0"/>
              <a:t>Convert 8-bit unsigned numbers to tiny floating point format</a:t>
            </a:r>
          </a:p>
          <a:p>
            <a:pPr marL="552450" lvl="1">
              <a:buNone/>
              <a:tabLst>
                <a:tab pos="1828800" algn="l"/>
              </a:tabLst>
            </a:pPr>
            <a:r>
              <a:rPr lang="en-US" dirty="0"/>
              <a:t>Example Numbers</a:t>
            </a: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128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10000000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15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00001101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33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00010001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35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00010011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138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10001010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63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00111111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</p:txBody>
      </p:sp>
      <p:graphicFrame>
        <p:nvGraphicFramePr>
          <p:cNvPr id="4915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829690"/>
              </p:ext>
            </p:extLst>
          </p:nvPr>
        </p:nvGraphicFramePr>
        <p:xfrm>
          <a:off x="4686300" y="14097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4-bits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356540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017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Normalize</a:t>
            </a:r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774825" algn="l"/>
                <a:tab pos="3511550" algn="l"/>
                <a:tab pos="5340350" algn="l"/>
              </a:tabLst>
            </a:pPr>
            <a:r>
              <a:rPr lang="en-US" dirty="0"/>
              <a:t>Requirement</a:t>
            </a:r>
          </a:p>
          <a:p>
            <a:pPr marL="552450" lvl="1">
              <a:tabLst>
                <a:tab pos="1774825" algn="l"/>
                <a:tab pos="3511550" algn="l"/>
                <a:tab pos="5340350" algn="l"/>
              </a:tabLst>
            </a:pPr>
            <a:r>
              <a:rPr lang="en-US" dirty="0"/>
              <a:t>Set binary point so that numbers of form 1.xxxxx</a:t>
            </a:r>
          </a:p>
          <a:p>
            <a:pPr marL="552450" lvl="1">
              <a:tabLst>
                <a:tab pos="1774825" algn="l"/>
                <a:tab pos="3511550" algn="l"/>
                <a:tab pos="5340350" algn="l"/>
              </a:tabLst>
            </a:pPr>
            <a:r>
              <a:rPr lang="en-US" dirty="0"/>
              <a:t>Adjust all to have leading one</a:t>
            </a:r>
          </a:p>
          <a:p>
            <a:pPr marL="838200" lvl="2">
              <a:tabLst>
                <a:tab pos="1774825" algn="l"/>
                <a:tab pos="3511550" algn="l"/>
                <a:tab pos="5340350" algn="l"/>
              </a:tabLst>
            </a:pPr>
            <a:r>
              <a:rPr lang="en-US" dirty="0"/>
              <a:t>Decrement exponent as shift left</a:t>
            </a: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Value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Binary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Fraction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Exponent</a:t>
            </a:r>
            <a:endParaRPr lang="en-US" dirty="0"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128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10000000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1.0000000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7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15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00001101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1.1010000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3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17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00010001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1.0001000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4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19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00010011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1.0011000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4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138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10001010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1.0001010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7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63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00111111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1.1111100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5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</p:txBody>
      </p:sp>
      <p:graphicFrame>
        <p:nvGraphicFramePr>
          <p:cNvPr id="5018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861857"/>
              </p:ext>
            </p:extLst>
          </p:nvPr>
        </p:nvGraphicFramePr>
        <p:xfrm>
          <a:off x="4279900" y="6350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4-bits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016756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120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Rounding</a:t>
            </a:r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2844800"/>
            <a:ext cx="8382000" cy="3987800"/>
          </a:xfrm>
          <a:ln/>
        </p:spPr>
        <p:txBody>
          <a:bodyPr/>
          <a:lstStyle/>
          <a:p>
            <a:pPr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dirty="0"/>
              <a:t>Round up conditions</a:t>
            </a:r>
          </a:p>
          <a:p>
            <a:pPr marL="552450" lvl="1"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dirty="0">
                <a:ea typeface="Zapf Dingbats" charset="0"/>
                <a:cs typeface="Zapf Dingbats" charset="0"/>
              </a:rPr>
              <a:t>Round = 1, Sticky = 1 ➙ &gt; 0.5</a:t>
            </a:r>
            <a:endParaRPr lang="en-US" dirty="0"/>
          </a:p>
          <a:p>
            <a:pPr marL="552450" lvl="1"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dirty="0">
                <a:ea typeface="Zapf Dingbats" charset="0"/>
                <a:cs typeface="Zapf Dingbats" charset="0"/>
              </a:rPr>
              <a:t>Guard = 1, Round = 1, Sticky = 0 ➙ Round to even</a:t>
            </a:r>
            <a:endParaRPr lang="en-US" dirty="0"/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Value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Fraction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GRS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Incr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?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Rounded</a:t>
            </a:r>
            <a:endParaRPr lang="en-US" dirty="0"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128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1.000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0000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N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1.000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15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1.101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0000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N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1.101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17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1.000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1000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010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N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1.000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19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1.001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1000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110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Y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1.010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138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1.000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1010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011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Y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1.001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63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1.111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1100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111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Y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10.000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</p:txBody>
      </p:sp>
      <p:sp>
        <p:nvSpPr>
          <p:cNvPr id="51205" name="Rectangle 5"/>
          <p:cNvSpPr>
            <a:spLocks/>
          </p:cNvSpPr>
          <p:nvPr/>
        </p:nvSpPr>
        <p:spPr bwMode="auto">
          <a:xfrm>
            <a:off x="3745618" y="698500"/>
            <a:ext cx="2570340" cy="630942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1.BBG</a:t>
            </a:r>
            <a:r>
              <a:rPr lang="en-US" sz="3600" b="1" dirty="0">
                <a:solidFill>
                  <a:srgbClr val="CC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RXXX</a:t>
            </a:r>
          </a:p>
        </p:txBody>
      </p:sp>
      <p:sp>
        <p:nvSpPr>
          <p:cNvPr id="51206" name="Rectangle 6"/>
          <p:cNvSpPr>
            <a:spLocks/>
          </p:cNvSpPr>
          <p:nvPr/>
        </p:nvSpPr>
        <p:spPr bwMode="auto">
          <a:xfrm>
            <a:off x="144463" y="1450975"/>
            <a:ext cx="3060700" cy="4445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Guard bit: LSB of result</a:t>
            </a:r>
          </a:p>
        </p:txBody>
      </p:sp>
      <p:sp>
        <p:nvSpPr>
          <p:cNvPr id="51207" name="Rectangle 7"/>
          <p:cNvSpPr>
            <a:spLocks/>
          </p:cNvSpPr>
          <p:nvPr/>
        </p:nvSpPr>
        <p:spPr bwMode="auto">
          <a:xfrm>
            <a:off x="669925" y="2149475"/>
            <a:ext cx="3389313" cy="4445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Round bit: 1</a:t>
            </a:r>
            <a:r>
              <a:rPr lang="en-US" sz="2400" baseline="30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</a:t>
            </a: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bit removed</a:t>
            </a:r>
          </a:p>
        </p:txBody>
      </p:sp>
      <p:sp>
        <p:nvSpPr>
          <p:cNvPr id="51208" name="AutoShape 8"/>
          <p:cNvSpPr>
            <a:spLocks/>
          </p:cNvSpPr>
          <p:nvPr/>
        </p:nvSpPr>
        <p:spPr bwMode="auto">
          <a:xfrm rot="-5400000">
            <a:off x="5708650" y="1084263"/>
            <a:ext cx="381000" cy="7747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0005"/>
                  <a:pt x="10800" y="18036"/>
                </a:cubicBezTo>
                <a:lnTo>
                  <a:pt x="10800" y="14364"/>
                </a:lnTo>
                <a:cubicBezTo>
                  <a:pt x="10800" y="12395"/>
                  <a:pt x="5965" y="10800"/>
                  <a:pt x="0" y="10800"/>
                </a:cubicBezTo>
                <a:cubicBezTo>
                  <a:pt x="5965" y="10800"/>
                  <a:pt x="10800" y="9204"/>
                  <a:pt x="10800" y="7236"/>
                </a:cubicBezTo>
                <a:lnTo>
                  <a:pt x="10800" y="3564"/>
                </a:lnTo>
                <a:cubicBezTo>
                  <a:pt x="10800" y="1596"/>
                  <a:pt x="15635" y="0"/>
                  <a:pt x="21600" y="0"/>
                </a:cubicBezTo>
              </a:path>
            </a:pathLst>
          </a:cu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09" name="Rectangle 9"/>
          <p:cNvSpPr>
            <a:spLocks/>
          </p:cNvSpPr>
          <p:nvPr/>
        </p:nvSpPr>
        <p:spPr bwMode="auto">
          <a:xfrm>
            <a:off x="5026025" y="1798638"/>
            <a:ext cx="3983038" cy="4445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400" dirty="0">
                <a:solidFill>
                  <a:srgbClr val="FF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ticky bit: OR of remaining bits</a:t>
            </a:r>
          </a:p>
        </p:txBody>
      </p:sp>
      <p:sp>
        <p:nvSpPr>
          <p:cNvPr id="51210" name="Freeform 10"/>
          <p:cNvSpPr>
            <a:spLocks/>
          </p:cNvSpPr>
          <p:nvPr/>
        </p:nvSpPr>
        <p:spPr bwMode="auto">
          <a:xfrm>
            <a:off x="4064000" y="1258888"/>
            <a:ext cx="1231900" cy="1090612"/>
          </a:xfrm>
          <a:custGeom>
            <a:avLst/>
            <a:gdLst/>
            <a:ahLst/>
            <a:cxnLst>
              <a:cxn ang="0">
                <a:pos x="0" y="19500"/>
              </a:cxn>
              <a:cxn ang="0">
                <a:pos x="21380" y="3812"/>
              </a:cxn>
              <a:cxn ang="0">
                <a:pos x="21159" y="628"/>
              </a:cxn>
            </a:cxnLst>
            <a:rect l="0" t="0" r="r" b="b"/>
            <a:pathLst>
              <a:path w="21381" h="19500">
                <a:moveTo>
                  <a:pt x="0" y="19500"/>
                </a:moveTo>
                <a:cubicBezTo>
                  <a:pt x="0" y="19500"/>
                  <a:pt x="21600" y="9723"/>
                  <a:pt x="21380" y="3812"/>
                </a:cubicBezTo>
                <a:cubicBezTo>
                  <a:pt x="21159" y="-2100"/>
                  <a:pt x="21159" y="628"/>
                  <a:pt x="21159" y="628"/>
                </a:cubicBezTo>
              </a:path>
            </a:pathLst>
          </a:cu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1" name="Freeform 11"/>
          <p:cNvSpPr>
            <a:spLocks/>
          </p:cNvSpPr>
          <p:nvPr/>
        </p:nvSpPr>
        <p:spPr bwMode="auto">
          <a:xfrm>
            <a:off x="3251200" y="1320800"/>
            <a:ext cx="1790700" cy="596900"/>
          </a:xfrm>
          <a:custGeom>
            <a:avLst/>
            <a:gdLst/>
            <a:ahLst/>
            <a:cxnLst>
              <a:cxn ang="0">
                <a:pos x="0" y="12462"/>
              </a:cxn>
              <a:cxn ang="0">
                <a:pos x="11949" y="19108"/>
              </a:cxn>
              <a:cxn ang="0">
                <a:pos x="21600" y="4154"/>
              </a:cxn>
              <a:cxn ang="0">
                <a:pos x="21447" y="0"/>
              </a:cxn>
            </a:cxnLst>
            <a:rect l="0" t="0" r="r" b="b"/>
            <a:pathLst>
              <a:path w="21600" h="19538">
                <a:moveTo>
                  <a:pt x="0" y="12462"/>
                </a:moveTo>
                <a:cubicBezTo>
                  <a:pt x="0" y="12462"/>
                  <a:pt x="5668" y="21600"/>
                  <a:pt x="11949" y="19108"/>
                </a:cubicBezTo>
                <a:cubicBezTo>
                  <a:pt x="18230" y="16615"/>
                  <a:pt x="21600" y="4985"/>
                  <a:pt x="21600" y="4154"/>
                </a:cubicBezTo>
                <a:cubicBezTo>
                  <a:pt x="21600" y="3323"/>
                  <a:pt x="21447" y="0"/>
                  <a:pt x="21447" y="0"/>
                </a:cubicBezTo>
              </a:path>
            </a:pathLst>
          </a:cu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23943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222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Postnormalize</a:t>
            </a:r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dirty="0"/>
              <a:t>Issue</a:t>
            </a:r>
          </a:p>
          <a:p>
            <a:pPr marL="552450" lvl="1"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dirty="0"/>
              <a:t>Rounding may have caused overflow</a:t>
            </a:r>
          </a:p>
          <a:p>
            <a:pPr marL="552450" lvl="1"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dirty="0"/>
              <a:t>Handle by shifting right once &amp; incrementing exponent</a:t>
            </a: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Value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Rounded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Adjusted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Result</a:t>
            </a:r>
            <a:endParaRPr lang="en-US" dirty="0"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128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1.000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7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128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15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1.101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3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15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17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1.000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4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16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19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1.010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4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20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138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1.001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7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134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63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10.000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5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1.000/6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64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252112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Rounding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900" b="0" dirty="0">
                <a:hlinkClick r:id="rId2"/>
              </a:rPr>
              <a:t>http://www.gnu.org/s/libc/manual/html_node/Rounding-Functions.html</a:t>
            </a:r>
            <a:endParaRPr lang="en-US" sz="1900" b="0" dirty="0"/>
          </a:p>
          <a:p>
            <a:pPr lvl="1"/>
            <a:r>
              <a:rPr lang="en-US" sz="1400" b="0" dirty="0"/>
              <a:t>double </a:t>
            </a:r>
            <a:r>
              <a:rPr lang="en-US" sz="1400" b="0" dirty="0" err="1"/>
              <a:t>rint</a:t>
            </a:r>
            <a:r>
              <a:rPr lang="en-US" sz="1400" b="0" dirty="0"/>
              <a:t> (</a:t>
            </a:r>
            <a:r>
              <a:rPr lang="en-US" sz="1400" b="0" i="1" dirty="0"/>
              <a:t>double </a:t>
            </a:r>
            <a:r>
              <a:rPr lang="en-US" sz="1400" b="0" i="1" dirty="0" err="1"/>
              <a:t>x</a:t>
            </a:r>
            <a:r>
              <a:rPr lang="en-US" sz="1400" b="0" dirty="0"/>
              <a:t>), float </a:t>
            </a:r>
            <a:r>
              <a:rPr lang="en-US" sz="1400" b="0" dirty="0" err="1"/>
              <a:t>rintf</a:t>
            </a:r>
            <a:r>
              <a:rPr lang="en-US" sz="1400" b="0" dirty="0"/>
              <a:t> (</a:t>
            </a:r>
            <a:r>
              <a:rPr lang="en-US" sz="1400" b="0" i="1" dirty="0"/>
              <a:t>float </a:t>
            </a:r>
            <a:r>
              <a:rPr lang="en-US" sz="1400" b="0" i="1" dirty="0" err="1"/>
              <a:t>x</a:t>
            </a:r>
            <a:r>
              <a:rPr lang="en-US" sz="1400" b="0" dirty="0"/>
              <a:t>), long double </a:t>
            </a:r>
            <a:r>
              <a:rPr lang="en-US" sz="1400" b="0" dirty="0" err="1"/>
              <a:t>rintl</a:t>
            </a:r>
            <a:r>
              <a:rPr lang="en-US" sz="1400" b="0" dirty="0"/>
              <a:t> (</a:t>
            </a:r>
            <a:r>
              <a:rPr lang="en-US" sz="1400" b="0" i="1" dirty="0"/>
              <a:t>long double </a:t>
            </a:r>
            <a:r>
              <a:rPr lang="en-US" sz="1400" b="0" i="1" dirty="0" err="1"/>
              <a:t>x</a:t>
            </a:r>
            <a:r>
              <a:rPr lang="en-US" sz="1400" b="0" dirty="0"/>
              <a:t>)</a:t>
            </a:r>
            <a:br>
              <a:rPr lang="en-US" sz="1400" b="0" dirty="0"/>
            </a:br>
            <a:r>
              <a:rPr lang="en-US" sz="1400" b="0" dirty="0"/>
              <a:t>These functions round </a:t>
            </a:r>
            <a:r>
              <a:rPr lang="en-US" sz="1400" b="0" i="1" dirty="0" err="1"/>
              <a:t>x</a:t>
            </a:r>
            <a:r>
              <a:rPr lang="en-US" sz="1400" b="0" dirty="0"/>
              <a:t> to an integer value according to the current rounding mode. See </a:t>
            </a:r>
            <a:r>
              <a:rPr lang="en-US" sz="1400" b="0" dirty="0">
                <a:hlinkClick r:id="rId3"/>
              </a:rPr>
              <a:t>Floating Point Parameters</a:t>
            </a:r>
            <a:r>
              <a:rPr lang="en-US" sz="1400" b="0" dirty="0"/>
              <a:t>, for information about the various rounding modes. The default rounding mode is to round to the nearest integer; some machines support other modes, but round-to-nearest is always used unless you explicitly select another. </a:t>
            </a:r>
          </a:p>
          <a:p>
            <a:pPr lvl="1"/>
            <a:r>
              <a:rPr lang="en-US" sz="1400" b="0" dirty="0"/>
              <a:t>If </a:t>
            </a:r>
            <a:r>
              <a:rPr lang="en-US" sz="1400" b="0" i="1" dirty="0" err="1"/>
              <a:t>x</a:t>
            </a:r>
            <a:r>
              <a:rPr lang="en-US" sz="1400" b="0" dirty="0"/>
              <a:t> was not initially an integer, these functions raise the inexact exception. </a:t>
            </a:r>
            <a:endParaRPr lang="en-US" sz="3600" dirty="0"/>
          </a:p>
          <a:p>
            <a:r>
              <a:rPr lang="en-US" sz="1900" b="0" dirty="0">
                <a:hlinkClick r:id="rId3"/>
              </a:rPr>
              <a:t>http://www.gnu.org/s/libc/manual/html_node/Floating-Point-Parameters.html#Floating-Point-Parameters</a:t>
            </a:r>
            <a:endParaRPr lang="en-US" sz="1900" b="0" dirty="0"/>
          </a:p>
          <a:p>
            <a:pPr lvl="1"/>
            <a:r>
              <a:rPr lang="en-US" sz="1400" b="0" dirty="0"/>
              <a:t>FLT_ROUNDS characterizes the rounding mode for floating point addition. Standard rounding modes: </a:t>
            </a:r>
          </a:p>
          <a:p>
            <a:pPr lvl="2"/>
            <a:r>
              <a:rPr lang="en-US" sz="1400" b="0" dirty="0"/>
              <a:t>-1: The mode is indeterminable. </a:t>
            </a:r>
          </a:p>
          <a:p>
            <a:pPr lvl="2"/>
            <a:r>
              <a:rPr lang="en-US" sz="1400" b="0" dirty="0"/>
              <a:t>0: Rounding is towards zero. </a:t>
            </a:r>
          </a:p>
          <a:p>
            <a:pPr lvl="2"/>
            <a:r>
              <a:rPr lang="en-US" sz="1400" b="0" dirty="0"/>
              <a:t>1: Rounding is to the nearest number. </a:t>
            </a:r>
          </a:p>
          <a:p>
            <a:pPr lvl="2"/>
            <a:r>
              <a:rPr lang="en-US" sz="1400" b="0" dirty="0"/>
              <a:t>2: Rounding is towards positive infinity. </a:t>
            </a:r>
          </a:p>
          <a:p>
            <a:pPr lvl="2"/>
            <a:r>
              <a:rPr lang="en-US" sz="1400" b="0" dirty="0"/>
              <a:t>3:Rounding is towards negative infinity. </a:t>
            </a:r>
          </a:p>
        </p:txBody>
      </p:sp>
    </p:spTree>
    <p:extLst>
      <p:ext uri="{BB962C8B-B14F-4D97-AF65-F5344CB8AC3E}">
        <p14:creationId xmlns:p14="http://schemas.microsoft.com/office/powerpoint/2010/main" val="1297364585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3743-928D-4DF4-B254-AF4E1D8D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f instead of </a:t>
            </a:r>
            <a:r>
              <a:rPr lang="en-US" dirty="0" err="1"/>
              <a:t>i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CD4B0-92DD-4568-A0FE-47A0BFFA0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200400"/>
            <a:ext cx="8382000" cy="2819400"/>
          </a:xfrm>
        </p:spPr>
        <p:txBody>
          <a:bodyPr/>
          <a:lstStyle/>
          <a:p>
            <a:r>
              <a:rPr lang="en-US" dirty="0"/>
              <a:t>What would happen?</a:t>
            </a:r>
          </a:p>
          <a:p>
            <a:endParaRPr lang="en-US" dirty="0"/>
          </a:p>
          <a:p>
            <a:r>
              <a:rPr lang="en-US" dirty="0"/>
              <a:t>What would happen if we had a “short float” representation?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834798-42F9-401B-8F37-D005D8F63DF7}"/>
              </a:ext>
            </a:extLst>
          </p:cNvPr>
          <p:cNvSpPr>
            <a:spLocks/>
          </p:cNvSpPr>
          <p:nvPr/>
        </p:nvSpPr>
        <p:spPr bwMode="auto">
          <a:xfrm>
            <a:off x="528638" y="1504949"/>
            <a:ext cx="7548562" cy="1314451"/>
          </a:xfrm>
          <a:prstGeom prst="rect">
            <a:avLst/>
          </a:prstGeom>
          <a:solidFill>
            <a:srgbClr val="FF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float f=0;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for (f=0;f&lt;10000000000.0;f+=1)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printf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(“%f\n”);</a:t>
            </a:r>
          </a:p>
          <a:p>
            <a:pPr algn="l"/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graphicFrame>
        <p:nvGraphicFramePr>
          <p:cNvPr id="5" name="Group 5">
            <a:extLst>
              <a:ext uri="{FF2B5EF4-FFF2-40B4-BE49-F238E27FC236}">
                <a16:creationId xmlns:a16="http://schemas.microsoft.com/office/drawing/2014/main" id="{6B845199-43E3-43A5-8D65-584D43B40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474263"/>
              </p:ext>
            </p:extLst>
          </p:nvPr>
        </p:nvGraphicFramePr>
        <p:xfrm>
          <a:off x="547688" y="4765675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7-bits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8-bits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888685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AF3A6-3E0A-47ED-A33C-44CB59EA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94908-331B-41C5-AB69-106E168B8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Write a C expression that will yield a word consisting of the least significant byte of x and the remaining bytes of y. For  instance, for operands x = 0x89ABCDEF and y = 0x76543210, the Result = 0x765432EF. Your code should work for all word sizes (short/int/long). Write the C expression that would be inserted into the blank shown below:</a:t>
            </a:r>
          </a:p>
          <a:p>
            <a:r>
              <a:rPr lang="en-US" dirty="0">
                <a:latin typeface="Courier New Bold" panose="02070609020205020404" pitchFamily="49" charset="0"/>
                <a:cs typeface="Courier New Bold" panose="02070609020205020404" pitchFamily="49" charset="0"/>
              </a:rPr>
              <a:t>Result = (x&amp;0xFF)|(y&amp;~0xFF);</a:t>
            </a:r>
          </a:p>
          <a:p>
            <a:endParaRPr lang="en-US" dirty="0">
              <a:latin typeface="Courier New Bold" panose="02070609020205020404" pitchFamily="49" charset="0"/>
              <a:cs typeface="Courier New Bold" panose="020706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088583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AF3A6-3E0A-47ED-A33C-44CB59EA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94908-331B-41C5-AB69-106E168B8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032000"/>
            <a:ext cx="8382000" cy="4800600"/>
          </a:xfrm>
        </p:spPr>
        <p:txBody>
          <a:bodyPr/>
          <a:lstStyle/>
          <a:p>
            <a:r>
              <a:rPr lang="en-US" dirty="0"/>
              <a:t>Smallest Positive Nonzero number as double</a:t>
            </a:r>
          </a:p>
          <a:p>
            <a:pPr lvl="1"/>
            <a:r>
              <a:rPr lang="en-US" dirty="0"/>
              <a:t>0 00000000000 0000000000000000000000000000000000000000000000000001</a:t>
            </a:r>
          </a:p>
          <a:p>
            <a:pPr lvl="1"/>
            <a:r>
              <a:rPr lang="en-US" dirty="0"/>
              <a:t>Value = (-1)^0 * 2^(-52) *2^(1-1023) = 2^(-1074)</a:t>
            </a:r>
          </a:p>
          <a:p>
            <a:r>
              <a:rPr lang="en-US" dirty="0"/>
              <a:t>Largest positive Non-infinity number as double</a:t>
            </a:r>
          </a:p>
          <a:p>
            <a:pPr lvl="1"/>
            <a:r>
              <a:rPr lang="en-US" dirty="0"/>
              <a:t>0 11111111110 11111111111111111111111111111111111111111111111111111</a:t>
            </a:r>
          </a:p>
          <a:p>
            <a:pPr lvl="1"/>
            <a:r>
              <a:rPr lang="en-US" dirty="0"/>
              <a:t>Value = (-1)^0 * (2-2^(-52)) *2^((2^11-2)-(2^10-1)) </a:t>
            </a:r>
          </a:p>
          <a:p>
            <a:pPr lvl="1"/>
            <a:r>
              <a:rPr lang="en-US" dirty="0"/>
              <a:t>= (2-2^(-52)) *2^((2^11-2)-(2^10-1)) </a:t>
            </a:r>
          </a:p>
          <a:p>
            <a:pPr lvl="1"/>
            <a:r>
              <a:rPr lang="en-US" dirty="0"/>
              <a:t>=(2-2^(-52)) *2^(2^10-1)</a:t>
            </a:r>
          </a:p>
          <a:p>
            <a:pPr lvl="1"/>
            <a:r>
              <a:rPr lang="en-US" dirty="0"/>
              <a:t>= 2^(2^10) - 2^(-52)+2^10-1)</a:t>
            </a:r>
          </a:p>
          <a:p>
            <a:pPr lvl="1"/>
            <a:r>
              <a:rPr lang="en-US" dirty="0"/>
              <a:t>= 2^1024 – 2^(-52+1023) = 2^1024 – 2^971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4" name="Group 29">
            <a:extLst>
              <a:ext uri="{FF2B5EF4-FFF2-40B4-BE49-F238E27FC236}">
                <a16:creationId xmlns:a16="http://schemas.microsoft.com/office/drawing/2014/main" id="{C9706AAC-B2DF-4EDC-B8A2-28E208635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866069"/>
              </p:ext>
            </p:extLst>
          </p:nvPr>
        </p:nvGraphicFramePr>
        <p:xfrm>
          <a:off x="889000" y="1206500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11-bits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52-bits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6DABE5F-BFC0-42E5-981C-2B84A41B65B9}"/>
              </a:ext>
            </a:extLst>
          </p:cNvPr>
          <p:cNvSpPr/>
          <p:nvPr/>
        </p:nvSpPr>
        <p:spPr>
          <a:xfrm>
            <a:off x="2743200" y="425390"/>
            <a:ext cx="5511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1" indent="-234950" algn="l">
              <a:spcBef>
                <a:spcPts val="500"/>
              </a:spcBef>
              <a:buClr>
                <a:srgbClr val="990000"/>
              </a:buClr>
              <a:buSzPct val="110000"/>
              <a:buFont typeface="Wingdings" charset="2"/>
              <a:buChar char="§"/>
            </a:pPr>
            <a:r>
              <a:rPr lang="en-US" sz="2000" kern="0" dirty="0">
                <a:latin typeface="Calibri" charset="0"/>
                <a:sym typeface="Calibri" charset="0"/>
              </a:rPr>
              <a:t>e= 11 bits =&gt; Bias=2^(e-1)-1 = 2^10-1= 1023</a:t>
            </a:r>
          </a:p>
        </p:txBody>
      </p:sp>
    </p:spTree>
    <p:extLst>
      <p:ext uri="{BB962C8B-B14F-4D97-AF65-F5344CB8AC3E}">
        <p14:creationId xmlns:p14="http://schemas.microsoft.com/office/powerpoint/2010/main" val="63910224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3E12-D179-44C5-9CF3-AB84608F2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B342F-5966-404F-AD35-4FDDADFF5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133600"/>
            <a:ext cx="8382000" cy="4699000"/>
          </a:xfrm>
        </p:spPr>
        <p:txBody>
          <a:bodyPr/>
          <a:lstStyle/>
          <a:p>
            <a:r>
              <a:rPr lang="en-US" dirty="0"/>
              <a:t>Float representation of 1024.75 in Hex</a:t>
            </a:r>
          </a:p>
          <a:p>
            <a:r>
              <a:rPr lang="en-US" dirty="0"/>
              <a:t>Binary representation</a:t>
            </a:r>
          </a:p>
          <a:p>
            <a:pPr lvl="1"/>
            <a:r>
              <a:rPr lang="en-US" dirty="0"/>
              <a:t>1024.75 = 10000000000.11</a:t>
            </a:r>
          </a:p>
          <a:p>
            <a:pPr lvl="1"/>
            <a:r>
              <a:rPr lang="en-US" dirty="0"/>
              <a:t>= 1.000000000011 * 2^10</a:t>
            </a:r>
          </a:p>
          <a:p>
            <a:pPr lvl="1"/>
            <a:r>
              <a:rPr lang="en-US" dirty="0"/>
              <a:t>M=1.000000000011</a:t>
            </a:r>
          </a:p>
          <a:p>
            <a:pPr lvl="2"/>
            <a:r>
              <a:rPr lang="en-US" dirty="0"/>
              <a:t>frac = </a:t>
            </a:r>
            <a:r>
              <a:rPr lang="en-US" dirty="0">
                <a:solidFill>
                  <a:srgbClr val="0070C0"/>
                </a:solidFill>
              </a:rPr>
              <a:t>00000000001100000000000</a:t>
            </a:r>
          </a:p>
          <a:p>
            <a:pPr lvl="1"/>
            <a:r>
              <a:rPr lang="en-US" dirty="0"/>
              <a:t>E=10</a:t>
            </a:r>
          </a:p>
          <a:p>
            <a:pPr lvl="2"/>
            <a:r>
              <a:rPr lang="en-US" dirty="0"/>
              <a:t>exp= Bias + E = 137 = </a:t>
            </a:r>
            <a:r>
              <a:rPr lang="en-US" dirty="0">
                <a:solidFill>
                  <a:srgbClr val="FF0000"/>
                </a:solidFill>
              </a:rPr>
              <a:t>10001001</a:t>
            </a:r>
            <a:r>
              <a:rPr lang="en-US" dirty="0"/>
              <a:t> </a:t>
            </a:r>
          </a:p>
          <a:p>
            <a:r>
              <a:rPr lang="en-US" dirty="0"/>
              <a:t>0 </a:t>
            </a:r>
            <a:r>
              <a:rPr lang="en-US" dirty="0">
                <a:solidFill>
                  <a:srgbClr val="FF0000"/>
                </a:solidFill>
              </a:rPr>
              <a:t>10001001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00000000001100000000000</a:t>
            </a:r>
          </a:p>
          <a:p>
            <a:r>
              <a:rPr lang="en-US" dirty="0"/>
              <a:t>0</a:t>
            </a:r>
            <a:r>
              <a:rPr lang="en-US" dirty="0">
                <a:solidFill>
                  <a:srgbClr val="FF0000"/>
                </a:solidFill>
              </a:rPr>
              <a:t>100 0100 1</a:t>
            </a:r>
            <a:r>
              <a:rPr lang="en-US" dirty="0">
                <a:solidFill>
                  <a:srgbClr val="0070C0"/>
                </a:solidFill>
              </a:rPr>
              <a:t>000 0000 0001 1000 0000 0000</a:t>
            </a:r>
          </a:p>
          <a:p>
            <a:r>
              <a:rPr lang="en-US" dirty="0"/>
              <a:t>0x44801800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Group 5">
            <a:extLst>
              <a:ext uri="{FF2B5EF4-FFF2-40B4-BE49-F238E27FC236}">
                <a16:creationId xmlns:a16="http://schemas.microsoft.com/office/drawing/2014/main" id="{868BF26A-F2F9-486D-D07E-B4D218898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272369"/>
              </p:ext>
            </p:extLst>
          </p:nvPr>
        </p:nvGraphicFramePr>
        <p:xfrm>
          <a:off x="1600200" y="1407886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8-bits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23-bits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3979D7D-DD64-681D-1BCC-0F6B6AB82BC0}"/>
              </a:ext>
            </a:extLst>
          </p:cNvPr>
          <p:cNvSpPr/>
          <p:nvPr/>
        </p:nvSpPr>
        <p:spPr>
          <a:xfrm>
            <a:off x="3632200" y="625445"/>
            <a:ext cx="5511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1" indent="-234950" algn="l">
              <a:spcBef>
                <a:spcPts val="500"/>
              </a:spcBef>
              <a:buClr>
                <a:srgbClr val="990000"/>
              </a:buClr>
              <a:buSzPct val="110000"/>
              <a:buFont typeface="Wingdings" charset="2"/>
              <a:buChar char="§"/>
            </a:pPr>
            <a:r>
              <a:rPr lang="en-US" sz="2000" kern="0" dirty="0">
                <a:latin typeface="Calibri" charset="0"/>
                <a:sym typeface="Calibri" charset="0"/>
              </a:rPr>
              <a:t>e= 8 bits =&gt; Bias=2^(e-1)-1 = 2^7-1= 127</a:t>
            </a:r>
          </a:p>
        </p:txBody>
      </p:sp>
    </p:spTree>
    <p:extLst>
      <p:ext uri="{BB962C8B-B14F-4D97-AF65-F5344CB8AC3E}">
        <p14:creationId xmlns:p14="http://schemas.microsoft.com/office/powerpoint/2010/main" val="4279688554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/>
          </p:cNvSpPr>
          <p:nvPr/>
        </p:nvSpPr>
        <p:spPr bwMode="auto">
          <a:xfrm>
            <a:off x="528638" y="1504949"/>
            <a:ext cx="2527300" cy="1323975"/>
          </a:xfrm>
          <a:prstGeom prst="rect">
            <a:avLst/>
          </a:prstGeom>
          <a:solidFill>
            <a:srgbClr val="FF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typedef union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float f;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unsigned u;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bit_float_t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</p:txBody>
      </p:sp>
      <p:sp>
        <p:nvSpPr>
          <p:cNvPr id="32772" name="Rectangle 4"/>
          <p:cNvSpPr>
            <a:spLocks/>
          </p:cNvSpPr>
          <p:nvPr/>
        </p:nvSpPr>
        <p:spPr bwMode="auto">
          <a:xfrm>
            <a:off x="604838" y="3289300"/>
            <a:ext cx="3898900" cy="1816100"/>
          </a:xfrm>
          <a:prstGeom prst="rect">
            <a:avLst/>
          </a:prstGeom>
          <a:solidFill>
            <a:srgbClr val="FF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float bit2float(unsigned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bit_float_t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arg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arg.u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arg.f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32773" name="Rectangle 5"/>
          <p:cNvSpPr>
            <a:spLocks/>
          </p:cNvSpPr>
          <p:nvPr/>
        </p:nvSpPr>
        <p:spPr bwMode="auto">
          <a:xfrm>
            <a:off x="4724400" y="3292474"/>
            <a:ext cx="3898900" cy="1812925"/>
          </a:xfrm>
          <a:prstGeom prst="rect">
            <a:avLst/>
          </a:prstGeom>
          <a:solidFill>
            <a:srgbClr val="FF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unsigned float2bit(float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bit_float_t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arg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arg.f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arg.u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244475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/>
              <a:t>Using Union to Access Bit Patterns</a:t>
            </a:r>
          </a:p>
        </p:txBody>
      </p:sp>
      <p:sp>
        <p:nvSpPr>
          <p:cNvPr id="32775" name="Rectangle 7"/>
          <p:cNvSpPr>
            <a:spLocks/>
          </p:cNvSpPr>
          <p:nvPr/>
        </p:nvSpPr>
        <p:spPr bwMode="auto">
          <a:xfrm>
            <a:off x="593725" y="5257800"/>
            <a:ext cx="3149600" cy="4572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Same as </a:t>
            </a:r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(float) 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? </a:t>
            </a:r>
          </a:p>
        </p:txBody>
      </p:sp>
      <p:sp>
        <p:nvSpPr>
          <p:cNvPr id="32776" name="Rectangle 8"/>
          <p:cNvSpPr>
            <a:spLocks/>
          </p:cNvSpPr>
          <p:nvPr/>
        </p:nvSpPr>
        <p:spPr bwMode="auto">
          <a:xfrm>
            <a:off x="4722813" y="5257800"/>
            <a:ext cx="3886200" cy="4572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Same as </a:t>
            </a:r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(unsigned) 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f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? </a:t>
            </a:r>
          </a:p>
        </p:txBody>
      </p:sp>
      <p:graphicFrame>
        <p:nvGraphicFramePr>
          <p:cNvPr id="32777" name="Group 9"/>
          <p:cNvGraphicFramePr>
            <a:graphicFrameLocks noGrp="1"/>
          </p:cNvGraphicFramePr>
          <p:nvPr/>
        </p:nvGraphicFramePr>
        <p:xfrm>
          <a:off x="4622800" y="1498600"/>
          <a:ext cx="1905000" cy="1143000"/>
        </p:xfrm>
        <a:graphic>
          <a:graphicData uri="http://schemas.openxmlformats.org/drawingml/2006/table">
            <a:tbl>
              <a:tblPr/>
              <a:tblGrid>
                <a:gridCol w="31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u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f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D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AF3A6-3E0A-47ED-A33C-44CB59EA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2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8111E84-9359-C578-0D59-E8E335B6EFB8}"/>
              </a:ext>
            </a:extLst>
          </p:cNvPr>
          <p:cNvSpPr>
            <a:spLocks/>
          </p:cNvSpPr>
          <p:nvPr/>
        </p:nvSpPr>
        <p:spPr bwMode="auto">
          <a:xfrm>
            <a:off x="609600" y="2908570"/>
            <a:ext cx="7366000" cy="3111230"/>
          </a:xfrm>
          <a:prstGeom prst="rect">
            <a:avLst/>
          </a:prstGeom>
          <a:solidFill>
            <a:srgbClr val="FF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#include 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stdio.h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&gt;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union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float f;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unsigned u;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 main(){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x.f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=1024.75;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printf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(”Hex representation: %x\n”,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x.u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/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graphicFrame>
        <p:nvGraphicFramePr>
          <p:cNvPr id="10" name="Group 5">
            <a:extLst>
              <a:ext uri="{FF2B5EF4-FFF2-40B4-BE49-F238E27FC236}">
                <a16:creationId xmlns:a16="http://schemas.microsoft.com/office/drawing/2014/main" id="{9F863980-F1B3-9CAC-C813-37FDA1786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999580"/>
              </p:ext>
            </p:extLst>
          </p:nvPr>
        </p:nvGraphicFramePr>
        <p:xfrm>
          <a:off x="1676400" y="1066800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8-bits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23-bits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C655CF2-C56C-4D93-982C-C9FBD9BBD258}"/>
              </a:ext>
            </a:extLst>
          </p:cNvPr>
          <p:cNvSpPr txBox="1"/>
          <p:nvPr/>
        </p:nvSpPr>
        <p:spPr>
          <a:xfrm>
            <a:off x="228600" y="2209800"/>
            <a:ext cx="4581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Float representation of 1024.75 in Hex</a:t>
            </a:r>
          </a:p>
        </p:txBody>
      </p:sp>
    </p:spTree>
    <p:extLst>
      <p:ext uri="{BB962C8B-B14F-4D97-AF65-F5344CB8AC3E}">
        <p14:creationId xmlns:p14="http://schemas.microsoft.com/office/powerpoint/2010/main" val="1813580531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AF3A6-3E0A-47ED-A33C-44CB59EA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2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8111E84-9359-C578-0D59-E8E335B6EFB8}"/>
              </a:ext>
            </a:extLst>
          </p:cNvPr>
          <p:cNvSpPr>
            <a:spLocks/>
          </p:cNvSpPr>
          <p:nvPr/>
        </p:nvSpPr>
        <p:spPr bwMode="auto">
          <a:xfrm>
            <a:off x="609600" y="2908570"/>
            <a:ext cx="7924800" cy="3111230"/>
          </a:xfrm>
          <a:prstGeom prst="rect">
            <a:avLst/>
          </a:prstGeom>
          <a:solidFill>
            <a:srgbClr val="FF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#include 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stdio.h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&gt;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union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double d;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unsigned u;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 main(){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x.u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=0x1;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printf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("Double representation: %.1000g\n",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x.d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655CF2-C56C-4D93-982C-C9FBD9BBD258}"/>
              </a:ext>
            </a:extLst>
          </p:cNvPr>
          <p:cNvSpPr txBox="1"/>
          <p:nvPr/>
        </p:nvSpPr>
        <p:spPr>
          <a:xfrm>
            <a:off x="337766" y="1902524"/>
            <a:ext cx="7620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Smallest Positive Nonzero number as double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0 00000000000 0000000000000000000000000000000000000000000000000001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= 0x1 in hex</a:t>
            </a:r>
          </a:p>
        </p:txBody>
      </p:sp>
      <p:graphicFrame>
        <p:nvGraphicFramePr>
          <p:cNvPr id="4" name="Group 29">
            <a:extLst>
              <a:ext uri="{FF2B5EF4-FFF2-40B4-BE49-F238E27FC236}">
                <a16:creationId xmlns:a16="http://schemas.microsoft.com/office/drawing/2014/main" id="{50D0E3AA-0C02-1E92-7AA2-F1F14F64A2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454697"/>
              </p:ext>
            </p:extLst>
          </p:nvPr>
        </p:nvGraphicFramePr>
        <p:xfrm>
          <a:off x="1752600" y="710438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11-bits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52-bits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59479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23637</TotalTime>
  <Pages>0</Pages>
  <Words>5257</Words>
  <Characters>0</Characters>
  <Application>Microsoft Macintosh PowerPoint</Application>
  <PresentationFormat>On-screen Show (4:3)</PresentationFormat>
  <Lines>0</Lines>
  <Paragraphs>1037</Paragraphs>
  <Slides>61</Slides>
  <Notes>6</Notes>
  <HiddenSlides>1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83" baseType="lpstr">
      <vt:lpstr>Arial</vt:lpstr>
      <vt:lpstr>Arial Narrow</vt:lpstr>
      <vt:lpstr>Arial Narrow Bold</vt:lpstr>
      <vt:lpstr>Arial Narrow Bold Italic</vt:lpstr>
      <vt:lpstr>Calibri</vt:lpstr>
      <vt:lpstr>Calibri Bold</vt:lpstr>
      <vt:lpstr>Calibri Bold Italic</vt:lpstr>
      <vt:lpstr>Calibri Italic</vt:lpstr>
      <vt:lpstr>Courier New</vt:lpstr>
      <vt:lpstr>Courier New Bold</vt:lpstr>
      <vt:lpstr>Gill Sans</vt:lpstr>
      <vt:lpstr>Helvetica</vt:lpstr>
      <vt:lpstr>Monaco</vt:lpstr>
      <vt:lpstr>Times</vt:lpstr>
      <vt:lpstr>Times New Roman</vt:lpstr>
      <vt:lpstr>Wingdings</vt:lpstr>
      <vt:lpstr>Wingdings 2</vt:lpstr>
      <vt:lpstr>Title Slide</vt:lpstr>
      <vt:lpstr>Title and Content</vt:lpstr>
      <vt:lpstr>Title Only</vt:lpstr>
      <vt:lpstr>template2007</vt:lpstr>
      <vt:lpstr>Worksheet</vt:lpstr>
      <vt:lpstr>Floating Point  </vt:lpstr>
      <vt:lpstr>Today: Floating Point</vt:lpstr>
      <vt:lpstr>Fractional binary numbers</vt:lpstr>
      <vt:lpstr>Fractional Binary Numbers</vt:lpstr>
      <vt:lpstr>Fractional Binary Numbers: Examples</vt:lpstr>
      <vt:lpstr>Representable Numbers</vt:lpstr>
      <vt:lpstr>Today: Floating Point</vt:lpstr>
      <vt:lpstr>IEEE Floating Point</vt:lpstr>
      <vt:lpstr>Floating Point Representation</vt:lpstr>
      <vt:lpstr>Precision options</vt:lpstr>
      <vt:lpstr>“Normalized” Values</vt:lpstr>
      <vt:lpstr>“Normalized” Values</vt:lpstr>
      <vt:lpstr>Normalized Encoding Example</vt:lpstr>
      <vt:lpstr>Denormalized Values</vt:lpstr>
      <vt:lpstr>Denormalized Values</vt:lpstr>
      <vt:lpstr>Special Values</vt:lpstr>
      <vt:lpstr>Visualization: Floating Point Encodings</vt:lpstr>
      <vt:lpstr>Today: Floating Point</vt:lpstr>
      <vt:lpstr>Tiny Floating Point Example</vt:lpstr>
      <vt:lpstr>Dynamic Range (Positive Only)</vt:lpstr>
      <vt:lpstr>Dynamic Range (Positive Only)</vt:lpstr>
      <vt:lpstr>Dynamic Range (Positive Only)</vt:lpstr>
      <vt:lpstr>Dynamic Range (Positive Only)</vt:lpstr>
      <vt:lpstr>Dynamic Range (Positive Only)</vt:lpstr>
      <vt:lpstr>Dynamic Range (Positive Only)</vt:lpstr>
      <vt:lpstr>Distribution of Values</vt:lpstr>
      <vt:lpstr>Distribution of Values (close-up view)</vt:lpstr>
      <vt:lpstr>Special Properties of the IEEE Encoding</vt:lpstr>
      <vt:lpstr>Today: Floating Point</vt:lpstr>
      <vt:lpstr>Floating Point Operations: Basic Idea</vt:lpstr>
      <vt:lpstr>FP Multiplication</vt:lpstr>
      <vt:lpstr>Floating Point Addition</vt:lpstr>
      <vt:lpstr>Today: Floating Point</vt:lpstr>
      <vt:lpstr>Floating Point in C</vt:lpstr>
      <vt:lpstr>Interesting Numbers</vt:lpstr>
      <vt:lpstr>Mathematical Properties of FP Add</vt:lpstr>
      <vt:lpstr>Mathematical Properties of FP Mult</vt:lpstr>
      <vt:lpstr>Ariane 5</vt:lpstr>
      <vt:lpstr>Floating Point Puzzles</vt:lpstr>
      <vt:lpstr>Summary</vt:lpstr>
      <vt:lpstr>Additional Slides</vt:lpstr>
      <vt:lpstr>Rounding</vt:lpstr>
      <vt:lpstr>Rounding: Towards Zero</vt:lpstr>
      <vt:lpstr>Rounding: Round down (−)</vt:lpstr>
      <vt:lpstr>Rounding: Round up (+)</vt:lpstr>
      <vt:lpstr>Rounding: Nearest Even</vt:lpstr>
      <vt:lpstr>4 modes of rounding – for midway values</vt:lpstr>
      <vt:lpstr>Closer Look at Round-To-Even</vt:lpstr>
      <vt:lpstr>Rounding Binary Numbers</vt:lpstr>
      <vt:lpstr>Creating Floating Point Number</vt:lpstr>
      <vt:lpstr>Normalize</vt:lpstr>
      <vt:lpstr>Rounding</vt:lpstr>
      <vt:lpstr>Postnormalize</vt:lpstr>
      <vt:lpstr>Rounding in C</vt:lpstr>
      <vt:lpstr>Using f instead of i?</vt:lpstr>
      <vt:lpstr>Quiz 1</vt:lpstr>
      <vt:lpstr>Quiz 2</vt:lpstr>
      <vt:lpstr>Quiz 2</vt:lpstr>
      <vt:lpstr>Using Union to Access Bit Patterns</vt:lpstr>
      <vt:lpstr>Quiz 2</vt:lpstr>
      <vt:lpstr>Quiz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 1st Lecture, Jan. 12th</dc:title>
  <dc:creator>Markus Pueschel</dc:creator>
  <cp:lastModifiedBy>Erol Sahin</cp:lastModifiedBy>
  <cp:revision>104</cp:revision>
  <cp:lastPrinted>2020-10-25T17:42:51Z</cp:lastPrinted>
  <dcterms:created xsi:type="dcterms:W3CDTF">2012-09-06T15:16:51Z</dcterms:created>
  <dcterms:modified xsi:type="dcterms:W3CDTF">2022-10-21T08:57:25Z</dcterms:modified>
</cp:coreProperties>
</file>