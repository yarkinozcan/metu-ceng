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542" r:id="rId2"/>
    <p:sldId id="781" r:id="rId3"/>
    <p:sldId id="782" r:id="rId4"/>
    <p:sldId id="720" r:id="rId5"/>
    <p:sldId id="710" r:id="rId6"/>
    <p:sldId id="711" r:id="rId7"/>
    <p:sldId id="712" r:id="rId8"/>
    <p:sldId id="713" r:id="rId9"/>
    <p:sldId id="714" r:id="rId10"/>
    <p:sldId id="715" r:id="rId11"/>
    <p:sldId id="716" r:id="rId12"/>
    <p:sldId id="717" r:id="rId13"/>
    <p:sldId id="718" r:id="rId14"/>
    <p:sldId id="719" r:id="rId15"/>
    <p:sldId id="681" r:id="rId16"/>
    <p:sldId id="692" r:id="rId17"/>
    <p:sldId id="706" r:id="rId18"/>
    <p:sldId id="658" r:id="rId19"/>
    <p:sldId id="690" r:id="rId20"/>
    <p:sldId id="683" r:id="rId21"/>
    <p:sldId id="671" r:id="rId22"/>
    <p:sldId id="673" r:id="rId23"/>
    <p:sldId id="674" r:id="rId24"/>
    <p:sldId id="675" r:id="rId25"/>
    <p:sldId id="676" r:id="rId26"/>
    <p:sldId id="691" r:id="rId27"/>
    <p:sldId id="755" r:id="rId28"/>
    <p:sldId id="733" r:id="rId29"/>
    <p:sldId id="756" r:id="rId30"/>
    <p:sldId id="734" r:id="rId31"/>
    <p:sldId id="735" r:id="rId32"/>
    <p:sldId id="783" r:id="rId33"/>
  </p:sldIdLst>
  <p:sldSz cx="9144000" cy="6858000" type="screen4x3"/>
  <p:notesSz cx="7104063" cy="10234613"/>
  <p:custDataLst>
    <p:tags r:id="rId3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96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clrMru>
    <a:srgbClr val="C00000"/>
    <a:srgbClr val="EFBFBF"/>
    <a:srgbClr val="E0F4E3"/>
    <a:srgbClr val="E0E0E0"/>
    <a:srgbClr val="E3E4E6"/>
    <a:srgbClr val="FFFF99"/>
    <a:srgbClr val="FF9999"/>
    <a:srgbClr val="A8E799"/>
    <a:srgbClr val="CDF1C5"/>
    <a:srgbClr val="F1C7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3265"/>
  </p:normalViewPr>
  <p:slideViewPr>
    <p:cSldViewPr snapToObjects="1">
      <p:cViewPr varScale="1">
        <p:scale>
          <a:sx n="119" d="100"/>
          <a:sy n="119" d="100"/>
        </p:scale>
        <p:origin x="976" y="184"/>
      </p:cViewPr>
      <p:guideLst>
        <p:guide orient="horz" pos="249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464"/>
    </p:cViewPr>
  </p:sorterViewPr>
  <p:notesViewPr>
    <p:cSldViewPr snapToObjects="1">
      <p:cViewPr varScale="1">
        <p:scale>
          <a:sx n="70" d="100"/>
          <a:sy n="70" d="100"/>
        </p:scale>
        <p:origin x="-2384" y="-120"/>
      </p:cViewPr>
      <p:guideLst>
        <p:guide orient="horz" pos="3223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8582" y="0"/>
            <a:ext cx="3045481" cy="515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8582" y="9705850"/>
            <a:ext cx="3045481" cy="515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1548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3433" cy="488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02985" y="0"/>
            <a:ext cx="3113433" cy="488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4088" y="731838"/>
            <a:ext cx="5207000" cy="3905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63681" y="4880888"/>
            <a:ext cx="5189055" cy="4555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61775"/>
            <a:ext cx="3113433" cy="488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02985" y="9761775"/>
            <a:ext cx="3113433" cy="488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57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61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1"/>
          <p:cNvSpPr txBox="1">
            <a:spLocks noChangeArrowheads="1"/>
          </p:cNvSpPr>
          <p:nvPr/>
        </p:nvSpPr>
        <p:spPr bwMode="auto">
          <a:xfrm>
            <a:off x="1000771" y="775150"/>
            <a:ext cx="5102522" cy="382465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body"/>
          </p:nvPr>
        </p:nvSpPr>
        <p:spPr>
          <a:xfrm>
            <a:off x="946739" y="4861886"/>
            <a:ext cx="5205888" cy="4599801"/>
          </a:xfrm>
          <a:noFill/>
          <a:ln/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817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1"/>
          <p:cNvSpPr txBox="1">
            <a:spLocks noChangeArrowheads="1"/>
          </p:cNvSpPr>
          <p:nvPr/>
        </p:nvSpPr>
        <p:spPr bwMode="auto">
          <a:xfrm>
            <a:off x="1000771" y="775150"/>
            <a:ext cx="5102522" cy="382465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body"/>
          </p:nvPr>
        </p:nvSpPr>
        <p:spPr>
          <a:xfrm>
            <a:off x="946739" y="4861886"/>
            <a:ext cx="5205888" cy="4599801"/>
          </a:xfrm>
          <a:noFill/>
          <a:ln/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73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1"/>
          <p:cNvSpPr txBox="1">
            <a:spLocks noChangeArrowheads="1"/>
          </p:cNvSpPr>
          <p:nvPr/>
        </p:nvSpPr>
        <p:spPr bwMode="auto">
          <a:xfrm>
            <a:off x="1000771" y="775150"/>
            <a:ext cx="5102522" cy="382465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body"/>
          </p:nvPr>
        </p:nvSpPr>
        <p:spPr>
          <a:xfrm>
            <a:off x="946739" y="4861886"/>
            <a:ext cx="5205888" cy="4599801"/>
          </a:xfrm>
          <a:noFill/>
          <a:ln/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538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 Box 1"/>
          <p:cNvSpPr txBox="1">
            <a:spLocks noChangeArrowheads="1"/>
          </p:cNvSpPr>
          <p:nvPr/>
        </p:nvSpPr>
        <p:spPr bwMode="auto">
          <a:xfrm>
            <a:off x="1000771" y="775150"/>
            <a:ext cx="5102522" cy="382465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100355" name="Rectangle 2"/>
          <p:cNvSpPr>
            <a:spLocks noGrp="1" noChangeArrowheads="1"/>
          </p:cNvSpPr>
          <p:nvPr>
            <p:ph type="body"/>
          </p:nvPr>
        </p:nvSpPr>
        <p:spPr>
          <a:xfrm>
            <a:off x="946739" y="4861886"/>
            <a:ext cx="5205888" cy="4599801"/>
          </a:xfrm>
          <a:noFill/>
          <a:ln/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21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 Box 1"/>
          <p:cNvSpPr txBox="1">
            <a:spLocks noChangeArrowheads="1"/>
          </p:cNvSpPr>
          <p:nvPr/>
        </p:nvSpPr>
        <p:spPr bwMode="auto">
          <a:xfrm>
            <a:off x="1000771" y="775150"/>
            <a:ext cx="5102522" cy="382465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102403" name="Rectangle 2"/>
          <p:cNvSpPr>
            <a:spLocks noGrp="1" noChangeArrowheads="1"/>
          </p:cNvSpPr>
          <p:nvPr>
            <p:ph type="body"/>
          </p:nvPr>
        </p:nvSpPr>
        <p:spPr>
          <a:xfrm>
            <a:off x="946739" y="4861886"/>
            <a:ext cx="5205888" cy="4599801"/>
          </a:xfrm>
          <a:noFill/>
          <a:ln/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604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ext Box 1"/>
          <p:cNvSpPr txBox="1">
            <a:spLocks noChangeArrowheads="1"/>
          </p:cNvSpPr>
          <p:nvPr/>
        </p:nvSpPr>
        <p:spPr bwMode="auto">
          <a:xfrm>
            <a:off x="1000771" y="775150"/>
            <a:ext cx="5102522" cy="382465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body"/>
          </p:nvPr>
        </p:nvSpPr>
        <p:spPr>
          <a:xfrm>
            <a:off x="946739" y="4861886"/>
            <a:ext cx="5205888" cy="4599801"/>
          </a:xfrm>
          <a:noFill/>
          <a:ln/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0819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1"/>
          <p:cNvSpPr txBox="1">
            <a:spLocks noChangeArrowheads="1"/>
          </p:cNvSpPr>
          <p:nvPr/>
        </p:nvSpPr>
        <p:spPr bwMode="auto">
          <a:xfrm>
            <a:off x="1000771" y="775150"/>
            <a:ext cx="5102522" cy="382465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106499" name="Rectangle 2"/>
          <p:cNvSpPr>
            <a:spLocks noGrp="1" noChangeArrowheads="1"/>
          </p:cNvSpPr>
          <p:nvPr>
            <p:ph type="body"/>
          </p:nvPr>
        </p:nvSpPr>
        <p:spPr>
          <a:xfrm>
            <a:off x="946739" y="4861886"/>
            <a:ext cx="5205888" cy="4599801"/>
          </a:xfrm>
          <a:noFill/>
          <a:ln/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661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1"/>
          <p:cNvSpPr txBox="1">
            <a:spLocks noChangeArrowheads="1"/>
          </p:cNvSpPr>
          <p:nvPr/>
        </p:nvSpPr>
        <p:spPr bwMode="auto">
          <a:xfrm>
            <a:off x="1212202" y="1023906"/>
            <a:ext cx="4679661" cy="350704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108547" name="Rectangle 2"/>
          <p:cNvSpPr>
            <a:spLocks noGrp="1" noChangeArrowheads="1"/>
          </p:cNvSpPr>
          <p:nvPr>
            <p:ph type="body"/>
          </p:nvPr>
        </p:nvSpPr>
        <p:spPr>
          <a:xfrm>
            <a:off x="946739" y="4861886"/>
            <a:ext cx="5205888" cy="4599801"/>
          </a:xfrm>
          <a:noFill/>
          <a:ln/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8187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1"/>
          <p:cNvSpPr txBox="1">
            <a:spLocks noChangeArrowheads="1"/>
          </p:cNvSpPr>
          <p:nvPr/>
        </p:nvSpPr>
        <p:spPr bwMode="auto">
          <a:xfrm>
            <a:off x="1000771" y="775150"/>
            <a:ext cx="5102522" cy="382465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110595" name="Rectangle 2"/>
          <p:cNvSpPr>
            <a:spLocks noGrp="1" noChangeArrowheads="1"/>
          </p:cNvSpPr>
          <p:nvPr>
            <p:ph type="body"/>
          </p:nvPr>
        </p:nvSpPr>
        <p:spPr>
          <a:xfrm>
            <a:off x="946739" y="4861886"/>
            <a:ext cx="5205888" cy="4599801"/>
          </a:xfrm>
          <a:noFill/>
          <a:ln/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9139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1"/>
          <p:cNvSpPr txBox="1">
            <a:spLocks noChangeArrowheads="1"/>
          </p:cNvSpPr>
          <p:nvPr/>
        </p:nvSpPr>
        <p:spPr bwMode="auto">
          <a:xfrm>
            <a:off x="1000771" y="775150"/>
            <a:ext cx="5102522" cy="382465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112643" name="Rectangle 2"/>
          <p:cNvSpPr>
            <a:spLocks noGrp="1" noChangeArrowheads="1"/>
          </p:cNvSpPr>
          <p:nvPr>
            <p:ph type="body"/>
          </p:nvPr>
        </p:nvSpPr>
        <p:spPr>
          <a:xfrm>
            <a:off x="946739" y="4861886"/>
            <a:ext cx="5205888" cy="4599801"/>
          </a:xfrm>
          <a:noFill/>
          <a:ln/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1704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59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314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124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234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1000040" y="774642"/>
            <a:ext cx="5103986" cy="382479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9080" tIns="44540" rIns="89080" bIns="44540" anchor="ctr"/>
          <a:lstStyle/>
          <a:p>
            <a:endParaRPr lang="tr-TR"/>
          </a:p>
        </p:txBody>
      </p:sp>
      <p:sp>
        <p:nvSpPr>
          <p:cNvPr id="40963" name="Text Box 3"/>
          <p:cNvSpPr>
            <a:spLocks noGrp="1" noChangeArrowheads="1"/>
          </p:cNvSpPr>
          <p:nvPr>
            <p:ph type="body"/>
          </p:nvPr>
        </p:nvSpPr>
        <p:spPr>
          <a:xfrm>
            <a:off x="947319" y="4860534"/>
            <a:ext cx="5206132" cy="4602895"/>
          </a:xfrm>
          <a:noFill/>
          <a:ln w="9525"/>
        </p:spPr>
        <p:txBody>
          <a:bodyPr wrap="none" anchor="ctr"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68826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813" y="247650"/>
            <a:ext cx="8710612" cy="7810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90513" y="1220788"/>
            <a:ext cx="4073525" cy="5221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516438" y="1220788"/>
            <a:ext cx="4075112" cy="5221287"/>
          </a:xfrm>
        </p:spPr>
        <p:txBody>
          <a:bodyPr/>
          <a:lstStyle/>
          <a:p>
            <a:pPr lv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100132310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7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itchFamily="18" charset="0"/>
              </a:rPr>
              <a:t>Carnegie Mellon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  <p:sldLayoutId id="2147483668" r:id="rId14"/>
  </p:sldLayoutIdLst>
  <p:hf sldNum="0" hdr="0" ftr="0" dt="0"/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sapp.cs.cmu.edu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685800" y="1708150"/>
            <a:ext cx="7772400" cy="1470025"/>
          </a:xfrm>
        </p:spPr>
        <p:txBody>
          <a:bodyPr/>
          <a:lstStyle/>
          <a:p>
            <a:pPr marL="0" lvl="0" indent="0">
              <a:defRPr/>
            </a:pPr>
            <a:r>
              <a:rPr lang="en-US" dirty="0"/>
              <a:t>Bits, Bytes, and Integers</a:t>
            </a:r>
            <a:br>
              <a:rPr lang="en-US" dirty="0"/>
            </a:br>
            <a:br>
              <a:rPr lang="en-US" dirty="0"/>
            </a:br>
            <a:r>
              <a:rPr lang="en-US" sz="2000" b="0" dirty="0"/>
              <a:t>CENG331  - Computer Organization 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685800" y="4267200"/>
            <a:ext cx="7677492" cy="1752600"/>
          </a:xfrm>
        </p:spPr>
        <p:txBody>
          <a:bodyPr/>
          <a:lstStyle/>
          <a:p>
            <a:pPr lvl="0">
              <a:defRPr/>
            </a:pPr>
            <a:endParaRPr lang="en-US" dirty="0"/>
          </a:p>
          <a:p>
            <a:pPr lvl="0">
              <a:defRPr/>
            </a:pPr>
            <a:endParaRPr lang="en-US" dirty="0"/>
          </a:p>
          <a:p>
            <a:pPr lvl="0">
              <a:defRPr/>
            </a:pPr>
            <a:endParaRPr lang="en-US" dirty="0"/>
          </a:p>
          <a:p>
            <a:pPr lvl="0">
              <a:defRPr/>
            </a:pPr>
            <a:endParaRPr lang="en-US" dirty="0"/>
          </a:p>
          <a:p>
            <a:pPr lvl="0">
              <a:defRPr/>
            </a:pPr>
            <a:r>
              <a:rPr lang="en-US" sz="1600" dirty="0"/>
              <a:t>Adapted from slides of the textbook: </a:t>
            </a:r>
            <a:r>
              <a:rPr lang="en-US" sz="1600" dirty="0">
                <a:hlinkClick r:id="rId3"/>
              </a:rPr>
              <a:t>http://csapp.cs.cmu.edu/</a:t>
            </a:r>
            <a:r>
              <a:rPr lang="en-US" sz="1600" dirty="0"/>
              <a:t> 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59BD4-C90B-DF42-8485-53E7E33F5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18" y="449125"/>
            <a:ext cx="7592093" cy="762000"/>
          </a:xfrm>
        </p:spPr>
        <p:txBody>
          <a:bodyPr/>
          <a:lstStyle/>
          <a:p>
            <a:r>
              <a:rPr lang="tr-TR" dirty="0" err="1"/>
              <a:t>Warmup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6AF1CD-50E1-6642-9ECB-2CABEDD3A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211124"/>
            <a:ext cx="4210411" cy="561388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56A91-B6E8-B949-9853-288EEEFE0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2119" y="2542119"/>
            <a:ext cx="1860546" cy="3922133"/>
          </a:xfrm>
        </p:spPr>
        <p:txBody>
          <a:bodyPr/>
          <a:lstStyle/>
          <a:p>
            <a:pPr marL="0" indent="0" algn="ctr">
              <a:buNone/>
            </a:pPr>
            <a:r>
              <a:rPr lang="tr-TR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There</a:t>
            </a:r>
            <a:r>
              <a:rPr lang="tr-TR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</a:t>
            </a:r>
            <a:r>
              <a:rPr lang="tr-TR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are</a:t>
            </a:r>
            <a:r>
              <a:rPr lang="tr-TR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10 </a:t>
            </a:r>
            <a:r>
              <a:rPr lang="tr-TR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kinds</a:t>
            </a:r>
            <a:r>
              <a:rPr lang="tr-TR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of </a:t>
            </a:r>
            <a:r>
              <a:rPr lang="tr-TR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people</a:t>
            </a:r>
            <a:r>
              <a:rPr lang="tr-TR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in </a:t>
            </a:r>
            <a:r>
              <a:rPr lang="tr-TR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the</a:t>
            </a:r>
            <a:r>
              <a:rPr lang="tr-TR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</a:t>
            </a:r>
            <a:r>
              <a:rPr lang="tr-TR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world</a:t>
            </a:r>
            <a:r>
              <a:rPr lang="tr-TR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: </a:t>
            </a:r>
            <a:r>
              <a:rPr lang="tr-TR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Those</a:t>
            </a:r>
            <a:r>
              <a:rPr lang="tr-TR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</a:t>
            </a:r>
            <a:r>
              <a:rPr lang="tr-TR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who</a:t>
            </a:r>
            <a:r>
              <a:rPr lang="tr-TR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</a:t>
            </a:r>
            <a:r>
              <a:rPr lang="tr-TR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know</a:t>
            </a:r>
            <a:r>
              <a:rPr lang="tr-TR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</a:t>
            </a:r>
            <a:r>
              <a:rPr lang="tr-TR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binary</a:t>
            </a:r>
            <a:r>
              <a:rPr lang="tr-TR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</a:t>
            </a:r>
            <a:r>
              <a:rPr lang="tr-TR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numbers</a:t>
            </a:r>
            <a:r>
              <a:rPr lang="tr-TR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, </a:t>
            </a:r>
            <a:r>
              <a:rPr lang="tr-TR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and</a:t>
            </a:r>
            <a:r>
              <a:rPr lang="tr-TR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</a:t>
            </a:r>
            <a:r>
              <a:rPr lang="tr-TR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those</a:t>
            </a:r>
            <a:r>
              <a:rPr lang="tr-TR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</a:t>
            </a:r>
            <a:r>
              <a:rPr lang="tr-TR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who</a:t>
            </a:r>
            <a:r>
              <a:rPr lang="tr-TR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</a:t>
            </a:r>
            <a:r>
              <a:rPr lang="tr-TR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don’t</a:t>
            </a:r>
            <a:r>
              <a:rPr lang="tr-TR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934131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907966-CE91-CC26-4CFD-F44EF4099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762000"/>
            <a:ext cx="4456580" cy="594210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586243-A25B-55CE-A229-5F4C2D923890}"/>
              </a:ext>
            </a:extLst>
          </p:cNvPr>
          <p:cNvSpPr txBox="1">
            <a:spLocks/>
          </p:cNvSpPr>
          <p:nvPr/>
        </p:nvSpPr>
        <p:spPr bwMode="auto">
          <a:xfrm>
            <a:off x="3631230" y="2253140"/>
            <a:ext cx="1906967" cy="4099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ctr">
              <a:buFont typeface="Wingdings 2" pitchFamily="18" charset="2"/>
              <a:buNone/>
            </a:pPr>
            <a:r>
              <a:rPr lang="tr-TR" kern="0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There</a:t>
            </a:r>
            <a:r>
              <a:rPr lang="tr-TR" kern="0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</a:t>
            </a:r>
            <a:r>
              <a:rPr lang="tr-TR" kern="0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are</a:t>
            </a:r>
            <a:r>
              <a:rPr lang="tr-TR" kern="0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3 </a:t>
            </a:r>
            <a:r>
              <a:rPr lang="tr-TR" kern="0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kinds</a:t>
            </a:r>
            <a:r>
              <a:rPr lang="tr-TR" kern="0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of </a:t>
            </a:r>
            <a:r>
              <a:rPr lang="tr-TR" kern="0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people</a:t>
            </a:r>
            <a:r>
              <a:rPr lang="tr-TR" kern="0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in </a:t>
            </a:r>
            <a:r>
              <a:rPr lang="tr-TR" kern="0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the</a:t>
            </a:r>
            <a:r>
              <a:rPr lang="tr-TR" kern="0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</a:t>
            </a:r>
            <a:r>
              <a:rPr lang="tr-TR" kern="0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world</a:t>
            </a:r>
            <a:r>
              <a:rPr lang="tr-TR" kern="0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: </a:t>
            </a:r>
            <a:r>
              <a:rPr lang="tr-TR" kern="0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Those</a:t>
            </a:r>
            <a:r>
              <a:rPr lang="tr-TR" kern="0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</a:t>
            </a:r>
            <a:r>
              <a:rPr lang="tr-TR" kern="0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who</a:t>
            </a:r>
            <a:r>
              <a:rPr lang="tr-TR" kern="0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can </a:t>
            </a:r>
            <a:r>
              <a:rPr lang="tr-TR" kern="0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count</a:t>
            </a:r>
            <a:r>
              <a:rPr lang="tr-TR" kern="0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</a:t>
            </a:r>
            <a:r>
              <a:rPr lang="tr-TR" kern="0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and</a:t>
            </a:r>
            <a:r>
              <a:rPr lang="tr-TR" kern="0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</a:t>
            </a:r>
            <a:r>
              <a:rPr lang="tr-TR" kern="0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those</a:t>
            </a:r>
            <a:r>
              <a:rPr lang="tr-TR" kern="0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</a:t>
            </a:r>
            <a:r>
              <a:rPr lang="tr-TR" kern="0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who</a:t>
            </a:r>
            <a:r>
              <a:rPr lang="tr-TR" kern="0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 </a:t>
            </a:r>
            <a:r>
              <a:rPr lang="tr-TR" kern="0" dirty="0" err="1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can’t</a:t>
            </a:r>
            <a:r>
              <a:rPr lang="tr-TR" kern="0" dirty="0">
                <a:solidFill>
                  <a:schemeClr val="bg1"/>
                </a:solidFill>
                <a:latin typeface="+mj-lt"/>
                <a:ea typeface="Apple Color Emoji" pitchFamily="2" charset="0"/>
                <a:cs typeface="Adobe Arabic" panose="02040503050201020203" pitchFamily="18" charset="-78"/>
              </a:rPr>
              <a:t>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A946CA-FDA4-BA51-9166-40BFC46B7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18" y="449125"/>
            <a:ext cx="7592093" cy="762000"/>
          </a:xfrm>
        </p:spPr>
        <p:txBody>
          <a:bodyPr/>
          <a:lstStyle/>
          <a:p>
            <a:r>
              <a:rPr lang="tr-TR" dirty="0" err="1"/>
              <a:t>Warmup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6787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World!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happens under the hood?</a:t>
            </a:r>
          </a:p>
        </p:txBody>
      </p:sp>
    </p:spTree>
    <p:extLst>
      <p:ext uri="{BB962C8B-B14F-4D97-AF65-F5344CB8AC3E}">
        <p14:creationId xmlns:p14="http://schemas.microsoft.com/office/powerpoint/2010/main" val="393122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247650"/>
            <a:ext cx="8716962" cy="782638"/>
          </a:xfrm>
        </p:spPr>
        <p:txBody>
          <a:bodyPr/>
          <a:lstStyle/>
          <a:p>
            <a:pPr eaLnBrk="1" hangingPunct="1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hello.c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30338" y="1317625"/>
            <a:ext cx="6189662" cy="2263775"/>
          </a:xfrm>
          <a:ln w="38160">
            <a:solidFill>
              <a:srgbClr val="000066"/>
            </a:solidFill>
            <a:miter lim="800000"/>
          </a:ln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1250"/>
              </a:spcBef>
              <a:buNone/>
              <a:tabLst>
                <a:tab pos="336550" algn="l"/>
                <a:tab pos="411163" algn="l"/>
                <a:tab pos="868363" algn="l"/>
                <a:tab pos="1325563" algn="l"/>
                <a:tab pos="1782763" algn="l"/>
                <a:tab pos="2239963" algn="l"/>
                <a:tab pos="2697163" algn="l"/>
                <a:tab pos="3154363" algn="l"/>
                <a:tab pos="3611563" algn="l"/>
                <a:tab pos="4068763" algn="l"/>
                <a:tab pos="4525963" algn="l"/>
                <a:tab pos="4983163" algn="l"/>
                <a:tab pos="5440363" algn="l"/>
                <a:tab pos="5897563" algn="l"/>
                <a:tab pos="6354763" algn="l"/>
                <a:tab pos="6811963" algn="l"/>
                <a:tab pos="7269163" algn="l"/>
                <a:tab pos="7726363" algn="l"/>
                <a:tab pos="8183563" algn="l"/>
                <a:tab pos="8640763" algn="l"/>
                <a:tab pos="9097963" algn="l"/>
              </a:tabLst>
            </a:pPr>
            <a:r>
              <a:rPr lang="en-GB" sz="2000" dirty="0">
                <a:latin typeface="Courier New" charset="0"/>
              </a:rPr>
              <a:t>#include &lt;</a:t>
            </a:r>
            <a:r>
              <a:rPr lang="en-GB" sz="2000" dirty="0" err="1">
                <a:latin typeface="Courier New" charset="0"/>
              </a:rPr>
              <a:t>stdio.h</a:t>
            </a:r>
            <a:r>
              <a:rPr lang="en-GB" sz="2000" dirty="0">
                <a:latin typeface="Courier New" charset="0"/>
              </a:rPr>
              <a:t>&gt;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1250"/>
              </a:spcBef>
              <a:buNone/>
              <a:tabLst>
                <a:tab pos="336550" algn="l"/>
                <a:tab pos="411163" algn="l"/>
                <a:tab pos="868363" algn="l"/>
                <a:tab pos="1325563" algn="l"/>
                <a:tab pos="1782763" algn="l"/>
                <a:tab pos="2239963" algn="l"/>
                <a:tab pos="2697163" algn="l"/>
                <a:tab pos="3154363" algn="l"/>
                <a:tab pos="3611563" algn="l"/>
                <a:tab pos="4068763" algn="l"/>
                <a:tab pos="4525963" algn="l"/>
                <a:tab pos="4983163" algn="l"/>
                <a:tab pos="5440363" algn="l"/>
                <a:tab pos="5897563" algn="l"/>
                <a:tab pos="6354763" algn="l"/>
                <a:tab pos="6811963" algn="l"/>
                <a:tab pos="7269163" algn="l"/>
                <a:tab pos="7726363" algn="l"/>
                <a:tab pos="8183563" algn="l"/>
                <a:tab pos="8640763" algn="l"/>
                <a:tab pos="9097963" algn="l"/>
              </a:tabLst>
            </a:pPr>
            <a:endParaRPr lang="en-GB" sz="2000" dirty="0">
              <a:latin typeface="Courier New" charset="0"/>
            </a:endParaRPr>
          </a:p>
          <a:p>
            <a:pPr marL="336550" indent="-336550" eaLnBrk="1" hangingPunct="1">
              <a:lnSpc>
                <a:spcPct val="90000"/>
              </a:lnSpc>
              <a:spcBef>
                <a:spcPts val="1250"/>
              </a:spcBef>
              <a:buNone/>
              <a:tabLst>
                <a:tab pos="336550" algn="l"/>
                <a:tab pos="411163" algn="l"/>
                <a:tab pos="868363" algn="l"/>
                <a:tab pos="1325563" algn="l"/>
                <a:tab pos="1782763" algn="l"/>
                <a:tab pos="2239963" algn="l"/>
                <a:tab pos="2697163" algn="l"/>
                <a:tab pos="3154363" algn="l"/>
                <a:tab pos="3611563" algn="l"/>
                <a:tab pos="4068763" algn="l"/>
                <a:tab pos="4525963" algn="l"/>
                <a:tab pos="4983163" algn="l"/>
                <a:tab pos="5440363" algn="l"/>
                <a:tab pos="5897563" algn="l"/>
                <a:tab pos="6354763" algn="l"/>
                <a:tab pos="6811963" algn="l"/>
                <a:tab pos="7269163" algn="l"/>
                <a:tab pos="7726363" algn="l"/>
                <a:tab pos="8183563" algn="l"/>
                <a:tab pos="8640763" algn="l"/>
                <a:tab pos="9097963" algn="l"/>
              </a:tabLst>
            </a:pPr>
            <a:r>
              <a:rPr lang="en-GB" sz="2000" dirty="0" err="1">
                <a:latin typeface="Courier New" charset="0"/>
              </a:rPr>
              <a:t>int</a:t>
            </a:r>
            <a:r>
              <a:rPr lang="en-GB" sz="2000" dirty="0">
                <a:latin typeface="Courier New" charset="0"/>
              </a:rPr>
              <a:t> main() {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1250"/>
              </a:spcBef>
              <a:buNone/>
              <a:tabLst>
                <a:tab pos="336550" algn="l"/>
                <a:tab pos="411163" algn="l"/>
                <a:tab pos="868363" algn="l"/>
                <a:tab pos="1325563" algn="l"/>
                <a:tab pos="1782763" algn="l"/>
                <a:tab pos="2239963" algn="l"/>
                <a:tab pos="2697163" algn="l"/>
                <a:tab pos="3154363" algn="l"/>
                <a:tab pos="3611563" algn="l"/>
                <a:tab pos="4068763" algn="l"/>
                <a:tab pos="4525963" algn="l"/>
                <a:tab pos="4983163" algn="l"/>
                <a:tab pos="5440363" algn="l"/>
                <a:tab pos="5897563" algn="l"/>
                <a:tab pos="6354763" algn="l"/>
                <a:tab pos="6811963" algn="l"/>
                <a:tab pos="7269163" algn="l"/>
                <a:tab pos="7726363" algn="l"/>
                <a:tab pos="8183563" algn="l"/>
                <a:tab pos="8640763" algn="l"/>
                <a:tab pos="9097963" algn="l"/>
              </a:tabLst>
            </a:pPr>
            <a:r>
              <a:rPr lang="en-GB" sz="2000" dirty="0">
                <a:latin typeface="Courier New" charset="0"/>
              </a:rPr>
              <a:t>	</a:t>
            </a:r>
            <a:r>
              <a:rPr lang="en-GB" sz="2000" dirty="0" err="1">
                <a:latin typeface="Courier New" charset="0"/>
              </a:rPr>
              <a:t>printf(“Hello</a:t>
            </a:r>
            <a:r>
              <a:rPr lang="en-GB" sz="2000" dirty="0">
                <a:latin typeface="Courier New" charset="0"/>
              </a:rPr>
              <a:t> World”);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1250"/>
              </a:spcBef>
              <a:buNone/>
              <a:tabLst>
                <a:tab pos="336550" algn="l"/>
                <a:tab pos="411163" algn="l"/>
                <a:tab pos="868363" algn="l"/>
                <a:tab pos="1325563" algn="l"/>
                <a:tab pos="1782763" algn="l"/>
                <a:tab pos="2239963" algn="l"/>
                <a:tab pos="2697163" algn="l"/>
                <a:tab pos="3154363" algn="l"/>
                <a:tab pos="3611563" algn="l"/>
                <a:tab pos="4068763" algn="l"/>
                <a:tab pos="4525963" algn="l"/>
                <a:tab pos="4983163" algn="l"/>
                <a:tab pos="5440363" algn="l"/>
                <a:tab pos="5897563" algn="l"/>
                <a:tab pos="6354763" algn="l"/>
                <a:tab pos="6811963" algn="l"/>
                <a:tab pos="7269163" algn="l"/>
                <a:tab pos="7726363" algn="l"/>
                <a:tab pos="8183563" algn="l"/>
                <a:tab pos="8640763" algn="l"/>
                <a:tab pos="9097963" algn="l"/>
              </a:tabLst>
            </a:pPr>
            <a:r>
              <a:rPr lang="en-GB" sz="2000" dirty="0">
                <a:latin typeface="Courier New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37196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247650"/>
            <a:ext cx="8716962" cy="782638"/>
          </a:xfrm>
        </p:spPr>
        <p:txBody>
          <a:bodyPr/>
          <a:lstStyle/>
          <a:p>
            <a:pPr eaLnBrk="1" hangingPunct="1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Compilation of hello.c</a:t>
            </a:r>
          </a:p>
        </p:txBody>
      </p:sp>
      <p:sp>
        <p:nvSpPr>
          <p:cNvPr id="95235" name="Rectangle 2"/>
          <p:cNvSpPr>
            <a:spLocks noChangeArrowheads="1"/>
          </p:cNvSpPr>
          <p:nvPr/>
        </p:nvSpPr>
        <p:spPr bwMode="auto">
          <a:xfrm>
            <a:off x="1416050" y="2895600"/>
            <a:ext cx="914400" cy="8382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Helvetica" charset="0"/>
              </a:rPr>
              <a:t>Pre-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Helvetica" charset="0"/>
              </a:rPr>
              <a:t>processor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Helvetica" charset="0"/>
              </a:rPr>
              <a:t>(</a:t>
            </a:r>
            <a:r>
              <a:rPr lang="en-GB" sz="1400" b="1">
                <a:latin typeface="Courier New" charset="0"/>
              </a:rPr>
              <a:t>cpp</a:t>
            </a:r>
            <a:r>
              <a:rPr lang="en-GB" sz="1400" b="1">
                <a:latin typeface="Helvetica" charset="0"/>
              </a:rPr>
              <a:t>)</a:t>
            </a:r>
            <a:r>
              <a:rPr lang="x-none" sz="1400" b="1">
                <a:latin typeface="Helvetica" charset="0"/>
                <a:cs typeface="Arial" charset="0"/>
              </a:rPr>
              <a:t>‏</a:t>
            </a:r>
            <a:endParaRPr lang="en-GB" sz="1400" b="1">
              <a:latin typeface="Helvetica" charset="0"/>
              <a:cs typeface="Arial" charset="0"/>
            </a:endParaRPr>
          </a:p>
        </p:txBody>
      </p:sp>
      <p:sp>
        <p:nvSpPr>
          <p:cNvPr id="95236" name="Line 3"/>
          <p:cNvSpPr>
            <a:spLocks noChangeShapeType="1"/>
          </p:cNvSpPr>
          <p:nvPr/>
        </p:nvSpPr>
        <p:spPr bwMode="auto">
          <a:xfrm>
            <a:off x="2330450" y="3352800"/>
            <a:ext cx="91440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tr-TR" sz="28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5237" name="Text Box 4"/>
          <p:cNvSpPr txBox="1">
            <a:spLocks noChangeArrowheads="1"/>
          </p:cNvSpPr>
          <p:nvPr/>
        </p:nvSpPr>
        <p:spPr bwMode="auto">
          <a:xfrm>
            <a:off x="2327705" y="3079715"/>
            <a:ext cx="832578" cy="26994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5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latin typeface="Courier New" charset="0"/>
              </a:rPr>
              <a:t>hello.i</a:t>
            </a:r>
          </a:p>
        </p:txBody>
      </p:sp>
      <p:sp>
        <p:nvSpPr>
          <p:cNvPr id="95238" name="Rectangle 5"/>
          <p:cNvSpPr>
            <a:spLocks noChangeArrowheads="1"/>
          </p:cNvSpPr>
          <p:nvPr/>
        </p:nvSpPr>
        <p:spPr bwMode="auto">
          <a:xfrm>
            <a:off x="3244850" y="2895600"/>
            <a:ext cx="914400" cy="8382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Helvetica" charset="0"/>
              </a:rPr>
              <a:t> Compiler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Helvetica" charset="0"/>
              </a:rPr>
              <a:t>(</a:t>
            </a:r>
            <a:r>
              <a:rPr lang="en-GB" sz="1400" b="1">
                <a:latin typeface="Courier New" charset="0"/>
              </a:rPr>
              <a:t>cc1</a:t>
            </a:r>
            <a:r>
              <a:rPr lang="en-GB" sz="1400" b="1">
                <a:latin typeface="Helvetica" charset="0"/>
              </a:rPr>
              <a:t>)</a:t>
            </a:r>
            <a:r>
              <a:rPr lang="x-none" sz="1400" b="1">
                <a:latin typeface="Helvetica" charset="0"/>
                <a:cs typeface="Arial" charset="0"/>
              </a:rPr>
              <a:t>‏</a:t>
            </a:r>
            <a:endParaRPr lang="en-GB" sz="1400" b="1">
              <a:latin typeface="Helvetica" charset="0"/>
              <a:cs typeface="Arial" charset="0"/>
            </a:endParaRPr>
          </a:p>
        </p:txBody>
      </p:sp>
      <p:sp>
        <p:nvSpPr>
          <p:cNvPr id="95239" name="Line 6"/>
          <p:cNvSpPr>
            <a:spLocks noChangeShapeType="1"/>
          </p:cNvSpPr>
          <p:nvPr/>
        </p:nvSpPr>
        <p:spPr bwMode="auto">
          <a:xfrm>
            <a:off x="4159250" y="3352800"/>
            <a:ext cx="91440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tr-TR" sz="28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5240" name="Text Box 7"/>
          <p:cNvSpPr txBox="1">
            <a:spLocks noChangeArrowheads="1"/>
          </p:cNvSpPr>
          <p:nvPr/>
        </p:nvSpPr>
        <p:spPr bwMode="auto">
          <a:xfrm>
            <a:off x="4156505" y="3079715"/>
            <a:ext cx="832578" cy="26994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5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latin typeface="Courier New" charset="0"/>
              </a:rPr>
              <a:t>hello.s</a:t>
            </a:r>
          </a:p>
        </p:txBody>
      </p:sp>
      <p:sp>
        <p:nvSpPr>
          <p:cNvPr id="95241" name="Rectangle 8"/>
          <p:cNvSpPr>
            <a:spLocks noChangeArrowheads="1"/>
          </p:cNvSpPr>
          <p:nvPr/>
        </p:nvSpPr>
        <p:spPr bwMode="auto">
          <a:xfrm>
            <a:off x="5073650" y="2895600"/>
            <a:ext cx="914400" cy="8382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Helvetica" charset="0"/>
              </a:rPr>
              <a:t>Assembler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Helvetica" charset="0"/>
              </a:rPr>
              <a:t>(</a:t>
            </a:r>
            <a:r>
              <a:rPr lang="en-GB" sz="1400" b="1">
                <a:latin typeface="Courier New" charset="0"/>
              </a:rPr>
              <a:t>as</a:t>
            </a:r>
            <a:r>
              <a:rPr lang="en-GB" sz="1400" b="1">
                <a:latin typeface="Helvetica" charset="0"/>
              </a:rPr>
              <a:t>)</a:t>
            </a:r>
            <a:r>
              <a:rPr lang="x-none" sz="1400" b="1">
                <a:latin typeface="Helvetica" charset="0"/>
                <a:cs typeface="Arial" charset="0"/>
              </a:rPr>
              <a:t>‏</a:t>
            </a:r>
            <a:endParaRPr lang="en-GB" sz="1400" b="1">
              <a:latin typeface="Helvetica" charset="0"/>
              <a:cs typeface="Arial" charset="0"/>
            </a:endParaRPr>
          </a:p>
        </p:txBody>
      </p:sp>
      <p:sp>
        <p:nvSpPr>
          <p:cNvPr id="95242" name="Line 9"/>
          <p:cNvSpPr>
            <a:spLocks noChangeShapeType="1"/>
          </p:cNvSpPr>
          <p:nvPr/>
        </p:nvSpPr>
        <p:spPr bwMode="auto">
          <a:xfrm>
            <a:off x="5988050" y="3352800"/>
            <a:ext cx="91440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tr-TR" sz="28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5243" name="Text Box 10"/>
          <p:cNvSpPr txBox="1">
            <a:spLocks noChangeArrowheads="1"/>
          </p:cNvSpPr>
          <p:nvPr/>
        </p:nvSpPr>
        <p:spPr bwMode="auto">
          <a:xfrm>
            <a:off x="5985305" y="3079715"/>
            <a:ext cx="832578" cy="26994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5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latin typeface="Courier New" charset="0"/>
              </a:rPr>
              <a:t>hello.o</a:t>
            </a:r>
          </a:p>
        </p:txBody>
      </p:sp>
      <p:sp>
        <p:nvSpPr>
          <p:cNvPr id="95244" name="Rectangle 11"/>
          <p:cNvSpPr>
            <a:spLocks noChangeArrowheads="1"/>
          </p:cNvSpPr>
          <p:nvPr/>
        </p:nvSpPr>
        <p:spPr bwMode="auto">
          <a:xfrm>
            <a:off x="6902450" y="2895600"/>
            <a:ext cx="914400" cy="8382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Helvetica" charset="0"/>
              </a:rPr>
              <a:t>Linker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Helvetica" charset="0"/>
              </a:rPr>
              <a:t>(</a:t>
            </a:r>
            <a:r>
              <a:rPr lang="en-GB" sz="1400" b="1">
                <a:latin typeface="Courier New" charset="0"/>
              </a:rPr>
              <a:t>ld</a:t>
            </a:r>
            <a:r>
              <a:rPr lang="en-GB" sz="1400" b="1">
                <a:latin typeface="Helvetica" charset="0"/>
              </a:rPr>
              <a:t>)</a:t>
            </a:r>
            <a:r>
              <a:rPr lang="x-none" sz="1400" b="1">
                <a:latin typeface="Helvetica" charset="0"/>
                <a:cs typeface="Arial" charset="0"/>
              </a:rPr>
              <a:t>‏</a:t>
            </a:r>
            <a:endParaRPr lang="en-GB" sz="1400" b="1">
              <a:latin typeface="Helvetica" charset="0"/>
              <a:cs typeface="Arial" charset="0"/>
            </a:endParaRPr>
          </a:p>
        </p:txBody>
      </p:sp>
      <p:sp>
        <p:nvSpPr>
          <p:cNvPr id="95245" name="Line 12"/>
          <p:cNvSpPr>
            <a:spLocks noChangeShapeType="1"/>
          </p:cNvSpPr>
          <p:nvPr/>
        </p:nvSpPr>
        <p:spPr bwMode="auto">
          <a:xfrm>
            <a:off x="7816850" y="3352800"/>
            <a:ext cx="91440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tr-TR" sz="28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5246" name="Text Box 13"/>
          <p:cNvSpPr txBox="1">
            <a:spLocks noChangeArrowheads="1"/>
          </p:cNvSpPr>
          <p:nvPr/>
        </p:nvSpPr>
        <p:spPr bwMode="auto">
          <a:xfrm>
            <a:off x="7907873" y="3079715"/>
            <a:ext cx="646630" cy="26994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5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latin typeface="Courier New" charset="0"/>
              </a:rPr>
              <a:t>hello</a:t>
            </a:r>
          </a:p>
        </p:txBody>
      </p:sp>
      <p:sp>
        <p:nvSpPr>
          <p:cNvPr id="95247" name="Line 14"/>
          <p:cNvSpPr>
            <a:spLocks noChangeShapeType="1"/>
          </p:cNvSpPr>
          <p:nvPr/>
        </p:nvSpPr>
        <p:spPr bwMode="auto">
          <a:xfrm>
            <a:off x="501650" y="3352800"/>
            <a:ext cx="91440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tr-TR" sz="28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5248" name="Text Box 15"/>
          <p:cNvSpPr txBox="1">
            <a:spLocks noChangeArrowheads="1"/>
          </p:cNvSpPr>
          <p:nvPr/>
        </p:nvSpPr>
        <p:spPr bwMode="auto">
          <a:xfrm>
            <a:off x="498905" y="3079715"/>
            <a:ext cx="832578" cy="26994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5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latin typeface="Courier New" charset="0"/>
              </a:rPr>
              <a:t>hello.c</a:t>
            </a:r>
          </a:p>
        </p:txBody>
      </p:sp>
      <p:sp>
        <p:nvSpPr>
          <p:cNvPr id="95249" name="Text Box 16"/>
          <p:cNvSpPr txBox="1">
            <a:spLocks noChangeArrowheads="1"/>
          </p:cNvSpPr>
          <p:nvPr/>
        </p:nvSpPr>
        <p:spPr bwMode="auto">
          <a:xfrm>
            <a:off x="476541" y="3507992"/>
            <a:ext cx="815394" cy="63735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 dirty="0">
                <a:latin typeface="Calibri" charset="0"/>
                <a:ea typeface="Calibri" charset="0"/>
                <a:cs typeface="Calibri" charset="0"/>
              </a:rPr>
              <a:t>Source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 dirty="0">
                <a:latin typeface="Calibri" charset="0"/>
                <a:ea typeface="Calibri" charset="0"/>
                <a:cs typeface="Calibri" charset="0"/>
              </a:rPr>
              <a:t>program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 dirty="0">
                <a:latin typeface="Calibri" charset="0"/>
                <a:ea typeface="Calibri" charset="0"/>
                <a:cs typeface="Calibri" charset="0"/>
              </a:rPr>
              <a:t>(text)</a:t>
            </a:r>
            <a:r>
              <a:rPr lang="x-none" sz="1400" b="1" dirty="0">
                <a:latin typeface="Calibri" charset="0"/>
                <a:ea typeface="Calibri" charset="0"/>
                <a:cs typeface="Calibri" charset="0"/>
              </a:rPr>
              <a:t>‏</a:t>
            </a:r>
            <a:endParaRPr lang="en-GB" sz="14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5250" name="Text Box 17"/>
          <p:cNvSpPr txBox="1">
            <a:spLocks noChangeArrowheads="1"/>
          </p:cNvSpPr>
          <p:nvPr/>
        </p:nvSpPr>
        <p:spPr bwMode="auto">
          <a:xfrm>
            <a:off x="2354545" y="3525468"/>
            <a:ext cx="863035" cy="81830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Calibri" charset="0"/>
                <a:ea typeface="Calibri" charset="0"/>
                <a:cs typeface="Calibri" charset="0"/>
              </a:rPr>
              <a:t>Modified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Calibri" charset="0"/>
                <a:ea typeface="Calibri" charset="0"/>
                <a:cs typeface="Calibri" charset="0"/>
              </a:rPr>
              <a:t>source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Calibri" charset="0"/>
                <a:ea typeface="Calibri" charset="0"/>
                <a:cs typeface="Calibri" charset="0"/>
              </a:rPr>
              <a:t>program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Calibri" charset="0"/>
                <a:ea typeface="Calibri" charset="0"/>
                <a:cs typeface="Calibri" charset="0"/>
              </a:rPr>
              <a:t>(text)</a:t>
            </a:r>
            <a:r>
              <a:rPr lang="x-none" sz="1400" b="1">
                <a:latin typeface="Calibri" charset="0"/>
                <a:ea typeface="Calibri" charset="0"/>
                <a:cs typeface="Calibri" charset="0"/>
              </a:rPr>
              <a:t>‏</a:t>
            </a:r>
            <a:endParaRPr lang="en-GB" sz="1400" b="1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5251" name="Text Box 18"/>
          <p:cNvSpPr txBox="1">
            <a:spLocks noChangeArrowheads="1"/>
          </p:cNvSpPr>
          <p:nvPr/>
        </p:nvSpPr>
        <p:spPr bwMode="auto">
          <a:xfrm>
            <a:off x="4164133" y="3507992"/>
            <a:ext cx="896697" cy="63735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Calibri" charset="0"/>
                <a:ea typeface="Calibri" charset="0"/>
                <a:cs typeface="Calibri" charset="0"/>
              </a:rPr>
              <a:t>Assembly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Calibri" charset="0"/>
                <a:ea typeface="Calibri" charset="0"/>
                <a:cs typeface="Calibri" charset="0"/>
              </a:rPr>
              <a:t>program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Calibri" charset="0"/>
                <a:ea typeface="Calibri" charset="0"/>
                <a:cs typeface="Calibri" charset="0"/>
              </a:rPr>
              <a:t>(text)</a:t>
            </a:r>
            <a:r>
              <a:rPr lang="x-none" sz="1400" b="1">
                <a:latin typeface="Calibri" charset="0"/>
                <a:ea typeface="Calibri" charset="0"/>
                <a:cs typeface="Calibri" charset="0"/>
              </a:rPr>
              <a:t>‏</a:t>
            </a:r>
            <a:endParaRPr lang="en-GB" sz="1400" b="1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5252" name="Text Box 19"/>
          <p:cNvSpPr txBox="1">
            <a:spLocks noChangeArrowheads="1"/>
          </p:cNvSpPr>
          <p:nvPr/>
        </p:nvSpPr>
        <p:spPr bwMode="auto">
          <a:xfrm>
            <a:off x="5952589" y="3525468"/>
            <a:ext cx="1051996" cy="81830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Calibri" charset="0"/>
                <a:ea typeface="Calibri" charset="0"/>
                <a:cs typeface="Calibri" charset="0"/>
              </a:rPr>
              <a:t>Relocatable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Calibri" charset="0"/>
                <a:ea typeface="Calibri" charset="0"/>
                <a:cs typeface="Calibri" charset="0"/>
              </a:rPr>
              <a:t>object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Calibri" charset="0"/>
                <a:ea typeface="Calibri" charset="0"/>
                <a:cs typeface="Calibri" charset="0"/>
              </a:rPr>
              <a:t>programs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Calibri" charset="0"/>
                <a:ea typeface="Calibri" charset="0"/>
                <a:cs typeface="Calibri" charset="0"/>
              </a:rPr>
              <a:t>(binary)</a:t>
            </a:r>
            <a:r>
              <a:rPr lang="x-none" sz="1400" b="1">
                <a:latin typeface="Calibri" charset="0"/>
                <a:ea typeface="Calibri" charset="0"/>
                <a:cs typeface="Calibri" charset="0"/>
              </a:rPr>
              <a:t>‏</a:t>
            </a:r>
            <a:endParaRPr lang="en-GB" sz="1400" b="1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5253" name="Text Box 20"/>
          <p:cNvSpPr txBox="1">
            <a:spLocks noChangeArrowheads="1"/>
          </p:cNvSpPr>
          <p:nvPr/>
        </p:nvSpPr>
        <p:spPr bwMode="auto">
          <a:xfrm>
            <a:off x="7812208" y="3525468"/>
            <a:ext cx="988774" cy="81830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Calibri" charset="0"/>
                <a:ea typeface="Calibri" charset="0"/>
                <a:cs typeface="Calibri" charset="0"/>
              </a:rPr>
              <a:t>Executable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Calibri" charset="0"/>
                <a:ea typeface="Calibri" charset="0"/>
                <a:cs typeface="Calibri" charset="0"/>
              </a:rPr>
              <a:t>object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Calibri" charset="0"/>
                <a:ea typeface="Calibri" charset="0"/>
                <a:cs typeface="Calibri" charset="0"/>
              </a:rPr>
              <a:t>program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Calibri" charset="0"/>
                <a:ea typeface="Calibri" charset="0"/>
                <a:cs typeface="Calibri" charset="0"/>
              </a:rPr>
              <a:t>(binary)</a:t>
            </a:r>
            <a:r>
              <a:rPr lang="x-none" sz="1400" b="1">
                <a:latin typeface="Calibri" charset="0"/>
                <a:ea typeface="Calibri" charset="0"/>
                <a:cs typeface="Calibri" charset="0"/>
              </a:rPr>
              <a:t>‏</a:t>
            </a:r>
            <a:endParaRPr lang="en-GB" sz="1400" b="1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5254" name="Line 21"/>
          <p:cNvSpPr>
            <a:spLocks noChangeShapeType="1"/>
          </p:cNvSpPr>
          <p:nvPr/>
        </p:nvSpPr>
        <p:spPr bwMode="auto">
          <a:xfrm>
            <a:off x="6369050" y="2743200"/>
            <a:ext cx="533400" cy="457200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  <p:sp>
        <p:nvSpPr>
          <p:cNvPr id="95255" name="Text Box 22"/>
          <p:cNvSpPr txBox="1">
            <a:spLocks noChangeArrowheads="1"/>
          </p:cNvSpPr>
          <p:nvPr/>
        </p:nvSpPr>
        <p:spPr bwMode="auto">
          <a:xfrm>
            <a:off x="5910243" y="2547902"/>
            <a:ext cx="925552" cy="26994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5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latin typeface="Courier New" charset="0"/>
              </a:rPr>
              <a:t>printf.o</a:t>
            </a:r>
          </a:p>
        </p:txBody>
      </p:sp>
    </p:spTree>
    <p:extLst>
      <p:ext uri="{BB962C8B-B14F-4D97-AF65-F5344CB8AC3E}">
        <p14:creationId xmlns:p14="http://schemas.microsoft.com/office/powerpoint/2010/main" val="9173005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247650"/>
            <a:ext cx="8716962" cy="782638"/>
          </a:xfrm>
        </p:spPr>
        <p:txBody>
          <a:bodyPr/>
          <a:lstStyle/>
          <a:p>
            <a:pPr eaLnBrk="1" hangingPunct="1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err="1"/>
              <a:t>Preprocessing</a:t>
            </a:r>
            <a:endParaRPr lang="en-GB" dirty="0"/>
          </a:p>
        </p:txBody>
      </p:sp>
      <p:sp>
        <p:nvSpPr>
          <p:cNvPr id="97283" name="Rectangle 2"/>
          <p:cNvSpPr>
            <a:spLocks noChangeArrowheads="1"/>
          </p:cNvSpPr>
          <p:nvPr/>
        </p:nvSpPr>
        <p:spPr bwMode="auto">
          <a:xfrm>
            <a:off x="1416050" y="1196975"/>
            <a:ext cx="914400" cy="8382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solidFill>
                  <a:srgbClr val="000066"/>
                </a:solidFill>
                <a:latin typeface="Helvetica" charset="0"/>
              </a:rPr>
              <a:t>Pre-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solidFill>
                  <a:srgbClr val="000066"/>
                </a:solidFill>
                <a:latin typeface="Helvetica" charset="0"/>
              </a:rPr>
              <a:t>processor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solidFill>
                  <a:srgbClr val="000066"/>
                </a:solidFill>
                <a:latin typeface="Helvetica" charset="0"/>
              </a:rPr>
              <a:t>(</a:t>
            </a:r>
            <a:r>
              <a:rPr lang="en-GB" sz="1400" b="1">
                <a:solidFill>
                  <a:srgbClr val="000066"/>
                </a:solidFill>
                <a:latin typeface="Courier New" charset="0"/>
              </a:rPr>
              <a:t>cpp</a:t>
            </a:r>
            <a:r>
              <a:rPr lang="en-GB" sz="1400" b="1">
                <a:solidFill>
                  <a:srgbClr val="000066"/>
                </a:solidFill>
                <a:latin typeface="Helvetica" charset="0"/>
              </a:rPr>
              <a:t>)</a:t>
            </a:r>
            <a:r>
              <a:rPr lang="x-none" sz="1400" b="1">
                <a:solidFill>
                  <a:srgbClr val="000066"/>
                </a:solidFill>
                <a:latin typeface="Helvetica" charset="0"/>
                <a:cs typeface="Arial" charset="0"/>
              </a:rPr>
              <a:t>‏</a:t>
            </a:r>
            <a:endParaRPr lang="en-GB" sz="1400" b="1">
              <a:solidFill>
                <a:srgbClr val="000066"/>
              </a:solidFill>
              <a:latin typeface="Helvetica" charset="0"/>
              <a:cs typeface="Arial" charset="0"/>
            </a:endParaRPr>
          </a:p>
        </p:txBody>
      </p:sp>
      <p:sp>
        <p:nvSpPr>
          <p:cNvPr id="97284" name="Line 3"/>
          <p:cNvSpPr>
            <a:spLocks noChangeShapeType="1"/>
          </p:cNvSpPr>
          <p:nvPr/>
        </p:nvSpPr>
        <p:spPr bwMode="auto">
          <a:xfrm>
            <a:off x="2330450" y="1654175"/>
            <a:ext cx="91440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  <p:sp>
        <p:nvSpPr>
          <p:cNvPr id="97285" name="Text Box 4"/>
          <p:cNvSpPr txBox="1">
            <a:spLocks noChangeArrowheads="1"/>
          </p:cNvSpPr>
          <p:nvPr/>
        </p:nvSpPr>
        <p:spPr bwMode="auto">
          <a:xfrm>
            <a:off x="2333625" y="1384300"/>
            <a:ext cx="820738" cy="2667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5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66"/>
                </a:solidFill>
                <a:latin typeface="Courier New" charset="0"/>
              </a:rPr>
              <a:t>hello.i</a:t>
            </a:r>
          </a:p>
        </p:txBody>
      </p:sp>
      <p:sp>
        <p:nvSpPr>
          <p:cNvPr id="97286" name="Line 5"/>
          <p:cNvSpPr>
            <a:spLocks noChangeShapeType="1"/>
          </p:cNvSpPr>
          <p:nvPr/>
        </p:nvSpPr>
        <p:spPr bwMode="auto">
          <a:xfrm>
            <a:off x="501650" y="1654175"/>
            <a:ext cx="91440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  <p:sp>
        <p:nvSpPr>
          <p:cNvPr id="97287" name="Text Box 6"/>
          <p:cNvSpPr txBox="1">
            <a:spLocks noChangeArrowheads="1"/>
          </p:cNvSpPr>
          <p:nvPr/>
        </p:nvSpPr>
        <p:spPr bwMode="auto">
          <a:xfrm>
            <a:off x="504825" y="1384300"/>
            <a:ext cx="820738" cy="2667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5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66"/>
                </a:solidFill>
                <a:latin typeface="Courier New" charset="0"/>
              </a:rPr>
              <a:t>hello.c</a:t>
            </a:r>
          </a:p>
        </p:txBody>
      </p:sp>
      <p:sp>
        <p:nvSpPr>
          <p:cNvPr id="97288" name="Text Box 7"/>
          <p:cNvSpPr txBox="1">
            <a:spLocks noChangeArrowheads="1"/>
          </p:cNvSpPr>
          <p:nvPr/>
        </p:nvSpPr>
        <p:spPr bwMode="auto">
          <a:xfrm>
            <a:off x="484188" y="1849438"/>
            <a:ext cx="800100" cy="5540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 i="1">
                <a:solidFill>
                  <a:srgbClr val="000066"/>
                </a:solidFill>
                <a:latin typeface="Helvetica" charset="0"/>
              </a:rPr>
              <a:t>Source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 i="1">
                <a:solidFill>
                  <a:srgbClr val="000066"/>
                </a:solidFill>
                <a:latin typeface="Helvetica" charset="0"/>
              </a:rPr>
              <a:t>program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 i="1">
                <a:solidFill>
                  <a:srgbClr val="000066"/>
                </a:solidFill>
                <a:latin typeface="Helvetica" charset="0"/>
              </a:rPr>
              <a:t>(text)</a:t>
            </a:r>
            <a:r>
              <a:rPr lang="x-none" sz="1200" b="1" i="1">
                <a:solidFill>
                  <a:srgbClr val="000066"/>
                </a:solidFill>
                <a:latin typeface="Helvetica" charset="0"/>
                <a:cs typeface="Arial" charset="0"/>
              </a:rPr>
              <a:t>‏</a:t>
            </a:r>
            <a:endParaRPr lang="en-GB" sz="1200" b="1" i="1">
              <a:solidFill>
                <a:srgbClr val="000066"/>
              </a:solidFill>
              <a:latin typeface="Helvetica" charset="0"/>
              <a:cs typeface="Arial" charset="0"/>
            </a:endParaRPr>
          </a:p>
        </p:txBody>
      </p:sp>
      <p:sp>
        <p:nvSpPr>
          <p:cNvPr id="97289" name="Text Box 8"/>
          <p:cNvSpPr txBox="1">
            <a:spLocks noChangeArrowheads="1"/>
          </p:cNvSpPr>
          <p:nvPr/>
        </p:nvSpPr>
        <p:spPr bwMode="auto">
          <a:xfrm>
            <a:off x="2381250" y="1881188"/>
            <a:ext cx="809625" cy="7064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 i="1">
                <a:solidFill>
                  <a:srgbClr val="000066"/>
                </a:solidFill>
                <a:latin typeface="Helvetica" charset="0"/>
              </a:rPr>
              <a:t>Modified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 i="1">
                <a:solidFill>
                  <a:srgbClr val="000066"/>
                </a:solidFill>
                <a:latin typeface="Helvetica" charset="0"/>
              </a:rPr>
              <a:t>source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 i="1">
                <a:solidFill>
                  <a:srgbClr val="000066"/>
                </a:solidFill>
                <a:latin typeface="Helvetica" charset="0"/>
              </a:rPr>
              <a:t>program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 i="1">
                <a:solidFill>
                  <a:srgbClr val="000066"/>
                </a:solidFill>
                <a:latin typeface="Helvetica" charset="0"/>
              </a:rPr>
              <a:t>(text)</a:t>
            </a:r>
            <a:r>
              <a:rPr lang="x-none" sz="1200" b="1" i="1">
                <a:solidFill>
                  <a:srgbClr val="000066"/>
                </a:solidFill>
                <a:latin typeface="Helvetica" charset="0"/>
                <a:cs typeface="Arial" charset="0"/>
              </a:rPr>
              <a:t>‏</a:t>
            </a:r>
            <a:endParaRPr lang="en-GB" sz="1200" b="1" i="1">
              <a:solidFill>
                <a:srgbClr val="000066"/>
              </a:solidFill>
              <a:latin typeface="Helvetica" charset="0"/>
              <a:cs typeface="Arial" charset="0"/>
            </a:endParaRPr>
          </a:p>
        </p:txBody>
      </p:sp>
      <p:sp>
        <p:nvSpPr>
          <p:cNvPr id="97290" name="Rectangle 9"/>
          <p:cNvSpPr>
            <a:spLocks noChangeArrowheads="1"/>
          </p:cNvSpPr>
          <p:nvPr/>
        </p:nvSpPr>
        <p:spPr bwMode="auto">
          <a:xfrm>
            <a:off x="395288" y="2781300"/>
            <a:ext cx="2232025" cy="1657350"/>
          </a:xfrm>
          <a:prstGeom prst="rect">
            <a:avLst/>
          </a:prstGeom>
          <a:noFill/>
          <a:ln w="19050">
            <a:solidFill>
              <a:srgbClr val="000066"/>
            </a:solidFill>
            <a:miter lim="800000"/>
            <a:headEnd/>
            <a:tailEnd/>
          </a:ln>
        </p:spPr>
        <p:txBody>
          <a:bodyPr lIns="90360" tIns="44280" rIns="90360" bIns="44280"/>
          <a:lstStyle/>
          <a:p>
            <a:pPr marL="336550" indent="-336550" eaLnBrk="1" hangingPunct="1">
              <a:lnSpc>
                <a:spcPct val="94000"/>
              </a:lnSpc>
              <a:spcBef>
                <a:spcPts val="875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#include &lt;</a:t>
            </a:r>
            <a:r>
              <a:rPr lang="en-GB" sz="1400" dirty="0" err="1">
                <a:latin typeface="Courier" charset="0"/>
                <a:ea typeface="Courier" charset="0"/>
                <a:cs typeface="Courier" charset="0"/>
              </a:rPr>
              <a:t>stdio.h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&gt;</a:t>
            </a:r>
          </a:p>
          <a:p>
            <a:pPr marL="336550" indent="-336550" eaLnBrk="1" hangingPunct="1">
              <a:lnSpc>
                <a:spcPct val="89000"/>
              </a:lnSpc>
              <a:spcBef>
                <a:spcPts val="875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endParaRPr lang="en-GB" sz="1400" dirty="0">
              <a:latin typeface="Courier" charset="0"/>
              <a:ea typeface="Courier" charset="0"/>
              <a:cs typeface="Courier" charset="0"/>
            </a:endParaRPr>
          </a:p>
          <a:p>
            <a:pPr marL="336550" indent="-336550" eaLnBrk="1" hangingPunct="1">
              <a:lnSpc>
                <a:spcPct val="89000"/>
              </a:lnSpc>
              <a:spcBef>
                <a:spcPts val="875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4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 main() {</a:t>
            </a:r>
          </a:p>
          <a:p>
            <a:pPr marL="336550" indent="-336550" eaLnBrk="1" hangingPunct="1">
              <a:lnSpc>
                <a:spcPct val="89000"/>
              </a:lnSpc>
              <a:spcBef>
                <a:spcPts val="875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GB" sz="1400" dirty="0" err="1">
                <a:latin typeface="Courier" charset="0"/>
                <a:ea typeface="Courier" charset="0"/>
                <a:cs typeface="Courier" charset="0"/>
              </a:rPr>
              <a:t>printf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(“Hello World”);</a:t>
            </a:r>
          </a:p>
          <a:p>
            <a:pPr marL="336550" indent="-336550" eaLnBrk="1" hangingPunct="1">
              <a:lnSpc>
                <a:spcPct val="89000"/>
              </a:lnSpc>
              <a:spcBef>
                <a:spcPts val="875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  <p:sp>
        <p:nvSpPr>
          <p:cNvPr id="97291" name="Rectangle 10"/>
          <p:cNvSpPr>
            <a:spLocks noChangeArrowheads="1"/>
          </p:cNvSpPr>
          <p:nvPr/>
        </p:nvSpPr>
        <p:spPr bwMode="auto">
          <a:xfrm>
            <a:off x="4810124" y="2035175"/>
            <a:ext cx="4181475" cy="3222625"/>
          </a:xfrm>
          <a:prstGeom prst="rect">
            <a:avLst/>
          </a:prstGeom>
          <a:noFill/>
          <a:ln w="19050">
            <a:solidFill>
              <a:srgbClr val="000066"/>
            </a:solidFill>
            <a:miter lim="800000"/>
            <a:headEnd/>
            <a:tailEnd/>
          </a:ln>
        </p:spPr>
        <p:txBody>
          <a:bodyPr lIns="90360" tIns="44280" rIns="90360" bIns="44280"/>
          <a:lstStyle/>
          <a:p>
            <a:pPr indent="-336550" eaLnBrk="1" hangingPunct="1">
              <a:spcBef>
                <a:spcPts val="0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# 1 "</a:t>
            </a:r>
            <a:r>
              <a:rPr lang="en-GB" sz="1400" dirty="0" err="1">
                <a:latin typeface="Courier" charset="0"/>
                <a:ea typeface="Courier" charset="0"/>
                <a:cs typeface="Courier" charset="0"/>
              </a:rPr>
              <a:t>hello.c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"</a:t>
            </a:r>
          </a:p>
          <a:p>
            <a:pPr indent="-336550" eaLnBrk="1" hangingPunct="1">
              <a:spcBef>
                <a:spcPts val="0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# 1 "&lt;built-in&gt;"</a:t>
            </a:r>
          </a:p>
          <a:p>
            <a:pPr indent="-336550" eaLnBrk="1" hangingPunct="1">
              <a:spcBef>
                <a:spcPts val="0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# 1 "&lt;command line&gt;"</a:t>
            </a:r>
          </a:p>
          <a:p>
            <a:pPr indent="-336550" eaLnBrk="1" hangingPunct="1">
              <a:spcBef>
                <a:spcPts val="0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# 1 "</a:t>
            </a:r>
            <a:r>
              <a:rPr lang="en-GB" sz="1400" dirty="0" err="1">
                <a:latin typeface="Courier" charset="0"/>
                <a:ea typeface="Courier" charset="0"/>
                <a:cs typeface="Courier" charset="0"/>
              </a:rPr>
              <a:t>hello.c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"</a:t>
            </a:r>
          </a:p>
          <a:p>
            <a:pPr indent="-336550" eaLnBrk="1" hangingPunct="1">
              <a:spcBef>
                <a:spcPts val="0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# 1 "/</a:t>
            </a:r>
            <a:r>
              <a:rPr lang="en-GB" sz="1400" dirty="0" err="1">
                <a:latin typeface="Courier" charset="0"/>
                <a:ea typeface="Courier" charset="0"/>
                <a:cs typeface="Courier" charset="0"/>
              </a:rPr>
              <a:t>usr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/include/</a:t>
            </a:r>
            <a:r>
              <a:rPr lang="en-GB" sz="1400" dirty="0" err="1">
                <a:latin typeface="Courier" charset="0"/>
                <a:ea typeface="Courier" charset="0"/>
                <a:cs typeface="Courier" charset="0"/>
              </a:rPr>
              <a:t>stdio.h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" 1 3 4</a:t>
            </a:r>
          </a:p>
          <a:p>
            <a:pPr indent="-336550" eaLnBrk="1" hangingPunct="1">
              <a:spcBef>
                <a:spcPts val="0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……………………………………..</a:t>
            </a:r>
          </a:p>
          <a:p>
            <a:pPr indent="-336550" eaLnBrk="1" hangingPunct="1">
              <a:spcBef>
                <a:spcPts val="0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400" dirty="0" err="1">
                <a:latin typeface="Courier" charset="0"/>
                <a:ea typeface="Courier" charset="0"/>
                <a:cs typeface="Courier" charset="0"/>
              </a:rPr>
              <a:t>typedef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 unsigned char __</a:t>
            </a:r>
            <a:r>
              <a:rPr lang="en-GB" sz="1400" dirty="0" err="1">
                <a:latin typeface="Courier" charset="0"/>
                <a:ea typeface="Courier" charset="0"/>
                <a:cs typeface="Courier" charset="0"/>
              </a:rPr>
              <a:t>u_char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pPr indent="-336550" eaLnBrk="1" hangingPunct="1">
              <a:spcBef>
                <a:spcPts val="0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400" dirty="0" err="1">
                <a:latin typeface="Courier" charset="0"/>
                <a:ea typeface="Courier" charset="0"/>
                <a:cs typeface="Courier" charset="0"/>
              </a:rPr>
              <a:t>typedef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 unsigned short </a:t>
            </a:r>
            <a:r>
              <a:rPr lang="en-GB" sz="14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 __</a:t>
            </a:r>
            <a:r>
              <a:rPr lang="en-GB" sz="1400" dirty="0" err="1">
                <a:latin typeface="Courier" charset="0"/>
                <a:ea typeface="Courier" charset="0"/>
                <a:cs typeface="Courier" charset="0"/>
              </a:rPr>
              <a:t>u_short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pPr indent="-336550" eaLnBrk="1" hangingPunct="1">
              <a:spcBef>
                <a:spcPts val="0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400" dirty="0" err="1">
                <a:latin typeface="Courier" charset="0"/>
                <a:ea typeface="Courier" charset="0"/>
                <a:cs typeface="Courier" charset="0"/>
              </a:rPr>
              <a:t>typedef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 unsigned </a:t>
            </a:r>
            <a:r>
              <a:rPr lang="en-GB" sz="14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 __</a:t>
            </a:r>
            <a:r>
              <a:rPr lang="en-GB" sz="1400" dirty="0" err="1">
                <a:latin typeface="Courier" charset="0"/>
                <a:ea typeface="Courier" charset="0"/>
                <a:cs typeface="Courier" charset="0"/>
              </a:rPr>
              <a:t>u_int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pPr indent="-336550" eaLnBrk="1" hangingPunct="1">
              <a:spcBef>
                <a:spcPts val="0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400" dirty="0" err="1">
                <a:latin typeface="Courier" charset="0"/>
                <a:ea typeface="Courier" charset="0"/>
                <a:cs typeface="Courier" charset="0"/>
              </a:rPr>
              <a:t>typedef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 unsigned long </a:t>
            </a:r>
            <a:r>
              <a:rPr lang="en-GB" sz="14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 __</a:t>
            </a:r>
            <a:r>
              <a:rPr lang="en-GB" sz="1400" dirty="0" err="1">
                <a:latin typeface="Courier" charset="0"/>
                <a:ea typeface="Courier" charset="0"/>
                <a:cs typeface="Courier" charset="0"/>
              </a:rPr>
              <a:t>u_long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pPr indent="-336550" eaLnBrk="1" hangingPunct="1">
              <a:spcBef>
                <a:spcPts val="0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………………………………………..</a:t>
            </a:r>
          </a:p>
          <a:p>
            <a:pPr indent="-336550" eaLnBrk="1" hangingPunct="1">
              <a:spcBef>
                <a:spcPts val="0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4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 main() {</a:t>
            </a:r>
          </a:p>
          <a:p>
            <a:pPr indent="-336550" eaLnBrk="1" hangingPunct="1">
              <a:spcBef>
                <a:spcPts val="0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GB" sz="1400" dirty="0" err="1">
                <a:latin typeface="Courier" charset="0"/>
                <a:ea typeface="Courier" charset="0"/>
                <a:cs typeface="Courier" charset="0"/>
              </a:rPr>
              <a:t>printf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(“Hello World”);</a:t>
            </a:r>
          </a:p>
          <a:p>
            <a:pPr marL="336550" indent="-336550" eaLnBrk="1" hangingPunct="1">
              <a:lnSpc>
                <a:spcPct val="89000"/>
              </a:lnSpc>
              <a:spcBef>
                <a:spcPts val="875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  <p:sp>
        <p:nvSpPr>
          <p:cNvPr id="97292" name="Line 11"/>
          <p:cNvSpPr>
            <a:spLocks noChangeShapeType="1"/>
          </p:cNvSpPr>
          <p:nvPr/>
        </p:nvSpPr>
        <p:spPr bwMode="auto">
          <a:xfrm>
            <a:off x="2627313" y="3500438"/>
            <a:ext cx="2182812" cy="4762"/>
          </a:xfrm>
          <a:prstGeom prst="line">
            <a:avLst/>
          </a:prstGeom>
          <a:noFill/>
          <a:ln w="19050">
            <a:solidFill>
              <a:srgbClr val="000066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  <p:sp>
        <p:nvSpPr>
          <p:cNvPr id="97293" name="Text Box 12"/>
          <p:cNvSpPr txBox="1">
            <a:spLocks noChangeArrowheads="1"/>
          </p:cNvSpPr>
          <p:nvPr/>
        </p:nvSpPr>
        <p:spPr bwMode="auto">
          <a:xfrm>
            <a:off x="2711939" y="3697287"/>
            <a:ext cx="1744662" cy="273050"/>
          </a:xfrm>
          <a:prstGeom prst="rect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 dirty="0" err="1">
                <a:solidFill>
                  <a:srgbClr val="FF0000"/>
                </a:solidFill>
                <a:latin typeface="Helvetica" charset="0"/>
              </a:rPr>
              <a:t>cpp</a:t>
            </a:r>
            <a:r>
              <a:rPr lang="en-GB" sz="1400" b="1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GB" sz="1400" b="1" dirty="0" err="1">
                <a:solidFill>
                  <a:srgbClr val="FF0000"/>
                </a:solidFill>
                <a:latin typeface="Helvetica" charset="0"/>
              </a:rPr>
              <a:t>hello.c</a:t>
            </a:r>
            <a:r>
              <a:rPr lang="en-GB" sz="1400" b="1" dirty="0">
                <a:solidFill>
                  <a:srgbClr val="FF0000"/>
                </a:solidFill>
                <a:latin typeface="Helvetica" charset="0"/>
              </a:rPr>
              <a:t> &gt; </a:t>
            </a:r>
            <a:r>
              <a:rPr lang="en-GB" sz="1400" b="1" dirty="0" err="1">
                <a:solidFill>
                  <a:srgbClr val="FF0000"/>
                </a:solidFill>
                <a:latin typeface="Helvetica" charset="0"/>
              </a:rPr>
              <a:t>hello.i</a:t>
            </a:r>
            <a:endParaRPr lang="en-GB" sz="1400" b="1" dirty="0">
              <a:solidFill>
                <a:srgbClr val="FF0000"/>
              </a:solidFill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7790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247650"/>
            <a:ext cx="8716962" cy="782638"/>
          </a:xfrm>
        </p:spPr>
        <p:txBody>
          <a:bodyPr/>
          <a:lstStyle/>
          <a:p>
            <a:pPr eaLnBrk="1" hangingPunct="1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Compiler</a:t>
            </a:r>
          </a:p>
        </p:txBody>
      </p:sp>
      <p:sp>
        <p:nvSpPr>
          <p:cNvPr id="99331" name="Rectangle 2"/>
          <p:cNvSpPr>
            <a:spLocks noChangeArrowheads="1"/>
          </p:cNvSpPr>
          <p:nvPr/>
        </p:nvSpPr>
        <p:spPr bwMode="auto">
          <a:xfrm>
            <a:off x="323850" y="908051"/>
            <a:ext cx="3744913" cy="4681538"/>
          </a:xfrm>
          <a:prstGeom prst="rect">
            <a:avLst/>
          </a:prstGeom>
          <a:noFill/>
          <a:ln w="38160">
            <a:solidFill>
              <a:srgbClr val="000066"/>
            </a:solidFill>
            <a:miter lim="800000"/>
            <a:headEnd/>
            <a:tailEnd/>
          </a:ln>
        </p:spPr>
        <p:txBody>
          <a:bodyPr lIns="90360" tIns="44280" rIns="90360" bIns="44280"/>
          <a:lstStyle/>
          <a:p>
            <a:pPr marL="336550" indent="-336550" eaLnBrk="1" hangingPunct="1">
              <a:lnSpc>
                <a:spcPct val="94000"/>
              </a:lnSpc>
              <a:spcBef>
                <a:spcPts val="875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200" dirty="0">
                <a:latin typeface="Courier"/>
                <a:cs typeface="Courier"/>
              </a:rPr>
              <a:t># 1 "</a:t>
            </a:r>
            <a:r>
              <a:rPr lang="en-GB" sz="1200" dirty="0" err="1">
                <a:latin typeface="Courier"/>
                <a:cs typeface="Courier"/>
              </a:rPr>
              <a:t>hello.c</a:t>
            </a:r>
            <a:r>
              <a:rPr lang="en-GB" sz="1200" dirty="0">
                <a:latin typeface="Courier"/>
                <a:cs typeface="Courier"/>
              </a:rPr>
              <a:t>"</a:t>
            </a:r>
          </a:p>
          <a:p>
            <a:pPr marL="336550" indent="-336550" eaLnBrk="1" hangingPunct="1">
              <a:lnSpc>
                <a:spcPct val="89000"/>
              </a:lnSpc>
              <a:spcBef>
                <a:spcPts val="875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200" dirty="0">
                <a:latin typeface="Courier"/>
                <a:cs typeface="Courier"/>
              </a:rPr>
              <a:t># 1 "&lt;built-in&gt;"</a:t>
            </a:r>
          </a:p>
          <a:p>
            <a:pPr marL="336550" indent="-336550" eaLnBrk="1" hangingPunct="1">
              <a:lnSpc>
                <a:spcPct val="89000"/>
              </a:lnSpc>
              <a:spcBef>
                <a:spcPts val="875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200" dirty="0">
                <a:latin typeface="Courier"/>
                <a:cs typeface="Courier"/>
              </a:rPr>
              <a:t># 1 "&lt;command line&gt;"</a:t>
            </a:r>
          </a:p>
          <a:p>
            <a:pPr marL="336550" indent="-336550" eaLnBrk="1" hangingPunct="1">
              <a:lnSpc>
                <a:spcPct val="89000"/>
              </a:lnSpc>
              <a:spcBef>
                <a:spcPts val="875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200" dirty="0">
                <a:latin typeface="Courier"/>
                <a:cs typeface="Courier"/>
              </a:rPr>
              <a:t># 1 "</a:t>
            </a:r>
            <a:r>
              <a:rPr lang="en-GB" sz="1200" dirty="0" err="1">
                <a:latin typeface="Courier"/>
                <a:cs typeface="Courier"/>
              </a:rPr>
              <a:t>hello.c</a:t>
            </a:r>
            <a:r>
              <a:rPr lang="en-GB" sz="1200" dirty="0">
                <a:latin typeface="Courier"/>
                <a:cs typeface="Courier"/>
              </a:rPr>
              <a:t>"</a:t>
            </a:r>
          </a:p>
          <a:p>
            <a:pPr marL="336550" indent="-336550" eaLnBrk="1" hangingPunct="1">
              <a:lnSpc>
                <a:spcPct val="89000"/>
              </a:lnSpc>
              <a:spcBef>
                <a:spcPts val="875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200" dirty="0">
                <a:latin typeface="Courier"/>
                <a:cs typeface="Courier"/>
              </a:rPr>
              <a:t># 1 "/</a:t>
            </a:r>
            <a:r>
              <a:rPr lang="en-GB" sz="1200" dirty="0" err="1">
                <a:latin typeface="Courier"/>
                <a:cs typeface="Courier"/>
              </a:rPr>
              <a:t>usr/include/stdio.h</a:t>
            </a:r>
            <a:r>
              <a:rPr lang="en-GB" sz="1200" dirty="0">
                <a:latin typeface="Courier"/>
                <a:cs typeface="Courier"/>
              </a:rPr>
              <a:t>" 1 3 4</a:t>
            </a:r>
          </a:p>
          <a:p>
            <a:pPr marL="336550" indent="-336550" eaLnBrk="1" hangingPunct="1">
              <a:lnSpc>
                <a:spcPct val="89000"/>
              </a:lnSpc>
              <a:spcBef>
                <a:spcPts val="875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200" dirty="0">
                <a:latin typeface="Courier"/>
                <a:cs typeface="Courier"/>
              </a:rPr>
              <a:t>……………………………………..</a:t>
            </a:r>
          </a:p>
          <a:p>
            <a:pPr marL="336550" indent="-336550" eaLnBrk="1" hangingPunct="1">
              <a:lnSpc>
                <a:spcPct val="89000"/>
              </a:lnSpc>
              <a:spcBef>
                <a:spcPts val="875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200" dirty="0" err="1">
                <a:latin typeface="Courier"/>
                <a:cs typeface="Courier"/>
              </a:rPr>
              <a:t>typedef</a:t>
            </a:r>
            <a:r>
              <a:rPr lang="en-GB" sz="1200" dirty="0">
                <a:latin typeface="Courier"/>
                <a:cs typeface="Courier"/>
              </a:rPr>
              <a:t> unsigned char __</a:t>
            </a:r>
            <a:r>
              <a:rPr lang="en-GB" sz="1200" dirty="0" err="1">
                <a:latin typeface="Courier"/>
                <a:cs typeface="Courier"/>
              </a:rPr>
              <a:t>u_char</a:t>
            </a:r>
            <a:r>
              <a:rPr lang="en-GB" sz="1200" dirty="0">
                <a:latin typeface="Courier"/>
                <a:cs typeface="Courier"/>
              </a:rPr>
              <a:t>;</a:t>
            </a:r>
          </a:p>
          <a:p>
            <a:pPr marL="336550" indent="-336550" eaLnBrk="1" hangingPunct="1">
              <a:lnSpc>
                <a:spcPct val="89000"/>
              </a:lnSpc>
              <a:spcBef>
                <a:spcPts val="875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200" dirty="0" err="1">
                <a:latin typeface="Courier"/>
                <a:cs typeface="Courier"/>
              </a:rPr>
              <a:t>typedef</a:t>
            </a:r>
            <a:r>
              <a:rPr lang="en-GB" sz="1200" dirty="0">
                <a:latin typeface="Courier"/>
                <a:cs typeface="Courier"/>
              </a:rPr>
              <a:t> unsigned short </a:t>
            </a:r>
            <a:r>
              <a:rPr lang="en-GB" sz="1200" dirty="0" err="1">
                <a:latin typeface="Courier"/>
                <a:cs typeface="Courier"/>
              </a:rPr>
              <a:t>int</a:t>
            </a:r>
            <a:r>
              <a:rPr lang="en-GB" sz="1200" dirty="0">
                <a:latin typeface="Courier"/>
                <a:cs typeface="Courier"/>
              </a:rPr>
              <a:t> __</a:t>
            </a:r>
            <a:r>
              <a:rPr lang="en-GB" sz="1200" dirty="0" err="1">
                <a:latin typeface="Courier"/>
                <a:cs typeface="Courier"/>
              </a:rPr>
              <a:t>u_short</a:t>
            </a:r>
            <a:r>
              <a:rPr lang="en-GB" sz="1200" dirty="0">
                <a:latin typeface="Courier"/>
                <a:cs typeface="Courier"/>
              </a:rPr>
              <a:t>;</a:t>
            </a:r>
          </a:p>
          <a:p>
            <a:pPr marL="336550" indent="-336550" eaLnBrk="1" hangingPunct="1">
              <a:lnSpc>
                <a:spcPct val="89000"/>
              </a:lnSpc>
              <a:spcBef>
                <a:spcPts val="875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200" dirty="0" err="1">
                <a:latin typeface="Courier"/>
                <a:cs typeface="Courier"/>
              </a:rPr>
              <a:t>typedef</a:t>
            </a:r>
            <a:r>
              <a:rPr lang="en-GB" sz="1200" dirty="0">
                <a:latin typeface="Courier"/>
                <a:cs typeface="Courier"/>
              </a:rPr>
              <a:t> unsigned </a:t>
            </a:r>
            <a:r>
              <a:rPr lang="en-GB" sz="1200" dirty="0" err="1">
                <a:latin typeface="Courier"/>
                <a:cs typeface="Courier"/>
              </a:rPr>
              <a:t>int</a:t>
            </a:r>
            <a:r>
              <a:rPr lang="en-GB" sz="1200" dirty="0">
                <a:latin typeface="Courier"/>
                <a:cs typeface="Courier"/>
              </a:rPr>
              <a:t> __</a:t>
            </a:r>
            <a:r>
              <a:rPr lang="en-GB" sz="1200" dirty="0" err="1">
                <a:latin typeface="Courier"/>
                <a:cs typeface="Courier"/>
              </a:rPr>
              <a:t>u_int</a:t>
            </a:r>
            <a:r>
              <a:rPr lang="en-GB" sz="1200" dirty="0">
                <a:latin typeface="Courier"/>
                <a:cs typeface="Courier"/>
              </a:rPr>
              <a:t>;</a:t>
            </a:r>
          </a:p>
          <a:p>
            <a:pPr marL="336550" indent="-336550" eaLnBrk="1" hangingPunct="1">
              <a:lnSpc>
                <a:spcPct val="89000"/>
              </a:lnSpc>
              <a:spcBef>
                <a:spcPts val="875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200" dirty="0" err="1">
                <a:latin typeface="Courier"/>
                <a:cs typeface="Courier"/>
              </a:rPr>
              <a:t>typedef</a:t>
            </a:r>
            <a:r>
              <a:rPr lang="en-GB" sz="1200" dirty="0">
                <a:latin typeface="Courier"/>
                <a:cs typeface="Courier"/>
              </a:rPr>
              <a:t> unsigned long </a:t>
            </a:r>
            <a:r>
              <a:rPr lang="en-GB" sz="1200" dirty="0" err="1">
                <a:latin typeface="Courier"/>
                <a:cs typeface="Courier"/>
              </a:rPr>
              <a:t>int</a:t>
            </a:r>
            <a:r>
              <a:rPr lang="en-GB" sz="1200" dirty="0">
                <a:latin typeface="Courier"/>
                <a:cs typeface="Courier"/>
              </a:rPr>
              <a:t> __</a:t>
            </a:r>
            <a:r>
              <a:rPr lang="en-GB" sz="1200" dirty="0" err="1">
                <a:latin typeface="Courier"/>
                <a:cs typeface="Courier"/>
              </a:rPr>
              <a:t>u_long</a:t>
            </a:r>
            <a:r>
              <a:rPr lang="en-GB" sz="1200" dirty="0">
                <a:latin typeface="Courier"/>
                <a:cs typeface="Courier"/>
              </a:rPr>
              <a:t>;</a:t>
            </a:r>
          </a:p>
          <a:p>
            <a:pPr marL="336550" indent="-336550" eaLnBrk="1" hangingPunct="1">
              <a:lnSpc>
                <a:spcPct val="89000"/>
              </a:lnSpc>
              <a:spcBef>
                <a:spcPts val="875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200" dirty="0">
                <a:latin typeface="Courier"/>
                <a:cs typeface="Courier"/>
              </a:rPr>
              <a:t>………………………………………..</a:t>
            </a:r>
          </a:p>
          <a:p>
            <a:pPr marL="336550" indent="-336550" eaLnBrk="1" hangingPunct="1">
              <a:lnSpc>
                <a:spcPct val="89000"/>
              </a:lnSpc>
              <a:spcBef>
                <a:spcPts val="875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200" dirty="0" err="1">
                <a:latin typeface="Courier"/>
                <a:cs typeface="Courier"/>
              </a:rPr>
              <a:t>int</a:t>
            </a:r>
            <a:r>
              <a:rPr lang="en-GB" sz="1200" dirty="0">
                <a:latin typeface="Courier"/>
                <a:cs typeface="Courier"/>
              </a:rPr>
              <a:t> main() {</a:t>
            </a:r>
          </a:p>
          <a:p>
            <a:pPr marL="336550" indent="-336550" eaLnBrk="1" hangingPunct="1">
              <a:lnSpc>
                <a:spcPct val="89000"/>
              </a:lnSpc>
              <a:spcBef>
                <a:spcPts val="875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200" dirty="0">
                <a:latin typeface="Courier"/>
                <a:cs typeface="Courier"/>
              </a:rPr>
              <a:t>	</a:t>
            </a:r>
            <a:r>
              <a:rPr lang="en-GB" sz="1200" dirty="0" err="1">
                <a:latin typeface="Courier"/>
                <a:cs typeface="Courier"/>
              </a:rPr>
              <a:t>printf(“Hello</a:t>
            </a:r>
            <a:r>
              <a:rPr lang="en-GB" sz="1200" dirty="0">
                <a:latin typeface="Courier"/>
                <a:cs typeface="Courier"/>
              </a:rPr>
              <a:t> World”);</a:t>
            </a:r>
          </a:p>
          <a:p>
            <a:pPr marL="336550" indent="-336550" eaLnBrk="1" hangingPunct="1">
              <a:lnSpc>
                <a:spcPct val="89000"/>
              </a:lnSpc>
              <a:spcBef>
                <a:spcPts val="875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GB" sz="1200" dirty="0">
                <a:latin typeface="Courier"/>
                <a:cs typeface="Courier"/>
              </a:rPr>
              <a:t>}</a:t>
            </a:r>
          </a:p>
        </p:txBody>
      </p:sp>
      <p:sp>
        <p:nvSpPr>
          <p:cNvPr id="99332" name="Line 3"/>
          <p:cNvSpPr>
            <a:spLocks noChangeShapeType="1"/>
          </p:cNvSpPr>
          <p:nvPr/>
        </p:nvSpPr>
        <p:spPr bwMode="auto">
          <a:xfrm>
            <a:off x="4067175" y="3500438"/>
            <a:ext cx="2714625" cy="4762"/>
          </a:xfrm>
          <a:prstGeom prst="line">
            <a:avLst/>
          </a:prstGeom>
          <a:noFill/>
          <a:ln w="19080">
            <a:solidFill>
              <a:srgbClr val="0033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  <p:sp>
        <p:nvSpPr>
          <p:cNvPr id="99333" name="Text Box 4"/>
          <p:cNvSpPr txBox="1">
            <a:spLocks noChangeArrowheads="1"/>
          </p:cNvSpPr>
          <p:nvPr/>
        </p:nvSpPr>
        <p:spPr bwMode="auto">
          <a:xfrm>
            <a:off x="4158933" y="3716338"/>
            <a:ext cx="2435859" cy="49090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 dirty="0" err="1">
                <a:solidFill>
                  <a:srgbClr val="FF0000"/>
                </a:solidFill>
                <a:latin typeface="Helvetica" charset="0"/>
              </a:rPr>
              <a:t>gcc</a:t>
            </a:r>
            <a:r>
              <a:rPr lang="en-GB" sz="1400" b="1" dirty="0">
                <a:solidFill>
                  <a:srgbClr val="FF0000"/>
                </a:solidFill>
                <a:latin typeface="Helvetica" charset="0"/>
              </a:rPr>
              <a:t> -Wall -S </a:t>
            </a:r>
            <a:r>
              <a:rPr lang="en-GB" sz="1400" b="1" dirty="0" err="1">
                <a:solidFill>
                  <a:srgbClr val="FF0000"/>
                </a:solidFill>
                <a:latin typeface="Helvetica" charset="0"/>
              </a:rPr>
              <a:t>hello.i</a:t>
            </a:r>
            <a:r>
              <a:rPr lang="en-GB" sz="1400" b="1" dirty="0">
                <a:solidFill>
                  <a:srgbClr val="FF0000"/>
                </a:solidFill>
                <a:latin typeface="Helvetica" charset="0"/>
              </a:rPr>
              <a:t> &gt; </a:t>
            </a:r>
            <a:r>
              <a:rPr lang="en-GB" sz="1400" b="1" dirty="0" err="1">
                <a:solidFill>
                  <a:srgbClr val="FF0000"/>
                </a:solidFill>
                <a:latin typeface="Helvetica" charset="0"/>
              </a:rPr>
              <a:t>hello.s</a:t>
            </a:r>
            <a:endParaRPr lang="en-GB" sz="1400" b="1" dirty="0">
              <a:solidFill>
                <a:srgbClr val="FF0000"/>
              </a:solidFill>
              <a:latin typeface="Helvetica" charset="0"/>
            </a:endParaRPr>
          </a:p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400" b="1" dirty="0">
              <a:latin typeface="Helvetica" charset="0"/>
            </a:endParaRPr>
          </a:p>
        </p:txBody>
      </p:sp>
      <p:sp>
        <p:nvSpPr>
          <p:cNvPr id="99334" name="Rectangle 5"/>
          <p:cNvSpPr>
            <a:spLocks noChangeArrowheads="1"/>
          </p:cNvSpPr>
          <p:nvPr/>
        </p:nvSpPr>
        <p:spPr bwMode="auto">
          <a:xfrm>
            <a:off x="5038725" y="1052513"/>
            <a:ext cx="914400" cy="8382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Helvetica" charset="0"/>
              </a:rPr>
              <a:t> Compiler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Helvetica" charset="0"/>
              </a:rPr>
              <a:t>(</a:t>
            </a:r>
            <a:r>
              <a:rPr lang="en-GB" sz="1400" b="1">
                <a:latin typeface="Courier New" charset="0"/>
              </a:rPr>
              <a:t>cc1</a:t>
            </a:r>
            <a:r>
              <a:rPr lang="en-GB" sz="1400" b="1">
                <a:latin typeface="Helvetica" charset="0"/>
              </a:rPr>
              <a:t>)</a:t>
            </a:r>
            <a:r>
              <a:rPr lang="x-none" sz="1400" b="1">
                <a:latin typeface="Helvetica" charset="0"/>
                <a:cs typeface="Arial" charset="0"/>
              </a:rPr>
              <a:t>‏</a:t>
            </a:r>
            <a:endParaRPr lang="en-GB" sz="1400" b="1">
              <a:latin typeface="Helvetica" charset="0"/>
              <a:cs typeface="Arial" charset="0"/>
            </a:endParaRPr>
          </a:p>
        </p:txBody>
      </p:sp>
      <p:sp>
        <p:nvSpPr>
          <p:cNvPr id="99335" name="Text Box 6"/>
          <p:cNvSpPr txBox="1">
            <a:spLocks noChangeArrowheads="1"/>
          </p:cNvSpPr>
          <p:nvPr/>
        </p:nvSpPr>
        <p:spPr bwMode="auto">
          <a:xfrm>
            <a:off x="5950380" y="1238215"/>
            <a:ext cx="832578" cy="26994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5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latin typeface="Courier New" charset="0"/>
              </a:rPr>
              <a:t>hello.s</a:t>
            </a:r>
          </a:p>
        </p:txBody>
      </p:sp>
      <p:sp>
        <p:nvSpPr>
          <p:cNvPr id="99336" name="Text Box 7"/>
          <p:cNvSpPr txBox="1">
            <a:spLocks noChangeArrowheads="1"/>
          </p:cNvSpPr>
          <p:nvPr/>
        </p:nvSpPr>
        <p:spPr bwMode="auto">
          <a:xfrm>
            <a:off x="4150155" y="1269965"/>
            <a:ext cx="832578" cy="26994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5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latin typeface="Courier New" charset="0"/>
              </a:rPr>
              <a:t>hello.i</a:t>
            </a:r>
          </a:p>
        </p:txBody>
      </p:sp>
      <p:sp>
        <p:nvSpPr>
          <p:cNvPr id="99337" name="Line 8"/>
          <p:cNvSpPr>
            <a:spLocks noChangeShapeType="1"/>
          </p:cNvSpPr>
          <p:nvPr/>
        </p:nvSpPr>
        <p:spPr bwMode="auto">
          <a:xfrm>
            <a:off x="4260850" y="1557338"/>
            <a:ext cx="792163" cy="1587"/>
          </a:xfrm>
          <a:prstGeom prst="line">
            <a:avLst/>
          </a:prstGeom>
          <a:noFill/>
          <a:ln w="19080">
            <a:solidFill>
              <a:srgbClr val="0033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  <p:sp>
        <p:nvSpPr>
          <p:cNvPr id="99338" name="Line 9"/>
          <p:cNvSpPr>
            <a:spLocks noChangeShapeType="1"/>
          </p:cNvSpPr>
          <p:nvPr/>
        </p:nvSpPr>
        <p:spPr bwMode="auto">
          <a:xfrm>
            <a:off x="5989638" y="1557338"/>
            <a:ext cx="792162" cy="1587"/>
          </a:xfrm>
          <a:prstGeom prst="line">
            <a:avLst/>
          </a:prstGeom>
          <a:noFill/>
          <a:ln w="19080">
            <a:solidFill>
              <a:srgbClr val="0033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  <p:sp>
        <p:nvSpPr>
          <p:cNvPr id="99339" name="Rectangle 10"/>
          <p:cNvSpPr>
            <a:spLocks noChangeArrowheads="1"/>
          </p:cNvSpPr>
          <p:nvPr/>
        </p:nvSpPr>
        <p:spPr bwMode="auto">
          <a:xfrm>
            <a:off x="2286000" y="-207963"/>
            <a:ext cx="4572000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45720" tIns="46800" rIns="45720" bIns="46800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>
                <a:solidFill>
                  <a:srgbClr val="000066"/>
                </a:solidFill>
                <a:latin typeface="Helvetica" charset="0"/>
              </a:rPr>
              <a:t> </a:t>
            </a:r>
          </a:p>
        </p:txBody>
      </p:sp>
      <p:sp>
        <p:nvSpPr>
          <p:cNvPr id="99340" name="Rectangle 11"/>
          <p:cNvSpPr>
            <a:spLocks noChangeArrowheads="1"/>
          </p:cNvSpPr>
          <p:nvPr/>
        </p:nvSpPr>
        <p:spPr bwMode="auto">
          <a:xfrm>
            <a:off x="6781800" y="838200"/>
            <a:ext cx="2305050" cy="5822877"/>
          </a:xfrm>
          <a:prstGeom prst="rect">
            <a:avLst/>
          </a:prstGeom>
          <a:noFill/>
          <a:ln w="25560">
            <a:solidFill>
              <a:srgbClr val="000066"/>
            </a:solidFill>
            <a:miter lim="800000"/>
            <a:headEnd/>
            <a:tailEnd/>
          </a:ln>
        </p:spPr>
        <p:txBody>
          <a:bodyPr wrap="square" lIns="45720" tIns="46800" rIns="45720" bIns="46800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.file   "</a:t>
            </a:r>
            <a:r>
              <a:rPr lang="en-GB" sz="1100" dirty="0" err="1">
                <a:latin typeface="Courier"/>
                <a:cs typeface="Courier"/>
              </a:rPr>
              <a:t>hello.c</a:t>
            </a:r>
            <a:r>
              <a:rPr lang="en-GB" sz="1100" dirty="0">
                <a:latin typeface="Courier"/>
                <a:cs typeface="Courier"/>
              </a:rPr>
              <a:t>"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.section        .</a:t>
            </a:r>
            <a:r>
              <a:rPr lang="en-GB" sz="1100" dirty="0" err="1">
                <a:latin typeface="Courier"/>
                <a:cs typeface="Courier"/>
              </a:rPr>
              <a:t>rodata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.LC0: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.string "Hello World"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.text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.</a:t>
            </a:r>
            <a:r>
              <a:rPr lang="en-GB" sz="1100" dirty="0" err="1">
                <a:latin typeface="Courier"/>
                <a:cs typeface="Courier"/>
              </a:rPr>
              <a:t>globl</a:t>
            </a:r>
            <a:r>
              <a:rPr lang="en-GB" sz="1100" dirty="0">
                <a:latin typeface="Courier"/>
                <a:cs typeface="Courier"/>
              </a:rPr>
              <a:t> main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.type   main, @function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main: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pushl</a:t>
            </a:r>
            <a:r>
              <a:rPr lang="en-GB" sz="1100" dirty="0">
                <a:latin typeface="Courier"/>
                <a:cs typeface="Courier"/>
              </a:rPr>
              <a:t>   %</a:t>
            </a:r>
            <a:r>
              <a:rPr lang="en-GB" sz="1100" dirty="0" err="1">
                <a:latin typeface="Courier"/>
                <a:cs typeface="Courier"/>
              </a:rPr>
              <a:t>ebp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movl</a:t>
            </a:r>
            <a:r>
              <a:rPr lang="en-GB" sz="1100" dirty="0">
                <a:latin typeface="Courier"/>
                <a:cs typeface="Courier"/>
              </a:rPr>
              <a:t>    %</a:t>
            </a:r>
            <a:r>
              <a:rPr lang="en-GB" sz="1100" dirty="0" err="1">
                <a:latin typeface="Courier"/>
                <a:cs typeface="Courier"/>
              </a:rPr>
              <a:t>esp</a:t>
            </a:r>
            <a:r>
              <a:rPr lang="en-GB" sz="1100" dirty="0">
                <a:latin typeface="Courier"/>
                <a:cs typeface="Courier"/>
              </a:rPr>
              <a:t>, %</a:t>
            </a:r>
            <a:r>
              <a:rPr lang="en-GB" sz="1100" dirty="0" err="1">
                <a:latin typeface="Courier"/>
                <a:cs typeface="Courier"/>
              </a:rPr>
              <a:t>ebp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subl</a:t>
            </a:r>
            <a:r>
              <a:rPr lang="en-GB" sz="1100" dirty="0">
                <a:latin typeface="Courier"/>
                <a:cs typeface="Courier"/>
              </a:rPr>
              <a:t>    $8, %</a:t>
            </a:r>
            <a:r>
              <a:rPr lang="en-GB" sz="1100" dirty="0" err="1">
                <a:latin typeface="Courier"/>
                <a:cs typeface="Courier"/>
              </a:rPr>
              <a:t>esp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andl</a:t>
            </a:r>
            <a:r>
              <a:rPr lang="en-GB" sz="1100" dirty="0">
                <a:latin typeface="Courier"/>
                <a:cs typeface="Courier"/>
              </a:rPr>
              <a:t>    $-16, %</a:t>
            </a:r>
            <a:r>
              <a:rPr lang="en-GB" sz="1100" dirty="0" err="1">
                <a:latin typeface="Courier"/>
                <a:cs typeface="Courier"/>
              </a:rPr>
              <a:t>esp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movl</a:t>
            </a:r>
            <a:r>
              <a:rPr lang="en-GB" sz="1100" dirty="0">
                <a:latin typeface="Courier"/>
                <a:cs typeface="Courier"/>
              </a:rPr>
              <a:t>    $0, %</a:t>
            </a:r>
            <a:r>
              <a:rPr lang="en-GB" sz="1100" dirty="0" err="1">
                <a:latin typeface="Courier"/>
                <a:cs typeface="Courier"/>
              </a:rPr>
              <a:t>eax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addl</a:t>
            </a:r>
            <a:r>
              <a:rPr lang="en-GB" sz="1100" dirty="0">
                <a:latin typeface="Courier"/>
                <a:cs typeface="Courier"/>
              </a:rPr>
              <a:t>    $15, %</a:t>
            </a:r>
            <a:r>
              <a:rPr lang="en-GB" sz="1100" dirty="0" err="1">
                <a:latin typeface="Courier"/>
                <a:cs typeface="Courier"/>
              </a:rPr>
              <a:t>eax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addl</a:t>
            </a:r>
            <a:r>
              <a:rPr lang="en-GB" sz="1100" dirty="0">
                <a:latin typeface="Courier"/>
                <a:cs typeface="Courier"/>
              </a:rPr>
              <a:t>    $15, %</a:t>
            </a:r>
            <a:r>
              <a:rPr lang="en-GB" sz="1100" dirty="0" err="1">
                <a:latin typeface="Courier"/>
                <a:cs typeface="Courier"/>
              </a:rPr>
              <a:t>eax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shrl</a:t>
            </a:r>
            <a:r>
              <a:rPr lang="en-GB" sz="1100" dirty="0">
                <a:latin typeface="Courier"/>
                <a:cs typeface="Courier"/>
              </a:rPr>
              <a:t>    $4, %</a:t>
            </a:r>
            <a:r>
              <a:rPr lang="en-GB" sz="1100" dirty="0" err="1">
                <a:latin typeface="Courier"/>
                <a:cs typeface="Courier"/>
              </a:rPr>
              <a:t>eax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sall</a:t>
            </a:r>
            <a:r>
              <a:rPr lang="en-GB" sz="1100" dirty="0">
                <a:latin typeface="Courier"/>
                <a:cs typeface="Courier"/>
              </a:rPr>
              <a:t>    $4, %</a:t>
            </a:r>
            <a:r>
              <a:rPr lang="en-GB" sz="1100" dirty="0" err="1">
                <a:latin typeface="Courier"/>
                <a:cs typeface="Courier"/>
              </a:rPr>
              <a:t>eax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subl</a:t>
            </a:r>
            <a:r>
              <a:rPr lang="en-GB" sz="1100" dirty="0">
                <a:latin typeface="Courier"/>
                <a:cs typeface="Courier"/>
              </a:rPr>
              <a:t>    %</a:t>
            </a:r>
            <a:r>
              <a:rPr lang="en-GB" sz="1100" dirty="0" err="1">
                <a:latin typeface="Courier"/>
                <a:cs typeface="Courier"/>
              </a:rPr>
              <a:t>eax</a:t>
            </a:r>
            <a:r>
              <a:rPr lang="en-GB" sz="1100" dirty="0">
                <a:latin typeface="Courier"/>
                <a:cs typeface="Courier"/>
              </a:rPr>
              <a:t>, %</a:t>
            </a:r>
            <a:r>
              <a:rPr lang="en-GB" sz="1100" dirty="0" err="1">
                <a:latin typeface="Courier"/>
                <a:cs typeface="Courier"/>
              </a:rPr>
              <a:t>esp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subl</a:t>
            </a:r>
            <a:r>
              <a:rPr lang="en-GB" sz="1100" dirty="0">
                <a:latin typeface="Courier"/>
                <a:cs typeface="Courier"/>
              </a:rPr>
              <a:t>    $12, %</a:t>
            </a:r>
            <a:r>
              <a:rPr lang="en-GB" sz="1100" dirty="0" err="1">
                <a:latin typeface="Courier"/>
                <a:cs typeface="Courier"/>
              </a:rPr>
              <a:t>esp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pushl</a:t>
            </a:r>
            <a:r>
              <a:rPr lang="en-GB" sz="1100" dirty="0">
                <a:latin typeface="Courier"/>
                <a:cs typeface="Courier"/>
              </a:rPr>
              <a:t>   $.LC0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call    </a:t>
            </a:r>
            <a:r>
              <a:rPr lang="en-GB" sz="1100" dirty="0" err="1">
                <a:latin typeface="Courier"/>
                <a:cs typeface="Courier"/>
              </a:rPr>
              <a:t>printf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addl</a:t>
            </a:r>
            <a:r>
              <a:rPr lang="en-GB" sz="1100" dirty="0">
                <a:latin typeface="Courier"/>
                <a:cs typeface="Courier"/>
              </a:rPr>
              <a:t>    $16, %</a:t>
            </a:r>
            <a:r>
              <a:rPr lang="en-GB" sz="1100" dirty="0" err="1">
                <a:latin typeface="Courier"/>
                <a:cs typeface="Courier"/>
              </a:rPr>
              <a:t>esp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leave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ret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.size   main, .-main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.section        .</a:t>
            </a:r>
            <a:r>
              <a:rPr lang="en-GB" sz="1100" dirty="0" err="1">
                <a:latin typeface="Courier"/>
                <a:cs typeface="Courier"/>
              </a:rPr>
              <a:t>note.GNU-stack,"",@progbits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.</a:t>
            </a:r>
            <a:r>
              <a:rPr lang="en-GB" sz="1100" dirty="0" err="1">
                <a:latin typeface="Courier"/>
                <a:cs typeface="Courier"/>
              </a:rPr>
              <a:t>ident</a:t>
            </a:r>
            <a:r>
              <a:rPr lang="en-GB" sz="1100" dirty="0">
                <a:latin typeface="Courier"/>
                <a:cs typeface="Courier"/>
              </a:rPr>
              <a:t>  "GCC: (GNU) 3.4.1"</a:t>
            </a:r>
          </a:p>
        </p:txBody>
      </p:sp>
    </p:spTree>
    <p:extLst>
      <p:ext uri="{BB962C8B-B14F-4D97-AF65-F5344CB8AC3E}">
        <p14:creationId xmlns:p14="http://schemas.microsoft.com/office/powerpoint/2010/main" val="20026369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247650"/>
            <a:ext cx="8716962" cy="782638"/>
          </a:xfrm>
        </p:spPr>
        <p:txBody>
          <a:bodyPr/>
          <a:lstStyle/>
          <a:p>
            <a:pPr eaLnBrk="1" hangingPunct="1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Assembler</a:t>
            </a:r>
          </a:p>
        </p:txBody>
      </p:sp>
      <p:sp>
        <p:nvSpPr>
          <p:cNvPr id="101379" name="Line 2"/>
          <p:cNvSpPr>
            <a:spLocks noChangeShapeType="1"/>
          </p:cNvSpPr>
          <p:nvPr/>
        </p:nvSpPr>
        <p:spPr bwMode="auto">
          <a:xfrm>
            <a:off x="2771775" y="3284538"/>
            <a:ext cx="1728788" cy="1587"/>
          </a:xfrm>
          <a:prstGeom prst="line">
            <a:avLst/>
          </a:prstGeom>
          <a:noFill/>
          <a:ln w="19080">
            <a:solidFill>
              <a:srgbClr val="0033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  <p:sp>
        <p:nvSpPr>
          <p:cNvPr id="101380" name="Text Box 3"/>
          <p:cNvSpPr txBox="1">
            <a:spLocks noChangeArrowheads="1"/>
          </p:cNvSpPr>
          <p:nvPr/>
        </p:nvSpPr>
        <p:spPr bwMode="auto">
          <a:xfrm>
            <a:off x="2763391" y="3357563"/>
            <a:ext cx="1799531" cy="49090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 dirty="0">
                <a:solidFill>
                  <a:srgbClr val="FF0000"/>
                </a:solidFill>
                <a:latin typeface="Helvetica" charset="0"/>
              </a:rPr>
              <a:t>as </a:t>
            </a:r>
            <a:r>
              <a:rPr lang="en-GB" sz="1400" b="1" dirty="0" err="1">
                <a:solidFill>
                  <a:srgbClr val="FF0000"/>
                </a:solidFill>
                <a:latin typeface="Helvetica" charset="0"/>
              </a:rPr>
              <a:t>hello.s</a:t>
            </a:r>
            <a:r>
              <a:rPr lang="en-GB" sz="1400" b="1" dirty="0">
                <a:solidFill>
                  <a:srgbClr val="FF0000"/>
                </a:solidFill>
                <a:latin typeface="Helvetica" charset="0"/>
              </a:rPr>
              <a:t> -o </a:t>
            </a:r>
            <a:r>
              <a:rPr lang="en-GB" sz="1400" b="1" dirty="0" err="1">
                <a:solidFill>
                  <a:srgbClr val="FF0000"/>
                </a:solidFill>
                <a:latin typeface="Helvetica" charset="0"/>
              </a:rPr>
              <a:t>hello.o</a:t>
            </a:r>
            <a:r>
              <a:rPr lang="en-GB" sz="1400" b="1" dirty="0">
                <a:solidFill>
                  <a:srgbClr val="FF0000"/>
                </a:solidFill>
                <a:latin typeface="Helvetica" charset="0"/>
              </a:rPr>
              <a:t> </a:t>
            </a:r>
          </a:p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400" b="1" dirty="0">
              <a:latin typeface="Helvetica" charset="0"/>
            </a:endParaRPr>
          </a:p>
        </p:txBody>
      </p:sp>
      <p:sp>
        <p:nvSpPr>
          <p:cNvPr id="101381" name="Rectangle 4"/>
          <p:cNvSpPr>
            <a:spLocks noChangeArrowheads="1"/>
          </p:cNvSpPr>
          <p:nvPr/>
        </p:nvSpPr>
        <p:spPr bwMode="auto">
          <a:xfrm>
            <a:off x="2286000" y="-207963"/>
            <a:ext cx="4572000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45720" tIns="46800" rIns="45720" bIns="46800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>
                <a:solidFill>
                  <a:srgbClr val="000066"/>
                </a:solidFill>
                <a:latin typeface="Helvetica" charset="0"/>
              </a:rPr>
              <a:t> </a:t>
            </a:r>
          </a:p>
        </p:txBody>
      </p:sp>
      <p:sp>
        <p:nvSpPr>
          <p:cNvPr id="101382" name="Rectangle 5"/>
          <p:cNvSpPr>
            <a:spLocks noChangeArrowheads="1"/>
          </p:cNvSpPr>
          <p:nvPr/>
        </p:nvSpPr>
        <p:spPr bwMode="auto">
          <a:xfrm>
            <a:off x="466725" y="838200"/>
            <a:ext cx="2305050" cy="5822877"/>
          </a:xfrm>
          <a:prstGeom prst="rect">
            <a:avLst/>
          </a:prstGeom>
          <a:noFill/>
          <a:ln w="25560">
            <a:solidFill>
              <a:srgbClr val="000066"/>
            </a:solidFill>
            <a:miter lim="800000"/>
            <a:headEnd/>
            <a:tailEnd/>
          </a:ln>
        </p:spPr>
        <p:txBody>
          <a:bodyPr wrap="square" lIns="45720" tIns="46800" rIns="45720" bIns="46800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.file   "</a:t>
            </a:r>
            <a:r>
              <a:rPr lang="en-GB" sz="1100" dirty="0" err="1">
                <a:latin typeface="Courier"/>
                <a:cs typeface="Courier"/>
              </a:rPr>
              <a:t>hello.c</a:t>
            </a:r>
            <a:r>
              <a:rPr lang="en-GB" sz="1100" dirty="0">
                <a:latin typeface="Courier"/>
                <a:cs typeface="Courier"/>
              </a:rPr>
              <a:t>"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.section        .</a:t>
            </a:r>
            <a:r>
              <a:rPr lang="en-GB" sz="1100" dirty="0" err="1">
                <a:latin typeface="Courier"/>
                <a:cs typeface="Courier"/>
              </a:rPr>
              <a:t>rodata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.LC0: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.string "Hello World"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.text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.</a:t>
            </a:r>
            <a:r>
              <a:rPr lang="en-GB" sz="1100" dirty="0" err="1">
                <a:latin typeface="Courier"/>
                <a:cs typeface="Courier"/>
              </a:rPr>
              <a:t>globl</a:t>
            </a:r>
            <a:r>
              <a:rPr lang="en-GB" sz="1100" dirty="0">
                <a:latin typeface="Courier"/>
                <a:cs typeface="Courier"/>
              </a:rPr>
              <a:t> main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.type   main, @function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main: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pushl</a:t>
            </a:r>
            <a:r>
              <a:rPr lang="en-GB" sz="1100" dirty="0">
                <a:latin typeface="Courier"/>
                <a:cs typeface="Courier"/>
              </a:rPr>
              <a:t>   %</a:t>
            </a:r>
            <a:r>
              <a:rPr lang="en-GB" sz="1100" dirty="0" err="1">
                <a:latin typeface="Courier"/>
                <a:cs typeface="Courier"/>
              </a:rPr>
              <a:t>ebp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movl</a:t>
            </a:r>
            <a:r>
              <a:rPr lang="en-GB" sz="1100" dirty="0">
                <a:latin typeface="Courier"/>
                <a:cs typeface="Courier"/>
              </a:rPr>
              <a:t>    %</a:t>
            </a:r>
            <a:r>
              <a:rPr lang="en-GB" sz="1100" dirty="0" err="1">
                <a:latin typeface="Courier"/>
                <a:cs typeface="Courier"/>
              </a:rPr>
              <a:t>esp</a:t>
            </a:r>
            <a:r>
              <a:rPr lang="en-GB" sz="1100" dirty="0">
                <a:latin typeface="Courier"/>
                <a:cs typeface="Courier"/>
              </a:rPr>
              <a:t>, %</a:t>
            </a:r>
            <a:r>
              <a:rPr lang="en-GB" sz="1100" dirty="0" err="1">
                <a:latin typeface="Courier"/>
                <a:cs typeface="Courier"/>
              </a:rPr>
              <a:t>ebp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subl</a:t>
            </a:r>
            <a:r>
              <a:rPr lang="en-GB" sz="1100" dirty="0">
                <a:latin typeface="Courier"/>
                <a:cs typeface="Courier"/>
              </a:rPr>
              <a:t>    $8, %</a:t>
            </a:r>
            <a:r>
              <a:rPr lang="en-GB" sz="1100" dirty="0" err="1">
                <a:latin typeface="Courier"/>
                <a:cs typeface="Courier"/>
              </a:rPr>
              <a:t>esp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andl</a:t>
            </a:r>
            <a:r>
              <a:rPr lang="en-GB" sz="1100" dirty="0">
                <a:latin typeface="Courier"/>
                <a:cs typeface="Courier"/>
              </a:rPr>
              <a:t>    $-16, %</a:t>
            </a:r>
            <a:r>
              <a:rPr lang="en-GB" sz="1100" dirty="0" err="1">
                <a:latin typeface="Courier"/>
                <a:cs typeface="Courier"/>
              </a:rPr>
              <a:t>esp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movl</a:t>
            </a:r>
            <a:r>
              <a:rPr lang="en-GB" sz="1100" dirty="0">
                <a:latin typeface="Courier"/>
                <a:cs typeface="Courier"/>
              </a:rPr>
              <a:t>    $0, %</a:t>
            </a:r>
            <a:r>
              <a:rPr lang="en-GB" sz="1100" dirty="0" err="1">
                <a:latin typeface="Courier"/>
                <a:cs typeface="Courier"/>
              </a:rPr>
              <a:t>eax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addl</a:t>
            </a:r>
            <a:r>
              <a:rPr lang="en-GB" sz="1100" dirty="0">
                <a:latin typeface="Courier"/>
                <a:cs typeface="Courier"/>
              </a:rPr>
              <a:t>    $15, %</a:t>
            </a:r>
            <a:r>
              <a:rPr lang="en-GB" sz="1100" dirty="0" err="1">
                <a:latin typeface="Courier"/>
                <a:cs typeface="Courier"/>
              </a:rPr>
              <a:t>eax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addl</a:t>
            </a:r>
            <a:r>
              <a:rPr lang="en-GB" sz="1100" dirty="0">
                <a:latin typeface="Courier"/>
                <a:cs typeface="Courier"/>
              </a:rPr>
              <a:t>    $15, %</a:t>
            </a:r>
            <a:r>
              <a:rPr lang="en-GB" sz="1100" dirty="0" err="1">
                <a:latin typeface="Courier"/>
                <a:cs typeface="Courier"/>
              </a:rPr>
              <a:t>eax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shrl</a:t>
            </a:r>
            <a:r>
              <a:rPr lang="en-GB" sz="1100" dirty="0">
                <a:latin typeface="Courier"/>
                <a:cs typeface="Courier"/>
              </a:rPr>
              <a:t>    $4, %</a:t>
            </a:r>
            <a:r>
              <a:rPr lang="en-GB" sz="1100" dirty="0" err="1">
                <a:latin typeface="Courier"/>
                <a:cs typeface="Courier"/>
              </a:rPr>
              <a:t>eax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sall</a:t>
            </a:r>
            <a:r>
              <a:rPr lang="en-GB" sz="1100" dirty="0">
                <a:latin typeface="Courier"/>
                <a:cs typeface="Courier"/>
              </a:rPr>
              <a:t>    $4, %</a:t>
            </a:r>
            <a:r>
              <a:rPr lang="en-GB" sz="1100" dirty="0" err="1">
                <a:latin typeface="Courier"/>
                <a:cs typeface="Courier"/>
              </a:rPr>
              <a:t>eax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subl</a:t>
            </a:r>
            <a:r>
              <a:rPr lang="en-GB" sz="1100" dirty="0">
                <a:latin typeface="Courier"/>
                <a:cs typeface="Courier"/>
              </a:rPr>
              <a:t>    %</a:t>
            </a:r>
            <a:r>
              <a:rPr lang="en-GB" sz="1100" dirty="0" err="1">
                <a:latin typeface="Courier"/>
                <a:cs typeface="Courier"/>
              </a:rPr>
              <a:t>eax</a:t>
            </a:r>
            <a:r>
              <a:rPr lang="en-GB" sz="1100" dirty="0">
                <a:latin typeface="Courier"/>
                <a:cs typeface="Courier"/>
              </a:rPr>
              <a:t>, %</a:t>
            </a:r>
            <a:r>
              <a:rPr lang="en-GB" sz="1100" dirty="0" err="1">
                <a:latin typeface="Courier"/>
                <a:cs typeface="Courier"/>
              </a:rPr>
              <a:t>esp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subl</a:t>
            </a:r>
            <a:r>
              <a:rPr lang="en-GB" sz="1100" dirty="0">
                <a:latin typeface="Courier"/>
                <a:cs typeface="Courier"/>
              </a:rPr>
              <a:t>    $12, %</a:t>
            </a:r>
            <a:r>
              <a:rPr lang="en-GB" sz="1100" dirty="0" err="1">
                <a:latin typeface="Courier"/>
                <a:cs typeface="Courier"/>
              </a:rPr>
              <a:t>esp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pushl</a:t>
            </a:r>
            <a:r>
              <a:rPr lang="en-GB" sz="1100" dirty="0">
                <a:latin typeface="Courier"/>
                <a:cs typeface="Courier"/>
              </a:rPr>
              <a:t>   $.LC0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call    </a:t>
            </a:r>
            <a:r>
              <a:rPr lang="en-GB" sz="1100" dirty="0" err="1">
                <a:latin typeface="Courier"/>
                <a:cs typeface="Courier"/>
              </a:rPr>
              <a:t>printf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</a:t>
            </a:r>
            <a:r>
              <a:rPr lang="en-GB" sz="1100" dirty="0" err="1">
                <a:latin typeface="Courier"/>
                <a:cs typeface="Courier"/>
              </a:rPr>
              <a:t>addl</a:t>
            </a:r>
            <a:r>
              <a:rPr lang="en-GB" sz="1100" dirty="0">
                <a:latin typeface="Courier"/>
                <a:cs typeface="Courier"/>
              </a:rPr>
              <a:t>    $16, %</a:t>
            </a:r>
            <a:r>
              <a:rPr lang="en-GB" sz="1100" dirty="0" err="1">
                <a:latin typeface="Courier"/>
                <a:cs typeface="Courier"/>
              </a:rPr>
              <a:t>esp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leave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ret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.size   main, .-main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.section        .</a:t>
            </a:r>
            <a:r>
              <a:rPr lang="en-GB" sz="1100" dirty="0" err="1">
                <a:latin typeface="Courier"/>
                <a:cs typeface="Courier"/>
              </a:rPr>
              <a:t>note.GNU</a:t>
            </a:r>
            <a:r>
              <a:rPr lang="en-GB" sz="1100" dirty="0">
                <a:latin typeface="Courier"/>
                <a:cs typeface="Courier"/>
              </a:rPr>
              <a:t>-stack,"",@</a:t>
            </a:r>
            <a:r>
              <a:rPr lang="en-GB" sz="1100" dirty="0" err="1">
                <a:latin typeface="Courier"/>
                <a:cs typeface="Courier"/>
              </a:rPr>
              <a:t>progbits</a:t>
            </a:r>
            <a:endParaRPr lang="en-GB" sz="1100" dirty="0">
              <a:latin typeface="Courier"/>
              <a:cs typeface="Courier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 dirty="0">
                <a:latin typeface="Courier"/>
                <a:cs typeface="Courier"/>
              </a:rPr>
              <a:t>        .</a:t>
            </a:r>
            <a:r>
              <a:rPr lang="en-GB" sz="1100" dirty="0" err="1">
                <a:latin typeface="Courier"/>
                <a:cs typeface="Courier"/>
              </a:rPr>
              <a:t>ident</a:t>
            </a:r>
            <a:r>
              <a:rPr lang="en-GB" sz="1100" dirty="0">
                <a:latin typeface="Courier"/>
                <a:cs typeface="Courier"/>
              </a:rPr>
              <a:t>  "GCC: (GNU) 3.4.1"</a:t>
            </a:r>
          </a:p>
        </p:txBody>
      </p:sp>
      <p:sp>
        <p:nvSpPr>
          <p:cNvPr id="101383" name="Line 6"/>
          <p:cNvSpPr>
            <a:spLocks noChangeShapeType="1"/>
          </p:cNvSpPr>
          <p:nvPr/>
        </p:nvSpPr>
        <p:spPr bwMode="auto">
          <a:xfrm>
            <a:off x="2771775" y="1438275"/>
            <a:ext cx="91440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  <p:sp>
        <p:nvSpPr>
          <p:cNvPr id="101384" name="Text Box 7"/>
          <p:cNvSpPr txBox="1">
            <a:spLocks noChangeArrowheads="1"/>
          </p:cNvSpPr>
          <p:nvPr/>
        </p:nvSpPr>
        <p:spPr bwMode="auto">
          <a:xfrm>
            <a:off x="2769030" y="1165190"/>
            <a:ext cx="832578" cy="26994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5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latin typeface="Courier New" charset="0"/>
              </a:rPr>
              <a:t>hello.s</a:t>
            </a:r>
          </a:p>
        </p:txBody>
      </p:sp>
      <p:sp>
        <p:nvSpPr>
          <p:cNvPr id="101385" name="Rectangle 8"/>
          <p:cNvSpPr>
            <a:spLocks noChangeArrowheads="1"/>
          </p:cNvSpPr>
          <p:nvPr/>
        </p:nvSpPr>
        <p:spPr bwMode="auto">
          <a:xfrm>
            <a:off x="3686175" y="981075"/>
            <a:ext cx="914400" cy="8382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Helvetica" charset="0"/>
              </a:rPr>
              <a:t>Assembler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Helvetica" charset="0"/>
              </a:rPr>
              <a:t>(</a:t>
            </a:r>
            <a:r>
              <a:rPr lang="en-GB" sz="1400" b="1">
                <a:latin typeface="Courier New" charset="0"/>
              </a:rPr>
              <a:t>as</a:t>
            </a:r>
            <a:r>
              <a:rPr lang="en-GB" sz="1400" b="1">
                <a:latin typeface="Helvetica" charset="0"/>
              </a:rPr>
              <a:t>)</a:t>
            </a:r>
            <a:r>
              <a:rPr lang="x-none" sz="1400" b="1">
                <a:latin typeface="Helvetica" charset="0"/>
                <a:cs typeface="Arial" charset="0"/>
              </a:rPr>
              <a:t>‏</a:t>
            </a:r>
            <a:endParaRPr lang="en-GB" sz="1400" b="1">
              <a:latin typeface="Helvetica" charset="0"/>
              <a:cs typeface="Arial" charset="0"/>
            </a:endParaRPr>
          </a:p>
        </p:txBody>
      </p:sp>
      <p:sp>
        <p:nvSpPr>
          <p:cNvPr id="101386" name="Line 9"/>
          <p:cNvSpPr>
            <a:spLocks noChangeShapeType="1"/>
          </p:cNvSpPr>
          <p:nvPr/>
        </p:nvSpPr>
        <p:spPr bwMode="auto">
          <a:xfrm>
            <a:off x="4600575" y="1438275"/>
            <a:ext cx="91440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  <p:sp>
        <p:nvSpPr>
          <p:cNvPr id="101387" name="Text Box 10"/>
          <p:cNvSpPr txBox="1">
            <a:spLocks noChangeArrowheads="1"/>
          </p:cNvSpPr>
          <p:nvPr/>
        </p:nvSpPr>
        <p:spPr bwMode="auto">
          <a:xfrm>
            <a:off x="4597830" y="1165190"/>
            <a:ext cx="832578" cy="26994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5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latin typeface="Courier New" charset="0"/>
              </a:rPr>
              <a:t>hello.o</a:t>
            </a:r>
          </a:p>
        </p:txBody>
      </p:sp>
      <p:sp>
        <p:nvSpPr>
          <p:cNvPr id="101388" name="Rectangle 11"/>
          <p:cNvSpPr>
            <a:spLocks noChangeArrowheads="1"/>
          </p:cNvSpPr>
          <p:nvPr/>
        </p:nvSpPr>
        <p:spPr bwMode="auto">
          <a:xfrm>
            <a:off x="4495800" y="1844675"/>
            <a:ext cx="4608513" cy="401477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</p:spPr>
        <p:txBody>
          <a:bodyPr lIns="45720" tIns="46800" rIns="45720" bIns="46800">
            <a:spAutoFit/>
          </a:bodyPr>
          <a:lstStyle/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0000500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esc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ht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0000520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d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dle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ht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0000540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%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0000560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d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0000600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0000620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+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0000640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d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0000660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0000700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d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0000720  ff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0000740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8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0000760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p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0001000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H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0001020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p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0001040   2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0001060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dc1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0001100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"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Q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0001120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0001140 </a:t>
            </a:r>
            <a:r>
              <a:rPr lang="en-GB" sz="800" dirty="0" err="1">
                <a:latin typeface="Courier"/>
                <a:cs typeface="Courier"/>
              </a:rPr>
              <a:t>stx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, </a:t>
            </a:r>
            <a:r>
              <a:rPr lang="en-GB" sz="800" dirty="0" err="1">
                <a:latin typeface="Courier"/>
                <a:cs typeface="Courier"/>
              </a:rPr>
              <a:t>stx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0001160  sp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nl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0001200 </a:t>
            </a:r>
            <a:r>
              <a:rPr lang="en-GB" sz="800" dirty="0" err="1">
                <a:latin typeface="Courier"/>
                <a:cs typeface="Courier"/>
              </a:rPr>
              <a:t>dle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ht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0001220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L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nak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0001240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0001260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0001300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q</a:t>
            </a:r>
            <a:r>
              <a:rPr lang="en-GB" sz="800" dirty="0">
                <a:latin typeface="Courier"/>
                <a:cs typeface="Courier"/>
              </a:rPr>
              <a:t> del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0001320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0001340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0001360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0001400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enq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0001420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ack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0001440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bel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ht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0001460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.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dc2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so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0001500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dle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h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e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0001520   </a:t>
            </a:r>
            <a:r>
              <a:rPr lang="en-GB" sz="800" dirty="0" err="1">
                <a:latin typeface="Courier"/>
                <a:cs typeface="Courier"/>
              </a:rPr>
              <a:t>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o</a:t>
            </a:r>
            <a:r>
              <a:rPr lang="en-GB" sz="800" dirty="0">
                <a:latin typeface="Courier"/>
                <a:cs typeface="Courier"/>
              </a:rPr>
              <a:t>   .   </a:t>
            </a:r>
            <a:r>
              <a:rPr lang="en-GB" sz="800" dirty="0" err="1">
                <a:latin typeface="Courier"/>
                <a:cs typeface="Courier"/>
              </a:rPr>
              <a:t>c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m</a:t>
            </a:r>
            <a:r>
              <a:rPr lang="en-GB" sz="800" dirty="0">
                <a:latin typeface="Courier"/>
                <a:cs typeface="Courier"/>
              </a:rPr>
              <a:t>   a   </a:t>
            </a:r>
            <a:r>
              <a:rPr lang="en-GB" sz="800" dirty="0" err="1">
                <a:latin typeface="Courier"/>
                <a:cs typeface="Courier"/>
              </a:rPr>
              <a:t>i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n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p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r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i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n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t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f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0001540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sp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enq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%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0001560 </a:t>
            </a:r>
            <a:r>
              <a:rPr lang="en-GB" sz="800" dirty="0" err="1">
                <a:latin typeface="Courier"/>
                <a:cs typeface="Courier"/>
              </a:rPr>
              <a:t>stx</a:t>
            </a:r>
            <a:r>
              <a:rPr lang="en-GB" sz="800" dirty="0">
                <a:latin typeface="Courier"/>
                <a:cs typeface="Courier"/>
              </a:rPr>
              <a:t>  ht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0001564</a:t>
            </a:r>
          </a:p>
        </p:txBody>
      </p:sp>
      <p:sp>
        <p:nvSpPr>
          <p:cNvPr id="101389" name="Text Box 12"/>
          <p:cNvSpPr txBox="1">
            <a:spLocks noChangeArrowheads="1"/>
          </p:cNvSpPr>
          <p:nvPr/>
        </p:nvSpPr>
        <p:spPr bwMode="auto">
          <a:xfrm>
            <a:off x="5253981" y="6092825"/>
            <a:ext cx="1183977" cy="49090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latin typeface="Helvetica" charset="0"/>
              </a:rPr>
              <a:t>od –a hello.o</a:t>
            </a:r>
          </a:p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400" b="1"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0036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247650"/>
            <a:ext cx="8716962" cy="782638"/>
          </a:xfrm>
        </p:spPr>
        <p:txBody>
          <a:bodyPr/>
          <a:lstStyle/>
          <a:p>
            <a:pPr eaLnBrk="1" hangingPunct="1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Linker</a:t>
            </a:r>
          </a:p>
        </p:txBody>
      </p:sp>
      <p:sp>
        <p:nvSpPr>
          <p:cNvPr id="103427" name="Rectangle 2"/>
          <p:cNvSpPr>
            <a:spLocks noChangeArrowheads="1"/>
          </p:cNvSpPr>
          <p:nvPr/>
        </p:nvSpPr>
        <p:spPr bwMode="auto">
          <a:xfrm>
            <a:off x="2286000" y="-207963"/>
            <a:ext cx="4572000" cy="325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45720" tIns="46800" rIns="45720" bIns="46800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>
                <a:solidFill>
                  <a:srgbClr val="000066"/>
                </a:solidFill>
                <a:latin typeface="Helvetica" charset="0"/>
              </a:rPr>
              <a:t> </a:t>
            </a:r>
          </a:p>
        </p:txBody>
      </p:sp>
      <p:sp>
        <p:nvSpPr>
          <p:cNvPr id="103428" name="Rectangle 3"/>
          <p:cNvSpPr>
            <a:spLocks noChangeArrowheads="1"/>
          </p:cNvSpPr>
          <p:nvPr/>
        </p:nvSpPr>
        <p:spPr bwMode="auto">
          <a:xfrm>
            <a:off x="34925" y="1773238"/>
            <a:ext cx="4465638" cy="401477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</p:spPr>
        <p:txBody>
          <a:bodyPr lIns="45720" tIns="46800" rIns="45720" bIns="46800">
            <a:spAutoFit/>
          </a:bodyPr>
          <a:lstStyle/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0000500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esc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ht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0000520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d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dle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ht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0000540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%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0000560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d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0000600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0000620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+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0000640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d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0000660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0000700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d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0000720  ff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0000740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8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0000760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p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0001000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H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0001020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p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0001040   2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0001060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dc1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0001100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"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Q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0001120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0001140 </a:t>
            </a:r>
            <a:r>
              <a:rPr lang="en-GB" sz="800" dirty="0" err="1">
                <a:latin typeface="Courier"/>
                <a:cs typeface="Courier"/>
              </a:rPr>
              <a:t>stx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, </a:t>
            </a:r>
            <a:r>
              <a:rPr lang="en-GB" sz="800" dirty="0" err="1">
                <a:latin typeface="Courier"/>
                <a:cs typeface="Courier"/>
              </a:rPr>
              <a:t>stx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0001160  sp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nl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0001200 </a:t>
            </a:r>
            <a:r>
              <a:rPr lang="en-GB" sz="800" dirty="0" err="1">
                <a:latin typeface="Courier"/>
                <a:cs typeface="Courier"/>
              </a:rPr>
              <a:t>dle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ht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0001220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L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nak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0001240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0001260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0001300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q</a:t>
            </a:r>
            <a:r>
              <a:rPr lang="en-GB" sz="800" dirty="0">
                <a:latin typeface="Courier"/>
                <a:cs typeface="Courier"/>
              </a:rPr>
              <a:t> del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0001320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0001340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0001360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0001400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enq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0001420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ack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0001440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bel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ht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0001460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.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dc2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so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0001500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dle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h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e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0001520   </a:t>
            </a:r>
            <a:r>
              <a:rPr lang="en-GB" sz="800" dirty="0" err="1">
                <a:latin typeface="Courier"/>
                <a:cs typeface="Courier"/>
              </a:rPr>
              <a:t>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o</a:t>
            </a:r>
            <a:r>
              <a:rPr lang="en-GB" sz="800" dirty="0">
                <a:latin typeface="Courier"/>
                <a:cs typeface="Courier"/>
              </a:rPr>
              <a:t>   .   </a:t>
            </a:r>
            <a:r>
              <a:rPr lang="en-GB" sz="800" dirty="0" err="1">
                <a:latin typeface="Courier"/>
                <a:cs typeface="Courier"/>
              </a:rPr>
              <a:t>c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m</a:t>
            </a:r>
            <a:r>
              <a:rPr lang="en-GB" sz="800" dirty="0">
                <a:latin typeface="Courier"/>
                <a:cs typeface="Courier"/>
              </a:rPr>
              <a:t>   a   </a:t>
            </a:r>
            <a:r>
              <a:rPr lang="en-GB" sz="800" dirty="0" err="1">
                <a:latin typeface="Courier"/>
                <a:cs typeface="Courier"/>
              </a:rPr>
              <a:t>i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n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p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r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i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n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t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f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0001540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sp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enq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%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0001560 </a:t>
            </a:r>
            <a:r>
              <a:rPr lang="en-GB" sz="800" dirty="0" err="1">
                <a:latin typeface="Courier"/>
                <a:cs typeface="Courier"/>
              </a:rPr>
              <a:t>stx</a:t>
            </a:r>
            <a:r>
              <a:rPr lang="en-GB" sz="800" dirty="0">
                <a:latin typeface="Courier"/>
                <a:cs typeface="Courier"/>
              </a:rPr>
              <a:t>  ht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0001564</a:t>
            </a:r>
          </a:p>
        </p:txBody>
      </p:sp>
      <p:sp>
        <p:nvSpPr>
          <p:cNvPr id="103429" name="Text Box 4"/>
          <p:cNvSpPr txBox="1">
            <a:spLocks noChangeArrowheads="1"/>
          </p:cNvSpPr>
          <p:nvPr/>
        </p:nvSpPr>
        <p:spPr bwMode="auto">
          <a:xfrm>
            <a:off x="6512841" y="5976938"/>
            <a:ext cx="1025281" cy="49090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 dirty="0">
                <a:solidFill>
                  <a:srgbClr val="FF0000"/>
                </a:solidFill>
                <a:latin typeface="Helvetica" charset="0"/>
              </a:rPr>
              <a:t>od –a hello</a:t>
            </a:r>
          </a:p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400" b="1" dirty="0">
              <a:solidFill>
                <a:srgbClr val="000066"/>
              </a:solidFill>
              <a:latin typeface="Helvetica" charset="0"/>
            </a:endParaRPr>
          </a:p>
        </p:txBody>
      </p:sp>
      <p:sp>
        <p:nvSpPr>
          <p:cNvPr id="103430" name="Rectangle 5"/>
          <p:cNvSpPr>
            <a:spLocks noChangeArrowheads="1"/>
          </p:cNvSpPr>
          <p:nvPr/>
        </p:nvSpPr>
        <p:spPr bwMode="auto">
          <a:xfrm>
            <a:off x="4572000" y="3025775"/>
            <a:ext cx="4465637" cy="2744266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</p:spPr>
        <p:txBody>
          <a:bodyPr lIns="45720" tIns="46800" rIns="45720" bIns="46800">
            <a:spAutoFit/>
          </a:bodyPr>
          <a:lstStyle/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0000000 del   E   L   F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0000020 </a:t>
            </a:r>
            <a:r>
              <a:rPr lang="en-GB" sz="800" dirty="0" err="1">
                <a:latin typeface="Courier"/>
                <a:cs typeface="Courier"/>
              </a:rPr>
              <a:t>stx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@ </a:t>
            </a:r>
            <a:r>
              <a:rPr lang="en-GB" sz="800" dirty="0" err="1">
                <a:latin typeface="Courier"/>
                <a:cs typeface="Courier"/>
              </a:rPr>
              <a:t>stx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r>
              <a:rPr lang="en-GB" sz="800" dirty="0">
                <a:latin typeface="Courier"/>
                <a:cs typeface="Courier"/>
              </a:rPr>
              <a:t>   4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0000040   X  </a:t>
            </a:r>
            <a:r>
              <a:rPr lang="en-GB" sz="800" dirty="0" err="1">
                <a:latin typeface="Courier"/>
                <a:cs typeface="Courier"/>
              </a:rPr>
              <a:t>cr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4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sp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bel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(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0000060   !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rs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ack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4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4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0000100   4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r>
              <a:rPr lang="en-GB" sz="800" dirty="0">
                <a:latin typeface="Courier"/>
                <a:cs typeface="Courier"/>
              </a:rPr>
              <a:t>   `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`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enq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0000120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dc4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dc4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0000140 dc4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r>
              <a:rPr lang="en-GB" sz="800" dirty="0">
                <a:latin typeface="Courier"/>
                <a:cs typeface="Courier"/>
              </a:rPr>
              <a:t> dc3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dc3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0000160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0000200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enq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0000220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dle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r>
              <a:rPr lang="en-GB" sz="800" dirty="0">
                <a:latin typeface="Courier"/>
                <a:cs typeface="Courier"/>
              </a:rPr>
              <a:t> dc4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0000240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r>
              <a:rPr lang="en-GB" sz="800" dirty="0">
                <a:latin typeface="Courier"/>
                <a:cs typeface="Courier"/>
              </a:rPr>
              <a:t> dc4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ack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0000260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dle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dc4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dc4 dc4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0000300 dc4 dc4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r>
              <a:rPr lang="en-GB" sz="800" dirty="0">
                <a:latin typeface="Courier"/>
                <a:cs typeface="Courier"/>
              </a:rPr>
              <a:t>   H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H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ack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0000320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(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(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0000340   (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 </a:t>
            </a:r>
            <a:r>
              <a:rPr lang="en-GB" sz="800" dirty="0" err="1">
                <a:latin typeface="Courier"/>
                <a:cs typeface="Courier"/>
              </a:rPr>
              <a:t>bs</a:t>
            </a:r>
            <a:r>
              <a:rPr lang="en-GB" sz="800" dirty="0">
                <a:latin typeface="Courier"/>
                <a:cs typeface="Courier"/>
              </a:rPr>
              <a:t>  sp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sp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0000360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Q   </a:t>
            </a:r>
            <a:r>
              <a:rPr lang="en-GB" sz="800" dirty="0" err="1">
                <a:latin typeface="Courier"/>
                <a:cs typeface="Courier"/>
              </a:rPr>
              <a:t>e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t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d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0000400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ack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0000420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/   </a:t>
            </a:r>
            <a:r>
              <a:rPr lang="en-GB" sz="800" dirty="0" err="1">
                <a:latin typeface="Courier"/>
                <a:cs typeface="Courier"/>
              </a:rPr>
              <a:t>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i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b</a:t>
            </a:r>
            <a:r>
              <a:rPr lang="en-GB" sz="800" dirty="0">
                <a:latin typeface="Courier"/>
                <a:cs typeface="Courier"/>
              </a:rPr>
              <a:t>   /   </a:t>
            </a:r>
            <a:r>
              <a:rPr lang="en-GB" sz="800" dirty="0" err="1">
                <a:latin typeface="Courier"/>
                <a:cs typeface="Courier"/>
              </a:rPr>
              <a:t>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d</a:t>
            </a:r>
            <a:r>
              <a:rPr lang="en-GB" sz="800" dirty="0">
                <a:latin typeface="Courier"/>
                <a:cs typeface="Courier"/>
              </a:rPr>
              <a:t>   -   </a:t>
            </a:r>
            <a:r>
              <a:rPr lang="en-GB" sz="800" dirty="0" err="1">
                <a:latin typeface="Courier"/>
                <a:cs typeface="Courier"/>
              </a:rPr>
              <a:t>l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i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n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u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0000440   </a:t>
            </a:r>
            <a:r>
              <a:rPr lang="en-GB" sz="800" dirty="0" err="1">
                <a:latin typeface="Courier"/>
                <a:cs typeface="Courier"/>
              </a:rPr>
              <a:t>x</a:t>
            </a:r>
            <a:r>
              <a:rPr lang="en-GB" sz="800" dirty="0">
                <a:latin typeface="Courier"/>
                <a:cs typeface="Courier"/>
              </a:rPr>
              <a:t>   .   </a:t>
            </a:r>
            <a:r>
              <a:rPr lang="en-GB" sz="800" dirty="0" err="1">
                <a:latin typeface="Courier"/>
                <a:cs typeface="Courier"/>
              </a:rPr>
              <a:t>s</a:t>
            </a:r>
            <a:r>
              <a:rPr lang="en-GB" sz="800" dirty="0">
                <a:latin typeface="Courier"/>
                <a:cs typeface="Courier"/>
              </a:rPr>
              <a:t>   </a:t>
            </a:r>
            <a:r>
              <a:rPr lang="en-GB" sz="800" dirty="0" err="1">
                <a:latin typeface="Courier"/>
                <a:cs typeface="Courier"/>
              </a:rPr>
              <a:t>o</a:t>
            </a:r>
            <a:r>
              <a:rPr lang="en-GB" sz="800" dirty="0">
                <a:latin typeface="Courier"/>
                <a:cs typeface="Courier"/>
              </a:rPr>
              <a:t>   .   2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eot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dle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0000460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  G   N   U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0000500 </a:t>
            </a:r>
            <a:r>
              <a:rPr lang="en-GB" sz="800" dirty="0" err="1">
                <a:latin typeface="Courier"/>
                <a:cs typeface="Courier"/>
              </a:rPr>
              <a:t>stx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enq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ack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0000520 </a:t>
            </a:r>
            <a:r>
              <a:rPr lang="en-GB" sz="800" dirty="0" err="1">
                <a:latin typeface="Courier"/>
                <a:cs typeface="Courier"/>
              </a:rPr>
              <a:t>enq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soh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etx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0000540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stx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r>
              <a:rPr lang="en-GB" sz="800" dirty="0">
                <a:latin typeface="Courier"/>
                <a:cs typeface="Courier"/>
              </a:rPr>
              <a:t> </a:t>
            </a:r>
            <a:r>
              <a:rPr lang="en-GB" sz="800" dirty="0" err="1">
                <a:latin typeface="Courier"/>
                <a:cs typeface="Courier"/>
              </a:rPr>
              <a:t>nul</a:t>
            </a:r>
            <a:endParaRPr lang="en-GB" sz="800" dirty="0">
              <a:latin typeface="Courier"/>
              <a:cs typeface="Courier"/>
            </a:endParaRP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800" dirty="0">
                <a:latin typeface="Courier"/>
                <a:cs typeface="Courier"/>
              </a:rPr>
              <a:t>……………………………………………………………………………..</a:t>
            </a:r>
          </a:p>
          <a:p>
            <a:pPr>
              <a:lnSpc>
                <a:spcPct val="8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800" dirty="0">
              <a:latin typeface="Courier"/>
              <a:cs typeface="Courier"/>
            </a:endParaRPr>
          </a:p>
        </p:txBody>
      </p:sp>
      <p:sp>
        <p:nvSpPr>
          <p:cNvPr id="103431" name="Line 6"/>
          <p:cNvSpPr>
            <a:spLocks noChangeShapeType="1"/>
          </p:cNvSpPr>
          <p:nvPr/>
        </p:nvSpPr>
        <p:spPr bwMode="auto">
          <a:xfrm>
            <a:off x="5937250" y="1357313"/>
            <a:ext cx="914400" cy="1587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  <p:sp>
        <p:nvSpPr>
          <p:cNvPr id="103432" name="Text Box 7"/>
          <p:cNvSpPr txBox="1">
            <a:spLocks noChangeArrowheads="1"/>
          </p:cNvSpPr>
          <p:nvPr/>
        </p:nvSpPr>
        <p:spPr bwMode="auto">
          <a:xfrm>
            <a:off x="5934505" y="1084227"/>
            <a:ext cx="832578" cy="26994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5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latin typeface="Courier New" charset="0"/>
              </a:rPr>
              <a:t>hello.o</a:t>
            </a:r>
          </a:p>
        </p:txBody>
      </p:sp>
      <p:sp>
        <p:nvSpPr>
          <p:cNvPr id="103433" name="Rectangle 8"/>
          <p:cNvSpPr>
            <a:spLocks noChangeArrowheads="1"/>
          </p:cNvSpPr>
          <p:nvPr/>
        </p:nvSpPr>
        <p:spPr bwMode="auto">
          <a:xfrm>
            <a:off x="6851650" y="900113"/>
            <a:ext cx="914400" cy="8382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solidFill>
                  <a:srgbClr val="000066"/>
                </a:solidFill>
                <a:latin typeface="Helvetica" charset="0"/>
              </a:rPr>
              <a:t>Linker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solidFill>
                  <a:srgbClr val="000066"/>
                </a:solidFill>
                <a:latin typeface="Helvetica" charset="0"/>
              </a:rPr>
              <a:t>(</a:t>
            </a:r>
            <a:r>
              <a:rPr lang="en-GB" sz="1400" b="1">
                <a:solidFill>
                  <a:srgbClr val="000066"/>
                </a:solidFill>
                <a:latin typeface="Courier New" charset="0"/>
              </a:rPr>
              <a:t>ld</a:t>
            </a:r>
            <a:r>
              <a:rPr lang="en-GB" sz="1400" b="1">
                <a:solidFill>
                  <a:srgbClr val="000066"/>
                </a:solidFill>
                <a:latin typeface="Helvetica" charset="0"/>
              </a:rPr>
              <a:t>)</a:t>
            </a:r>
            <a:r>
              <a:rPr lang="x-none" sz="1400" b="1">
                <a:solidFill>
                  <a:srgbClr val="000066"/>
                </a:solidFill>
                <a:latin typeface="Helvetica" charset="0"/>
                <a:cs typeface="Arial" charset="0"/>
              </a:rPr>
              <a:t>‏</a:t>
            </a:r>
            <a:endParaRPr lang="en-GB" sz="1400" b="1">
              <a:solidFill>
                <a:srgbClr val="000066"/>
              </a:solidFill>
              <a:latin typeface="Helvetica" charset="0"/>
              <a:cs typeface="Arial" charset="0"/>
            </a:endParaRPr>
          </a:p>
        </p:txBody>
      </p:sp>
      <p:sp>
        <p:nvSpPr>
          <p:cNvPr id="103434" name="Line 9"/>
          <p:cNvSpPr>
            <a:spLocks noChangeShapeType="1"/>
          </p:cNvSpPr>
          <p:nvPr/>
        </p:nvSpPr>
        <p:spPr bwMode="auto">
          <a:xfrm>
            <a:off x="7766050" y="1357313"/>
            <a:ext cx="914400" cy="1587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  <p:sp>
        <p:nvSpPr>
          <p:cNvPr id="103435" name="Text Box 10"/>
          <p:cNvSpPr txBox="1">
            <a:spLocks noChangeArrowheads="1"/>
          </p:cNvSpPr>
          <p:nvPr/>
        </p:nvSpPr>
        <p:spPr bwMode="auto">
          <a:xfrm>
            <a:off x="7857073" y="1084227"/>
            <a:ext cx="646630" cy="26994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5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latin typeface="Courier New" charset="0"/>
              </a:rPr>
              <a:t>hello</a:t>
            </a:r>
          </a:p>
        </p:txBody>
      </p:sp>
      <p:sp>
        <p:nvSpPr>
          <p:cNvPr id="103436" name="Text Box 11"/>
          <p:cNvSpPr txBox="1">
            <a:spLocks noChangeArrowheads="1"/>
          </p:cNvSpPr>
          <p:nvPr/>
        </p:nvSpPr>
        <p:spPr bwMode="auto">
          <a:xfrm>
            <a:off x="5905701" y="1580074"/>
            <a:ext cx="1044173" cy="7149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 i="1">
                <a:latin typeface="Helvetica" charset="0"/>
              </a:rPr>
              <a:t>Relocatable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 i="1">
                <a:latin typeface="Helvetica" charset="0"/>
              </a:rPr>
              <a:t>object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 i="1">
                <a:latin typeface="Helvetica" charset="0"/>
              </a:rPr>
              <a:t>programs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 i="1">
                <a:latin typeface="Helvetica" charset="0"/>
              </a:rPr>
              <a:t>(binary)</a:t>
            </a:r>
            <a:r>
              <a:rPr lang="x-none" sz="1200" b="1" i="1">
                <a:latin typeface="Helvetica" charset="0"/>
                <a:cs typeface="Arial" charset="0"/>
              </a:rPr>
              <a:t>‏</a:t>
            </a:r>
            <a:endParaRPr lang="en-GB" sz="1200" b="1" i="1">
              <a:latin typeface="Helvetica" charset="0"/>
              <a:cs typeface="Arial" charset="0"/>
            </a:endParaRPr>
          </a:p>
        </p:txBody>
      </p:sp>
      <p:sp>
        <p:nvSpPr>
          <p:cNvPr id="103437" name="Text Box 12"/>
          <p:cNvSpPr txBox="1">
            <a:spLocks noChangeArrowheads="1"/>
          </p:cNvSpPr>
          <p:nvPr/>
        </p:nvSpPr>
        <p:spPr bwMode="auto">
          <a:xfrm>
            <a:off x="7759356" y="1580074"/>
            <a:ext cx="992877" cy="7149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 i="1">
                <a:latin typeface="Helvetica" charset="0"/>
              </a:rPr>
              <a:t>Executable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 i="1">
                <a:latin typeface="Helvetica" charset="0"/>
              </a:rPr>
              <a:t>object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 i="1">
                <a:latin typeface="Helvetica" charset="0"/>
              </a:rPr>
              <a:t>program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 i="1">
                <a:latin typeface="Helvetica" charset="0"/>
              </a:rPr>
              <a:t>(binary)</a:t>
            </a:r>
            <a:r>
              <a:rPr lang="x-none" sz="1200" b="1" i="1">
                <a:latin typeface="Helvetica" charset="0"/>
                <a:cs typeface="Arial" charset="0"/>
              </a:rPr>
              <a:t>‏</a:t>
            </a:r>
            <a:endParaRPr lang="en-GB" sz="1200" b="1" i="1">
              <a:latin typeface="Helvetica" charset="0"/>
              <a:cs typeface="Arial" charset="0"/>
            </a:endParaRPr>
          </a:p>
        </p:txBody>
      </p:sp>
      <p:sp>
        <p:nvSpPr>
          <p:cNvPr id="103438" name="Line 13"/>
          <p:cNvSpPr>
            <a:spLocks noChangeShapeType="1"/>
          </p:cNvSpPr>
          <p:nvPr/>
        </p:nvSpPr>
        <p:spPr bwMode="auto">
          <a:xfrm>
            <a:off x="6318250" y="747713"/>
            <a:ext cx="533400" cy="457200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  <p:sp>
        <p:nvSpPr>
          <p:cNvPr id="103439" name="Text Box 14"/>
          <p:cNvSpPr txBox="1">
            <a:spLocks noChangeArrowheads="1"/>
          </p:cNvSpPr>
          <p:nvPr/>
        </p:nvSpPr>
        <p:spPr bwMode="auto">
          <a:xfrm>
            <a:off x="5865813" y="554038"/>
            <a:ext cx="912812" cy="2667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5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66"/>
                </a:solidFill>
                <a:latin typeface="Courier New" charset="0"/>
              </a:rPr>
              <a:t>printf.o</a:t>
            </a:r>
          </a:p>
        </p:txBody>
      </p:sp>
      <p:sp>
        <p:nvSpPr>
          <p:cNvPr id="103440" name="Text Box 15"/>
          <p:cNvSpPr txBox="1">
            <a:spLocks noChangeArrowheads="1"/>
          </p:cNvSpPr>
          <p:nvPr/>
        </p:nvSpPr>
        <p:spPr bwMode="auto">
          <a:xfrm>
            <a:off x="4564650" y="2420938"/>
            <a:ext cx="1749838" cy="49090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 dirty="0" err="1">
                <a:solidFill>
                  <a:srgbClr val="FF0000"/>
                </a:solidFill>
                <a:latin typeface="Helvetica" charset="0"/>
              </a:rPr>
              <a:t>gcc</a:t>
            </a:r>
            <a:r>
              <a:rPr lang="en-GB" sz="1400" b="1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GB" sz="1400" b="1" dirty="0" err="1">
                <a:solidFill>
                  <a:srgbClr val="FF0000"/>
                </a:solidFill>
                <a:latin typeface="Helvetica" charset="0"/>
              </a:rPr>
              <a:t>hello.o</a:t>
            </a:r>
            <a:r>
              <a:rPr lang="en-GB" sz="1400" b="1" dirty="0">
                <a:solidFill>
                  <a:srgbClr val="FF0000"/>
                </a:solidFill>
                <a:latin typeface="Helvetica" charset="0"/>
              </a:rPr>
              <a:t> –o hello</a:t>
            </a:r>
          </a:p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400" b="1" dirty="0"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9482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247650"/>
            <a:ext cx="8716962" cy="782638"/>
          </a:xfrm>
        </p:spPr>
        <p:txBody>
          <a:bodyPr/>
          <a:lstStyle/>
          <a:p>
            <a:pPr eaLnBrk="1" hangingPunct="1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Finally…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277938" y="1447800"/>
            <a:ext cx="6189662" cy="2263775"/>
          </a:xfrm>
          <a:prstGeom prst="rect">
            <a:avLst/>
          </a:prstGeom>
          <a:noFill/>
          <a:ln w="38160">
            <a:solidFill>
              <a:srgbClr val="000066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36550" lvl="0" indent="-336550" eaLnBrk="1" hangingPunct="1">
              <a:lnSpc>
                <a:spcPct val="90000"/>
              </a:lnSpc>
              <a:spcBef>
                <a:spcPts val="1250"/>
              </a:spcBef>
              <a:buClr>
                <a:srgbClr val="990000"/>
              </a:buClr>
              <a:buSzPct val="60000"/>
              <a:tabLst>
                <a:tab pos="336550" algn="l"/>
                <a:tab pos="411163" algn="l"/>
                <a:tab pos="868363" algn="l"/>
                <a:tab pos="1325563" algn="l"/>
                <a:tab pos="1782763" algn="l"/>
                <a:tab pos="2239963" algn="l"/>
                <a:tab pos="2697163" algn="l"/>
                <a:tab pos="3154363" algn="l"/>
                <a:tab pos="3611563" algn="l"/>
                <a:tab pos="4068763" algn="l"/>
                <a:tab pos="4525963" algn="l"/>
                <a:tab pos="4983163" algn="l"/>
                <a:tab pos="5440363" algn="l"/>
                <a:tab pos="5897563" algn="l"/>
                <a:tab pos="6354763" algn="l"/>
                <a:tab pos="6811963" algn="l"/>
                <a:tab pos="7269163" algn="l"/>
                <a:tab pos="7726363" algn="l"/>
                <a:tab pos="8183563" algn="l"/>
                <a:tab pos="8640763" algn="l"/>
                <a:tab pos="9097963" algn="l"/>
              </a:tabLst>
            </a:pPr>
            <a:r>
              <a:rPr lang="en-US" sz="2000" kern="0" dirty="0">
                <a:latin typeface="Courier New" charset="0"/>
              </a:rPr>
              <a:t>$ </a:t>
            </a:r>
            <a:r>
              <a:rPr lang="en-US" sz="2000" kern="0" dirty="0" err="1">
                <a:latin typeface="Courier New" charset="0"/>
              </a:rPr>
              <a:t>gcc</a:t>
            </a:r>
            <a:r>
              <a:rPr lang="en-US" sz="2000" kern="0" dirty="0">
                <a:latin typeface="Courier New" charset="0"/>
              </a:rPr>
              <a:t> </a:t>
            </a:r>
            <a:r>
              <a:rPr lang="en-US" sz="2000" kern="0" dirty="0" err="1">
                <a:latin typeface="Courier New" charset="0"/>
              </a:rPr>
              <a:t>hello.o</a:t>
            </a:r>
            <a:r>
              <a:rPr lang="en-US" sz="2000" kern="0" dirty="0">
                <a:latin typeface="Courier New" charset="0"/>
              </a:rPr>
              <a:t> -</a:t>
            </a:r>
            <a:r>
              <a:rPr lang="en-US" sz="2000" kern="0" dirty="0" err="1">
                <a:latin typeface="Courier New" charset="0"/>
              </a:rPr>
              <a:t>o</a:t>
            </a:r>
            <a:r>
              <a:rPr lang="en-US" sz="2000" kern="0" dirty="0">
                <a:latin typeface="Courier New" charset="0"/>
              </a:rPr>
              <a:t> hello</a:t>
            </a:r>
          </a:p>
          <a:p>
            <a:pPr marL="336550" lvl="0" indent="-336550" eaLnBrk="1" hangingPunct="1">
              <a:lnSpc>
                <a:spcPct val="90000"/>
              </a:lnSpc>
              <a:spcBef>
                <a:spcPts val="1250"/>
              </a:spcBef>
              <a:buClr>
                <a:srgbClr val="990000"/>
              </a:buClr>
              <a:buSzPct val="60000"/>
              <a:tabLst>
                <a:tab pos="336550" algn="l"/>
                <a:tab pos="411163" algn="l"/>
                <a:tab pos="868363" algn="l"/>
                <a:tab pos="1325563" algn="l"/>
                <a:tab pos="1782763" algn="l"/>
                <a:tab pos="2239963" algn="l"/>
                <a:tab pos="2697163" algn="l"/>
                <a:tab pos="3154363" algn="l"/>
                <a:tab pos="3611563" algn="l"/>
                <a:tab pos="4068763" algn="l"/>
                <a:tab pos="4525963" algn="l"/>
                <a:tab pos="4983163" algn="l"/>
                <a:tab pos="5440363" algn="l"/>
                <a:tab pos="5897563" algn="l"/>
                <a:tab pos="6354763" algn="l"/>
                <a:tab pos="6811963" algn="l"/>
                <a:tab pos="7269163" algn="l"/>
                <a:tab pos="7726363" algn="l"/>
                <a:tab pos="8183563" algn="l"/>
                <a:tab pos="8640763" algn="l"/>
                <a:tab pos="9097963" algn="l"/>
              </a:tabLst>
            </a:pPr>
            <a:r>
              <a:rPr lang="en-US" sz="2000" kern="0" dirty="0">
                <a:latin typeface="Courier New" charset="0"/>
              </a:rPr>
              <a:t>$ ./hello</a:t>
            </a:r>
          </a:p>
          <a:p>
            <a:pPr marL="336550" lvl="0" indent="-336550" eaLnBrk="1" hangingPunct="1">
              <a:lnSpc>
                <a:spcPct val="90000"/>
              </a:lnSpc>
              <a:spcBef>
                <a:spcPts val="1250"/>
              </a:spcBef>
              <a:buClr>
                <a:srgbClr val="990000"/>
              </a:buClr>
              <a:buSzPct val="60000"/>
              <a:tabLst>
                <a:tab pos="336550" algn="l"/>
                <a:tab pos="411163" algn="l"/>
                <a:tab pos="868363" algn="l"/>
                <a:tab pos="1325563" algn="l"/>
                <a:tab pos="1782763" algn="l"/>
                <a:tab pos="2239963" algn="l"/>
                <a:tab pos="2697163" algn="l"/>
                <a:tab pos="3154363" algn="l"/>
                <a:tab pos="3611563" algn="l"/>
                <a:tab pos="4068763" algn="l"/>
                <a:tab pos="4525963" algn="l"/>
                <a:tab pos="4983163" algn="l"/>
                <a:tab pos="5440363" algn="l"/>
                <a:tab pos="5897563" algn="l"/>
                <a:tab pos="6354763" algn="l"/>
                <a:tab pos="6811963" algn="l"/>
                <a:tab pos="7269163" algn="l"/>
                <a:tab pos="7726363" algn="l"/>
                <a:tab pos="8183563" algn="l"/>
                <a:tab pos="8640763" algn="l"/>
                <a:tab pos="9097963" algn="l"/>
              </a:tabLst>
            </a:pPr>
            <a:r>
              <a:rPr lang="en-US" sz="2000" kern="0" dirty="0">
                <a:latin typeface="Courier New" charset="0"/>
              </a:rPr>
              <a:t>Hello World$</a:t>
            </a:r>
          </a:p>
        </p:txBody>
      </p:sp>
    </p:spTree>
    <p:extLst>
      <p:ext uri="{BB962C8B-B14F-4D97-AF65-F5344CB8AC3E}">
        <p14:creationId xmlns:p14="http://schemas.microsoft.com/office/powerpoint/2010/main" val="12294936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04813" y="247650"/>
            <a:ext cx="8718550" cy="782638"/>
          </a:xfrm>
        </p:spPr>
        <p:txBody>
          <a:bodyPr/>
          <a:lstStyle/>
          <a:p>
            <a:pPr eaLnBrk="1" hangingPunct="1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How do you say “Hello World”?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09422"/>
            <a:ext cx="4927905" cy="4114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363" y="1749122"/>
            <a:ext cx="3810000" cy="397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678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1"/>
          <p:cNvSpPr>
            <a:spLocks noGrp="1" noChangeArrowheads="1"/>
          </p:cNvSpPr>
          <p:nvPr>
            <p:ph type="title"/>
          </p:nvPr>
        </p:nvSpPr>
        <p:spPr>
          <a:xfrm>
            <a:off x="1219200" y="0"/>
            <a:ext cx="7772400" cy="1143000"/>
          </a:xfrm>
        </p:spPr>
        <p:txBody>
          <a:bodyPr/>
          <a:lstStyle/>
          <a:p>
            <a:pPr eaLnBrk="1" hangingPunct="1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Typical Organization of System</a:t>
            </a:r>
          </a:p>
        </p:txBody>
      </p:sp>
      <p:sp>
        <p:nvSpPr>
          <p:cNvPr id="109571" name="Rectangle 2"/>
          <p:cNvSpPr>
            <a:spLocks noChangeArrowheads="1"/>
          </p:cNvSpPr>
          <p:nvPr/>
        </p:nvSpPr>
        <p:spPr bwMode="auto">
          <a:xfrm>
            <a:off x="6705600" y="2482850"/>
            <a:ext cx="909638" cy="9144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Main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memory</a:t>
            </a:r>
          </a:p>
        </p:txBody>
      </p:sp>
      <p:sp>
        <p:nvSpPr>
          <p:cNvPr id="109572" name="AutoShape 3"/>
          <p:cNvSpPr>
            <a:spLocks noChangeArrowheads="1"/>
          </p:cNvSpPr>
          <p:nvPr/>
        </p:nvSpPr>
        <p:spPr bwMode="auto">
          <a:xfrm>
            <a:off x="5181600" y="2635250"/>
            <a:ext cx="1492250" cy="533400"/>
          </a:xfrm>
          <a:prstGeom prst="leftRightArrow">
            <a:avLst>
              <a:gd name="adj1" fmla="val 50000"/>
              <a:gd name="adj2" fmla="val 55693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573" name="Rectangle 4"/>
          <p:cNvSpPr>
            <a:spLocks noChangeArrowheads="1"/>
          </p:cNvSpPr>
          <p:nvPr/>
        </p:nvSpPr>
        <p:spPr bwMode="auto">
          <a:xfrm>
            <a:off x="4267200" y="2667000"/>
            <a:ext cx="909638" cy="57785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I/O 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bridge</a:t>
            </a:r>
          </a:p>
        </p:txBody>
      </p:sp>
      <p:sp>
        <p:nvSpPr>
          <p:cNvPr id="109574" name="AutoShape 5"/>
          <p:cNvSpPr>
            <a:spLocks noChangeArrowheads="1"/>
          </p:cNvSpPr>
          <p:nvPr/>
        </p:nvSpPr>
        <p:spPr bwMode="auto">
          <a:xfrm>
            <a:off x="2809875" y="2635250"/>
            <a:ext cx="1452563" cy="533400"/>
          </a:xfrm>
          <a:prstGeom prst="leftRightArrow">
            <a:avLst>
              <a:gd name="adj1" fmla="val 50000"/>
              <a:gd name="adj2" fmla="val 54212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575" name="Rectangle 6"/>
          <p:cNvSpPr>
            <a:spLocks noChangeArrowheads="1"/>
          </p:cNvSpPr>
          <p:nvPr/>
        </p:nvSpPr>
        <p:spPr bwMode="auto">
          <a:xfrm>
            <a:off x="909638" y="2667000"/>
            <a:ext cx="1873250" cy="57785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Bus interface</a:t>
            </a:r>
          </a:p>
        </p:txBody>
      </p:sp>
      <p:sp>
        <p:nvSpPr>
          <p:cNvPr id="109576" name="Rectangle 7"/>
          <p:cNvSpPr>
            <a:spLocks noChangeArrowheads="1"/>
          </p:cNvSpPr>
          <p:nvPr/>
        </p:nvSpPr>
        <p:spPr bwMode="auto">
          <a:xfrm>
            <a:off x="1825625" y="1339850"/>
            <a:ext cx="684213" cy="1524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577" name="Rectangle 8"/>
          <p:cNvSpPr>
            <a:spLocks noChangeArrowheads="1"/>
          </p:cNvSpPr>
          <p:nvPr/>
        </p:nvSpPr>
        <p:spPr bwMode="auto">
          <a:xfrm>
            <a:off x="1825625" y="1492250"/>
            <a:ext cx="684213" cy="1524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578" name="Rectangle 9"/>
          <p:cNvSpPr>
            <a:spLocks noChangeArrowheads="1"/>
          </p:cNvSpPr>
          <p:nvPr/>
        </p:nvSpPr>
        <p:spPr bwMode="auto">
          <a:xfrm>
            <a:off x="1825625" y="1644650"/>
            <a:ext cx="684213" cy="1524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579" name="Rectangle 10"/>
          <p:cNvSpPr>
            <a:spLocks noChangeArrowheads="1"/>
          </p:cNvSpPr>
          <p:nvPr/>
        </p:nvSpPr>
        <p:spPr bwMode="auto">
          <a:xfrm>
            <a:off x="1825625" y="1797050"/>
            <a:ext cx="684213" cy="1524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580" name="Rectangle 11"/>
          <p:cNvSpPr>
            <a:spLocks noChangeArrowheads="1"/>
          </p:cNvSpPr>
          <p:nvPr/>
        </p:nvSpPr>
        <p:spPr bwMode="auto">
          <a:xfrm>
            <a:off x="1825625" y="1949450"/>
            <a:ext cx="684213" cy="1524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581" name="AutoShape 12"/>
          <p:cNvSpPr>
            <a:spLocks noChangeArrowheads="1"/>
          </p:cNvSpPr>
          <p:nvPr/>
        </p:nvSpPr>
        <p:spPr bwMode="auto">
          <a:xfrm>
            <a:off x="2598738" y="133985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582" name="AutoShape 13"/>
          <p:cNvSpPr>
            <a:spLocks noChangeArrowheads="1"/>
          </p:cNvSpPr>
          <p:nvPr/>
        </p:nvSpPr>
        <p:spPr bwMode="auto">
          <a:xfrm flipH="1">
            <a:off x="2509838" y="172085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583" name="Rectangle 14"/>
          <p:cNvSpPr>
            <a:spLocks noChangeArrowheads="1"/>
          </p:cNvSpPr>
          <p:nvPr/>
        </p:nvSpPr>
        <p:spPr bwMode="auto">
          <a:xfrm>
            <a:off x="3043238" y="1187450"/>
            <a:ext cx="533400" cy="1066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ALU</a:t>
            </a:r>
          </a:p>
        </p:txBody>
      </p:sp>
      <p:sp>
        <p:nvSpPr>
          <p:cNvPr id="109584" name="Text Box 15"/>
          <p:cNvSpPr txBox="1">
            <a:spLocks noChangeArrowheads="1"/>
          </p:cNvSpPr>
          <p:nvPr/>
        </p:nvSpPr>
        <p:spPr bwMode="auto">
          <a:xfrm>
            <a:off x="1593954" y="1036767"/>
            <a:ext cx="1182480" cy="30136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Register file</a:t>
            </a:r>
          </a:p>
        </p:txBody>
      </p:sp>
      <p:sp>
        <p:nvSpPr>
          <p:cNvPr id="109585" name="AutoShape 16"/>
          <p:cNvSpPr>
            <a:spLocks noChangeArrowheads="1"/>
          </p:cNvSpPr>
          <p:nvPr/>
        </p:nvSpPr>
        <p:spPr bwMode="auto">
          <a:xfrm>
            <a:off x="1900238" y="2178050"/>
            <a:ext cx="609600" cy="457200"/>
          </a:xfrm>
          <a:prstGeom prst="upDownArrow">
            <a:avLst>
              <a:gd name="adj1" fmla="val 50000"/>
              <a:gd name="adj2" fmla="val 19907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586" name="Rectangle 17"/>
          <p:cNvSpPr>
            <a:spLocks noChangeArrowheads="1"/>
          </p:cNvSpPr>
          <p:nvPr/>
        </p:nvSpPr>
        <p:spPr bwMode="auto">
          <a:xfrm>
            <a:off x="757238" y="958850"/>
            <a:ext cx="2971800" cy="2438400"/>
          </a:xfrm>
          <a:prstGeom prst="rect">
            <a:avLst/>
          </a:prstGeom>
          <a:noFill/>
          <a:ln w="12600" cap="rnd">
            <a:solidFill>
              <a:srgbClr val="000066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587" name="Text Box 18"/>
          <p:cNvSpPr txBox="1">
            <a:spLocks noChangeArrowheads="1"/>
          </p:cNvSpPr>
          <p:nvPr/>
        </p:nvSpPr>
        <p:spPr bwMode="auto">
          <a:xfrm>
            <a:off x="728154" y="673230"/>
            <a:ext cx="534418" cy="30136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CPU</a:t>
            </a:r>
          </a:p>
        </p:txBody>
      </p:sp>
      <p:sp>
        <p:nvSpPr>
          <p:cNvPr id="109588" name="Text Box 19"/>
          <p:cNvSpPr txBox="1">
            <a:spLocks noChangeArrowheads="1"/>
          </p:cNvSpPr>
          <p:nvPr/>
        </p:nvSpPr>
        <p:spPr bwMode="auto">
          <a:xfrm>
            <a:off x="3772815" y="1967042"/>
            <a:ext cx="1139584" cy="30136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System bus</a:t>
            </a:r>
          </a:p>
        </p:txBody>
      </p:sp>
      <p:sp>
        <p:nvSpPr>
          <p:cNvPr id="109589" name="Line 20"/>
          <p:cNvSpPr>
            <a:spLocks noChangeShapeType="1"/>
          </p:cNvSpPr>
          <p:nvPr/>
        </p:nvSpPr>
        <p:spPr bwMode="auto">
          <a:xfrm flipH="1">
            <a:off x="3570288" y="2254250"/>
            <a:ext cx="698500" cy="457200"/>
          </a:xfrm>
          <a:prstGeom prst="line">
            <a:avLst/>
          </a:prstGeom>
          <a:noFill/>
          <a:ln w="1260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</p:spPr>
        <p:txBody>
          <a:bodyPr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590" name="Text Box 21"/>
          <p:cNvSpPr txBox="1">
            <a:spLocks noChangeArrowheads="1"/>
          </p:cNvSpPr>
          <p:nvPr/>
        </p:nvSpPr>
        <p:spPr bwMode="auto">
          <a:xfrm>
            <a:off x="5277168" y="1967042"/>
            <a:ext cx="1263015" cy="30136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Memory bus</a:t>
            </a:r>
          </a:p>
        </p:txBody>
      </p:sp>
      <p:sp>
        <p:nvSpPr>
          <p:cNvPr id="109591" name="Line 22"/>
          <p:cNvSpPr>
            <a:spLocks noChangeShapeType="1"/>
          </p:cNvSpPr>
          <p:nvPr/>
        </p:nvSpPr>
        <p:spPr bwMode="auto">
          <a:xfrm>
            <a:off x="5862638" y="2254250"/>
            <a:ext cx="1587" cy="457200"/>
          </a:xfrm>
          <a:prstGeom prst="line">
            <a:avLst/>
          </a:prstGeom>
          <a:noFill/>
          <a:ln w="1260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</p:spPr>
        <p:txBody>
          <a:bodyPr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592" name="AutoShape 23"/>
          <p:cNvSpPr>
            <a:spLocks noChangeArrowheads="1"/>
          </p:cNvSpPr>
          <p:nvPr/>
        </p:nvSpPr>
        <p:spPr bwMode="auto">
          <a:xfrm>
            <a:off x="4491038" y="332105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593" name="AutoShape 24"/>
          <p:cNvSpPr>
            <a:spLocks noChangeArrowheads="1"/>
          </p:cNvSpPr>
          <p:nvPr/>
        </p:nvSpPr>
        <p:spPr bwMode="auto">
          <a:xfrm flipV="1">
            <a:off x="5595938" y="4052888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594" name="Rectangle 25"/>
          <p:cNvSpPr>
            <a:spLocks noChangeArrowheads="1"/>
          </p:cNvSpPr>
          <p:nvPr/>
        </p:nvSpPr>
        <p:spPr bwMode="auto">
          <a:xfrm>
            <a:off x="5176838" y="4781550"/>
            <a:ext cx="1295400" cy="5207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Disk 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controller</a:t>
            </a:r>
          </a:p>
        </p:txBody>
      </p:sp>
      <p:sp>
        <p:nvSpPr>
          <p:cNvPr id="109595" name="AutoShape 26"/>
          <p:cNvSpPr>
            <a:spLocks noChangeArrowheads="1"/>
          </p:cNvSpPr>
          <p:nvPr/>
        </p:nvSpPr>
        <p:spPr bwMode="auto">
          <a:xfrm flipV="1">
            <a:off x="3265488" y="4052888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596" name="Rectangle 27"/>
          <p:cNvSpPr>
            <a:spLocks noChangeArrowheads="1"/>
          </p:cNvSpPr>
          <p:nvPr/>
        </p:nvSpPr>
        <p:spPr bwMode="auto">
          <a:xfrm>
            <a:off x="2846388" y="4781550"/>
            <a:ext cx="1295400" cy="5207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Graphics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adapter</a:t>
            </a:r>
          </a:p>
        </p:txBody>
      </p:sp>
      <p:sp>
        <p:nvSpPr>
          <p:cNvPr id="109597" name="AutoShape 28"/>
          <p:cNvSpPr>
            <a:spLocks noChangeArrowheads="1"/>
          </p:cNvSpPr>
          <p:nvPr/>
        </p:nvSpPr>
        <p:spPr bwMode="auto">
          <a:xfrm flipV="1">
            <a:off x="1589088" y="4052888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598" name="Rectangle 29"/>
          <p:cNvSpPr>
            <a:spLocks noChangeArrowheads="1"/>
          </p:cNvSpPr>
          <p:nvPr/>
        </p:nvSpPr>
        <p:spPr bwMode="auto">
          <a:xfrm>
            <a:off x="1246188" y="4768850"/>
            <a:ext cx="1143000" cy="5207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USB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controller</a:t>
            </a:r>
          </a:p>
        </p:txBody>
      </p:sp>
      <p:sp>
        <p:nvSpPr>
          <p:cNvPr id="109599" name="Line 30"/>
          <p:cNvSpPr>
            <a:spLocks noChangeShapeType="1"/>
          </p:cNvSpPr>
          <p:nvPr/>
        </p:nvSpPr>
        <p:spPr bwMode="auto">
          <a:xfrm>
            <a:off x="1474788" y="5302250"/>
            <a:ext cx="1587" cy="304800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 type="triangle" w="med" len="med"/>
            <a:tailEnd/>
          </a:ln>
        </p:spPr>
        <p:txBody>
          <a:bodyPr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600" name="Line 31"/>
          <p:cNvSpPr>
            <a:spLocks noChangeShapeType="1"/>
          </p:cNvSpPr>
          <p:nvPr/>
        </p:nvSpPr>
        <p:spPr bwMode="auto">
          <a:xfrm>
            <a:off x="2236788" y="5302250"/>
            <a:ext cx="1587" cy="304800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 type="triangle" w="med" len="med"/>
            <a:tailEnd/>
          </a:ln>
        </p:spPr>
        <p:txBody>
          <a:bodyPr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601" name="Text Box 32"/>
          <p:cNvSpPr txBox="1">
            <a:spLocks noChangeArrowheads="1"/>
          </p:cNvSpPr>
          <p:nvPr/>
        </p:nvSpPr>
        <p:spPr bwMode="auto">
          <a:xfrm>
            <a:off x="1075485" y="5548442"/>
            <a:ext cx="766854" cy="30136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Mouse</a:t>
            </a:r>
          </a:p>
        </p:txBody>
      </p:sp>
      <p:sp>
        <p:nvSpPr>
          <p:cNvPr id="109602" name="Text Box 33"/>
          <p:cNvSpPr txBox="1">
            <a:spLocks noChangeArrowheads="1"/>
          </p:cNvSpPr>
          <p:nvPr/>
        </p:nvSpPr>
        <p:spPr bwMode="auto">
          <a:xfrm>
            <a:off x="1764956" y="5548442"/>
            <a:ext cx="992877" cy="30136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Keyboard</a:t>
            </a:r>
          </a:p>
        </p:txBody>
      </p:sp>
      <p:sp>
        <p:nvSpPr>
          <p:cNvPr id="109603" name="Line 34"/>
          <p:cNvSpPr>
            <a:spLocks noChangeShapeType="1"/>
          </p:cNvSpPr>
          <p:nvPr/>
        </p:nvSpPr>
        <p:spPr bwMode="auto">
          <a:xfrm>
            <a:off x="3532188" y="5302250"/>
            <a:ext cx="1587" cy="304800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604" name="Text Box 35"/>
          <p:cNvSpPr txBox="1">
            <a:spLocks noChangeArrowheads="1"/>
          </p:cNvSpPr>
          <p:nvPr/>
        </p:nvSpPr>
        <p:spPr bwMode="auto">
          <a:xfrm>
            <a:off x="3109969" y="5548442"/>
            <a:ext cx="798400" cy="30136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Display</a:t>
            </a:r>
          </a:p>
        </p:txBody>
      </p:sp>
      <p:sp>
        <p:nvSpPr>
          <p:cNvPr id="109605" name="Line 36"/>
          <p:cNvSpPr>
            <a:spLocks noChangeShapeType="1"/>
          </p:cNvSpPr>
          <p:nvPr/>
        </p:nvSpPr>
        <p:spPr bwMode="auto">
          <a:xfrm>
            <a:off x="5837238" y="5302250"/>
            <a:ext cx="1587" cy="381000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 type="triangle" w="med" len="med"/>
            <a:tailEnd type="triangle" w="med" len="med"/>
          </a:ln>
        </p:spPr>
        <p:txBody>
          <a:bodyPr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606" name="AutoShape 37"/>
          <p:cNvSpPr>
            <a:spLocks noChangeArrowheads="1"/>
          </p:cNvSpPr>
          <p:nvPr/>
        </p:nvSpPr>
        <p:spPr bwMode="auto">
          <a:xfrm>
            <a:off x="5532438" y="5683250"/>
            <a:ext cx="609600" cy="609600"/>
          </a:xfrm>
          <a:prstGeom prst="can">
            <a:avLst>
              <a:gd name="adj" fmla="val 25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Disk</a:t>
            </a:r>
          </a:p>
        </p:txBody>
      </p:sp>
      <p:sp>
        <p:nvSpPr>
          <p:cNvPr id="109607" name="AutoShape 38"/>
          <p:cNvSpPr>
            <a:spLocks noChangeArrowheads="1"/>
          </p:cNvSpPr>
          <p:nvPr/>
        </p:nvSpPr>
        <p:spPr bwMode="auto">
          <a:xfrm>
            <a:off x="681038" y="3841750"/>
            <a:ext cx="7277100" cy="393700"/>
          </a:xfrm>
          <a:prstGeom prst="leftRightArrow">
            <a:avLst>
              <a:gd name="adj1" fmla="val 48611"/>
              <a:gd name="adj2" fmla="val 95500"/>
            </a:avLst>
          </a:prstGeom>
          <a:solidFill>
            <a:srgbClr val="FFFFFF"/>
          </a:solidFill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608" name="Rectangle 39"/>
          <p:cNvSpPr>
            <a:spLocks noChangeArrowheads="1"/>
          </p:cNvSpPr>
          <p:nvPr/>
        </p:nvSpPr>
        <p:spPr bwMode="auto">
          <a:xfrm>
            <a:off x="1757363" y="4011613"/>
            <a:ext cx="166687" cy="1524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609" name="Rectangle 40"/>
          <p:cNvSpPr>
            <a:spLocks noChangeArrowheads="1"/>
          </p:cNvSpPr>
          <p:nvPr/>
        </p:nvSpPr>
        <p:spPr bwMode="auto">
          <a:xfrm>
            <a:off x="3433763" y="4002088"/>
            <a:ext cx="166687" cy="1524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610" name="Rectangle 41"/>
          <p:cNvSpPr>
            <a:spLocks noChangeArrowheads="1"/>
          </p:cNvSpPr>
          <p:nvPr/>
        </p:nvSpPr>
        <p:spPr bwMode="auto">
          <a:xfrm>
            <a:off x="5767388" y="3992563"/>
            <a:ext cx="161925" cy="1524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611" name="Text Box 42"/>
          <p:cNvSpPr txBox="1">
            <a:spLocks noChangeArrowheads="1"/>
          </p:cNvSpPr>
          <p:nvPr/>
        </p:nvSpPr>
        <p:spPr bwMode="auto">
          <a:xfrm>
            <a:off x="4384405" y="4164142"/>
            <a:ext cx="813341" cy="30136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I/O bus</a:t>
            </a:r>
          </a:p>
        </p:txBody>
      </p:sp>
      <p:sp>
        <p:nvSpPr>
          <p:cNvPr id="109612" name="Rectangle 43"/>
          <p:cNvSpPr>
            <a:spLocks noChangeArrowheads="1"/>
          </p:cNvSpPr>
          <p:nvPr/>
        </p:nvSpPr>
        <p:spPr bwMode="auto">
          <a:xfrm>
            <a:off x="4657725" y="3930650"/>
            <a:ext cx="161925" cy="1524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613" name="Rectangle 44"/>
          <p:cNvSpPr>
            <a:spLocks noChangeArrowheads="1"/>
          </p:cNvSpPr>
          <p:nvPr/>
        </p:nvSpPr>
        <p:spPr bwMode="auto">
          <a:xfrm>
            <a:off x="6548438" y="3854450"/>
            <a:ext cx="127000" cy="4064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614" name="Rectangle 45"/>
          <p:cNvSpPr>
            <a:spLocks noChangeArrowheads="1"/>
          </p:cNvSpPr>
          <p:nvPr/>
        </p:nvSpPr>
        <p:spPr bwMode="auto">
          <a:xfrm>
            <a:off x="6853238" y="3854450"/>
            <a:ext cx="127000" cy="4064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615" name="Rectangle 46"/>
          <p:cNvSpPr>
            <a:spLocks noChangeArrowheads="1"/>
          </p:cNvSpPr>
          <p:nvPr/>
        </p:nvSpPr>
        <p:spPr bwMode="auto">
          <a:xfrm>
            <a:off x="7158038" y="3854450"/>
            <a:ext cx="127000" cy="4064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616" name="Text Box 47"/>
          <p:cNvSpPr txBox="1">
            <a:spLocks noChangeArrowheads="1"/>
          </p:cNvSpPr>
          <p:nvPr/>
        </p:nvSpPr>
        <p:spPr bwMode="auto">
          <a:xfrm>
            <a:off x="6537325" y="4311066"/>
            <a:ext cx="1919028" cy="92192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Expansion slots for</a:t>
            </a:r>
          </a:p>
          <a:p>
            <a:pPr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other devices such</a:t>
            </a:r>
          </a:p>
          <a:p>
            <a:pPr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as network adapters</a:t>
            </a:r>
          </a:p>
          <a:p>
            <a:pPr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6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9617" name="Text Box 48"/>
          <p:cNvSpPr txBox="1">
            <a:spLocks noChangeArrowheads="1"/>
          </p:cNvSpPr>
          <p:nvPr/>
        </p:nvSpPr>
        <p:spPr bwMode="auto">
          <a:xfrm>
            <a:off x="6382190" y="5734700"/>
            <a:ext cx="1612021" cy="5352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5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 i="1">
                <a:latin typeface="Calibri" charset="0"/>
                <a:ea typeface="Calibri" charset="0"/>
                <a:cs typeface="Calibri" charset="0"/>
              </a:rPr>
              <a:t>hello executable </a:t>
            </a:r>
          </a:p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 i="1">
                <a:latin typeface="Calibri" charset="0"/>
                <a:ea typeface="Calibri" charset="0"/>
                <a:cs typeface="Calibri" charset="0"/>
              </a:rPr>
              <a:t>stored on disk</a:t>
            </a:r>
          </a:p>
        </p:txBody>
      </p:sp>
      <p:sp>
        <p:nvSpPr>
          <p:cNvPr id="109618" name="Rectangle 49"/>
          <p:cNvSpPr>
            <a:spLocks noChangeArrowheads="1"/>
          </p:cNvSpPr>
          <p:nvPr/>
        </p:nvSpPr>
        <p:spPr bwMode="auto">
          <a:xfrm>
            <a:off x="909638" y="1568450"/>
            <a:ext cx="7620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>
                <a:latin typeface="Calibri" charset="0"/>
                <a:ea typeface="Calibri" charset="0"/>
                <a:cs typeface="Calibri" charset="0"/>
              </a:rPr>
              <a:t>PC</a:t>
            </a:r>
          </a:p>
        </p:txBody>
      </p:sp>
    </p:spTree>
    <p:extLst>
      <p:ext uri="{BB962C8B-B14F-4D97-AF65-F5344CB8AC3E}">
        <p14:creationId xmlns:p14="http://schemas.microsoft.com/office/powerpoint/2010/main" val="8049973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304800" y="398463"/>
            <a:ext cx="7775576" cy="6022976"/>
            <a:chOff x="192" y="251"/>
            <a:chExt cx="4898" cy="3794"/>
          </a:xfrm>
        </p:grpSpPr>
        <p:sp>
          <p:nvSpPr>
            <p:cNvPr id="111620" name="Rectangle 2"/>
            <p:cNvSpPr>
              <a:spLocks noChangeArrowheads="1"/>
            </p:cNvSpPr>
            <p:nvPr/>
          </p:nvSpPr>
          <p:spPr bwMode="auto">
            <a:xfrm>
              <a:off x="3987" y="1392"/>
              <a:ext cx="573" cy="576"/>
            </a:xfrm>
            <a:prstGeom prst="rect">
              <a:avLst/>
            </a:prstGeom>
            <a:solidFill>
              <a:srgbClr val="C0C0C0"/>
            </a:solidFill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 b="1">
                  <a:latin typeface="Calibri" charset="0"/>
                  <a:ea typeface="Calibri" charset="0"/>
                  <a:cs typeface="Calibri" charset="0"/>
                </a:rPr>
                <a:t>Main</a:t>
              </a:r>
            </a:p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 b="1">
                  <a:latin typeface="Calibri" charset="0"/>
                  <a:ea typeface="Calibri" charset="0"/>
                  <a:cs typeface="Calibri" charset="0"/>
                </a:rPr>
                <a:t>memory</a:t>
              </a:r>
            </a:p>
          </p:txBody>
        </p:sp>
        <p:sp>
          <p:nvSpPr>
            <p:cNvPr id="111621" name="AutoShape 3"/>
            <p:cNvSpPr>
              <a:spLocks noChangeArrowheads="1"/>
            </p:cNvSpPr>
            <p:nvPr/>
          </p:nvSpPr>
          <p:spPr bwMode="auto">
            <a:xfrm>
              <a:off x="3027" y="1488"/>
              <a:ext cx="940" cy="336"/>
            </a:xfrm>
            <a:prstGeom prst="leftRightArrow">
              <a:avLst>
                <a:gd name="adj1" fmla="val 50000"/>
                <a:gd name="adj2" fmla="val 55693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22" name="Rectangle 4"/>
            <p:cNvSpPr>
              <a:spLocks noChangeArrowheads="1"/>
            </p:cNvSpPr>
            <p:nvPr/>
          </p:nvSpPr>
          <p:spPr bwMode="auto">
            <a:xfrm>
              <a:off x="2451" y="1508"/>
              <a:ext cx="573" cy="364"/>
            </a:xfrm>
            <a:prstGeom prst="rect">
              <a:avLst/>
            </a:prstGeom>
            <a:solidFill>
              <a:srgbClr val="C0C0C0"/>
            </a:solidFill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 b="1">
                  <a:latin typeface="Calibri" charset="0"/>
                  <a:ea typeface="Calibri" charset="0"/>
                  <a:cs typeface="Calibri" charset="0"/>
                </a:rPr>
                <a:t>I/O </a:t>
              </a:r>
            </a:p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 b="1">
                  <a:latin typeface="Calibri" charset="0"/>
                  <a:ea typeface="Calibri" charset="0"/>
                  <a:cs typeface="Calibri" charset="0"/>
                </a:rPr>
                <a:t>bridge</a:t>
              </a:r>
            </a:p>
          </p:txBody>
        </p:sp>
        <p:sp>
          <p:nvSpPr>
            <p:cNvPr id="111623" name="AutoShape 5"/>
            <p:cNvSpPr>
              <a:spLocks noChangeArrowheads="1"/>
            </p:cNvSpPr>
            <p:nvPr/>
          </p:nvSpPr>
          <p:spPr bwMode="auto">
            <a:xfrm>
              <a:off x="1533" y="1488"/>
              <a:ext cx="915" cy="336"/>
            </a:xfrm>
            <a:prstGeom prst="leftRightArrow">
              <a:avLst>
                <a:gd name="adj1" fmla="val 50000"/>
                <a:gd name="adj2" fmla="val 54212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24" name="Rectangle 6"/>
            <p:cNvSpPr>
              <a:spLocks noChangeArrowheads="1"/>
            </p:cNvSpPr>
            <p:nvPr/>
          </p:nvSpPr>
          <p:spPr bwMode="auto">
            <a:xfrm>
              <a:off x="336" y="1508"/>
              <a:ext cx="1180" cy="364"/>
            </a:xfrm>
            <a:prstGeom prst="rect">
              <a:avLst/>
            </a:prstGeom>
            <a:solidFill>
              <a:srgbClr val="C0C0C0"/>
            </a:solidFill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 b="1">
                  <a:latin typeface="Calibri" charset="0"/>
                  <a:ea typeface="Calibri" charset="0"/>
                  <a:cs typeface="Calibri" charset="0"/>
                </a:rPr>
                <a:t>Bus interface</a:t>
              </a:r>
            </a:p>
          </p:txBody>
        </p:sp>
        <p:sp>
          <p:nvSpPr>
            <p:cNvPr id="111625" name="Rectangle 7"/>
            <p:cNvSpPr>
              <a:spLocks noChangeArrowheads="1"/>
            </p:cNvSpPr>
            <p:nvPr/>
          </p:nvSpPr>
          <p:spPr bwMode="auto">
            <a:xfrm>
              <a:off x="913" y="672"/>
              <a:ext cx="431" cy="96"/>
            </a:xfrm>
            <a:prstGeom prst="rect">
              <a:avLst/>
            </a:prstGeom>
            <a:solidFill>
              <a:srgbClr val="C0C0C0"/>
            </a:solidFill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26" name="Rectangle 8"/>
            <p:cNvSpPr>
              <a:spLocks noChangeArrowheads="1"/>
            </p:cNvSpPr>
            <p:nvPr/>
          </p:nvSpPr>
          <p:spPr bwMode="auto">
            <a:xfrm>
              <a:off x="913" y="768"/>
              <a:ext cx="431" cy="96"/>
            </a:xfrm>
            <a:prstGeom prst="rect">
              <a:avLst/>
            </a:prstGeom>
            <a:solidFill>
              <a:srgbClr val="C0C0C0"/>
            </a:solidFill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27" name="Rectangle 9"/>
            <p:cNvSpPr>
              <a:spLocks noChangeArrowheads="1"/>
            </p:cNvSpPr>
            <p:nvPr/>
          </p:nvSpPr>
          <p:spPr bwMode="auto">
            <a:xfrm>
              <a:off x="913" y="864"/>
              <a:ext cx="431" cy="96"/>
            </a:xfrm>
            <a:prstGeom prst="rect">
              <a:avLst/>
            </a:prstGeom>
            <a:solidFill>
              <a:srgbClr val="C0C0C0"/>
            </a:solidFill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28" name="Rectangle 10"/>
            <p:cNvSpPr>
              <a:spLocks noChangeArrowheads="1"/>
            </p:cNvSpPr>
            <p:nvPr/>
          </p:nvSpPr>
          <p:spPr bwMode="auto">
            <a:xfrm>
              <a:off x="913" y="960"/>
              <a:ext cx="431" cy="96"/>
            </a:xfrm>
            <a:prstGeom prst="rect">
              <a:avLst/>
            </a:prstGeom>
            <a:solidFill>
              <a:srgbClr val="C0C0C0"/>
            </a:solidFill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29" name="Rectangle 11"/>
            <p:cNvSpPr>
              <a:spLocks noChangeArrowheads="1"/>
            </p:cNvSpPr>
            <p:nvPr/>
          </p:nvSpPr>
          <p:spPr bwMode="auto">
            <a:xfrm>
              <a:off x="913" y="1056"/>
              <a:ext cx="431" cy="96"/>
            </a:xfrm>
            <a:prstGeom prst="rect">
              <a:avLst/>
            </a:prstGeom>
            <a:solidFill>
              <a:srgbClr val="C0C0C0"/>
            </a:solidFill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30" name="AutoShape 12"/>
            <p:cNvSpPr>
              <a:spLocks noChangeArrowheads="1"/>
            </p:cNvSpPr>
            <p:nvPr/>
          </p:nvSpPr>
          <p:spPr bwMode="auto">
            <a:xfrm>
              <a:off x="1400" y="672"/>
              <a:ext cx="280" cy="240"/>
            </a:xfrm>
            <a:prstGeom prst="rightArrow">
              <a:avLst>
                <a:gd name="adj1" fmla="val 50000"/>
                <a:gd name="adj2" fmla="val 29167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31" name="AutoShape 13"/>
            <p:cNvSpPr>
              <a:spLocks noChangeArrowheads="1"/>
            </p:cNvSpPr>
            <p:nvPr/>
          </p:nvSpPr>
          <p:spPr bwMode="auto">
            <a:xfrm flipH="1">
              <a:off x="1344" y="912"/>
              <a:ext cx="280" cy="240"/>
            </a:xfrm>
            <a:prstGeom prst="rightArrow">
              <a:avLst>
                <a:gd name="adj1" fmla="val 50000"/>
                <a:gd name="adj2" fmla="val 29167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32" name="Rectangle 14"/>
            <p:cNvSpPr>
              <a:spLocks noChangeArrowheads="1"/>
            </p:cNvSpPr>
            <p:nvPr/>
          </p:nvSpPr>
          <p:spPr bwMode="auto">
            <a:xfrm>
              <a:off x="1680" y="576"/>
              <a:ext cx="336" cy="672"/>
            </a:xfrm>
            <a:prstGeom prst="rect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>
                  <a:latin typeface="Calibri" charset="0"/>
                  <a:ea typeface="Calibri" charset="0"/>
                  <a:cs typeface="Calibri" charset="0"/>
                </a:rPr>
                <a:t>ALU</a:t>
              </a:r>
            </a:p>
          </p:txBody>
        </p:sp>
        <p:sp>
          <p:nvSpPr>
            <p:cNvPr id="111633" name="Text Box 15"/>
            <p:cNvSpPr txBox="1">
              <a:spLocks noChangeArrowheads="1"/>
            </p:cNvSpPr>
            <p:nvPr/>
          </p:nvSpPr>
          <p:spPr bwMode="auto">
            <a:xfrm>
              <a:off x="767" y="482"/>
              <a:ext cx="745" cy="19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 b="1">
                  <a:latin typeface="Calibri" charset="0"/>
                  <a:ea typeface="Calibri" charset="0"/>
                  <a:cs typeface="Calibri" charset="0"/>
                </a:rPr>
                <a:t>Register file</a:t>
              </a:r>
            </a:p>
          </p:txBody>
        </p:sp>
        <p:sp>
          <p:nvSpPr>
            <p:cNvPr id="111634" name="AutoShape 16"/>
            <p:cNvSpPr>
              <a:spLocks noChangeArrowheads="1"/>
            </p:cNvSpPr>
            <p:nvPr/>
          </p:nvSpPr>
          <p:spPr bwMode="auto">
            <a:xfrm>
              <a:off x="960" y="1200"/>
              <a:ext cx="384" cy="288"/>
            </a:xfrm>
            <a:prstGeom prst="upDownArrow">
              <a:avLst>
                <a:gd name="adj1" fmla="val 50000"/>
                <a:gd name="adj2" fmla="val 19907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35" name="Rectangle 17"/>
            <p:cNvSpPr>
              <a:spLocks noChangeArrowheads="1"/>
            </p:cNvSpPr>
            <p:nvPr/>
          </p:nvSpPr>
          <p:spPr bwMode="auto">
            <a:xfrm>
              <a:off x="240" y="432"/>
              <a:ext cx="1872" cy="1536"/>
            </a:xfrm>
            <a:prstGeom prst="rect">
              <a:avLst/>
            </a:prstGeom>
            <a:noFill/>
            <a:ln w="12600" cap="rnd">
              <a:solidFill>
                <a:srgbClr val="000066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36" name="Text Box 18"/>
            <p:cNvSpPr txBox="1">
              <a:spLocks noChangeArrowheads="1"/>
            </p:cNvSpPr>
            <p:nvPr/>
          </p:nvSpPr>
          <p:spPr bwMode="auto">
            <a:xfrm>
              <a:off x="222" y="251"/>
              <a:ext cx="337" cy="19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>
                  <a:latin typeface="Calibri" charset="0"/>
                  <a:ea typeface="Calibri" charset="0"/>
                  <a:cs typeface="Calibri" charset="0"/>
                </a:rPr>
                <a:t>CPU</a:t>
              </a:r>
            </a:p>
          </p:txBody>
        </p:sp>
        <p:sp>
          <p:nvSpPr>
            <p:cNvPr id="111637" name="Text Box 19"/>
            <p:cNvSpPr txBox="1">
              <a:spLocks noChangeArrowheads="1"/>
            </p:cNvSpPr>
            <p:nvPr/>
          </p:nvSpPr>
          <p:spPr bwMode="auto">
            <a:xfrm>
              <a:off x="2140" y="1068"/>
              <a:ext cx="718" cy="19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>
                  <a:latin typeface="Calibri" charset="0"/>
                  <a:ea typeface="Calibri" charset="0"/>
                  <a:cs typeface="Calibri" charset="0"/>
                </a:rPr>
                <a:t>System bus</a:t>
              </a:r>
            </a:p>
          </p:txBody>
        </p:sp>
        <p:sp>
          <p:nvSpPr>
            <p:cNvPr id="111638" name="Line 20"/>
            <p:cNvSpPr>
              <a:spLocks noChangeShapeType="1"/>
            </p:cNvSpPr>
            <p:nvPr/>
          </p:nvSpPr>
          <p:spPr bwMode="auto">
            <a:xfrm flipH="1">
              <a:off x="2012" y="1248"/>
              <a:ext cx="440" cy="2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prstDash val="dash"/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39" name="Text Box 21"/>
            <p:cNvSpPr txBox="1">
              <a:spLocks noChangeArrowheads="1"/>
            </p:cNvSpPr>
            <p:nvPr/>
          </p:nvSpPr>
          <p:spPr bwMode="auto">
            <a:xfrm>
              <a:off x="3087" y="1068"/>
              <a:ext cx="796" cy="19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>
                  <a:latin typeface="Calibri" charset="0"/>
                  <a:ea typeface="Calibri" charset="0"/>
                  <a:cs typeface="Calibri" charset="0"/>
                </a:rPr>
                <a:t>Memory bus</a:t>
              </a:r>
            </a:p>
          </p:txBody>
        </p:sp>
        <p:sp>
          <p:nvSpPr>
            <p:cNvPr id="111640" name="Line 22"/>
            <p:cNvSpPr>
              <a:spLocks noChangeShapeType="1"/>
            </p:cNvSpPr>
            <p:nvPr/>
          </p:nvSpPr>
          <p:spPr bwMode="auto">
            <a:xfrm>
              <a:off x="3456" y="1248"/>
              <a:ext cx="1" cy="2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prstDash val="dash"/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41" name="AutoShape 23"/>
            <p:cNvSpPr>
              <a:spLocks noChangeArrowheads="1"/>
            </p:cNvSpPr>
            <p:nvPr/>
          </p:nvSpPr>
          <p:spPr bwMode="auto">
            <a:xfrm>
              <a:off x="2592" y="1920"/>
              <a:ext cx="312" cy="432"/>
            </a:xfrm>
            <a:prstGeom prst="upArrow">
              <a:avLst>
                <a:gd name="adj1" fmla="val 36667"/>
                <a:gd name="adj2" fmla="val 44872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42" name="AutoShape 24"/>
            <p:cNvSpPr>
              <a:spLocks noChangeArrowheads="1"/>
            </p:cNvSpPr>
            <p:nvPr/>
          </p:nvSpPr>
          <p:spPr bwMode="auto">
            <a:xfrm flipV="1">
              <a:off x="3288" y="2382"/>
              <a:ext cx="312" cy="432"/>
            </a:xfrm>
            <a:prstGeom prst="upArrow">
              <a:avLst>
                <a:gd name="adj1" fmla="val 36667"/>
                <a:gd name="adj2" fmla="val 44872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43" name="Rectangle 25"/>
            <p:cNvSpPr>
              <a:spLocks noChangeArrowheads="1"/>
            </p:cNvSpPr>
            <p:nvPr/>
          </p:nvSpPr>
          <p:spPr bwMode="auto">
            <a:xfrm>
              <a:off x="3024" y="2840"/>
              <a:ext cx="816" cy="328"/>
            </a:xfrm>
            <a:prstGeom prst="rect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>
                  <a:latin typeface="Calibri" charset="0"/>
                  <a:ea typeface="Calibri" charset="0"/>
                  <a:cs typeface="Calibri" charset="0"/>
                </a:rPr>
                <a:t>Disk </a:t>
              </a:r>
            </a:p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>
                  <a:latin typeface="Calibri" charset="0"/>
                  <a:ea typeface="Calibri" charset="0"/>
                  <a:cs typeface="Calibri" charset="0"/>
                </a:rPr>
                <a:t>controller</a:t>
              </a:r>
            </a:p>
          </p:txBody>
        </p:sp>
        <p:sp>
          <p:nvSpPr>
            <p:cNvPr id="111644" name="AutoShape 26"/>
            <p:cNvSpPr>
              <a:spLocks noChangeArrowheads="1"/>
            </p:cNvSpPr>
            <p:nvPr/>
          </p:nvSpPr>
          <p:spPr bwMode="auto">
            <a:xfrm flipV="1">
              <a:off x="1820" y="2382"/>
              <a:ext cx="312" cy="432"/>
            </a:xfrm>
            <a:prstGeom prst="upArrow">
              <a:avLst>
                <a:gd name="adj1" fmla="val 36667"/>
                <a:gd name="adj2" fmla="val 44872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45" name="Rectangle 27"/>
            <p:cNvSpPr>
              <a:spLocks noChangeArrowheads="1"/>
            </p:cNvSpPr>
            <p:nvPr/>
          </p:nvSpPr>
          <p:spPr bwMode="auto">
            <a:xfrm>
              <a:off x="1556" y="2840"/>
              <a:ext cx="816" cy="328"/>
            </a:xfrm>
            <a:prstGeom prst="rect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>
                  <a:latin typeface="Calibri" charset="0"/>
                  <a:ea typeface="Calibri" charset="0"/>
                  <a:cs typeface="Calibri" charset="0"/>
                </a:rPr>
                <a:t>Graphics</a:t>
              </a:r>
            </a:p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>
                  <a:latin typeface="Calibri" charset="0"/>
                  <a:ea typeface="Calibri" charset="0"/>
                  <a:cs typeface="Calibri" charset="0"/>
                </a:rPr>
                <a:t>adapter</a:t>
              </a:r>
            </a:p>
          </p:txBody>
        </p:sp>
        <p:sp>
          <p:nvSpPr>
            <p:cNvPr id="111646" name="AutoShape 28"/>
            <p:cNvSpPr>
              <a:spLocks noChangeArrowheads="1"/>
            </p:cNvSpPr>
            <p:nvPr/>
          </p:nvSpPr>
          <p:spPr bwMode="auto">
            <a:xfrm flipV="1">
              <a:off x="764" y="2382"/>
              <a:ext cx="312" cy="432"/>
            </a:xfrm>
            <a:prstGeom prst="upArrow">
              <a:avLst>
                <a:gd name="adj1" fmla="val 36667"/>
                <a:gd name="adj2" fmla="val 44872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47" name="Rectangle 29"/>
            <p:cNvSpPr>
              <a:spLocks noChangeArrowheads="1"/>
            </p:cNvSpPr>
            <p:nvPr/>
          </p:nvSpPr>
          <p:spPr bwMode="auto">
            <a:xfrm>
              <a:off x="548" y="2832"/>
              <a:ext cx="720" cy="328"/>
            </a:xfrm>
            <a:prstGeom prst="rect">
              <a:avLst/>
            </a:prstGeom>
            <a:solidFill>
              <a:srgbClr val="C0C0C0"/>
            </a:solidFill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 b="1">
                  <a:latin typeface="Calibri" charset="0"/>
                  <a:ea typeface="Calibri" charset="0"/>
                  <a:cs typeface="Calibri" charset="0"/>
                </a:rPr>
                <a:t>USB</a:t>
              </a:r>
            </a:p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 b="1">
                  <a:latin typeface="Calibri" charset="0"/>
                  <a:ea typeface="Calibri" charset="0"/>
                  <a:cs typeface="Calibri" charset="0"/>
                </a:rPr>
                <a:t>controller</a:t>
              </a:r>
            </a:p>
          </p:txBody>
        </p:sp>
        <p:sp>
          <p:nvSpPr>
            <p:cNvPr id="111648" name="Line 30"/>
            <p:cNvSpPr>
              <a:spLocks noChangeShapeType="1"/>
            </p:cNvSpPr>
            <p:nvPr/>
          </p:nvSpPr>
          <p:spPr bwMode="auto">
            <a:xfrm>
              <a:off x="692" y="3168"/>
              <a:ext cx="1" cy="192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 type="triangle" w="med" len="med"/>
              <a:tailEnd/>
            </a:ln>
          </p:spPr>
          <p:txBody>
            <a:bodyPr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49" name="Line 31"/>
            <p:cNvSpPr>
              <a:spLocks noChangeShapeType="1"/>
            </p:cNvSpPr>
            <p:nvPr/>
          </p:nvSpPr>
          <p:spPr bwMode="auto">
            <a:xfrm>
              <a:off x="1172" y="3168"/>
              <a:ext cx="1" cy="192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 type="triangle" w="med" len="med"/>
              <a:tailEnd/>
            </a:ln>
          </p:spPr>
          <p:txBody>
            <a:bodyPr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50" name="Text Box 32"/>
            <p:cNvSpPr txBox="1">
              <a:spLocks noChangeArrowheads="1"/>
            </p:cNvSpPr>
            <p:nvPr/>
          </p:nvSpPr>
          <p:spPr bwMode="auto">
            <a:xfrm>
              <a:off x="440" y="3323"/>
              <a:ext cx="483" cy="19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>
                  <a:latin typeface="Calibri" charset="0"/>
                  <a:ea typeface="Calibri" charset="0"/>
                  <a:cs typeface="Calibri" charset="0"/>
                </a:rPr>
                <a:t>Mouse</a:t>
              </a:r>
            </a:p>
          </p:txBody>
        </p:sp>
        <p:sp>
          <p:nvSpPr>
            <p:cNvPr id="111651" name="Text Box 33"/>
            <p:cNvSpPr txBox="1">
              <a:spLocks noChangeArrowheads="1"/>
            </p:cNvSpPr>
            <p:nvPr/>
          </p:nvSpPr>
          <p:spPr bwMode="auto">
            <a:xfrm>
              <a:off x="875" y="3323"/>
              <a:ext cx="625" cy="19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>
                  <a:latin typeface="Calibri" charset="0"/>
                  <a:ea typeface="Calibri" charset="0"/>
                  <a:cs typeface="Calibri" charset="0"/>
                </a:rPr>
                <a:t>Keyboard</a:t>
              </a:r>
            </a:p>
          </p:txBody>
        </p:sp>
        <p:sp>
          <p:nvSpPr>
            <p:cNvPr id="111652" name="Line 34"/>
            <p:cNvSpPr>
              <a:spLocks noChangeShapeType="1"/>
            </p:cNvSpPr>
            <p:nvPr/>
          </p:nvSpPr>
          <p:spPr bwMode="auto">
            <a:xfrm>
              <a:off x="1988" y="3168"/>
              <a:ext cx="1" cy="192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53" name="Text Box 35"/>
            <p:cNvSpPr txBox="1">
              <a:spLocks noChangeArrowheads="1"/>
            </p:cNvSpPr>
            <p:nvPr/>
          </p:nvSpPr>
          <p:spPr bwMode="auto">
            <a:xfrm>
              <a:off x="1722" y="3323"/>
              <a:ext cx="503" cy="19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>
                  <a:latin typeface="Calibri" charset="0"/>
                  <a:ea typeface="Calibri" charset="0"/>
                  <a:cs typeface="Calibri" charset="0"/>
                </a:rPr>
                <a:t>Display</a:t>
              </a:r>
            </a:p>
          </p:txBody>
        </p:sp>
        <p:sp>
          <p:nvSpPr>
            <p:cNvPr id="111654" name="Line 36"/>
            <p:cNvSpPr>
              <a:spLocks noChangeShapeType="1"/>
            </p:cNvSpPr>
            <p:nvPr/>
          </p:nvSpPr>
          <p:spPr bwMode="auto">
            <a:xfrm>
              <a:off x="3440" y="3168"/>
              <a:ext cx="1" cy="240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55" name="AutoShape 37"/>
            <p:cNvSpPr>
              <a:spLocks noChangeArrowheads="1"/>
            </p:cNvSpPr>
            <p:nvPr/>
          </p:nvSpPr>
          <p:spPr bwMode="auto">
            <a:xfrm>
              <a:off x="3248" y="3408"/>
              <a:ext cx="384" cy="384"/>
            </a:xfrm>
            <a:prstGeom prst="can">
              <a:avLst>
                <a:gd name="adj" fmla="val 25000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>
                  <a:latin typeface="Calibri" charset="0"/>
                  <a:ea typeface="Calibri" charset="0"/>
                  <a:cs typeface="Calibri" charset="0"/>
                </a:rPr>
                <a:t>Disk</a:t>
              </a:r>
            </a:p>
          </p:txBody>
        </p:sp>
        <p:sp>
          <p:nvSpPr>
            <p:cNvPr id="111656" name="AutoShape 38"/>
            <p:cNvSpPr>
              <a:spLocks noChangeArrowheads="1"/>
            </p:cNvSpPr>
            <p:nvPr/>
          </p:nvSpPr>
          <p:spPr bwMode="auto">
            <a:xfrm>
              <a:off x="192" y="2248"/>
              <a:ext cx="4584" cy="248"/>
            </a:xfrm>
            <a:prstGeom prst="leftRightArrow">
              <a:avLst>
                <a:gd name="adj1" fmla="val 48611"/>
                <a:gd name="adj2" fmla="val 95500"/>
              </a:avLst>
            </a:prstGeom>
            <a:solidFill>
              <a:srgbClr val="FFFFFF"/>
            </a:solidFill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57" name="Rectangle 39"/>
            <p:cNvSpPr>
              <a:spLocks noChangeArrowheads="1"/>
            </p:cNvSpPr>
            <p:nvPr/>
          </p:nvSpPr>
          <p:spPr bwMode="auto">
            <a:xfrm>
              <a:off x="870" y="2355"/>
              <a:ext cx="105" cy="96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58" name="Rectangle 40"/>
            <p:cNvSpPr>
              <a:spLocks noChangeArrowheads="1"/>
            </p:cNvSpPr>
            <p:nvPr/>
          </p:nvSpPr>
          <p:spPr bwMode="auto">
            <a:xfrm>
              <a:off x="1926" y="2349"/>
              <a:ext cx="105" cy="96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59" name="Rectangle 41"/>
            <p:cNvSpPr>
              <a:spLocks noChangeArrowheads="1"/>
            </p:cNvSpPr>
            <p:nvPr/>
          </p:nvSpPr>
          <p:spPr bwMode="auto">
            <a:xfrm>
              <a:off x="3396" y="2343"/>
              <a:ext cx="102" cy="96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60" name="Text Box 42"/>
            <p:cNvSpPr txBox="1">
              <a:spLocks noChangeArrowheads="1"/>
            </p:cNvSpPr>
            <p:nvPr/>
          </p:nvSpPr>
          <p:spPr bwMode="auto">
            <a:xfrm>
              <a:off x="2525" y="2452"/>
              <a:ext cx="512" cy="19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>
                  <a:latin typeface="Calibri" charset="0"/>
                  <a:ea typeface="Calibri" charset="0"/>
                  <a:cs typeface="Calibri" charset="0"/>
                </a:rPr>
                <a:t>I/O bus</a:t>
              </a:r>
            </a:p>
          </p:txBody>
        </p:sp>
        <p:sp>
          <p:nvSpPr>
            <p:cNvPr id="111661" name="Rectangle 43"/>
            <p:cNvSpPr>
              <a:spLocks noChangeArrowheads="1"/>
            </p:cNvSpPr>
            <p:nvPr/>
          </p:nvSpPr>
          <p:spPr bwMode="auto">
            <a:xfrm>
              <a:off x="2697" y="2304"/>
              <a:ext cx="102" cy="96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62" name="Rectangle 44"/>
            <p:cNvSpPr>
              <a:spLocks noChangeArrowheads="1"/>
            </p:cNvSpPr>
            <p:nvPr/>
          </p:nvSpPr>
          <p:spPr bwMode="auto">
            <a:xfrm>
              <a:off x="3888" y="2256"/>
              <a:ext cx="80" cy="256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63" name="Rectangle 45"/>
            <p:cNvSpPr>
              <a:spLocks noChangeArrowheads="1"/>
            </p:cNvSpPr>
            <p:nvPr/>
          </p:nvSpPr>
          <p:spPr bwMode="auto">
            <a:xfrm>
              <a:off x="4080" y="2256"/>
              <a:ext cx="80" cy="256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64" name="Rectangle 46"/>
            <p:cNvSpPr>
              <a:spLocks noChangeArrowheads="1"/>
            </p:cNvSpPr>
            <p:nvPr/>
          </p:nvSpPr>
          <p:spPr bwMode="auto">
            <a:xfrm>
              <a:off x="4272" y="2256"/>
              <a:ext cx="80" cy="256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65" name="Text Box 47"/>
            <p:cNvSpPr txBox="1">
              <a:spLocks noChangeArrowheads="1"/>
            </p:cNvSpPr>
            <p:nvPr/>
          </p:nvSpPr>
          <p:spPr bwMode="auto">
            <a:xfrm>
              <a:off x="3881" y="2544"/>
              <a:ext cx="1209" cy="581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>
                  <a:latin typeface="Calibri" charset="0"/>
                  <a:ea typeface="Calibri" charset="0"/>
                  <a:cs typeface="Calibri" charset="0"/>
                </a:rPr>
                <a:t>Expansion slots for</a:t>
              </a:r>
            </a:p>
            <a:p>
              <a:pPr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>
                  <a:latin typeface="Calibri" charset="0"/>
                  <a:ea typeface="Calibri" charset="0"/>
                  <a:cs typeface="Calibri" charset="0"/>
                </a:rPr>
                <a:t>other devices such</a:t>
              </a:r>
            </a:p>
            <a:p>
              <a:pPr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>
                  <a:latin typeface="Calibri" charset="0"/>
                  <a:ea typeface="Calibri" charset="0"/>
                  <a:cs typeface="Calibri" charset="0"/>
                </a:rPr>
                <a:t>as network adapters</a:t>
              </a:r>
            </a:p>
            <a:p>
              <a:pPr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GB" sz="16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66" name="Rectangle 48"/>
            <p:cNvSpPr>
              <a:spLocks noChangeArrowheads="1"/>
            </p:cNvSpPr>
            <p:nvPr/>
          </p:nvSpPr>
          <p:spPr bwMode="auto">
            <a:xfrm>
              <a:off x="336" y="816"/>
              <a:ext cx="480" cy="192"/>
            </a:xfrm>
            <a:prstGeom prst="rect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>
                  <a:latin typeface="Calibri" charset="0"/>
                  <a:ea typeface="Calibri" charset="0"/>
                  <a:cs typeface="Calibri" charset="0"/>
                </a:rPr>
                <a:t>PC</a:t>
              </a:r>
            </a:p>
          </p:txBody>
        </p:sp>
        <p:sp>
          <p:nvSpPr>
            <p:cNvPr id="111667" name="Line 49"/>
            <p:cNvSpPr>
              <a:spLocks noChangeShapeType="1"/>
            </p:cNvSpPr>
            <p:nvPr/>
          </p:nvSpPr>
          <p:spPr bwMode="auto">
            <a:xfrm flipH="1" flipV="1">
              <a:off x="908" y="2780"/>
              <a:ext cx="248" cy="392"/>
            </a:xfrm>
            <a:prstGeom prst="line">
              <a:avLst/>
            </a:prstGeom>
            <a:noFill/>
            <a:ln w="57240">
              <a:solidFill>
                <a:srgbClr val="00006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68" name="Line 50"/>
            <p:cNvSpPr>
              <a:spLocks noChangeShapeType="1"/>
            </p:cNvSpPr>
            <p:nvPr/>
          </p:nvSpPr>
          <p:spPr bwMode="auto">
            <a:xfrm flipV="1">
              <a:off x="912" y="2396"/>
              <a:ext cx="1" cy="392"/>
            </a:xfrm>
            <a:prstGeom prst="line">
              <a:avLst/>
            </a:prstGeom>
            <a:noFill/>
            <a:ln w="57240">
              <a:solidFill>
                <a:srgbClr val="00006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69" name="Line 51"/>
            <p:cNvSpPr>
              <a:spLocks noChangeShapeType="1"/>
            </p:cNvSpPr>
            <p:nvPr/>
          </p:nvSpPr>
          <p:spPr bwMode="auto">
            <a:xfrm>
              <a:off x="912" y="2400"/>
              <a:ext cx="1824" cy="1"/>
            </a:xfrm>
            <a:prstGeom prst="line">
              <a:avLst/>
            </a:prstGeom>
            <a:noFill/>
            <a:ln w="57240">
              <a:solidFill>
                <a:srgbClr val="00006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70" name="Line 52"/>
            <p:cNvSpPr>
              <a:spLocks noChangeShapeType="1"/>
            </p:cNvSpPr>
            <p:nvPr/>
          </p:nvSpPr>
          <p:spPr bwMode="auto">
            <a:xfrm flipV="1">
              <a:off x="2736" y="1724"/>
              <a:ext cx="1" cy="680"/>
            </a:xfrm>
            <a:prstGeom prst="line">
              <a:avLst/>
            </a:prstGeom>
            <a:noFill/>
            <a:ln w="57240">
              <a:solidFill>
                <a:srgbClr val="00006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71" name="Line 53"/>
            <p:cNvSpPr>
              <a:spLocks noChangeShapeType="1"/>
            </p:cNvSpPr>
            <p:nvPr/>
          </p:nvSpPr>
          <p:spPr bwMode="auto">
            <a:xfrm flipH="1">
              <a:off x="1100" y="1728"/>
              <a:ext cx="1640" cy="1"/>
            </a:xfrm>
            <a:prstGeom prst="line">
              <a:avLst/>
            </a:prstGeom>
            <a:noFill/>
            <a:ln w="57240">
              <a:solidFill>
                <a:srgbClr val="00006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72" name="Line 54"/>
            <p:cNvSpPr>
              <a:spLocks noChangeShapeType="1"/>
            </p:cNvSpPr>
            <p:nvPr/>
          </p:nvSpPr>
          <p:spPr bwMode="auto">
            <a:xfrm flipV="1">
              <a:off x="1104" y="1052"/>
              <a:ext cx="1" cy="680"/>
            </a:xfrm>
            <a:prstGeom prst="line">
              <a:avLst/>
            </a:prstGeom>
            <a:noFill/>
            <a:ln w="57240">
              <a:solidFill>
                <a:srgbClr val="000066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73" name="Line 55"/>
            <p:cNvSpPr>
              <a:spLocks noChangeShapeType="1"/>
            </p:cNvSpPr>
            <p:nvPr/>
          </p:nvSpPr>
          <p:spPr bwMode="auto">
            <a:xfrm>
              <a:off x="1248" y="1056"/>
              <a:ext cx="1" cy="528"/>
            </a:xfrm>
            <a:prstGeom prst="line">
              <a:avLst/>
            </a:prstGeom>
            <a:noFill/>
            <a:ln w="57240">
              <a:solidFill>
                <a:srgbClr val="00006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74" name="Line 56"/>
            <p:cNvSpPr>
              <a:spLocks noChangeShapeType="1"/>
            </p:cNvSpPr>
            <p:nvPr/>
          </p:nvSpPr>
          <p:spPr bwMode="auto">
            <a:xfrm>
              <a:off x="1248" y="1584"/>
              <a:ext cx="2736" cy="1"/>
            </a:xfrm>
            <a:prstGeom prst="line">
              <a:avLst/>
            </a:prstGeom>
            <a:noFill/>
            <a:ln w="57240">
              <a:solidFill>
                <a:srgbClr val="000066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1675" name="Text Box 57"/>
            <p:cNvSpPr txBox="1">
              <a:spLocks noChangeArrowheads="1"/>
            </p:cNvSpPr>
            <p:nvPr/>
          </p:nvSpPr>
          <p:spPr bwMode="auto">
            <a:xfrm>
              <a:off x="4557" y="1490"/>
              <a:ext cx="491" cy="19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 b="1" i="1">
                  <a:latin typeface="Calibri" charset="0"/>
                  <a:ea typeface="Calibri" charset="0"/>
                  <a:cs typeface="Calibri" charset="0"/>
                </a:rPr>
                <a:t>"hello"</a:t>
              </a:r>
            </a:p>
          </p:txBody>
        </p:sp>
        <p:sp>
          <p:nvSpPr>
            <p:cNvPr id="111676" name="Text Box 58"/>
            <p:cNvSpPr txBox="1">
              <a:spLocks noChangeArrowheads="1"/>
            </p:cNvSpPr>
            <p:nvPr/>
          </p:nvSpPr>
          <p:spPr bwMode="auto">
            <a:xfrm>
              <a:off x="912" y="3595"/>
              <a:ext cx="624" cy="45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 b="1" i="1">
                  <a:latin typeface="Calibri" charset="0"/>
                  <a:ea typeface="Calibri" charset="0"/>
                  <a:cs typeface="Calibri" charset="0"/>
                </a:rPr>
                <a:t>User</a:t>
              </a:r>
            </a:p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 b="1" i="1">
                  <a:latin typeface="Calibri" charset="0"/>
                  <a:ea typeface="Calibri" charset="0"/>
                  <a:cs typeface="Calibri" charset="0"/>
                </a:rPr>
                <a:t>types</a:t>
              </a:r>
            </a:p>
            <a:p>
              <a:pPr algn="ctr">
                <a:lnSpc>
                  <a:spcPct val="84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 b="1" i="1">
                  <a:latin typeface="Calibri" charset="0"/>
                  <a:ea typeface="Calibri" charset="0"/>
                  <a:cs typeface="Calibri" charset="0"/>
                </a:rPr>
                <a:t>"hello"</a:t>
              </a:r>
            </a:p>
          </p:txBody>
        </p:sp>
      </p:grpSp>
      <p:sp>
        <p:nvSpPr>
          <p:cNvPr id="111619" name="Text Box 59"/>
          <p:cNvSpPr txBox="1">
            <a:spLocks noChangeArrowheads="1"/>
          </p:cNvSpPr>
          <p:nvPr/>
        </p:nvSpPr>
        <p:spPr bwMode="auto">
          <a:xfrm>
            <a:off x="4213225" y="373063"/>
            <a:ext cx="4473575" cy="785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lnSpc>
                <a:spcPct val="93000"/>
              </a:lnSpc>
              <a:spcBef>
                <a:spcPts val="1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Calibri" charset="0"/>
                <a:ea typeface="Calibri" charset="0"/>
                <a:cs typeface="Calibri" charset="0"/>
              </a:rPr>
              <a:t>Reading hello command from keyboard  </a:t>
            </a:r>
          </a:p>
        </p:txBody>
      </p:sp>
    </p:spTree>
    <p:extLst>
      <p:ext uri="{BB962C8B-B14F-4D97-AF65-F5344CB8AC3E}">
        <p14:creationId xmlns:p14="http://schemas.microsoft.com/office/powerpoint/2010/main" val="8757984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Bits, Bytes, and Integers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Representing information as bits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Bit-level manipulations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Integers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Representation: unsigned and signed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Conversion, casting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Expanding, truncating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Addition, negation, multiplication, shifting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Summary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2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Everything is bits</a:t>
            </a:r>
          </a:p>
        </p:txBody>
      </p:sp>
      <p:sp>
        <p:nvSpPr>
          <p:cNvPr id="9243" name="Rectangle 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bit is 0 or 1</a:t>
            </a:r>
          </a:p>
          <a:p>
            <a:r>
              <a:rPr lang="en-US" dirty="0"/>
              <a:t>By encoding/interpreting sets of bits in various ways</a:t>
            </a:r>
          </a:p>
          <a:p>
            <a:pPr lvl="1"/>
            <a:r>
              <a:rPr lang="en-US" dirty="0"/>
              <a:t>Computers determine what to do (instructions)</a:t>
            </a:r>
          </a:p>
          <a:p>
            <a:pPr lvl="1"/>
            <a:r>
              <a:rPr lang="en-US" dirty="0"/>
              <a:t>… and represent and manipulate numbers, sets, strings, etc…</a:t>
            </a:r>
          </a:p>
          <a:p>
            <a:r>
              <a:rPr lang="en-US" dirty="0"/>
              <a:t>Why bits?  Electronic Implementation</a:t>
            </a:r>
          </a:p>
          <a:p>
            <a:pPr lvl="1"/>
            <a:r>
              <a:rPr lang="en-US" dirty="0"/>
              <a:t>Easy to store with </a:t>
            </a:r>
            <a:r>
              <a:rPr lang="en-US" dirty="0" err="1"/>
              <a:t>bistable</a:t>
            </a:r>
            <a:r>
              <a:rPr lang="en-US" dirty="0"/>
              <a:t> elements</a:t>
            </a:r>
          </a:p>
          <a:p>
            <a:pPr lvl="1"/>
            <a:r>
              <a:rPr lang="en-US" dirty="0"/>
              <a:t>Reliably transmitted on noisy and inaccurate wires </a:t>
            </a:r>
          </a:p>
        </p:txBody>
      </p:sp>
      <p:grpSp>
        <p:nvGrpSpPr>
          <p:cNvPr id="26" name="Group 4"/>
          <p:cNvGrpSpPr>
            <a:grpSpLocks/>
          </p:cNvGrpSpPr>
          <p:nvPr/>
        </p:nvGrpSpPr>
        <p:grpSpPr bwMode="auto">
          <a:xfrm>
            <a:off x="889000" y="4267200"/>
            <a:ext cx="6858000" cy="2209800"/>
            <a:chOff x="0" y="0"/>
            <a:chExt cx="4320" cy="1392"/>
          </a:xfrm>
        </p:grpSpPr>
        <p:sp>
          <p:nvSpPr>
            <p:cNvPr id="27" name="Rectangle 5"/>
            <p:cNvSpPr>
              <a:spLocks/>
            </p:cNvSpPr>
            <p:nvPr/>
          </p:nvSpPr>
          <p:spPr bwMode="auto">
            <a:xfrm>
              <a:off x="575" y="1008"/>
              <a:ext cx="3745" cy="240"/>
            </a:xfrm>
            <a:prstGeom prst="rect">
              <a:avLst/>
            </a:prstGeom>
            <a:solidFill>
              <a:srgbClr val="00FF99"/>
            </a:solidFill>
            <a:ln w="25400">
              <a:noFill/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8" name="Rectangle 6"/>
            <p:cNvSpPr>
              <a:spLocks/>
            </p:cNvSpPr>
            <p:nvPr/>
          </p:nvSpPr>
          <p:spPr bwMode="auto">
            <a:xfrm>
              <a:off x="575" y="384"/>
              <a:ext cx="3745" cy="240"/>
            </a:xfrm>
            <a:prstGeom prst="rect">
              <a:avLst/>
            </a:prstGeom>
            <a:solidFill>
              <a:srgbClr val="00FF99"/>
            </a:solidFill>
            <a:ln w="25400">
              <a:noFill/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9" name="Freeform 7"/>
            <p:cNvSpPr>
              <a:spLocks/>
            </p:cNvSpPr>
            <p:nvPr/>
          </p:nvSpPr>
          <p:spPr bwMode="auto">
            <a:xfrm>
              <a:off x="576" y="484"/>
              <a:ext cx="3732" cy="716"/>
            </a:xfrm>
            <a:custGeom>
              <a:avLst/>
              <a:gdLst>
                <a:gd name="T0" fmla="*/ 0 w 21600"/>
                <a:gd name="T1" fmla="*/ 21298 h 21600"/>
                <a:gd name="T2" fmla="*/ 948 w 21600"/>
                <a:gd name="T3" fmla="*/ 19699 h 21600"/>
                <a:gd name="T4" fmla="*/ 1775 w 21600"/>
                <a:gd name="T5" fmla="*/ 19398 h 21600"/>
                <a:gd name="T6" fmla="*/ 3302 w 21600"/>
                <a:gd name="T7" fmla="*/ 20665 h 21600"/>
                <a:gd name="T8" fmla="*/ 4636 w 21600"/>
                <a:gd name="T9" fmla="*/ 19699 h 21600"/>
                <a:gd name="T10" fmla="*/ 5397 w 21600"/>
                <a:gd name="T11" fmla="*/ 19066 h 21600"/>
                <a:gd name="T12" fmla="*/ 6164 w 21600"/>
                <a:gd name="T13" fmla="*/ 20031 h 21600"/>
                <a:gd name="T14" fmla="*/ 7111 w 21600"/>
                <a:gd name="T15" fmla="*/ 20333 h 21600"/>
                <a:gd name="T16" fmla="*/ 7685 w 21600"/>
                <a:gd name="T17" fmla="*/ 20031 h 21600"/>
                <a:gd name="T18" fmla="*/ 7878 w 21600"/>
                <a:gd name="T19" fmla="*/ 19699 h 21600"/>
                <a:gd name="T20" fmla="*/ 8132 w 21600"/>
                <a:gd name="T21" fmla="*/ 17165 h 21600"/>
                <a:gd name="T22" fmla="*/ 8832 w 21600"/>
                <a:gd name="T23" fmla="*/ 7632 h 21600"/>
                <a:gd name="T24" fmla="*/ 9339 w 21600"/>
                <a:gd name="T25" fmla="*/ 3499 h 21600"/>
                <a:gd name="T26" fmla="*/ 9913 w 21600"/>
                <a:gd name="T27" fmla="*/ 1599 h 21600"/>
                <a:gd name="T28" fmla="*/ 11054 w 21600"/>
                <a:gd name="T29" fmla="*/ 634 h 21600"/>
                <a:gd name="T30" fmla="*/ 12261 w 21600"/>
                <a:gd name="T31" fmla="*/ 965 h 21600"/>
                <a:gd name="T32" fmla="*/ 12514 w 21600"/>
                <a:gd name="T33" fmla="*/ 1267 h 21600"/>
                <a:gd name="T34" fmla="*/ 13595 w 21600"/>
                <a:gd name="T35" fmla="*/ 332 h 21600"/>
                <a:gd name="T36" fmla="*/ 13975 w 21600"/>
                <a:gd name="T37" fmla="*/ 1267 h 21600"/>
                <a:gd name="T38" fmla="*/ 14422 w 21600"/>
                <a:gd name="T39" fmla="*/ 1599 h 21600"/>
                <a:gd name="T40" fmla="*/ 15436 w 21600"/>
                <a:gd name="T41" fmla="*/ 1267 h 21600"/>
                <a:gd name="T42" fmla="*/ 15817 w 21600"/>
                <a:gd name="T43" fmla="*/ 1931 h 21600"/>
                <a:gd name="T44" fmla="*/ 16390 w 21600"/>
                <a:gd name="T45" fmla="*/ 332 h 21600"/>
                <a:gd name="T46" fmla="*/ 16710 w 21600"/>
                <a:gd name="T47" fmla="*/ 0 h 21600"/>
                <a:gd name="T48" fmla="*/ 18358 w 21600"/>
                <a:gd name="T49" fmla="*/ 12399 h 21600"/>
                <a:gd name="T50" fmla="*/ 19058 w 21600"/>
                <a:gd name="T51" fmla="*/ 19398 h 21600"/>
                <a:gd name="T52" fmla="*/ 20205 w 21600"/>
                <a:gd name="T53" fmla="*/ 21600 h 21600"/>
                <a:gd name="T54" fmla="*/ 20773 w 21600"/>
                <a:gd name="T55" fmla="*/ 21298 h 21600"/>
                <a:gd name="T56" fmla="*/ 20900 w 21600"/>
                <a:gd name="T57" fmla="*/ 20333 h 21600"/>
                <a:gd name="T58" fmla="*/ 21600 w 21600"/>
                <a:gd name="T59" fmla="*/ 19699 h 2160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1600"/>
                <a:gd name="T91" fmla="*/ 0 h 21600"/>
                <a:gd name="T92" fmla="*/ 21600 w 21600"/>
                <a:gd name="T93" fmla="*/ 21600 h 2160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1600" h="21600">
                  <a:moveTo>
                    <a:pt x="0" y="21298"/>
                  </a:moveTo>
                  <a:cubicBezTo>
                    <a:pt x="326" y="20936"/>
                    <a:pt x="610" y="19820"/>
                    <a:pt x="948" y="19699"/>
                  </a:cubicBezTo>
                  <a:cubicBezTo>
                    <a:pt x="1219" y="19579"/>
                    <a:pt x="1497" y="19488"/>
                    <a:pt x="1775" y="19398"/>
                  </a:cubicBezTo>
                  <a:cubicBezTo>
                    <a:pt x="2276" y="19850"/>
                    <a:pt x="2789" y="20212"/>
                    <a:pt x="3302" y="20665"/>
                  </a:cubicBezTo>
                  <a:cubicBezTo>
                    <a:pt x="3791" y="19760"/>
                    <a:pt x="3984" y="19911"/>
                    <a:pt x="4636" y="19699"/>
                  </a:cubicBezTo>
                  <a:cubicBezTo>
                    <a:pt x="4781" y="19549"/>
                    <a:pt x="5282" y="19066"/>
                    <a:pt x="5397" y="19066"/>
                  </a:cubicBezTo>
                  <a:cubicBezTo>
                    <a:pt x="5663" y="19066"/>
                    <a:pt x="5898" y="19880"/>
                    <a:pt x="6164" y="20031"/>
                  </a:cubicBezTo>
                  <a:cubicBezTo>
                    <a:pt x="6478" y="20182"/>
                    <a:pt x="6792" y="20212"/>
                    <a:pt x="7111" y="20333"/>
                  </a:cubicBezTo>
                  <a:cubicBezTo>
                    <a:pt x="7299" y="20212"/>
                    <a:pt x="7492" y="20182"/>
                    <a:pt x="7685" y="20031"/>
                  </a:cubicBezTo>
                  <a:cubicBezTo>
                    <a:pt x="7751" y="19971"/>
                    <a:pt x="7836" y="19941"/>
                    <a:pt x="7878" y="19699"/>
                  </a:cubicBezTo>
                  <a:cubicBezTo>
                    <a:pt x="7993" y="18945"/>
                    <a:pt x="8023" y="17950"/>
                    <a:pt x="8132" y="17165"/>
                  </a:cubicBezTo>
                  <a:cubicBezTo>
                    <a:pt x="8548" y="13937"/>
                    <a:pt x="8566" y="10921"/>
                    <a:pt x="8832" y="7632"/>
                  </a:cubicBezTo>
                  <a:cubicBezTo>
                    <a:pt x="8935" y="6305"/>
                    <a:pt x="9176" y="4616"/>
                    <a:pt x="9339" y="3499"/>
                  </a:cubicBezTo>
                  <a:cubicBezTo>
                    <a:pt x="9466" y="2594"/>
                    <a:pt x="9689" y="1810"/>
                    <a:pt x="9913" y="1599"/>
                  </a:cubicBezTo>
                  <a:cubicBezTo>
                    <a:pt x="10287" y="1207"/>
                    <a:pt x="11054" y="634"/>
                    <a:pt x="11054" y="634"/>
                  </a:cubicBezTo>
                  <a:cubicBezTo>
                    <a:pt x="11452" y="724"/>
                    <a:pt x="11856" y="784"/>
                    <a:pt x="12261" y="965"/>
                  </a:cubicBezTo>
                  <a:cubicBezTo>
                    <a:pt x="12345" y="996"/>
                    <a:pt x="12424" y="1267"/>
                    <a:pt x="12514" y="1267"/>
                  </a:cubicBezTo>
                  <a:cubicBezTo>
                    <a:pt x="12859" y="1267"/>
                    <a:pt x="13245" y="603"/>
                    <a:pt x="13595" y="332"/>
                  </a:cubicBezTo>
                  <a:cubicBezTo>
                    <a:pt x="13728" y="513"/>
                    <a:pt x="13837" y="1056"/>
                    <a:pt x="13975" y="1267"/>
                  </a:cubicBezTo>
                  <a:cubicBezTo>
                    <a:pt x="14114" y="1478"/>
                    <a:pt x="14271" y="1478"/>
                    <a:pt x="14422" y="1599"/>
                  </a:cubicBezTo>
                  <a:cubicBezTo>
                    <a:pt x="14790" y="1086"/>
                    <a:pt x="15050" y="935"/>
                    <a:pt x="15436" y="1267"/>
                  </a:cubicBezTo>
                  <a:cubicBezTo>
                    <a:pt x="15563" y="1478"/>
                    <a:pt x="15684" y="2142"/>
                    <a:pt x="15817" y="1931"/>
                  </a:cubicBezTo>
                  <a:cubicBezTo>
                    <a:pt x="16022" y="1569"/>
                    <a:pt x="16173" y="543"/>
                    <a:pt x="16390" y="332"/>
                  </a:cubicBezTo>
                  <a:cubicBezTo>
                    <a:pt x="16493" y="211"/>
                    <a:pt x="16601" y="91"/>
                    <a:pt x="16710" y="0"/>
                  </a:cubicBezTo>
                  <a:cubicBezTo>
                    <a:pt x="17682" y="4857"/>
                    <a:pt x="17851" y="5038"/>
                    <a:pt x="18358" y="12399"/>
                  </a:cubicBezTo>
                  <a:cubicBezTo>
                    <a:pt x="18539" y="15023"/>
                    <a:pt x="18527" y="18010"/>
                    <a:pt x="19058" y="19398"/>
                  </a:cubicBezTo>
                  <a:cubicBezTo>
                    <a:pt x="19855" y="18674"/>
                    <a:pt x="19445" y="17799"/>
                    <a:pt x="20205" y="21600"/>
                  </a:cubicBezTo>
                  <a:cubicBezTo>
                    <a:pt x="20393" y="21479"/>
                    <a:pt x="20592" y="21600"/>
                    <a:pt x="20773" y="21298"/>
                  </a:cubicBezTo>
                  <a:cubicBezTo>
                    <a:pt x="20839" y="21147"/>
                    <a:pt x="20839" y="20544"/>
                    <a:pt x="20900" y="20333"/>
                  </a:cubicBezTo>
                  <a:cubicBezTo>
                    <a:pt x="21063" y="19669"/>
                    <a:pt x="21401" y="19699"/>
                    <a:pt x="21600" y="19699"/>
                  </a:cubicBezTo>
                </a:path>
              </a:pathLst>
            </a:custGeom>
            <a:noFill/>
            <a:ln w="254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30" name="Line 8"/>
            <p:cNvSpPr>
              <a:spLocks noChangeShapeType="1"/>
            </p:cNvSpPr>
            <p:nvPr/>
          </p:nvSpPr>
          <p:spPr bwMode="auto">
            <a:xfrm flipH="1">
              <a:off x="432" y="1248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31" name="Line 9"/>
            <p:cNvSpPr>
              <a:spLocks noChangeShapeType="1"/>
            </p:cNvSpPr>
            <p:nvPr/>
          </p:nvSpPr>
          <p:spPr bwMode="auto">
            <a:xfrm flipH="1">
              <a:off x="432" y="384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32" name="Rectangle 10"/>
            <p:cNvSpPr>
              <a:spLocks/>
            </p:cNvSpPr>
            <p:nvPr/>
          </p:nvSpPr>
          <p:spPr bwMode="auto">
            <a:xfrm>
              <a:off x="0" y="1152"/>
              <a:ext cx="393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0.0V</a:t>
              </a:r>
            </a:p>
          </p:txBody>
        </p:sp>
        <p:sp>
          <p:nvSpPr>
            <p:cNvPr id="33" name="Rectangle 11"/>
            <p:cNvSpPr>
              <a:spLocks/>
            </p:cNvSpPr>
            <p:nvPr/>
          </p:nvSpPr>
          <p:spPr bwMode="auto">
            <a:xfrm>
              <a:off x="0" y="912"/>
              <a:ext cx="397" cy="23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0.2V</a:t>
              </a:r>
            </a:p>
          </p:txBody>
        </p:sp>
        <p:sp>
          <p:nvSpPr>
            <p:cNvPr id="34" name="Rectangle 12"/>
            <p:cNvSpPr>
              <a:spLocks/>
            </p:cNvSpPr>
            <p:nvPr/>
          </p:nvSpPr>
          <p:spPr bwMode="auto">
            <a:xfrm>
              <a:off x="0" y="528"/>
              <a:ext cx="397" cy="23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0.9V</a:t>
              </a:r>
            </a:p>
          </p:txBody>
        </p:sp>
        <p:sp>
          <p:nvSpPr>
            <p:cNvPr id="35" name="Rectangle 13"/>
            <p:cNvSpPr>
              <a:spLocks/>
            </p:cNvSpPr>
            <p:nvPr/>
          </p:nvSpPr>
          <p:spPr bwMode="auto">
            <a:xfrm>
              <a:off x="0" y="288"/>
              <a:ext cx="397" cy="23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1.1V</a:t>
              </a:r>
            </a:p>
          </p:txBody>
        </p:sp>
        <p:sp>
          <p:nvSpPr>
            <p:cNvPr id="36" name="Line 14"/>
            <p:cNvSpPr>
              <a:spLocks noChangeShapeType="1"/>
            </p:cNvSpPr>
            <p:nvPr/>
          </p:nvSpPr>
          <p:spPr bwMode="auto">
            <a:xfrm>
              <a:off x="576" y="96"/>
              <a:ext cx="1392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37" name="Line 15"/>
            <p:cNvSpPr>
              <a:spLocks noChangeShapeType="1"/>
            </p:cNvSpPr>
            <p:nvPr/>
          </p:nvSpPr>
          <p:spPr bwMode="auto">
            <a:xfrm>
              <a:off x="2160" y="96"/>
              <a:ext cx="1440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38" name="Line 16"/>
            <p:cNvSpPr>
              <a:spLocks noChangeShapeType="1"/>
            </p:cNvSpPr>
            <p:nvPr/>
          </p:nvSpPr>
          <p:spPr bwMode="auto">
            <a:xfrm>
              <a:off x="3792" y="96"/>
              <a:ext cx="480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39" name="Line 17"/>
            <p:cNvSpPr>
              <a:spLocks noChangeShapeType="1"/>
            </p:cNvSpPr>
            <p:nvPr/>
          </p:nvSpPr>
          <p:spPr bwMode="auto">
            <a:xfrm>
              <a:off x="1968" y="48"/>
              <a:ext cx="1" cy="1008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0" name="Line 18"/>
            <p:cNvSpPr>
              <a:spLocks noChangeShapeType="1"/>
            </p:cNvSpPr>
            <p:nvPr/>
          </p:nvSpPr>
          <p:spPr bwMode="auto">
            <a:xfrm>
              <a:off x="2160" y="48"/>
              <a:ext cx="1" cy="576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1" name="Line 19"/>
            <p:cNvSpPr>
              <a:spLocks noChangeShapeType="1"/>
            </p:cNvSpPr>
            <p:nvPr/>
          </p:nvSpPr>
          <p:spPr bwMode="auto">
            <a:xfrm>
              <a:off x="3600" y="48"/>
              <a:ext cx="1" cy="576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2" name="Line 20"/>
            <p:cNvSpPr>
              <a:spLocks noChangeShapeType="1"/>
            </p:cNvSpPr>
            <p:nvPr/>
          </p:nvSpPr>
          <p:spPr bwMode="auto">
            <a:xfrm>
              <a:off x="3792" y="48"/>
              <a:ext cx="1" cy="960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3" name="Rectangle 21"/>
            <p:cNvSpPr>
              <a:spLocks/>
            </p:cNvSpPr>
            <p:nvPr/>
          </p:nvSpPr>
          <p:spPr bwMode="auto">
            <a:xfrm>
              <a:off x="1105" y="0"/>
              <a:ext cx="304" cy="240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</a:t>
              </a:r>
            </a:p>
          </p:txBody>
        </p:sp>
        <p:sp>
          <p:nvSpPr>
            <p:cNvPr id="44" name="Rectangle 22"/>
            <p:cNvSpPr>
              <a:spLocks/>
            </p:cNvSpPr>
            <p:nvPr/>
          </p:nvSpPr>
          <p:spPr bwMode="auto">
            <a:xfrm>
              <a:off x="2641" y="0"/>
              <a:ext cx="304" cy="240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1</a:t>
              </a:r>
            </a:p>
          </p:txBody>
        </p:sp>
        <p:sp>
          <p:nvSpPr>
            <p:cNvPr id="45" name="Rectangle 23"/>
            <p:cNvSpPr>
              <a:spLocks/>
            </p:cNvSpPr>
            <p:nvPr/>
          </p:nvSpPr>
          <p:spPr bwMode="auto">
            <a:xfrm>
              <a:off x="3936" y="0"/>
              <a:ext cx="200" cy="240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</a:t>
              </a:r>
            </a:p>
          </p:txBody>
        </p:sp>
        <p:sp>
          <p:nvSpPr>
            <p:cNvPr id="46" name="Line 24"/>
            <p:cNvSpPr>
              <a:spLocks noChangeShapeType="1"/>
            </p:cNvSpPr>
            <p:nvPr/>
          </p:nvSpPr>
          <p:spPr bwMode="auto">
            <a:xfrm flipH="1">
              <a:off x="432" y="1008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7" name="Line 25"/>
            <p:cNvSpPr>
              <a:spLocks noChangeShapeType="1"/>
            </p:cNvSpPr>
            <p:nvPr/>
          </p:nvSpPr>
          <p:spPr bwMode="auto">
            <a:xfrm flipH="1">
              <a:off x="432" y="624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2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example, can count in binary</a:t>
            </a:r>
          </a:p>
        </p:txBody>
      </p:sp>
      <p:sp>
        <p:nvSpPr>
          <p:cNvPr id="9243" name="Rectangle 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2 Number Representation</a:t>
            </a:r>
          </a:p>
          <a:p>
            <a:pPr lvl="1"/>
            <a:r>
              <a:rPr lang="en-US" dirty="0"/>
              <a:t>Represent 15213</a:t>
            </a:r>
            <a:r>
              <a:rPr lang="en-US" baseline="-25000" dirty="0"/>
              <a:t>10</a:t>
            </a:r>
            <a:r>
              <a:rPr lang="en-US" dirty="0"/>
              <a:t> as 11101101101101</a:t>
            </a:r>
            <a:r>
              <a:rPr lang="en-US" baseline="-25000" dirty="0"/>
              <a:t>2</a:t>
            </a:r>
          </a:p>
          <a:p>
            <a:pPr lvl="1"/>
            <a:r>
              <a:rPr lang="en-US" dirty="0"/>
              <a:t>Represent 1.20</a:t>
            </a:r>
            <a:r>
              <a:rPr lang="en-US" baseline="-25000" dirty="0"/>
              <a:t>10</a:t>
            </a:r>
            <a:r>
              <a:rPr lang="en-US" dirty="0"/>
              <a:t> as 1.0011001100110011[0011]…</a:t>
            </a:r>
            <a:r>
              <a:rPr lang="en-US" baseline="-25000" dirty="0"/>
              <a:t>2</a:t>
            </a:r>
          </a:p>
          <a:p>
            <a:pPr lvl="1"/>
            <a:r>
              <a:rPr lang="en-US" dirty="0"/>
              <a:t>Represent 1.5213 X 10</a:t>
            </a:r>
            <a:r>
              <a:rPr lang="en-US" baseline="30000" dirty="0"/>
              <a:t>4</a:t>
            </a:r>
            <a:r>
              <a:rPr lang="en-US" dirty="0"/>
              <a:t>  as 1.1101101101101</a:t>
            </a:r>
            <a:r>
              <a:rPr lang="en-US" baseline="-25000" dirty="0"/>
              <a:t>2</a:t>
            </a:r>
            <a:r>
              <a:rPr lang="en-US" dirty="0"/>
              <a:t> X 2</a:t>
            </a:r>
            <a:r>
              <a:rPr lang="en-US" baseline="30000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26493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3" grpId="0" build="p" bldLvl="2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/>
              <a:t>Encoding Byte Values</a:t>
            </a:r>
          </a:p>
        </p:txBody>
      </p:sp>
      <p:sp>
        <p:nvSpPr>
          <p:cNvPr id="43013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Byte = 8 bits</a:t>
            </a:r>
          </a:p>
          <a:p>
            <a:pPr marL="552450" lvl="1" eaLnBrk="1" hangingPunct="1"/>
            <a:r>
              <a:rPr lang="en-US" dirty="0"/>
              <a:t>Binary 00000000</a:t>
            </a:r>
            <a:r>
              <a:rPr lang="en-US" baseline="-6000" dirty="0"/>
              <a:t>2</a:t>
            </a:r>
            <a:r>
              <a:rPr lang="en-US" dirty="0"/>
              <a:t> to 11111111</a:t>
            </a:r>
            <a:r>
              <a:rPr lang="en-US" baseline="-6000" dirty="0"/>
              <a:t>2</a:t>
            </a:r>
            <a:endParaRPr lang="en-US" dirty="0"/>
          </a:p>
          <a:p>
            <a:pPr marL="552450" lvl="1" eaLnBrk="1" hangingPunct="1"/>
            <a:r>
              <a:rPr lang="en-US" dirty="0"/>
              <a:t>Decimal: 0</a:t>
            </a:r>
            <a:r>
              <a:rPr lang="en-US" baseline="-6000" dirty="0"/>
              <a:t>10</a:t>
            </a:r>
            <a:r>
              <a:rPr lang="en-US" dirty="0"/>
              <a:t> to 255</a:t>
            </a:r>
            <a:r>
              <a:rPr lang="en-US" baseline="-6000" dirty="0"/>
              <a:t>10</a:t>
            </a:r>
            <a:endParaRPr lang="en-US" dirty="0"/>
          </a:p>
          <a:p>
            <a:pPr marL="552450" lvl="1" eaLnBrk="1" hangingPunct="1"/>
            <a:r>
              <a:rPr lang="en-US" dirty="0"/>
              <a:t>Hexadecimal 00</a:t>
            </a:r>
            <a:r>
              <a:rPr lang="en-US" baseline="-6000" dirty="0"/>
              <a:t>16</a:t>
            </a:r>
            <a:r>
              <a:rPr lang="en-US" dirty="0"/>
              <a:t> to FF</a:t>
            </a:r>
            <a:r>
              <a:rPr lang="en-US" baseline="-6000" dirty="0"/>
              <a:t>16</a:t>
            </a:r>
            <a:endParaRPr lang="en-US" dirty="0"/>
          </a:p>
          <a:p>
            <a:pPr marL="838200" lvl="2" eaLnBrk="1" hangingPunct="1"/>
            <a:r>
              <a:rPr lang="en-US" dirty="0"/>
              <a:t>Base 16 number representation</a:t>
            </a:r>
          </a:p>
          <a:p>
            <a:pPr marL="838200" lvl="2" eaLnBrk="1" hangingPunct="1"/>
            <a:r>
              <a:rPr lang="en-US" dirty="0"/>
              <a:t>Use characters ‘0’ to ‘9’ and ‘A’ to ‘F’</a:t>
            </a:r>
          </a:p>
          <a:p>
            <a:pPr marL="838200" lvl="2" eaLnBrk="1" hangingPunct="1"/>
            <a:r>
              <a:rPr lang="en-US" dirty="0"/>
              <a:t>Write FA1D37B</a:t>
            </a:r>
            <a:r>
              <a:rPr lang="en-US" baseline="-6000" dirty="0"/>
              <a:t>16</a:t>
            </a:r>
            <a:r>
              <a:rPr lang="en-US" dirty="0"/>
              <a:t> in C as</a:t>
            </a:r>
          </a:p>
          <a:p>
            <a:pPr marL="1295400" lvl="3"/>
            <a:r>
              <a:rPr lang="en-US" dirty="0"/>
              <a:t>0xFA1D37B</a:t>
            </a:r>
          </a:p>
          <a:p>
            <a:pPr marL="1295400" lvl="3"/>
            <a:r>
              <a:rPr lang="en-US" dirty="0"/>
              <a:t>0xfa1d37b </a:t>
            </a:r>
          </a:p>
          <a:p>
            <a:pPr marL="1752600" lvl="4"/>
            <a:r>
              <a:rPr lang="en-US" dirty="0">
                <a:solidFill>
                  <a:srgbClr val="FF0000"/>
                </a:solidFill>
              </a:rPr>
              <a:t>Convert in 4-bit groups</a:t>
            </a:r>
          </a:p>
          <a:p>
            <a:pPr marL="1181100" lvl="3" eaLnBrk="1" hangingPunct="1">
              <a:buNone/>
            </a:pPr>
            <a:endParaRPr lang="en-US" dirty="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553200" y="1106488"/>
            <a:ext cx="1851025" cy="4591050"/>
            <a:chOff x="0" y="0"/>
            <a:chExt cx="1166" cy="2891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0" y="507"/>
              <a:ext cx="1104" cy="2384"/>
              <a:chOff x="0" y="0"/>
              <a:chExt cx="1104" cy="2384"/>
            </a:xfrm>
          </p:grpSpPr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>
                <a:off x="0" y="0"/>
                <a:ext cx="288" cy="224"/>
                <a:chOff x="0" y="0"/>
                <a:chExt cx="288" cy="224"/>
              </a:xfrm>
            </p:grpSpPr>
            <p:sp>
              <p:nvSpPr>
                <p:cNvPr id="43161" name="Rectangle 8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62" name="Rectangle 9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</a:t>
                  </a:r>
                </a:p>
              </p:txBody>
            </p:sp>
          </p:grpSp>
          <p:grpSp>
            <p:nvGrpSpPr>
              <p:cNvPr id="5" name="Group 10"/>
              <p:cNvGrpSpPr>
                <a:grpSpLocks/>
              </p:cNvGrpSpPr>
              <p:nvPr/>
            </p:nvGrpSpPr>
            <p:grpSpPr bwMode="auto">
              <a:xfrm>
                <a:off x="288" y="0"/>
                <a:ext cx="288" cy="224"/>
                <a:chOff x="0" y="0"/>
                <a:chExt cx="288" cy="224"/>
              </a:xfrm>
            </p:grpSpPr>
            <p:sp>
              <p:nvSpPr>
                <p:cNvPr id="43159" name="Rectangle 11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60" name="Rectangle 12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</a:t>
                  </a:r>
                </a:p>
              </p:txBody>
            </p:sp>
          </p:grpSp>
          <p:grpSp>
            <p:nvGrpSpPr>
              <p:cNvPr id="6" name="Group 13"/>
              <p:cNvGrpSpPr>
                <a:grpSpLocks/>
              </p:cNvGrpSpPr>
              <p:nvPr/>
            </p:nvGrpSpPr>
            <p:grpSpPr bwMode="auto">
              <a:xfrm>
                <a:off x="576" y="0"/>
                <a:ext cx="528" cy="224"/>
                <a:chOff x="0" y="0"/>
                <a:chExt cx="528" cy="224"/>
              </a:xfrm>
            </p:grpSpPr>
            <p:sp>
              <p:nvSpPr>
                <p:cNvPr id="43157" name="Rectangle 14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58" name="Rectangle 15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0000</a:t>
                  </a:r>
                </a:p>
              </p:txBody>
            </p:sp>
          </p:grpSp>
          <p:grpSp>
            <p:nvGrpSpPr>
              <p:cNvPr id="7" name="Group 16"/>
              <p:cNvGrpSpPr>
                <a:grpSpLocks/>
              </p:cNvGrpSpPr>
              <p:nvPr/>
            </p:nvGrpSpPr>
            <p:grpSpPr bwMode="auto">
              <a:xfrm>
                <a:off x="0" y="144"/>
                <a:ext cx="288" cy="224"/>
                <a:chOff x="0" y="0"/>
                <a:chExt cx="288" cy="224"/>
              </a:xfrm>
            </p:grpSpPr>
            <p:sp>
              <p:nvSpPr>
                <p:cNvPr id="43155" name="Rectangle 17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56" name="Rectangle 18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</a:t>
                  </a:r>
                </a:p>
              </p:txBody>
            </p:sp>
          </p:grpSp>
          <p:grpSp>
            <p:nvGrpSpPr>
              <p:cNvPr id="8" name="Group 19"/>
              <p:cNvGrpSpPr>
                <a:grpSpLocks/>
              </p:cNvGrpSpPr>
              <p:nvPr/>
            </p:nvGrpSpPr>
            <p:grpSpPr bwMode="auto">
              <a:xfrm>
                <a:off x="288" y="144"/>
                <a:ext cx="288" cy="224"/>
                <a:chOff x="0" y="0"/>
                <a:chExt cx="288" cy="224"/>
              </a:xfrm>
            </p:grpSpPr>
            <p:sp>
              <p:nvSpPr>
                <p:cNvPr id="43153" name="Rectangle 20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54" name="Rectangle 21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</a:t>
                  </a:r>
                </a:p>
              </p:txBody>
            </p:sp>
          </p:grpSp>
          <p:grpSp>
            <p:nvGrpSpPr>
              <p:cNvPr id="9" name="Group 22"/>
              <p:cNvGrpSpPr>
                <a:grpSpLocks/>
              </p:cNvGrpSpPr>
              <p:nvPr/>
            </p:nvGrpSpPr>
            <p:grpSpPr bwMode="auto">
              <a:xfrm>
                <a:off x="576" y="144"/>
                <a:ext cx="528" cy="224"/>
                <a:chOff x="0" y="0"/>
                <a:chExt cx="528" cy="224"/>
              </a:xfrm>
            </p:grpSpPr>
            <p:sp>
              <p:nvSpPr>
                <p:cNvPr id="43151" name="Rectangle 23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52" name="Rectangle 24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0001</a:t>
                  </a:r>
                </a:p>
              </p:txBody>
            </p:sp>
          </p:grpSp>
          <p:grpSp>
            <p:nvGrpSpPr>
              <p:cNvPr id="10" name="Group 25"/>
              <p:cNvGrpSpPr>
                <a:grpSpLocks/>
              </p:cNvGrpSpPr>
              <p:nvPr/>
            </p:nvGrpSpPr>
            <p:grpSpPr bwMode="auto">
              <a:xfrm>
                <a:off x="0" y="288"/>
                <a:ext cx="288" cy="224"/>
                <a:chOff x="0" y="0"/>
                <a:chExt cx="288" cy="224"/>
              </a:xfrm>
            </p:grpSpPr>
            <p:sp>
              <p:nvSpPr>
                <p:cNvPr id="43149" name="Rectangle 26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50" name="Rectangle 27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2</a:t>
                  </a:r>
                </a:p>
              </p:txBody>
            </p:sp>
          </p:grpSp>
          <p:grpSp>
            <p:nvGrpSpPr>
              <p:cNvPr id="11" name="Group 28"/>
              <p:cNvGrpSpPr>
                <a:grpSpLocks/>
              </p:cNvGrpSpPr>
              <p:nvPr/>
            </p:nvGrpSpPr>
            <p:grpSpPr bwMode="auto">
              <a:xfrm>
                <a:off x="288" y="288"/>
                <a:ext cx="288" cy="224"/>
                <a:chOff x="0" y="0"/>
                <a:chExt cx="288" cy="224"/>
              </a:xfrm>
            </p:grpSpPr>
            <p:sp>
              <p:nvSpPr>
                <p:cNvPr id="43147" name="Rectangle 29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48" name="Rectangle 30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2</a:t>
                  </a:r>
                </a:p>
              </p:txBody>
            </p:sp>
          </p:grpSp>
          <p:grpSp>
            <p:nvGrpSpPr>
              <p:cNvPr id="12" name="Group 31"/>
              <p:cNvGrpSpPr>
                <a:grpSpLocks/>
              </p:cNvGrpSpPr>
              <p:nvPr/>
            </p:nvGrpSpPr>
            <p:grpSpPr bwMode="auto">
              <a:xfrm>
                <a:off x="576" y="288"/>
                <a:ext cx="528" cy="224"/>
                <a:chOff x="0" y="0"/>
                <a:chExt cx="528" cy="224"/>
              </a:xfrm>
            </p:grpSpPr>
            <p:sp>
              <p:nvSpPr>
                <p:cNvPr id="43145" name="Rectangle 32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46" name="Rectangle 33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0010</a:t>
                  </a:r>
                </a:p>
              </p:txBody>
            </p:sp>
          </p:grpSp>
          <p:grpSp>
            <p:nvGrpSpPr>
              <p:cNvPr id="13" name="Group 34"/>
              <p:cNvGrpSpPr>
                <a:grpSpLocks/>
              </p:cNvGrpSpPr>
              <p:nvPr/>
            </p:nvGrpSpPr>
            <p:grpSpPr bwMode="auto">
              <a:xfrm>
                <a:off x="0" y="432"/>
                <a:ext cx="288" cy="224"/>
                <a:chOff x="0" y="0"/>
                <a:chExt cx="288" cy="224"/>
              </a:xfrm>
            </p:grpSpPr>
            <p:sp>
              <p:nvSpPr>
                <p:cNvPr id="43143" name="Rectangle 35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44" name="Rectangle 36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3</a:t>
                  </a:r>
                </a:p>
              </p:txBody>
            </p:sp>
          </p:grpSp>
          <p:grpSp>
            <p:nvGrpSpPr>
              <p:cNvPr id="14" name="Group 37"/>
              <p:cNvGrpSpPr>
                <a:grpSpLocks/>
              </p:cNvGrpSpPr>
              <p:nvPr/>
            </p:nvGrpSpPr>
            <p:grpSpPr bwMode="auto">
              <a:xfrm>
                <a:off x="288" y="432"/>
                <a:ext cx="288" cy="224"/>
                <a:chOff x="0" y="0"/>
                <a:chExt cx="288" cy="224"/>
              </a:xfrm>
            </p:grpSpPr>
            <p:sp>
              <p:nvSpPr>
                <p:cNvPr id="43141" name="Rectangle 38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42" name="Rectangle 39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3</a:t>
                  </a:r>
                </a:p>
              </p:txBody>
            </p:sp>
          </p:grpSp>
          <p:grpSp>
            <p:nvGrpSpPr>
              <p:cNvPr id="15" name="Group 40"/>
              <p:cNvGrpSpPr>
                <a:grpSpLocks/>
              </p:cNvGrpSpPr>
              <p:nvPr/>
            </p:nvGrpSpPr>
            <p:grpSpPr bwMode="auto">
              <a:xfrm>
                <a:off x="576" y="432"/>
                <a:ext cx="528" cy="224"/>
                <a:chOff x="0" y="0"/>
                <a:chExt cx="528" cy="224"/>
              </a:xfrm>
            </p:grpSpPr>
            <p:sp>
              <p:nvSpPr>
                <p:cNvPr id="43139" name="Rectangle 41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40" name="Rectangle 42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0011</a:t>
                  </a:r>
                </a:p>
              </p:txBody>
            </p:sp>
          </p:grpSp>
          <p:grpSp>
            <p:nvGrpSpPr>
              <p:cNvPr id="16" name="Group 43"/>
              <p:cNvGrpSpPr>
                <a:grpSpLocks/>
              </p:cNvGrpSpPr>
              <p:nvPr/>
            </p:nvGrpSpPr>
            <p:grpSpPr bwMode="auto">
              <a:xfrm>
                <a:off x="0" y="576"/>
                <a:ext cx="288" cy="224"/>
                <a:chOff x="0" y="0"/>
                <a:chExt cx="288" cy="224"/>
              </a:xfrm>
            </p:grpSpPr>
            <p:sp>
              <p:nvSpPr>
                <p:cNvPr id="43137" name="Rectangle 44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38" name="Rectangle 45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4</a:t>
                  </a:r>
                </a:p>
              </p:txBody>
            </p:sp>
          </p:grpSp>
          <p:grpSp>
            <p:nvGrpSpPr>
              <p:cNvPr id="17" name="Group 46"/>
              <p:cNvGrpSpPr>
                <a:grpSpLocks/>
              </p:cNvGrpSpPr>
              <p:nvPr/>
            </p:nvGrpSpPr>
            <p:grpSpPr bwMode="auto">
              <a:xfrm>
                <a:off x="288" y="576"/>
                <a:ext cx="288" cy="224"/>
                <a:chOff x="0" y="0"/>
                <a:chExt cx="288" cy="224"/>
              </a:xfrm>
            </p:grpSpPr>
            <p:sp>
              <p:nvSpPr>
                <p:cNvPr id="43135" name="Rectangle 47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36" name="Rectangle 48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4</a:t>
                  </a:r>
                </a:p>
              </p:txBody>
            </p:sp>
          </p:grpSp>
          <p:grpSp>
            <p:nvGrpSpPr>
              <p:cNvPr id="18" name="Group 49"/>
              <p:cNvGrpSpPr>
                <a:grpSpLocks/>
              </p:cNvGrpSpPr>
              <p:nvPr/>
            </p:nvGrpSpPr>
            <p:grpSpPr bwMode="auto">
              <a:xfrm>
                <a:off x="576" y="576"/>
                <a:ext cx="528" cy="224"/>
                <a:chOff x="0" y="0"/>
                <a:chExt cx="528" cy="224"/>
              </a:xfrm>
            </p:grpSpPr>
            <p:sp>
              <p:nvSpPr>
                <p:cNvPr id="43133" name="Rectangle 50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34" name="Rectangle 51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0100</a:t>
                  </a:r>
                </a:p>
              </p:txBody>
            </p:sp>
          </p:grpSp>
          <p:grpSp>
            <p:nvGrpSpPr>
              <p:cNvPr id="19" name="Group 52"/>
              <p:cNvGrpSpPr>
                <a:grpSpLocks/>
              </p:cNvGrpSpPr>
              <p:nvPr/>
            </p:nvGrpSpPr>
            <p:grpSpPr bwMode="auto">
              <a:xfrm>
                <a:off x="0" y="720"/>
                <a:ext cx="288" cy="224"/>
                <a:chOff x="0" y="0"/>
                <a:chExt cx="288" cy="224"/>
              </a:xfrm>
            </p:grpSpPr>
            <p:sp>
              <p:nvSpPr>
                <p:cNvPr id="43131" name="Rectangle 53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32" name="Rectangle 54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5</a:t>
                  </a:r>
                </a:p>
              </p:txBody>
            </p:sp>
          </p:grpSp>
          <p:grpSp>
            <p:nvGrpSpPr>
              <p:cNvPr id="20" name="Group 55"/>
              <p:cNvGrpSpPr>
                <a:grpSpLocks/>
              </p:cNvGrpSpPr>
              <p:nvPr/>
            </p:nvGrpSpPr>
            <p:grpSpPr bwMode="auto">
              <a:xfrm>
                <a:off x="288" y="720"/>
                <a:ext cx="288" cy="224"/>
                <a:chOff x="0" y="0"/>
                <a:chExt cx="288" cy="224"/>
              </a:xfrm>
            </p:grpSpPr>
            <p:sp>
              <p:nvSpPr>
                <p:cNvPr id="43129" name="Rectangle 56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30" name="Rectangle 57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5</a:t>
                  </a:r>
                </a:p>
              </p:txBody>
            </p:sp>
          </p:grpSp>
          <p:grpSp>
            <p:nvGrpSpPr>
              <p:cNvPr id="21" name="Group 58"/>
              <p:cNvGrpSpPr>
                <a:grpSpLocks/>
              </p:cNvGrpSpPr>
              <p:nvPr/>
            </p:nvGrpSpPr>
            <p:grpSpPr bwMode="auto">
              <a:xfrm>
                <a:off x="576" y="720"/>
                <a:ext cx="528" cy="224"/>
                <a:chOff x="0" y="0"/>
                <a:chExt cx="528" cy="224"/>
              </a:xfrm>
            </p:grpSpPr>
            <p:sp>
              <p:nvSpPr>
                <p:cNvPr id="43127" name="Rectangle 59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28" name="Rectangle 60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0101</a:t>
                  </a:r>
                </a:p>
              </p:txBody>
            </p:sp>
          </p:grpSp>
          <p:grpSp>
            <p:nvGrpSpPr>
              <p:cNvPr id="22" name="Group 61"/>
              <p:cNvGrpSpPr>
                <a:grpSpLocks/>
              </p:cNvGrpSpPr>
              <p:nvPr/>
            </p:nvGrpSpPr>
            <p:grpSpPr bwMode="auto">
              <a:xfrm>
                <a:off x="0" y="864"/>
                <a:ext cx="288" cy="224"/>
                <a:chOff x="0" y="0"/>
                <a:chExt cx="288" cy="224"/>
              </a:xfrm>
            </p:grpSpPr>
            <p:sp>
              <p:nvSpPr>
                <p:cNvPr id="43125" name="Rectangle 62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26" name="Rectangle 63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6</a:t>
                  </a:r>
                </a:p>
              </p:txBody>
            </p:sp>
          </p:grpSp>
          <p:grpSp>
            <p:nvGrpSpPr>
              <p:cNvPr id="23" name="Group 64"/>
              <p:cNvGrpSpPr>
                <a:grpSpLocks/>
              </p:cNvGrpSpPr>
              <p:nvPr/>
            </p:nvGrpSpPr>
            <p:grpSpPr bwMode="auto">
              <a:xfrm>
                <a:off x="288" y="864"/>
                <a:ext cx="288" cy="224"/>
                <a:chOff x="0" y="0"/>
                <a:chExt cx="288" cy="224"/>
              </a:xfrm>
            </p:grpSpPr>
            <p:sp>
              <p:nvSpPr>
                <p:cNvPr id="43123" name="Rectangle 65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24" name="Rectangle 66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6</a:t>
                  </a:r>
                </a:p>
              </p:txBody>
            </p:sp>
          </p:grpSp>
          <p:grpSp>
            <p:nvGrpSpPr>
              <p:cNvPr id="24" name="Group 67"/>
              <p:cNvGrpSpPr>
                <a:grpSpLocks/>
              </p:cNvGrpSpPr>
              <p:nvPr/>
            </p:nvGrpSpPr>
            <p:grpSpPr bwMode="auto">
              <a:xfrm>
                <a:off x="576" y="864"/>
                <a:ext cx="528" cy="224"/>
                <a:chOff x="0" y="0"/>
                <a:chExt cx="528" cy="224"/>
              </a:xfrm>
            </p:grpSpPr>
            <p:sp>
              <p:nvSpPr>
                <p:cNvPr id="43121" name="Rectangle 68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22" name="Rectangle 69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0110</a:t>
                  </a:r>
                </a:p>
              </p:txBody>
            </p:sp>
          </p:grpSp>
          <p:grpSp>
            <p:nvGrpSpPr>
              <p:cNvPr id="25" name="Group 70"/>
              <p:cNvGrpSpPr>
                <a:grpSpLocks/>
              </p:cNvGrpSpPr>
              <p:nvPr/>
            </p:nvGrpSpPr>
            <p:grpSpPr bwMode="auto">
              <a:xfrm>
                <a:off x="0" y="1008"/>
                <a:ext cx="288" cy="224"/>
                <a:chOff x="0" y="0"/>
                <a:chExt cx="288" cy="224"/>
              </a:xfrm>
            </p:grpSpPr>
            <p:sp>
              <p:nvSpPr>
                <p:cNvPr id="43119" name="Rectangle 71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20" name="Rectangle 72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7</a:t>
                  </a:r>
                </a:p>
              </p:txBody>
            </p:sp>
          </p:grpSp>
          <p:grpSp>
            <p:nvGrpSpPr>
              <p:cNvPr id="26" name="Group 73"/>
              <p:cNvGrpSpPr>
                <a:grpSpLocks/>
              </p:cNvGrpSpPr>
              <p:nvPr/>
            </p:nvGrpSpPr>
            <p:grpSpPr bwMode="auto">
              <a:xfrm>
                <a:off x="288" y="1008"/>
                <a:ext cx="288" cy="224"/>
                <a:chOff x="0" y="0"/>
                <a:chExt cx="288" cy="224"/>
              </a:xfrm>
            </p:grpSpPr>
            <p:sp>
              <p:nvSpPr>
                <p:cNvPr id="43117" name="Rectangle 74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18" name="Rectangle 75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7</a:t>
                  </a:r>
                </a:p>
              </p:txBody>
            </p:sp>
          </p:grpSp>
          <p:grpSp>
            <p:nvGrpSpPr>
              <p:cNvPr id="27" name="Group 76"/>
              <p:cNvGrpSpPr>
                <a:grpSpLocks/>
              </p:cNvGrpSpPr>
              <p:nvPr/>
            </p:nvGrpSpPr>
            <p:grpSpPr bwMode="auto">
              <a:xfrm>
                <a:off x="576" y="1008"/>
                <a:ext cx="528" cy="224"/>
                <a:chOff x="0" y="0"/>
                <a:chExt cx="528" cy="224"/>
              </a:xfrm>
            </p:grpSpPr>
            <p:sp>
              <p:nvSpPr>
                <p:cNvPr id="43115" name="Rectangle 77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16" name="Rectangle 78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0111</a:t>
                  </a:r>
                </a:p>
              </p:txBody>
            </p:sp>
          </p:grpSp>
          <p:grpSp>
            <p:nvGrpSpPr>
              <p:cNvPr id="28" name="Group 79"/>
              <p:cNvGrpSpPr>
                <a:grpSpLocks/>
              </p:cNvGrpSpPr>
              <p:nvPr/>
            </p:nvGrpSpPr>
            <p:grpSpPr bwMode="auto">
              <a:xfrm>
                <a:off x="0" y="1152"/>
                <a:ext cx="288" cy="224"/>
                <a:chOff x="0" y="0"/>
                <a:chExt cx="288" cy="224"/>
              </a:xfrm>
            </p:grpSpPr>
            <p:sp>
              <p:nvSpPr>
                <p:cNvPr id="43113" name="Rectangle 80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14" name="Rectangle 81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8</a:t>
                  </a:r>
                </a:p>
              </p:txBody>
            </p:sp>
          </p:grpSp>
          <p:grpSp>
            <p:nvGrpSpPr>
              <p:cNvPr id="29" name="Group 82"/>
              <p:cNvGrpSpPr>
                <a:grpSpLocks/>
              </p:cNvGrpSpPr>
              <p:nvPr/>
            </p:nvGrpSpPr>
            <p:grpSpPr bwMode="auto">
              <a:xfrm>
                <a:off x="288" y="1152"/>
                <a:ext cx="288" cy="224"/>
                <a:chOff x="0" y="0"/>
                <a:chExt cx="288" cy="224"/>
              </a:xfrm>
            </p:grpSpPr>
            <p:sp>
              <p:nvSpPr>
                <p:cNvPr id="43111" name="Rectangle 83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12" name="Rectangle 84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8</a:t>
                  </a:r>
                </a:p>
              </p:txBody>
            </p:sp>
          </p:grpSp>
          <p:grpSp>
            <p:nvGrpSpPr>
              <p:cNvPr id="30" name="Group 85"/>
              <p:cNvGrpSpPr>
                <a:grpSpLocks/>
              </p:cNvGrpSpPr>
              <p:nvPr/>
            </p:nvGrpSpPr>
            <p:grpSpPr bwMode="auto">
              <a:xfrm>
                <a:off x="576" y="1152"/>
                <a:ext cx="528" cy="224"/>
                <a:chOff x="0" y="0"/>
                <a:chExt cx="528" cy="224"/>
              </a:xfrm>
            </p:grpSpPr>
            <p:sp>
              <p:nvSpPr>
                <p:cNvPr id="43109" name="Rectangle 86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10" name="Rectangle 87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1000</a:t>
                  </a:r>
                </a:p>
              </p:txBody>
            </p:sp>
          </p:grpSp>
          <p:grpSp>
            <p:nvGrpSpPr>
              <p:cNvPr id="31" name="Group 88"/>
              <p:cNvGrpSpPr>
                <a:grpSpLocks/>
              </p:cNvGrpSpPr>
              <p:nvPr/>
            </p:nvGrpSpPr>
            <p:grpSpPr bwMode="auto">
              <a:xfrm>
                <a:off x="0" y="1296"/>
                <a:ext cx="288" cy="224"/>
                <a:chOff x="0" y="0"/>
                <a:chExt cx="288" cy="224"/>
              </a:xfrm>
            </p:grpSpPr>
            <p:sp>
              <p:nvSpPr>
                <p:cNvPr id="43107" name="Rectangle 89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08" name="Rectangle 90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9</a:t>
                  </a:r>
                </a:p>
              </p:txBody>
            </p:sp>
          </p:grpSp>
          <p:grpSp>
            <p:nvGrpSpPr>
              <p:cNvPr id="43008" name="Group 91"/>
              <p:cNvGrpSpPr>
                <a:grpSpLocks/>
              </p:cNvGrpSpPr>
              <p:nvPr/>
            </p:nvGrpSpPr>
            <p:grpSpPr bwMode="auto">
              <a:xfrm>
                <a:off x="288" y="1296"/>
                <a:ext cx="288" cy="224"/>
                <a:chOff x="0" y="0"/>
                <a:chExt cx="288" cy="224"/>
              </a:xfrm>
            </p:grpSpPr>
            <p:sp>
              <p:nvSpPr>
                <p:cNvPr id="43105" name="Rectangle 92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06" name="Rectangle 93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9</a:t>
                  </a:r>
                </a:p>
              </p:txBody>
            </p:sp>
          </p:grpSp>
          <p:grpSp>
            <p:nvGrpSpPr>
              <p:cNvPr id="43009" name="Group 94"/>
              <p:cNvGrpSpPr>
                <a:grpSpLocks/>
              </p:cNvGrpSpPr>
              <p:nvPr/>
            </p:nvGrpSpPr>
            <p:grpSpPr bwMode="auto">
              <a:xfrm>
                <a:off x="576" y="1296"/>
                <a:ext cx="528" cy="224"/>
                <a:chOff x="0" y="0"/>
                <a:chExt cx="528" cy="224"/>
              </a:xfrm>
            </p:grpSpPr>
            <p:sp>
              <p:nvSpPr>
                <p:cNvPr id="43103" name="Rectangle 95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04" name="Rectangle 96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1001</a:t>
                  </a:r>
                </a:p>
              </p:txBody>
            </p:sp>
          </p:grpSp>
          <p:grpSp>
            <p:nvGrpSpPr>
              <p:cNvPr id="43014" name="Group 97"/>
              <p:cNvGrpSpPr>
                <a:grpSpLocks/>
              </p:cNvGrpSpPr>
              <p:nvPr/>
            </p:nvGrpSpPr>
            <p:grpSpPr bwMode="auto">
              <a:xfrm>
                <a:off x="0" y="1440"/>
                <a:ext cx="288" cy="224"/>
                <a:chOff x="0" y="0"/>
                <a:chExt cx="288" cy="224"/>
              </a:xfrm>
            </p:grpSpPr>
            <p:sp>
              <p:nvSpPr>
                <p:cNvPr id="43101" name="Rectangle 98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02" name="Rectangle 99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A</a:t>
                  </a:r>
                </a:p>
              </p:txBody>
            </p:sp>
          </p:grpSp>
          <p:grpSp>
            <p:nvGrpSpPr>
              <p:cNvPr id="43015" name="Group 100"/>
              <p:cNvGrpSpPr>
                <a:grpSpLocks/>
              </p:cNvGrpSpPr>
              <p:nvPr/>
            </p:nvGrpSpPr>
            <p:grpSpPr bwMode="auto">
              <a:xfrm>
                <a:off x="288" y="1440"/>
                <a:ext cx="288" cy="224"/>
                <a:chOff x="0" y="0"/>
                <a:chExt cx="288" cy="224"/>
              </a:xfrm>
            </p:grpSpPr>
            <p:sp>
              <p:nvSpPr>
                <p:cNvPr id="43099" name="Rectangle 101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00" name="Rectangle 102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</a:t>
                  </a:r>
                </a:p>
              </p:txBody>
            </p:sp>
          </p:grpSp>
          <p:grpSp>
            <p:nvGrpSpPr>
              <p:cNvPr id="43019" name="Group 103"/>
              <p:cNvGrpSpPr>
                <a:grpSpLocks/>
              </p:cNvGrpSpPr>
              <p:nvPr/>
            </p:nvGrpSpPr>
            <p:grpSpPr bwMode="auto">
              <a:xfrm>
                <a:off x="576" y="1440"/>
                <a:ext cx="528" cy="224"/>
                <a:chOff x="0" y="0"/>
                <a:chExt cx="528" cy="224"/>
              </a:xfrm>
            </p:grpSpPr>
            <p:sp>
              <p:nvSpPr>
                <p:cNvPr id="43097" name="Rectangle 104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98" name="Rectangle 105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1010</a:t>
                  </a:r>
                </a:p>
              </p:txBody>
            </p:sp>
          </p:grpSp>
          <p:grpSp>
            <p:nvGrpSpPr>
              <p:cNvPr id="43020" name="Group 106"/>
              <p:cNvGrpSpPr>
                <a:grpSpLocks/>
              </p:cNvGrpSpPr>
              <p:nvPr/>
            </p:nvGrpSpPr>
            <p:grpSpPr bwMode="auto">
              <a:xfrm>
                <a:off x="0" y="1584"/>
                <a:ext cx="288" cy="224"/>
                <a:chOff x="0" y="0"/>
                <a:chExt cx="288" cy="224"/>
              </a:xfrm>
            </p:grpSpPr>
            <p:sp>
              <p:nvSpPr>
                <p:cNvPr id="43095" name="Rectangle 107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96" name="Rectangle 108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B</a:t>
                  </a:r>
                </a:p>
              </p:txBody>
            </p:sp>
          </p:grpSp>
          <p:grpSp>
            <p:nvGrpSpPr>
              <p:cNvPr id="43021" name="Group 109"/>
              <p:cNvGrpSpPr>
                <a:grpSpLocks/>
              </p:cNvGrpSpPr>
              <p:nvPr/>
            </p:nvGrpSpPr>
            <p:grpSpPr bwMode="auto">
              <a:xfrm>
                <a:off x="288" y="1584"/>
                <a:ext cx="288" cy="224"/>
                <a:chOff x="0" y="0"/>
                <a:chExt cx="288" cy="224"/>
              </a:xfrm>
            </p:grpSpPr>
            <p:sp>
              <p:nvSpPr>
                <p:cNvPr id="43093" name="Rectangle 110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94" name="Rectangle 111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</a:t>
                  </a:r>
                </a:p>
              </p:txBody>
            </p:sp>
          </p:grpSp>
          <p:grpSp>
            <p:nvGrpSpPr>
              <p:cNvPr id="43022" name="Group 112"/>
              <p:cNvGrpSpPr>
                <a:grpSpLocks/>
              </p:cNvGrpSpPr>
              <p:nvPr/>
            </p:nvGrpSpPr>
            <p:grpSpPr bwMode="auto">
              <a:xfrm>
                <a:off x="576" y="1584"/>
                <a:ext cx="528" cy="224"/>
                <a:chOff x="0" y="0"/>
                <a:chExt cx="528" cy="224"/>
              </a:xfrm>
            </p:grpSpPr>
            <p:sp>
              <p:nvSpPr>
                <p:cNvPr id="43091" name="Rectangle 113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92" name="Rectangle 114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1011</a:t>
                  </a:r>
                </a:p>
              </p:txBody>
            </p:sp>
          </p:grpSp>
          <p:grpSp>
            <p:nvGrpSpPr>
              <p:cNvPr id="43023" name="Group 115"/>
              <p:cNvGrpSpPr>
                <a:grpSpLocks/>
              </p:cNvGrpSpPr>
              <p:nvPr/>
            </p:nvGrpSpPr>
            <p:grpSpPr bwMode="auto">
              <a:xfrm>
                <a:off x="0" y="1728"/>
                <a:ext cx="288" cy="224"/>
                <a:chOff x="0" y="0"/>
                <a:chExt cx="288" cy="224"/>
              </a:xfrm>
            </p:grpSpPr>
            <p:sp>
              <p:nvSpPr>
                <p:cNvPr id="43089" name="Rectangle 116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90" name="Rectangle 117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C</a:t>
                  </a:r>
                </a:p>
              </p:txBody>
            </p:sp>
          </p:grpSp>
          <p:grpSp>
            <p:nvGrpSpPr>
              <p:cNvPr id="43024" name="Group 118"/>
              <p:cNvGrpSpPr>
                <a:grpSpLocks/>
              </p:cNvGrpSpPr>
              <p:nvPr/>
            </p:nvGrpSpPr>
            <p:grpSpPr bwMode="auto">
              <a:xfrm>
                <a:off x="288" y="1728"/>
                <a:ext cx="288" cy="224"/>
                <a:chOff x="0" y="0"/>
                <a:chExt cx="288" cy="224"/>
              </a:xfrm>
            </p:grpSpPr>
            <p:sp>
              <p:nvSpPr>
                <p:cNvPr id="43087" name="Rectangle 119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88" name="Rectangle 120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12</a:t>
                  </a:r>
                </a:p>
              </p:txBody>
            </p:sp>
          </p:grpSp>
          <p:grpSp>
            <p:nvGrpSpPr>
              <p:cNvPr id="43025" name="Group 121"/>
              <p:cNvGrpSpPr>
                <a:grpSpLocks/>
              </p:cNvGrpSpPr>
              <p:nvPr/>
            </p:nvGrpSpPr>
            <p:grpSpPr bwMode="auto">
              <a:xfrm>
                <a:off x="576" y="1728"/>
                <a:ext cx="528" cy="224"/>
                <a:chOff x="0" y="0"/>
                <a:chExt cx="528" cy="224"/>
              </a:xfrm>
            </p:grpSpPr>
            <p:sp>
              <p:nvSpPr>
                <p:cNvPr id="43085" name="Rectangle 122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86" name="Rectangle 123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1100</a:t>
                  </a:r>
                </a:p>
              </p:txBody>
            </p:sp>
          </p:grpSp>
          <p:grpSp>
            <p:nvGrpSpPr>
              <p:cNvPr id="43026" name="Group 124"/>
              <p:cNvGrpSpPr>
                <a:grpSpLocks/>
              </p:cNvGrpSpPr>
              <p:nvPr/>
            </p:nvGrpSpPr>
            <p:grpSpPr bwMode="auto">
              <a:xfrm>
                <a:off x="0" y="1872"/>
                <a:ext cx="288" cy="224"/>
                <a:chOff x="0" y="0"/>
                <a:chExt cx="288" cy="224"/>
              </a:xfrm>
            </p:grpSpPr>
            <p:sp>
              <p:nvSpPr>
                <p:cNvPr id="43083" name="Rectangle 125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84" name="Rectangle 126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D</a:t>
                  </a:r>
                </a:p>
              </p:txBody>
            </p:sp>
          </p:grpSp>
          <p:grpSp>
            <p:nvGrpSpPr>
              <p:cNvPr id="43027" name="Group 127"/>
              <p:cNvGrpSpPr>
                <a:grpSpLocks/>
              </p:cNvGrpSpPr>
              <p:nvPr/>
            </p:nvGrpSpPr>
            <p:grpSpPr bwMode="auto">
              <a:xfrm>
                <a:off x="288" y="1872"/>
                <a:ext cx="288" cy="224"/>
                <a:chOff x="0" y="0"/>
                <a:chExt cx="288" cy="224"/>
              </a:xfrm>
            </p:grpSpPr>
            <p:sp>
              <p:nvSpPr>
                <p:cNvPr id="43081" name="Rectangle 128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82" name="Rectangle 129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13</a:t>
                  </a:r>
                </a:p>
              </p:txBody>
            </p:sp>
          </p:grpSp>
          <p:grpSp>
            <p:nvGrpSpPr>
              <p:cNvPr id="43028" name="Group 130"/>
              <p:cNvGrpSpPr>
                <a:grpSpLocks/>
              </p:cNvGrpSpPr>
              <p:nvPr/>
            </p:nvGrpSpPr>
            <p:grpSpPr bwMode="auto">
              <a:xfrm>
                <a:off x="576" y="1872"/>
                <a:ext cx="528" cy="224"/>
                <a:chOff x="0" y="0"/>
                <a:chExt cx="528" cy="224"/>
              </a:xfrm>
            </p:grpSpPr>
            <p:sp>
              <p:nvSpPr>
                <p:cNvPr id="43079" name="Rectangle 131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80" name="Rectangle 132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1101</a:t>
                  </a:r>
                </a:p>
              </p:txBody>
            </p:sp>
          </p:grpSp>
          <p:grpSp>
            <p:nvGrpSpPr>
              <p:cNvPr id="43029" name="Group 133"/>
              <p:cNvGrpSpPr>
                <a:grpSpLocks/>
              </p:cNvGrpSpPr>
              <p:nvPr/>
            </p:nvGrpSpPr>
            <p:grpSpPr bwMode="auto">
              <a:xfrm>
                <a:off x="0" y="2016"/>
                <a:ext cx="288" cy="224"/>
                <a:chOff x="0" y="0"/>
                <a:chExt cx="288" cy="224"/>
              </a:xfrm>
            </p:grpSpPr>
            <p:sp>
              <p:nvSpPr>
                <p:cNvPr id="43077" name="Rectangle 134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78" name="Rectangle 135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E</a:t>
                  </a:r>
                </a:p>
              </p:txBody>
            </p:sp>
          </p:grpSp>
          <p:grpSp>
            <p:nvGrpSpPr>
              <p:cNvPr id="43030" name="Group 136"/>
              <p:cNvGrpSpPr>
                <a:grpSpLocks/>
              </p:cNvGrpSpPr>
              <p:nvPr/>
            </p:nvGrpSpPr>
            <p:grpSpPr bwMode="auto">
              <a:xfrm>
                <a:off x="288" y="2016"/>
                <a:ext cx="288" cy="224"/>
                <a:chOff x="0" y="0"/>
                <a:chExt cx="288" cy="224"/>
              </a:xfrm>
            </p:grpSpPr>
            <p:sp>
              <p:nvSpPr>
                <p:cNvPr id="43075" name="Rectangle 137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76" name="Rectangle 138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14</a:t>
                  </a:r>
                </a:p>
              </p:txBody>
            </p:sp>
          </p:grpSp>
          <p:grpSp>
            <p:nvGrpSpPr>
              <p:cNvPr id="43031" name="Group 139"/>
              <p:cNvGrpSpPr>
                <a:grpSpLocks/>
              </p:cNvGrpSpPr>
              <p:nvPr/>
            </p:nvGrpSpPr>
            <p:grpSpPr bwMode="auto">
              <a:xfrm>
                <a:off x="576" y="2016"/>
                <a:ext cx="528" cy="224"/>
                <a:chOff x="0" y="0"/>
                <a:chExt cx="528" cy="224"/>
              </a:xfrm>
            </p:grpSpPr>
            <p:sp>
              <p:nvSpPr>
                <p:cNvPr id="43073" name="Rectangle 140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74" name="Rectangle 141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1110</a:t>
                  </a:r>
                </a:p>
              </p:txBody>
            </p:sp>
          </p:grpSp>
          <p:grpSp>
            <p:nvGrpSpPr>
              <p:cNvPr id="43032" name="Group 142"/>
              <p:cNvGrpSpPr>
                <a:grpSpLocks/>
              </p:cNvGrpSpPr>
              <p:nvPr/>
            </p:nvGrpSpPr>
            <p:grpSpPr bwMode="auto">
              <a:xfrm>
                <a:off x="0" y="2160"/>
                <a:ext cx="288" cy="224"/>
                <a:chOff x="0" y="0"/>
                <a:chExt cx="288" cy="224"/>
              </a:xfrm>
            </p:grpSpPr>
            <p:sp>
              <p:nvSpPr>
                <p:cNvPr id="43071" name="Rectangle 143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72" name="Rectangle 144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F</a:t>
                  </a:r>
                </a:p>
              </p:txBody>
            </p:sp>
          </p:grpSp>
          <p:grpSp>
            <p:nvGrpSpPr>
              <p:cNvPr id="43033" name="Group 145"/>
              <p:cNvGrpSpPr>
                <a:grpSpLocks/>
              </p:cNvGrpSpPr>
              <p:nvPr/>
            </p:nvGrpSpPr>
            <p:grpSpPr bwMode="auto">
              <a:xfrm>
                <a:off x="288" y="2160"/>
                <a:ext cx="288" cy="224"/>
                <a:chOff x="0" y="0"/>
                <a:chExt cx="288" cy="224"/>
              </a:xfrm>
            </p:grpSpPr>
            <p:sp>
              <p:nvSpPr>
                <p:cNvPr id="43069" name="Rectangle 146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70" name="Rectangle 147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15</a:t>
                  </a:r>
                </a:p>
              </p:txBody>
            </p:sp>
          </p:grpSp>
          <p:grpSp>
            <p:nvGrpSpPr>
              <p:cNvPr id="43034" name="Group 148"/>
              <p:cNvGrpSpPr>
                <a:grpSpLocks/>
              </p:cNvGrpSpPr>
              <p:nvPr/>
            </p:nvGrpSpPr>
            <p:grpSpPr bwMode="auto">
              <a:xfrm>
                <a:off x="576" y="2160"/>
                <a:ext cx="528" cy="224"/>
                <a:chOff x="0" y="0"/>
                <a:chExt cx="528" cy="224"/>
              </a:xfrm>
            </p:grpSpPr>
            <p:sp>
              <p:nvSpPr>
                <p:cNvPr id="43067" name="Rectangle 149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68" name="Rectangle 150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1111</a:t>
                  </a:r>
                </a:p>
              </p:txBody>
            </p:sp>
          </p:grpSp>
        </p:grpSp>
        <p:sp>
          <p:nvSpPr>
            <p:cNvPr id="43016" name="Rectangle 151"/>
            <p:cNvSpPr>
              <a:spLocks/>
            </p:cNvSpPr>
            <p:nvPr/>
          </p:nvSpPr>
          <p:spPr bwMode="auto">
            <a:xfrm rot="-2340000">
              <a:off x="50" y="267"/>
              <a:ext cx="362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Hex</a:t>
              </a:r>
            </a:p>
          </p:txBody>
        </p:sp>
        <p:sp>
          <p:nvSpPr>
            <p:cNvPr id="43017" name="Rectangle 152"/>
            <p:cNvSpPr>
              <a:spLocks/>
            </p:cNvSpPr>
            <p:nvPr/>
          </p:nvSpPr>
          <p:spPr bwMode="auto">
            <a:xfrm rot="-2340000">
              <a:off x="307" y="177"/>
              <a:ext cx="649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Decimal</a:t>
              </a:r>
            </a:p>
          </p:txBody>
        </p:sp>
        <p:sp>
          <p:nvSpPr>
            <p:cNvPr id="43018" name="Rectangle 153"/>
            <p:cNvSpPr>
              <a:spLocks/>
            </p:cNvSpPr>
            <p:nvPr/>
          </p:nvSpPr>
          <p:spPr bwMode="auto">
            <a:xfrm rot="-2340000">
              <a:off x="606" y="210"/>
              <a:ext cx="546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Binary</a:t>
              </a:r>
            </a:p>
          </p:txBody>
        </p:sp>
      </p:grp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 dirty="0"/>
              <a:t>Example Data Representations</a:t>
            </a:r>
          </a:p>
        </p:txBody>
      </p:sp>
      <p:graphicFrame>
        <p:nvGraphicFramePr>
          <p:cNvPr id="1229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288834"/>
              </p:ext>
            </p:extLst>
          </p:nvPr>
        </p:nvGraphicFramePr>
        <p:xfrm>
          <a:off x="1549400" y="1524000"/>
          <a:ext cx="6032500" cy="4165600"/>
        </p:xfrm>
        <a:graphic>
          <a:graphicData uri="http://schemas.openxmlformats.org/drawingml/2006/table">
            <a:tbl>
              <a:tblPr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charset="0"/>
                          <a:cs typeface="Calibri"/>
                          <a:sym typeface="Arial Narrow Bold" charset="0"/>
                        </a:rPr>
                        <a:t>C Data Type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charset="0"/>
                          <a:cs typeface="Calibri"/>
                          <a:sym typeface="Arial Narrow Bold" charset="0"/>
                        </a:rPr>
                        <a:t>Typical 32-bit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charset="0"/>
                          <a:cs typeface="Calibri"/>
                          <a:sym typeface="Arial Narrow Bold" charset="0"/>
                        </a:rPr>
                        <a:t>Typical 64-bit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charset="0"/>
                          <a:cs typeface="Calibri"/>
                          <a:sym typeface="Arial Narrow Bold" charset="0"/>
                        </a:rPr>
                        <a:t>x86-64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char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short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int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/>
                        <a:ea typeface="Arial Narrow" charset="0"/>
                        <a:cs typeface="Courier New"/>
                        <a:sym typeface="Arial Narrow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long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float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double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long double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ＭＳ ゴシック"/>
                          <a:cs typeface="Calibri"/>
                          <a:sym typeface="Arial Narrow" charset="0"/>
                        </a:rPr>
                        <a:t>−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charset="0"/>
                        <a:cs typeface="Calibri"/>
                        <a:sym typeface="Arial Narrow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ＭＳ ゴシック"/>
                          <a:cs typeface="Calibri"/>
                          <a:sym typeface="Arial Narrow" charset="0"/>
                        </a:rPr>
                        <a:t>−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charset="0"/>
                        <a:cs typeface="Calibri"/>
                        <a:sym typeface="Arial Narrow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10/16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pointer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0D86595-A7D0-434D-B60B-90B5EB67D8F0}"/>
              </a:ext>
            </a:extLst>
          </p:cNvPr>
          <p:cNvCxnSpPr/>
          <p:nvPr/>
        </p:nvCxnSpPr>
        <p:spPr bwMode="auto">
          <a:xfrm>
            <a:off x="6934200" y="914400"/>
            <a:ext cx="0" cy="6096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Bits, Bytes, and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Representing information as bits</a:t>
            </a:r>
          </a:p>
          <a:p>
            <a:r>
              <a:rPr lang="en-US" dirty="0"/>
              <a:t>Bit-level manipulations</a:t>
            </a:r>
          </a:p>
          <a:p>
            <a:r>
              <a:rPr lang="en-US" dirty="0">
                <a:solidFill>
                  <a:srgbClr val="A6A6A6"/>
                </a:solidFill>
              </a:rPr>
              <a:t>Integers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Representation: unsigned and signed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Conversion, casting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Expanding, truncating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Addition, negation, multiplication, shifting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Summary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/>
              <a:t>Boolean Algebra</a:t>
            </a:r>
          </a:p>
        </p:txBody>
      </p:sp>
      <p:sp>
        <p:nvSpPr>
          <p:cNvPr id="56325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Developed by George Boole in 19th Century</a:t>
            </a:r>
          </a:p>
          <a:p>
            <a:pPr marL="552450" lvl="1" eaLnBrk="1" hangingPunct="1"/>
            <a:r>
              <a:rPr lang="en-US" dirty="0"/>
              <a:t>Algebraic representation of logic</a:t>
            </a:r>
          </a:p>
          <a:p>
            <a:pPr marL="838200" lvl="2" eaLnBrk="1" hangingPunct="1"/>
            <a:r>
              <a:rPr lang="en-US" dirty="0"/>
              <a:t>Encode “True” as 1 and “False” as 0</a:t>
            </a:r>
          </a:p>
        </p:txBody>
      </p:sp>
      <p:sp>
        <p:nvSpPr>
          <p:cNvPr id="56326" name="Rectangle 5"/>
          <p:cNvSpPr>
            <a:spLocks/>
          </p:cNvSpPr>
          <p:nvPr/>
        </p:nvSpPr>
        <p:spPr bwMode="auto">
          <a:xfrm>
            <a:off x="317500" y="2603500"/>
            <a:ext cx="37465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eaLnBrk="1" hangingPunct="1">
              <a:spcBef>
                <a:spcPts val="575"/>
              </a:spcBef>
            </a:pPr>
            <a:r>
              <a:rPr lang="en-US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And</a:t>
            </a:r>
          </a:p>
          <a:p>
            <a:pPr eaLnBrk="1" hangingPunct="1">
              <a:spcBef>
                <a:spcPts val="575"/>
              </a:spcBef>
              <a:buClr>
                <a:srgbClr val="980002"/>
              </a:buClr>
              <a:buSzPct val="60000"/>
              <a:buFont typeface="Wingdings" charset="2"/>
              <a:buChar char="n"/>
            </a:pP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A&amp;B = 1 when both A=1 and B=1</a:t>
            </a:r>
          </a:p>
        </p:txBody>
      </p:sp>
      <p:pic>
        <p:nvPicPr>
          <p:cNvPr id="56327" name="Picture 6"/>
          <p:cNvPicPr>
            <a:picLocks noChangeArrowheads="1"/>
          </p:cNvPicPr>
          <p:nvPr/>
        </p:nvPicPr>
        <p:blipFill>
          <a:blip r:embed="rId2"/>
          <a:srcRect r="77623"/>
          <a:stretch>
            <a:fillRect/>
          </a:stretch>
        </p:blipFill>
        <p:spPr bwMode="auto">
          <a:xfrm>
            <a:off x="584200" y="3429000"/>
            <a:ext cx="1397000" cy="137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28" name="Rectangle 7"/>
          <p:cNvSpPr>
            <a:spLocks/>
          </p:cNvSpPr>
          <p:nvPr/>
        </p:nvSpPr>
        <p:spPr bwMode="auto">
          <a:xfrm>
            <a:off x="4419600" y="2603500"/>
            <a:ext cx="37465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eaLnBrk="1" hangingPunct="1">
              <a:spcBef>
                <a:spcPts val="575"/>
              </a:spcBef>
            </a:pPr>
            <a:r>
              <a:rPr lang="en-US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Or</a:t>
            </a:r>
          </a:p>
          <a:p>
            <a:pPr eaLnBrk="1" hangingPunct="1">
              <a:spcBef>
                <a:spcPts val="575"/>
              </a:spcBef>
              <a:buClr>
                <a:srgbClr val="980002"/>
              </a:buClr>
              <a:buSzPct val="60000"/>
              <a:buFont typeface="Wingdings" charset="2"/>
              <a:buChar char="n"/>
            </a:pP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A|B = 1 when either A=1 or B=1</a:t>
            </a:r>
          </a:p>
        </p:txBody>
      </p:sp>
      <p:pic>
        <p:nvPicPr>
          <p:cNvPr id="56329" name="Picture 8"/>
          <p:cNvPicPr>
            <a:picLocks noChangeArrowheads="1"/>
          </p:cNvPicPr>
          <p:nvPr/>
        </p:nvPicPr>
        <p:blipFill>
          <a:blip r:embed="rId3"/>
          <a:srcRect r="77623"/>
          <a:stretch>
            <a:fillRect/>
          </a:stretch>
        </p:blipFill>
        <p:spPr bwMode="auto">
          <a:xfrm>
            <a:off x="4762500" y="3436938"/>
            <a:ext cx="1397000" cy="137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30" name="Picture 9"/>
          <p:cNvPicPr>
            <a:picLocks noChangeArrowheads="1"/>
          </p:cNvPicPr>
          <p:nvPr/>
        </p:nvPicPr>
        <p:blipFill>
          <a:blip r:embed="rId4"/>
          <a:srcRect r="77623"/>
          <a:stretch>
            <a:fillRect/>
          </a:stretch>
        </p:blipFill>
        <p:spPr bwMode="auto">
          <a:xfrm>
            <a:off x="584200" y="5461000"/>
            <a:ext cx="1397000" cy="137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31" name="Rectangle 10"/>
          <p:cNvSpPr>
            <a:spLocks/>
          </p:cNvSpPr>
          <p:nvPr/>
        </p:nvSpPr>
        <p:spPr bwMode="auto">
          <a:xfrm>
            <a:off x="317500" y="4635500"/>
            <a:ext cx="20955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eaLnBrk="1" hangingPunct="1">
              <a:spcBef>
                <a:spcPts val="575"/>
              </a:spcBef>
            </a:pPr>
            <a:r>
              <a:rPr lang="en-US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Not</a:t>
            </a:r>
          </a:p>
          <a:p>
            <a:pPr eaLnBrk="1" hangingPunct="1">
              <a:spcBef>
                <a:spcPts val="575"/>
              </a:spcBef>
              <a:buClr>
                <a:srgbClr val="980002"/>
              </a:buClr>
              <a:buSzPct val="60000"/>
              <a:buFont typeface="Wingdings" charset="2"/>
              <a:buChar char="n"/>
            </a:pP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~A = 1 when A=0</a:t>
            </a:r>
          </a:p>
        </p:txBody>
      </p:sp>
      <p:pic>
        <p:nvPicPr>
          <p:cNvPr id="56332" name="Picture 11"/>
          <p:cNvPicPr>
            <a:picLocks noChangeArrowheads="1"/>
          </p:cNvPicPr>
          <p:nvPr/>
        </p:nvPicPr>
        <p:blipFill>
          <a:blip r:embed="rId5"/>
          <a:srcRect r="77623"/>
          <a:stretch>
            <a:fillRect/>
          </a:stretch>
        </p:blipFill>
        <p:spPr bwMode="auto">
          <a:xfrm>
            <a:off x="4762500" y="5468938"/>
            <a:ext cx="1397000" cy="137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33" name="Rectangle 12"/>
          <p:cNvSpPr>
            <a:spLocks/>
          </p:cNvSpPr>
          <p:nvPr/>
        </p:nvSpPr>
        <p:spPr bwMode="auto">
          <a:xfrm>
            <a:off x="3568700" y="4635500"/>
            <a:ext cx="51816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eaLnBrk="1" hangingPunct="1">
              <a:spcBef>
                <a:spcPts val="575"/>
              </a:spcBef>
            </a:pPr>
            <a:r>
              <a:rPr lang="en-US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Exclusive-Or (</a:t>
            </a:r>
            <a:r>
              <a:rPr lang="en-US" b="0" dirty="0" err="1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Xor</a:t>
            </a:r>
            <a:r>
              <a:rPr lang="en-US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)</a:t>
            </a:r>
          </a:p>
          <a:p>
            <a:pPr eaLnBrk="1" hangingPunct="1">
              <a:spcBef>
                <a:spcPts val="575"/>
              </a:spcBef>
              <a:buClr>
                <a:srgbClr val="980002"/>
              </a:buClr>
              <a:buSzPct val="60000"/>
              <a:buFont typeface="Wingdings" charset="2"/>
              <a:buChar char="n"/>
            </a:pP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A^B = 1 when either A=1 or B=1, but not both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/>
              <a:t>General Boolean Algebras</a:t>
            </a:r>
          </a:p>
        </p:txBody>
      </p:sp>
      <p:sp>
        <p:nvSpPr>
          <p:cNvPr id="58373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Operate on Bit Vectors</a:t>
            </a:r>
          </a:p>
          <a:p>
            <a:pPr marL="552450" lvl="1" eaLnBrk="1" hangingPunct="1"/>
            <a:r>
              <a:rPr lang="en-US"/>
              <a:t>Operations applied bitwise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All of the Properties of Boolean Algebra Apply</a:t>
            </a:r>
          </a:p>
        </p:txBody>
      </p:sp>
      <p:sp>
        <p:nvSpPr>
          <p:cNvPr id="58374" name="Rectangle 5"/>
          <p:cNvSpPr>
            <a:spLocks/>
          </p:cNvSpPr>
          <p:nvPr/>
        </p:nvSpPr>
        <p:spPr bwMode="auto">
          <a:xfrm>
            <a:off x="787400" y="2349500"/>
            <a:ext cx="1677988" cy="9779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01101001</a:t>
            </a:r>
          </a:p>
          <a:p>
            <a:pPr eaLnBrk="1" hangingPunct="1"/>
            <a:r>
              <a:rPr lang="en-US" sz="2000" b="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&amp; 01010101</a:t>
            </a:r>
          </a:p>
          <a:p>
            <a:pPr eaLnBrk="1" hangingPunct="1"/>
            <a:r>
              <a:rPr lang="en-US" sz="2000" b="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</a:t>
            </a:r>
            <a:r>
              <a:rPr lang="en-US" sz="2000" b="0" dirty="0">
                <a:solidFill>
                  <a:srgbClr val="FFFFFF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01000001</a:t>
            </a:r>
          </a:p>
        </p:txBody>
      </p:sp>
      <p:sp>
        <p:nvSpPr>
          <p:cNvPr id="58375" name="Line 6"/>
          <p:cNvSpPr>
            <a:spLocks noChangeShapeType="1"/>
          </p:cNvSpPr>
          <p:nvPr/>
        </p:nvSpPr>
        <p:spPr bwMode="auto">
          <a:xfrm>
            <a:off x="863600" y="2981325"/>
            <a:ext cx="1524000" cy="1588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solidFill>
                <a:srgbClr val="000000"/>
              </a:solidFill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8376" name="Rectangle 7"/>
          <p:cNvSpPr>
            <a:spLocks/>
          </p:cNvSpPr>
          <p:nvPr/>
        </p:nvSpPr>
        <p:spPr bwMode="auto">
          <a:xfrm>
            <a:off x="2616200" y="2349500"/>
            <a:ext cx="1677988" cy="9779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01101001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| 01010101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</a:t>
            </a:r>
            <a:r>
              <a:rPr lang="en-US" sz="2000" b="0">
                <a:solidFill>
                  <a:srgbClr val="FFFFFF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01111101</a:t>
            </a:r>
          </a:p>
        </p:txBody>
      </p:sp>
      <p:sp>
        <p:nvSpPr>
          <p:cNvPr id="58377" name="Line 8"/>
          <p:cNvSpPr>
            <a:spLocks noChangeShapeType="1"/>
          </p:cNvSpPr>
          <p:nvPr/>
        </p:nvSpPr>
        <p:spPr bwMode="auto">
          <a:xfrm>
            <a:off x="2692400" y="2981325"/>
            <a:ext cx="1524000" cy="1588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solidFill>
                <a:srgbClr val="000000"/>
              </a:solidFill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8378" name="Rectangle 9"/>
          <p:cNvSpPr>
            <a:spLocks/>
          </p:cNvSpPr>
          <p:nvPr/>
        </p:nvSpPr>
        <p:spPr bwMode="auto">
          <a:xfrm>
            <a:off x="4445000" y="2349500"/>
            <a:ext cx="1677988" cy="9779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01101001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^ 01010101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</a:t>
            </a:r>
            <a:r>
              <a:rPr lang="en-US" sz="2000" b="0">
                <a:solidFill>
                  <a:srgbClr val="FFFFFF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00111100</a:t>
            </a:r>
          </a:p>
        </p:txBody>
      </p:sp>
      <p:sp>
        <p:nvSpPr>
          <p:cNvPr id="58379" name="Line 10"/>
          <p:cNvSpPr>
            <a:spLocks noChangeShapeType="1"/>
          </p:cNvSpPr>
          <p:nvPr/>
        </p:nvSpPr>
        <p:spPr bwMode="auto">
          <a:xfrm>
            <a:off x="4597400" y="2981325"/>
            <a:ext cx="1524000" cy="1588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solidFill>
                <a:srgbClr val="000000"/>
              </a:solidFill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8380" name="Rectangle 11"/>
          <p:cNvSpPr>
            <a:spLocks/>
          </p:cNvSpPr>
          <p:nvPr/>
        </p:nvSpPr>
        <p:spPr bwMode="auto">
          <a:xfrm>
            <a:off x="6348413" y="2349500"/>
            <a:ext cx="1679575" cy="9779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~ 01010101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</a:t>
            </a:r>
            <a:r>
              <a:rPr lang="en-US" sz="2000" b="0">
                <a:solidFill>
                  <a:srgbClr val="FFFFFF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10101010</a:t>
            </a:r>
          </a:p>
        </p:txBody>
      </p:sp>
      <p:sp>
        <p:nvSpPr>
          <p:cNvPr id="58381" name="Line 12"/>
          <p:cNvSpPr>
            <a:spLocks noChangeShapeType="1"/>
          </p:cNvSpPr>
          <p:nvPr/>
        </p:nvSpPr>
        <p:spPr bwMode="auto">
          <a:xfrm>
            <a:off x="6426200" y="2981325"/>
            <a:ext cx="1600200" cy="1588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solidFill>
                <a:srgbClr val="000000"/>
              </a:solidFill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23565" name="Rectangle 13"/>
          <p:cNvSpPr>
            <a:spLocks/>
          </p:cNvSpPr>
          <p:nvPr/>
        </p:nvSpPr>
        <p:spPr bwMode="auto">
          <a:xfrm>
            <a:off x="787400" y="3035300"/>
            <a:ext cx="1677988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01000001</a:t>
            </a:r>
          </a:p>
        </p:txBody>
      </p:sp>
      <p:sp>
        <p:nvSpPr>
          <p:cNvPr id="23566" name="Rectangle 14"/>
          <p:cNvSpPr>
            <a:spLocks/>
          </p:cNvSpPr>
          <p:nvPr/>
        </p:nvSpPr>
        <p:spPr bwMode="auto">
          <a:xfrm>
            <a:off x="2921000" y="3035300"/>
            <a:ext cx="1373188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01111101</a:t>
            </a:r>
          </a:p>
        </p:txBody>
      </p:sp>
      <p:sp>
        <p:nvSpPr>
          <p:cNvPr id="23567" name="Rectangle 15"/>
          <p:cNvSpPr>
            <a:spLocks/>
          </p:cNvSpPr>
          <p:nvPr/>
        </p:nvSpPr>
        <p:spPr bwMode="auto">
          <a:xfrm>
            <a:off x="4749800" y="3035300"/>
            <a:ext cx="1373188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00111100</a:t>
            </a:r>
          </a:p>
        </p:txBody>
      </p:sp>
      <p:sp>
        <p:nvSpPr>
          <p:cNvPr id="23568" name="Rectangle 16"/>
          <p:cNvSpPr>
            <a:spLocks/>
          </p:cNvSpPr>
          <p:nvPr/>
        </p:nvSpPr>
        <p:spPr bwMode="auto">
          <a:xfrm>
            <a:off x="6654800" y="3035300"/>
            <a:ext cx="1373188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10101010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3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3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3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3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5" grpId="0" build="p" autoUpdateAnimBg="0"/>
      <p:bldP spid="23566" grpId="0" build="p" autoUpdateAnimBg="0"/>
      <p:bldP spid="23567" grpId="0" build="p" autoUpdateAnimBg="0"/>
      <p:bldP spid="23568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3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634582" cy="762000"/>
          </a:xfrm>
        </p:spPr>
        <p:txBody>
          <a:bodyPr/>
          <a:lstStyle/>
          <a:p>
            <a:r>
              <a:rPr lang="en-US" dirty="0"/>
              <a:t>Example: Representing &amp; Manipulating Sets</a:t>
            </a:r>
          </a:p>
        </p:txBody>
      </p:sp>
      <p:sp>
        <p:nvSpPr>
          <p:cNvPr id="59397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Representation</a:t>
            </a:r>
          </a:p>
          <a:p>
            <a:pPr lvl="1"/>
            <a:r>
              <a:rPr lang="en-US" dirty="0"/>
              <a:t>Width </a:t>
            </a:r>
            <a:r>
              <a:rPr lang="en-US" dirty="0" err="1"/>
              <a:t>w</a:t>
            </a:r>
            <a:r>
              <a:rPr lang="en-US" dirty="0"/>
              <a:t> bit vector represents subsets of {0, …, </a:t>
            </a:r>
            <a:r>
              <a:rPr lang="en-US" dirty="0" err="1"/>
              <a:t>w</a:t>
            </a:r>
            <a:r>
              <a:rPr lang="en-US" dirty="0"/>
              <a:t>–1}</a:t>
            </a:r>
          </a:p>
          <a:p>
            <a:pPr lvl="1"/>
            <a:r>
              <a:rPr lang="en-US" dirty="0" err="1"/>
              <a:t>a</a:t>
            </a:r>
            <a:r>
              <a:rPr lang="en-US" baseline="-25000" dirty="0" err="1"/>
              <a:t>j</a:t>
            </a:r>
            <a:r>
              <a:rPr lang="en-US" dirty="0"/>
              <a:t> = 1 if </a:t>
            </a:r>
            <a:r>
              <a:rPr lang="en-US" dirty="0" err="1"/>
              <a:t>j</a:t>
            </a:r>
            <a:r>
              <a:rPr lang="en-US" dirty="0"/>
              <a:t>  ∈ A</a:t>
            </a:r>
          </a:p>
          <a:p>
            <a:pPr lvl="2"/>
            <a:endParaRPr lang="en-US" dirty="0">
              <a:sym typeface="Monaco" charset="0"/>
            </a:endParaRPr>
          </a:p>
          <a:p>
            <a:pPr lvl="2"/>
            <a:r>
              <a:rPr lang="en-US" dirty="0">
                <a:sym typeface="Monaco" charset="0"/>
              </a:rPr>
              <a:t> 01101001	{ 0, 3, 5, 6 }</a:t>
            </a:r>
          </a:p>
          <a:p>
            <a:pPr lvl="2"/>
            <a:r>
              <a:rPr lang="en-US" dirty="0">
                <a:sym typeface="Monaco" charset="0"/>
              </a:rPr>
              <a:t> </a:t>
            </a:r>
            <a:r>
              <a:rPr lang="en-US" i="1" dirty="0">
                <a:sym typeface="Monaco" charset="0"/>
              </a:rPr>
              <a:t>7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65</a:t>
            </a:r>
            <a:r>
              <a:rPr lang="en-US" i="1" dirty="0">
                <a:sym typeface="Monaco" charset="0"/>
              </a:rPr>
              <a:t>4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3</a:t>
            </a:r>
            <a:r>
              <a:rPr lang="en-US" i="1" dirty="0">
                <a:sym typeface="Monaco" charset="0"/>
              </a:rPr>
              <a:t>21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0</a:t>
            </a:r>
          </a:p>
          <a:p>
            <a:pPr lvl="2"/>
            <a:endParaRPr lang="en-US" dirty="0">
              <a:sym typeface="Monaco" charset="0"/>
            </a:endParaRPr>
          </a:p>
          <a:p>
            <a:pPr lvl="2"/>
            <a:r>
              <a:rPr lang="en-US" dirty="0">
                <a:sym typeface="Monaco" charset="0"/>
              </a:rPr>
              <a:t> 01010101	{ 0, 2, 4, 6 }</a:t>
            </a:r>
          </a:p>
          <a:p>
            <a:pPr lvl="2"/>
            <a:r>
              <a:rPr lang="en-US" dirty="0">
                <a:sym typeface="Monaco" charset="0"/>
              </a:rPr>
              <a:t> </a:t>
            </a:r>
            <a:r>
              <a:rPr lang="en-US" i="1" dirty="0">
                <a:sym typeface="Monaco" charset="0"/>
              </a:rPr>
              <a:t>7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6</a:t>
            </a:r>
            <a:r>
              <a:rPr lang="en-US" i="1" dirty="0">
                <a:sym typeface="Monaco" charset="0"/>
              </a:rPr>
              <a:t>5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4</a:t>
            </a:r>
            <a:r>
              <a:rPr lang="en-US" i="1" dirty="0">
                <a:sym typeface="Monaco" charset="0"/>
              </a:rPr>
              <a:t>3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2</a:t>
            </a:r>
            <a:r>
              <a:rPr lang="en-US" i="1" dirty="0">
                <a:sym typeface="Monaco" charset="0"/>
              </a:rPr>
              <a:t>1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0</a:t>
            </a:r>
          </a:p>
          <a:p>
            <a:r>
              <a:rPr lang="en-US" dirty="0"/>
              <a:t>Operations</a:t>
            </a:r>
          </a:p>
          <a:p>
            <a:pPr lvl="1"/>
            <a:r>
              <a:rPr lang="en-US" dirty="0"/>
              <a:t>&amp;    Intersection		01000001	{ 0, 6 }</a:t>
            </a:r>
          </a:p>
          <a:p>
            <a:pPr lvl="1"/>
            <a:r>
              <a:rPr lang="en-US" dirty="0"/>
              <a:t>|     Union			01111101	{ 0, 2, 3, 4, 5, 6 }</a:t>
            </a:r>
          </a:p>
          <a:p>
            <a:pPr lvl="1"/>
            <a:r>
              <a:rPr lang="en-US" dirty="0"/>
              <a:t>^	    Symmetric difference	00111100	{ 2, 3, 4, 5 }</a:t>
            </a:r>
          </a:p>
          <a:p>
            <a:pPr lvl="1"/>
            <a:r>
              <a:rPr lang="en-US" dirty="0"/>
              <a:t>~	    Complement		10101010	{ 1, 3, 5, 7 }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/>
              <a:t>Bit-Level Operations in C</a:t>
            </a:r>
          </a:p>
        </p:txBody>
      </p:sp>
      <p:sp>
        <p:nvSpPr>
          <p:cNvPr id="60421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Operations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&amp;</a:t>
            </a:r>
            <a:r>
              <a:rPr lang="en-US" dirty="0"/>
              <a:t>, 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|</a:t>
            </a:r>
            <a:r>
              <a:rPr lang="en-US" dirty="0"/>
              <a:t>, 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~</a:t>
            </a:r>
            <a:r>
              <a:rPr lang="en-US" dirty="0"/>
              <a:t>, 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^</a:t>
            </a:r>
            <a:r>
              <a:rPr lang="en-US" dirty="0"/>
              <a:t> Available in C</a:t>
            </a:r>
          </a:p>
          <a:p>
            <a:pPr marL="552450" lvl="1" eaLnBrk="1" hangingPunct="1"/>
            <a:r>
              <a:rPr lang="en-US" dirty="0"/>
              <a:t>Apply to any “integral” data type</a:t>
            </a:r>
          </a:p>
          <a:p>
            <a:pPr marL="838200" lvl="2" eaLnBrk="1" hangingPunct="1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long, int, short, char, unsigned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dirty="0"/>
              <a:t>View arguments as bit vectors</a:t>
            </a:r>
          </a:p>
          <a:p>
            <a:pPr marL="552450" lvl="1" eaLnBrk="1" hangingPunct="1"/>
            <a:r>
              <a:rPr lang="en-US" dirty="0"/>
              <a:t>Arguments applied bit-wise</a:t>
            </a:r>
          </a:p>
          <a:p>
            <a:pPr eaLnBrk="1" hangingPunct="1"/>
            <a:r>
              <a:rPr lang="en-US" dirty="0"/>
              <a:t>Examples (Char data type)</a:t>
            </a: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~0x41 = 0xBE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838200" lvl="2" eaLnBrk="1" hangingPunct="1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~01000001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= 10111110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~0x00 = 0xFF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838200" lvl="2" eaLnBrk="1" hangingPunct="1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~00000000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= 11111111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0x69 &amp; 0x55 = 0x41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838200" lvl="2" eaLnBrk="1" hangingPunct="1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01101001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&amp; 01010101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= 01000001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0x69 | 0x55 = 0x7D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838200" lvl="2" eaLnBrk="1" hangingPunct="1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01101001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| 01010101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= 01111101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baseline="-6000" dirty="0">
              <a:latin typeface="Monaco" charset="0"/>
              <a:sym typeface="Monaco" charset="0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/>
              <a:t>Contrast: Logic Operations in C</a:t>
            </a:r>
          </a:p>
        </p:txBody>
      </p:sp>
      <p:sp>
        <p:nvSpPr>
          <p:cNvPr id="61445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Contrast to Logical Operators</a:t>
            </a:r>
          </a:p>
          <a:p>
            <a:pPr marL="552450" lvl="1" eaLnBrk="1" hangingPunct="1"/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&amp;&amp;, ||, !</a:t>
            </a:r>
            <a:endParaRPr lang="en-US" dirty="0">
              <a:latin typeface="Monaco" charset="0"/>
              <a:sym typeface="Monaco" charset="0"/>
            </a:endParaRPr>
          </a:p>
          <a:p>
            <a:pPr marL="838200" lvl="2" eaLnBrk="1" hangingPunct="1"/>
            <a:r>
              <a:rPr lang="en-US" dirty="0"/>
              <a:t>View 0 as “False”</a:t>
            </a:r>
          </a:p>
          <a:p>
            <a:pPr marL="838200" lvl="2" eaLnBrk="1" hangingPunct="1"/>
            <a:r>
              <a:rPr lang="en-US" dirty="0"/>
              <a:t>Anything nonzero as “True”</a:t>
            </a:r>
          </a:p>
          <a:p>
            <a:pPr marL="838200" lvl="2" eaLnBrk="1" hangingPunct="1"/>
            <a:r>
              <a:rPr lang="en-US" dirty="0"/>
              <a:t>Always return 0 or 1</a:t>
            </a:r>
          </a:p>
          <a:p>
            <a:pPr marL="838200" lvl="2" eaLnBrk="1" hangingPunct="1"/>
            <a:r>
              <a:rPr lang="en-US" dirty="0">
                <a:solidFill>
                  <a:srgbClr val="980002"/>
                </a:solidFill>
              </a:rPr>
              <a:t>Early termination</a:t>
            </a:r>
          </a:p>
          <a:p>
            <a:pPr eaLnBrk="1" hangingPunct="1"/>
            <a:r>
              <a:rPr lang="en-US" dirty="0"/>
              <a:t>Examples (char data type)</a:t>
            </a: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!0x41  =  0x00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!0x00  =  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!!0x41  =  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>
              <a:spcBef>
                <a:spcPts val="2100"/>
              </a:spcBef>
            </a:pP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0x69 &amp;&amp; 0x55  =  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0x69 || 0x55  =  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p &amp;&amp; *p </a:t>
            </a:r>
            <a:r>
              <a:rPr lang="en-US" dirty="0"/>
              <a:t>	(avoids null pointer access due to lazy evaluation)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/>
              <a:t>Contrast: Logic Operations in C</a:t>
            </a:r>
          </a:p>
        </p:txBody>
      </p:sp>
      <p:sp>
        <p:nvSpPr>
          <p:cNvPr id="61445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Contrast to Logical Operators</a:t>
            </a:r>
          </a:p>
          <a:p>
            <a:pPr marL="552450" lvl="1" eaLnBrk="1" hangingPunct="1"/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&amp;&amp;, ||, !</a:t>
            </a:r>
            <a:endParaRPr lang="en-US" dirty="0">
              <a:latin typeface="Monaco" charset="0"/>
              <a:sym typeface="Monaco" charset="0"/>
            </a:endParaRPr>
          </a:p>
          <a:p>
            <a:pPr marL="838200" lvl="2" eaLnBrk="1" hangingPunct="1"/>
            <a:r>
              <a:rPr lang="en-US" dirty="0"/>
              <a:t>View 0 as “False”</a:t>
            </a:r>
          </a:p>
          <a:p>
            <a:pPr marL="838200" lvl="2" eaLnBrk="1" hangingPunct="1"/>
            <a:r>
              <a:rPr lang="en-US" dirty="0"/>
              <a:t>Anything nonzero as “True”</a:t>
            </a:r>
          </a:p>
          <a:p>
            <a:pPr marL="838200" lvl="2" eaLnBrk="1" hangingPunct="1"/>
            <a:r>
              <a:rPr lang="en-US" dirty="0"/>
              <a:t>Always return 0 or 1</a:t>
            </a:r>
          </a:p>
          <a:p>
            <a:pPr marL="838200" lvl="2" eaLnBrk="1" hangingPunct="1"/>
            <a:r>
              <a:rPr lang="en-US" dirty="0">
                <a:solidFill>
                  <a:srgbClr val="980002"/>
                </a:solidFill>
              </a:rPr>
              <a:t>Early termination</a:t>
            </a:r>
          </a:p>
          <a:p>
            <a:pPr eaLnBrk="1" hangingPunct="1"/>
            <a:r>
              <a:rPr lang="en-US" dirty="0"/>
              <a:t>Examples (char data type)</a:t>
            </a: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!0x41  =  0x00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!0x00  =  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!!0x41  =  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>
              <a:spcBef>
                <a:spcPts val="2100"/>
              </a:spcBef>
            </a:pP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0x69 &amp;&amp; 0x55  =  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0x69 || 0x55  =  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 err="1">
                <a:latin typeface="Monaco" charset="0"/>
                <a:ea typeface="Monaco" charset="0"/>
                <a:cs typeface="Monaco" charset="0"/>
                <a:sym typeface="Monaco" charset="0"/>
              </a:rPr>
              <a:t>p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&amp;&amp; *</a:t>
            </a:r>
            <a:r>
              <a:rPr lang="en-US" sz="1800" dirty="0" err="1">
                <a:latin typeface="Monaco" charset="0"/>
                <a:ea typeface="Monaco" charset="0"/>
                <a:cs typeface="Monaco" charset="0"/>
                <a:sym typeface="Monaco" charset="0"/>
              </a:rPr>
              <a:t>p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</a:t>
            </a:r>
            <a:r>
              <a:rPr lang="en-US" dirty="0"/>
              <a:t>	(avoids null pointer access)</a:t>
            </a:r>
          </a:p>
        </p:txBody>
      </p:sp>
      <p:sp>
        <p:nvSpPr>
          <p:cNvPr id="4" name="AutoShape 8"/>
          <p:cNvSpPr>
            <a:spLocks noChangeArrowheads="1"/>
          </p:cNvSpPr>
          <p:nvPr/>
        </p:nvSpPr>
        <p:spPr bwMode="auto">
          <a:xfrm>
            <a:off x="4572000" y="1946020"/>
            <a:ext cx="3810000" cy="1137157"/>
          </a:xfrm>
          <a:prstGeom prst="wedgeRoundRectCallout">
            <a:avLst>
              <a:gd name="adj1" fmla="val -40824"/>
              <a:gd name="adj2" fmla="val -88541"/>
              <a:gd name="adj3" fmla="val 16667"/>
            </a:avLst>
          </a:prstGeom>
          <a:solidFill>
            <a:srgbClr val="FF9900"/>
          </a:solidFill>
          <a:ln w="1905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lIns="45720" rIns="45720" anchor="ctr">
            <a:prstTxWarp prst="textNoShape">
              <a:avLst/>
            </a:prstTxWarp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Watch out for &amp;&amp; vs. &amp; (and || vs. |)… </a:t>
            </a:r>
          </a:p>
          <a:p>
            <a:r>
              <a:rPr lang="en-US" sz="1600" dirty="0">
                <a:solidFill>
                  <a:srgbClr val="000000"/>
                </a:solidFill>
              </a:rPr>
              <a:t>one of the more common </a:t>
            </a:r>
            <a:r>
              <a:rPr lang="en-US" sz="1600" dirty="0" err="1">
                <a:solidFill>
                  <a:srgbClr val="000000"/>
                </a:solidFill>
              </a:rPr>
              <a:t>oopsies</a:t>
            </a:r>
            <a:r>
              <a:rPr lang="en-US" sz="1600" dirty="0">
                <a:solidFill>
                  <a:srgbClr val="000000"/>
                </a:solidFill>
              </a:rPr>
              <a:t> in </a:t>
            </a:r>
          </a:p>
          <a:p>
            <a:r>
              <a:rPr lang="en-US" sz="1600" dirty="0">
                <a:solidFill>
                  <a:srgbClr val="000000"/>
                </a:solidFill>
              </a:rPr>
              <a:t>C programming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/>
              <a:t>Shift Operations</a:t>
            </a:r>
          </a:p>
        </p:txBody>
      </p:sp>
      <p:sp>
        <p:nvSpPr>
          <p:cNvPr id="62469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Left Shift: 	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x &lt;&lt; y</a:t>
            </a:r>
            <a:endParaRPr lang="en-US" dirty="0"/>
          </a:p>
          <a:p>
            <a:pPr marL="552450" lvl="1" eaLnBrk="1" hangingPunct="1"/>
            <a:r>
              <a:rPr lang="en-US" dirty="0"/>
              <a:t>Shift bit-vector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x</a:t>
            </a:r>
            <a:r>
              <a:rPr lang="en-US" dirty="0"/>
              <a:t> left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y</a:t>
            </a:r>
            <a:r>
              <a:rPr lang="en-US" dirty="0"/>
              <a:t> positions</a:t>
            </a:r>
          </a:p>
          <a:p>
            <a:pPr marL="1181100" lvl="3" eaLnBrk="1" hangingPunct="1"/>
            <a:r>
              <a:rPr lang="en-US" dirty="0"/>
              <a:t>Throw away extra bits on left</a:t>
            </a:r>
          </a:p>
          <a:p>
            <a:pPr marL="838200" lvl="2" eaLnBrk="1" hangingPunct="1"/>
            <a:r>
              <a:rPr lang="en-US" dirty="0"/>
              <a:t>Fill with 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0</a:t>
            </a:r>
            <a:r>
              <a:rPr lang="en-US" dirty="0"/>
              <a:t>’s on right</a:t>
            </a:r>
          </a:p>
          <a:p>
            <a:pPr eaLnBrk="1" hangingPunct="1"/>
            <a:r>
              <a:rPr lang="en-US" dirty="0"/>
              <a:t>Right Shift: 	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x &gt;&gt; y</a:t>
            </a:r>
            <a:endParaRPr lang="en-US" dirty="0"/>
          </a:p>
          <a:p>
            <a:pPr marL="552450" lvl="1" eaLnBrk="1" hangingPunct="1"/>
            <a:r>
              <a:rPr lang="en-US" dirty="0"/>
              <a:t>Shift bit-vector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x</a:t>
            </a:r>
            <a:r>
              <a:rPr lang="en-US" dirty="0"/>
              <a:t> right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y</a:t>
            </a:r>
            <a:r>
              <a:rPr lang="en-US" dirty="0"/>
              <a:t> positions</a:t>
            </a:r>
          </a:p>
          <a:p>
            <a:pPr marL="838200" lvl="2" eaLnBrk="1" hangingPunct="1"/>
            <a:r>
              <a:rPr lang="en-US" dirty="0"/>
              <a:t>Throw away extra bits on right</a:t>
            </a:r>
          </a:p>
          <a:p>
            <a:pPr marL="552450" lvl="1" eaLnBrk="1" hangingPunct="1"/>
            <a:r>
              <a:rPr lang="en-US" dirty="0"/>
              <a:t>Logical shift</a:t>
            </a:r>
          </a:p>
          <a:p>
            <a:pPr marL="838200" lvl="2" eaLnBrk="1" hangingPunct="1"/>
            <a:r>
              <a:rPr lang="en-US" dirty="0"/>
              <a:t>Fill with 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0</a:t>
            </a:r>
            <a:r>
              <a:rPr lang="en-US" dirty="0"/>
              <a:t>’s on left</a:t>
            </a:r>
          </a:p>
          <a:p>
            <a:pPr marL="552450" lvl="1" eaLnBrk="1" hangingPunct="1"/>
            <a:r>
              <a:rPr lang="en-US" dirty="0"/>
              <a:t>Arithmetic shift</a:t>
            </a:r>
          </a:p>
          <a:p>
            <a:pPr marL="838200" lvl="2" eaLnBrk="1" hangingPunct="1"/>
            <a:r>
              <a:rPr lang="en-US" dirty="0"/>
              <a:t>Replicate most significant bit on right</a:t>
            </a:r>
          </a:p>
          <a:p>
            <a:pPr eaLnBrk="1" hangingPunct="1"/>
            <a:r>
              <a:rPr lang="en-US" dirty="0"/>
              <a:t>Undefined Behavior</a:t>
            </a:r>
          </a:p>
          <a:p>
            <a:pPr marL="552450" lvl="1" eaLnBrk="1" hangingPunct="1"/>
            <a:r>
              <a:rPr lang="en-US" dirty="0"/>
              <a:t>Shift amount &lt; 0 or ≥ word size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781800" y="304800"/>
            <a:ext cx="1371600" cy="457200"/>
            <a:chOff x="0" y="0"/>
            <a:chExt cx="864" cy="288"/>
          </a:xfrm>
        </p:grpSpPr>
        <p:sp>
          <p:nvSpPr>
            <p:cNvPr id="62552" name="Rectangle 6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53" name="Rectangle 7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 dirty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01100010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5376863" y="304800"/>
            <a:ext cx="1436687" cy="457200"/>
            <a:chOff x="0" y="0"/>
            <a:chExt cx="904" cy="288"/>
          </a:xfrm>
        </p:grpSpPr>
        <p:sp>
          <p:nvSpPr>
            <p:cNvPr id="62550" name="Rectangle 9"/>
            <p:cNvSpPr>
              <a:spLocks/>
            </p:cNvSpPr>
            <p:nvPr/>
          </p:nvSpPr>
          <p:spPr bwMode="auto">
            <a:xfrm>
              <a:off x="2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51" name="Rectangle 10"/>
            <p:cNvSpPr>
              <a:spLocks/>
            </p:cNvSpPr>
            <p:nvPr/>
          </p:nvSpPr>
          <p:spPr bwMode="auto">
            <a:xfrm>
              <a:off x="0" y="16"/>
              <a:ext cx="904" cy="2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Argument 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x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6781800" y="762000"/>
            <a:ext cx="1371600" cy="457200"/>
            <a:chOff x="0" y="0"/>
            <a:chExt cx="864" cy="288"/>
          </a:xfrm>
        </p:grpSpPr>
        <p:sp>
          <p:nvSpPr>
            <p:cNvPr id="62548" name="Rectangle 12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49" name="Rectangle 13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5410200" y="762000"/>
            <a:ext cx="1371600" cy="457200"/>
            <a:chOff x="0" y="0"/>
            <a:chExt cx="864" cy="288"/>
          </a:xfrm>
        </p:grpSpPr>
        <p:sp>
          <p:nvSpPr>
            <p:cNvPr id="62546" name="Rectangle 15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47" name="Rectangle 16"/>
            <p:cNvSpPr>
              <a:spLocks/>
            </p:cNvSpPr>
            <p:nvPr/>
          </p:nvSpPr>
          <p:spPr bwMode="auto">
            <a:xfrm>
              <a:off x="210" y="32"/>
              <a:ext cx="443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&lt;&lt; 3</a:t>
              </a: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6781800" y="1219200"/>
            <a:ext cx="1371600" cy="457200"/>
            <a:chOff x="0" y="0"/>
            <a:chExt cx="864" cy="288"/>
          </a:xfrm>
        </p:grpSpPr>
        <p:sp>
          <p:nvSpPr>
            <p:cNvPr id="62544" name="Rectangle 18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45" name="Rectangle 19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5410200" y="1219200"/>
            <a:ext cx="1371600" cy="457200"/>
            <a:chOff x="0" y="0"/>
            <a:chExt cx="864" cy="288"/>
          </a:xfrm>
        </p:grpSpPr>
        <p:sp>
          <p:nvSpPr>
            <p:cNvPr id="62542" name="Rectangle 21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43" name="Rectangle 22"/>
            <p:cNvSpPr>
              <a:spLocks/>
            </p:cNvSpPr>
            <p:nvPr/>
          </p:nvSpPr>
          <p:spPr bwMode="auto">
            <a:xfrm>
              <a:off x="38" y="16"/>
              <a:ext cx="787" cy="2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Log. 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&gt;&gt; 2</a:t>
              </a:r>
            </a:p>
          </p:txBody>
        </p: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6781800" y="1676400"/>
            <a:ext cx="1371600" cy="457200"/>
            <a:chOff x="0" y="0"/>
            <a:chExt cx="864" cy="288"/>
          </a:xfrm>
        </p:grpSpPr>
        <p:sp>
          <p:nvSpPr>
            <p:cNvPr id="62540" name="Rectangle 24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41" name="Rectangle 25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5410200" y="1676400"/>
            <a:ext cx="1371600" cy="457200"/>
            <a:chOff x="0" y="0"/>
            <a:chExt cx="864" cy="288"/>
          </a:xfrm>
        </p:grpSpPr>
        <p:sp>
          <p:nvSpPr>
            <p:cNvPr id="62538" name="Rectangle 27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39" name="Rectangle 28"/>
            <p:cNvSpPr>
              <a:spLocks/>
            </p:cNvSpPr>
            <p:nvPr/>
          </p:nvSpPr>
          <p:spPr bwMode="auto">
            <a:xfrm>
              <a:off x="2" y="16"/>
              <a:ext cx="859" cy="2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Arith. 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&gt;&gt; 2</a:t>
              </a:r>
            </a:p>
          </p:txBody>
        </p:sp>
      </p:grp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6781800" y="2514600"/>
            <a:ext cx="1371600" cy="457200"/>
            <a:chOff x="0" y="0"/>
            <a:chExt cx="864" cy="288"/>
          </a:xfrm>
        </p:grpSpPr>
        <p:sp>
          <p:nvSpPr>
            <p:cNvPr id="62536" name="Rectangle 30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37" name="Rectangle 31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 dirty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10100010</a:t>
              </a:r>
            </a:p>
          </p:txBody>
        </p:sp>
      </p:grpSp>
      <p:grpSp>
        <p:nvGrpSpPr>
          <p:cNvPr id="11" name="Group 32"/>
          <p:cNvGrpSpPr>
            <a:grpSpLocks/>
          </p:cNvGrpSpPr>
          <p:nvPr/>
        </p:nvGrpSpPr>
        <p:grpSpPr bwMode="auto">
          <a:xfrm>
            <a:off x="5376863" y="2514600"/>
            <a:ext cx="1436687" cy="457200"/>
            <a:chOff x="0" y="0"/>
            <a:chExt cx="904" cy="288"/>
          </a:xfrm>
        </p:grpSpPr>
        <p:sp>
          <p:nvSpPr>
            <p:cNvPr id="62534" name="Rectangle 33"/>
            <p:cNvSpPr>
              <a:spLocks/>
            </p:cNvSpPr>
            <p:nvPr/>
          </p:nvSpPr>
          <p:spPr bwMode="auto">
            <a:xfrm>
              <a:off x="2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35" name="Rectangle 34"/>
            <p:cNvSpPr>
              <a:spLocks/>
            </p:cNvSpPr>
            <p:nvPr/>
          </p:nvSpPr>
          <p:spPr bwMode="auto">
            <a:xfrm>
              <a:off x="0" y="16"/>
              <a:ext cx="904" cy="2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Argument 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x</a:t>
              </a:r>
            </a:p>
          </p:txBody>
        </p:sp>
      </p:grpSp>
      <p:grpSp>
        <p:nvGrpSpPr>
          <p:cNvPr id="12" name="Group 35"/>
          <p:cNvGrpSpPr>
            <a:grpSpLocks/>
          </p:cNvGrpSpPr>
          <p:nvPr/>
        </p:nvGrpSpPr>
        <p:grpSpPr bwMode="auto">
          <a:xfrm>
            <a:off x="6781800" y="2971800"/>
            <a:ext cx="1371600" cy="457200"/>
            <a:chOff x="0" y="0"/>
            <a:chExt cx="864" cy="288"/>
          </a:xfrm>
        </p:grpSpPr>
        <p:sp>
          <p:nvSpPr>
            <p:cNvPr id="62532" name="Rectangle 36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33" name="Rectangle 37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13" name="Group 38"/>
          <p:cNvGrpSpPr>
            <a:grpSpLocks/>
          </p:cNvGrpSpPr>
          <p:nvPr/>
        </p:nvGrpSpPr>
        <p:grpSpPr bwMode="auto">
          <a:xfrm>
            <a:off x="5410200" y="2971800"/>
            <a:ext cx="1371600" cy="457200"/>
            <a:chOff x="0" y="0"/>
            <a:chExt cx="864" cy="288"/>
          </a:xfrm>
        </p:grpSpPr>
        <p:sp>
          <p:nvSpPr>
            <p:cNvPr id="62530" name="Rectangle 39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31" name="Rectangle 40"/>
            <p:cNvSpPr>
              <a:spLocks/>
            </p:cNvSpPr>
            <p:nvPr/>
          </p:nvSpPr>
          <p:spPr bwMode="auto">
            <a:xfrm>
              <a:off x="210" y="32"/>
              <a:ext cx="443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&lt;&lt; 3</a:t>
              </a:r>
            </a:p>
          </p:txBody>
        </p:sp>
      </p:grpSp>
      <p:grpSp>
        <p:nvGrpSpPr>
          <p:cNvPr id="14" name="Group 41"/>
          <p:cNvGrpSpPr>
            <a:grpSpLocks/>
          </p:cNvGrpSpPr>
          <p:nvPr/>
        </p:nvGrpSpPr>
        <p:grpSpPr bwMode="auto">
          <a:xfrm>
            <a:off x="6781800" y="3429000"/>
            <a:ext cx="1371600" cy="457200"/>
            <a:chOff x="0" y="0"/>
            <a:chExt cx="864" cy="288"/>
          </a:xfrm>
        </p:grpSpPr>
        <p:sp>
          <p:nvSpPr>
            <p:cNvPr id="62528" name="Rectangle 42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29" name="Rectangle 43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  <p:grpSp>
        <p:nvGrpSpPr>
          <p:cNvPr id="15" name="Group 44"/>
          <p:cNvGrpSpPr>
            <a:grpSpLocks/>
          </p:cNvGrpSpPr>
          <p:nvPr/>
        </p:nvGrpSpPr>
        <p:grpSpPr bwMode="auto">
          <a:xfrm>
            <a:off x="5410200" y="3429000"/>
            <a:ext cx="1371600" cy="457200"/>
            <a:chOff x="0" y="0"/>
            <a:chExt cx="864" cy="288"/>
          </a:xfrm>
        </p:grpSpPr>
        <p:sp>
          <p:nvSpPr>
            <p:cNvPr id="62526" name="Rectangle 45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27" name="Rectangle 46"/>
            <p:cNvSpPr>
              <a:spLocks/>
            </p:cNvSpPr>
            <p:nvPr/>
          </p:nvSpPr>
          <p:spPr bwMode="auto">
            <a:xfrm>
              <a:off x="38" y="16"/>
              <a:ext cx="787" cy="2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Log. 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&gt;&gt; 2</a:t>
              </a:r>
            </a:p>
          </p:txBody>
        </p:sp>
      </p:grpSp>
      <p:grpSp>
        <p:nvGrpSpPr>
          <p:cNvPr id="16" name="Group 47"/>
          <p:cNvGrpSpPr>
            <a:grpSpLocks/>
          </p:cNvGrpSpPr>
          <p:nvPr/>
        </p:nvGrpSpPr>
        <p:grpSpPr bwMode="auto">
          <a:xfrm>
            <a:off x="6781800" y="3886200"/>
            <a:ext cx="1371600" cy="457200"/>
            <a:chOff x="0" y="0"/>
            <a:chExt cx="864" cy="288"/>
          </a:xfrm>
        </p:grpSpPr>
        <p:sp>
          <p:nvSpPr>
            <p:cNvPr id="62524" name="Rectangle 48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25" name="Rectangle 49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11</a:t>
              </a:r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  <p:grpSp>
        <p:nvGrpSpPr>
          <p:cNvPr id="17" name="Group 50"/>
          <p:cNvGrpSpPr>
            <a:grpSpLocks/>
          </p:cNvGrpSpPr>
          <p:nvPr/>
        </p:nvGrpSpPr>
        <p:grpSpPr bwMode="auto">
          <a:xfrm>
            <a:off x="5410200" y="3886200"/>
            <a:ext cx="1371600" cy="457200"/>
            <a:chOff x="0" y="0"/>
            <a:chExt cx="864" cy="288"/>
          </a:xfrm>
        </p:grpSpPr>
        <p:sp>
          <p:nvSpPr>
            <p:cNvPr id="62522" name="Rectangle 51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23" name="Rectangle 52"/>
            <p:cNvSpPr>
              <a:spLocks/>
            </p:cNvSpPr>
            <p:nvPr/>
          </p:nvSpPr>
          <p:spPr bwMode="auto">
            <a:xfrm>
              <a:off x="2" y="16"/>
              <a:ext cx="859" cy="2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Arith. 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&gt;&gt; 2</a:t>
              </a:r>
            </a:p>
          </p:txBody>
        </p:sp>
      </p:grpSp>
      <p:grpSp>
        <p:nvGrpSpPr>
          <p:cNvPr id="18" name="Group 53"/>
          <p:cNvGrpSpPr>
            <a:grpSpLocks/>
          </p:cNvGrpSpPr>
          <p:nvPr/>
        </p:nvGrpSpPr>
        <p:grpSpPr bwMode="auto">
          <a:xfrm>
            <a:off x="6781800" y="762000"/>
            <a:ext cx="1371600" cy="457200"/>
            <a:chOff x="0" y="0"/>
            <a:chExt cx="864" cy="288"/>
          </a:xfrm>
        </p:grpSpPr>
        <p:sp>
          <p:nvSpPr>
            <p:cNvPr id="62520" name="Rectangle 54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21" name="Rectangle 55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19" name="Group 56"/>
          <p:cNvGrpSpPr>
            <a:grpSpLocks/>
          </p:cNvGrpSpPr>
          <p:nvPr/>
        </p:nvGrpSpPr>
        <p:grpSpPr bwMode="auto">
          <a:xfrm>
            <a:off x="6781800" y="762000"/>
            <a:ext cx="1371600" cy="457200"/>
            <a:chOff x="0" y="0"/>
            <a:chExt cx="864" cy="288"/>
          </a:xfrm>
        </p:grpSpPr>
        <p:sp>
          <p:nvSpPr>
            <p:cNvPr id="62518" name="Rectangle 57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19" name="Rectangle 58"/>
            <p:cNvSpPr>
              <a:spLocks/>
            </p:cNvSpPr>
            <p:nvPr/>
          </p:nvSpPr>
          <p:spPr bwMode="auto">
            <a:xfrm>
              <a:off x="386" y="24"/>
              <a:ext cx="91" cy="23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endParaRPr lang="en-US" sz="1800" b="0" dirty="0">
                <a:solidFill>
                  <a:srgbClr val="000066"/>
                </a:solidFill>
                <a:latin typeface="Courier New Bold Italic" charset="0"/>
                <a:ea typeface="Courier New Bold Italic" charset="0"/>
                <a:cs typeface="Courier New Bold Italic" charset="0"/>
                <a:sym typeface="Courier New Bold Italic" charset="0"/>
              </a:endParaRPr>
            </a:p>
          </p:txBody>
        </p:sp>
      </p:grpSp>
      <p:grpSp>
        <p:nvGrpSpPr>
          <p:cNvPr id="20" name="Group 59"/>
          <p:cNvGrpSpPr>
            <a:grpSpLocks/>
          </p:cNvGrpSpPr>
          <p:nvPr/>
        </p:nvGrpSpPr>
        <p:grpSpPr bwMode="auto">
          <a:xfrm>
            <a:off x="6781800" y="1219200"/>
            <a:ext cx="1371600" cy="457200"/>
            <a:chOff x="0" y="0"/>
            <a:chExt cx="864" cy="288"/>
          </a:xfrm>
        </p:grpSpPr>
        <p:sp>
          <p:nvSpPr>
            <p:cNvPr id="62516" name="Rectangle 60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17" name="Rectangle 61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21" name="Group 62"/>
          <p:cNvGrpSpPr>
            <a:grpSpLocks/>
          </p:cNvGrpSpPr>
          <p:nvPr/>
        </p:nvGrpSpPr>
        <p:grpSpPr bwMode="auto">
          <a:xfrm>
            <a:off x="6781800" y="1219200"/>
            <a:ext cx="1314450" cy="457200"/>
            <a:chOff x="0" y="0"/>
            <a:chExt cx="828" cy="288"/>
          </a:xfrm>
        </p:grpSpPr>
        <p:sp>
          <p:nvSpPr>
            <p:cNvPr id="62514" name="Rectangle 63"/>
            <p:cNvSpPr>
              <a:spLocks/>
            </p:cNvSpPr>
            <p:nvPr/>
          </p:nvSpPr>
          <p:spPr bwMode="auto">
            <a:xfrm>
              <a:off x="0" y="0"/>
              <a:ext cx="828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15" name="Rectangle 64"/>
            <p:cNvSpPr>
              <a:spLocks/>
            </p:cNvSpPr>
            <p:nvPr/>
          </p:nvSpPr>
          <p:spPr bwMode="auto">
            <a:xfrm>
              <a:off x="386" y="24"/>
              <a:ext cx="91" cy="23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endParaRPr lang="en-US" sz="1800" b="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grpSp>
        <p:nvGrpSpPr>
          <p:cNvPr id="22" name="Group 65"/>
          <p:cNvGrpSpPr>
            <a:grpSpLocks/>
          </p:cNvGrpSpPr>
          <p:nvPr/>
        </p:nvGrpSpPr>
        <p:grpSpPr bwMode="auto">
          <a:xfrm>
            <a:off x="6781800" y="1676400"/>
            <a:ext cx="1371600" cy="457200"/>
            <a:chOff x="0" y="0"/>
            <a:chExt cx="864" cy="288"/>
          </a:xfrm>
        </p:grpSpPr>
        <p:sp>
          <p:nvSpPr>
            <p:cNvPr id="62512" name="Rectangle 66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13" name="Rectangle 67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23" name="Group 68"/>
          <p:cNvGrpSpPr>
            <a:grpSpLocks/>
          </p:cNvGrpSpPr>
          <p:nvPr/>
        </p:nvGrpSpPr>
        <p:grpSpPr bwMode="auto">
          <a:xfrm>
            <a:off x="6781800" y="1676400"/>
            <a:ext cx="1371600" cy="457200"/>
            <a:chOff x="0" y="0"/>
            <a:chExt cx="864" cy="288"/>
          </a:xfrm>
        </p:grpSpPr>
        <p:sp>
          <p:nvSpPr>
            <p:cNvPr id="62510" name="Rectangle 69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11" name="Rectangle 70"/>
            <p:cNvSpPr>
              <a:spLocks/>
            </p:cNvSpPr>
            <p:nvPr/>
          </p:nvSpPr>
          <p:spPr bwMode="auto">
            <a:xfrm>
              <a:off x="386" y="24"/>
              <a:ext cx="91" cy="23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endParaRPr lang="en-US" sz="1800" b="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grpSp>
        <p:nvGrpSpPr>
          <p:cNvPr id="24" name="Group 71"/>
          <p:cNvGrpSpPr>
            <a:grpSpLocks/>
          </p:cNvGrpSpPr>
          <p:nvPr/>
        </p:nvGrpSpPr>
        <p:grpSpPr bwMode="auto">
          <a:xfrm>
            <a:off x="6781800" y="2971800"/>
            <a:ext cx="1371600" cy="457200"/>
            <a:chOff x="0" y="0"/>
            <a:chExt cx="864" cy="288"/>
          </a:xfrm>
        </p:grpSpPr>
        <p:sp>
          <p:nvSpPr>
            <p:cNvPr id="62508" name="Rectangle 72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09" name="Rectangle 73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25" name="Group 74"/>
          <p:cNvGrpSpPr>
            <a:grpSpLocks/>
          </p:cNvGrpSpPr>
          <p:nvPr/>
        </p:nvGrpSpPr>
        <p:grpSpPr bwMode="auto">
          <a:xfrm>
            <a:off x="6781800" y="3429000"/>
            <a:ext cx="1371600" cy="457200"/>
            <a:chOff x="0" y="0"/>
            <a:chExt cx="864" cy="288"/>
          </a:xfrm>
        </p:grpSpPr>
        <p:sp>
          <p:nvSpPr>
            <p:cNvPr id="62506" name="Rectangle 75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07" name="Rectangle 76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  <p:grpSp>
        <p:nvGrpSpPr>
          <p:cNvPr id="26" name="Group 77"/>
          <p:cNvGrpSpPr>
            <a:grpSpLocks/>
          </p:cNvGrpSpPr>
          <p:nvPr/>
        </p:nvGrpSpPr>
        <p:grpSpPr bwMode="auto">
          <a:xfrm>
            <a:off x="6781800" y="3886200"/>
            <a:ext cx="1371600" cy="457200"/>
            <a:chOff x="0" y="0"/>
            <a:chExt cx="864" cy="288"/>
          </a:xfrm>
        </p:grpSpPr>
        <p:sp>
          <p:nvSpPr>
            <p:cNvPr id="62504" name="Rectangle 78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05" name="Rectangle 79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11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  <p:sp>
        <p:nvSpPr>
          <p:cNvPr id="62502" name="Rectangle 81"/>
          <p:cNvSpPr>
            <a:spLocks/>
          </p:cNvSpPr>
          <p:nvPr/>
        </p:nvSpPr>
        <p:spPr bwMode="auto">
          <a:xfrm>
            <a:off x="6781800" y="2971800"/>
            <a:ext cx="137160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66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solidFill>
                <a:srgbClr val="000000"/>
              </a:solidFill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grpSp>
        <p:nvGrpSpPr>
          <p:cNvPr id="28" name="Group 83"/>
          <p:cNvGrpSpPr>
            <a:grpSpLocks/>
          </p:cNvGrpSpPr>
          <p:nvPr/>
        </p:nvGrpSpPr>
        <p:grpSpPr bwMode="auto">
          <a:xfrm>
            <a:off x="6781800" y="3429000"/>
            <a:ext cx="1371600" cy="457200"/>
            <a:chOff x="0" y="0"/>
            <a:chExt cx="864" cy="288"/>
          </a:xfrm>
        </p:grpSpPr>
        <p:sp>
          <p:nvSpPr>
            <p:cNvPr id="62500" name="Rectangle 84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01" name="Rectangle 85"/>
            <p:cNvSpPr>
              <a:spLocks/>
            </p:cNvSpPr>
            <p:nvPr/>
          </p:nvSpPr>
          <p:spPr bwMode="auto">
            <a:xfrm>
              <a:off x="386" y="24"/>
              <a:ext cx="91" cy="23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endParaRPr lang="en-US" sz="1800" b="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grpSp>
        <p:nvGrpSpPr>
          <p:cNvPr id="29" name="Group 86"/>
          <p:cNvGrpSpPr>
            <a:grpSpLocks/>
          </p:cNvGrpSpPr>
          <p:nvPr/>
        </p:nvGrpSpPr>
        <p:grpSpPr bwMode="auto">
          <a:xfrm>
            <a:off x="6781800" y="3886200"/>
            <a:ext cx="1371600" cy="457200"/>
            <a:chOff x="0" y="0"/>
            <a:chExt cx="864" cy="288"/>
          </a:xfrm>
        </p:grpSpPr>
        <p:sp>
          <p:nvSpPr>
            <p:cNvPr id="62498" name="Rectangle 87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499" name="Rectangle 88"/>
            <p:cNvSpPr>
              <a:spLocks/>
            </p:cNvSpPr>
            <p:nvPr/>
          </p:nvSpPr>
          <p:spPr bwMode="auto">
            <a:xfrm>
              <a:off x="386" y="24"/>
              <a:ext cx="91" cy="23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endParaRPr lang="en-US" sz="1800" b="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88" name="Rectangle 32"/>
          <p:cNvSpPr>
            <a:spLocks noChangeArrowheads="1"/>
          </p:cNvSpPr>
          <p:nvPr/>
        </p:nvSpPr>
        <p:spPr bwMode="auto">
          <a:xfrm>
            <a:off x="5376862" y="4419600"/>
            <a:ext cx="3538538" cy="2400657"/>
          </a:xfrm>
          <a:prstGeom prst="rect">
            <a:avLst/>
          </a:prstGeom>
          <a:solidFill>
            <a:srgbClr val="EFBFBF"/>
          </a:solidFill>
          <a:ln w="19050">
            <a:noFill/>
            <a:miter lim="800000"/>
            <a:headEnd/>
            <a:tailEnd type="none" w="sm" len="sm"/>
          </a:ln>
        </p:spPr>
        <p:txBody>
          <a:bodyPr wrap="square" lIns="45720" rIns="45720">
            <a:spAutoFit/>
          </a:bodyPr>
          <a:lstStyle/>
          <a:p>
            <a:r>
              <a:rPr lang="en-US" sz="1800" b="0" dirty="0">
                <a:latin typeface="Calibri" charset="0"/>
                <a:ea typeface="Calibri" charset="0"/>
                <a:cs typeface="Calibri" charset="0"/>
              </a:rPr>
              <a:t>C, however, has only one right shift operator, &gt;&gt;. Many C compilers choose which right shift to perform depending on what type of integer is being shifted; often signed integers are shifted using the arithmetic shift, and unsigned integers are shifted using the logical shift</a:t>
            </a:r>
            <a:r>
              <a:rPr lang="en-US" b="0" dirty="0">
                <a:latin typeface="Calibri" charset="0"/>
                <a:ea typeface="Calibri" charset="0"/>
                <a:cs typeface="Calibri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0414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/>
              <a:t>Shift Operations</a:t>
            </a:r>
          </a:p>
        </p:txBody>
      </p:sp>
      <p:sp>
        <p:nvSpPr>
          <p:cNvPr id="62469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Left Shift: 	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x &lt;&lt; y</a:t>
            </a:r>
            <a:endParaRPr lang="en-US" dirty="0"/>
          </a:p>
          <a:p>
            <a:pPr marL="552450" lvl="1" eaLnBrk="1" hangingPunct="1"/>
            <a:r>
              <a:rPr lang="en-US" dirty="0"/>
              <a:t>Shift bit-vector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x</a:t>
            </a:r>
            <a:r>
              <a:rPr lang="en-US" dirty="0"/>
              <a:t> left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y</a:t>
            </a:r>
            <a:r>
              <a:rPr lang="en-US" dirty="0"/>
              <a:t> positions</a:t>
            </a:r>
          </a:p>
          <a:p>
            <a:pPr marL="1181100" lvl="3" eaLnBrk="1" hangingPunct="1"/>
            <a:r>
              <a:rPr lang="en-US" dirty="0"/>
              <a:t>Throw away extra bits on left</a:t>
            </a:r>
          </a:p>
          <a:p>
            <a:pPr marL="838200" lvl="2" eaLnBrk="1" hangingPunct="1"/>
            <a:r>
              <a:rPr lang="en-US" dirty="0"/>
              <a:t>Fill with 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0</a:t>
            </a:r>
            <a:r>
              <a:rPr lang="en-US" dirty="0"/>
              <a:t>’s on right</a:t>
            </a:r>
          </a:p>
          <a:p>
            <a:pPr eaLnBrk="1" hangingPunct="1"/>
            <a:r>
              <a:rPr lang="en-US" dirty="0"/>
              <a:t>Right Shift: 	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x &gt;&gt; y</a:t>
            </a:r>
            <a:endParaRPr lang="en-US" dirty="0"/>
          </a:p>
          <a:p>
            <a:pPr marL="552450" lvl="1" eaLnBrk="1" hangingPunct="1"/>
            <a:r>
              <a:rPr lang="en-US" dirty="0"/>
              <a:t>Shift bit-vector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x</a:t>
            </a:r>
            <a:r>
              <a:rPr lang="en-US" dirty="0"/>
              <a:t> right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y</a:t>
            </a:r>
            <a:r>
              <a:rPr lang="en-US" dirty="0"/>
              <a:t> positions</a:t>
            </a:r>
          </a:p>
          <a:p>
            <a:pPr marL="838200" lvl="2" eaLnBrk="1" hangingPunct="1"/>
            <a:r>
              <a:rPr lang="en-US" dirty="0"/>
              <a:t>Throw away extra bits on right</a:t>
            </a:r>
          </a:p>
          <a:p>
            <a:pPr marL="552450" lvl="1" eaLnBrk="1" hangingPunct="1"/>
            <a:r>
              <a:rPr lang="en-US" dirty="0"/>
              <a:t>Logical shift</a:t>
            </a:r>
          </a:p>
          <a:p>
            <a:pPr marL="838200" lvl="2" eaLnBrk="1" hangingPunct="1"/>
            <a:r>
              <a:rPr lang="en-US" dirty="0"/>
              <a:t>Fill with 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0</a:t>
            </a:r>
            <a:r>
              <a:rPr lang="en-US" dirty="0"/>
              <a:t>’s on left</a:t>
            </a:r>
          </a:p>
          <a:p>
            <a:pPr marL="552450" lvl="1" eaLnBrk="1" hangingPunct="1"/>
            <a:r>
              <a:rPr lang="en-US" dirty="0"/>
              <a:t>Arithmetic shift</a:t>
            </a:r>
          </a:p>
          <a:p>
            <a:pPr marL="838200" lvl="2" eaLnBrk="1" hangingPunct="1"/>
            <a:r>
              <a:rPr lang="en-US" dirty="0"/>
              <a:t>Replicate most significant bit on right</a:t>
            </a:r>
          </a:p>
          <a:p>
            <a:pPr eaLnBrk="1" hangingPunct="1"/>
            <a:r>
              <a:rPr lang="en-US" dirty="0"/>
              <a:t>Undefined Behavior</a:t>
            </a:r>
          </a:p>
          <a:p>
            <a:pPr marL="552450" lvl="1" eaLnBrk="1" hangingPunct="1"/>
            <a:r>
              <a:rPr lang="en-US" dirty="0"/>
              <a:t>Shift amount &lt; 0 or ≥ word size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781800" y="304800"/>
            <a:ext cx="1371600" cy="457200"/>
            <a:chOff x="0" y="0"/>
            <a:chExt cx="864" cy="288"/>
          </a:xfrm>
        </p:grpSpPr>
        <p:sp>
          <p:nvSpPr>
            <p:cNvPr id="62552" name="Rectangle 6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53" name="Rectangle 7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01100010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5376863" y="304800"/>
            <a:ext cx="1436687" cy="457200"/>
            <a:chOff x="0" y="0"/>
            <a:chExt cx="904" cy="288"/>
          </a:xfrm>
        </p:grpSpPr>
        <p:sp>
          <p:nvSpPr>
            <p:cNvPr id="62550" name="Rectangle 9"/>
            <p:cNvSpPr>
              <a:spLocks/>
            </p:cNvSpPr>
            <p:nvPr/>
          </p:nvSpPr>
          <p:spPr bwMode="auto">
            <a:xfrm>
              <a:off x="2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51" name="Rectangle 10"/>
            <p:cNvSpPr>
              <a:spLocks/>
            </p:cNvSpPr>
            <p:nvPr/>
          </p:nvSpPr>
          <p:spPr bwMode="auto">
            <a:xfrm>
              <a:off x="0" y="16"/>
              <a:ext cx="904" cy="2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Argument 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x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6781800" y="762000"/>
            <a:ext cx="1371600" cy="457200"/>
            <a:chOff x="0" y="0"/>
            <a:chExt cx="864" cy="288"/>
          </a:xfrm>
        </p:grpSpPr>
        <p:sp>
          <p:nvSpPr>
            <p:cNvPr id="62548" name="Rectangle 12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49" name="Rectangle 13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5410200" y="762000"/>
            <a:ext cx="1371600" cy="457200"/>
            <a:chOff x="0" y="0"/>
            <a:chExt cx="864" cy="288"/>
          </a:xfrm>
        </p:grpSpPr>
        <p:sp>
          <p:nvSpPr>
            <p:cNvPr id="62546" name="Rectangle 15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47" name="Rectangle 16"/>
            <p:cNvSpPr>
              <a:spLocks/>
            </p:cNvSpPr>
            <p:nvPr/>
          </p:nvSpPr>
          <p:spPr bwMode="auto">
            <a:xfrm>
              <a:off x="210" y="32"/>
              <a:ext cx="443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&lt;&lt; 3</a:t>
              </a: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6781800" y="1219200"/>
            <a:ext cx="1371600" cy="457200"/>
            <a:chOff x="0" y="0"/>
            <a:chExt cx="864" cy="288"/>
          </a:xfrm>
        </p:grpSpPr>
        <p:sp>
          <p:nvSpPr>
            <p:cNvPr id="62544" name="Rectangle 18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45" name="Rectangle 19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5410200" y="1219200"/>
            <a:ext cx="1371600" cy="457200"/>
            <a:chOff x="0" y="0"/>
            <a:chExt cx="864" cy="288"/>
          </a:xfrm>
        </p:grpSpPr>
        <p:sp>
          <p:nvSpPr>
            <p:cNvPr id="62542" name="Rectangle 21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43" name="Rectangle 22"/>
            <p:cNvSpPr>
              <a:spLocks/>
            </p:cNvSpPr>
            <p:nvPr/>
          </p:nvSpPr>
          <p:spPr bwMode="auto">
            <a:xfrm>
              <a:off x="38" y="16"/>
              <a:ext cx="787" cy="2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Log. 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&gt;&gt; 2</a:t>
              </a:r>
            </a:p>
          </p:txBody>
        </p: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6781800" y="1676400"/>
            <a:ext cx="1371600" cy="457200"/>
            <a:chOff x="0" y="0"/>
            <a:chExt cx="864" cy="288"/>
          </a:xfrm>
        </p:grpSpPr>
        <p:sp>
          <p:nvSpPr>
            <p:cNvPr id="62540" name="Rectangle 24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41" name="Rectangle 25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5410200" y="1676400"/>
            <a:ext cx="1371600" cy="457200"/>
            <a:chOff x="0" y="0"/>
            <a:chExt cx="864" cy="288"/>
          </a:xfrm>
        </p:grpSpPr>
        <p:sp>
          <p:nvSpPr>
            <p:cNvPr id="62538" name="Rectangle 27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39" name="Rectangle 28"/>
            <p:cNvSpPr>
              <a:spLocks/>
            </p:cNvSpPr>
            <p:nvPr/>
          </p:nvSpPr>
          <p:spPr bwMode="auto">
            <a:xfrm>
              <a:off x="2" y="16"/>
              <a:ext cx="859" cy="2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Arith. 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&gt;&gt; 2</a:t>
              </a:r>
            </a:p>
          </p:txBody>
        </p:sp>
      </p:grp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6781800" y="2514600"/>
            <a:ext cx="1371600" cy="457200"/>
            <a:chOff x="0" y="0"/>
            <a:chExt cx="864" cy="288"/>
          </a:xfrm>
        </p:grpSpPr>
        <p:sp>
          <p:nvSpPr>
            <p:cNvPr id="62536" name="Rectangle 30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37" name="Rectangle 31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 dirty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10100010</a:t>
              </a:r>
            </a:p>
          </p:txBody>
        </p:sp>
      </p:grpSp>
      <p:grpSp>
        <p:nvGrpSpPr>
          <p:cNvPr id="11" name="Group 32"/>
          <p:cNvGrpSpPr>
            <a:grpSpLocks/>
          </p:cNvGrpSpPr>
          <p:nvPr/>
        </p:nvGrpSpPr>
        <p:grpSpPr bwMode="auto">
          <a:xfrm>
            <a:off x="5376863" y="2514600"/>
            <a:ext cx="1436687" cy="457200"/>
            <a:chOff x="0" y="0"/>
            <a:chExt cx="904" cy="288"/>
          </a:xfrm>
        </p:grpSpPr>
        <p:sp>
          <p:nvSpPr>
            <p:cNvPr id="62534" name="Rectangle 33"/>
            <p:cNvSpPr>
              <a:spLocks/>
            </p:cNvSpPr>
            <p:nvPr/>
          </p:nvSpPr>
          <p:spPr bwMode="auto">
            <a:xfrm>
              <a:off x="2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35" name="Rectangle 34"/>
            <p:cNvSpPr>
              <a:spLocks/>
            </p:cNvSpPr>
            <p:nvPr/>
          </p:nvSpPr>
          <p:spPr bwMode="auto">
            <a:xfrm>
              <a:off x="0" y="16"/>
              <a:ext cx="904" cy="2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Argument 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x</a:t>
              </a:r>
            </a:p>
          </p:txBody>
        </p:sp>
      </p:grpSp>
      <p:grpSp>
        <p:nvGrpSpPr>
          <p:cNvPr id="12" name="Group 35"/>
          <p:cNvGrpSpPr>
            <a:grpSpLocks/>
          </p:cNvGrpSpPr>
          <p:nvPr/>
        </p:nvGrpSpPr>
        <p:grpSpPr bwMode="auto">
          <a:xfrm>
            <a:off x="6781800" y="2971800"/>
            <a:ext cx="1371600" cy="457200"/>
            <a:chOff x="0" y="0"/>
            <a:chExt cx="864" cy="288"/>
          </a:xfrm>
        </p:grpSpPr>
        <p:sp>
          <p:nvSpPr>
            <p:cNvPr id="62532" name="Rectangle 36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33" name="Rectangle 37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13" name="Group 38"/>
          <p:cNvGrpSpPr>
            <a:grpSpLocks/>
          </p:cNvGrpSpPr>
          <p:nvPr/>
        </p:nvGrpSpPr>
        <p:grpSpPr bwMode="auto">
          <a:xfrm>
            <a:off x="5410200" y="2971800"/>
            <a:ext cx="1371600" cy="457200"/>
            <a:chOff x="0" y="0"/>
            <a:chExt cx="864" cy="288"/>
          </a:xfrm>
        </p:grpSpPr>
        <p:sp>
          <p:nvSpPr>
            <p:cNvPr id="62530" name="Rectangle 39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31" name="Rectangle 40"/>
            <p:cNvSpPr>
              <a:spLocks/>
            </p:cNvSpPr>
            <p:nvPr/>
          </p:nvSpPr>
          <p:spPr bwMode="auto">
            <a:xfrm>
              <a:off x="210" y="32"/>
              <a:ext cx="443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&lt;&lt; 3</a:t>
              </a:r>
            </a:p>
          </p:txBody>
        </p:sp>
      </p:grpSp>
      <p:grpSp>
        <p:nvGrpSpPr>
          <p:cNvPr id="14" name="Group 41"/>
          <p:cNvGrpSpPr>
            <a:grpSpLocks/>
          </p:cNvGrpSpPr>
          <p:nvPr/>
        </p:nvGrpSpPr>
        <p:grpSpPr bwMode="auto">
          <a:xfrm>
            <a:off x="6781800" y="3429000"/>
            <a:ext cx="1371600" cy="457200"/>
            <a:chOff x="0" y="0"/>
            <a:chExt cx="864" cy="288"/>
          </a:xfrm>
        </p:grpSpPr>
        <p:sp>
          <p:nvSpPr>
            <p:cNvPr id="62528" name="Rectangle 42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29" name="Rectangle 43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  <p:grpSp>
        <p:nvGrpSpPr>
          <p:cNvPr id="15" name="Group 44"/>
          <p:cNvGrpSpPr>
            <a:grpSpLocks/>
          </p:cNvGrpSpPr>
          <p:nvPr/>
        </p:nvGrpSpPr>
        <p:grpSpPr bwMode="auto">
          <a:xfrm>
            <a:off x="5410200" y="3429000"/>
            <a:ext cx="1371600" cy="457200"/>
            <a:chOff x="0" y="0"/>
            <a:chExt cx="864" cy="288"/>
          </a:xfrm>
        </p:grpSpPr>
        <p:sp>
          <p:nvSpPr>
            <p:cNvPr id="62526" name="Rectangle 45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27" name="Rectangle 46"/>
            <p:cNvSpPr>
              <a:spLocks/>
            </p:cNvSpPr>
            <p:nvPr/>
          </p:nvSpPr>
          <p:spPr bwMode="auto">
            <a:xfrm>
              <a:off x="38" y="16"/>
              <a:ext cx="787" cy="2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Log. 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&gt;&gt; 2</a:t>
              </a:r>
            </a:p>
          </p:txBody>
        </p:sp>
      </p:grpSp>
      <p:grpSp>
        <p:nvGrpSpPr>
          <p:cNvPr id="16" name="Group 47"/>
          <p:cNvGrpSpPr>
            <a:grpSpLocks/>
          </p:cNvGrpSpPr>
          <p:nvPr/>
        </p:nvGrpSpPr>
        <p:grpSpPr bwMode="auto">
          <a:xfrm>
            <a:off x="6781800" y="3886200"/>
            <a:ext cx="1371600" cy="457200"/>
            <a:chOff x="0" y="0"/>
            <a:chExt cx="864" cy="288"/>
          </a:xfrm>
        </p:grpSpPr>
        <p:sp>
          <p:nvSpPr>
            <p:cNvPr id="62524" name="Rectangle 48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25" name="Rectangle 49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11</a:t>
              </a:r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  <p:grpSp>
        <p:nvGrpSpPr>
          <p:cNvPr id="17" name="Group 50"/>
          <p:cNvGrpSpPr>
            <a:grpSpLocks/>
          </p:cNvGrpSpPr>
          <p:nvPr/>
        </p:nvGrpSpPr>
        <p:grpSpPr bwMode="auto">
          <a:xfrm>
            <a:off x="5410200" y="3886200"/>
            <a:ext cx="1371600" cy="457200"/>
            <a:chOff x="0" y="0"/>
            <a:chExt cx="864" cy="288"/>
          </a:xfrm>
        </p:grpSpPr>
        <p:sp>
          <p:nvSpPr>
            <p:cNvPr id="62522" name="Rectangle 51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23" name="Rectangle 52"/>
            <p:cNvSpPr>
              <a:spLocks/>
            </p:cNvSpPr>
            <p:nvPr/>
          </p:nvSpPr>
          <p:spPr bwMode="auto">
            <a:xfrm>
              <a:off x="2" y="16"/>
              <a:ext cx="859" cy="2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Arith. 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&gt;&gt; 2</a:t>
              </a:r>
            </a:p>
          </p:txBody>
        </p:sp>
      </p:grpSp>
      <p:grpSp>
        <p:nvGrpSpPr>
          <p:cNvPr id="18" name="Group 53"/>
          <p:cNvGrpSpPr>
            <a:grpSpLocks/>
          </p:cNvGrpSpPr>
          <p:nvPr/>
        </p:nvGrpSpPr>
        <p:grpSpPr bwMode="auto">
          <a:xfrm>
            <a:off x="6781800" y="762000"/>
            <a:ext cx="1371600" cy="457200"/>
            <a:chOff x="0" y="0"/>
            <a:chExt cx="864" cy="288"/>
          </a:xfrm>
        </p:grpSpPr>
        <p:sp>
          <p:nvSpPr>
            <p:cNvPr id="62520" name="Rectangle 54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21" name="Rectangle 55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19" name="Group 56"/>
          <p:cNvGrpSpPr>
            <a:grpSpLocks/>
          </p:cNvGrpSpPr>
          <p:nvPr/>
        </p:nvGrpSpPr>
        <p:grpSpPr bwMode="auto">
          <a:xfrm>
            <a:off x="6781800" y="762000"/>
            <a:ext cx="1371600" cy="457200"/>
            <a:chOff x="0" y="0"/>
            <a:chExt cx="864" cy="288"/>
          </a:xfrm>
        </p:grpSpPr>
        <p:sp>
          <p:nvSpPr>
            <p:cNvPr id="62518" name="Rectangle 57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19" name="Rectangle 58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>
                  <a:solidFill>
                    <a:srgbClr val="000066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20" name="Group 59"/>
          <p:cNvGrpSpPr>
            <a:grpSpLocks/>
          </p:cNvGrpSpPr>
          <p:nvPr/>
        </p:nvGrpSpPr>
        <p:grpSpPr bwMode="auto">
          <a:xfrm>
            <a:off x="6781800" y="1219200"/>
            <a:ext cx="1371600" cy="457200"/>
            <a:chOff x="0" y="0"/>
            <a:chExt cx="864" cy="288"/>
          </a:xfrm>
        </p:grpSpPr>
        <p:sp>
          <p:nvSpPr>
            <p:cNvPr id="62516" name="Rectangle 60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17" name="Rectangle 61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21" name="Group 62"/>
          <p:cNvGrpSpPr>
            <a:grpSpLocks/>
          </p:cNvGrpSpPr>
          <p:nvPr/>
        </p:nvGrpSpPr>
        <p:grpSpPr bwMode="auto">
          <a:xfrm>
            <a:off x="6781800" y="1219200"/>
            <a:ext cx="1371600" cy="457200"/>
            <a:chOff x="0" y="0"/>
            <a:chExt cx="864" cy="288"/>
          </a:xfrm>
        </p:grpSpPr>
        <p:sp>
          <p:nvSpPr>
            <p:cNvPr id="62514" name="Rectangle 63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15" name="Rectangle 64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22" name="Group 65"/>
          <p:cNvGrpSpPr>
            <a:grpSpLocks/>
          </p:cNvGrpSpPr>
          <p:nvPr/>
        </p:nvGrpSpPr>
        <p:grpSpPr bwMode="auto">
          <a:xfrm>
            <a:off x="6781800" y="1676400"/>
            <a:ext cx="1371600" cy="457200"/>
            <a:chOff x="0" y="0"/>
            <a:chExt cx="864" cy="288"/>
          </a:xfrm>
        </p:grpSpPr>
        <p:sp>
          <p:nvSpPr>
            <p:cNvPr id="62512" name="Rectangle 66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13" name="Rectangle 67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23" name="Group 68"/>
          <p:cNvGrpSpPr>
            <a:grpSpLocks/>
          </p:cNvGrpSpPr>
          <p:nvPr/>
        </p:nvGrpSpPr>
        <p:grpSpPr bwMode="auto">
          <a:xfrm>
            <a:off x="6781800" y="1676400"/>
            <a:ext cx="1371600" cy="457200"/>
            <a:chOff x="0" y="0"/>
            <a:chExt cx="864" cy="288"/>
          </a:xfrm>
        </p:grpSpPr>
        <p:sp>
          <p:nvSpPr>
            <p:cNvPr id="62510" name="Rectangle 69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11" name="Rectangle 70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24" name="Group 71"/>
          <p:cNvGrpSpPr>
            <a:grpSpLocks/>
          </p:cNvGrpSpPr>
          <p:nvPr/>
        </p:nvGrpSpPr>
        <p:grpSpPr bwMode="auto">
          <a:xfrm>
            <a:off x="6781800" y="2971800"/>
            <a:ext cx="1371600" cy="457200"/>
            <a:chOff x="0" y="0"/>
            <a:chExt cx="864" cy="288"/>
          </a:xfrm>
        </p:grpSpPr>
        <p:sp>
          <p:nvSpPr>
            <p:cNvPr id="62508" name="Rectangle 72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09" name="Rectangle 73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25" name="Group 74"/>
          <p:cNvGrpSpPr>
            <a:grpSpLocks/>
          </p:cNvGrpSpPr>
          <p:nvPr/>
        </p:nvGrpSpPr>
        <p:grpSpPr bwMode="auto">
          <a:xfrm>
            <a:off x="6781800" y="3429000"/>
            <a:ext cx="1371600" cy="457200"/>
            <a:chOff x="0" y="0"/>
            <a:chExt cx="864" cy="288"/>
          </a:xfrm>
        </p:grpSpPr>
        <p:sp>
          <p:nvSpPr>
            <p:cNvPr id="62506" name="Rectangle 75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07" name="Rectangle 76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  <p:grpSp>
        <p:nvGrpSpPr>
          <p:cNvPr id="26" name="Group 77"/>
          <p:cNvGrpSpPr>
            <a:grpSpLocks/>
          </p:cNvGrpSpPr>
          <p:nvPr/>
        </p:nvGrpSpPr>
        <p:grpSpPr bwMode="auto">
          <a:xfrm>
            <a:off x="6781800" y="3886200"/>
            <a:ext cx="1371600" cy="457200"/>
            <a:chOff x="0" y="0"/>
            <a:chExt cx="864" cy="288"/>
          </a:xfrm>
        </p:grpSpPr>
        <p:sp>
          <p:nvSpPr>
            <p:cNvPr id="62504" name="Rectangle 78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05" name="Rectangle 79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11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  <p:grpSp>
        <p:nvGrpSpPr>
          <p:cNvPr id="27" name="Group 80"/>
          <p:cNvGrpSpPr>
            <a:grpSpLocks/>
          </p:cNvGrpSpPr>
          <p:nvPr/>
        </p:nvGrpSpPr>
        <p:grpSpPr bwMode="auto">
          <a:xfrm>
            <a:off x="6781800" y="2971800"/>
            <a:ext cx="1371600" cy="457200"/>
            <a:chOff x="0" y="0"/>
            <a:chExt cx="864" cy="288"/>
          </a:xfrm>
        </p:grpSpPr>
        <p:sp>
          <p:nvSpPr>
            <p:cNvPr id="62502" name="Rectangle 81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03" name="Rectangle 82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>
                  <a:solidFill>
                    <a:srgbClr val="000066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28" name="Group 83"/>
          <p:cNvGrpSpPr>
            <a:grpSpLocks/>
          </p:cNvGrpSpPr>
          <p:nvPr/>
        </p:nvGrpSpPr>
        <p:grpSpPr bwMode="auto">
          <a:xfrm>
            <a:off x="6781800" y="3429000"/>
            <a:ext cx="1371600" cy="457200"/>
            <a:chOff x="0" y="0"/>
            <a:chExt cx="864" cy="288"/>
          </a:xfrm>
        </p:grpSpPr>
        <p:sp>
          <p:nvSpPr>
            <p:cNvPr id="62500" name="Rectangle 84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01" name="Rectangle 85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  <p:grpSp>
        <p:nvGrpSpPr>
          <p:cNvPr id="29" name="Group 86"/>
          <p:cNvGrpSpPr>
            <a:grpSpLocks/>
          </p:cNvGrpSpPr>
          <p:nvPr/>
        </p:nvGrpSpPr>
        <p:grpSpPr bwMode="auto">
          <a:xfrm>
            <a:off x="6781800" y="3886200"/>
            <a:ext cx="1371600" cy="457200"/>
            <a:chOff x="0" y="0"/>
            <a:chExt cx="864" cy="288"/>
          </a:xfrm>
        </p:grpSpPr>
        <p:sp>
          <p:nvSpPr>
            <p:cNvPr id="62498" name="Rectangle 87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499" name="Rectangle 88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11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  <p:sp>
        <p:nvSpPr>
          <p:cNvPr id="88" name="Rectangle 32"/>
          <p:cNvSpPr>
            <a:spLocks noChangeArrowheads="1"/>
          </p:cNvSpPr>
          <p:nvPr/>
        </p:nvSpPr>
        <p:spPr bwMode="auto">
          <a:xfrm>
            <a:off x="5376862" y="4419600"/>
            <a:ext cx="3538538" cy="2400657"/>
          </a:xfrm>
          <a:prstGeom prst="rect">
            <a:avLst/>
          </a:prstGeom>
          <a:solidFill>
            <a:srgbClr val="EFBFBF"/>
          </a:solidFill>
          <a:ln w="19050">
            <a:noFill/>
            <a:miter lim="800000"/>
            <a:headEnd/>
            <a:tailEnd type="none" w="sm" len="sm"/>
          </a:ln>
        </p:spPr>
        <p:txBody>
          <a:bodyPr wrap="square" lIns="45720" rIns="45720">
            <a:spAutoFit/>
          </a:bodyPr>
          <a:lstStyle/>
          <a:p>
            <a:r>
              <a:rPr lang="en-US" sz="1800" b="0" dirty="0">
                <a:latin typeface="Calibri" charset="0"/>
                <a:ea typeface="Calibri" charset="0"/>
                <a:cs typeface="Calibri" charset="0"/>
              </a:rPr>
              <a:t>C, however, has only one right shift operator, &gt;&gt;. Many C compilers choose which right shift to perform depending on what type of integer is being shifted; often signed integers are shifted using the arithmetic shift, and unsigned integers are shifted using the logical shift</a:t>
            </a:r>
            <a:r>
              <a:rPr lang="en-US" b="0" dirty="0">
                <a:latin typeface="Calibri" charset="0"/>
                <a:ea typeface="Calibri" charset="0"/>
                <a:cs typeface="Calibri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536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1E042-E8A6-44D6-A65A-F8957883C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9090" name="Picture 2" descr="The Story behind the Famous Windows XP Desktop Background - Artsy">
            <a:extLst>
              <a:ext uri="{FF2B5EF4-FFF2-40B4-BE49-F238E27FC236}">
                <a16:creationId xmlns:a16="http://schemas.microsoft.com/office/drawing/2014/main" id="{B7DDAB26-634F-46F9-900F-8476BC453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018" y="2133600"/>
            <a:ext cx="5204801" cy="4185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092" name="Picture 4" descr="Windows 11 Hd Wallpaper 2018 | Windows wallpaper, Microsoft wallpaper, Wallpaper  windows 10">
            <a:extLst>
              <a:ext uri="{FF2B5EF4-FFF2-40B4-BE49-F238E27FC236}">
                <a16:creationId xmlns:a16="http://schemas.microsoft.com/office/drawing/2014/main" id="{55720168-310F-4631-A572-51A66594C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398" y="1275158"/>
            <a:ext cx="5237870" cy="3273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CFFF3F6-D07C-402E-A554-4F0D81AB44F6}"/>
              </a:ext>
            </a:extLst>
          </p:cNvPr>
          <p:cNvSpPr/>
          <p:nvPr/>
        </p:nvSpPr>
        <p:spPr bwMode="auto">
          <a:xfrm>
            <a:off x="5574199" y="3997010"/>
            <a:ext cx="2667000" cy="2362200"/>
          </a:xfrm>
          <a:prstGeom prst="rect">
            <a:avLst/>
          </a:prstGeom>
          <a:solidFill>
            <a:srgbClr val="C00000"/>
          </a:solidFill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1C42EA-30B5-432E-8889-CB090BFE2F20}"/>
              </a:ext>
            </a:extLst>
          </p:cNvPr>
          <p:cNvSpPr/>
          <p:nvPr/>
        </p:nvSpPr>
        <p:spPr bwMode="auto">
          <a:xfrm>
            <a:off x="1524000" y="1600200"/>
            <a:ext cx="1828800" cy="1066800"/>
          </a:xfrm>
          <a:prstGeom prst="rec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A82D43-F60A-4BE5-854E-48B48A8A692D}"/>
              </a:ext>
            </a:extLst>
          </p:cNvPr>
          <p:cNvSpPr/>
          <p:nvPr/>
        </p:nvSpPr>
        <p:spPr bwMode="auto">
          <a:xfrm>
            <a:off x="1524000" y="1600200"/>
            <a:ext cx="4495800" cy="3200400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2269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84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dirty="0">
                <a:ea typeface="+mj-ea"/>
              </a:rPr>
              <a:t>Swap</a:t>
            </a:r>
          </a:p>
        </p:txBody>
      </p:sp>
      <p:sp>
        <p:nvSpPr>
          <p:cNvPr id="39940" name="Rectangle 4"/>
          <p:cNvSpPr>
            <a:spLocks noGrp="1" noChangeArrowheads="1"/>
          </p:cNvSpPr>
          <p:nvPr>
            <p:ph sz="half" idx="1"/>
          </p:nvPr>
        </p:nvSpPr>
        <p:spPr>
          <a:xfrm>
            <a:off x="638174" y="4876799"/>
            <a:ext cx="7591425" cy="1457325"/>
          </a:xfrm>
        </p:spPr>
        <p:txBody>
          <a:bodyPr lIns="90360" tIns="44280" rIns="90360" bIns="44280"/>
          <a:lstStyle/>
          <a:p>
            <a:pPr marL="739775" lvl="1" indent="-242888" eaLnBrk="1" hangingPunct="1">
              <a:lnSpc>
                <a:spcPct val="84000"/>
              </a:lnSpc>
              <a:buFont typeface="Wingdings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dirty="0"/>
              <a:t>Challenge: Can you code swap function without using a temporary variable?</a:t>
            </a:r>
          </a:p>
          <a:p>
            <a:pPr marL="739775" lvl="1" indent="-242888" eaLnBrk="1" hangingPunct="1">
              <a:lnSpc>
                <a:spcPct val="84000"/>
              </a:lnSpc>
              <a:buFont typeface="Wingdings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dirty="0"/>
              <a:t>Hint: Use bitwise XOR (^)</a:t>
            </a:r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1128713" y="1412875"/>
            <a:ext cx="4281487" cy="2168525"/>
          </a:xfrm>
          <a:prstGeom prst="rect">
            <a:avLst/>
          </a:prstGeom>
          <a:noFill/>
          <a:ln w="38160">
            <a:solidFill>
              <a:srgbClr val="000066"/>
            </a:solidFill>
            <a:miter lim="800000"/>
            <a:headEnd/>
            <a:tailEnd/>
          </a:ln>
        </p:spPr>
        <p:txBody>
          <a:bodyPr lIns="90360" tIns="44280" rIns="90360" bIns="44280"/>
          <a:lstStyle/>
          <a:p>
            <a:pPr marL="381000" indent="-381000" eaLnBrk="1" hangingPunct="1">
              <a:lnSpc>
                <a:spcPct val="95000"/>
              </a:lnSpc>
              <a:tabLst>
                <a:tab pos="381000" algn="l"/>
                <a:tab pos="838200" algn="l"/>
                <a:tab pos="1295400" algn="l"/>
                <a:tab pos="1752600" algn="l"/>
                <a:tab pos="2209800" algn="l"/>
                <a:tab pos="2667000" algn="l"/>
                <a:tab pos="3124200" algn="l"/>
                <a:tab pos="3581400" algn="l"/>
                <a:tab pos="4038600" algn="l"/>
                <a:tab pos="4495800" algn="l"/>
                <a:tab pos="4953000" algn="l"/>
                <a:tab pos="5410200" algn="l"/>
                <a:tab pos="5867400" algn="l"/>
                <a:tab pos="6324600" algn="l"/>
                <a:tab pos="6781800" algn="l"/>
                <a:tab pos="7239000" algn="l"/>
                <a:tab pos="7696200" algn="l"/>
                <a:tab pos="8153400" algn="l"/>
                <a:tab pos="8610600" algn="l"/>
                <a:tab pos="9067800" algn="l"/>
                <a:tab pos="9525000" algn="l"/>
              </a:tabLst>
            </a:pPr>
            <a:r>
              <a:rPr lang="en-GB" sz="2000" dirty="0">
                <a:solidFill>
                  <a:srgbClr val="000099"/>
                </a:solidFill>
                <a:latin typeface="Courier New" charset="0"/>
              </a:rPr>
              <a:t>void swap(</a:t>
            </a:r>
            <a:r>
              <a:rPr lang="en-GB" sz="2000" dirty="0" err="1">
                <a:solidFill>
                  <a:srgbClr val="000099"/>
                </a:solidFill>
                <a:latin typeface="Courier New" charset="0"/>
              </a:rPr>
              <a:t>int</a:t>
            </a:r>
            <a:r>
              <a:rPr lang="en-GB" sz="2000" dirty="0">
                <a:solidFill>
                  <a:srgbClr val="000099"/>
                </a:solidFill>
                <a:latin typeface="Courier New" charset="0"/>
              </a:rPr>
              <a:t> *x, </a:t>
            </a:r>
            <a:r>
              <a:rPr lang="en-GB" sz="2000" dirty="0" err="1">
                <a:solidFill>
                  <a:srgbClr val="000099"/>
                </a:solidFill>
                <a:latin typeface="Courier New" charset="0"/>
              </a:rPr>
              <a:t>int</a:t>
            </a:r>
            <a:r>
              <a:rPr lang="en-GB" sz="2000" dirty="0">
                <a:solidFill>
                  <a:srgbClr val="000099"/>
                </a:solidFill>
                <a:latin typeface="Courier New" charset="0"/>
              </a:rPr>
              <a:t> *y)</a:t>
            </a:r>
            <a:r>
              <a:rPr lang="x-none" sz="2000" dirty="0">
                <a:solidFill>
                  <a:srgbClr val="000099"/>
                </a:solidFill>
                <a:latin typeface="Courier New" charset="0"/>
                <a:cs typeface="Arial" charset="0"/>
              </a:rPr>
              <a:t>‏</a:t>
            </a:r>
            <a:endParaRPr lang="en-GB" sz="2000" dirty="0">
              <a:solidFill>
                <a:srgbClr val="000099"/>
              </a:solidFill>
              <a:latin typeface="Courier New" charset="0"/>
            </a:endParaRPr>
          </a:p>
          <a:p>
            <a:pPr marL="381000" indent="-381000" eaLnBrk="1" hangingPunct="1">
              <a:lnSpc>
                <a:spcPct val="95000"/>
              </a:lnSpc>
              <a:tabLst>
                <a:tab pos="381000" algn="l"/>
                <a:tab pos="838200" algn="l"/>
                <a:tab pos="1295400" algn="l"/>
                <a:tab pos="1752600" algn="l"/>
                <a:tab pos="2209800" algn="l"/>
                <a:tab pos="2667000" algn="l"/>
                <a:tab pos="3124200" algn="l"/>
                <a:tab pos="3581400" algn="l"/>
                <a:tab pos="4038600" algn="l"/>
                <a:tab pos="4495800" algn="l"/>
                <a:tab pos="4953000" algn="l"/>
                <a:tab pos="5410200" algn="l"/>
                <a:tab pos="5867400" algn="l"/>
                <a:tab pos="6324600" algn="l"/>
                <a:tab pos="6781800" algn="l"/>
                <a:tab pos="7239000" algn="l"/>
                <a:tab pos="7696200" algn="l"/>
                <a:tab pos="8153400" algn="l"/>
                <a:tab pos="8610600" algn="l"/>
                <a:tab pos="9067800" algn="l"/>
                <a:tab pos="9525000" algn="l"/>
              </a:tabLst>
            </a:pPr>
            <a:r>
              <a:rPr lang="en-GB" sz="2000" dirty="0">
                <a:solidFill>
                  <a:srgbClr val="000099"/>
                </a:solidFill>
                <a:latin typeface="Courier New" charset="0"/>
              </a:rPr>
              <a:t>{</a:t>
            </a:r>
          </a:p>
          <a:p>
            <a:pPr marL="381000" indent="-381000" eaLnBrk="1" hangingPunct="1">
              <a:lnSpc>
                <a:spcPct val="95000"/>
              </a:lnSpc>
              <a:tabLst>
                <a:tab pos="381000" algn="l"/>
                <a:tab pos="838200" algn="l"/>
                <a:tab pos="1295400" algn="l"/>
                <a:tab pos="1752600" algn="l"/>
                <a:tab pos="2209800" algn="l"/>
                <a:tab pos="2667000" algn="l"/>
                <a:tab pos="3124200" algn="l"/>
                <a:tab pos="3581400" algn="l"/>
                <a:tab pos="4038600" algn="l"/>
                <a:tab pos="4495800" algn="l"/>
                <a:tab pos="4953000" algn="l"/>
                <a:tab pos="5410200" algn="l"/>
                <a:tab pos="5867400" algn="l"/>
                <a:tab pos="6324600" algn="l"/>
                <a:tab pos="6781800" algn="l"/>
                <a:tab pos="7239000" algn="l"/>
                <a:tab pos="7696200" algn="l"/>
                <a:tab pos="8153400" algn="l"/>
                <a:tab pos="8610600" algn="l"/>
                <a:tab pos="9067800" algn="l"/>
                <a:tab pos="9525000" algn="l"/>
              </a:tabLst>
            </a:pPr>
            <a:r>
              <a:rPr lang="en-GB" sz="2000" dirty="0">
                <a:solidFill>
                  <a:srgbClr val="000099"/>
                </a:solidFill>
                <a:latin typeface="Courier New" charset="0"/>
              </a:rPr>
              <a:t>	</a:t>
            </a:r>
            <a:r>
              <a:rPr lang="en-GB" sz="2000" dirty="0" err="1">
                <a:solidFill>
                  <a:srgbClr val="000099"/>
                </a:solidFill>
                <a:latin typeface="Courier New" charset="0"/>
              </a:rPr>
              <a:t>int</a:t>
            </a:r>
            <a:r>
              <a:rPr lang="en-GB" sz="2000" dirty="0">
                <a:solidFill>
                  <a:srgbClr val="000099"/>
                </a:solidFill>
                <a:latin typeface="Courier New" charset="0"/>
              </a:rPr>
              <a:t> temp;</a:t>
            </a:r>
          </a:p>
          <a:p>
            <a:pPr marL="381000" indent="-381000" eaLnBrk="1" hangingPunct="1">
              <a:lnSpc>
                <a:spcPct val="95000"/>
              </a:lnSpc>
              <a:tabLst>
                <a:tab pos="381000" algn="l"/>
                <a:tab pos="838200" algn="l"/>
                <a:tab pos="1295400" algn="l"/>
                <a:tab pos="1752600" algn="l"/>
                <a:tab pos="2209800" algn="l"/>
                <a:tab pos="2667000" algn="l"/>
                <a:tab pos="3124200" algn="l"/>
                <a:tab pos="3581400" algn="l"/>
                <a:tab pos="4038600" algn="l"/>
                <a:tab pos="4495800" algn="l"/>
                <a:tab pos="4953000" algn="l"/>
                <a:tab pos="5410200" algn="l"/>
                <a:tab pos="5867400" algn="l"/>
                <a:tab pos="6324600" algn="l"/>
                <a:tab pos="6781800" algn="l"/>
                <a:tab pos="7239000" algn="l"/>
                <a:tab pos="7696200" algn="l"/>
                <a:tab pos="8153400" algn="l"/>
                <a:tab pos="8610600" algn="l"/>
                <a:tab pos="9067800" algn="l"/>
                <a:tab pos="9525000" algn="l"/>
              </a:tabLst>
            </a:pPr>
            <a:r>
              <a:rPr lang="en-GB" sz="2000" dirty="0">
                <a:solidFill>
                  <a:srgbClr val="000099"/>
                </a:solidFill>
                <a:latin typeface="Courier New" charset="0"/>
              </a:rPr>
              <a:t>	temp = *x;</a:t>
            </a:r>
          </a:p>
          <a:p>
            <a:pPr marL="381000" indent="-381000" eaLnBrk="1" hangingPunct="1">
              <a:lnSpc>
                <a:spcPct val="95000"/>
              </a:lnSpc>
              <a:tabLst>
                <a:tab pos="381000" algn="l"/>
                <a:tab pos="838200" algn="l"/>
                <a:tab pos="1295400" algn="l"/>
                <a:tab pos="1752600" algn="l"/>
                <a:tab pos="2209800" algn="l"/>
                <a:tab pos="2667000" algn="l"/>
                <a:tab pos="3124200" algn="l"/>
                <a:tab pos="3581400" algn="l"/>
                <a:tab pos="4038600" algn="l"/>
                <a:tab pos="4495800" algn="l"/>
                <a:tab pos="4953000" algn="l"/>
                <a:tab pos="5410200" algn="l"/>
                <a:tab pos="5867400" algn="l"/>
                <a:tab pos="6324600" algn="l"/>
                <a:tab pos="6781800" algn="l"/>
                <a:tab pos="7239000" algn="l"/>
                <a:tab pos="7696200" algn="l"/>
                <a:tab pos="8153400" algn="l"/>
                <a:tab pos="8610600" algn="l"/>
                <a:tab pos="9067800" algn="l"/>
                <a:tab pos="9525000" algn="l"/>
              </a:tabLst>
            </a:pPr>
            <a:r>
              <a:rPr lang="en-GB" sz="2000" dirty="0">
                <a:solidFill>
                  <a:srgbClr val="000099"/>
                </a:solidFill>
                <a:latin typeface="Courier New" charset="0"/>
              </a:rPr>
              <a:t>	*x = *y;</a:t>
            </a:r>
          </a:p>
          <a:p>
            <a:pPr marL="381000" indent="-381000" eaLnBrk="1" hangingPunct="1">
              <a:lnSpc>
                <a:spcPct val="95000"/>
              </a:lnSpc>
              <a:tabLst>
                <a:tab pos="381000" algn="l"/>
                <a:tab pos="838200" algn="l"/>
                <a:tab pos="1295400" algn="l"/>
                <a:tab pos="1752600" algn="l"/>
                <a:tab pos="2209800" algn="l"/>
                <a:tab pos="2667000" algn="l"/>
                <a:tab pos="3124200" algn="l"/>
                <a:tab pos="3581400" algn="l"/>
                <a:tab pos="4038600" algn="l"/>
                <a:tab pos="4495800" algn="l"/>
                <a:tab pos="4953000" algn="l"/>
                <a:tab pos="5410200" algn="l"/>
                <a:tab pos="5867400" algn="l"/>
                <a:tab pos="6324600" algn="l"/>
                <a:tab pos="6781800" algn="l"/>
                <a:tab pos="7239000" algn="l"/>
                <a:tab pos="7696200" algn="l"/>
                <a:tab pos="8153400" algn="l"/>
                <a:tab pos="8610600" algn="l"/>
                <a:tab pos="9067800" algn="l"/>
                <a:tab pos="9525000" algn="l"/>
              </a:tabLst>
            </a:pPr>
            <a:r>
              <a:rPr lang="en-GB" sz="2000" dirty="0">
                <a:solidFill>
                  <a:srgbClr val="000099"/>
                </a:solidFill>
                <a:latin typeface="Courier New" charset="0"/>
              </a:rPr>
              <a:t>	*y =  temp;</a:t>
            </a:r>
          </a:p>
          <a:p>
            <a:pPr marL="381000" indent="-381000" eaLnBrk="1" hangingPunct="1">
              <a:lnSpc>
                <a:spcPct val="95000"/>
              </a:lnSpc>
              <a:tabLst>
                <a:tab pos="381000" algn="l"/>
                <a:tab pos="838200" algn="l"/>
                <a:tab pos="1295400" algn="l"/>
                <a:tab pos="1752600" algn="l"/>
                <a:tab pos="2209800" algn="l"/>
                <a:tab pos="2667000" algn="l"/>
                <a:tab pos="3124200" algn="l"/>
                <a:tab pos="3581400" algn="l"/>
                <a:tab pos="4038600" algn="l"/>
                <a:tab pos="4495800" algn="l"/>
                <a:tab pos="4953000" algn="l"/>
                <a:tab pos="5410200" algn="l"/>
                <a:tab pos="5867400" algn="l"/>
                <a:tab pos="6324600" algn="l"/>
                <a:tab pos="6781800" algn="l"/>
                <a:tab pos="7239000" algn="l"/>
                <a:tab pos="7696200" algn="l"/>
                <a:tab pos="8153400" algn="l"/>
                <a:tab pos="8610600" algn="l"/>
                <a:tab pos="9067800" algn="l"/>
                <a:tab pos="9525000" algn="l"/>
              </a:tabLst>
            </a:pPr>
            <a:r>
              <a:rPr lang="en-GB" sz="2000" dirty="0">
                <a:solidFill>
                  <a:srgbClr val="000099"/>
                </a:solidFill>
                <a:latin typeface="Courier New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51421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23850"/>
            <a:ext cx="5875338" cy="573088"/>
          </a:xfrm>
        </p:spPr>
        <p:txBody>
          <a:bodyPr/>
          <a:lstStyle/>
          <a:p>
            <a:pPr marL="118745" indent="-118745" eaLnBrk="1" hangingPunct="1"/>
            <a:r>
              <a:rPr lang="en-US">
                <a:latin typeface="Calibri"/>
                <a:cs typeface="Calibri"/>
              </a:rPr>
              <a:t>Swapping with Xor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3581400" y="1049338"/>
            <a:ext cx="5473700" cy="2684462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385763" indent="-385763" algn="l" eaLnBrk="1" hangingPunct="1">
              <a:lnSpc>
                <a:spcPct val="100000"/>
              </a:lnSpc>
              <a:buClr>
                <a:schemeClr val="hlink"/>
              </a:buClr>
              <a:buFont typeface="Wingdings" charset="2"/>
              <a:buNone/>
              <a:defRPr/>
            </a:pP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ea typeface="+mn-ea"/>
              </a:rPr>
              <a:t>void funny(</a:t>
            </a:r>
            <a:r>
              <a:rPr lang="en-US" dirty="0" err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ea typeface="+mn-ea"/>
              </a:rPr>
              <a:t>int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ea typeface="+mn-ea"/>
              </a:rPr>
              <a:t> *x, </a:t>
            </a:r>
            <a:r>
              <a:rPr lang="en-US" dirty="0" err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ea typeface="+mn-ea"/>
              </a:rPr>
              <a:t>int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ea typeface="+mn-ea"/>
              </a:rPr>
              <a:t> *y)</a:t>
            </a:r>
          </a:p>
          <a:p>
            <a:pPr marL="385763" indent="-385763" algn="l" eaLnBrk="1" hangingPunct="1">
              <a:lnSpc>
                <a:spcPct val="100000"/>
              </a:lnSpc>
              <a:buClr>
                <a:schemeClr val="hlink"/>
              </a:buClr>
              <a:buFont typeface="Wingdings" charset="2"/>
              <a:buNone/>
              <a:defRPr/>
            </a:pP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ea typeface="+mn-ea"/>
              </a:rPr>
              <a:t>{</a:t>
            </a:r>
          </a:p>
          <a:p>
            <a:pPr marL="385763" indent="-385763" algn="l" eaLnBrk="1" hangingPunct="1">
              <a:lnSpc>
                <a:spcPct val="100000"/>
              </a:lnSpc>
              <a:buClr>
                <a:schemeClr val="hlink"/>
              </a:buClr>
              <a:buFont typeface="Wingdings" charset="2"/>
              <a:buNone/>
              <a:defRPr/>
            </a:pP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ea typeface="+mn-ea"/>
              </a:rPr>
              <a:t>   *x = *x ^ *y;    /* #1 */</a:t>
            </a:r>
          </a:p>
          <a:p>
            <a:pPr marL="385763" indent="-385763" algn="l" eaLnBrk="1" hangingPunct="1">
              <a:lnSpc>
                <a:spcPct val="100000"/>
              </a:lnSpc>
              <a:buClr>
                <a:schemeClr val="hlink"/>
              </a:buClr>
              <a:buFont typeface="Wingdings" charset="2"/>
              <a:buNone/>
              <a:defRPr/>
            </a:pP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ea typeface="+mn-ea"/>
              </a:rPr>
              <a:t>   *y = *x ^ *y;    /* #2 */</a:t>
            </a:r>
          </a:p>
          <a:p>
            <a:pPr marL="385763" indent="-385763" algn="l" eaLnBrk="1" hangingPunct="1">
              <a:lnSpc>
                <a:spcPct val="100000"/>
              </a:lnSpc>
              <a:buClr>
                <a:schemeClr val="hlink"/>
              </a:buClr>
              <a:buFont typeface="Wingdings" charset="2"/>
              <a:buNone/>
              <a:defRPr/>
            </a:pP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ea typeface="+mn-ea"/>
              </a:rPr>
              <a:t>   *x = *x ^ *y;    /* #3 */</a:t>
            </a:r>
          </a:p>
          <a:p>
            <a:pPr marL="385763" indent="-385763" algn="l" eaLnBrk="1" hangingPunct="1">
              <a:lnSpc>
                <a:spcPct val="100000"/>
              </a:lnSpc>
              <a:buClr>
                <a:schemeClr val="hlink"/>
              </a:buClr>
              <a:buFont typeface="Wingdings" charset="2"/>
              <a:buNone/>
              <a:defRPr/>
            </a:pP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ea typeface="+mn-ea"/>
              </a:rPr>
              <a:t>}</a:t>
            </a:r>
          </a:p>
        </p:txBody>
      </p:sp>
      <p:sp>
        <p:nvSpPr>
          <p:cNvPr id="41988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3124200" cy="1981200"/>
          </a:xfrm>
        </p:spPr>
        <p:txBody>
          <a:bodyPr/>
          <a:lstStyle/>
          <a:p>
            <a:pPr lvl="1" eaLnBrk="1" hangingPunct="1"/>
            <a:r>
              <a:rPr lang="en-US" dirty="0"/>
              <a:t>Bitwise </a:t>
            </a:r>
            <a:r>
              <a:rPr lang="en-US" dirty="0" err="1"/>
              <a:t>Xor</a:t>
            </a:r>
            <a:r>
              <a:rPr lang="en-US" dirty="0"/>
              <a:t> is a form of addition</a:t>
            </a:r>
          </a:p>
          <a:p>
            <a:pPr lvl="1" eaLnBrk="1" hangingPunct="1"/>
            <a:r>
              <a:rPr lang="en-US" dirty="0"/>
              <a:t>With extra property that every value is its own additive inverse</a:t>
            </a:r>
          </a:p>
          <a:p>
            <a:pPr lvl="2" eaLnBrk="1" hangingPunct="1">
              <a:buFont typeface="Wingdings" charset="2"/>
              <a:buNone/>
            </a:pPr>
            <a:r>
              <a:rPr lang="en-US" dirty="0"/>
              <a:t> A ^ A = 0</a:t>
            </a:r>
          </a:p>
          <a:p>
            <a:pPr lvl="1" eaLnBrk="1" hangingPunct="1"/>
            <a:endParaRPr lang="en-US" dirty="0"/>
          </a:p>
        </p:txBody>
      </p:sp>
      <p:sp>
        <p:nvSpPr>
          <p:cNvPr id="41989" name="Rectangle 19"/>
          <p:cNvSpPr>
            <a:spLocks noChangeArrowheads="1"/>
          </p:cNvSpPr>
          <p:nvPr/>
        </p:nvSpPr>
        <p:spPr bwMode="auto">
          <a:xfrm>
            <a:off x="4953000" y="4343400"/>
            <a:ext cx="2209800" cy="3810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>
                <a:latin typeface="Courier New" charset="0"/>
              </a:rPr>
              <a:t>B</a:t>
            </a:r>
          </a:p>
        </p:txBody>
      </p:sp>
      <p:sp>
        <p:nvSpPr>
          <p:cNvPr id="41990" name="Rectangle 20"/>
          <p:cNvSpPr>
            <a:spLocks noChangeArrowheads="1"/>
          </p:cNvSpPr>
          <p:nvPr/>
        </p:nvSpPr>
        <p:spPr bwMode="auto">
          <a:xfrm>
            <a:off x="2743200" y="4343400"/>
            <a:ext cx="2209800" cy="3810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>
                <a:latin typeface="Courier New" charset="0"/>
              </a:rPr>
              <a:t>A</a:t>
            </a:r>
          </a:p>
        </p:txBody>
      </p:sp>
      <p:sp>
        <p:nvSpPr>
          <p:cNvPr id="41991" name="Rectangle 21"/>
          <p:cNvSpPr>
            <a:spLocks noChangeArrowheads="1"/>
          </p:cNvSpPr>
          <p:nvPr/>
        </p:nvSpPr>
        <p:spPr bwMode="auto">
          <a:xfrm>
            <a:off x="1828800" y="4343400"/>
            <a:ext cx="914400" cy="381000"/>
          </a:xfrm>
          <a:prstGeom prst="rect">
            <a:avLst/>
          </a:prstGeom>
          <a:solidFill>
            <a:srgbClr val="FFC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/>
              <a:t>Begin</a:t>
            </a:r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2743200" y="4724400"/>
            <a:ext cx="4419600" cy="381000"/>
            <a:chOff x="1728" y="2976"/>
            <a:chExt cx="2784" cy="240"/>
          </a:xfrm>
        </p:grpSpPr>
        <p:sp>
          <p:nvSpPr>
            <p:cNvPr id="42008" name="Rectangle 22"/>
            <p:cNvSpPr>
              <a:spLocks noChangeArrowheads="1"/>
            </p:cNvSpPr>
            <p:nvPr/>
          </p:nvSpPr>
          <p:spPr bwMode="auto">
            <a:xfrm>
              <a:off x="3120" y="2976"/>
              <a:ext cx="1392" cy="240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charset="0"/>
                </a:rPr>
                <a:t>B</a:t>
              </a:r>
            </a:p>
          </p:txBody>
        </p:sp>
        <p:sp>
          <p:nvSpPr>
            <p:cNvPr id="42009" name="Rectangle 23"/>
            <p:cNvSpPr>
              <a:spLocks noChangeArrowheads="1"/>
            </p:cNvSpPr>
            <p:nvPr/>
          </p:nvSpPr>
          <p:spPr bwMode="auto">
            <a:xfrm>
              <a:off x="1728" y="2976"/>
              <a:ext cx="1392" cy="240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charset="0"/>
                </a:rPr>
                <a:t>A^B</a:t>
              </a:r>
            </a:p>
          </p:txBody>
        </p:sp>
      </p:grpSp>
      <p:sp>
        <p:nvSpPr>
          <p:cNvPr id="41993" name="Rectangle 24"/>
          <p:cNvSpPr>
            <a:spLocks noChangeArrowheads="1"/>
          </p:cNvSpPr>
          <p:nvPr/>
        </p:nvSpPr>
        <p:spPr bwMode="auto">
          <a:xfrm>
            <a:off x="1828800" y="4724400"/>
            <a:ext cx="914400" cy="381000"/>
          </a:xfrm>
          <a:prstGeom prst="rect">
            <a:avLst/>
          </a:prstGeom>
          <a:solidFill>
            <a:srgbClr val="FFC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/>
              <a:t>1</a:t>
            </a: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2743200" y="5105400"/>
            <a:ext cx="4419600" cy="381000"/>
            <a:chOff x="1728" y="3216"/>
            <a:chExt cx="2784" cy="240"/>
          </a:xfrm>
        </p:grpSpPr>
        <p:sp>
          <p:nvSpPr>
            <p:cNvPr id="42006" name="Rectangle 25"/>
            <p:cNvSpPr>
              <a:spLocks noChangeArrowheads="1"/>
            </p:cNvSpPr>
            <p:nvPr/>
          </p:nvSpPr>
          <p:spPr bwMode="auto">
            <a:xfrm>
              <a:off x="3120" y="3216"/>
              <a:ext cx="1392" cy="240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charset="0"/>
                </a:rPr>
                <a:t>(A^B)^B = A</a:t>
              </a:r>
            </a:p>
          </p:txBody>
        </p:sp>
        <p:sp>
          <p:nvSpPr>
            <p:cNvPr id="42007" name="Rectangle 26"/>
            <p:cNvSpPr>
              <a:spLocks noChangeArrowheads="1"/>
            </p:cNvSpPr>
            <p:nvPr/>
          </p:nvSpPr>
          <p:spPr bwMode="auto">
            <a:xfrm>
              <a:off x="1728" y="3216"/>
              <a:ext cx="1392" cy="240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charset="0"/>
                </a:rPr>
                <a:t>A^B</a:t>
              </a:r>
            </a:p>
          </p:txBody>
        </p:sp>
      </p:grpSp>
      <p:sp>
        <p:nvSpPr>
          <p:cNvPr id="41995" name="Rectangle 27"/>
          <p:cNvSpPr>
            <a:spLocks noChangeArrowheads="1"/>
          </p:cNvSpPr>
          <p:nvPr/>
        </p:nvSpPr>
        <p:spPr bwMode="auto">
          <a:xfrm>
            <a:off x="1828800" y="5105400"/>
            <a:ext cx="914400" cy="381000"/>
          </a:xfrm>
          <a:prstGeom prst="rect">
            <a:avLst/>
          </a:prstGeom>
          <a:solidFill>
            <a:srgbClr val="FFC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/>
              <a:t>2</a:t>
            </a:r>
          </a:p>
        </p:txBody>
      </p:sp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2743200" y="5486400"/>
            <a:ext cx="4419600" cy="381000"/>
            <a:chOff x="1728" y="3456"/>
            <a:chExt cx="2784" cy="240"/>
          </a:xfrm>
        </p:grpSpPr>
        <p:sp>
          <p:nvSpPr>
            <p:cNvPr id="42004" name="Rectangle 28"/>
            <p:cNvSpPr>
              <a:spLocks noChangeArrowheads="1"/>
            </p:cNvSpPr>
            <p:nvPr/>
          </p:nvSpPr>
          <p:spPr bwMode="auto">
            <a:xfrm>
              <a:off x="3120" y="3456"/>
              <a:ext cx="1392" cy="240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charset="0"/>
                </a:rPr>
                <a:t>A</a:t>
              </a:r>
            </a:p>
          </p:txBody>
        </p:sp>
        <p:sp>
          <p:nvSpPr>
            <p:cNvPr id="42005" name="Rectangle 29"/>
            <p:cNvSpPr>
              <a:spLocks noChangeArrowheads="1"/>
            </p:cNvSpPr>
            <p:nvPr/>
          </p:nvSpPr>
          <p:spPr bwMode="auto">
            <a:xfrm>
              <a:off x="1728" y="3456"/>
              <a:ext cx="1392" cy="240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charset="0"/>
                </a:rPr>
                <a:t>(A^B)^A = B</a:t>
              </a:r>
            </a:p>
          </p:txBody>
        </p:sp>
      </p:grpSp>
      <p:sp>
        <p:nvSpPr>
          <p:cNvPr id="41997" name="Rectangle 30"/>
          <p:cNvSpPr>
            <a:spLocks noChangeArrowheads="1"/>
          </p:cNvSpPr>
          <p:nvPr/>
        </p:nvSpPr>
        <p:spPr bwMode="auto">
          <a:xfrm>
            <a:off x="1828800" y="5486400"/>
            <a:ext cx="914400" cy="381000"/>
          </a:xfrm>
          <a:prstGeom prst="rect">
            <a:avLst/>
          </a:prstGeom>
          <a:solidFill>
            <a:srgbClr val="FFC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/>
              <a:t>3</a:t>
            </a:r>
          </a:p>
        </p:txBody>
      </p: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2743200" y="5867400"/>
            <a:ext cx="4419600" cy="381000"/>
            <a:chOff x="1728" y="3696"/>
            <a:chExt cx="2784" cy="240"/>
          </a:xfrm>
        </p:grpSpPr>
        <p:sp>
          <p:nvSpPr>
            <p:cNvPr id="42002" name="Rectangle 31"/>
            <p:cNvSpPr>
              <a:spLocks noChangeArrowheads="1"/>
            </p:cNvSpPr>
            <p:nvPr/>
          </p:nvSpPr>
          <p:spPr bwMode="auto">
            <a:xfrm>
              <a:off x="3120" y="3696"/>
              <a:ext cx="1392" cy="240"/>
            </a:xfrm>
            <a:prstGeom prst="rect">
              <a:avLst/>
            </a:prstGeom>
            <a:solidFill>
              <a:srgbClr val="CC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charset="0"/>
                </a:rPr>
                <a:t>A</a:t>
              </a:r>
            </a:p>
          </p:txBody>
        </p:sp>
        <p:sp>
          <p:nvSpPr>
            <p:cNvPr id="42003" name="Rectangle 32"/>
            <p:cNvSpPr>
              <a:spLocks noChangeArrowheads="1"/>
            </p:cNvSpPr>
            <p:nvPr/>
          </p:nvSpPr>
          <p:spPr bwMode="auto">
            <a:xfrm>
              <a:off x="1728" y="3696"/>
              <a:ext cx="1392" cy="240"/>
            </a:xfrm>
            <a:prstGeom prst="rect">
              <a:avLst/>
            </a:prstGeom>
            <a:solidFill>
              <a:srgbClr val="CC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charset="0"/>
                </a:rPr>
                <a:t>B</a:t>
              </a:r>
            </a:p>
          </p:txBody>
        </p:sp>
      </p:grpSp>
      <p:sp>
        <p:nvSpPr>
          <p:cNvPr id="41999" name="Rectangle 33"/>
          <p:cNvSpPr>
            <a:spLocks noChangeArrowheads="1"/>
          </p:cNvSpPr>
          <p:nvPr/>
        </p:nvSpPr>
        <p:spPr bwMode="auto">
          <a:xfrm>
            <a:off x="1828800" y="5867400"/>
            <a:ext cx="914400" cy="381000"/>
          </a:xfrm>
          <a:prstGeom prst="rect">
            <a:avLst/>
          </a:prstGeom>
          <a:solidFill>
            <a:srgbClr val="FFC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/>
              <a:t>End</a:t>
            </a:r>
          </a:p>
        </p:txBody>
      </p:sp>
      <p:sp>
        <p:nvSpPr>
          <p:cNvPr id="42000" name="Rectangle 34"/>
          <p:cNvSpPr>
            <a:spLocks noChangeArrowheads="1"/>
          </p:cNvSpPr>
          <p:nvPr/>
        </p:nvSpPr>
        <p:spPr bwMode="auto">
          <a:xfrm>
            <a:off x="4953000" y="3962400"/>
            <a:ext cx="2209800" cy="3810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>
                <a:latin typeface="Courier New" charset="0"/>
              </a:rPr>
              <a:t>*y</a:t>
            </a:r>
          </a:p>
        </p:txBody>
      </p:sp>
      <p:sp>
        <p:nvSpPr>
          <p:cNvPr id="42001" name="Rectangle 35"/>
          <p:cNvSpPr>
            <a:spLocks noChangeArrowheads="1"/>
          </p:cNvSpPr>
          <p:nvPr/>
        </p:nvSpPr>
        <p:spPr bwMode="auto">
          <a:xfrm>
            <a:off x="2743200" y="3962400"/>
            <a:ext cx="2209800" cy="3810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>
                <a:latin typeface="Courier New" charset="0"/>
              </a:rPr>
              <a:t>*x</a:t>
            </a:r>
          </a:p>
        </p:txBody>
      </p:sp>
    </p:spTree>
    <p:extLst>
      <p:ext uri="{BB962C8B-B14F-4D97-AF65-F5344CB8AC3E}">
        <p14:creationId xmlns:p14="http://schemas.microsoft.com/office/powerpoint/2010/main" val="142994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9CC0D-367E-C89B-03DA-2DAC37336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Due tomorrow’s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37D0F-26AA-4639-E1EA-290035D5D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Why do we prefer C in this course (and in OS)?</a:t>
            </a:r>
          </a:p>
          <a:p>
            <a:pPr lvl="1"/>
            <a:r>
              <a:rPr lang="en-TR" dirty="0"/>
              <a:t>Who is Dennis Ritchie and Ken Thompson?</a:t>
            </a:r>
          </a:p>
          <a:p>
            <a:pPr lvl="1"/>
            <a:r>
              <a:rPr lang="en-TR" dirty="0"/>
              <a:t>What is the relationship of C with UNIX?</a:t>
            </a:r>
          </a:p>
          <a:p>
            <a:r>
              <a:rPr lang="en-TR" dirty="0"/>
              <a:t>What is GNU? </a:t>
            </a:r>
          </a:p>
          <a:p>
            <a:pPr lvl="1"/>
            <a:r>
              <a:rPr lang="en-TR" dirty="0"/>
              <a:t>Who is Richard Stallman?</a:t>
            </a:r>
          </a:p>
          <a:p>
            <a:pPr lvl="1"/>
            <a:r>
              <a:rPr lang="en-TR" dirty="0"/>
              <a:t>What is GPL?</a:t>
            </a:r>
          </a:p>
          <a:p>
            <a:pPr lvl="2"/>
            <a:r>
              <a:rPr lang="en-TR" dirty="0"/>
              <a:t>What can (and can’t) you do with code released under GPLv1?</a:t>
            </a:r>
          </a:p>
        </p:txBody>
      </p:sp>
    </p:spTree>
    <p:extLst>
      <p:ext uri="{BB962C8B-B14F-4D97-AF65-F5344CB8AC3E}">
        <p14:creationId xmlns:p14="http://schemas.microsoft.com/office/powerpoint/2010/main" val="14031115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18086</TotalTime>
  <Words>3918</Words>
  <Application>Microsoft Macintosh PowerPoint</Application>
  <PresentationFormat>On-screen Show (4:3)</PresentationFormat>
  <Paragraphs>709</Paragraphs>
  <Slides>32</Slides>
  <Notes>16</Notes>
  <HiddenSlides>2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7" baseType="lpstr">
      <vt:lpstr>Arial</vt:lpstr>
      <vt:lpstr>Arial Narrow</vt:lpstr>
      <vt:lpstr>Calibri</vt:lpstr>
      <vt:lpstr>Calibri Bold</vt:lpstr>
      <vt:lpstr>Courier</vt:lpstr>
      <vt:lpstr>Courier New</vt:lpstr>
      <vt:lpstr>Courier New Bold</vt:lpstr>
      <vt:lpstr>Courier New Bold Italic</vt:lpstr>
      <vt:lpstr>Gill Sans</vt:lpstr>
      <vt:lpstr>Helvetica</vt:lpstr>
      <vt:lpstr>Monaco</vt:lpstr>
      <vt:lpstr>Times New Roman</vt:lpstr>
      <vt:lpstr>Wingdings</vt:lpstr>
      <vt:lpstr>Wingdings 2</vt:lpstr>
      <vt:lpstr>template2007</vt:lpstr>
      <vt:lpstr>Bits, Bytes, and Integers  CENG331  - Computer Organization </vt:lpstr>
      <vt:lpstr>Warmup</vt:lpstr>
      <vt:lpstr>Warmup</vt:lpstr>
      <vt:lpstr>Hello World!</vt:lpstr>
      <vt:lpstr>hello.c</vt:lpstr>
      <vt:lpstr>Compilation of hello.c</vt:lpstr>
      <vt:lpstr>Preprocessing</vt:lpstr>
      <vt:lpstr>Compiler</vt:lpstr>
      <vt:lpstr>Assembler</vt:lpstr>
      <vt:lpstr>Linker</vt:lpstr>
      <vt:lpstr>Finally…</vt:lpstr>
      <vt:lpstr>How do you say “Hello World”?</vt:lpstr>
      <vt:lpstr>Typical Organization of System</vt:lpstr>
      <vt:lpstr>PowerPoint Presentation</vt:lpstr>
      <vt:lpstr>Today: Bits, Bytes, and Integers</vt:lpstr>
      <vt:lpstr>Everything is bits</vt:lpstr>
      <vt:lpstr>For example, can count in binary</vt:lpstr>
      <vt:lpstr>Encoding Byte Values</vt:lpstr>
      <vt:lpstr>Example Data Representations</vt:lpstr>
      <vt:lpstr>Today: Bits, Bytes, and Integers</vt:lpstr>
      <vt:lpstr>Boolean Algebra</vt:lpstr>
      <vt:lpstr>General Boolean Algebras</vt:lpstr>
      <vt:lpstr>Example: Representing &amp; Manipulating Sets</vt:lpstr>
      <vt:lpstr>Bit-Level Operations in C</vt:lpstr>
      <vt:lpstr>Contrast: Logic Operations in C</vt:lpstr>
      <vt:lpstr>Contrast: Logic Operations in C</vt:lpstr>
      <vt:lpstr>Shift Operations</vt:lpstr>
      <vt:lpstr>Shift Operations</vt:lpstr>
      <vt:lpstr>PowerPoint Presentation</vt:lpstr>
      <vt:lpstr>Swap</vt:lpstr>
      <vt:lpstr>Swapping with Xor</vt:lpstr>
      <vt:lpstr>Due tomorrow’s lecture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 1st Lecture, Jan. 12th</dc:title>
  <dc:creator>Markus Pueschel</dc:creator>
  <dc:description>Redesign of slides created by Randal E. Bryant and David R. O'Hallaron</dc:description>
  <cp:lastModifiedBy>Erol Sahin</cp:lastModifiedBy>
  <cp:revision>190</cp:revision>
  <cp:lastPrinted>2021-10-24T18:55:21Z</cp:lastPrinted>
  <dcterms:created xsi:type="dcterms:W3CDTF">2012-09-04T17:29:26Z</dcterms:created>
  <dcterms:modified xsi:type="dcterms:W3CDTF">2024-10-03T08:26:30Z</dcterms:modified>
</cp:coreProperties>
</file>